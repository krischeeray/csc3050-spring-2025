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30"/>
  </p:notesMasterIdLst>
  <p:sldIdLst>
    <p:sldId id="256" r:id="rId3"/>
    <p:sldId id="277" r:id="rId4"/>
    <p:sldId id="287" r:id="rId5"/>
    <p:sldId id="312" r:id="rId6"/>
    <p:sldId id="314" r:id="rId7"/>
    <p:sldId id="315" r:id="rId8"/>
    <p:sldId id="316" r:id="rId9"/>
    <p:sldId id="288" r:id="rId10"/>
    <p:sldId id="313" r:id="rId11"/>
    <p:sldId id="301" r:id="rId12"/>
    <p:sldId id="289" r:id="rId13"/>
    <p:sldId id="317" r:id="rId14"/>
    <p:sldId id="266" r:id="rId15"/>
    <p:sldId id="279" r:id="rId16"/>
    <p:sldId id="259" r:id="rId17"/>
    <p:sldId id="267" r:id="rId18"/>
    <p:sldId id="280" r:id="rId19"/>
    <p:sldId id="296" r:id="rId20"/>
    <p:sldId id="307" r:id="rId21"/>
    <p:sldId id="309" r:id="rId22"/>
    <p:sldId id="308" r:id="rId23"/>
    <p:sldId id="318" r:id="rId24"/>
    <p:sldId id="310" r:id="rId25"/>
    <p:sldId id="311" r:id="rId26"/>
    <p:sldId id="320" r:id="rId27"/>
    <p:sldId id="319" r:id="rId28"/>
    <p:sldId id="278" r:id="rId2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81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2024/4/23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1408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RISC-V has no opcode as 0000000 (illegal instruction)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7010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8195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5603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7829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7866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33324"/>
            <a:ext cx="10363200" cy="1470025"/>
          </a:xfrm>
        </p:spPr>
        <p:txBody>
          <a:bodyPr/>
          <a:lstStyle/>
          <a:p>
            <a:pPr algn="ctr"/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endParaRPr lang="zh-TW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1509" y="3303597"/>
            <a:ext cx="9458632" cy="947390"/>
          </a:xfrm>
        </p:spPr>
        <p:txBody>
          <a:bodyPr/>
          <a:lstStyle/>
          <a:p>
            <a:r>
              <a:rPr lang="en-US" altLang="zh-TW" sz="4800" dirty="0"/>
              <a:t>Quiz 4 (group competition)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E74415-30E6-4BE5-9E20-77352570E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36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Example 1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Which of the following storages are considered as  caches?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A BTB  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rPr>
              <a:t>A TLB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L3 cache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 branch prediction table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411" y="5562601"/>
            <a:ext cx="24785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1,2,3,4</a:t>
            </a:r>
          </a:p>
        </p:txBody>
      </p:sp>
    </p:spTree>
    <p:extLst>
      <p:ext uri="{BB962C8B-B14F-4D97-AF65-F5344CB8AC3E}">
        <p14:creationId xmlns:p14="http://schemas.microsoft.com/office/powerpoint/2010/main" val="228571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809" y="243699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B3D363-C500-4159-9D2E-8E70FF01CF70}"/>
              </a:ext>
            </a:extLst>
          </p:cNvPr>
          <p:cNvSpPr txBox="1">
            <a:spLocks/>
          </p:cNvSpPr>
          <p:nvPr/>
        </p:nvSpPr>
        <p:spPr bwMode="auto">
          <a:xfrm>
            <a:off x="914400" y="1733324"/>
            <a:ext cx="103632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algn="ctr"/>
            <a:r>
              <a:rPr lang="en-US" altLang="zh-TW" sz="60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you ready ?</a:t>
            </a:r>
            <a:endParaRPr lang="zh-TW" altLang="en-US" sz="60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870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computer architecture, the term “memory wall” refers to which of the following? 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gap between the disk and the memory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gap between DRAM and SRAM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gap between the registers and the L1 data cache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gap between CPU and the main memory (DRAM)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6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</a:t>
            </a:r>
          </a:p>
        </p:txBody>
      </p:sp>
    </p:spTree>
    <p:extLst>
      <p:ext uri="{BB962C8B-B14F-4D97-AF65-F5344CB8AC3E}">
        <p14:creationId xmlns:p14="http://schemas.microsoft.com/office/powerpoint/2010/main" val="3617230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2) Which of the following information are </a:t>
            </a:r>
            <a:r>
              <a:rPr lang="en-US" altLang="zh-TW" sz="2800" b="1" i="1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stored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in the cache? 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Data of the cache block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Set number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valid bit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address tag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dirty bit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410" y="5562601"/>
            <a:ext cx="24785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1,3,4,5</a:t>
            </a:r>
          </a:p>
        </p:txBody>
      </p:sp>
    </p:spTree>
    <p:extLst>
      <p:ext uri="{BB962C8B-B14F-4D97-AF65-F5344CB8AC3E}">
        <p14:creationId xmlns:p14="http://schemas.microsoft.com/office/powerpoint/2010/main" val="420830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3) From the earliest days, programmers have always wanted large, fast and cheap memory. How do we give programmers what they want? 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via Memory Hierarchy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via Predictions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via Virtual Memory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via Virtual Machines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via Vector architectures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714" y="5562601"/>
            <a:ext cx="1939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</a:t>
            </a:r>
          </a:p>
        </p:txBody>
      </p:sp>
    </p:spTree>
    <p:extLst>
      <p:ext uri="{BB962C8B-B14F-4D97-AF65-F5344CB8AC3E}">
        <p14:creationId xmlns:p14="http://schemas.microsoft.com/office/powerpoint/2010/main" val="3427709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4) In a memory hierarchy, which layers are managed by the compiler or the programmers?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registers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L1/L2/L3 caches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local memory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The physical </a:t>
            </a:r>
            <a:r>
              <a:rPr lang="en-US" sz="2800" dirty="0" err="1">
                <a:latin typeface="+mn-lt"/>
              </a:rPr>
              <a:t>memoy</a:t>
            </a: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714" y="5562601"/>
            <a:ext cx="1939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</a:t>
            </a:r>
          </a:p>
        </p:txBody>
      </p:sp>
    </p:spTree>
    <p:extLst>
      <p:ext uri="{BB962C8B-B14F-4D97-AF65-F5344CB8AC3E}">
        <p14:creationId xmlns:p14="http://schemas.microsoft.com/office/powerpoint/2010/main" val="421935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5) Assume the cache size is 64KB, and the line size 64B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Which of the following are correct? 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In a direct mapped cache, there are 1024 sets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In a two-way set associative cache, there are two sets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In a fully associative cache, there is only one set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In a eight-way </a:t>
            </a: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set associative cache, there are 8 sets</a:t>
            </a: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713" y="5562601"/>
            <a:ext cx="1939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</a:t>
            </a:r>
          </a:p>
        </p:txBody>
      </p:sp>
    </p:spTree>
    <p:extLst>
      <p:ext uri="{BB962C8B-B14F-4D97-AF65-F5344CB8AC3E}">
        <p14:creationId xmlns:p14="http://schemas.microsoft.com/office/powerpoint/2010/main" val="136512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199" y="467833"/>
            <a:ext cx="9528243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6) Which of the following caches may </a:t>
            </a:r>
            <a:r>
              <a:rPr lang="en-US" altLang="zh-TW" sz="3200" b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not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have the tag bits when used in practice ? 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An instruction cache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A level 3 (L3) cache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A branch prediction table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A TLB </a:t>
            </a:r>
          </a:p>
          <a:p>
            <a:pPr marL="0" indent="0">
              <a:buNone/>
              <a:defRPr/>
            </a:pPr>
            <a:endParaRPr lang="en-US" sz="2800" dirty="0">
              <a:latin typeface="+mn-lt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5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</a:t>
            </a:r>
          </a:p>
        </p:txBody>
      </p:sp>
    </p:spTree>
    <p:extLst>
      <p:ext uri="{BB962C8B-B14F-4D97-AF65-F5344CB8AC3E}">
        <p14:creationId xmlns:p14="http://schemas.microsoft.com/office/powerpoint/2010/main" val="159850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7863" y="467833"/>
            <a:ext cx="9688749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7) Assume the same cache size and the same line size, which of the following statements are </a:t>
            </a:r>
            <a:r>
              <a:rPr lang="en-US" altLang="zh-TW" sz="2800" b="1" i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always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true?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direct mapped cache is faster than set associative caches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fully associative cache has the lowest cache miss rate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direct mapped cache has the lowest tag overhead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Replacement in a direct mapped cache is the simplest 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714" y="5562601"/>
            <a:ext cx="1939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3,4</a:t>
            </a:r>
          </a:p>
        </p:txBody>
      </p:sp>
    </p:spTree>
    <p:extLst>
      <p:ext uri="{BB962C8B-B14F-4D97-AF65-F5344CB8AC3E}">
        <p14:creationId xmlns:p14="http://schemas.microsoft.com/office/powerpoint/2010/main" val="3710724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8) The instruction cache is usually easier to manage than the data cache, why?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It does not need the dirty bit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It does not need the valid bit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It does not need to handle writes from the processor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It does not need the tag bits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831" y="5562601"/>
            <a:ext cx="20297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 3</a:t>
            </a:r>
          </a:p>
        </p:txBody>
      </p:sp>
    </p:spTree>
    <p:extLst>
      <p:ext uri="{BB962C8B-B14F-4D97-AF65-F5344CB8AC3E}">
        <p14:creationId xmlns:p14="http://schemas.microsoft.com/office/powerpoint/2010/main" val="29128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9) If minimizing the </a:t>
            </a:r>
            <a:r>
              <a:rPr lang="en-US" altLang="zh-TW" sz="2800" b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tag space 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is the primary goal, which of the following cache features should be used 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latin typeface="+mn-lt"/>
              </a:rPr>
              <a:t>Set associative caches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Direct mapped caches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Write no-allocate policy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Large cache blocks (lines)</a:t>
            </a:r>
          </a:p>
          <a:p>
            <a:pPr marL="514350" indent="-514350">
              <a:buFont typeface="+mj-lt"/>
              <a:buAutoNum type="arabicParenR"/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Inclusive caches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831" y="5562601"/>
            <a:ext cx="20297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 4</a:t>
            </a:r>
          </a:p>
        </p:txBody>
      </p:sp>
    </p:spTree>
    <p:extLst>
      <p:ext uri="{BB962C8B-B14F-4D97-AF65-F5344CB8AC3E}">
        <p14:creationId xmlns:p14="http://schemas.microsoft.com/office/powerpoint/2010/main" val="149619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10) Modern processors often have L1/L2/L3 caches implemented in a processor. Which of the following statements are true?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新細明體"/>
                <a:cs typeface="+mn-cs"/>
              </a:rPr>
              <a:t>1) </a:t>
            </a:r>
            <a:r>
              <a:rPr kumimoji="0" lang="en-US" sz="2800" kern="1200" dirty="0">
                <a:solidFill>
                  <a:prstClr val="black"/>
                </a:solidFill>
                <a:latin typeface="Arial"/>
                <a:ea typeface="新細明體"/>
              </a:rPr>
              <a:t>The primary goal of L3 cache is to reduce the memory traffic to the memory</a:t>
            </a:r>
            <a:endParaRPr kumimoji="0" lang="en-US" sz="2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2) The primary goal of L1 cache is to have fast hit time</a:t>
            </a:r>
            <a:endParaRPr kumimoji="0" lang="en-US" sz="2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3) The L3 cache should adopt write-through policy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4) The L2 is always multiple times larger than L1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714" y="5562601"/>
            <a:ext cx="1939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</a:t>
            </a:r>
          </a:p>
        </p:txBody>
      </p:sp>
    </p:spTree>
    <p:extLst>
      <p:ext uri="{BB962C8B-B14F-4D97-AF65-F5344CB8AC3E}">
        <p14:creationId xmlns:p14="http://schemas.microsoft.com/office/powerpoint/2010/main" val="75399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2221" y="321918"/>
            <a:ext cx="10590179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11)  What are the four type of cache misses ? </a:t>
            </a:r>
          </a:p>
          <a:p>
            <a:pPr marL="457176" lvl="1" indent="0">
              <a:buNone/>
            </a:pPr>
            <a:endParaRPr lang="en-US" sz="2800" dirty="0">
              <a:solidFill>
                <a:schemeClr val="tx2"/>
              </a:solidFill>
              <a:latin typeface="+mn-lt"/>
              <a:ea typeface="Arial Unicode MS" panose="020B0604020202020204" pitchFamily="34" charset="-128"/>
            </a:endParaRPr>
          </a:p>
          <a:p>
            <a:pPr marL="971526" lvl="1" indent="-514350">
              <a:buFont typeface="+mj-lt"/>
              <a:buAutoNum type="arabicParenR"/>
            </a:pPr>
            <a:r>
              <a:rPr lang="en-US" baseline="30000" dirty="0">
                <a:solidFill>
                  <a:schemeClr val="tx2"/>
                </a:solidFill>
                <a:latin typeface="+mn-lt"/>
                <a:ea typeface="Arial Unicode MS" panose="020B0604020202020204" pitchFamily="34" charset="-128"/>
              </a:rPr>
              <a:t>Compulsory misses, Conflict misses, Capacity misses, Coherence misses</a:t>
            </a:r>
          </a:p>
          <a:p>
            <a:pPr marL="971526" lvl="1" indent="-514350">
              <a:buFont typeface="+mj-lt"/>
              <a:buAutoNum type="arabicParenR"/>
            </a:pPr>
            <a:r>
              <a:rPr kumimoji="1" lang="en-US" b="0" i="0" u="none" strike="noStrike" kern="0" cap="none" spc="0" normalizeH="0" baseline="3000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Arial Unicode MS" panose="020B0604020202020204" pitchFamily="34" charset="-128"/>
                <a:cs typeface="+mn-cs"/>
              </a:rPr>
              <a:t>Cold misses, Collision misses, Capacity misses, Coherence misses</a:t>
            </a:r>
          </a:p>
          <a:p>
            <a:pPr marL="971526" lvl="1" indent="-514350">
              <a:buFont typeface="+mj-lt"/>
              <a:buAutoNum type="arabicParenR"/>
            </a:pPr>
            <a:r>
              <a:rPr lang="en-US" baseline="30000" dirty="0">
                <a:solidFill>
                  <a:srgbClr val="1F497D"/>
                </a:solidFill>
                <a:latin typeface="Arial"/>
                <a:ea typeface="Arial Unicode MS" panose="020B0604020202020204" pitchFamily="34" charset="-128"/>
                <a:cs typeface="+mn-cs"/>
              </a:rPr>
              <a:t>Combined misses, Conformant misses, Contiguous misses, Conditional misses</a:t>
            </a:r>
          </a:p>
          <a:p>
            <a:pPr marL="971526" lvl="1" indent="-514350">
              <a:buFont typeface="+mj-lt"/>
              <a:buAutoNum type="arabicParenR"/>
            </a:pPr>
            <a:r>
              <a:rPr lang="en-US" baseline="30000" dirty="0">
                <a:solidFill>
                  <a:srgbClr val="1F497D"/>
                </a:solidFill>
                <a:latin typeface="Arial"/>
                <a:ea typeface="Arial Unicode MS" panose="020B0604020202020204" pitchFamily="34" charset="-128"/>
                <a:cs typeface="+mn-cs"/>
              </a:rPr>
              <a:t>Cool misses, Conflict misses, Inclusive misses, Exclusive misses</a:t>
            </a:r>
            <a:endParaRPr kumimoji="1" lang="en-US" b="0" i="0" u="none" strike="noStrike" kern="0" cap="none" spc="0" normalizeH="0" baseline="3000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Arial Unicode MS" panose="020B0604020202020204" pitchFamily="34" charset="-128"/>
              <a:cs typeface="+mn-cs"/>
            </a:endParaRPr>
          </a:p>
          <a:p>
            <a:pPr marL="971526" lvl="1" indent="-514350">
              <a:buAutoNum type="arabicParenR"/>
            </a:pPr>
            <a:endParaRPr lang="en-US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 startAt="2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971526" lvl="1" indent="-514350">
              <a:buAutoNum type="arabicParenR"/>
            </a:pPr>
            <a:endParaRPr lang="en-US" sz="3000" baseline="30000" dirty="0">
              <a:solidFill>
                <a:prstClr val="black"/>
              </a:solidFill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716" y="5562601"/>
            <a:ext cx="1939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</a:t>
            </a:r>
          </a:p>
        </p:txBody>
      </p:sp>
    </p:spTree>
    <p:extLst>
      <p:ext uri="{BB962C8B-B14F-4D97-AF65-F5344CB8AC3E}">
        <p14:creationId xmlns:p14="http://schemas.microsoft.com/office/powerpoint/2010/main" val="318260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F6CB9-0514-4542-9E4F-6DD34707327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525000" y="64770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0923610-E06F-48B1-B937-DE728D632045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TW" sz="1600"/>
          </a:p>
        </p:txBody>
      </p:sp>
      <p:sp>
        <p:nvSpPr>
          <p:cNvPr id="441347" name="Rectangle 3">
            <a:extLst>
              <a:ext uri="{FF2B5EF4-FFF2-40B4-BE49-F238E27FC236}">
                <a16:creationId xmlns:a16="http://schemas.microsoft.com/office/drawing/2014/main" id="{FFD44B50-47EF-47BC-A2FB-56C4911BE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9340" y="371476"/>
            <a:ext cx="10302947" cy="5334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12) What are the advantages of using a large cache line size ? </a:t>
            </a:r>
          </a:p>
          <a:p>
            <a:pPr marL="742950" indent="-742950">
              <a:buFont typeface="+mj-lt"/>
              <a:buAutoNum type="arabicParenR"/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It exploits more spatial locality</a:t>
            </a:r>
          </a:p>
          <a:p>
            <a:pPr marL="742950" indent="-742950">
              <a:buFont typeface="+mj-lt"/>
              <a:buAutoNum type="arabicParenR"/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It exploits more temporal locality</a:t>
            </a:r>
          </a:p>
          <a:p>
            <a:pPr marL="742950" marR="0" lvl="0" indent="-7429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1" lang="en-US" altLang="zh-TW" sz="3733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新細明體" panose="02020500000000000000" pitchFamily="18" charset="-120"/>
                <a:cs typeface="+mn-cs"/>
              </a:rPr>
              <a:t>It saves tag space  </a:t>
            </a:r>
          </a:p>
          <a:p>
            <a:pPr marL="742950" indent="-742950">
              <a:buFont typeface="+mj-lt"/>
              <a:buAutoNum type="arabicParenR"/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It could reduce compulsory misses</a:t>
            </a:r>
          </a:p>
          <a:p>
            <a:pPr marL="742950" indent="-742950">
              <a:buFont typeface="+mj-lt"/>
              <a:buAutoNum type="arabicParenR"/>
              <a:defRPr/>
            </a:pPr>
            <a:endParaRPr lang="en-US" altLang="zh-TW" dirty="0">
              <a:ea typeface="新細明體" panose="02020500000000000000" pitchFamily="18" charset="-120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TW" dirty="0">
              <a:solidFill>
                <a:schemeClr val="tx2"/>
              </a:solidFill>
              <a:latin typeface="Symbol" panose="05050102010706020507" pitchFamily="18" charset="2"/>
              <a:ea typeface="新細明體" panose="02020500000000000000" pitchFamily="18" charset="-120"/>
            </a:endParaRPr>
          </a:p>
        </p:txBody>
      </p:sp>
      <p:sp>
        <p:nvSpPr>
          <p:cNvPr id="441348" name="Text Box 4">
            <a:extLst>
              <a:ext uri="{FF2B5EF4-FFF2-40B4-BE49-F238E27FC236}">
                <a16:creationId xmlns:a16="http://schemas.microsoft.com/office/drawing/2014/main" id="{122927B1-D547-459A-B094-43111A785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8619" y="5829300"/>
            <a:ext cx="22092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1,3,4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4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13) L1 caches are usually split into L1I and L1D. What are the advantages of this splitting.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For a higher hit rate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For a greater access bandwidth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kumimoji="1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標楷體" pitchFamily="65" charset="-120"/>
                <a:cs typeface="+mn-cs"/>
              </a:rPr>
              <a:t>I-cache can be managed differently from D-cache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+mj-lt"/>
              <a:buAutoNum type="arabicParenR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</a:rPr>
              <a:t>For a higher associativity</a:t>
            </a:r>
            <a:endParaRPr kumimoji="1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標楷體" pitchFamily="65" charset="-120"/>
              <a:cs typeface="+mn-cs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716" y="5562601"/>
            <a:ext cx="1939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2,3</a:t>
            </a:r>
          </a:p>
        </p:txBody>
      </p:sp>
    </p:spTree>
    <p:extLst>
      <p:ext uri="{BB962C8B-B14F-4D97-AF65-F5344CB8AC3E}">
        <p14:creationId xmlns:p14="http://schemas.microsoft.com/office/powerpoint/2010/main" val="262395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50587" y="467833"/>
            <a:ext cx="9863847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14) Cray vector supercomputers did not have data caches, but they use vector loads and stores. Compared to modern computers with data caches, what is the weakness of Cray Vector Supercomputers?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They do not take advantages of memory spatial locality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They do not take advantages of memory temporal locality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Their instruction fetching would be much slower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They are incapable of taking advantages of localities for languages with extensive pointer aliasing.</a:t>
            </a: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7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</a:t>
            </a:r>
          </a:p>
        </p:txBody>
      </p:sp>
    </p:spTree>
    <p:extLst>
      <p:ext uri="{BB962C8B-B14F-4D97-AF65-F5344CB8AC3E}">
        <p14:creationId xmlns:p14="http://schemas.microsoft.com/office/powerpoint/2010/main" val="332505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15) My computer has a two-way set associative cache with 4KB and 32B line size, which of the following memory reference sequences would run into conflict misses 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r>
              <a:rPr lang="en-US" altLang="zh-TW" sz="24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1) 0x01ABC000, 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0x01ABC004, 0x01ABC010, 0x01ABC002,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2) 0x01ABC000, 0x01ABB004, 0x01ABD000, 0x01ABA010,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lang="en-US" altLang="zh-TW" sz="24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3) 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0x01ABC000, 0x01ABC020, 0x01ABC030, 0x01ABC040,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lang="en-US" altLang="zh-TW" sz="2400" dirty="0">
                <a:solidFill>
                  <a:srgbClr val="1F497D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4) </a:t>
            </a:r>
            <a:r>
              <a:rPr kumimoji="1" lang="en-US" altLang="zh-TW" sz="24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0x01ABC020, 0x01ABC030, 0x01ABC02A, 0x01ABC03A,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None/>
              <a:tabLst/>
              <a:defRPr/>
            </a:pPr>
            <a:endParaRPr kumimoji="1" lang="en-US" altLang="zh-TW" sz="2400" b="0" i="0" u="none" strike="noStrike" kern="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4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9368" y="5562601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</a:t>
            </a:r>
          </a:p>
        </p:txBody>
      </p:sp>
    </p:spTree>
    <p:extLst>
      <p:ext uri="{BB962C8B-B14F-4D97-AF65-F5344CB8AC3E}">
        <p14:creationId xmlns:p14="http://schemas.microsoft.com/office/powerpoint/2010/main" val="285379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16) My cache supports both write allocate and write no-allocate policy, it is controlled by a bit in the store instruction. Under what condition, the store instruction should turn on “</a:t>
            </a:r>
            <a:r>
              <a:rPr lang="en-US" altLang="zh-TW" sz="2800" b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write-no-allocate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”?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the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memcpy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a,b,n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lib call when n is large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When storing local variables in a procedure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When storing a struct member (e.g.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st.a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or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-&gt;a)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the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memset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a,b,n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lib call when n is large.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716" y="5562601"/>
            <a:ext cx="1939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1,4</a:t>
            </a:r>
          </a:p>
        </p:txBody>
      </p:sp>
    </p:spTree>
    <p:extLst>
      <p:ext uri="{BB962C8B-B14F-4D97-AF65-F5344CB8AC3E}">
        <p14:creationId xmlns:p14="http://schemas.microsoft.com/office/powerpoint/2010/main" val="213470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17) Which of the following cache features would require greater bus and memory bandwidth?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Large cache lines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Cache prefetching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Non-blocking caches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Exclusive, multi-level, write-back caches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Write-through caches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412" y="5562601"/>
            <a:ext cx="24785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1,2,3,5</a:t>
            </a:r>
          </a:p>
        </p:txBody>
      </p:sp>
    </p:spTree>
    <p:extLst>
      <p:ext uri="{BB962C8B-B14F-4D97-AF65-F5344CB8AC3E}">
        <p14:creationId xmlns:p14="http://schemas.microsoft.com/office/powerpoint/2010/main" val="291975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2298" y="467833"/>
            <a:ext cx="10778247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18) For a single cycle data path design, if the D-cache miss rate is </a:t>
            </a:r>
            <a:r>
              <a:rPr lang="en-US" altLang="zh-TW" sz="2800" b="1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5%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US" altLang="zh-TW" sz="2800" b="1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40%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of instructions are load/stores, and the memory latency is </a:t>
            </a:r>
            <a:r>
              <a:rPr lang="en-US" altLang="zh-TW" sz="2800" b="1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100 cycles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. What would be the average CPI?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2.0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1.4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1.6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3.0</a:t>
            </a: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4510" y="5986790"/>
            <a:ext cx="16706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4</a:t>
            </a:r>
          </a:p>
        </p:txBody>
      </p:sp>
    </p:spTree>
    <p:extLst>
      <p:ext uri="{BB962C8B-B14F-4D97-AF65-F5344CB8AC3E}">
        <p14:creationId xmlns:p14="http://schemas.microsoft.com/office/powerpoint/2010/main" val="2827197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2298" y="467833"/>
            <a:ext cx="10778247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19) For many years, AMAT (Average Memory Access Time) was used to estimate the impact of caches to the performance of a program. However, AMAT has become less accurate recently because of </a:t>
            </a:r>
          </a:p>
          <a:p>
            <a:pPr marL="0" indent="0">
              <a:buNone/>
              <a:defRPr/>
            </a:pPr>
            <a:r>
              <a:rPr lang="en-US" altLang="zh-TW" sz="24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1) Caches are getting larger, misses are now rare, so they could be ignored</a:t>
            </a:r>
          </a:p>
          <a:p>
            <a:pPr marL="0" indent="0">
              <a:buNone/>
              <a:defRPr/>
            </a:pPr>
            <a:r>
              <a:rPr lang="en-US" altLang="zh-TW" sz="24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2) Caches are now non-blocking, multiple misses may be handled in parallel. The overlapped miss handling is not part of the AMAT equation.</a:t>
            </a:r>
          </a:p>
          <a:p>
            <a:pPr marL="0" indent="0">
              <a:buNone/>
              <a:defRPr/>
            </a:pPr>
            <a:r>
              <a:rPr lang="en-US" altLang="zh-TW" sz="24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3) AMAT was designed for single level cache, now most caches are multi-level caches</a:t>
            </a:r>
          </a:p>
          <a:p>
            <a:pPr marL="0" indent="0">
              <a:buNone/>
              <a:defRPr/>
            </a:pPr>
            <a:r>
              <a:rPr lang="en-US" altLang="zh-TW" sz="24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4) Out-of-order execution allows instructions continue to execute, so that the cache miss penalty could be partially hidden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63573" y="6248400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2,4</a:t>
            </a:r>
          </a:p>
        </p:txBody>
      </p:sp>
    </p:spTree>
    <p:extLst>
      <p:ext uri="{BB962C8B-B14F-4D97-AF65-F5344CB8AC3E}">
        <p14:creationId xmlns:p14="http://schemas.microsoft.com/office/powerpoint/2010/main" val="240201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20) Which of the following statements about the “</a:t>
            </a:r>
            <a:r>
              <a:rPr lang="en-US" altLang="zh-TW" sz="2800" b="1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snoopy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” cache are true?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 is design to maintain cache coherence for bus connected multi-processor systems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 is designed as a watch dog for preventing illegal cache references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 is designed for </a:t>
            </a:r>
            <a:r>
              <a:rPr lang="en-US" altLang="zh-TW" sz="2800" dirty="0" err="1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dara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security enforcement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 is designed to peeking data in neighbor’s caches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166" y="556260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</a:t>
            </a:r>
          </a:p>
        </p:txBody>
      </p:sp>
    </p:spTree>
    <p:extLst>
      <p:ext uri="{BB962C8B-B14F-4D97-AF65-F5344CB8AC3E}">
        <p14:creationId xmlns:p14="http://schemas.microsoft.com/office/powerpoint/2010/main" val="1855337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67833"/>
            <a:ext cx="96774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21) Which of the following could reduce conflict misses incurred in a direct mapped L1 cache?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Increase the cache sizes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Increase the cache block (line) sizes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Add a victim cache 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Change to set associative cache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Use the best replacement algorithm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4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1,3,4</a:t>
            </a:r>
          </a:p>
        </p:txBody>
      </p:sp>
    </p:spTree>
    <p:extLst>
      <p:ext uri="{BB962C8B-B14F-4D97-AF65-F5344CB8AC3E}">
        <p14:creationId xmlns:p14="http://schemas.microsoft.com/office/powerpoint/2010/main" val="375362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67833"/>
            <a:ext cx="96774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22) Which of the following are often useful in reducing cache capacity misses?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Increase the cache sizes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Increase the cache block (line) sizes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Add one victim cache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Change to set associative cache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Cache prefetching </a:t>
            </a: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751" y="5562601"/>
            <a:ext cx="16898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1,5</a:t>
            </a:r>
          </a:p>
        </p:txBody>
      </p:sp>
    </p:spTree>
    <p:extLst>
      <p:ext uri="{BB962C8B-B14F-4D97-AF65-F5344CB8AC3E}">
        <p14:creationId xmlns:p14="http://schemas.microsoft.com/office/powerpoint/2010/main" val="239906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467833"/>
            <a:ext cx="8991600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23) MSHR (Miss Status Handling Registers) are used to track multiple outstanding cache misses. Each level of cache has its own MSHR. On a </a:t>
            </a:r>
            <a:r>
              <a:rPr lang="en-US" altLang="zh-TW" sz="2800" b="1" i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multicore chip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the </a:t>
            </a:r>
            <a:r>
              <a:rPr kumimoji="1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number of entries in the </a:t>
            </a:r>
            <a:r>
              <a:rPr kumimoji="1" lang="en-US" altLang="zh-TW" sz="2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L3 </a:t>
            </a:r>
            <a:r>
              <a:rPr lang="en-US" altLang="zh-TW" sz="2800" b="1" i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MSHR 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would likely be influenced by 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memory latency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memory bus width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size of the L2 cache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number of cores sharing the L3</a:t>
            </a:r>
          </a:p>
          <a:p>
            <a:pPr marL="514350" indent="-514350">
              <a:buAutoNum type="arabicParenR"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4335" y="5562601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1,2,4</a:t>
            </a:r>
          </a:p>
        </p:txBody>
      </p:sp>
    </p:spTree>
    <p:extLst>
      <p:ext uri="{BB962C8B-B14F-4D97-AF65-F5344CB8AC3E}">
        <p14:creationId xmlns:p14="http://schemas.microsoft.com/office/powerpoint/2010/main" val="111451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D272-E34A-4932-9B25-1E778CCA1D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553200"/>
            <a:ext cx="609600" cy="3048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34ED0-149B-4FED-9115-FAC8201B9942}" type="slidenum">
              <a:rPr lang="zh-TW" altLang="en-US" sz="16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TW" sz="1600"/>
          </a:p>
        </p:txBody>
      </p:sp>
      <p:sp>
        <p:nvSpPr>
          <p:cNvPr id="448514" name="Rectangle 2">
            <a:extLst>
              <a:ext uri="{FF2B5EF4-FFF2-40B4-BE49-F238E27FC236}">
                <a16:creationId xmlns:a16="http://schemas.microsoft.com/office/drawing/2014/main" id="{626CA480-DB6F-464E-A9F6-E714613B3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4945" y="467833"/>
            <a:ext cx="10836612" cy="578056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24) I-cache does not take stores from the processor. However, modern applications use “</a:t>
            </a:r>
            <a:r>
              <a:rPr lang="en-US" altLang="zh-TW" sz="2800" i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instruction patching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” or “</a:t>
            </a:r>
            <a:r>
              <a:rPr lang="en-US" altLang="zh-TW" sz="2800" i="1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JIT</a:t>
            </a: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” code generation to either modify instructions or generate a new section of code for subsequent execution.  Which of the following solutions could work.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Flush the I-cache to purge all old instructions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Invalidate the I-cache lines containing the instructions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Flush the data caches</a:t>
            </a:r>
          </a:p>
          <a:p>
            <a:pPr marL="514350" indent="-514350">
              <a:buAutoNum type="arabicParenR"/>
              <a:defRPr/>
            </a:pPr>
            <a:r>
              <a:rPr lang="en-US" altLang="zh-TW" sz="28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Maintain coherence between I- and D-cache: any updates to the D-cache will also write into the respective lines in I-cache.</a:t>
            </a:r>
          </a:p>
          <a:p>
            <a:pPr marL="0" indent="0">
              <a:buNone/>
              <a:defRPr/>
            </a:pPr>
            <a:endParaRPr lang="en-US" altLang="zh-TW" sz="2800" dirty="0">
              <a:solidFill>
                <a:schemeClr val="tx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48515" name="Text Box 3">
            <a:extLst>
              <a:ext uri="{FF2B5EF4-FFF2-40B4-BE49-F238E27FC236}">
                <a16:creationId xmlns:a16="http://schemas.microsoft.com/office/drawing/2014/main" id="{035461AE-C996-46AD-BD8C-FBEF55220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1538" y="6159334"/>
            <a:ext cx="19207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Answer: 1,2,4</a:t>
            </a:r>
          </a:p>
        </p:txBody>
      </p:sp>
    </p:spTree>
    <p:extLst>
      <p:ext uri="{BB962C8B-B14F-4D97-AF65-F5344CB8AC3E}">
        <p14:creationId xmlns:p14="http://schemas.microsoft.com/office/powerpoint/2010/main" val="35743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autoUpdateAnimBg="0"/>
    </p:bldLst>
  </p:timing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19355</TotalTime>
  <Words>1492</Words>
  <Application>Microsoft Office PowerPoint</Application>
  <PresentationFormat>Widescreen</PresentationFormat>
  <Paragraphs>223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Arial Unicode MS</vt:lpstr>
      <vt:lpstr>MS Sans Serif</vt:lpstr>
      <vt:lpstr>华文楷体</vt:lpstr>
      <vt:lpstr>Arial</vt:lpstr>
      <vt:lpstr>Calibri</vt:lpstr>
      <vt:lpstr>Calibri Light</vt:lpstr>
      <vt:lpstr>Symbol</vt:lpstr>
      <vt:lpstr>Times New Roman</vt:lpstr>
      <vt:lpstr>Wingdings</vt:lpstr>
      <vt:lpstr>NTHU UniCloud</vt:lpstr>
      <vt:lpstr>自訂設計</vt:lpstr>
      <vt:lpstr>CSC3050 – Computer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HSU Wei-Chung (SDS)</cp:lastModifiedBy>
  <cp:revision>228</cp:revision>
  <dcterms:created xsi:type="dcterms:W3CDTF">2020-07-15T11:13:39Z</dcterms:created>
  <dcterms:modified xsi:type="dcterms:W3CDTF">2024-04-23T00:53:26Z</dcterms:modified>
</cp:coreProperties>
</file>