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1"/>
  </p:notesMasterIdLst>
  <p:handoutMasterIdLst>
    <p:handoutMasterId r:id="rId22"/>
  </p:handoutMasterIdLst>
  <p:sldIdLst>
    <p:sldId id="295" r:id="rId3"/>
    <p:sldId id="448" r:id="rId4"/>
    <p:sldId id="452" r:id="rId5"/>
    <p:sldId id="449" r:id="rId6"/>
    <p:sldId id="297" r:id="rId7"/>
    <p:sldId id="339" r:id="rId8"/>
    <p:sldId id="341" r:id="rId9"/>
    <p:sldId id="342" r:id="rId10"/>
    <p:sldId id="346" r:id="rId11"/>
    <p:sldId id="350" r:id="rId12"/>
    <p:sldId id="349" r:id="rId13"/>
    <p:sldId id="348" r:id="rId14"/>
    <p:sldId id="298" r:id="rId15"/>
    <p:sldId id="299" r:id="rId16"/>
    <p:sldId id="450" r:id="rId17"/>
    <p:sldId id="263" r:id="rId18"/>
    <p:sldId id="451" r:id="rId19"/>
    <p:sldId id="296" r:id="rId2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7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3632"/>
    <a:srgbClr val="4F81BD"/>
    <a:srgbClr val="46ACC8"/>
    <a:srgbClr val="633869"/>
    <a:srgbClr val="0000FF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6197"/>
  </p:normalViewPr>
  <p:slideViewPr>
    <p:cSldViewPr snapToGrid="0">
      <p:cViewPr varScale="1">
        <p:scale>
          <a:sx n="85" d="100"/>
          <a:sy n="85" d="100"/>
        </p:scale>
        <p:origin x="452" y="56"/>
      </p:cViewPr>
      <p:guideLst>
        <p:guide orient="horz" pos="2160"/>
        <p:guide pos="290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Wang Fangxin (SSE)" userId="ce1f3ee1-525b-4f0b-8f12-bc5b2dd7d371" providerId="ADAL" clId="{072444D5-B6E1-794C-B782-80CEB355B39B}"/>
    <pc:docChg chg="undo custSel addSld modSld">
      <pc:chgData name="Prof. Wang Fangxin (SSE)" userId="ce1f3ee1-525b-4f0b-8f12-bc5b2dd7d371" providerId="ADAL" clId="{072444D5-B6E1-794C-B782-80CEB355B39B}" dt="2023-01-04T10:36:32.720" v="702" actId="20577"/>
      <pc:docMkLst>
        <pc:docMk/>
      </pc:docMkLst>
      <pc:sldChg chg="modSp mod">
        <pc:chgData name="Prof. Wang Fangxin (SSE)" userId="ce1f3ee1-525b-4f0b-8f12-bc5b2dd7d371" providerId="ADAL" clId="{072444D5-B6E1-794C-B782-80CEB355B39B}" dt="2023-01-04T10:36:26.792" v="695" actId="20577"/>
        <pc:sldMkLst>
          <pc:docMk/>
          <pc:sldMk cId="1937551950" sldId="296"/>
        </pc:sldMkLst>
        <pc:spChg chg="mod">
          <ac:chgData name="Prof. Wang Fangxin (SSE)" userId="ce1f3ee1-525b-4f0b-8f12-bc5b2dd7d371" providerId="ADAL" clId="{072444D5-B6E1-794C-B782-80CEB355B39B}" dt="2023-01-04T10:36:06.733" v="685" actId="20577"/>
          <ac:spMkLst>
            <pc:docMk/>
            <pc:sldMk cId="1937551950" sldId="296"/>
            <ac:spMk id="3" creationId="{00000000-0000-0000-0000-000000000000}"/>
          </ac:spMkLst>
        </pc:spChg>
        <pc:spChg chg="mod">
          <ac:chgData name="Prof. Wang Fangxin (SSE)" userId="ce1f3ee1-525b-4f0b-8f12-bc5b2dd7d371" providerId="ADAL" clId="{072444D5-B6E1-794C-B782-80CEB355B39B}" dt="2023-01-04T10:36:26.792" v="695" actId="20577"/>
          <ac:spMkLst>
            <pc:docMk/>
            <pc:sldMk cId="1937551950" sldId="296"/>
            <ac:spMk id="6" creationId="{00000000-0000-0000-0000-000000000000}"/>
          </ac:spMkLst>
        </pc:spChg>
      </pc:sldChg>
      <pc:sldChg chg="modSp mod">
        <pc:chgData name="Prof. Wang Fangxin (SSE)" userId="ce1f3ee1-525b-4f0b-8f12-bc5b2dd7d371" providerId="ADAL" clId="{072444D5-B6E1-794C-B782-80CEB355B39B}" dt="2023-01-04T10:27:49.456" v="356" actId="20577"/>
        <pc:sldMkLst>
          <pc:docMk/>
          <pc:sldMk cId="0" sldId="299"/>
        </pc:sldMkLst>
        <pc:spChg chg="mod">
          <ac:chgData name="Prof. Wang Fangxin (SSE)" userId="ce1f3ee1-525b-4f0b-8f12-bc5b2dd7d371" providerId="ADAL" clId="{072444D5-B6E1-794C-B782-80CEB355B39B}" dt="2023-01-04T10:27:49.456" v="356" actId="20577"/>
          <ac:spMkLst>
            <pc:docMk/>
            <pc:sldMk cId="0" sldId="299"/>
            <ac:spMk id="3" creationId="{00000000-0000-0000-0000-000000000000}"/>
          </ac:spMkLst>
        </pc:spChg>
      </pc:sldChg>
      <pc:sldChg chg="modSp mod">
        <pc:chgData name="Prof. Wang Fangxin (SSE)" userId="ce1f3ee1-525b-4f0b-8f12-bc5b2dd7d371" providerId="ADAL" clId="{072444D5-B6E1-794C-B782-80CEB355B39B}" dt="2023-01-04T10:24:58.830" v="335" actId="20577"/>
        <pc:sldMkLst>
          <pc:docMk/>
          <pc:sldMk cId="0" sldId="391"/>
        </pc:sldMkLst>
        <pc:spChg chg="mod">
          <ac:chgData name="Prof. Wang Fangxin (SSE)" userId="ce1f3ee1-525b-4f0b-8f12-bc5b2dd7d371" providerId="ADAL" clId="{072444D5-B6E1-794C-B782-80CEB355B39B}" dt="2023-01-04T10:24:58.830" v="335" actId="20577"/>
          <ac:spMkLst>
            <pc:docMk/>
            <pc:sldMk cId="0" sldId="391"/>
            <ac:spMk id="6" creationId="{00000000-0000-0000-0000-000000000000}"/>
          </ac:spMkLst>
        </pc:spChg>
      </pc:sldChg>
      <pc:sldChg chg="modSp add mod">
        <pc:chgData name="Prof. Wang Fangxin (SSE)" userId="ce1f3ee1-525b-4f0b-8f12-bc5b2dd7d371" providerId="ADAL" clId="{072444D5-B6E1-794C-B782-80CEB355B39B}" dt="2023-01-04T10:36:32.720" v="702" actId="20577"/>
        <pc:sldMkLst>
          <pc:docMk/>
          <pc:sldMk cId="2341894575" sldId="447"/>
        </pc:sldMkLst>
        <pc:spChg chg="mod">
          <ac:chgData name="Prof. Wang Fangxin (SSE)" userId="ce1f3ee1-525b-4f0b-8f12-bc5b2dd7d371" providerId="ADAL" clId="{072444D5-B6E1-794C-B782-80CEB355B39B}" dt="2023-01-04T10:32:31.287" v="384" actId="20577"/>
          <ac:spMkLst>
            <pc:docMk/>
            <pc:sldMk cId="2341894575" sldId="447"/>
            <ac:spMk id="3" creationId="{00000000-0000-0000-0000-000000000000}"/>
          </ac:spMkLst>
        </pc:spChg>
        <pc:spChg chg="mod">
          <ac:chgData name="Prof. Wang Fangxin (SSE)" userId="ce1f3ee1-525b-4f0b-8f12-bc5b2dd7d371" providerId="ADAL" clId="{072444D5-B6E1-794C-B782-80CEB355B39B}" dt="2023-01-04T10:36:32.720" v="702" actId="20577"/>
          <ac:spMkLst>
            <pc:docMk/>
            <pc:sldMk cId="2341894575" sldId="447"/>
            <ac:spMk id="6" creationId="{00000000-0000-0000-0000-000000000000}"/>
          </ac:spMkLst>
        </pc:spChg>
      </pc:sldChg>
    </pc:docChg>
  </pc:docChgLst>
  <pc:docChgLst>
    <pc:chgData name="Prof. Wang Fangxin (SSE)" userId="ce1f3ee1-525b-4f0b-8f12-bc5b2dd7d371" providerId="ADAL" clId="{56731C7C-97E0-41C3-86F4-ADF8CE8A2053}"/>
    <pc:docChg chg="undo custSel delSld modSld sldOrd">
      <pc:chgData name="Prof. Wang Fangxin (SSE)" userId="ce1f3ee1-525b-4f0b-8f12-bc5b2dd7d371" providerId="ADAL" clId="{56731C7C-97E0-41C3-86F4-ADF8CE8A2053}" dt="2022-01-10T06:59:30.151" v="590" actId="2696"/>
      <pc:docMkLst>
        <pc:docMk/>
      </pc:docMkLst>
      <pc:sldChg chg="modSp">
        <pc:chgData name="Prof. Wang Fangxin (SSE)" userId="ce1f3ee1-525b-4f0b-8f12-bc5b2dd7d371" providerId="ADAL" clId="{56731C7C-97E0-41C3-86F4-ADF8CE8A2053}" dt="2022-01-10T06:28:47.372" v="1" actId="27636"/>
        <pc:sldMkLst>
          <pc:docMk/>
          <pc:sldMk cId="0" sldId="262"/>
        </pc:sldMkLst>
        <pc:spChg chg="mod">
          <ac:chgData name="Prof. Wang Fangxin (SSE)" userId="ce1f3ee1-525b-4f0b-8f12-bc5b2dd7d371" providerId="ADAL" clId="{56731C7C-97E0-41C3-86F4-ADF8CE8A2053}" dt="2022-01-10T06:28:47.372" v="1" actId="27636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Prof. Wang Fangxin (SSE)" userId="ce1f3ee1-525b-4f0b-8f12-bc5b2dd7d371" providerId="ADAL" clId="{56731C7C-97E0-41C3-86F4-ADF8CE8A2053}" dt="2022-01-10T06:59:30.151" v="590" actId="2696"/>
        <pc:sldMkLst>
          <pc:docMk/>
          <pc:sldMk cId="0" sldId="272"/>
        </pc:sldMkLst>
      </pc:sldChg>
      <pc:sldChg chg="addSp modSp">
        <pc:chgData name="Prof. Wang Fangxin (SSE)" userId="ce1f3ee1-525b-4f0b-8f12-bc5b2dd7d371" providerId="ADAL" clId="{56731C7C-97E0-41C3-86F4-ADF8CE8A2053}" dt="2022-01-10T06:30:29.070" v="33" actId="1076"/>
        <pc:sldMkLst>
          <pc:docMk/>
          <pc:sldMk cId="0" sldId="295"/>
        </pc:sldMkLst>
        <pc:spChg chg="add mod">
          <ac:chgData name="Prof. Wang Fangxin (SSE)" userId="ce1f3ee1-525b-4f0b-8f12-bc5b2dd7d371" providerId="ADAL" clId="{56731C7C-97E0-41C3-86F4-ADF8CE8A2053}" dt="2022-01-10T06:30:29.070" v="33" actId="1076"/>
          <ac:spMkLst>
            <pc:docMk/>
            <pc:sldMk cId="0" sldId="295"/>
            <ac:spMk id="4" creationId="{5E4FC43E-652B-47EE-A940-42294AB0E172}"/>
          </ac:spMkLst>
        </pc:spChg>
      </pc:sldChg>
      <pc:sldChg chg="modSp">
        <pc:chgData name="Prof. Wang Fangxin (SSE)" userId="ce1f3ee1-525b-4f0b-8f12-bc5b2dd7d371" providerId="ADAL" clId="{56731C7C-97E0-41C3-86F4-ADF8CE8A2053}" dt="2022-01-10T06:51:11.053" v="586" actId="404"/>
        <pc:sldMkLst>
          <pc:docMk/>
          <pc:sldMk cId="1937551950" sldId="296"/>
        </pc:sldMkLst>
        <pc:spChg chg="mod">
          <ac:chgData name="Prof. Wang Fangxin (SSE)" userId="ce1f3ee1-525b-4f0b-8f12-bc5b2dd7d371" providerId="ADAL" clId="{56731C7C-97E0-41C3-86F4-ADF8CE8A2053}" dt="2022-01-10T06:51:11.053" v="586" actId="404"/>
          <ac:spMkLst>
            <pc:docMk/>
            <pc:sldMk cId="1937551950" sldId="296"/>
            <ac:spMk id="3" creationId="{00000000-0000-0000-0000-000000000000}"/>
          </ac:spMkLst>
        </pc:spChg>
      </pc:sldChg>
      <pc:sldChg chg="modSp">
        <pc:chgData name="Prof. Wang Fangxin (SSE)" userId="ce1f3ee1-525b-4f0b-8f12-bc5b2dd7d371" providerId="ADAL" clId="{56731C7C-97E0-41C3-86F4-ADF8CE8A2053}" dt="2022-01-10T06:44:19.141" v="478" actId="207"/>
        <pc:sldMkLst>
          <pc:docMk/>
          <pc:sldMk cId="0" sldId="299"/>
        </pc:sldMkLst>
        <pc:spChg chg="mod">
          <ac:chgData name="Prof. Wang Fangxin (SSE)" userId="ce1f3ee1-525b-4f0b-8f12-bc5b2dd7d371" providerId="ADAL" clId="{56731C7C-97E0-41C3-86F4-ADF8CE8A2053}" dt="2022-01-10T06:44:19.141" v="478" actId="207"/>
          <ac:spMkLst>
            <pc:docMk/>
            <pc:sldMk cId="0" sldId="299"/>
            <ac:spMk id="3" creationId="{00000000-0000-0000-0000-000000000000}"/>
          </ac:spMkLst>
        </pc:spChg>
      </pc:sldChg>
      <pc:sldChg chg="modSp ord">
        <pc:chgData name="Prof. Wang Fangxin (SSE)" userId="ce1f3ee1-525b-4f0b-8f12-bc5b2dd7d371" providerId="ADAL" clId="{56731C7C-97E0-41C3-86F4-ADF8CE8A2053}" dt="2022-01-10T06:48:53.068" v="570" actId="207"/>
        <pc:sldMkLst>
          <pc:docMk/>
          <pc:sldMk cId="0" sldId="301"/>
        </pc:sldMkLst>
        <pc:spChg chg="mod">
          <ac:chgData name="Prof. Wang Fangxin (SSE)" userId="ce1f3ee1-525b-4f0b-8f12-bc5b2dd7d371" providerId="ADAL" clId="{56731C7C-97E0-41C3-86F4-ADF8CE8A2053}" dt="2022-01-10T06:48:53.068" v="570" actId="207"/>
          <ac:spMkLst>
            <pc:docMk/>
            <pc:sldMk cId="0" sldId="301"/>
            <ac:spMk id="3" creationId="{00000000-0000-0000-0000-000000000000}"/>
          </ac:spMkLst>
        </pc:spChg>
      </pc:sldChg>
      <pc:sldChg chg="modSp">
        <pc:chgData name="Prof. Wang Fangxin (SSE)" userId="ce1f3ee1-525b-4f0b-8f12-bc5b2dd7d371" providerId="ADAL" clId="{56731C7C-97E0-41C3-86F4-ADF8CE8A2053}" dt="2022-01-10T06:51:17.850" v="588" actId="404"/>
        <pc:sldMkLst>
          <pc:docMk/>
          <pc:sldMk cId="0" sldId="391"/>
        </pc:sldMkLst>
        <pc:spChg chg="mod">
          <ac:chgData name="Prof. Wang Fangxin (SSE)" userId="ce1f3ee1-525b-4f0b-8f12-bc5b2dd7d371" providerId="ADAL" clId="{56731C7C-97E0-41C3-86F4-ADF8CE8A2053}" dt="2022-01-10T06:51:17.850" v="588" actId="404"/>
          <ac:spMkLst>
            <pc:docMk/>
            <pc:sldMk cId="0" sldId="391"/>
            <ac:spMk id="6" creationId="{00000000-0000-0000-0000-000000000000}"/>
          </ac:spMkLst>
        </pc:spChg>
      </pc:sldChg>
      <pc:sldChg chg="modSp del">
        <pc:chgData name="Prof. Wang Fangxin (SSE)" userId="ce1f3ee1-525b-4f0b-8f12-bc5b2dd7d371" providerId="ADAL" clId="{56731C7C-97E0-41C3-86F4-ADF8CE8A2053}" dt="2022-01-10T06:51:27.305" v="589" actId="2696"/>
        <pc:sldMkLst>
          <pc:docMk/>
          <pc:sldMk cId="0" sldId="392"/>
        </pc:sldMkLst>
        <pc:spChg chg="mod">
          <ac:chgData name="Prof. Wang Fangxin (SSE)" userId="ce1f3ee1-525b-4f0b-8f12-bc5b2dd7d371" providerId="ADAL" clId="{56731C7C-97E0-41C3-86F4-ADF8CE8A2053}" dt="2022-01-10T06:41:58.169" v="400" actId="20577"/>
          <ac:spMkLst>
            <pc:docMk/>
            <pc:sldMk cId="0" sldId="392"/>
            <ac:spMk id="6" creationId="{00000000-0000-0000-0000-000000000000}"/>
          </ac:spMkLst>
        </pc:spChg>
      </pc:sldChg>
      <pc:sldChg chg="modSp">
        <pc:chgData name="Prof. Wang Fangxin (SSE)" userId="ce1f3ee1-525b-4f0b-8f12-bc5b2dd7d371" providerId="ADAL" clId="{56731C7C-97E0-41C3-86F4-ADF8CE8A2053}" dt="2022-01-10T06:45:25" v="501" actId="20577"/>
        <pc:sldMkLst>
          <pc:docMk/>
          <pc:sldMk cId="0" sldId="445"/>
        </pc:sldMkLst>
        <pc:spChg chg="mod">
          <ac:chgData name="Prof. Wang Fangxin (SSE)" userId="ce1f3ee1-525b-4f0b-8f12-bc5b2dd7d371" providerId="ADAL" clId="{56731C7C-97E0-41C3-86F4-ADF8CE8A2053}" dt="2022-01-10T06:45:25" v="501" actId="20577"/>
          <ac:spMkLst>
            <pc:docMk/>
            <pc:sldMk cId="0" sldId="44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I would like to welcome everyone for the new semester here. This semester I will be the instructor of CSC3050.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architecture : Interface</a:t>
            </a:r>
          </a:p>
          <a:p>
            <a:r>
              <a:rPr lang="en-US" dirty="0"/>
              <a:t>Cray was called the father of supercomputers</a:t>
            </a:r>
          </a:p>
          <a:p>
            <a:r>
              <a:rPr lang="en-US" dirty="0"/>
              <a:t>Mascot of UofM</a:t>
            </a:r>
          </a:p>
          <a:p>
            <a:r>
              <a:rPr lang="en-US" dirty="0"/>
              <a:t>Combine SW and HW</a:t>
            </a:r>
          </a:p>
          <a:p>
            <a:r>
              <a:rPr lang="en-US" dirty="0"/>
              <a:t>Bring Academia to Industry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02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excellent textbook for computer organization, the most widely used. Clear explanation and comprehensive coverage </a:t>
            </a:r>
            <a:r>
              <a:rPr lang="en-US"/>
              <a:t>of fundamentals.</a:t>
            </a:r>
            <a:endParaRPr lang="en-US" dirty="0"/>
          </a:p>
          <a:p>
            <a:r>
              <a:rPr lang="en-US" dirty="0"/>
              <a:t>However, the ISA used there was a little too old. So we adopt the latest ISA on the market, the RISC-V edition.</a:t>
            </a:r>
          </a:p>
          <a:p>
            <a:r>
              <a:rPr lang="en-US" dirty="0"/>
              <a:t>P&amp;H: Stanford/UCB</a:t>
            </a:r>
          </a:p>
          <a:p>
            <a:r>
              <a:rPr lang="en-US" dirty="0"/>
              <a:t>B&amp;O: CMU, </a:t>
            </a:r>
            <a:r>
              <a:rPr lang="en-US" dirty="0" err="1"/>
              <a:t>UofWashington</a:t>
            </a:r>
            <a:r>
              <a:rPr lang="en-US" dirty="0"/>
              <a:t>, Harvard, UCSD.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26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E5086447-01D8-4490-AF99-B050067C83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53D10D2-1986-4877-AAC3-6F32CB84E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Sounds a little risky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RISC-V V also means “Vector”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375FACA-1F02-422D-BADB-CCE88CBE1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241468-08B9-487A-AA63-56EFDB1F9FA1}" type="slidenum">
              <a:rPr lang="en-US" altLang="zh-TW"/>
              <a:pPr/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B410705-C3B4-49A1-B6A0-8B480F6432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993FA341-3C90-4B71-A73E-D0D75A9B6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Three popular CPU architectures on the market: x86, ARM, RISC-V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DDB8A97-19F0-4731-AFDC-20924DB12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37D450-3AC8-4813-BE5F-707CAF1559A1}" type="slidenum">
              <a:rPr lang="en-US" altLang="zh-TW"/>
              <a:pPr/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857AD5E-FDCE-4EC6-A794-89ABAD6C34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7CF16C79-BB36-4845-B3F3-E13F594DB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ARM charges royalty and license fee. Each micro-controller may cost you 1-2% of , APPLE pays license fee, MTK pays royalty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2A0FE5D5-5214-4A93-85DF-076E1778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442905-832A-4746-B6B3-AD25FC3EDB17}" type="slidenum">
              <a:rPr lang="en-US" altLang="zh-TW"/>
              <a:pPr/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C5BF1AB-636D-42C1-A95E-7939A51A92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587A57A6-3C70-434D-8663-FFFDB34A2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Only a few companies have x86 license: AMD, Via, others expired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F3156B0-19A3-4E21-9F89-32E93FCF1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800DD2-A3DF-4F72-8AF9-BD5C1C1BEC63}" type="slidenum">
              <a:rPr lang="en-US" altLang="zh-TW"/>
              <a:pPr/>
              <a:t>9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37ECF12-CB75-4EAA-B4F9-B03631DD3B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9F46C74C-346B-4F89-A527-E708A4088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1892E67E-368B-4760-B829-793717296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2891FA-C502-45D7-9BB9-0E12B303A003}" type="slidenum">
              <a:rPr lang="en-US" altLang="zh-TW"/>
              <a:pPr/>
              <a:t>10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CC2FA43-D7AA-4AF7-A3F0-03376930D2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EB882AD9-7298-4500-88E0-722CD688D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OpenCL, OpenGL, OpenMP, </a:t>
            </a:r>
            <a:r>
              <a:rPr lang="en-US" altLang="en-US" dirty="0" err="1">
                <a:latin typeface="Arial" panose="020B0604020202020204" pitchFamily="34" charset="0"/>
              </a:rPr>
              <a:t>JavaAPI,DirectX</a:t>
            </a:r>
            <a:r>
              <a:rPr lang="en-US" altLang="en-US" dirty="0">
                <a:latin typeface="Arial" panose="020B0604020202020204" pitchFamily="34" charset="0"/>
              </a:rPr>
              <a:t>, SAPI, SDL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For example, since virtual machines have become popular in cloud computing, architectures must support VMs.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F98B502B-CECA-4688-BD6C-5964577E2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97F4B0-FF2E-4E4D-80DD-0B85479B2A30}" type="slidenum">
              <a:rPr lang="en-US" altLang="zh-TW"/>
              <a:pPr/>
              <a:t>11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0A16D3B8-0686-410A-8792-EA96BA2D86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60201674-69B1-46DD-A4C5-131D2E34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Three dominating ISAs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FF385CC1-94FF-4D5D-8335-B9DE18066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550407-05A8-42DF-BB3D-CA80CBB1634D}" type="slidenum">
              <a:rPr lang="en-US" altLang="zh-TW"/>
              <a:pPr/>
              <a:t>12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8064A2"/>
              </a:buClr>
              <a:defRPr sz="2400"/>
            </a:lvl1pPr>
            <a:lvl2pPr>
              <a:buClr>
                <a:srgbClr val="8064A2"/>
              </a:buClr>
              <a:defRPr sz="2000"/>
            </a:lvl2pPr>
            <a:lvl3pPr>
              <a:defRPr sz="1800">
                <a:latin typeface="Calibri" panose="020F07020304040A0204" pitchFamily="34" charset="0"/>
                <a:ea typeface="標楷體" pitchFamily="65" charset="-120"/>
                <a:cs typeface="Calibri" panose="020F07020304040A0204" pitchFamily="34" charset="0"/>
              </a:defRPr>
            </a:lvl3pPr>
            <a:lvl4pPr>
              <a:defRPr sz="1600">
                <a:latin typeface="Calibri" panose="020F07020304040A0204" pitchFamily="34" charset="0"/>
                <a:ea typeface="標楷體" pitchFamily="65" charset="-120"/>
                <a:cs typeface="Calibri" panose="020F07020304040A0204" pitchFamily="34" charset="0"/>
              </a:defRPr>
            </a:lvl4pPr>
            <a:lvl5pPr>
              <a:defRPr sz="1200">
                <a:latin typeface="Calibri" panose="020F07020304040A0204" pitchFamily="34" charset="0"/>
                <a:ea typeface="標楷體" pitchFamily="65" charset="-120"/>
                <a:cs typeface="Calibri" panose="020F07020304040A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24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83" indent="0">
              <a:buNone/>
              <a:defRPr sz="1351"/>
            </a:lvl2pPr>
            <a:lvl3pPr marL="685766" indent="0">
              <a:buNone/>
              <a:defRPr sz="1200"/>
            </a:lvl3pPr>
            <a:lvl4pPr marL="1028648" indent="0">
              <a:buNone/>
              <a:defRPr sz="1051"/>
            </a:lvl4pPr>
            <a:lvl5pPr marL="1371532" indent="0">
              <a:buNone/>
              <a:defRPr sz="1051"/>
            </a:lvl5pPr>
            <a:lvl6pPr marL="1714415" indent="0">
              <a:buNone/>
              <a:defRPr sz="1051"/>
            </a:lvl6pPr>
            <a:lvl7pPr marL="2057297" indent="0">
              <a:buNone/>
              <a:defRPr sz="1051"/>
            </a:lvl7pPr>
            <a:lvl8pPr marL="2400180" indent="0">
              <a:buNone/>
              <a:defRPr sz="1051"/>
            </a:lvl8pPr>
            <a:lvl9pPr marL="2743063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37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3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3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102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2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2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0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0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6" y="108350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8825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890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097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04792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756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83" indent="0">
              <a:buNone/>
              <a:defRPr sz="2100"/>
            </a:lvl2pPr>
            <a:lvl3pPr marL="685766" indent="0">
              <a:buNone/>
              <a:defRPr sz="1800"/>
            </a:lvl3pPr>
            <a:lvl4pPr marL="1028648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3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502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1210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739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2794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7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738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83" indent="0" algn="ctr">
              <a:buNone/>
              <a:defRPr/>
            </a:lvl2pPr>
            <a:lvl3pPr marL="685766" indent="0" algn="ctr">
              <a:buNone/>
              <a:defRPr/>
            </a:lvl3pPr>
            <a:lvl4pPr marL="1028648" indent="0" algn="ctr">
              <a:buNone/>
              <a:defRPr/>
            </a:lvl4pPr>
            <a:lvl5pPr marL="1371532" indent="0" algn="ctr">
              <a:buNone/>
              <a:defRPr/>
            </a:lvl5pPr>
            <a:lvl6pPr marL="1714415" indent="0" algn="ctr">
              <a:buNone/>
              <a:defRPr/>
            </a:lvl6pPr>
            <a:lvl7pPr marL="2057297" indent="0" algn="ctr">
              <a:buNone/>
              <a:defRPr/>
            </a:lvl7pPr>
            <a:lvl8pPr marL="2400180" indent="0" algn="ctr">
              <a:buNone/>
              <a:defRPr/>
            </a:lvl8pPr>
            <a:lvl9pPr marL="2743063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17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969010" y="108585"/>
            <a:ext cx="7706995" cy="518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  <a:cs typeface="Arial" panose="020B0604020202090204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  <a:cs typeface="Arial" panose="020B060402020209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新細明體" panose="02020500000000000000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新細明體" panose="02020500000000000000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4">
            <a:extLst>
              <a:ext uri="{FF2B5EF4-FFF2-40B4-BE49-F238E27FC236}">
                <a16:creationId xmlns:a16="http://schemas.microsoft.com/office/drawing/2014/main" id="{750249CA-71B6-4D79-A2E8-BCFEA39CBC8E}"/>
              </a:ext>
            </a:extLst>
          </p:cNvPr>
          <p:cNvSpPr/>
          <p:nvPr userDrawn="1"/>
        </p:nvSpPr>
        <p:spPr>
          <a:xfrm>
            <a:off x="694904" y="4678027"/>
            <a:ext cx="27318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</a:t>
            </a:r>
            <a:r>
              <a:rPr kumimoji="0" lang="zh-CN" altLang="zh-TW" sz="12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学</a:t>
            </a: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院</a:t>
            </a:r>
            <a:endParaRPr lang="zh-TW" altLang="zh-TW" sz="12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CUHK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-SZ Sc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hool of Data Science</a:t>
            </a:r>
            <a:endParaRPr lang="zh-TW" altLang="zh-TW" sz="1000" kern="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8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Calibri" panose="020F07020304040A0204" pitchFamily="34" charset="0"/>
          <a:ea typeface="標楷體" pitchFamily="65" charset="-120"/>
          <a:cs typeface="+mn-cs"/>
        </a:defRPr>
      </a:lvl1pPr>
      <a:lvl2pPr marL="556895" indent="-213995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90000"/>
        <a:buFont typeface="Arial" panose="020B0604020202090204" pitchFamily="34" charset="0"/>
        <a:buChar char="–"/>
        <a:defRPr kumimoji="1" sz="2000">
          <a:solidFill>
            <a:schemeClr val="tx1"/>
          </a:solidFill>
          <a:latin typeface="Calibri" panose="020F07020304040A0204" pitchFamily="34" charset="0"/>
          <a:ea typeface="標楷體" pitchFamily="65" charset="-12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50"/>
            <a:ext cx="788829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7" y="4936333"/>
            <a:ext cx="273183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2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1" y="93461"/>
            <a:ext cx="687440" cy="504233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65236" y="4679944"/>
            <a:ext cx="2417531" cy="565635"/>
            <a:chOff x="86980" y="6239920"/>
            <a:chExt cx="3223375" cy="754180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69"/>
              <a:ext cx="248051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9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9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75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75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75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75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446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48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32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2" indent="-25716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85" indent="-214303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07" indent="-171442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091" indent="-171442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2974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857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39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22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05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3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3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222042017@link.cuhk.edu.cn" TargetMode="External"/><Relationship Id="rId2" Type="http://schemas.openxmlformats.org/officeDocument/2006/relationships/hyperlink" Target="mailto:221019040@link.cuhk.edu.c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b.cuhk.edu.cn/webapps/gradebook/do/instructor/enterGradeCenter?course_id=_12868_1&amp;cvid=fullGC" TargetMode="External"/><Relationship Id="rId5" Type="http://schemas.openxmlformats.org/officeDocument/2006/relationships/hyperlink" Target="mailto:yuhaoliu2@link.cuhk.edu.cn" TargetMode="External"/><Relationship Id="rId4" Type="http://schemas.openxmlformats.org/officeDocument/2006/relationships/hyperlink" Target="https://bb.cuhk.edu.cn/webapps/gradebook/do/instructor/enterGradeCenter?course_id=_13313_1&amp;cvid=fullGC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307066"/>
          </a:xfrm>
        </p:spPr>
        <p:txBody>
          <a:bodyPr/>
          <a:lstStyle/>
          <a:p>
            <a:pPr algn="ctr"/>
            <a:r>
              <a:rPr lang="en-US" altLang="zh-TW" sz="3600" dirty="0"/>
              <a:t>CSC3050 – Computer Architecture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zh-TW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/>
              <a:t>Prof. Wei Chung Hsu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Data 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075" y="903219"/>
            <a:ext cx="7776134" cy="3554482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Instructor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300" dirty="0"/>
              <a:t>       </a:t>
            </a:r>
            <a:r>
              <a:rPr lang="en-US" sz="2300" b="1" dirty="0"/>
              <a:t>Wei Chung HSU (</a:t>
            </a:r>
            <a:r>
              <a:rPr lang="zh-TW" sz="2300" b="1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徐慰中</a:t>
            </a:r>
            <a:r>
              <a:rPr lang="en-US" sz="2300" b="1" dirty="0"/>
              <a:t>) </a:t>
            </a:r>
            <a:r>
              <a:rPr lang="en-US" dirty="0"/>
              <a:t>(hsuweichung@cuhk.edu.cn)</a:t>
            </a:r>
          </a:p>
          <a:p>
            <a:pPr marL="557185" lvl="1" indent="-214303" defTabSz="685800">
              <a:buClr>
                <a:srgbClr val="0000FF"/>
              </a:buClr>
              <a:buFont typeface="Arial" charset="0"/>
              <a:buChar char="–"/>
              <a:defRPr/>
            </a:pPr>
            <a:r>
              <a:rPr lang="en-US" sz="210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Office: </a:t>
            </a:r>
            <a:r>
              <a:rPr lang="en-US" sz="2100" b="1" dirty="0">
                <a:solidFill>
                  <a:srgbClr val="515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Dao Yuan </a:t>
            </a:r>
            <a:r>
              <a:rPr lang="en-US" sz="2100" dirty="0">
                <a:solidFill>
                  <a:srgbClr val="515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Building  </a:t>
            </a:r>
            <a:r>
              <a:rPr lang="zh-CN" altLang="en-US" sz="2100" b="1" dirty="0">
                <a:solidFill>
                  <a:srgbClr val="51515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道远楼 </a:t>
            </a:r>
            <a:r>
              <a:rPr lang="en-US" altLang="zh-CN" sz="2200" b="1" dirty="0">
                <a:solidFill>
                  <a:srgbClr val="51515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509</a:t>
            </a:r>
            <a:r>
              <a:rPr lang="en-US" sz="2200" b="1" dirty="0">
                <a:solidFill>
                  <a:srgbClr val="51515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en-US" sz="2100" dirty="0">
                <a:solidFill>
                  <a:prstClr val="black"/>
                </a:solidFill>
              </a:rPr>
              <a:t> </a:t>
            </a:r>
          </a:p>
          <a:p>
            <a:pPr marL="557185" lvl="1" indent="-214303" defTabSz="685800">
              <a:buClr>
                <a:srgbClr val="0000FF"/>
              </a:buClr>
              <a:buFont typeface="Arial" charset="0"/>
              <a:buChar char="–"/>
              <a:defRPr/>
            </a:pPr>
            <a:r>
              <a:rPr lang="en-US" sz="2100" dirty="0">
                <a:solidFill>
                  <a:prstClr val="black"/>
                </a:solidFill>
              </a:rPr>
              <a:t>Office Hours: </a:t>
            </a:r>
            <a:r>
              <a:rPr lang="en-US" sz="2100" b="1" dirty="0">
                <a:solidFill>
                  <a:prstClr val="black"/>
                </a:solidFill>
              </a:rPr>
              <a:t>Tuesday</a:t>
            </a:r>
            <a:r>
              <a:rPr lang="en-US" sz="2100" dirty="0">
                <a:solidFill>
                  <a:prstClr val="black"/>
                </a:solidFill>
              </a:rPr>
              <a:t> and </a:t>
            </a:r>
            <a:r>
              <a:rPr lang="en-US" sz="2100" b="1" dirty="0">
                <a:solidFill>
                  <a:prstClr val="black"/>
                </a:solidFill>
              </a:rPr>
              <a:t>Thursday</a:t>
            </a:r>
            <a:r>
              <a:rPr lang="en-US" sz="2100" dirty="0">
                <a:solidFill>
                  <a:prstClr val="black"/>
                </a:solidFill>
              </a:rPr>
              <a:t>, </a:t>
            </a:r>
            <a:r>
              <a:rPr lang="en-US" sz="2100" b="1" dirty="0">
                <a:solidFill>
                  <a:prstClr val="black"/>
                </a:solidFill>
              </a:rPr>
              <a:t>2:00 to 3:00</a:t>
            </a:r>
            <a:endParaRPr lang="en-US" b="1" dirty="0"/>
          </a:p>
          <a:p>
            <a:r>
              <a:rPr lang="en-US" b="1" dirty="0">
                <a:solidFill>
                  <a:srgbClr val="0000FF"/>
                </a:solidFill>
              </a:rPr>
              <a:t>Course T</a:t>
            </a:r>
            <a:r>
              <a:rPr lang="en-US" altLang="zh-CN" b="1" dirty="0">
                <a:solidFill>
                  <a:srgbClr val="0000FF"/>
                </a:solidFill>
              </a:rPr>
              <a:t>A &amp; USTF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 lvl="1"/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Lead TA: </a:t>
            </a:r>
            <a:r>
              <a:rPr lang="en-US" altLang="zh-CN" sz="2300" dirty="0">
                <a:solidFill>
                  <a:schemeClr val="bg2">
                    <a:lumMod val="10000"/>
                  </a:schemeClr>
                </a:solidFill>
              </a:rPr>
              <a:t>LAI,</a:t>
            </a:r>
            <a:r>
              <a:rPr lang="zh-CN" altLang="en-US" sz="23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altLang="zh-CN" sz="2300" dirty="0" err="1">
                <a:solidFill>
                  <a:schemeClr val="bg2">
                    <a:lumMod val="10000"/>
                  </a:schemeClr>
                </a:solidFill>
              </a:rPr>
              <a:t>Wenhai</a:t>
            </a:r>
            <a:r>
              <a:rPr lang="en-US" altLang="zh-TW" sz="2300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zh-CN" altLang="en-US" sz="2300" dirty="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赖文海</a:t>
            </a:r>
            <a:r>
              <a:rPr lang="en-US" altLang="zh-TW" sz="2300" dirty="0">
                <a:solidFill>
                  <a:schemeClr val="bg2">
                    <a:lumMod val="10000"/>
                  </a:schemeClr>
                </a:solidFill>
              </a:rPr>
              <a:t>) </a:t>
            </a:r>
            <a:r>
              <a:rPr lang="en-US" altLang="zh-TW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en-US" altLang="zh-TW" dirty="0">
                <a:solidFill>
                  <a:schemeClr val="bg2">
                    <a:lumMod val="10000"/>
                  </a:schemeClr>
                </a:solidFill>
                <a:hlinkClick r:id="rId2"/>
              </a:rPr>
              <a:t>221019040@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hlinkClick r:id="rId2"/>
              </a:rPr>
              <a:t>link.</a:t>
            </a:r>
            <a:r>
              <a:rPr lang="en-US" altLang="zh-TW" dirty="0">
                <a:solidFill>
                  <a:schemeClr val="bg2">
                    <a:lumMod val="10000"/>
                  </a:schemeClr>
                </a:solidFill>
                <a:hlinkClick r:id="rId2"/>
              </a:rPr>
              <a:t>cuhk.edu.cn</a:t>
            </a:r>
            <a:r>
              <a:rPr lang="en-US" altLang="zh-TW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pPr lvl="1"/>
            <a:r>
              <a:rPr lang="en-US" altLang="zh-CN" sz="2200" dirty="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TA: </a:t>
            </a:r>
            <a:r>
              <a:rPr lang="en-US" sz="240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YANG, Linxin(</a:t>
            </a:r>
            <a:r>
              <a:rPr lang="zh-CN" sz="240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</a:rPr>
              <a:t>杨林鑫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</a:rPr>
              <a:t>) (</a:t>
            </a:r>
            <a:r>
              <a:rPr lang="en-US" sz="2200" u="sng" dirty="0">
                <a:solidFill>
                  <a:srgbClr val="11111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hlinkClick r:id="rId3"/>
              </a:rPr>
              <a:t>222042017@link.cuhk.edu.cn</a:t>
            </a:r>
            <a:r>
              <a:rPr lang="en-US" sz="2400" u="sng" dirty="0">
                <a:solidFill>
                  <a:srgbClr val="11111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 lvl="1"/>
            <a:r>
              <a:rPr lang="en-US" altLang="zh-CN" sz="2200" dirty="0">
                <a:solidFill>
                  <a:srgbClr val="11111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TA: LIU, Yuhao (</a:t>
            </a:r>
            <a:r>
              <a:rPr lang="zh-CN" altLang="en-US" sz="2400" b="0" i="0" u="sng" strike="noStrike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hlinkClick r:id="rId4" tooltip="刘毓昊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刘毓昊</a:t>
            </a:r>
            <a:r>
              <a:rPr lang="en-US" altLang="zh-CN" sz="2000" b="0" i="0" u="sng" strike="noStrike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)(</a:t>
            </a:r>
            <a:r>
              <a:rPr kumimoji="1" lang="en-US" sz="2200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hlinkClick r:id="rId5"/>
              </a:rPr>
              <a:t>yuhaoliu2@link.cuhk.edu.cn</a:t>
            </a:r>
            <a:r>
              <a:rPr kumimoji="1" lang="en-US" sz="2200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)</a:t>
            </a:r>
            <a:endParaRPr lang="en-US" altLang="zh-CN" sz="2200" u="sng" dirty="0"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sz="2325" dirty="0">
                <a:latin typeface="华文楷体" panose="02010600040101010101" pitchFamily="2" charset="-122"/>
                <a:ea typeface="华文楷体" panose="02010600040101010101" pitchFamily="2" charset="-122"/>
              </a:rPr>
              <a:t>USTF:</a:t>
            </a:r>
            <a:r>
              <a:rPr 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 </a:t>
            </a:r>
            <a:r>
              <a:rPr lang="en-US" sz="2200" dirty="0"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FENG, Wenjie(</a:t>
            </a:r>
            <a:r>
              <a:rPr lang="zh-CN" altLang="en-US" sz="2400" b="0" i="0" u="sng" strike="noStrike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hlinkClick r:id="rId6" tooltip="冯文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冯文杰</a:t>
            </a:r>
            <a:r>
              <a:rPr lang="en-US" altLang="zh-CN" sz="2400" b="0" i="0" u="sng" strike="noStrike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en-US" sz="2300" dirty="0">
                <a:solidFill>
                  <a:srgbClr val="11111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HOU, Tianci(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侯天赐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),</a:t>
            </a:r>
            <a:r>
              <a:rPr lang="en-US" sz="24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sz="2400" dirty="0">
                <a:solidFill>
                  <a:srgbClr val="11111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CHEN, Danyang(</a:t>
            </a:r>
            <a:r>
              <a:rPr lang="zh-CN" sz="2400" dirty="0">
                <a:solidFill>
                  <a:srgbClr val="11111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</a:rPr>
              <a:t>陈丹阳</a:t>
            </a:r>
            <a:r>
              <a:rPr lang="en-US" altLang="zh-CN" sz="2400" dirty="0">
                <a:solidFill>
                  <a:srgbClr val="11111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</a:rPr>
              <a:t>)</a:t>
            </a:r>
            <a:endParaRPr lang="en-US" sz="2400" dirty="0">
              <a:solidFill>
                <a:srgbClr val="11111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sz="2700" b="1" dirty="0">
                <a:solidFill>
                  <a:srgbClr val="0000FF"/>
                </a:solidFill>
              </a:rPr>
              <a:t>Lectures</a:t>
            </a:r>
          </a:p>
          <a:p>
            <a:pPr lvl="1"/>
            <a:r>
              <a:rPr lang="en-US" dirty="0"/>
              <a:t>Monday	 	3:30 – 4:50	 AB E205</a:t>
            </a:r>
          </a:p>
          <a:p>
            <a:pPr lvl="1"/>
            <a:r>
              <a:rPr lang="en-US" dirty="0"/>
              <a:t>Wednesday		3</a:t>
            </a:r>
            <a:r>
              <a:rPr lang="en-US" altLang="zh-CN" dirty="0"/>
              <a:t>:30 – 4:50 	</a:t>
            </a:r>
            <a:r>
              <a:rPr lang="en-US" dirty="0"/>
              <a:t> AB E205	</a:t>
            </a:r>
            <a:r>
              <a:rPr lang="en-US" sz="2200" b="1" dirty="0">
                <a:solidFill>
                  <a:srgbClr val="FF0000"/>
                </a:solidFill>
              </a:rPr>
              <a:t>(1/15 TB 202)</a:t>
            </a:r>
          </a:p>
          <a:p>
            <a:r>
              <a:rPr lang="en-US" b="1" dirty="0">
                <a:solidFill>
                  <a:srgbClr val="0000FF"/>
                </a:solidFill>
              </a:rPr>
              <a:t>Tutorials and TA office hours</a:t>
            </a:r>
          </a:p>
          <a:p>
            <a:pPr lvl="1"/>
            <a:r>
              <a:rPr lang="en-US" dirty="0"/>
              <a:t>Tutorials are scheduled on Tuesday and Wednesday evenings. TAs will announce Office hours.</a:t>
            </a:r>
          </a:p>
          <a:p>
            <a:r>
              <a:rPr lang="en-US" b="1" dirty="0">
                <a:solidFill>
                  <a:srgbClr val="0000FF"/>
                </a:solidFill>
              </a:rPr>
              <a:t>Homepage</a:t>
            </a:r>
          </a:p>
          <a:p>
            <a:pPr lvl="1"/>
            <a:r>
              <a:rPr lang="en-US" dirty="0"/>
              <a:t>bb.cuhk.edu.cn</a:t>
            </a:r>
          </a:p>
          <a:p>
            <a:pPr lvl="1"/>
            <a:r>
              <a:rPr lang="en-US" dirty="0"/>
              <a:t>Note that the lecture slides posted on BB may be updated frequently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9" y="108350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3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1A9A6-34A3-4B7A-80E2-B180F0A13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73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9" y="108350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3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Office Hours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1A9A6-34A3-4B7A-80E2-B180F0A13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2E6C5F6-0BA1-96A3-5215-0DD009E0A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3127"/>
            <a:ext cx="9144000" cy="187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8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47424" y="108350"/>
            <a:ext cx="828525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kern="0" dirty="0">
                <a:solidFill>
                  <a:prstClr val="black"/>
                </a:solidFill>
                <a:latin typeface="Arial"/>
                <a:ea typeface="华文楷体" panose="02010600040101010101" pitchFamily="2" charset="-122"/>
                <a:cs typeface="Times New Roman" panose="02020603050405020304" pitchFamily="18" charset="0"/>
              </a:rPr>
              <a:t>Instructor </a:t>
            </a:r>
            <a:r>
              <a:rPr kumimoji="0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 panose="02010600040101010101" pitchFamily="2" charset="-122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1A9A6-34A3-4B7A-80E2-B180F0A13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9F38882-5E4B-445F-B159-4A17FECFB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2595"/>
            <a:ext cx="8050213" cy="4011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Computer architect for Cray Supercomputers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Compiler engineer for Cray-XMP/YMP, Cray-C90, Cray-2, Cray-3 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Tech lead of Hewlett Packard (HP) optimizing compiler group 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Compiler architect for Intel/HP Itanium (IA-64) Processors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 Professor at U. of Minnesota. Research on Binary Translation (BT) for Itanium, Sun SPARC, x86, MIPS, and ARM processors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 Professor at NTU, Research on BT, Virtual Machines, and Finalizer for HSAIL (Heterogenous System Architecture Intermediate Language)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5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Intel GPU Compiler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0CCCE80-5955-45BB-9EA0-B6CEC0CFB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73" y="885086"/>
            <a:ext cx="135850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2">
            <a:extLst>
              <a:ext uri="{FF2B5EF4-FFF2-40B4-BE49-F238E27FC236}">
                <a16:creationId xmlns:a16="http://schemas.microsoft.com/office/drawing/2014/main" id="{9E6EA579-1065-4273-A75C-770174957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794" y="1670657"/>
            <a:ext cx="857250" cy="6477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zh-TW" altLang="en-US" sz="1350" kern="0">
              <a:solidFill>
                <a:srgbClr val="FFFFFF"/>
              </a:solidFill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5CEEB1ED-FE7A-4FE9-B0B8-0287B3A16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662" y="1615448"/>
            <a:ext cx="914400" cy="640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 descr="Image result for minnesota gophers picture">
            <a:extLst>
              <a:ext uri="{FF2B5EF4-FFF2-40B4-BE49-F238E27FC236}">
                <a16:creationId xmlns:a16="http://schemas.microsoft.com/office/drawing/2014/main" id="{E4219806-F099-41CD-A967-E93B2A6C5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2373449"/>
            <a:ext cx="817959" cy="62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ED4EB71-DFCE-47F2-A978-93793C3213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3333262"/>
            <a:ext cx="778669" cy="56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2" descr="MediaTek logo as shown on company website.svg">
            <a:extLst>
              <a:ext uri="{FF2B5EF4-FFF2-40B4-BE49-F238E27FC236}">
                <a16:creationId xmlns:a16="http://schemas.microsoft.com/office/drawing/2014/main" id="{F86D6445-B735-4908-99A9-3EF2C13E5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293" y="3030928"/>
            <a:ext cx="909638" cy="32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Intel Logo, symbol, meaning, history, PNG, brand">
            <a:extLst>
              <a:ext uri="{FF2B5EF4-FFF2-40B4-BE49-F238E27FC236}">
                <a16:creationId xmlns:a16="http://schemas.microsoft.com/office/drawing/2014/main" id="{9064709E-4886-4FCB-AF18-E519791E1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3909254"/>
            <a:ext cx="914400" cy="5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69C51DBB-2757-4167-863A-4CFE3CD1AED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666" y="3107366"/>
            <a:ext cx="800100" cy="6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210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Textbook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&amp; Reference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05331" y="3816625"/>
            <a:ext cx="3239733" cy="1049573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/>
              <a:t>(Textbook)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500" b="1" dirty="0"/>
              <a:t>Computer Organization and Design: The Hardware/Software Interface (</a:t>
            </a:r>
            <a:r>
              <a:rPr lang="en-US" sz="4300" b="1" dirty="0">
                <a:solidFill>
                  <a:srgbClr val="FF0000"/>
                </a:solidFill>
              </a:rPr>
              <a:t>RISC-V Edition</a:t>
            </a:r>
            <a:r>
              <a:rPr lang="en-US" sz="3500" b="1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500" dirty="0"/>
              <a:t>David A. Patterson and John L. Hennessy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405023" y="3724337"/>
            <a:ext cx="4086472" cy="83314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/>
              <a:t>(Reference)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i="0" dirty="0">
                <a:solidFill>
                  <a:srgbClr val="191919"/>
                </a:solidFill>
                <a:effectLst/>
                <a:latin typeface="Market Sans"/>
              </a:rPr>
              <a:t>Computer Systems : A Programmer's Perspective 3e by Randal INTERNATIONAL EDITION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0" i="0" dirty="0">
                <a:solidFill>
                  <a:srgbClr val="707070"/>
                </a:solidFill>
                <a:effectLst/>
                <a:latin typeface="Market Sans"/>
              </a:rPr>
              <a:t>Bryant, Randal E.; O'Hallaron, David R.</a:t>
            </a:r>
            <a:endParaRPr lang="en-US" sz="1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85" y="811033"/>
            <a:ext cx="2496188" cy="30055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7F98CE-20B5-4B72-991A-EB41F5AE8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66" y="811033"/>
            <a:ext cx="2278806" cy="29402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F827-5BFC-43C6-AB6A-3D24045B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What is RISC-V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9D14-2BC5-4692-B5ED-B33B29FF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1" y="830580"/>
            <a:ext cx="6959442" cy="414147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solidFill>
                  <a:schemeClr val="tx2"/>
                </a:solidFill>
              </a:rPr>
              <a:t>RISC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A broad term for “Reduced Instruction Set Computer”, as opposed to CISC (Complex Instruction Set Computers).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Many commercial processors like HP PA, SUN SPARC, ARM, IBM Power and PowerPC, DEC Alpha, MIPS, Intel i860/i960 are RISC processors.</a:t>
            </a:r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RISC-I, RISC-II, RISC-III, RISC-IV, RISC-V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These are ISA (Instruction Set Architecture) developed at UC Berkeley.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RISC-V is the fifth generation. 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CF41-144D-4D62-A0A9-0FFBA8F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Why adopt RISC-V?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8D7A-E9CB-4249-94DA-28BBDBD3A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0120"/>
            <a:ext cx="8214360" cy="3543300"/>
          </a:xfrm>
        </p:spPr>
        <p:txBody>
          <a:bodyPr/>
          <a:lstStyle/>
          <a:p>
            <a:pPr>
              <a:defRPr/>
            </a:pPr>
            <a:r>
              <a:rPr lang="en-US" dirty="0"/>
              <a:t>It is an Open architecture. </a:t>
            </a:r>
          </a:p>
          <a:p>
            <a:pPr lvl="1">
              <a:defRPr/>
            </a:pPr>
            <a:r>
              <a:rPr lang="en-US" dirty="0"/>
              <a:t>Its standard is open for collaboration, and is maintained by the non-profit RISC-V foundation.</a:t>
            </a:r>
          </a:p>
          <a:p>
            <a:pPr lvl="1">
              <a:defRPr/>
            </a:pPr>
            <a:r>
              <a:rPr lang="en-US" dirty="0"/>
              <a:t>Unlike Intel x86, and ARM, RISC-V cannot be claimed as USA  owned technology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It is </a:t>
            </a:r>
            <a:r>
              <a:rPr lang="en-US" i="1" dirty="0">
                <a:solidFill>
                  <a:srgbClr val="FF0000"/>
                </a:solidFill>
              </a:rPr>
              <a:t>license free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royalty free</a:t>
            </a:r>
            <a:r>
              <a:rPr lang="en-US" dirty="0">
                <a:solidFill>
                  <a:srgbClr val="FFFFFF"/>
                </a:solidFill>
              </a:rPr>
              <a:t>.</a:t>
            </a:r>
            <a:endParaRPr lang="en-US" dirty="0"/>
          </a:p>
          <a:p>
            <a:pPr>
              <a:defRPr/>
            </a:pPr>
            <a:r>
              <a:rPr lang="en-US" dirty="0"/>
              <a:t>It is an advanced RISC ISA.</a:t>
            </a:r>
          </a:p>
          <a:p>
            <a:pPr>
              <a:defRPr/>
            </a:pPr>
            <a:r>
              <a:rPr lang="en-US" dirty="0"/>
              <a:t>It is simple, flexible, extensible and scalable.</a:t>
            </a:r>
            <a:r>
              <a:rPr lang="en-US" dirty="0">
                <a:solidFill>
                  <a:srgbClr val="FFFFFF"/>
                </a:solidFill>
              </a:rPr>
              <a:t> is suitable for all type of computing, from micro-controllers to supercomputers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2D87-FE81-4F8D-BEE0-356C57A2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0716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Misconceptions about RISC-V</a:t>
            </a:r>
            <a:endParaRPr lang="zh-TW" altLang="en-US" sz="2400" dirty="0">
              <a:solidFill>
                <a:srgbClr val="FFFF00"/>
              </a:solidFill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A68EE-9449-41D8-B97E-A2C45FD7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53440"/>
            <a:ext cx="7635240" cy="3718560"/>
          </a:xfrm>
        </p:spPr>
        <p:txBody>
          <a:bodyPr/>
          <a:lstStyle/>
          <a:p>
            <a:pPr>
              <a:defRPr/>
            </a:pPr>
            <a:r>
              <a:rPr lang="en-US" sz="2100" dirty="0"/>
              <a:t>RISC-V is often connected with two key words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Open 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Free</a:t>
            </a:r>
          </a:p>
          <a:p>
            <a:pPr marL="342900" lvl="1" indent="0">
              <a:buNone/>
              <a:defRPr/>
            </a:pPr>
            <a:r>
              <a:rPr lang="en-US" dirty="0"/>
              <a:t>That caused misconceptions.</a:t>
            </a:r>
          </a:p>
          <a:p>
            <a:pPr>
              <a:defRPr/>
            </a:pPr>
            <a:r>
              <a:rPr lang="en-US" sz="2100" dirty="0">
                <a:solidFill>
                  <a:srgbClr val="FF0000"/>
                </a:solidFill>
              </a:rPr>
              <a:t>Open: </a:t>
            </a:r>
            <a:r>
              <a:rPr lang="en-US" sz="2100" dirty="0"/>
              <a:t>RISC-V offers an </a:t>
            </a:r>
            <a:r>
              <a:rPr lang="en-US" sz="2100" b="1" i="1" dirty="0">
                <a:solidFill>
                  <a:srgbClr val="FF0000"/>
                </a:solidFill>
              </a:rPr>
              <a:t>open standard, </a:t>
            </a:r>
            <a:r>
              <a:rPr lang="en-US" sz="2100" dirty="0"/>
              <a:t>but not open source code. Designs in RTL or HDL (e.g. Verilog and VHDL) are proprietary. However, some designs are open source, such as Rocket (in-order), BOOM (out-of-order) and PicoRV32.</a:t>
            </a:r>
          </a:p>
          <a:p>
            <a:pPr>
              <a:defRPr/>
            </a:pPr>
            <a:r>
              <a:rPr lang="en-US" sz="2100" dirty="0">
                <a:solidFill>
                  <a:srgbClr val="FF0000"/>
                </a:solidFill>
              </a:rPr>
              <a:t>Free: </a:t>
            </a:r>
            <a:r>
              <a:rPr lang="en-US" sz="2100" dirty="0"/>
              <a:t>There are NO free processor chips. Free means the use of the ISA is royalty-free, and free of license fee.</a:t>
            </a:r>
            <a:endParaRPr lang="en-US" sz="21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DDB1-B224-47DD-8F73-6EE0536A1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License Free, Royalty Free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283E-AD5F-4199-9636-23B84219B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19" y="857250"/>
            <a:ext cx="6405563" cy="4114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Two dominant CPU ISAs are both proprietary: </a:t>
            </a:r>
          </a:p>
          <a:p>
            <a:pPr>
              <a:defRPr/>
            </a:pPr>
            <a:r>
              <a:rPr lang="en-US" dirty="0"/>
              <a:t>X86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AMD used to pay Intel license fees, but since AMD came up with x64 ISA, both sides are license-free.</a:t>
            </a:r>
          </a:p>
          <a:p>
            <a:pPr>
              <a:defRPr/>
            </a:pPr>
            <a:r>
              <a:rPr lang="en-US" dirty="0"/>
              <a:t>ARM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 Upfront license $1M-$10M, varied by designs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 Royalty 1-2% of the cost of each shipped product.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 Architecture license (Apple, Qualcomm,…)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B135-D825-45D8-A2DF-7CE44D40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A Strong Software Ecosystem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E1031-0EAF-4191-AC56-03BDE858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742950"/>
            <a:ext cx="7840980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 Royalty-free could be a significant incentive to initially attract embedded system developers. </a:t>
            </a:r>
          </a:p>
          <a:p>
            <a:pPr>
              <a:defRPr/>
            </a:pPr>
            <a:r>
              <a:rPr lang="en-US" dirty="0"/>
              <a:t>Once a critical mass has formed, open-source system software has the potential to become a robust software ecosystem driving the RISC-V market's growth, creating a positive feedback loop (virtuous circle).</a:t>
            </a:r>
            <a:r>
              <a:rPr lang="en-US" dirty="0">
                <a:solidFill>
                  <a:srgbClr val="FFFFFF"/>
                </a:solidFill>
              </a:rPr>
              <a:t> </a:t>
            </a:r>
            <a:endParaRPr lang="en-US" dirty="0"/>
          </a:p>
          <a:p>
            <a:pPr>
              <a:defRPr/>
            </a:pPr>
            <a:r>
              <a:rPr lang="en-US" dirty="0"/>
              <a:t>For example, ARM started with embedded systems and gradually expanded into mobile computing, desktops, and servers. RISC-V seems to be following a similar path of advancement and expansion.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854F-8AC1-46EA-827A-0FBFE62F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Trend of Software First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FDC1-2BB6-44D9-BA47-2B327D47A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841829"/>
            <a:ext cx="8556171" cy="3501571"/>
          </a:xfrm>
        </p:spPr>
        <p:txBody>
          <a:bodyPr/>
          <a:lstStyle/>
          <a:p>
            <a:pPr>
              <a:defRPr/>
            </a:pPr>
            <a:r>
              <a:rPr lang="en-US" sz="2100" dirty="0"/>
              <a:t>In the '60s and '70s, hardware designers were the leading architects and decision-makers. </a:t>
            </a:r>
          </a:p>
          <a:p>
            <a:pPr>
              <a:defRPr/>
            </a:pPr>
            <a:r>
              <a:rPr lang="en-US" sz="2100" dirty="0"/>
              <a:t>Software, including system software and application software, is becoming more and more influential in computer architectures.</a:t>
            </a:r>
          </a:p>
          <a:p>
            <a:pPr>
              <a:defRPr/>
            </a:pPr>
            <a:r>
              <a:rPr lang="en-US" sz="2100" dirty="0"/>
              <a:t>Now, the driver behind computer architecture is software. The API, the OS, and killer applications (such as DNN, ML, LLM) drive the development directions.</a:t>
            </a:r>
          </a:p>
          <a:p>
            <a:pPr lvl="1">
              <a:defRPr/>
            </a:pPr>
            <a:r>
              <a:rPr lang="en-US" dirty="0"/>
              <a:t> Software-defined radio, software-defined network, …, software-defined everything</a:t>
            </a:r>
          </a:p>
          <a:p>
            <a:pPr>
              <a:defRPr/>
            </a:pPr>
            <a:r>
              <a:rPr lang="en-US" sz="2100" dirty="0"/>
              <a:t>The ISA/platform that attracts more developers will eventually win. 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9770-BD1A-461B-923C-CA2A3E69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219" y="57150"/>
            <a:ext cx="6517481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Simple yet Versatile: Extensibility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D2AA-2B44-4108-8369-54672D446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19" y="648891"/>
            <a:ext cx="6405563" cy="4114800"/>
          </a:xfrm>
        </p:spPr>
        <p:txBody>
          <a:bodyPr/>
          <a:lstStyle/>
          <a:p>
            <a:pPr marL="0" indent="0">
              <a:buNone/>
              <a:defRPr/>
            </a:pPr>
            <a:endParaRPr lang="en-US" sz="2100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A2D035-FCC9-4216-9E2E-1F8070C86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8652"/>
              </p:ext>
            </p:extLst>
          </p:nvPr>
        </p:nvGraphicFramePr>
        <p:xfrm>
          <a:off x="1004649" y="2263378"/>
          <a:ext cx="7246620" cy="2535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655">
                  <a:extLst>
                    <a:ext uri="{9D8B030D-6E8A-4147-A177-3AD203B41FA5}">
                      <a16:colId xmlns:a16="http://schemas.microsoft.com/office/drawing/2014/main" val="2859954053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3738510548"/>
                    </a:ext>
                  </a:extLst>
                </a:gridCol>
                <a:gridCol w="1802130">
                  <a:extLst>
                    <a:ext uri="{9D8B030D-6E8A-4147-A177-3AD203B41FA5}">
                      <a16:colId xmlns:a16="http://schemas.microsoft.com/office/drawing/2014/main" val="1651898364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29629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500" dirty="0"/>
                        <a:t>Extension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Added instructions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Extension</a:t>
                      </a:r>
                    </a:p>
                    <a:p>
                      <a:endParaRPr lang="en-US" sz="1500" dirty="0"/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Added instructions</a:t>
                      </a:r>
                    </a:p>
                    <a:p>
                      <a:endParaRPr lang="en-US" sz="1500" dirty="0"/>
                    </a:p>
                  </a:txBody>
                  <a:tcPr marL="68580" marR="68580" marT="34277" marB="34277"/>
                </a:tc>
                <a:extLst>
                  <a:ext uri="{0D108BD9-81ED-4DB2-BD59-A6C34878D82A}">
                    <a16:rowId xmlns:a16="http://schemas.microsoft.com/office/drawing/2014/main" val="2789794027"/>
                  </a:ext>
                </a:extLst>
              </a:tr>
              <a:tr h="356197">
                <a:tc>
                  <a:txBody>
                    <a:bodyPr/>
                    <a:lstStyle/>
                    <a:p>
                      <a:r>
                        <a:rPr lang="en-US" sz="1800" dirty="0"/>
                        <a:t>M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MAFD</a:t>
                      </a:r>
                    </a:p>
                  </a:txBody>
                  <a:tcPr marL="68580" marR="68580" marT="34277" marB="34277"/>
                </a:tc>
                <a:extLst>
                  <a:ext uri="{0D108BD9-81ED-4DB2-BD59-A6C34878D82A}">
                    <a16:rowId xmlns:a16="http://schemas.microsoft.com/office/drawing/2014/main" val="2742177011"/>
                  </a:ext>
                </a:extLst>
              </a:tr>
              <a:tr h="356197"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36</a:t>
                      </a:r>
                    </a:p>
                  </a:txBody>
                  <a:tcPr marL="68580" marR="68580" marT="34277" marB="34277"/>
                </a:tc>
                <a:extLst>
                  <a:ext uri="{0D108BD9-81ED-4DB2-BD59-A6C34878D82A}">
                    <a16:rowId xmlns:a16="http://schemas.microsoft.com/office/drawing/2014/main" val="1168323690"/>
                  </a:ext>
                </a:extLst>
              </a:tr>
              <a:tr h="356197"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42</a:t>
                      </a:r>
                    </a:p>
                  </a:txBody>
                  <a:tcPr marL="68580" marR="68580" marT="34277" marB="34277"/>
                </a:tc>
                <a:extLst>
                  <a:ext uri="{0D108BD9-81ED-4DB2-BD59-A6C34878D82A}">
                    <a16:rowId xmlns:a16="http://schemas.microsoft.com/office/drawing/2014/main" val="1873994676"/>
                  </a:ext>
                </a:extLst>
              </a:tr>
              <a:tr h="356197"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186</a:t>
                      </a:r>
                    </a:p>
                  </a:txBody>
                  <a:tcPr marL="68580" marR="68580" marT="34277" marB="34277"/>
                </a:tc>
                <a:extLst>
                  <a:ext uri="{0D108BD9-81ED-4DB2-BD59-A6C34878D82A}">
                    <a16:rowId xmlns:a16="http://schemas.microsoft.com/office/drawing/2014/main" val="3757371354"/>
                  </a:ext>
                </a:extLst>
              </a:tr>
              <a:tr h="356197">
                <a:tc>
                  <a:txBody>
                    <a:bodyPr/>
                    <a:lstStyle/>
                    <a:p>
                      <a:r>
                        <a:rPr lang="en-US" sz="1800" dirty="0"/>
                        <a:t>Q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68580" marR="68580" marT="34277" marB="342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77" marB="34277"/>
                </a:tc>
                <a:extLst>
                  <a:ext uri="{0D108BD9-81ED-4DB2-BD59-A6C34878D82A}">
                    <a16:rowId xmlns:a16="http://schemas.microsoft.com/office/drawing/2014/main" val="8137699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34D622-49F3-47D4-8934-F50D9C3D7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148832"/>
              </p:ext>
            </p:extLst>
          </p:nvPr>
        </p:nvGraphicFramePr>
        <p:xfrm>
          <a:off x="1628775" y="719137"/>
          <a:ext cx="5886450" cy="1463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201300737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3745734493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485756591"/>
                    </a:ext>
                  </a:extLst>
                </a:gridCol>
              </a:tblGrid>
              <a:tr h="388683">
                <a:tc>
                  <a:txBody>
                    <a:bodyPr/>
                    <a:lstStyle/>
                    <a:p>
                      <a:r>
                        <a:rPr lang="en-US" sz="2100" dirty="0"/>
                        <a:t>ISA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32b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64b</a:t>
                      </a:r>
                    </a:p>
                  </a:txBody>
                  <a:tcPr marL="68580" marR="68580" marT="34295" marB="34295"/>
                </a:tc>
                <a:extLst>
                  <a:ext uri="{0D108BD9-81ED-4DB2-BD59-A6C34878D82A}">
                    <a16:rowId xmlns:a16="http://schemas.microsoft.com/office/drawing/2014/main" val="1249392901"/>
                  </a:ext>
                </a:extLst>
              </a:tr>
              <a:tr h="342956">
                <a:tc>
                  <a:txBody>
                    <a:bodyPr/>
                    <a:lstStyle/>
                    <a:p>
                      <a:r>
                        <a:rPr lang="en-US" sz="1800" dirty="0"/>
                        <a:t>x86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1300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1500</a:t>
                      </a:r>
                    </a:p>
                  </a:txBody>
                  <a:tcPr marL="68580" marR="68580" marT="34295" marB="34295"/>
                </a:tc>
                <a:extLst>
                  <a:ext uri="{0D108BD9-81ED-4DB2-BD59-A6C34878D82A}">
                    <a16:rowId xmlns:a16="http://schemas.microsoft.com/office/drawing/2014/main" val="3050125607"/>
                  </a:ext>
                </a:extLst>
              </a:tr>
              <a:tr h="342956">
                <a:tc>
                  <a:txBody>
                    <a:bodyPr/>
                    <a:lstStyle/>
                    <a:p>
                      <a:r>
                        <a:rPr lang="en-US" sz="1800" dirty="0"/>
                        <a:t>ARM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500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1000</a:t>
                      </a:r>
                    </a:p>
                  </a:txBody>
                  <a:tcPr marL="68580" marR="68580" marT="34295" marB="34295"/>
                </a:tc>
                <a:extLst>
                  <a:ext uri="{0D108BD9-81ED-4DB2-BD59-A6C34878D82A}">
                    <a16:rowId xmlns:a16="http://schemas.microsoft.com/office/drawing/2014/main" val="2173893030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rgbClr val="FF0000"/>
                          </a:solidFill>
                        </a:rPr>
                        <a:t>RISC-V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rgbClr val="FF0000"/>
                          </a:solidFill>
                        </a:rPr>
                        <a:t>47</a:t>
                      </a:r>
                    </a:p>
                  </a:txBody>
                  <a:tcPr marL="68580" marR="68580" marT="34295" marB="34295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rgbClr val="FF0000"/>
                          </a:solidFill>
                        </a:rPr>
                        <a:t>61 (47+14)</a:t>
                      </a:r>
                    </a:p>
                  </a:txBody>
                  <a:tcPr marL="68580" marR="68580" marT="34295" marB="34295"/>
                </a:tc>
                <a:extLst>
                  <a:ext uri="{0D108BD9-81ED-4DB2-BD59-A6C34878D82A}">
                    <a16:rowId xmlns:a16="http://schemas.microsoft.com/office/drawing/2014/main" val="277079439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Course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352" y="772633"/>
            <a:ext cx="8396034" cy="3848986"/>
          </a:xfrm>
        </p:spPr>
        <p:txBody>
          <a:bodyPr/>
          <a:lstStyle/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Computer Abstraction and Technology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Instructions: Language of the Computer</a:t>
            </a:r>
          </a:p>
          <a:p>
            <a:pPr lvl="2">
              <a:buSzPct val="70000"/>
            </a:pPr>
            <a:r>
              <a:rPr lang="en-US" altLang="zh-CN" dirty="0"/>
              <a:t>Traditional ISA Instruction Set Architecture (ISA)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Arithmetic for Computers </a:t>
            </a:r>
          </a:p>
          <a:p>
            <a:pPr lvl="2">
              <a:buSzPct val="70000"/>
            </a:pPr>
            <a:r>
              <a:rPr lang="en-US" altLang="zh-CN" dirty="0"/>
              <a:t>Integer and Floating point  Addition/Subtraction/Multiplication/Division</a:t>
            </a:r>
          </a:p>
          <a:p>
            <a:pPr lvl="2">
              <a:buSzPct val="70000"/>
            </a:pPr>
            <a:r>
              <a:rPr lang="en-US" altLang="zh-CN" dirty="0" err="1"/>
              <a:t>Subword</a:t>
            </a:r>
            <a:r>
              <a:rPr lang="en-US" altLang="zh-CN" dirty="0"/>
              <a:t> parallelism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The Processor</a:t>
            </a:r>
          </a:p>
          <a:p>
            <a:pPr lvl="2">
              <a:buSzPct val="70000"/>
            </a:pPr>
            <a:r>
              <a:rPr lang="en-US" altLang="zh-CN" dirty="0"/>
              <a:t>Datapath and Control</a:t>
            </a:r>
          </a:p>
          <a:p>
            <a:pPr lvl="2">
              <a:buSzPct val="70000"/>
            </a:pPr>
            <a:r>
              <a:rPr lang="en-US" altLang="zh-CN" dirty="0"/>
              <a:t>Pipelining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Large and Fast: Memory Hierarchy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Parallel Processors from Clients to 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544" y="788125"/>
            <a:ext cx="7752664" cy="3841932"/>
          </a:xfrm>
        </p:spPr>
        <p:txBody>
          <a:bodyPr>
            <a:noAutofit/>
          </a:bodyPr>
          <a:lstStyle/>
          <a:p>
            <a:r>
              <a:rPr lang="en-US" sz="2000" dirty="0"/>
              <a:t>Class</a:t>
            </a:r>
            <a:r>
              <a:rPr lang="zh-TW" altLang="en-US" sz="2000" dirty="0"/>
              <a:t> </a:t>
            </a:r>
            <a:r>
              <a:rPr lang="en-US" altLang="zh-TW" sz="2000" dirty="0"/>
              <a:t>attendance and participation</a:t>
            </a:r>
            <a:r>
              <a:rPr lang="en-US" sz="2000" dirty="0"/>
              <a:t> (5%) </a:t>
            </a:r>
          </a:p>
          <a:p>
            <a:r>
              <a:rPr lang="en-US" sz="2000" dirty="0"/>
              <a:t>In Class Quizzes (25%)</a:t>
            </a:r>
          </a:p>
          <a:p>
            <a:pPr lvl="1"/>
            <a:r>
              <a:rPr lang="en-US" sz="1600" dirty="0"/>
              <a:t>Pop quiz </a:t>
            </a:r>
          </a:p>
          <a:p>
            <a:pPr lvl="1"/>
            <a:r>
              <a:rPr lang="en-US" sz="1600" dirty="0"/>
              <a:t>A few written quizzes are scheduled and will be announced two weeks in advance.</a:t>
            </a:r>
          </a:p>
          <a:p>
            <a:r>
              <a:rPr lang="en-US" sz="2000" dirty="0"/>
              <a:t>Homework: Programming Projects (45%) </a:t>
            </a:r>
            <a:endParaRPr lang="en-US" sz="1600" dirty="0">
              <a:solidFill>
                <a:srgbClr val="C00000"/>
              </a:solidFill>
            </a:endParaRP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Project#1: Assembly programming (10%)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Project#2: Assembly debugging (10%) – the bomb lab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Project#3: A pipelined RISC-V processor simulator (12.5%)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Project#4: A Data Cache simulator (12.5%)</a:t>
            </a:r>
          </a:p>
          <a:p>
            <a:r>
              <a:rPr lang="en-US" sz="2000" dirty="0"/>
              <a:t>Final Exam (25%)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Open book,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Open notes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Class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Attendance 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CB4E51-D736-478D-AD91-BB4B4BA8F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4" y="735806"/>
            <a:ext cx="8601072" cy="3872480"/>
          </a:xfrm>
        </p:spPr>
        <p:txBody>
          <a:bodyPr/>
          <a:lstStyle/>
          <a:p>
            <a:r>
              <a:rPr lang="en-US" dirty="0"/>
              <a:t> When you arrive in the classroom, </a:t>
            </a:r>
          </a:p>
          <a:p>
            <a:pPr marL="0" indent="0">
              <a:buNone/>
            </a:pPr>
            <a:r>
              <a:rPr lang="en-US" dirty="0"/>
              <a:t>please use the QR code on the right to </a:t>
            </a:r>
          </a:p>
          <a:p>
            <a:pPr marL="0" indent="0">
              <a:buNone/>
            </a:pPr>
            <a:r>
              <a:rPr lang="en-US" dirty="0"/>
              <a:t>check in for attendance.</a:t>
            </a:r>
          </a:p>
          <a:p>
            <a:pPr>
              <a:buSzPct val="200000"/>
              <a:buFont typeface="Arial" panose="020B0604020202020204" pitchFamily="34" charset="0"/>
              <a:buChar char="•"/>
            </a:pPr>
            <a:r>
              <a:rPr lang="en-US" dirty="0"/>
              <a:t>Check in between 15:20 pm and 15:50 pm.</a:t>
            </a:r>
          </a:p>
          <a:p>
            <a:pPr>
              <a:buSzPct val="200000"/>
              <a:buFont typeface="Arial" panose="020B0604020202020204" pitchFamily="34" charset="0"/>
              <a:buChar char="•"/>
            </a:pPr>
            <a:r>
              <a:rPr lang="en-US" dirty="0"/>
              <a:t>Enter your ID and Name.</a:t>
            </a:r>
          </a:p>
          <a:p>
            <a:pPr>
              <a:buSzPct val="200000"/>
              <a:buFont typeface="Arial" panose="020B0604020202020204" pitchFamily="34" charset="0"/>
              <a:buChar char="•"/>
            </a:pPr>
            <a:r>
              <a:rPr lang="en-US" dirty="0"/>
              <a:t>The QR code is also accessible on BB. </a:t>
            </a:r>
          </a:p>
          <a:p>
            <a:pPr>
              <a:buSzPct val="200000"/>
              <a:buFont typeface="Arial" panose="020B0604020202020204" pitchFamily="34" charset="0"/>
              <a:buChar char="•"/>
            </a:pPr>
            <a:r>
              <a:rPr lang="en-US" dirty="0"/>
              <a:t>Please keep in mind that the QR code will</a:t>
            </a:r>
          </a:p>
          <a:p>
            <a:pPr marL="0" indent="0">
              <a:buSzPct val="200000"/>
              <a:buNone/>
            </a:pPr>
            <a:r>
              <a:rPr lang="en-US" dirty="0"/>
              <a:t>    only work when you are in close proximity</a:t>
            </a:r>
          </a:p>
          <a:p>
            <a:pPr marL="0" indent="0">
              <a:buSzPct val="200000"/>
              <a:buNone/>
            </a:pPr>
            <a:r>
              <a:rPr lang="en-US" dirty="0"/>
              <a:t>    to the classroom.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DC5EA-2829-437D-84CC-562D54B09D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285" y="7257"/>
            <a:ext cx="3142343" cy="460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83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9" y="108350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897" y="844153"/>
            <a:ext cx="7742903" cy="3671888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rgbClr val="0000FF"/>
                </a:solidFill>
              </a:rPr>
              <a:t>Zero Tolerance</a:t>
            </a:r>
          </a:p>
          <a:p>
            <a:pPr lvl="1"/>
            <a:r>
              <a:rPr lang="en-US" sz="2100" dirty="0"/>
              <a:t>Plagiarism, cheating, misconduct in test/exam will be reported to the School for handing.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Consequences</a:t>
            </a:r>
          </a:p>
          <a:p>
            <a:pPr lvl="1"/>
            <a:r>
              <a:rPr lang="en-US" sz="2100" dirty="0"/>
              <a:t>Zero marks for the concerned assignments/test/exam/whole course, demerits, suspension of study, dismissal from University.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University Policy for Academic Honesty</a:t>
            </a:r>
          </a:p>
          <a:p>
            <a:pPr marL="457178" lvl="1" indent="0">
              <a:buNone/>
            </a:pPr>
            <a:r>
              <a:rPr lang="en-US" sz="2100" dirty="0"/>
              <a:t>http://www.cuhk.edu.cn/departsite/ar/en/Academic.html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0F64E-20D8-4AD3-8AF7-D568DFB0E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685800"/>
              <a:t>16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765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9" y="108350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MISC.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897" y="844153"/>
            <a:ext cx="7742903" cy="3671888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rgbClr val="0000FF"/>
                </a:solidFill>
              </a:rPr>
              <a:t>Open book exams</a:t>
            </a:r>
          </a:p>
          <a:p>
            <a:pPr lvl="1"/>
            <a:r>
              <a:rPr lang="en-US" sz="2100" dirty="0"/>
              <a:t>Exams are open books and notes but no longer open laptops, tablets, or cell phones.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Makeup exam policy</a:t>
            </a:r>
          </a:p>
          <a:p>
            <a:pPr lvl="1"/>
            <a:r>
              <a:rPr lang="en-US" sz="2100" dirty="0"/>
              <a:t>If a makeup exam is requested and approved for acceptable reasons, it will be conducted orally in my office. Makeup exams will receive a 10% discount. 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Reference letter</a:t>
            </a:r>
          </a:p>
          <a:p>
            <a:pPr lvl="1"/>
            <a:r>
              <a:rPr lang="en-US" sz="2100" dirty="0"/>
              <a:t>If you require my reference letter, please make a good impression so I can recall our </a:t>
            </a:r>
            <a:r>
              <a:rPr lang="en-US" sz="2100" i="1" dirty="0">
                <a:solidFill>
                  <a:srgbClr val="FF0000"/>
                </a:solidFill>
              </a:rPr>
              <a:t>interactions</a:t>
            </a:r>
            <a:r>
              <a:rPr lang="en-US" sz="2100" dirty="0"/>
              <a:t>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0F64E-20D8-4AD3-8AF7-D568DFB0E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685800"/>
              <a:t>17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629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9" y="108350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MISC.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1" y="868932"/>
            <a:ext cx="8405812" cy="3783070"/>
          </a:xfrm>
        </p:spPr>
        <p:txBody>
          <a:bodyPr>
            <a:normAutofit fontScale="85000" lnSpcReduction="10000"/>
          </a:bodyPr>
          <a:lstStyle/>
          <a:p>
            <a:r>
              <a:rPr lang="en-US" sz="2100" b="1" dirty="0">
                <a:solidFill>
                  <a:srgbClr val="0000FF"/>
                </a:solidFill>
              </a:rPr>
              <a:t>Reading Assignments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textbook is a student’s obligation. There will be reading assignments on book chapters. If you follow the assignments, you will comprehend more from the lectures. </a:t>
            </a:r>
          </a:p>
          <a:p>
            <a:pPr marL="257162" marR="0" lvl="0" indent="-25716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sz="2100" b="1" dirty="0">
                <a:solidFill>
                  <a:srgbClr val="0000FF"/>
                </a:solidFill>
              </a:rPr>
              <a:t>Using AI tools (e.g. </a:t>
            </a:r>
            <a:r>
              <a:rPr lang="en-US" sz="2100" b="1" dirty="0" err="1">
                <a:solidFill>
                  <a:srgbClr val="0000FF"/>
                </a:solidFill>
              </a:rPr>
              <a:t>ChatGPT</a:t>
            </a:r>
            <a:r>
              <a:rPr lang="en-US" sz="2100" b="1" dirty="0">
                <a:solidFill>
                  <a:srgbClr val="0000FF"/>
                </a:solidFill>
              </a:rPr>
              <a:t>, GitHub Co-Pilot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Gemini, … )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Allowed in your homework (to increase your productivity)</a:t>
            </a: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標楷體" pitchFamily="65" charset="-120"/>
            </a:endParaRP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  <a:cs typeface="Times New Roman" panose="02020603050405020304" pitchFamily="18" charset="0"/>
              </a:rPr>
              <a:t>Be aware that such tools are not allowed in exams and job interviews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62" marR="0" lvl="0" indent="-25716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sz="2100" b="1" dirty="0">
                <a:solidFill>
                  <a:srgbClr val="0000FF"/>
                </a:solidFill>
              </a:rPr>
              <a:t>Simulator </a:t>
            </a:r>
            <a:r>
              <a:rPr kumimoji="1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cs typeface="+mn-cs"/>
              </a:rPr>
              <a:t>Assignments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Project#3 and project#4 are writing simulators. The tasks are more challenging. We allow each team to have two students.  We do not use Verilog; the simulators are written in C/C++.</a:t>
            </a:r>
            <a:endParaRPr lang="en-US" sz="1800" b="1" dirty="0">
              <a:solidFill>
                <a:srgbClr val="0000FF"/>
              </a:solidFill>
            </a:endParaRPr>
          </a:p>
          <a:p>
            <a:pPr marL="257162" marR="0" lvl="0" indent="-25716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cs typeface="+mn-cs"/>
              </a:rPr>
              <a:t>Application for Incomplete: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Health and Mental Conditions: Please inform me immediately if you have any health or mental conditions. Applications submitted just before the final exam will not be accepted.  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Extenuating Circumstances: These are case-by-case and may require supporting documentation.  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If you have never submitted any homework, applications for Incomplete will not be granted.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0F64E-20D8-4AD3-8AF7-D568DFB0E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685800"/>
              <a:t>18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551950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7020304040A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15894</TotalTime>
  <Words>1683</Words>
  <Application>Microsoft Office PowerPoint</Application>
  <PresentationFormat>全屏显示(16:9)</PresentationFormat>
  <Paragraphs>215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Market Sans</vt:lpstr>
      <vt:lpstr>MS Sans Serif</vt:lpstr>
      <vt:lpstr>新細明體</vt:lpstr>
      <vt:lpstr>华文楷体</vt:lpstr>
      <vt:lpstr>SimSun</vt:lpstr>
      <vt:lpstr>Arial</vt:lpstr>
      <vt:lpstr>Calibri</vt:lpstr>
      <vt:lpstr>Times New Roman</vt:lpstr>
      <vt:lpstr>Wingdings</vt:lpstr>
      <vt:lpstr>NTHU UniCloud</vt:lpstr>
      <vt:lpstr>1_NTHU UniCloud</vt:lpstr>
      <vt:lpstr>CSC3050 – Computer Architecture </vt:lpstr>
      <vt:lpstr>PowerPoint 演示文稿</vt:lpstr>
      <vt:lpstr>PowerPoint 演示文稿</vt:lpstr>
      <vt:lpstr>PowerPoint 演示文稿</vt:lpstr>
      <vt:lpstr>Textbook &amp; Reference</vt:lpstr>
      <vt:lpstr>What is RISC-V</vt:lpstr>
      <vt:lpstr>Why adopt RISC-V?</vt:lpstr>
      <vt:lpstr>Misconceptions about RISC-V</vt:lpstr>
      <vt:lpstr>License Free, Royalty Free</vt:lpstr>
      <vt:lpstr>A Strong Software Ecosystem</vt:lpstr>
      <vt:lpstr>Trend of Software First</vt:lpstr>
      <vt:lpstr>Simple yet Versatile: Extensibility</vt:lpstr>
      <vt:lpstr>Course Syllabus</vt:lpstr>
      <vt:lpstr>Course Assessment</vt:lpstr>
      <vt:lpstr>Class Attendance </vt:lpstr>
      <vt:lpstr>Academic Honesty</vt:lpstr>
      <vt:lpstr>MISC. (1)</vt:lpstr>
      <vt:lpstr>MISC.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Tianci Hou (SDS, 121090184)</cp:lastModifiedBy>
  <cp:revision>356</cp:revision>
  <dcterms:created xsi:type="dcterms:W3CDTF">2021-01-11T16:17:04Z</dcterms:created>
  <dcterms:modified xsi:type="dcterms:W3CDTF">2025-03-28T03:02:58Z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2052-3.0.0.4824</vt:lpwstr>
  </property>
</Properties>
</file>