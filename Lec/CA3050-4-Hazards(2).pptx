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43"/>
  </p:notesMasterIdLst>
  <p:handoutMasterIdLst>
    <p:handoutMasterId r:id="rId44"/>
  </p:handoutMasterIdLst>
  <p:sldIdLst>
    <p:sldId id="256" r:id="rId3"/>
    <p:sldId id="682" r:id="rId4"/>
    <p:sldId id="672" r:id="rId5"/>
    <p:sldId id="974" r:id="rId6"/>
    <p:sldId id="970" r:id="rId7"/>
    <p:sldId id="687" r:id="rId8"/>
    <p:sldId id="308" r:id="rId9"/>
    <p:sldId id="309" r:id="rId10"/>
    <p:sldId id="684" r:id="rId11"/>
    <p:sldId id="688" r:id="rId12"/>
    <p:sldId id="689" r:id="rId13"/>
    <p:sldId id="690" r:id="rId14"/>
    <p:sldId id="691" r:id="rId15"/>
    <p:sldId id="692" r:id="rId16"/>
    <p:sldId id="966" r:id="rId17"/>
    <p:sldId id="349" r:id="rId18"/>
    <p:sldId id="685" r:id="rId19"/>
    <p:sldId id="694" r:id="rId20"/>
    <p:sldId id="695" r:id="rId21"/>
    <p:sldId id="693" r:id="rId22"/>
    <p:sldId id="696" r:id="rId23"/>
    <p:sldId id="697" r:id="rId24"/>
    <p:sldId id="698" r:id="rId25"/>
    <p:sldId id="699" r:id="rId26"/>
    <p:sldId id="977" r:id="rId27"/>
    <p:sldId id="976" r:id="rId28"/>
    <p:sldId id="965" r:id="rId29"/>
    <p:sldId id="968" r:id="rId30"/>
    <p:sldId id="413" r:id="rId31"/>
    <p:sldId id="969" r:id="rId32"/>
    <p:sldId id="978" r:id="rId33"/>
    <p:sldId id="963" r:id="rId34"/>
    <p:sldId id="964" r:id="rId35"/>
    <p:sldId id="972" r:id="rId36"/>
    <p:sldId id="975" r:id="rId37"/>
    <p:sldId id="973" r:id="rId38"/>
    <p:sldId id="460" r:id="rId39"/>
    <p:sldId id="967" r:id="rId40"/>
    <p:sldId id="686" r:id="rId41"/>
    <p:sldId id="327" r:id="rId4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0" autoAdjust="0"/>
    <p:restoredTop sz="94660"/>
  </p:normalViewPr>
  <p:slideViewPr>
    <p:cSldViewPr snapToGrid="0">
      <p:cViewPr varScale="1">
        <p:scale>
          <a:sx n="100" d="100"/>
          <a:sy n="100" d="100"/>
        </p:scale>
        <p:origin x="756" y="7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300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815C594-135F-4D15-8E4B-45F1BE861E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CDB0960-189E-46E1-8D29-6FB05B6F72F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43A5A2-ABA0-4772-A51C-C5F6F247E980}" type="datetimeFigureOut">
              <a:rPr lang="en-US" smtClean="0"/>
              <a:t>3/26/2025</a:t>
            </a:fld>
            <a:endParaRPr lang="en-US"/>
          </a:p>
        </p:txBody>
      </p:sp>
      <p:sp>
        <p:nvSpPr>
          <p:cNvPr id="4" name="Footer Placeholder 3">
            <a:extLst>
              <a:ext uri="{FF2B5EF4-FFF2-40B4-BE49-F238E27FC236}">
                <a16:creationId xmlns:a16="http://schemas.microsoft.com/office/drawing/2014/main" id="{66C1DB78-23CB-4BEF-89B3-77D711E9DAE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C9CDE08-0A77-4F04-A3CE-DB3F76D6147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243270-4340-4F2C-881F-076058FFD61F}" type="slidenum">
              <a:rPr lang="en-US" smtClean="0"/>
              <a:t>‹#›</a:t>
            </a:fld>
            <a:endParaRPr lang="en-US"/>
          </a:p>
        </p:txBody>
      </p:sp>
    </p:spTree>
    <p:extLst>
      <p:ext uri="{BB962C8B-B14F-4D97-AF65-F5344CB8AC3E}">
        <p14:creationId xmlns:p14="http://schemas.microsoft.com/office/powerpoint/2010/main" val="32635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2025/3/26</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Throughput vs response time </a:t>
            </a:r>
          </a:p>
          <a:p>
            <a:r>
              <a:rPr lang="en-US" altLang="zh-CN" dirty="0"/>
              <a:t>13 logic levels may not be evenly divided by 4, 3—3—3--4</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9976698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410411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Harvard architecture was named because Harvard had Mark I, II, III computers developed. They used separate instruction and data memory. Originally not an architecture choice, but limited to technology.</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529092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524527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en-US" altLang="zh-TW" dirty="0"/>
          </a:p>
          <a:p>
            <a:r>
              <a:rPr lang="en-US" altLang="zh-TW" dirty="0"/>
              <a:t>The R-type instruction does NOT access data memory so it only takes four clock cycles, or in our new pipeline terminology, four stages to complete.</a:t>
            </a:r>
          </a:p>
          <a:p>
            <a:r>
              <a:rPr lang="en-US" altLang="zh-TW" dirty="0"/>
              <a:t>The </a:t>
            </a:r>
            <a:r>
              <a:rPr lang="en-US" altLang="zh-TW" dirty="0" err="1"/>
              <a:t>Ifetch</a:t>
            </a:r>
            <a:r>
              <a:rPr lang="en-US" altLang="zh-TW" dirty="0"/>
              <a:t> and Reg/Dec stages are identical to the Load instructions.  Well they have to be because at this point, we do not know we have a R-type instruction yet.</a:t>
            </a:r>
          </a:p>
          <a:p>
            <a:r>
              <a:rPr lang="en-US" altLang="zh-TW" dirty="0"/>
              <a:t>Instead of calculating the effective address during the Exec stage, the R-type instruction will use the ALU to operate on the register operands.</a:t>
            </a:r>
          </a:p>
          <a:p>
            <a:r>
              <a:rPr lang="en-US" altLang="zh-TW" dirty="0"/>
              <a:t>The result of this ALU operation is written back to the register file during the </a:t>
            </a:r>
            <a:r>
              <a:rPr lang="en-US" altLang="zh-TW" dirty="0" err="1"/>
              <a:t>Wr</a:t>
            </a:r>
            <a:r>
              <a:rPr lang="en-US" altLang="zh-TW" dirty="0"/>
              <a:t> back stage.</a:t>
            </a:r>
          </a:p>
          <a:p>
            <a:endParaRPr lang="en-US" altLang="zh-TW" dirty="0"/>
          </a:p>
          <a:p>
            <a:r>
              <a:rPr lang="en-US" altLang="zh-TW" dirty="0"/>
              <a:t>+1 = 15 min. (55)</a:t>
            </a:r>
          </a:p>
        </p:txBody>
      </p:sp>
      <p:sp>
        <p:nvSpPr>
          <p:cNvPr id="161795" name="Rectangle 3"/>
          <p:cNvSpPr>
            <a:spLocks noGrp="1" noRot="1" noChangeAspect="1" noChangeArrowheads="1" noTextEdit="1"/>
          </p:cNvSpPr>
          <p:nvPr>
            <p:ph type="sldImg"/>
          </p:nvPr>
        </p:nvSpPr>
        <p:spPr>
          <a:xfrm>
            <a:off x="2706688" y="436563"/>
            <a:ext cx="4511675" cy="2538412"/>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dirty="0"/>
              <a:t>Well, we have a problem here!!!</a:t>
            </a:r>
          </a:p>
          <a:p>
            <a:r>
              <a:rPr lang="en-US" altLang="zh-TW" dirty="0"/>
              <a:t>We end up having two instructions trying to write to the register file at the same time!</a:t>
            </a:r>
          </a:p>
          <a:p>
            <a:r>
              <a:rPr lang="en-US" altLang="zh-TW" dirty="0"/>
              <a:t>Why do we have this problem (the write </a:t>
            </a:r>
            <a:r>
              <a:rPr lang="en-US" altLang="zh-TW" dirty="0" err="1"/>
              <a:t>ubble</a:t>
            </a:r>
            <a:r>
              <a:rPr lang="en-US" altLang="zh-TW" dirty="0"/>
              <a:t>??</a:t>
            </a:r>
          </a:p>
          <a:p>
            <a:r>
              <a:rPr lang="en-US" altLang="zh-TW" dirty="0"/>
              <a:t>Well, the reason for this problem is that there is something I have not yet told you.</a:t>
            </a:r>
          </a:p>
          <a:p>
            <a:endParaRPr lang="en-US" altLang="zh-TW" dirty="0"/>
          </a:p>
          <a:p>
            <a:r>
              <a:rPr lang="en-US" altLang="zh-TW" dirty="0"/>
              <a:t>+1 = 16 min. (X:56)</a:t>
            </a:r>
          </a:p>
        </p:txBody>
      </p:sp>
      <p:sp>
        <p:nvSpPr>
          <p:cNvPr id="162819" name="Rectangle 3"/>
          <p:cNvSpPr>
            <a:spLocks noGrp="1" noRot="1" noChangeAspect="1" noChangeArrowheads="1" noTextEdit="1"/>
          </p:cNvSpPr>
          <p:nvPr>
            <p:ph type="sldImg"/>
          </p:nvPr>
        </p:nvSpPr>
        <p:spPr>
          <a:xfrm>
            <a:off x="2706688" y="436563"/>
            <a:ext cx="4511675" cy="2538412"/>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201262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6175981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1962515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7795374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5902823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8797916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4242369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7277538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7513488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5085486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8782943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5825087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1295544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Suppose 20% of instructions are branches, and CPI is 1. This flushed instruction may account for 60% of penalty.  0.2*3 = 0.6 </a:t>
            </a:r>
          </a:p>
          <a:p>
            <a:r>
              <a:rPr lang="en-US" altLang="zh-CN" dirty="0"/>
              <a:t>Well, say 50% of the branches are fall through, then the penalty is down to 30%</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0075975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Suppose 20% of instructions are branches, and CPI is 1. This flushed instruction may account for 60% of penalty.  0.2*3 = 0.6 </a:t>
            </a:r>
          </a:p>
          <a:p>
            <a:r>
              <a:rPr lang="en-US" altLang="zh-CN" dirty="0"/>
              <a:t>Well, say 50% of the branches are fall through, then the penalty is down to 30%</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513251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2513866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Suppose 20% of instructions are branches, and CPI is 1. This flushed instruction may account for 60% of penalty.  0.2*3 = 0.6 </a:t>
            </a:r>
          </a:p>
          <a:p>
            <a:r>
              <a:rPr lang="en-US" altLang="zh-CN" dirty="0"/>
              <a:t>Well, say 50% of the branches are fall through, then the penalty is down to 30%</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9131293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Compiler tries to place the more likely target in the fall-through path</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4241441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Rot="1" noChangeAspect="1" noChangeArrowheads="1" noTextEdit="1"/>
          </p:cNvSpPr>
          <p:nvPr>
            <p:ph type="sldImg"/>
          </p:nvPr>
        </p:nvSpPr>
        <p:spPr>
          <a:xfrm>
            <a:off x="2687638" y="509588"/>
            <a:ext cx="4532312" cy="2549525"/>
          </a:xfrm>
        </p:spPr>
      </p:sp>
      <p:sp>
        <p:nvSpPr>
          <p:cNvPr id="195587"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38338653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Rot="1" noChangeAspect="1" noChangeArrowheads="1" noTextEdit="1"/>
          </p:cNvSpPr>
          <p:nvPr>
            <p:ph type="sldImg"/>
          </p:nvPr>
        </p:nvSpPr>
        <p:spPr>
          <a:xfrm>
            <a:off x="2687638" y="509588"/>
            <a:ext cx="4532312" cy="2549525"/>
          </a:xfrm>
        </p:spPr>
      </p:sp>
      <p:sp>
        <p:nvSpPr>
          <p:cNvPr id="195587"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Graduate students researching on predictors </a:t>
            </a:r>
          </a:p>
          <a:p>
            <a:r>
              <a:rPr lang="en-US" altLang="zh-CN" dirty="0"/>
              <a:t>This is the conversation we often heard:</a:t>
            </a:r>
          </a:p>
          <a:p>
            <a:r>
              <a:rPr lang="en-US" altLang="zh-CN" dirty="0"/>
              <a:t>What is your research</a:t>
            </a:r>
          </a:p>
          <a:p>
            <a:r>
              <a:rPr lang="en-US" altLang="zh-CN" dirty="0"/>
              <a:t>Branch prediction</a:t>
            </a:r>
          </a:p>
          <a:p>
            <a:r>
              <a:rPr lang="en-US" altLang="zh-CN" dirty="0"/>
              <a:t>How accurate can you predict now?</a:t>
            </a:r>
          </a:p>
          <a:p>
            <a:r>
              <a:rPr lang="en-US" altLang="zh-CN" dirty="0"/>
              <a:t>From 98% increased to 99%</a:t>
            </a:r>
          </a:p>
          <a:p>
            <a:r>
              <a:rPr lang="en-US" altLang="zh-CN" dirty="0"/>
              <a:t>Only 1%?</a:t>
            </a:r>
          </a:p>
          <a:p>
            <a:r>
              <a:rPr lang="en-US" altLang="zh-CN" dirty="0"/>
              <a:t>No, miss rate dropped from 2% to 1%, that is 2X improvement.</a:t>
            </a:r>
          </a:p>
          <a:p>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Rot="1" noChangeAspect="1" noChangeArrowheads="1" noTextEdit="1"/>
          </p:cNvSpPr>
          <p:nvPr>
            <p:ph type="sldImg"/>
          </p:nvPr>
        </p:nvSpPr>
        <p:spPr>
          <a:xfrm>
            <a:off x="2687638" y="509588"/>
            <a:ext cx="4532312" cy="2549525"/>
          </a:xfrm>
        </p:spPr>
      </p:sp>
      <p:sp>
        <p:nvSpPr>
          <p:cNvPr id="195587"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Graduate students researching on predictors </a:t>
            </a:r>
          </a:p>
          <a:p>
            <a:r>
              <a:rPr lang="en-US" altLang="zh-CN" dirty="0"/>
              <a:t>This is the conversation we often heard:</a:t>
            </a:r>
          </a:p>
          <a:p>
            <a:r>
              <a:rPr lang="en-US" altLang="zh-CN" dirty="0"/>
              <a:t>What is your research</a:t>
            </a:r>
          </a:p>
          <a:p>
            <a:r>
              <a:rPr lang="en-US" altLang="zh-CN" dirty="0"/>
              <a:t>Branch prediction</a:t>
            </a:r>
          </a:p>
          <a:p>
            <a:r>
              <a:rPr lang="en-US" altLang="zh-CN" dirty="0"/>
              <a:t>How accurate can you predict now?</a:t>
            </a:r>
          </a:p>
          <a:p>
            <a:r>
              <a:rPr lang="en-US" altLang="zh-CN" dirty="0"/>
              <a:t>From 98% increased to 99%</a:t>
            </a:r>
          </a:p>
          <a:p>
            <a:r>
              <a:rPr lang="en-US" altLang="zh-CN" dirty="0"/>
              <a:t>Only 1%?</a:t>
            </a:r>
          </a:p>
          <a:p>
            <a:r>
              <a:rPr lang="en-US" altLang="zh-CN" dirty="0"/>
              <a:t>No, miss rate dropped from 2% to 1%, that is 2X improvement.</a:t>
            </a:r>
          </a:p>
          <a:p>
            <a:endParaRPr lang="zh-CN" altLang="en-US" dirty="0"/>
          </a:p>
        </p:txBody>
      </p:sp>
    </p:spTree>
    <p:extLst>
      <p:ext uri="{BB962C8B-B14F-4D97-AF65-F5344CB8AC3E}">
        <p14:creationId xmlns:p14="http://schemas.microsoft.com/office/powerpoint/2010/main" val="27072078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Rot="1" noChangeAspect="1" noChangeArrowheads="1" noTextEdit="1"/>
          </p:cNvSpPr>
          <p:nvPr>
            <p:ph type="sldImg"/>
          </p:nvPr>
        </p:nvSpPr>
        <p:spPr>
          <a:xfrm>
            <a:off x="2687638" y="509588"/>
            <a:ext cx="4532312" cy="2549525"/>
          </a:xfrm>
        </p:spPr>
      </p:sp>
      <p:sp>
        <p:nvSpPr>
          <p:cNvPr id="195587"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Graduate students researching on predictors </a:t>
            </a:r>
          </a:p>
          <a:p>
            <a:r>
              <a:rPr lang="en-US" altLang="zh-CN" dirty="0"/>
              <a:t>This is the conversation we often heard:</a:t>
            </a:r>
          </a:p>
          <a:p>
            <a:r>
              <a:rPr lang="en-US" altLang="zh-CN" dirty="0"/>
              <a:t>What is your research</a:t>
            </a:r>
          </a:p>
          <a:p>
            <a:r>
              <a:rPr lang="en-US" altLang="zh-CN" dirty="0"/>
              <a:t>Branch prediction</a:t>
            </a:r>
          </a:p>
          <a:p>
            <a:r>
              <a:rPr lang="en-US" altLang="zh-CN" dirty="0"/>
              <a:t>How accurate can you predict now?</a:t>
            </a:r>
          </a:p>
          <a:p>
            <a:r>
              <a:rPr lang="en-US" altLang="zh-CN" dirty="0"/>
              <a:t>From 98% increased to 99%</a:t>
            </a:r>
          </a:p>
          <a:p>
            <a:r>
              <a:rPr lang="en-US" altLang="zh-CN" dirty="0"/>
              <a:t>Only 1%?</a:t>
            </a:r>
          </a:p>
          <a:p>
            <a:r>
              <a:rPr lang="en-US" altLang="zh-CN" dirty="0"/>
              <a:t>No, miss rate dropped from 2% to 1%, that is 2X improvement.</a:t>
            </a:r>
          </a:p>
          <a:p>
            <a:endParaRPr lang="zh-CN" altLang="en-US" dirty="0"/>
          </a:p>
        </p:txBody>
      </p:sp>
    </p:spTree>
    <p:extLst>
      <p:ext uri="{BB962C8B-B14F-4D97-AF65-F5344CB8AC3E}">
        <p14:creationId xmlns:p14="http://schemas.microsoft.com/office/powerpoint/2010/main" val="19024485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Rot="1" noChangeAspect="1" noChangeArrowheads="1" noTextEdit="1"/>
          </p:cNvSpPr>
          <p:nvPr>
            <p:ph type="sldImg"/>
          </p:nvPr>
        </p:nvSpPr>
        <p:spPr>
          <a:xfrm>
            <a:off x="2687638" y="509588"/>
            <a:ext cx="4532312" cy="2549525"/>
          </a:xfrm>
        </p:spPr>
      </p:sp>
      <p:sp>
        <p:nvSpPr>
          <p:cNvPr id="196611"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95466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Rot="1" noChangeAspect="1" noChangeArrowheads="1" noTextEdit="1"/>
          </p:cNvSpPr>
          <p:nvPr>
            <p:ph type="sldImg"/>
          </p:nvPr>
        </p:nvSpPr>
        <p:spPr>
          <a:xfrm>
            <a:off x="2687638" y="509588"/>
            <a:ext cx="4532312" cy="2549525"/>
          </a:xfrm>
        </p:spPr>
      </p:sp>
      <p:sp>
        <p:nvSpPr>
          <p:cNvPr id="195587"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Graduate students researching on predictors </a:t>
            </a:r>
          </a:p>
          <a:p>
            <a:r>
              <a:rPr lang="en-US" altLang="zh-CN" dirty="0"/>
              <a:t>This is the conversation we often heard:</a:t>
            </a:r>
          </a:p>
          <a:p>
            <a:r>
              <a:rPr lang="en-US" altLang="zh-CN" dirty="0"/>
              <a:t>What is your research</a:t>
            </a:r>
          </a:p>
          <a:p>
            <a:r>
              <a:rPr lang="en-US" altLang="zh-CN" dirty="0"/>
              <a:t>Branch prediction</a:t>
            </a:r>
          </a:p>
          <a:p>
            <a:r>
              <a:rPr lang="en-US" altLang="zh-CN" dirty="0"/>
              <a:t>How accurate can you predict now?</a:t>
            </a:r>
          </a:p>
          <a:p>
            <a:r>
              <a:rPr lang="en-US" altLang="zh-CN" dirty="0"/>
              <a:t>From 98% increased to 99%</a:t>
            </a:r>
          </a:p>
          <a:p>
            <a:r>
              <a:rPr lang="en-US" altLang="zh-CN" dirty="0"/>
              <a:t>Only 1%?</a:t>
            </a:r>
          </a:p>
          <a:p>
            <a:r>
              <a:rPr lang="en-US" altLang="zh-CN" dirty="0"/>
              <a:t>No, miss rate dropped from 2% to 1%, that is 2X improvement.</a:t>
            </a:r>
          </a:p>
          <a:p>
            <a:endParaRPr lang="zh-CN" altLang="en-US" dirty="0"/>
          </a:p>
        </p:txBody>
      </p:sp>
    </p:spTree>
    <p:extLst>
      <p:ext uri="{BB962C8B-B14F-4D97-AF65-F5344CB8AC3E}">
        <p14:creationId xmlns:p14="http://schemas.microsoft.com/office/powerpoint/2010/main" val="41677371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Rot="1" noChangeAspect="1" noChangeArrowheads="1" noTextEdit="1"/>
          </p:cNvSpPr>
          <p:nvPr>
            <p:ph type="sldImg"/>
          </p:nvPr>
        </p:nvSpPr>
        <p:spPr>
          <a:xfrm>
            <a:off x="2687638" y="509588"/>
            <a:ext cx="4532312" cy="2549525"/>
          </a:xfrm>
        </p:spPr>
      </p:sp>
      <p:sp>
        <p:nvSpPr>
          <p:cNvPr id="196611"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10329005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Rot="1" noChangeAspect="1" noChangeArrowheads="1" noTextEdit="1"/>
          </p:cNvSpPr>
          <p:nvPr>
            <p:ph type="sldImg"/>
          </p:nvPr>
        </p:nvSpPr>
        <p:spPr>
          <a:xfrm>
            <a:off x="2687638" y="509588"/>
            <a:ext cx="4532312" cy="2549525"/>
          </a:xfrm>
        </p:spPr>
      </p:sp>
      <p:sp>
        <p:nvSpPr>
          <p:cNvPr id="196611"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Rot="1" noChangeAspect="1" noChangeArrowheads="1" noTextEdit="1"/>
          </p:cNvSpPr>
          <p:nvPr>
            <p:ph type="sldImg"/>
          </p:nvPr>
        </p:nvSpPr>
        <p:spPr>
          <a:xfrm>
            <a:off x="2687638" y="509588"/>
            <a:ext cx="4532312" cy="2549525"/>
          </a:xfrm>
        </p:spPr>
      </p:sp>
      <p:sp>
        <p:nvSpPr>
          <p:cNvPr id="196611"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20039452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9914621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The main control here is identical to the one in the single cycle processor. It generate all the control signals necessary for a given instruction during that instruction Reg/Decode stage.</a:t>
            </a:r>
          </a:p>
          <a:p>
            <a:r>
              <a:rPr lang="en-US" altLang="zh-TW"/>
              <a:t>All these control signals will be saved in the ID/Exec pipeline register at the end of the Reg/Decode cycle.</a:t>
            </a:r>
          </a:p>
          <a:p>
            <a:r>
              <a:rPr lang="en-US" altLang="zh-TW"/>
              <a:t>The control signals for the Exec stage (ALUSrc, ... etc.) come from the output of the ID/Exec  register.  That is they are delayed ONE cycle from the cycle they are generated.</a:t>
            </a:r>
          </a:p>
          <a:p>
            <a:r>
              <a:rPr lang="en-US" altLang="zh-TW"/>
              <a:t>The rest of the control signals that are not used during the Exec stage is passed down the pipeline and saved in the Exec/Mem register.</a:t>
            </a:r>
          </a:p>
          <a:p>
            <a:r>
              <a:rPr lang="en-US" altLang="zh-TW"/>
              <a:t>The control signals for the Mem stage (MemWr, Branch) come from the output of the Exec/Mem  register.  That is they are delayed two cycles from the cycle they are generated.</a:t>
            </a:r>
          </a:p>
          <a:p>
            <a:r>
              <a:rPr lang="en-US" altLang="zh-TW"/>
              <a:t>Finally, the control signals for the Wr stage (MemtoReg &amp; RegWr) come from the output of the Exec/Wr register: they are delayed three cycles from the cycle they are generated.</a:t>
            </a:r>
          </a:p>
          <a:p>
            <a:endParaRPr lang="en-US" altLang="zh-TW"/>
          </a:p>
          <a:p>
            <a:r>
              <a:rPr lang="en-US" altLang="zh-TW"/>
              <a:t>+2 = 45 min. (Y:45)</a:t>
            </a:r>
          </a:p>
          <a:p>
            <a:endParaRPr lang="zh-TW" altLang="en-US"/>
          </a:p>
        </p:txBody>
      </p:sp>
      <p:sp>
        <p:nvSpPr>
          <p:cNvPr id="171011" name="Rectangle 3"/>
          <p:cNvSpPr>
            <a:spLocks noGrp="1" noRot="1" noChangeAspect="1" noChangeArrowheads="1" noTextEdit="1"/>
          </p:cNvSpPr>
          <p:nvPr>
            <p:ph type="sldImg"/>
          </p:nvPr>
        </p:nvSpPr>
        <p:spPr>
          <a:xfrm>
            <a:off x="2706688" y="436563"/>
            <a:ext cx="4511675" cy="2538412"/>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26468673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香港中文大学（深圳）数据科学院</a:t>
              </a:r>
              <a:endParaRPr lang="zh-TW"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1E74415-30E6-4BE5-9E20-77352570E8FC}"/>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
        <p:nvSpPr>
          <p:cNvPr id="7" name="Title 1">
            <a:extLst>
              <a:ext uri="{FF2B5EF4-FFF2-40B4-BE49-F238E27FC236}">
                <a16:creationId xmlns:a16="http://schemas.microsoft.com/office/drawing/2014/main" id="{6CCF4834-0539-4513-8D25-641B751175CF}"/>
              </a:ext>
            </a:extLst>
          </p:cNvPr>
          <p:cNvSpPr>
            <a:spLocks noGrp="1"/>
          </p:cNvSpPr>
          <p:nvPr>
            <p:ph type="ctrTitle"/>
          </p:nvPr>
        </p:nvSpPr>
        <p:spPr>
          <a:xfrm>
            <a:off x="1818968" y="1021404"/>
            <a:ext cx="8160657" cy="3365770"/>
          </a:xfrm>
        </p:spPr>
        <p:txBody>
          <a:bodyPr/>
          <a:lstStyle/>
          <a:p>
            <a:pPr algn="ctr"/>
            <a:r>
              <a:rPr lang="en-US" altLang="zh-TW" sz="4000" dirty="0">
                <a:effectLst>
                  <a:outerShdw blurRad="38100" dist="38100" dir="2700000" algn="tl">
                    <a:srgbClr val="000000">
                      <a:alpha val="43137"/>
                    </a:srgbClr>
                  </a:outerShdw>
                </a:effectLst>
              </a:rPr>
              <a:t>CSC3050 – Computer Architecture</a:t>
            </a:r>
            <a:br>
              <a:rPr lang="en-US" altLang="zh-TW" sz="4000" dirty="0">
                <a:effectLst>
                  <a:outerShdw blurRad="38100" dist="38100" dir="2700000" algn="tl">
                    <a:srgbClr val="000000">
                      <a:alpha val="43137"/>
                    </a:srgbClr>
                  </a:outerShdw>
                </a:effectLst>
              </a:rPr>
            </a:br>
            <a:br>
              <a:rPr lang="en-US" altLang="zh-TW" sz="4000" dirty="0">
                <a:effectLst>
                  <a:outerShdw blurRad="38100" dist="38100" dir="2700000" algn="tl">
                    <a:srgbClr val="000000">
                      <a:alpha val="43137"/>
                    </a:srgbClr>
                  </a:outerShdw>
                </a:effectLst>
              </a:rPr>
            </a:br>
            <a:r>
              <a:rPr lang="en-US" altLang="zh-TW" sz="4000" dirty="0">
                <a:effectLst>
                  <a:outerShdw blurRad="38100" dist="38100" dir="2700000" algn="tl">
                    <a:srgbClr val="000000">
                      <a:alpha val="43137"/>
                    </a:srgbClr>
                  </a:outerShdw>
                </a:effectLst>
              </a:rPr>
              <a:t>Chapter 4 The Processor </a:t>
            </a:r>
            <a:br>
              <a:rPr lang="en-US" altLang="zh-TW" sz="4000" dirty="0">
                <a:effectLst>
                  <a:outerShdw blurRad="38100" dist="38100" dir="2700000" algn="tl">
                    <a:srgbClr val="000000">
                      <a:alpha val="43137"/>
                    </a:srgbClr>
                  </a:outerShdw>
                </a:effectLst>
              </a:rPr>
            </a:br>
            <a:r>
              <a:rPr lang="en-US" altLang="zh-TW" sz="4800" dirty="0">
                <a:effectLst>
                  <a:outerShdw blurRad="38100" dist="38100" dir="2700000" algn="tl">
                    <a:srgbClr val="000000">
                      <a:alpha val="43137"/>
                    </a:srgbClr>
                  </a:outerShdw>
                </a:effectLst>
              </a:rPr>
              <a:t>Pipeline Hazards</a:t>
            </a:r>
            <a:endParaRPr lang="zh-TW" altLang="en-US" sz="4800" dirty="0">
              <a:effectLst>
                <a:outerShdw blurRad="38100" dist="38100" dir="2700000" algn="tl">
                  <a:srgbClr val="000000">
                    <a:alpha val="43137"/>
                  </a:srgbClr>
                </a:outerShdw>
              </a:effectLst>
            </a:endParaRPr>
          </a:p>
        </p:txBody>
      </p:sp>
      <p:sp>
        <p:nvSpPr>
          <p:cNvPr id="10" name="Subtitle 2">
            <a:extLst>
              <a:ext uri="{FF2B5EF4-FFF2-40B4-BE49-F238E27FC236}">
                <a16:creationId xmlns:a16="http://schemas.microsoft.com/office/drawing/2014/main" id="{37EF043F-0047-4EC5-B297-23522E981511}"/>
              </a:ext>
            </a:extLst>
          </p:cNvPr>
          <p:cNvSpPr>
            <a:spLocks noGrp="1"/>
          </p:cNvSpPr>
          <p:nvPr>
            <p:ph type="subTitle" idx="1"/>
          </p:nvPr>
        </p:nvSpPr>
        <p:spPr>
          <a:xfrm>
            <a:off x="2026109" y="4185126"/>
            <a:ext cx="7908692" cy="2339502"/>
          </a:xfrm>
        </p:spPr>
        <p:txBody>
          <a:bodyPr/>
          <a:lstStyle/>
          <a:p>
            <a:r>
              <a:rPr lang="en-US" altLang="zh-TW" sz="2400" dirty="0"/>
              <a:t>Prof. Wei Chung Hsu</a:t>
            </a:r>
          </a:p>
          <a:p>
            <a:endParaRPr lang="en-US" altLang="zh-TW" sz="2400" dirty="0">
              <a:effectLst>
                <a:outerShdw blurRad="38100" dist="38100" dir="2700000" algn="tl">
                  <a:srgbClr val="000000">
                    <a:alpha val="43137"/>
                  </a:srgbClr>
                </a:outerShdw>
              </a:effectLst>
            </a:endParaRPr>
          </a:p>
          <a:p>
            <a:r>
              <a:rPr lang="en-US" altLang="zh-TW" sz="2400" dirty="0"/>
              <a:t>School of Data Science</a:t>
            </a:r>
          </a:p>
          <a:p>
            <a:r>
              <a:rPr lang="en-US" altLang="zh-TW" sz="2400" dirty="0"/>
              <a:t>Chinese University of Hong Kong, Shenzhen</a:t>
            </a:r>
          </a:p>
        </p:txBody>
      </p:sp>
    </p:spTree>
    <p:extLst>
      <p:ext uri="{BB962C8B-B14F-4D97-AF65-F5344CB8AC3E}">
        <p14:creationId xmlns:p14="http://schemas.microsoft.com/office/powerpoint/2010/main" val="7693601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4000" dirty="0"/>
              <a:t>Hazards: Pipeline Challenges</a:t>
            </a:r>
          </a:p>
        </p:txBody>
      </p:sp>
      <p:sp>
        <p:nvSpPr>
          <p:cNvPr id="6" name="内容占位符 5"/>
          <p:cNvSpPr>
            <a:spLocks noGrp="1"/>
          </p:cNvSpPr>
          <p:nvPr>
            <p:ph idx="1"/>
          </p:nvPr>
        </p:nvSpPr>
        <p:spPr>
          <a:xfrm>
            <a:off x="594788" y="1147863"/>
            <a:ext cx="10972800" cy="5058383"/>
          </a:xfrm>
        </p:spPr>
        <p:txBody>
          <a:bodyPr/>
          <a:lstStyle/>
          <a:p>
            <a:pPr marL="514345" indent="-457200">
              <a:buSzPct val="200000"/>
              <a:buFont typeface="Arial" panose="020B0604020202020204" pitchFamily="34" charset="0"/>
              <a:buChar char="•"/>
            </a:pPr>
            <a:r>
              <a:rPr lang="en-US" altLang="zh-CN" sz="2600" dirty="0"/>
              <a:t>Our introduction to pipelining may present an overly optimistic perspective. You might expect that a pipelined implementation will enhance performance by a factor equal to the number of pipeline stages.</a:t>
            </a:r>
          </a:p>
          <a:p>
            <a:pPr marL="514345" indent="-457200">
              <a:buSzPct val="200000"/>
              <a:buFont typeface="Arial" panose="020B0604020202020204" pitchFamily="34" charset="0"/>
              <a:buChar char="•"/>
            </a:pPr>
            <a:r>
              <a:rPr lang="en-US" altLang="zh-CN" sz="2600" dirty="0"/>
              <a:t>In addition to the imperfect work distribution at each stage and the overhead caused by "fill" and "drain," a pipelined implementation must address three major challenges: </a:t>
            </a:r>
            <a:r>
              <a:rPr lang="en-US" altLang="zh-CN" sz="2600" dirty="0">
                <a:solidFill>
                  <a:srgbClr val="FF0000"/>
                </a:solidFill>
              </a:rPr>
              <a:t>data hazards, structural hazards</a:t>
            </a:r>
            <a:r>
              <a:rPr lang="en-US" altLang="zh-CN" sz="2600" dirty="0"/>
              <a:t>, and </a:t>
            </a:r>
            <a:r>
              <a:rPr lang="en-US" altLang="zh-CN" sz="2600" dirty="0">
                <a:solidFill>
                  <a:srgbClr val="FF0000"/>
                </a:solidFill>
              </a:rPr>
              <a:t>control hazards</a:t>
            </a:r>
            <a:r>
              <a:rPr lang="en-US" altLang="zh-CN" sz="2600" dirty="0"/>
              <a:t>.</a:t>
            </a:r>
          </a:p>
          <a:p>
            <a:pPr marL="514345" indent="-457200">
              <a:buSzPct val="200000"/>
              <a:buFont typeface="Arial" panose="020B0604020202020204" pitchFamily="34" charset="0"/>
              <a:buChar char="•"/>
            </a:pPr>
            <a:r>
              <a:rPr lang="en-US" altLang="zh-CN" sz="2600" dirty="0"/>
              <a:t>These hazards prevent the subsequent instructions from overlapping with previously issued instructions. They are typically blocked (stalled) at the ID stage. Such “stalls” significantly decrease the efficiency of the pipeline.</a:t>
            </a: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2</a:t>
            </a:fld>
            <a:endParaRPr lang="zh-TW" altLang="en-US">
              <a:solidFill>
                <a:prstClr val="white"/>
              </a:solidFill>
            </a:endParaRPr>
          </a:p>
        </p:txBody>
      </p:sp>
    </p:spTree>
    <p:extLst>
      <p:ext uri="{BB962C8B-B14F-4D97-AF65-F5344CB8AC3E}">
        <p14:creationId xmlns:p14="http://schemas.microsoft.com/office/powerpoint/2010/main" val="1790482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Fill and Drain of a Pipeline</a:t>
            </a:r>
          </a:p>
        </p:txBody>
      </p:sp>
      <p:sp>
        <p:nvSpPr>
          <p:cNvPr id="4" name="灯片编号占位符 3"/>
          <p:cNvSpPr>
            <a:spLocks noGrp="1"/>
          </p:cNvSpPr>
          <p:nvPr>
            <p:ph type="sldNum" sz="quarter" idx="10"/>
          </p:nvPr>
        </p:nvSpPr>
        <p:spPr/>
        <p:txBody>
          <a:bodyPr/>
          <a:lstStyle/>
          <a:p>
            <a:fld id="{D9B6BDF2-6896-4B98-8776-C18582F63BA5}" type="slidenum">
              <a:rPr lang="zh-TW" altLang="en-US" smtClean="0"/>
              <a:t>3</a:t>
            </a:fld>
            <a:endParaRPr lang="zh-TW" altLang="en-US"/>
          </a:p>
        </p:txBody>
      </p:sp>
      <p:pic>
        <p:nvPicPr>
          <p:cNvPr id="13" name="Picture 12">
            <a:extLst>
              <a:ext uri="{FF2B5EF4-FFF2-40B4-BE49-F238E27FC236}">
                <a16:creationId xmlns:a16="http://schemas.microsoft.com/office/drawing/2014/main" id="{559661C7-DC80-4341-B3D2-3328864AF76C}"/>
              </a:ext>
            </a:extLst>
          </p:cNvPr>
          <p:cNvPicPr>
            <a:picLocks noChangeAspect="1"/>
          </p:cNvPicPr>
          <p:nvPr/>
        </p:nvPicPr>
        <p:blipFill>
          <a:blip r:embed="rId2"/>
          <a:stretch>
            <a:fillRect/>
          </a:stretch>
        </p:blipFill>
        <p:spPr>
          <a:xfrm>
            <a:off x="917659" y="1147377"/>
            <a:ext cx="8780818" cy="4915586"/>
          </a:xfrm>
          <a:prstGeom prst="rect">
            <a:avLst/>
          </a:prstGeom>
        </p:spPr>
      </p:pic>
      <p:sp>
        <p:nvSpPr>
          <p:cNvPr id="3" name="TextBox 2">
            <a:extLst>
              <a:ext uri="{FF2B5EF4-FFF2-40B4-BE49-F238E27FC236}">
                <a16:creationId xmlns:a16="http://schemas.microsoft.com/office/drawing/2014/main" id="{5432F028-D83F-4E79-A754-A52CB4FB0018}"/>
              </a:ext>
            </a:extLst>
          </p:cNvPr>
          <p:cNvSpPr txBox="1"/>
          <p:nvPr/>
        </p:nvSpPr>
        <p:spPr>
          <a:xfrm>
            <a:off x="4036978" y="4401287"/>
            <a:ext cx="1527243" cy="584775"/>
          </a:xfrm>
          <a:prstGeom prst="rect">
            <a:avLst/>
          </a:prstGeom>
          <a:solidFill>
            <a:srgbClr val="FFFF00"/>
          </a:solidFill>
          <a:ln>
            <a:solidFill>
              <a:srgbClr val="FF0000"/>
            </a:solidFill>
          </a:ln>
        </p:spPr>
        <p:txBody>
          <a:bodyPr wrap="square" rtlCol="0" anchor="ctr" anchorCtr="1">
            <a:spAutoFit/>
          </a:bodyPr>
          <a:lstStyle/>
          <a:p>
            <a:r>
              <a:rPr lang="en-US" sz="3200" dirty="0">
                <a:ea typeface="標楷體" pitchFamily="65" charset="-120"/>
                <a:cs typeface="Calibri" pitchFamily="34" charset="0"/>
              </a:rPr>
              <a:t>Fill</a:t>
            </a:r>
          </a:p>
        </p:txBody>
      </p:sp>
      <p:sp>
        <p:nvSpPr>
          <p:cNvPr id="8" name="TextBox 7">
            <a:extLst>
              <a:ext uri="{FF2B5EF4-FFF2-40B4-BE49-F238E27FC236}">
                <a16:creationId xmlns:a16="http://schemas.microsoft.com/office/drawing/2014/main" id="{C9A05D48-58E0-4571-9D27-A602B8A9E45D}"/>
              </a:ext>
            </a:extLst>
          </p:cNvPr>
          <p:cNvSpPr txBox="1"/>
          <p:nvPr/>
        </p:nvSpPr>
        <p:spPr>
          <a:xfrm>
            <a:off x="8025320" y="2559517"/>
            <a:ext cx="1673158" cy="584775"/>
          </a:xfrm>
          <a:prstGeom prst="rect">
            <a:avLst/>
          </a:prstGeom>
          <a:solidFill>
            <a:srgbClr val="FFFF00"/>
          </a:solidFill>
          <a:ln>
            <a:solidFill>
              <a:srgbClr val="FF0000"/>
            </a:solidFill>
          </a:ln>
        </p:spPr>
        <p:txBody>
          <a:bodyPr wrap="square" rtlCol="0" anchor="ctr" anchorCtr="1">
            <a:spAutoFit/>
          </a:bodyPr>
          <a:lstStyle/>
          <a:p>
            <a:r>
              <a:rPr lang="en-US" sz="3200" dirty="0">
                <a:ea typeface="標楷體" pitchFamily="65" charset="-120"/>
                <a:cs typeface="Calibri" pitchFamily="34" charset="0"/>
              </a:rPr>
              <a:t>Drain</a:t>
            </a:r>
          </a:p>
        </p:txBody>
      </p:sp>
      <p:sp>
        <p:nvSpPr>
          <p:cNvPr id="9" name="TextBox 8">
            <a:extLst>
              <a:ext uri="{FF2B5EF4-FFF2-40B4-BE49-F238E27FC236}">
                <a16:creationId xmlns:a16="http://schemas.microsoft.com/office/drawing/2014/main" id="{4347EC31-2E4D-4867-B70D-88B3970803CC}"/>
              </a:ext>
            </a:extLst>
          </p:cNvPr>
          <p:cNvSpPr txBox="1"/>
          <p:nvPr/>
        </p:nvSpPr>
        <p:spPr>
          <a:xfrm>
            <a:off x="5564220" y="1223585"/>
            <a:ext cx="2461099" cy="584775"/>
          </a:xfrm>
          <a:prstGeom prst="rect">
            <a:avLst/>
          </a:prstGeom>
          <a:solidFill>
            <a:srgbClr val="FFFF00"/>
          </a:solidFill>
          <a:ln>
            <a:solidFill>
              <a:srgbClr val="FF0000"/>
            </a:solidFill>
          </a:ln>
        </p:spPr>
        <p:txBody>
          <a:bodyPr wrap="square" rtlCol="0" anchor="ctr" anchorCtr="1">
            <a:spAutoFit/>
          </a:bodyPr>
          <a:lstStyle/>
          <a:p>
            <a:r>
              <a:rPr lang="en-US" sz="3200" dirty="0">
                <a:ea typeface="標楷體" pitchFamily="65" charset="-120"/>
                <a:cs typeface="Calibri" pitchFamily="34" charset="0"/>
              </a:rPr>
              <a:t>Pipe Full</a:t>
            </a:r>
          </a:p>
        </p:txBody>
      </p:sp>
    </p:spTree>
    <p:extLst>
      <p:ext uri="{BB962C8B-B14F-4D97-AF65-F5344CB8AC3E}">
        <p14:creationId xmlns:p14="http://schemas.microsoft.com/office/powerpoint/2010/main" val="3795004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4000" dirty="0"/>
              <a:t>Structure Hazards</a:t>
            </a:r>
          </a:p>
        </p:txBody>
      </p:sp>
      <p:sp>
        <p:nvSpPr>
          <p:cNvPr id="6" name="内容占位符 5"/>
          <p:cNvSpPr>
            <a:spLocks noGrp="1"/>
          </p:cNvSpPr>
          <p:nvPr>
            <p:ph idx="1"/>
          </p:nvPr>
        </p:nvSpPr>
        <p:spPr>
          <a:xfrm>
            <a:off x="594788" y="1147863"/>
            <a:ext cx="10972800" cy="5058383"/>
          </a:xfrm>
        </p:spPr>
        <p:txBody>
          <a:bodyPr/>
          <a:lstStyle/>
          <a:p>
            <a:pPr marL="514345" indent="-457200">
              <a:buSzPct val="150000"/>
              <a:buFont typeface="Arial" panose="020B0604020202020204" pitchFamily="34" charset="0"/>
              <a:buChar char="•"/>
            </a:pPr>
            <a:r>
              <a:rPr lang="en-US" sz="2800" b="0" i="0" dirty="0">
                <a:solidFill>
                  <a:srgbClr val="1F1F1F"/>
                </a:solidFill>
                <a:effectLst/>
                <a:latin typeface="Google Sans"/>
              </a:rPr>
              <a:t>This refers to a conflict arising due to </a:t>
            </a:r>
            <a:r>
              <a:rPr lang="en-US" sz="2800" b="0" i="0" dirty="0">
                <a:solidFill>
                  <a:srgbClr val="FF0000"/>
                </a:solidFill>
                <a:effectLst/>
                <a:latin typeface="Google Sans"/>
              </a:rPr>
              <a:t>hardware resource limitations</a:t>
            </a:r>
            <a:r>
              <a:rPr lang="en-US" sz="2800" b="0" i="0" dirty="0">
                <a:solidFill>
                  <a:srgbClr val="1F1F1F"/>
                </a:solidFill>
                <a:effectLst/>
                <a:latin typeface="Google Sans"/>
              </a:rPr>
              <a:t> within the pipeline. </a:t>
            </a:r>
          </a:p>
          <a:p>
            <a:pPr marL="514345" indent="-457200">
              <a:buSzPct val="150000"/>
              <a:buFont typeface="Arial" panose="020B0604020202020204" pitchFamily="34" charset="0"/>
              <a:buChar char="•"/>
            </a:pPr>
            <a:r>
              <a:rPr lang="en-US" sz="2800" b="0" i="0" dirty="0">
                <a:solidFill>
                  <a:srgbClr val="1F1F1F"/>
                </a:solidFill>
                <a:effectLst/>
                <a:latin typeface="Google Sans"/>
              </a:rPr>
              <a:t>For instance, in a pipelined data path, we require both an instruction memory and a data memory. If we utilize the Von Neumann architecture, a conflict occurs when one instruction is accessing data during the MEM stage, preventing the instruction fetch from proceeding in the IF stage. This results in two instructions competing for the same resource simultaneously.</a:t>
            </a:r>
          </a:p>
          <a:p>
            <a:pPr marL="514345" indent="-457200">
              <a:buSzPct val="150000"/>
              <a:buFont typeface="Arial" panose="020B0604020202020204" pitchFamily="34" charset="0"/>
              <a:buChar char="•"/>
            </a:pPr>
            <a:r>
              <a:rPr lang="en-US" sz="2800" b="0" i="0" dirty="0">
                <a:solidFill>
                  <a:srgbClr val="1F1F1F"/>
                </a:solidFill>
                <a:effectLst/>
                <a:latin typeface="Google Sans"/>
              </a:rPr>
              <a:t>Another example of such a conflict is when two division instructions are placed next to each other in the pipeline.</a:t>
            </a:r>
            <a:endParaRPr lang="en-US" altLang="zh-CN" sz="2800" dirty="0"/>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4</a:t>
            </a:fld>
            <a:endParaRPr lang="zh-TW" altLang="en-US">
              <a:solidFill>
                <a:prstClr val="white"/>
              </a:solidFill>
            </a:endParaRPr>
          </a:p>
        </p:txBody>
      </p:sp>
    </p:spTree>
    <p:extLst>
      <p:ext uri="{BB962C8B-B14F-4D97-AF65-F5344CB8AC3E}">
        <p14:creationId xmlns:p14="http://schemas.microsoft.com/office/powerpoint/2010/main" val="1043793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4000" dirty="0"/>
              <a:t>Structure Hazards</a:t>
            </a:r>
          </a:p>
        </p:txBody>
      </p:sp>
      <p:sp>
        <p:nvSpPr>
          <p:cNvPr id="6" name="内容占位符 5"/>
          <p:cNvSpPr>
            <a:spLocks noGrp="1"/>
          </p:cNvSpPr>
          <p:nvPr>
            <p:ph idx="1"/>
          </p:nvPr>
        </p:nvSpPr>
        <p:spPr>
          <a:xfrm>
            <a:off x="594788" y="1147863"/>
            <a:ext cx="5397450" cy="5058383"/>
          </a:xfrm>
        </p:spPr>
        <p:txBody>
          <a:bodyPr/>
          <a:lstStyle/>
          <a:p>
            <a:pPr marL="514345" indent="-457200">
              <a:buSzPct val="150000"/>
              <a:buFont typeface="Arial" panose="020B0604020202020204" pitchFamily="34" charset="0"/>
              <a:buChar char="•"/>
            </a:pPr>
            <a:r>
              <a:rPr lang="en-US" altLang="zh-CN" sz="2400" dirty="0"/>
              <a:t>Structure hazards are less </a:t>
            </a:r>
          </a:p>
          <a:p>
            <a:pPr marL="57145" indent="0">
              <a:buSzPct val="150000"/>
              <a:buNone/>
            </a:pPr>
            <a:r>
              <a:rPr lang="en-US" altLang="zh-CN" sz="2400" dirty="0"/>
              <a:t>frequent in </a:t>
            </a:r>
            <a:r>
              <a:rPr lang="en-US" altLang="zh-CN" sz="2400" dirty="0">
                <a:solidFill>
                  <a:srgbClr val="FF0000"/>
                </a:solidFill>
              </a:rPr>
              <a:t>scalar architectures</a:t>
            </a:r>
            <a:r>
              <a:rPr lang="en-US" altLang="zh-CN" sz="2400" dirty="0"/>
              <a:t>, </a:t>
            </a:r>
          </a:p>
          <a:p>
            <a:pPr marL="57145" indent="0">
              <a:buSzPct val="150000"/>
              <a:buNone/>
            </a:pPr>
            <a:r>
              <a:rPr lang="en-US" altLang="zh-CN" sz="2400" dirty="0"/>
              <a:t>since registers have sufficient</a:t>
            </a:r>
          </a:p>
          <a:p>
            <a:pPr marL="57145" indent="0">
              <a:buSzPct val="150000"/>
              <a:buNone/>
            </a:pPr>
            <a:r>
              <a:rPr lang="en-US" altLang="zh-CN" sz="2400" dirty="0"/>
              <a:t>number of ports, functional units</a:t>
            </a:r>
          </a:p>
          <a:p>
            <a:pPr marL="57145" indent="0">
              <a:buSzPct val="150000"/>
              <a:buNone/>
            </a:pPr>
            <a:r>
              <a:rPr lang="en-US" altLang="zh-CN" sz="2400" dirty="0"/>
              <a:t>are either single-cycle execution </a:t>
            </a:r>
          </a:p>
          <a:p>
            <a:pPr marL="57145" indent="0">
              <a:buSzPct val="150000"/>
              <a:buNone/>
            </a:pPr>
            <a:r>
              <a:rPr lang="en-US" altLang="zh-CN" sz="2400" dirty="0"/>
              <a:t>or are pipelined (except for divide),</a:t>
            </a:r>
          </a:p>
          <a:p>
            <a:pPr marL="57145" indent="0">
              <a:buSzPct val="150000"/>
              <a:buNone/>
            </a:pPr>
            <a:r>
              <a:rPr lang="en-US" altLang="zh-CN" sz="2400" dirty="0"/>
              <a:t>instruction and data memory are</a:t>
            </a:r>
          </a:p>
          <a:p>
            <a:pPr marL="57145" indent="0">
              <a:buSzPct val="150000"/>
              <a:buNone/>
            </a:pPr>
            <a:r>
              <a:rPr lang="en-US" altLang="zh-CN" sz="2400" dirty="0"/>
              <a:t>separated. We may need two adders since each instruction needs to increment PC and calculate arithmetic.</a:t>
            </a: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5</a:t>
            </a:fld>
            <a:endParaRPr lang="zh-TW" altLang="en-US">
              <a:solidFill>
                <a:prstClr val="white"/>
              </a:solidFill>
            </a:endParaRPr>
          </a:p>
        </p:txBody>
      </p:sp>
      <p:pic>
        <p:nvPicPr>
          <p:cNvPr id="3" name="Picture 2">
            <a:extLst>
              <a:ext uri="{FF2B5EF4-FFF2-40B4-BE49-F238E27FC236}">
                <a16:creationId xmlns:a16="http://schemas.microsoft.com/office/drawing/2014/main" id="{7A0C1185-6D0E-45F8-8826-41C116B98BC4}"/>
              </a:ext>
            </a:extLst>
          </p:cNvPr>
          <p:cNvPicPr>
            <a:picLocks noChangeAspect="1"/>
          </p:cNvPicPr>
          <p:nvPr/>
        </p:nvPicPr>
        <p:blipFill>
          <a:blip r:embed="rId3"/>
          <a:stretch>
            <a:fillRect/>
          </a:stretch>
        </p:blipFill>
        <p:spPr>
          <a:xfrm>
            <a:off x="5701488" y="1147863"/>
            <a:ext cx="6251329" cy="3599235"/>
          </a:xfrm>
          <a:prstGeom prst="rect">
            <a:avLst/>
          </a:prstGeom>
        </p:spPr>
      </p:pic>
    </p:spTree>
    <p:extLst>
      <p:ext uri="{BB962C8B-B14F-4D97-AF65-F5344CB8AC3E}">
        <p14:creationId xmlns:p14="http://schemas.microsoft.com/office/powerpoint/2010/main" val="571337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4000" dirty="0"/>
              <a:t>Avoiding Structure Hazards</a:t>
            </a:r>
          </a:p>
        </p:txBody>
      </p:sp>
      <p:sp>
        <p:nvSpPr>
          <p:cNvPr id="6" name="内容占位符 5"/>
          <p:cNvSpPr>
            <a:spLocks noGrp="1"/>
          </p:cNvSpPr>
          <p:nvPr>
            <p:ph idx="1"/>
          </p:nvPr>
        </p:nvSpPr>
        <p:spPr>
          <a:xfrm>
            <a:off x="408562" y="1040861"/>
            <a:ext cx="11783438" cy="5165386"/>
          </a:xfrm>
        </p:spPr>
        <p:txBody>
          <a:bodyPr/>
          <a:lstStyle/>
          <a:p>
            <a:pPr marL="514345" indent="-457200">
              <a:buSzPct val="150000"/>
              <a:buFont typeface="Arial" panose="020B0604020202020204" pitchFamily="34" charset="0"/>
              <a:buChar char="•"/>
            </a:pPr>
            <a:r>
              <a:rPr lang="en-US" altLang="zh-CN" sz="2800" b="1" dirty="0"/>
              <a:t>Pipeline stalls: </a:t>
            </a:r>
          </a:p>
          <a:p>
            <a:pPr marL="57145" indent="0">
              <a:buSzPct val="150000"/>
              <a:buNone/>
            </a:pPr>
            <a:r>
              <a:rPr lang="en-US" altLang="zh-CN" sz="2400" dirty="0"/>
              <a:t>The hardware checks for structural hazards and stalls the pipeline. The newer instruction must wait at the ID stage until the previous one completes its work, causing pipeline bubbles.</a:t>
            </a:r>
          </a:p>
          <a:p>
            <a:pPr marL="514345" indent="-457200">
              <a:buSzPct val="150000"/>
              <a:buFont typeface="Arial" panose="020B0604020202020204" pitchFamily="34" charset="0"/>
              <a:buChar char="•"/>
            </a:pPr>
            <a:r>
              <a:rPr lang="en-US" altLang="zh-CN" sz="2800" b="1" dirty="0"/>
              <a:t>Multiple resources:</a:t>
            </a:r>
          </a:p>
          <a:p>
            <a:pPr marL="57145" indent="0">
              <a:buSzPct val="150000"/>
              <a:buNone/>
            </a:pPr>
            <a:r>
              <a:rPr lang="en-US" altLang="zh-CN" sz="2400" dirty="0"/>
              <a:t>Adding resources, such as we use I-cache and D-cache. We can add </a:t>
            </a:r>
            <a:r>
              <a:rPr lang="en-US" altLang="zh-CN" sz="2400" i="1" dirty="0">
                <a:solidFill>
                  <a:srgbClr val="FF0000"/>
                </a:solidFill>
              </a:rPr>
              <a:t>multiple multiply/divide units (</a:t>
            </a:r>
            <a:r>
              <a:rPr lang="en-US" altLang="zh-CN" sz="2400" b="1" i="1" dirty="0">
                <a:solidFill>
                  <a:srgbClr val="FF0000"/>
                </a:solidFill>
              </a:rPr>
              <a:t>It would be better if the unit could be pipelined</a:t>
            </a:r>
            <a:r>
              <a:rPr lang="en-US" altLang="zh-CN" sz="2400" i="1" dirty="0">
                <a:solidFill>
                  <a:srgbClr val="FF0000"/>
                </a:solidFill>
              </a:rPr>
              <a:t>) </a:t>
            </a:r>
            <a:r>
              <a:rPr lang="en-US" altLang="zh-CN" sz="2400" dirty="0"/>
              <a:t>to avoid structured hazards.</a:t>
            </a:r>
          </a:p>
          <a:p>
            <a:pPr marL="514345" indent="-457200">
              <a:buSzPct val="150000"/>
              <a:buFont typeface="Arial" panose="020B0604020202020204" pitchFamily="34" charset="0"/>
              <a:buChar char="•"/>
            </a:pPr>
            <a:r>
              <a:rPr lang="en-US" altLang="zh-CN" sz="2800" b="1" dirty="0"/>
              <a:t>Instruction Reordering: </a:t>
            </a:r>
            <a:r>
              <a:rPr lang="en-US" altLang="zh-CN" sz="2400" dirty="0"/>
              <a:t>by compiler (static scheduling) or by hardware (dynamic scheduling)</a:t>
            </a:r>
          </a:p>
          <a:p>
            <a:pPr marL="514345" indent="-457200">
              <a:buSzPct val="150000"/>
              <a:buFont typeface="Arial" panose="020B0604020202020204" pitchFamily="34" charset="0"/>
              <a:buChar char="•"/>
            </a:pPr>
            <a:r>
              <a:rPr lang="en-US" altLang="zh-CN" sz="2800" b="1" dirty="0"/>
              <a:t>ISA design: </a:t>
            </a:r>
            <a:r>
              <a:rPr lang="en-US" altLang="zh-CN" sz="2400" dirty="0"/>
              <a:t>for example, the post-increment instructions will require more register write ports. Another example is disallowing memory operands in ALU operations.</a:t>
            </a: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6</a:t>
            </a:fld>
            <a:endParaRPr lang="zh-TW" altLang="en-US">
              <a:solidFill>
                <a:prstClr val="white"/>
              </a:solidFill>
            </a:endParaRPr>
          </a:p>
        </p:txBody>
      </p:sp>
    </p:spTree>
    <p:extLst>
      <p:ext uri="{BB962C8B-B14F-4D97-AF65-F5344CB8AC3E}">
        <p14:creationId xmlns:p14="http://schemas.microsoft.com/office/powerpoint/2010/main" val="2543847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0" name="Group 2"/>
          <p:cNvGrpSpPr/>
          <p:nvPr/>
        </p:nvGrpSpPr>
        <p:grpSpPr bwMode="auto">
          <a:xfrm>
            <a:off x="3830020" y="4876495"/>
            <a:ext cx="1140979" cy="321019"/>
            <a:chOff x="1872" y="1008"/>
            <a:chExt cx="528" cy="144"/>
          </a:xfrm>
        </p:grpSpPr>
        <p:sp>
          <p:nvSpPr>
            <p:cNvPr id="27694" name="Line 3"/>
            <p:cNvSpPr>
              <a:spLocks noChangeShapeType="1"/>
            </p:cNvSpPr>
            <p:nvPr/>
          </p:nvSpPr>
          <p:spPr bwMode="auto">
            <a:xfrm>
              <a:off x="1872"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5" name="Line 4"/>
            <p:cNvSpPr>
              <a:spLocks noChangeShapeType="1"/>
            </p:cNvSpPr>
            <p:nvPr/>
          </p:nvSpPr>
          <p:spPr bwMode="auto">
            <a:xfrm>
              <a:off x="1872"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6" name="Line 5"/>
            <p:cNvSpPr>
              <a:spLocks noChangeShapeType="1"/>
            </p:cNvSpPr>
            <p:nvPr/>
          </p:nvSpPr>
          <p:spPr bwMode="auto">
            <a:xfrm flipV="1">
              <a:off x="2160"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7" name="Line 6"/>
            <p:cNvSpPr>
              <a:spLocks noChangeShapeType="1"/>
            </p:cNvSpPr>
            <p:nvPr/>
          </p:nvSpPr>
          <p:spPr bwMode="auto">
            <a:xfrm>
              <a:off x="2160"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7651" name="Group 7"/>
          <p:cNvGrpSpPr/>
          <p:nvPr/>
        </p:nvGrpSpPr>
        <p:grpSpPr bwMode="auto">
          <a:xfrm>
            <a:off x="4970999" y="4876495"/>
            <a:ext cx="1140979" cy="321019"/>
            <a:chOff x="2400" y="1008"/>
            <a:chExt cx="528" cy="144"/>
          </a:xfrm>
        </p:grpSpPr>
        <p:sp>
          <p:nvSpPr>
            <p:cNvPr id="27690" name="Line 8"/>
            <p:cNvSpPr>
              <a:spLocks noChangeShapeType="1"/>
            </p:cNvSpPr>
            <p:nvPr/>
          </p:nvSpPr>
          <p:spPr bwMode="auto">
            <a:xfrm>
              <a:off x="2400"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1" name="Line 9"/>
            <p:cNvSpPr>
              <a:spLocks noChangeShapeType="1"/>
            </p:cNvSpPr>
            <p:nvPr/>
          </p:nvSpPr>
          <p:spPr bwMode="auto">
            <a:xfrm>
              <a:off x="2400"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2" name="Line 10"/>
            <p:cNvSpPr>
              <a:spLocks noChangeShapeType="1"/>
            </p:cNvSpPr>
            <p:nvPr/>
          </p:nvSpPr>
          <p:spPr bwMode="auto">
            <a:xfrm flipV="1">
              <a:off x="2688"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3" name="Line 11"/>
            <p:cNvSpPr>
              <a:spLocks noChangeShapeType="1"/>
            </p:cNvSpPr>
            <p:nvPr/>
          </p:nvSpPr>
          <p:spPr bwMode="auto">
            <a:xfrm>
              <a:off x="2688"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7652" name="Group 12"/>
          <p:cNvGrpSpPr/>
          <p:nvPr/>
        </p:nvGrpSpPr>
        <p:grpSpPr bwMode="auto">
          <a:xfrm>
            <a:off x="6111976" y="4876495"/>
            <a:ext cx="1140979" cy="321019"/>
            <a:chOff x="2928" y="1008"/>
            <a:chExt cx="528" cy="144"/>
          </a:xfrm>
        </p:grpSpPr>
        <p:sp>
          <p:nvSpPr>
            <p:cNvPr id="27686" name="Line 13"/>
            <p:cNvSpPr>
              <a:spLocks noChangeShapeType="1"/>
            </p:cNvSpPr>
            <p:nvPr/>
          </p:nvSpPr>
          <p:spPr bwMode="auto">
            <a:xfrm>
              <a:off x="2928"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7" name="Line 14"/>
            <p:cNvSpPr>
              <a:spLocks noChangeShapeType="1"/>
            </p:cNvSpPr>
            <p:nvPr/>
          </p:nvSpPr>
          <p:spPr bwMode="auto">
            <a:xfrm>
              <a:off x="2928"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8" name="Line 15"/>
            <p:cNvSpPr>
              <a:spLocks noChangeShapeType="1"/>
            </p:cNvSpPr>
            <p:nvPr/>
          </p:nvSpPr>
          <p:spPr bwMode="auto">
            <a:xfrm flipV="1">
              <a:off x="3216"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9" name="Line 16"/>
            <p:cNvSpPr>
              <a:spLocks noChangeShapeType="1"/>
            </p:cNvSpPr>
            <p:nvPr/>
          </p:nvSpPr>
          <p:spPr bwMode="auto">
            <a:xfrm>
              <a:off x="3216"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7653" name="Group 17"/>
          <p:cNvGrpSpPr/>
          <p:nvPr/>
        </p:nvGrpSpPr>
        <p:grpSpPr bwMode="auto">
          <a:xfrm>
            <a:off x="7252955" y="4876495"/>
            <a:ext cx="1140979" cy="321019"/>
            <a:chOff x="3456" y="1008"/>
            <a:chExt cx="528" cy="144"/>
          </a:xfrm>
        </p:grpSpPr>
        <p:sp>
          <p:nvSpPr>
            <p:cNvPr id="27682" name="Line 18"/>
            <p:cNvSpPr>
              <a:spLocks noChangeShapeType="1"/>
            </p:cNvSpPr>
            <p:nvPr/>
          </p:nvSpPr>
          <p:spPr bwMode="auto">
            <a:xfrm>
              <a:off x="3456"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3" name="Line 19"/>
            <p:cNvSpPr>
              <a:spLocks noChangeShapeType="1"/>
            </p:cNvSpPr>
            <p:nvPr/>
          </p:nvSpPr>
          <p:spPr bwMode="auto">
            <a:xfrm>
              <a:off x="3456"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4" name="Line 20"/>
            <p:cNvSpPr>
              <a:spLocks noChangeShapeType="1"/>
            </p:cNvSpPr>
            <p:nvPr/>
          </p:nvSpPr>
          <p:spPr bwMode="auto">
            <a:xfrm flipV="1">
              <a:off x="3744"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5" name="Line 21"/>
            <p:cNvSpPr>
              <a:spLocks noChangeShapeType="1"/>
            </p:cNvSpPr>
            <p:nvPr/>
          </p:nvSpPr>
          <p:spPr bwMode="auto">
            <a:xfrm>
              <a:off x="3744"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7654" name="Line 22"/>
          <p:cNvSpPr>
            <a:spLocks noChangeShapeType="1"/>
          </p:cNvSpPr>
          <p:nvPr/>
        </p:nvSpPr>
        <p:spPr bwMode="auto">
          <a:xfrm>
            <a:off x="8393932" y="5197514"/>
            <a:ext cx="622352"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5" name="Line 23"/>
          <p:cNvSpPr>
            <a:spLocks noChangeShapeType="1"/>
          </p:cNvSpPr>
          <p:nvPr/>
        </p:nvSpPr>
        <p:spPr bwMode="auto">
          <a:xfrm>
            <a:off x="8393932" y="4876495"/>
            <a:ext cx="0" cy="321019"/>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6" name="Line 24"/>
          <p:cNvSpPr>
            <a:spLocks noChangeShapeType="1"/>
          </p:cNvSpPr>
          <p:nvPr/>
        </p:nvSpPr>
        <p:spPr bwMode="auto">
          <a:xfrm>
            <a:off x="3311395" y="4876495"/>
            <a:ext cx="518627"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7" name="Line 25"/>
          <p:cNvSpPr>
            <a:spLocks noChangeShapeType="1"/>
          </p:cNvSpPr>
          <p:nvPr/>
        </p:nvSpPr>
        <p:spPr bwMode="auto">
          <a:xfrm flipV="1">
            <a:off x="3830021" y="4341465"/>
            <a:ext cx="0" cy="428024"/>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8" name="Line 26"/>
          <p:cNvSpPr>
            <a:spLocks noChangeShapeType="1"/>
          </p:cNvSpPr>
          <p:nvPr/>
        </p:nvSpPr>
        <p:spPr bwMode="auto">
          <a:xfrm flipV="1">
            <a:off x="4970999" y="4341465"/>
            <a:ext cx="0" cy="428024"/>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9" name="Rectangle 27"/>
          <p:cNvSpPr>
            <a:spLocks noChangeArrowheads="1"/>
          </p:cNvSpPr>
          <p:nvPr/>
        </p:nvSpPr>
        <p:spPr bwMode="auto">
          <a:xfrm>
            <a:off x="3911806" y="4357069"/>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1</a:t>
            </a:r>
          </a:p>
        </p:txBody>
      </p:sp>
      <p:sp>
        <p:nvSpPr>
          <p:cNvPr id="27660" name="Rectangle 28"/>
          <p:cNvSpPr>
            <a:spLocks noChangeArrowheads="1"/>
          </p:cNvSpPr>
          <p:nvPr/>
        </p:nvSpPr>
        <p:spPr bwMode="auto">
          <a:xfrm>
            <a:off x="4949059" y="4357069"/>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2</a:t>
            </a:r>
          </a:p>
        </p:txBody>
      </p:sp>
      <p:sp>
        <p:nvSpPr>
          <p:cNvPr id="27661" name="Line 29"/>
          <p:cNvSpPr>
            <a:spLocks noChangeShapeType="1"/>
          </p:cNvSpPr>
          <p:nvPr/>
        </p:nvSpPr>
        <p:spPr bwMode="auto">
          <a:xfrm flipV="1">
            <a:off x="6111977" y="4341465"/>
            <a:ext cx="0" cy="428024"/>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2" name="Line 30"/>
          <p:cNvSpPr>
            <a:spLocks noChangeShapeType="1"/>
          </p:cNvSpPr>
          <p:nvPr/>
        </p:nvSpPr>
        <p:spPr bwMode="auto">
          <a:xfrm flipV="1">
            <a:off x="7252955" y="4341465"/>
            <a:ext cx="0" cy="428024"/>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3" name="Line 31"/>
          <p:cNvSpPr>
            <a:spLocks noChangeShapeType="1"/>
          </p:cNvSpPr>
          <p:nvPr/>
        </p:nvSpPr>
        <p:spPr bwMode="auto">
          <a:xfrm flipV="1">
            <a:off x="8393932" y="4341465"/>
            <a:ext cx="0" cy="428024"/>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4" name="Rectangle 32"/>
          <p:cNvSpPr>
            <a:spLocks noChangeArrowheads="1"/>
          </p:cNvSpPr>
          <p:nvPr/>
        </p:nvSpPr>
        <p:spPr bwMode="auto">
          <a:xfrm>
            <a:off x="6193762" y="4357069"/>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3</a:t>
            </a:r>
          </a:p>
        </p:txBody>
      </p:sp>
      <p:sp>
        <p:nvSpPr>
          <p:cNvPr id="27665" name="Rectangle 33"/>
          <p:cNvSpPr>
            <a:spLocks noChangeArrowheads="1"/>
          </p:cNvSpPr>
          <p:nvPr/>
        </p:nvSpPr>
        <p:spPr bwMode="auto">
          <a:xfrm>
            <a:off x="7231014" y="4357069"/>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4</a:t>
            </a:r>
          </a:p>
        </p:txBody>
      </p:sp>
      <p:grpSp>
        <p:nvGrpSpPr>
          <p:cNvPr id="3" name="组合 2"/>
          <p:cNvGrpSpPr/>
          <p:nvPr/>
        </p:nvGrpSpPr>
        <p:grpSpPr>
          <a:xfrm>
            <a:off x="3847975" y="5536365"/>
            <a:ext cx="4519635" cy="392366"/>
            <a:chOff x="2893277" y="3845856"/>
            <a:chExt cx="3389726" cy="294275"/>
          </a:xfrm>
        </p:grpSpPr>
        <p:grpSp>
          <p:nvGrpSpPr>
            <p:cNvPr id="27666" name="Group 34"/>
            <p:cNvGrpSpPr/>
            <p:nvPr/>
          </p:nvGrpSpPr>
          <p:grpSpPr bwMode="auto">
            <a:xfrm>
              <a:off x="2893277" y="3845856"/>
              <a:ext cx="828804" cy="294267"/>
              <a:chOff x="1880" y="1304"/>
              <a:chExt cx="512" cy="176"/>
            </a:xfrm>
          </p:grpSpPr>
          <p:sp>
            <p:nvSpPr>
              <p:cNvPr id="27680" name="Rectangle 35"/>
              <p:cNvSpPr>
                <a:spLocks noChangeArrowheads="1"/>
              </p:cNvSpPr>
              <p:nvPr/>
            </p:nvSpPr>
            <p:spPr bwMode="auto">
              <a:xfrm>
                <a:off x="1880"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7681" name="Rectangle 36"/>
              <p:cNvSpPr>
                <a:spLocks noChangeArrowheads="1"/>
              </p:cNvSpPr>
              <p:nvPr/>
            </p:nvSpPr>
            <p:spPr bwMode="auto">
              <a:xfrm>
                <a:off x="2029" y="1320"/>
                <a:ext cx="181"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IF</a:t>
                </a:r>
              </a:p>
            </p:txBody>
          </p:sp>
        </p:grpSp>
        <p:grpSp>
          <p:nvGrpSpPr>
            <p:cNvPr id="27667" name="Group 37"/>
            <p:cNvGrpSpPr/>
            <p:nvPr/>
          </p:nvGrpSpPr>
          <p:grpSpPr bwMode="auto">
            <a:xfrm>
              <a:off x="3719089" y="3845857"/>
              <a:ext cx="884025" cy="294265"/>
              <a:chOff x="2408" y="1304"/>
              <a:chExt cx="512" cy="176"/>
            </a:xfrm>
          </p:grpSpPr>
          <p:sp>
            <p:nvSpPr>
              <p:cNvPr id="27678" name="Rectangle 38"/>
              <p:cNvSpPr>
                <a:spLocks noChangeArrowheads="1"/>
              </p:cNvSpPr>
              <p:nvPr/>
            </p:nvSpPr>
            <p:spPr bwMode="auto">
              <a:xfrm>
                <a:off x="2408"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7679" name="Rectangle 39"/>
              <p:cNvSpPr>
                <a:spLocks noChangeArrowheads="1"/>
              </p:cNvSpPr>
              <p:nvPr/>
            </p:nvSpPr>
            <p:spPr bwMode="auto">
              <a:xfrm>
                <a:off x="2568" y="1320"/>
                <a:ext cx="180"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ID</a:t>
                </a:r>
              </a:p>
            </p:txBody>
          </p:sp>
        </p:grpSp>
        <p:grpSp>
          <p:nvGrpSpPr>
            <p:cNvPr id="27668" name="Group 40"/>
            <p:cNvGrpSpPr/>
            <p:nvPr/>
          </p:nvGrpSpPr>
          <p:grpSpPr bwMode="auto">
            <a:xfrm>
              <a:off x="4604743" y="3845863"/>
              <a:ext cx="849453" cy="294268"/>
              <a:chOff x="2936" y="1304"/>
              <a:chExt cx="512" cy="176"/>
            </a:xfrm>
          </p:grpSpPr>
          <p:sp>
            <p:nvSpPr>
              <p:cNvPr id="27676" name="Rectangle 41"/>
              <p:cNvSpPr>
                <a:spLocks noChangeArrowheads="1"/>
              </p:cNvSpPr>
              <p:nvPr/>
            </p:nvSpPr>
            <p:spPr bwMode="auto">
              <a:xfrm>
                <a:off x="2936"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7677" name="Rectangle 42"/>
              <p:cNvSpPr>
                <a:spLocks noChangeArrowheads="1"/>
              </p:cNvSpPr>
              <p:nvPr/>
            </p:nvSpPr>
            <p:spPr bwMode="auto">
              <a:xfrm>
                <a:off x="3006" y="1315"/>
                <a:ext cx="275"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Exec</a:t>
                </a:r>
              </a:p>
            </p:txBody>
          </p:sp>
        </p:grpSp>
        <p:grpSp>
          <p:nvGrpSpPr>
            <p:cNvPr id="27669" name="Group 43"/>
            <p:cNvGrpSpPr/>
            <p:nvPr/>
          </p:nvGrpSpPr>
          <p:grpSpPr bwMode="auto">
            <a:xfrm>
              <a:off x="5454199" y="3845856"/>
              <a:ext cx="828804" cy="294267"/>
              <a:chOff x="3446" y="1304"/>
              <a:chExt cx="512" cy="176"/>
            </a:xfrm>
          </p:grpSpPr>
          <p:sp>
            <p:nvSpPr>
              <p:cNvPr id="27674" name="Rectangle 44"/>
              <p:cNvSpPr>
                <a:spLocks noChangeArrowheads="1"/>
              </p:cNvSpPr>
              <p:nvPr/>
            </p:nvSpPr>
            <p:spPr bwMode="auto">
              <a:xfrm>
                <a:off x="3446"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7675" name="Rectangle 45"/>
              <p:cNvSpPr>
                <a:spLocks noChangeArrowheads="1"/>
              </p:cNvSpPr>
              <p:nvPr/>
            </p:nvSpPr>
            <p:spPr bwMode="auto">
              <a:xfrm>
                <a:off x="3557" y="1323"/>
                <a:ext cx="244"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WB</a:t>
                </a:r>
              </a:p>
            </p:txBody>
          </p:sp>
        </p:grpSp>
      </p:grpSp>
      <p:sp>
        <p:nvSpPr>
          <p:cNvPr id="27670" name="Rectangle 46"/>
          <p:cNvSpPr>
            <a:spLocks noChangeArrowheads="1"/>
          </p:cNvSpPr>
          <p:nvPr/>
        </p:nvSpPr>
        <p:spPr bwMode="auto">
          <a:xfrm>
            <a:off x="2874553" y="5534137"/>
            <a:ext cx="779059"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R-type</a:t>
            </a:r>
          </a:p>
        </p:txBody>
      </p:sp>
      <p:sp>
        <p:nvSpPr>
          <p:cNvPr id="27671" name="Rectangle 47"/>
          <p:cNvSpPr>
            <a:spLocks noGrp="1" noChangeArrowheads="1"/>
          </p:cNvSpPr>
          <p:nvPr>
            <p:ph type="title"/>
          </p:nvPr>
        </p:nvSpPr>
        <p:spPr>
          <a:xfrm>
            <a:off x="1049867" y="108438"/>
            <a:ext cx="10517721" cy="728179"/>
          </a:xfrm>
        </p:spPr>
        <p:txBody>
          <a:bodyPr/>
          <a:lstStyle/>
          <a:p>
            <a:pPr marL="0" marR="0" lvl="0" indent="0" defTabSz="914400" rtl="0" eaLnBrk="1" fontAlgn="auto" latinLnBrk="0" hangingPunct="1">
              <a:lnSpc>
                <a:spcPct val="100000"/>
              </a:lnSpc>
              <a:spcBef>
                <a:spcPts val="0"/>
              </a:spcBef>
              <a:spcAft>
                <a:spcPts val="0"/>
              </a:spcAft>
              <a:tabLst/>
              <a:defRPr/>
            </a:pPr>
            <a:br>
              <a:rPr kumimoji="0" lang="en-US" altLang="zh-CN" sz="4000" b="0" i="0" u="none" strike="noStrike" kern="0" cap="none" spc="0" normalizeH="0" baseline="0" noProof="0" dirty="0">
                <a:ln>
                  <a:noFill/>
                </a:ln>
                <a:solidFill>
                  <a:prstClr val="black"/>
                </a:solidFill>
                <a:effectLst/>
                <a:uLnTx/>
                <a:uFillTx/>
                <a:latin typeface="Arial"/>
                <a:ea typeface="新細明體"/>
                <a:cs typeface="+mn-cs"/>
              </a:rPr>
            </a:br>
            <a:r>
              <a:rPr kumimoji="0" lang="en-US" altLang="zh-CN" sz="4000" b="0" i="0" u="none" strike="noStrike" kern="0" cap="none" spc="0" normalizeH="0" baseline="0" noProof="0" dirty="0">
                <a:ln>
                  <a:noFill/>
                </a:ln>
                <a:solidFill>
                  <a:prstClr val="black"/>
                </a:solidFill>
                <a:effectLst/>
                <a:uLnTx/>
                <a:uFillTx/>
                <a:latin typeface="Arial"/>
                <a:ea typeface="新細明體"/>
                <a:cs typeface="+mn-cs"/>
              </a:rPr>
              <a:t>Related Example: R-type instruction</a:t>
            </a:r>
            <a:br>
              <a:rPr kumimoji="0" lang="en-US" altLang="zh-CN" sz="4000" b="0" i="0" u="none" strike="noStrike" kern="0" cap="none" spc="0" normalizeH="0" baseline="0" noProof="0" dirty="0">
                <a:ln>
                  <a:noFill/>
                </a:ln>
                <a:solidFill>
                  <a:prstClr val="black"/>
                </a:solidFill>
                <a:effectLst/>
                <a:uLnTx/>
                <a:uFillTx/>
                <a:latin typeface="Arial"/>
                <a:ea typeface="新細明體"/>
                <a:cs typeface="+mn-cs"/>
              </a:rPr>
            </a:br>
            <a:endParaRPr lang="en-US" altLang="zh-TW" dirty="0"/>
          </a:p>
        </p:txBody>
      </p:sp>
      <p:sp>
        <p:nvSpPr>
          <p:cNvPr id="27672" name="Rectangle 48"/>
          <p:cNvSpPr>
            <a:spLocks noGrp="1" noChangeArrowheads="1"/>
          </p:cNvSpPr>
          <p:nvPr>
            <p:ph idx="1"/>
          </p:nvPr>
        </p:nvSpPr>
        <p:spPr>
          <a:xfrm>
            <a:off x="1327355" y="1125537"/>
            <a:ext cx="9320981" cy="2910513"/>
          </a:xfrm>
        </p:spPr>
        <p:txBody>
          <a:bodyPr/>
          <a:lstStyle/>
          <a:p>
            <a:r>
              <a:rPr lang="en-US" altLang="zh-TW" sz="2800" dirty="0"/>
              <a:t>IF: fetch the instruction from the Instruction Memory</a:t>
            </a:r>
          </a:p>
          <a:p>
            <a:r>
              <a:rPr lang="en-US" altLang="zh-TW" sz="2800" dirty="0"/>
              <a:t>ID: registers fetch and instruction decode</a:t>
            </a:r>
          </a:p>
          <a:p>
            <a:r>
              <a:rPr lang="en-US" altLang="zh-TW" sz="2800" dirty="0"/>
              <a:t>EX: ALU operates on the two register operands</a:t>
            </a:r>
          </a:p>
          <a:p>
            <a:r>
              <a:rPr lang="en-US" altLang="zh-TW" sz="2800" dirty="0"/>
              <a:t>WB: write ALU output back to the register file</a:t>
            </a:r>
          </a:p>
          <a:p>
            <a:pPr marL="0" indent="0">
              <a:buNone/>
            </a:pPr>
            <a:r>
              <a:rPr lang="en-US" altLang="zh-TW" sz="2800" i="1" dirty="0"/>
              <a:t>R-type instructions do not access data memory, so can they write back to register early?</a:t>
            </a:r>
          </a:p>
        </p:txBody>
      </p:sp>
      <p:sp>
        <p:nvSpPr>
          <p:cNvPr id="27673"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D1F75F30-F377-4C86-8023-7250170C52EB}" type="slidenum">
              <a:rPr lang="zh-TW" altLang="en-US" sz="1400" b="0">
                <a:solidFill>
                  <a:schemeClr val="bg1"/>
                </a:solidFill>
                <a:latin typeface="Arial" panose="020B0604020202090204" pitchFamily="34" charset="0"/>
                <a:ea typeface="新細明體" panose="02020500000000000000" pitchFamily="18" charset="-120"/>
              </a:rPr>
              <a:t>7</a:t>
            </a:fld>
            <a:endParaRPr lang="en-US" altLang="zh-TW" sz="1400" b="0">
              <a:solidFill>
                <a:schemeClr val="bg1"/>
              </a:solidFill>
              <a:latin typeface="Arial" panose="020B0604020202090204" pitchFamily="34" charset="0"/>
              <a:ea typeface="新細明體" panose="02020500000000000000" pitchFamily="18"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5" name="Rectangle 3"/>
          <p:cNvSpPr>
            <a:spLocks noChangeArrowheads="1"/>
          </p:cNvSpPr>
          <p:nvPr/>
        </p:nvSpPr>
        <p:spPr bwMode="auto">
          <a:xfrm>
            <a:off x="1088052" y="2301580"/>
            <a:ext cx="698909"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Clock</a:t>
            </a:r>
          </a:p>
        </p:txBody>
      </p:sp>
      <p:grpSp>
        <p:nvGrpSpPr>
          <p:cNvPr id="28676" name="Group 4"/>
          <p:cNvGrpSpPr/>
          <p:nvPr/>
        </p:nvGrpSpPr>
        <p:grpSpPr bwMode="auto">
          <a:xfrm>
            <a:off x="1555726" y="2288739"/>
            <a:ext cx="9332769" cy="264164"/>
            <a:chOff x="384" y="1056"/>
            <a:chExt cx="4992" cy="144"/>
          </a:xfrm>
        </p:grpSpPr>
        <p:grpSp>
          <p:nvGrpSpPr>
            <p:cNvPr id="28776" name="Group 5"/>
            <p:cNvGrpSpPr/>
            <p:nvPr/>
          </p:nvGrpSpPr>
          <p:grpSpPr bwMode="auto">
            <a:xfrm>
              <a:off x="624" y="1056"/>
              <a:ext cx="528" cy="144"/>
              <a:chOff x="624" y="1056"/>
              <a:chExt cx="528" cy="144"/>
            </a:xfrm>
          </p:grpSpPr>
          <p:sp>
            <p:nvSpPr>
              <p:cNvPr id="28819" name="Line 6"/>
              <p:cNvSpPr>
                <a:spLocks noChangeShapeType="1"/>
              </p:cNvSpPr>
              <p:nvPr/>
            </p:nvSpPr>
            <p:spPr bwMode="auto">
              <a:xfrm>
                <a:off x="624"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20" name="Line 7"/>
              <p:cNvSpPr>
                <a:spLocks noChangeShapeType="1"/>
              </p:cNvSpPr>
              <p:nvPr/>
            </p:nvSpPr>
            <p:spPr bwMode="auto">
              <a:xfrm>
                <a:off x="624"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21" name="Line 8"/>
              <p:cNvSpPr>
                <a:spLocks noChangeShapeType="1"/>
              </p:cNvSpPr>
              <p:nvPr/>
            </p:nvSpPr>
            <p:spPr bwMode="auto">
              <a:xfrm flipV="1">
                <a:off x="912"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22" name="Line 9"/>
              <p:cNvSpPr>
                <a:spLocks noChangeShapeType="1"/>
              </p:cNvSpPr>
              <p:nvPr/>
            </p:nvSpPr>
            <p:spPr bwMode="auto">
              <a:xfrm>
                <a:off x="912"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8777" name="Group 10"/>
            <p:cNvGrpSpPr/>
            <p:nvPr/>
          </p:nvGrpSpPr>
          <p:grpSpPr bwMode="auto">
            <a:xfrm>
              <a:off x="1152" y="1056"/>
              <a:ext cx="528" cy="144"/>
              <a:chOff x="1152" y="1056"/>
              <a:chExt cx="528" cy="144"/>
            </a:xfrm>
          </p:grpSpPr>
          <p:sp>
            <p:nvSpPr>
              <p:cNvPr id="28815" name="Line 11"/>
              <p:cNvSpPr>
                <a:spLocks noChangeShapeType="1"/>
              </p:cNvSpPr>
              <p:nvPr/>
            </p:nvSpPr>
            <p:spPr bwMode="auto">
              <a:xfrm>
                <a:off x="1152"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16" name="Line 12"/>
              <p:cNvSpPr>
                <a:spLocks noChangeShapeType="1"/>
              </p:cNvSpPr>
              <p:nvPr/>
            </p:nvSpPr>
            <p:spPr bwMode="auto">
              <a:xfrm>
                <a:off x="1152"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17" name="Line 13"/>
              <p:cNvSpPr>
                <a:spLocks noChangeShapeType="1"/>
              </p:cNvSpPr>
              <p:nvPr/>
            </p:nvSpPr>
            <p:spPr bwMode="auto">
              <a:xfrm flipV="1">
                <a:off x="1440"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18" name="Line 14"/>
              <p:cNvSpPr>
                <a:spLocks noChangeShapeType="1"/>
              </p:cNvSpPr>
              <p:nvPr/>
            </p:nvSpPr>
            <p:spPr bwMode="auto">
              <a:xfrm>
                <a:off x="1440"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8778" name="Group 15"/>
            <p:cNvGrpSpPr/>
            <p:nvPr/>
          </p:nvGrpSpPr>
          <p:grpSpPr bwMode="auto">
            <a:xfrm>
              <a:off x="1680" y="1056"/>
              <a:ext cx="528" cy="144"/>
              <a:chOff x="1680" y="1056"/>
              <a:chExt cx="528" cy="144"/>
            </a:xfrm>
          </p:grpSpPr>
          <p:sp>
            <p:nvSpPr>
              <p:cNvPr id="28811" name="Line 16"/>
              <p:cNvSpPr>
                <a:spLocks noChangeShapeType="1"/>
              </p:cNvSpPr>
              <p:nvPr/>
            </p:nvSpPr>
            <p:spPr bwMode="auto">
              <a:xfrm>
                <a:off x="1680"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12" name="Line 17"/>
              <p:cNvSpPr>
                <a:spLocks noChangeShapeType="1"/>
              </p:cNvSpPr>
              <p:nvPr/>
            </p:nvSpPr>
            <p:spPr bwMode="auto">
              <a:xfrm>
                <a:off x="1680"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13" name="Line 18"/>
              <p:cNvSpPr>
                <a:spLocks noChangeShapeType="1"/>
              </p:cNvSpPr>
              <p:nvPr/>
            </p:nvSpPr>
            <p:spPr bwMode="auto">
              <a:xfrm flipV="1">
                <a:off x="1968"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14" name="Line 19"/>
              <p:cNvSpPr>
                <a:spLocks noChangeShapeType="1"/>
              </p:cNvSpPr>
              <p:nvPr/>
            </p:nvSpPr>
            <p:spPr bwMode="auto">
              <a:xfrm>
                <a:off x="1968"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8779" name="Group 20"/>
            <p:cNvGrpSpPr/>
            <p:nvPr/>
          </p:nvGrpSpPr>
          <p:grpSpPr bwMode="auto">
            <a:xfrm>
              <a:off x="2208" y="1056"/>
              <a:ext cx="528" cy="144"/>
              <a:chOff x="2208" y="1056"/>
              <a:chExt cx="528" cy="144"/>
            </a:xfrm>
          </p:grpSpPr>
          <p:sp>
            <p:nvSpPr>
              <p:cNvPr id="28807" name="Line 21"/>
              <p:cNvSpPr>
                <a:spLocks noChangeShapeType="1"/>
              </p:cNvSpPr>
              <p:nvPr/>
            </p:nvSpPr>
            <p:spPr bwMode="auto">
              <a:xfrm>
                <a:off x="2208"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08" name="Line 22"/>
              <p:cNvSpPr>
                <a:spLocks noChangeShapeType="1"/>
              </p:cNvSpPr>
              <p:nvPr/>
            </p:nvSpPr>
            <p:spPr bwMode="auto">
              <a:xfrm>
                <a:off x="2208"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09" name="Line 23"/>
              <p:cNvSpPr>
                <a:spLocks noChangeShapeType="1"/>
              </p:cNvSpPr>
              <p:nvPr/>
            </p:nvSpPr>
            <p:spPr bwMode="auto">
              <a:xfrm flipV="1">
                <a:off x="2496"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10" name="Line 24"/>
              <p:cNvSpPr>
                <a:spLocks noChangeShapeType="1"/>
              </p:cNvSpPr>
              <p:nvPr/>
            </p:nvSpPr>
            <p:spPr bwMode="auto">
              <a:xfrm>
                <a:off x="2496"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8780" name="Group 25"/>
            <p:cNvGrpSpPr/>
            <p:nvPr/>
          </p:nvGrpSpPr>
          <p:grpSpPr bwMode="auto">
            <a:xfrm>
              <a:off x="2736" y="1056"/>
              <a:ext cx="528" cy="144"/>
              <a:chOff x="2736" y="1056"/>
              <a:chExt cx="528" cy="144"/>
            </a:xfrm>
          </p:grpSpPr>
          <p:sp>
            <p:nvSpPr>
              <p:cNvPr id="28803" name="Line 26"/>
              <p:cNvSpPr>
                <a:spLocks noChangeShapeType="1"/>
              </p:cNvSpPr>
              <p:nvPr/>
            </p:nvSpPr>
            <p:spPr bwMode="auto">
              <a:xfrm>
                <a:off x="2736"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04" name="Line 27"/>
              <p:cNvSpPr>
                <a:spLocks noChangeShapeType="1"/>
              </p:cNvSpPr>
              <p:nvPr/>
            </p:nvSpPr>
            <p:spPr bwMode="auto">
              <a:xfrm>
                <a:off x="2736"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05" name="Line 28"/>
              <p:cNvSpPr>
                <a:spLocks noChangeShapeType="1"/>
              </p:cNvSpPr>
              <p:nvPr/>
            </p:nvSpPr>
            <p:spPr bwMode="auto">
              <a:xfrm flipV="1">
                <a:off x="3024"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06" name="Line 29"/>
              <p:cNvSpPr>
                <a:spLocks noChangeShapeType="1"/>
              </p:cNvSpPr>
              <p:nvPr/>
            </p:nvSpPr>
            <p:spPr bwMode="auto">
              <a:xfrm>
                <a:off x="3024"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8781" name="Group 30"/>
            <p:cNvGrpSpPr/>
            <p:nvPr/>
          </p:nvGrpSpPr>
          <p:grpSpPr bwMode="auto">
            <a:xfrm>
              <a:off x="3264" y="1056"/>
              <a:ext cx="528" cy="144"/>
              <a:chOff x="3264" y="1056"/>
              <a:chExt cx="528" cy="144"/>
            </a:xfrm>
          </p:grpSpPr>
          <p:sp>
            <p:nvSpPr>
              <p:cNvPr id="28799" name="Line 31"/>
              <p:cNvSpPr>
                <a:spLocks noChangeShapeType="1"/>
              </p:cNvSpPr>
              <p:nvPr/>
            </p:nvSpPr>
            <p:spPr bwMode="auto">
              <a:xfrm>
                <a:off x="3264"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00" name="Line 32"/>
              <p:cNvSpPr>
                <a:spLocks noChangeShapeType="1"/>
              </p:cNvSpPr>
              <p:nvPr/>
            </p:nvSpPr>
            <p:spPr bwMode="auto">
              <a:xfrm>
                <a:off x="3264"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01" name="Line 33"/>
              <p:cNvSpPr>
                <a:spLocks noChangeShapeType="1"/>
              </p:cNvSpPr>
              <p:nvPr/>
            </p:nvSpPr>
            <p:spPr bwMode="auto">
              <a:xfrm flipV="1">
                <a:off x="3552"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02" name="Line 34"/>
              <p:cNvSpPr>
                <a:spLocks noChangeShapeType="1"/>
              </p:cNvSpPr>
              <p:nvPr/>
            </p:nvSpPr>
            <p:spPr bwMode="auto">
              <a:xfrm>
                <a:off x="3552"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8782" name="Group 35"/>
            <p:cNvGrpSpPr/>
            <p:nvPr/>
          </p:nvGrpSpPr>
          <p:grpSpPr bwMode="auto">
            <a:xfrm>
              <a:off x="3792" y="1056"/>
              <a:ext cx="528" cy="144"/>
              <a:chOff x="3792" y="1056"/>
              <a:chExt cx="528" cy="144"/>
            </a:xfrm>
          </p:grpSpPr>
          <p:sp>
            <p:nvSpPr>
              <p:cNvPr id="28795" name="Line 36"/>
              <p:cNvSpPr>
                <a:spLocks noChangeShapeType="1"/>
              </p:cNvSpPr>
              <p:nvPr/>
            </p:nvSpPr>
            <p:spPr bwMode="auto">
              <a:xfrm>
                <a:off x="3792"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96" name="Line 37"/>
              <p:cNvSpPr>
                <a:spLocks noChangeShapeType="1"/>
              </p:cNvSpPr>
              <p:nvPr/>
            </p:nvSpPr>
            <p:spPr bwMode="auto">
              <a:xfrm>
                <a:off x="3792"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97" name="Line 38"/>
              <p:cNvSpPr>
                <a:spLocks noChangeShapeType="1"/>
              </p:cNvSpPr>
              <p:nvPr/>
            </p:nvSpPr>
            <p:spPr bwMode="auto">
              <a:xfrm flipV="1">
                <a:off x="4080"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98" name="Line 39"/>
              <p:cNvSpPr>
                <a:spLocks noChangeShapeType="1"/>
              </p:cNvSpPr>
              <p:nvPr/>
            </p:nvSpPr>
            <p:spPr bwMode="auto">
              <a:xfrm>
                <a:off x="4080"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8783" name="Group 40"/>
            <p:cNvGrpSpPr/>
            <p:nvPr/>
          </p:nvGrpSpPr>
          <p:grpSpPr bwMode="auto">
            <a:xfrm>
              <a:off x="4320" y="1056"/>
              <a:ext cx="528" cy="144"/>
              <a:chOff x="4320" y="1056"/>
              <a:chExt cx="528" cy="144"/>
            </a:xfrm>
          </p:grpSpPr>
          <p:sp>
            <p:nvSpPr>
              <p:cNvPr id="28791" name="Line 41"/>
              <p:cNvSpPr>
                <a:spLocks noChangeShapeType="1"/>
              </p:cNvSpPr>
              <p:nvPr/>
            </p:nvSpPr>
            <p:spPr bwMode="auto">
              <a:xfrm>
                <a:off x="4320"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92" name="Line 42"/>
              <p:cNvSpPr>
                <a:spLocks noChangeShapeType="1"/>
              </p:cNvSpPr>
              <p:nvPr/>
            </p:nvSpPr>
            <p:spPr bwMode="auto">
              <a:xfrm>
                <a:off x="4320"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93" name="Line 43"/>
              <p:cNvSpPr>
                <a:spLocks noChangeShapeType="1"/>
              </p:cNvSpPr>
              <p:nvPr/>
            </p:nvSpPr>
            <p:spPr bwMode="auto">
              <a:xfrm flipV="1">
                <a:off x="4608"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94" name="Line 44"/>
              <p:cNvSpPr>
                <a:spLocks noChangeShapeType="1"/>
              </p:cNvSpPr>
              <p:nvPr/>
            </p:nvSpPr>
            <p:spPr bwMode="auto">
              <a:xfrm>
                <a:off x="4608"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8784" name="Line 45"/>
            <p:cNvSpPr>
              <a:spLocks noChangeShapeType="1"/>
            </p:cNvSpPr>
            <p:nvPr/>
          </p:nvSpPr>
          <p:spPr bwMode="auto">
            <a:xfrm>
              <a:off x="384"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8785" name="Group 46"/>
            <p:cNvGrpSpPr/>
            <p:nvPr/>
          </p:nvGrpSpPr>
          <p:grpSpPr bwMode="auto">
            <a:xfrm>
              <a:off x="4848" y="1056"/>
              <a:ext cx="528" cy="144"/>
              <a:chOff x="4848" y="1056"/>
              <a:chExt cx="528" cy="144"/>
            </a:xfrm>
          </p:grpSpPr>
          <p:sp>
            <p:nvSpPr>
              <p:cNvPr id="28787" name="Line 47"/>
              <p:cNvSpPr>
                <a:spLocks noChangeShapeType="1"/>
              </p:cNvSpPr>
              <p:nvPr/>
            </p:nvSpPr>
            <p:spPr bwMode="auto">
              <a:xfrm>
                <a:off x="4848"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88" name="Line 48"/>
              <p:cNvSpPr>
                <a:spLocks noChangeShapeType="1"/>
              </p:cNvSpPr>
              <p:nvPr/>
            </p:nvSpPr>
            <p:spPr bwMode="auto">
              <a:xfrm>
                <a:off x="4848"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89" name="Line 49"/>
              <p:cNvSpPr>
                <a:spLocks noChangeShapeType="1"/>
              </p:cNvSpPr>
              <p:nvPr/>
            </p:nvSpPr>
            <p:spPr bwMode="auto">
              <a:xfrm flipV="1">
                <a:off x="5136"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90" name="Line 50"/>
              <p:cNvSpPr>
                <a:spLocks noChangeShapeType="1"/>
              </p:cNvSpPr>
              <p:nvPr/>
            </p:nvSpPr>
            <p:spPr bwMode="auto">
              <a:xfrm>
                <a:off x="5136"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8786" name="Line 51"/>
            <p:cNvSpPr>
              <a:spLocks noChangeShapeType="1"/>
            </p:cNvSpPr>
            <p:nvPr/>
          </p:nvSpPr>
          <p:spPr bwMode="auto">
            <a:xfrm>
              <a:off x="5376"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8677" name="Line 52"/>
          <p:cNvSpPr>
            <a:spLocks noChangeShapeType="1"/>
          </p:cNvSpPr>
          <p:nvPr/>
        </p:nvSpPr>
        <p:spPr bwMode="auto">
          <a:xfrm flipV="1">
            <a:off x="2004417" y="1848465"/>
            <a:ext cx="0" cy="35221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78" name="Line 53"/>
          <p:cNvSpPr>
            <a:spLocks noChangeShapeType="1"/>
          </p:cNvSpPr>
          <p:nvPr/>
        </p:nvSpPr>
        <p:spPr bwMode="auto">
          <a:xfrm flipV="1">
            <a:off x="2991536" y="1848465"/>
            <a:ext cx="0" cy="35221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79" name="Rectangle 54"/>
          <p:cNvSpPr>
            <a:spLocks noChangeArrowheads="1"/>
          </p:cNvSpPr>
          <p:nvPr/>
        </p:nvSpPr>
        <p:spPr bwMode="auto">
          <a:xfrm>
            <a:off x="2075172" y="1861308"/>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1</a:t>
            </a:r>
          </a:p>
        </p:txBody>
      </p:sp>
      <p:sp>
        <p:nvSpPr>
          <p:cNvPr id="28680" name="Rectangle 55"/>
          <p:cNvSpPr>
            <a:spLocks noChangeArrowheads="1"/>
          </p:cNvSpPr>
          <p:nvPr/>
        </p:nvSpPr>
        <p:spPr bwMode="auto">
          <a:xfrm>
            <a:off x="2972555" y="1861308"/>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2</a:t>
            </a:r>
          </a:p>
        </p:txBody>
      </p:sp>
      <p:sp>
        <p:nvSpPr>
          <p:cNvPr id="28681" name="Line 56"/>
          <p:cNvSpPr>
            <a:spLocks noChangeShapeType="1"/>
          </p:cNvSpPr>
          <p:nvPr/>
        </p:nvSpPr>
        <p:spPr bwMode="auto">
          <a:xfrm flipV="1">
            <a:off x="3978657" y="1848465"/>
            <a:ext cx="0" cy="35221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2" name="Line 57"/>
          <p:cNvSpPr>
            <a:spLocks noChangeShapeType="1"/>
          </p:cNvSpPr>
          <p:nvPr/>
        </p:nvSpPr>
        <p:spPr bwMode="auto">
          <a:xfrm flipV="1">
            <a:off x="4965776" y="1848465"/>
            <a:ext cx="0" cy="35221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3" name="Line 58"/>
          <p:cNvSpPr>
            <a:spLocks noChangeShapeType="1"/>
          </p:cNvSpPr>
          <p:nvPr/>
        </p:nvSpPr>
        <p:spPr bwMode="auto">
          <a:xfrm flipV="1">
            <a:off x="5952896" y="1848465"/>
            <a:ext cx="0" cy="35221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4" name="Line 59"/>
          <p:cNvSpPr>
            <a:spLocks noChangeShapeType="1"/>
          </p:cNvSpPr>
          <p:nvPr/>
        </p:nvSpPr>
        <p:spPr bwMode="auto">
          <a:xfrm flipV="1">
            <a:off x="6940016" y="1848465"/>
            <a:ext cx="0" cy="35221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5" name="Line 60"/>
          <p:cNvSpPr>
            <a:spLocks noChangeShapeType="1"/>
          </p:cNvSpPr>
          <p:nvPr/>
        </p:nvSpPr>
        <p:spPr bwMode="auto">
          <a:xfrm flipV="1">
            <a:off x="7927136" y="1848465"/>
            <a:ext cx="0" cy="35221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6" name="Line 61"/>
          <p:cNvSpPr>
            <a:spLocks noChangeShapeType="1"/>
          </p:cNvSpPr>
          <p:nvPr/>
        </p:nvSpPr>
        <p:spPr bwMode="auto">
          <a:xfrm flipV="1">
            <a:off x="8914256" y="1848465"/>
            <a:ext cx="0" cy="35221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7" name="Line 62"/>
          <p:cNvSpPr>
            <a:spLocks noChangeShapeType="1"/>
          </p:cNvSpPr>
          <p:nvPr/>
        </p:nvSpPr>
        <p:spPr bwMode="auto">
          <a:xfrm flipV="1">
            <a:off x="9901376" y="1848465"/>
            <a:ext cx="0" cy="35221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8" name="Line 63"/>
          <p:cNvSpPr>
            <a:spLocks noChangeShapeType="1"/>
          </p:cNvSpPr>
          <p:nvPr/>
        </p:nvSpPr>
        <p:spPr bwMode="auto">
          <a:xfrm flipV="1">
            <a:off x="10888495" y="1848465"/>
            <a:ext cx="0" cy="35221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9" name="Rectangle 64"/>
          <p:cNvSpPr>
            <a:spLocks noChangeArrowheads="1"/>
          </p:cNvSpPr>
          <p:nvPr/>
        </p:nvSpPr>
        <p:spPr bwMode="auto">
          <a:xfrm>
            <a:off x="4049412" y="1861308"/>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3</a:t>
            </a:r>
          </a:p>
        </p:txBody>
      </p:sp>
      <p:sp>
        <p:nvSpPr>
          <p:cNvPr id="28690" name="Rectangle 65"/>
          <p:cNvSpPr>
            <a:spLocks noChangeArrowheads="1"/>
          </p:cNvSpPr>
          <p:nvPr/>
        </p:nvSpPr>
        <p:spPr bwMode="auto">
          <a:xfrm>
            <a:off x="4946795" y="1861308"/>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4</a:t>
            </a:r>
          </a:p>
        </p:txBody>
      </p:sp>
      <p:sp>
        <p:nvSpPr>
          <p:cNvPr id="28691" name="Rectangle 66"/>
          <p:cNvSpPr>
            <a:spLocks noChangeArrowheads="1"/>
          </p:cNvSpPr>
          <p:nvPr/>
        </p:nvSpPr>
        <p:spPr bwMode="auto">
          <a:xfrm>
            <a:off x="5933915" y="1861308"/>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5</a:t>
            </a:r>
          </a:p>
        </p:txBody>
      </p:sp>
      <p:sp>
        <p:nvSpPr>
          <p:cNvPr id="28692" name="Rectangle 67"/>
          <p:cNvSpPr>
            <a:spLocks noChangeArrowheads="1"/>
          </p:cNvSpPr>
          <p:nvPr/>
        </p:nvSpPr>
        <p:spPr bwMode="auto">
          <a:xfrm>
            <a:off x="6921034" y="1861308"/>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6</a:t>
            </a:r>
          </a:p>
        </p:txBody>
      </p:sp>
      <p:sp>
        <p:nvSpPr>
          <p:cNvPr id="28693" name="Rectangle 68"/>
          <p:cNvSpPr>
            <a:spLocks noChangeArrowheads="1"/>
          </p:cNvSpPr>
          <p:nvPr/>
        </p:nvSpPr>
        <p:spPr bwMode="auto">
          <a:xfrm>
            <a:off x="7908155" y="1861308"/>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7</a:t>
            </a:r>
          </a:p>
        </p:txBody>
      </p:sp>
      <p:sp>
        <p:nvSpPr>
          <p:cNvPr id="28694" name="Rectangle 69"/>
          <p:cNvSpPr>
            <a:spLocks noChangeArrowheads="1"/>
          </p:cNvSpPr>
          <p:nvPr/>
        </p:nvSpPr>
        <p:spPr bwMode="auto">
          <a:xfrm>
            <a:off x="8895274" y="1861308"/>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8</a:t>
            </a:r>
          </a:p>
        </p:txBody>
      </p:sp>
      <p:sp>
        <p:nvSpPr>
          <p:cNvPr id="28695" name="Rectangle 70"/>
          <p:cNvSpPr>
            <a:spLocks noChangeArrowheads="1"/>
          </p:cNvSpPr>
          <p:nvPr/>
        </p:nvSpPr>
        <p:spPr bwMode="auto">
          <a:xfrm>
            <a:off x="9882395" y="1861308"/>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9</a:t>
            </a:r>
          </a:p>
        </p:txBody>
      </p:sp>
      <p:sp>
        <p:nvSpPr>
          <p:cNvPr id="28700" name="Rectangle 83"/>
          <p:cNvSpPr>
            <a:spLocks noChangeArrowheads="1"/>
          </p:cNvSpPr>
          <p:nvPr/>
        </p:nvSpPr>
        <p:spPr bwMode="auto">
          <a:xfrm>
            <a:off x="1177791" y="2829908"/>
            <a:ext cx="779059"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R-type</a:t>
            </a:r>
          </a:p>
        </p:txBody>
      </p:sp>
      <p:sp>
        <p:nvSpPr>
          <p:cNvPr id="28705" name="Rectangle 96"/>
          <p:cNvSpPr>
            <a:spLocks noChangeArrowheads="1"/>
          </p:cNvSpPr>
          <p:nvPr/>
        </p:nvSpPr>
        <p:spPr bwMode="auto">
          <a:xfrm>
            <a:off x="2075172" y="3358235"/>
            <a:ext cx="779059"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R-type</a:t>
            </a:r>
          </a:p>
        </p:txBody>
      </p:sp>
      <p:grpSp>
        <p:nvGrpSpPr>
          <p:cNvPr id="28706" name="Group 97"/>
          <p:cNvGrpSpPr/>
          <p:nvPr/>
        </p:nvGrpSpPr>
        <p:grpSpPr bwMode="auto">
          <a:xfrm>
            <a:off x="3994189" y="3886573"/>
            <a:ext cx="4904536" cy="339378"/>
            <a:chOff x="1688" y="1927"/>
            <a:chExt cx="2624" cy="185"/>
          </a:xfrm>
        </p:grpSpPr>
        <p:grpSp>
          <p:nvGrpSpPr>
            <p:cNvPr id="28745" name="Group 98"/>
            <p:cNvGrpSpPr/>
            <p:nvPr/>
          </p:nvGrpSpPr>
          <p:grpSpPr bwMode="auto">
            <a:xfrm>
              <a:off x="1688" y="1927"/>
              <a:ext cx="512" cy="185"/>
              <a:chOff x="1688" y="1927"/>
              <a:chExt cx="512" cy="185"/>
            </a:xfrm>
          </p:grpSpPr>
          <p:sp>
            <p:nvSpPr>
              <p:cNvPr id="28758" name="Rectangle 99"/>
              <p:cNvSpPr>
                <a:spLocks noChangeArrowheads="1"/>
              </p:cNvSpPr>
              <p:nvPr/>
            </p:nvSpPr>
            <p:spPr bwMode="auto">
              <a:xfrm>
                <a:off x="1688" y="1928"/>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8759" name="Rectangle 100"/>
              <p:cNvSpPr>
                <a:spLocks noChangeArrowheads="1"/>
              </p:cNvSpPr>
              <p:nvPr/>
            </p:nvSpPr>
            <p:spPr bwMode="auto">
              <a:xfrm>
                <a:off x="1821" y="1927"/>
                <a:ext cx="209"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IF</a:t>
                </a:r>
              </a:p>
            </p:txBody>
          </p:sp>
        </p:grpSp>
        <p:grpSp>
          <p:nvGrpSpPr>
            <p:cNvPr id="28746" name="Group 101"/>
            <p:cNvGrpSpPr/>
            <p:nvPr/>
          </p:nvGrpSpPr>
          <p:grpSpPr bwMode="auto">
            <a:xfrm>
              <a:off x="2206" y="1927"/>
              <a:ext cx="540" cy="185"/>
              <a:chOff x="2206" y="1927"/>
              <a:chExt cx="540" cy="185"/>
            </a:xfrm>
          </p:grpSpPr>
          <p:sp>
            <p:nvSpPr>
              <p:cNvPr id="28756" name="Rectangle 102"/>
              <p:cNvSpPr>
                <a:spLocks noChangeArrowheads="1"/>
              </p:cNvSpPr>
              <p:nvPr/>
            </p:nvSpPr>
            <p:spPr bwMode="auto">
              <a:xfrm>
                <a:off x="2206" y="1928"/>
                <a:ext cx="540"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8757" name="Rectangle 103"/>
              <p:cNvSpPr>
                <a:spLocks noChangeArrowheads="1"/>
              </p:cNvSpPr>
              <p:nvPr/>
            </p:nvSpPr>
            <p:spPr bwMode="auto">
              <a:xfrm>
                <a:off x="2340" y="1927"/>
                <a:ext cx="221"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ID</a:t>
                </a:r>
              </a:p>
            </p:txBody>
          </p:sp>
        </p:grpSp>
        <p:grpSp>
          <p:nvGrpSpPr>
            <p:cNvPr id="28747" name="Group 104"/>
            <p:cNvGrpSpPr/>
            <p:nvPr/>
          </p:nvGrpSpPr>
          <p:grpSpPr bwMode="auto">
            <a:xfrm>
              <a:off x="2744" y="1927"/>
              <a:ext cx="525" cy="185"/>
              <a:chOff x="2744" y="1927"/>
              <a:chExt cx="525" cy="185"/>
            </a:xfrm>
          </p:grpSpPr>
          <p:sp>
            <p:nvSpPr>
              <p:cNvPr id="28754" name="Rectangle 105"/>
              <p:cNvSpPr>
                <a:spLocks noChangeArrowheads="1"/>
              </p:cNvSpPr>
              <p:nvPr/>
            </p:nvSpPr>
            <p:spPr bwMode="auto">
              <a:xfrm>
                <a:off x="2744" y="1928"/>
                <a:ext cx="525" cy="17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8755" name="Rectangle 106"/>
              <p:cNvSpPr>
                <a:spLocks noChangeArrowheads="1"/>
              </p:cNvSpPr>
              <p:nvPr/>
            </p:nvSpPr>
            <p:spPr bwMode="auto">
              <a:xfrm>
                <a:off x="2822" y="1927"/>
                <a:ext cx="325"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Exec</a:t>
                </a:r>
              </a:p>
            </p:txBody>
          </p:sp>
        </p:grpSp>
        <p:grpSp>
          <p:nvGrpSpPr>
            <p:cNvPr id="28748" name="Group 107"/>
            <p:cNvGrpSpPr/>
            <p:nvPr/>
          </p:nvGrpSpPr>
          <p:grpSpPr bwMode="auto">
            <a:xfrm>
              <a:off x="3269" y="1927"/>
              <a:ext cx="540" cy="185"/>
              <a:chOff x="3269" y="1927"/>
              <a:chExt cx="540" cy="185"/>
            </a:xfrm>
          </p:grpSpPr>
          <p:sp>
            <p:nvSpPr>
              <p:cNvPr id="28752" name="Rectangle 108"/>
              <p:cNvSpPr>
                <a:spLocks noChangeArrowheads="1"/>
              </p:cNvSpPr>
              <p:nvPr/>
            </p:nvSpPr>
            <p:spPr bwMode="auto">
              <a:xfrm>
                <a:off x="3269" y="1928"/>
                <a:ext cx="540" cy="17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8753" name="Rectangle 109"/>
              <p:cNvSpPr>
                <a:spLocks noChangeArrowheads="1"/>
              </p:cNvSpPr>
              <p:nvPr/>
            </p:nvSpPr>
            <p:spPr bwMode="auto">
              <a:xfrm>
                <a:off x="3350" y="1927"/>
                <a:ext cx="344"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Mem</a:t>
                </a:r>
              </a:p>
            </p:txBody>
          </p:sp>
        </p:grpSp>
        <p:grpSp>
          <p:nvGrpSpPr>
            <p:cNvPr id="28749" name="Group 110"/>
            <p:cNvGrpSpPr/>
            <p:nvPr/>
          </p:nvGrpSpPr>
          <p:grpSpPr bwMode="auto">
            <a:xfrm>
              <a:off x="3800" y="1927"/>
              <a:ext cx="512" cy="185"/>
              <a:chOff x="3800" y="1927"/>
              <a:chExt cx="512" cy="185"/>
            </a:xfrm>
          </p:grpSpPr>
          <p:sp>
            <p:nvSpPr>
              <p:cNvPr id="28750" name="Rectangle 111"/>
              <p:cNvSpPr>
                <a:spLocks noChangeArrowheads="1"/>
              </p:cNvSpPr>
              <p:nvPr/>
            </p:nvSpPr>
            <p:spPr bwMode="auto">
              <a:xfrm>
                <a:off x="3800" y="1928"/>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8751" name="Rectangle 112"/>
              <p:cNvSpPr>
                <a:spLocks noChangeArrowheads="1"/>
              </p:cNvSpPr>
              <p:nvPr/>
            </p:nvSpPr>
            <p:spPr bwMode="auto">
              <a:xfrm>
                <a:off x="3878" y="1927"/>
                <a:ext cx="282"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WB</a:t>
                </a:r>
              </a:p>
            </p:txBody>
          </p:sp>
        </p:grpSp>
      </p:grpSp>
      <p:sp>
        <p:nvSpPr>
          <p:cNvPr id="28707" name="Rectangle 113"/>
          <p:cNvSpPr>
            <a:spLocks noChangeArrowheads="1"/>
          </p:cNvSpPr>
          <p:nvPr/>
        </p:nvSpPr>
        <p:spPr bwMode="auto">
          <a:xfrm>
            <a:off x="3241768" y="3886563"/>
            <a:ext cx="641201"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Load</a:t>
            </a:r>
          </a:p>
        </p:txBody>
      </p:sp>
      <p:grpSp>
        <p:nvGrpSpPr>
          <p:cNvPr id="28708" name="Group 114"/>
          <p:cNvGrpSpPr/>
          <p:nvPr/>
        </p:nvGrpSpPr>
        <p:grpSpPr bwMode="auto">
          <a:xfrm>
            <a:off x="4981309" y="4414887"/>
            <a:ext cx="990396" cy="339377"/>
            <a:chOff x="2216" y="2215"/>
            <a:chExt cx="512" cy="185"/>
          </a:xfrm>
        </p:grpSpPr>
        <p:sp>
          <p:nvSpPr>
            <p:cNvPr id="28743" name="Rectangle 115"/>
            <p:cNvSpPr>
              <a:spLocks noChangeArrowheads="1"/>
            </p:cNvSpPr>
            <p:nvPr/>
          </p:nvSpPr>
          <p:spPr bwMode="auto">
            <a:xfrm>
              <a:off x="2216" y="2216"/>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8744" name="Rectangle 116"/>
            <p:cNvSpPr>
              <a:spLocks noChangeArrowheads="1"/>
            </p:cNvSpPr>
            <p:nvPr/>
          </p:nvSpPr>
          <p:spPr bwMode="auto">
            <a:xfrm>
              <a:off x="2339" y="2215"/>
              <a:ext cx="202"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IF</a:t>
              </a:r>
            </a:p>
          </p:txBody>
        </p:sp>
      </p:grpSp>
      <p:grpSp>
        <p:nvGrpSpPr>
          <p:cNvPr id="28709" name="Group 117"/>
          <p:cNvGrpSpPr/>
          <p:nvPr/>
        </p:nvGrpSpPr>
        <p:grpSpPr bwMode="auto">
          <a:xfrm>
            <a:off x="5967589" y="4414889"/>
            <a:ext cx="990113" cy="339376"/>
            <a:chOff x="2744" y="2215"/>
            <a:chExt cx="512" cy="185"/>
          </a:xfrm>
        </p:grpSpPr>
        <p:sp>
          <p:nvSpPr>
            <p:cNvPr id="28741" name="Rectangle 118"/>
            <p:cNvSpPr>
              <a:spLocks noChangeArrowheads="1"/>
            </p:cNvSpPr>
            <p:nvPr/>
          </p:nvSpPr>
          <p:spPr bwMode="auto">
            <a:xfrm>
              <a:off x="2744" y="2216"/>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8742" name="Rectangle 119"/>
            <p:cNvSpPr>
              <a:spLocks noChangeArrowheads="1"/>
            </p:cNvSpPr>
            <p:nvPr/>
          </p:nvSpPr>
          <p:spPr bwMode="auto">
            <a:xfrm>
              <a:off x="2868" y="2215"/>
              <a:ext cx="214"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ID</a:t>
              </a:r>
            </a:p>
          </p:txBody>
        </p:sp>
      </p:grpSp>
      <p:grpSp>
        <p:nvGrpSpPr>
          <p:cNvPr id="28710" name="Group 120"/>
          <p:cNvGrpSpPr/>
          <p:nvPr/>
        </p:nvGrpSpPr>
        <p:grpSpPr bwMode="auto">
          <a:xfrm>
            <a:off x="6955549" y="4414893"/>
            <a:ext cx="1009316" cy="338846"/>
            <a:chOff x="3272" y="2215"/>
            <a:chExt cx="512" cy="185"/>
          </a:xfrm>
        </p:grpSpPr>
        <p:sp>
          <p:nvSpPr>
            <p:cNvPr id="28739" name="Rectangle 121"/>
            <p:cNvSpPr>
              <a:spLocks noChangeArrowheads="1"/>
            </p:cNvSpPr>
            <p:nvPr/>
          </p:nvSpPr>
          <p:spPr bwMode="auto">
            <a:xfrm>
              <a:off x="3272" y="2216"/>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8740" name="Rectangle 122"/>
            <p:cNvSpPr>
              <a:spLocks noChangeArrowheads="1"/>
            </p:cNvSpPr>
            <p:nvPr/>
          </p:nvSpPr>
          <p:spPr bwMode="auto">
            <a:xfrm>
              <a:off x="3350" y="2215"/>
              <a:ext cx="308"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Exec</a:t>
              </a:r>
            </a:p>
          </p:txBody>
        </p:sp>
      </p:grpSp>
      <p:grpSp>
        <p:nvGrpSpPr>
          <p:cNvPr id="28711" name="Group 123"/>
          <p:cNvGrpSpPr/>
          <p:nvPr/>
        </p:nvGrpSpPr>
        <p:grpSpPr bwMode="auto">
          <a:xfrm>
            <a:off x="7942668" y="4414887"/>
            <a:ext cx="956056" cy="339377"/>
            <a:chOff x="3800" y="2215"/>
            <a:chExt cx="512" cy="185"/>
          </a:xfrm>
        </p:grpSpPr>
        <p:sp>
          <p:nvSpPr>
            <p:cNvPr id="28737" name="Rectangle 124"/>
            <p:cNvSpPr>
              <a:spLocks noChangeArrowheads="1"/>
            </p:cNvSpPr>
            <p:nvPr/>
          </p:nvSpPr>
          <p:spPr bwMode="auto">
            <a:xfrm>
              <a:off x="3800" y="2216"/>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8738" name="Rectangle 125"/>
            <p:cNvSpPr>
              <a:spLocks noChangeArrowheads="1"/>
            </p:cNvSpPr>
            <p:nvPr/>
          </p:nvSpPr>
          <p:spPr bwMode="auto">
            <a:xfrm>
              <a:off x="3878" y="2215"/>
              <a:ext cx="282"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solidFill>
                    <a:schemeClr val="accent1"/>
                  </a:solidFill>
                  <a:latin typeface="Times New Roman" panose="02020503050405090304" pitchFamily="18" charset="0"/>
                  <a:ea typeface="新細明體" panose="02020500000000000000" pitchFamily="18" charset="-120"/>
                </a:rPr>
                <a:t>WB</a:t>
              </a:r>
            </a:p>
          </p:txBody>
        </p:sp>
      </p:grpSp>
      <p:sp>
        <p:nvSpPr>
          <p:cNvPr id="28712" name="Rectangle 126"/>
          <p:cNvSpPr>
            <a:spLocks noChangeArrowheads="1"/>
          </p:cNvSpPr>
          <p:nvPr/>
        </p:nvSpPr>
        <p:spPr bwMode="auto">
          <a:xfrm>
            <a:off x="4139149" y="4414889"/>
            <a:ext cx="779059"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R-type</a:t>
            </a:r>
          </a:p>
        </p:txBody>
      </p:sp>
      <p:sp>
        <p:nvSpPr>
          <p:cNvPr id="28717" name="Rectangle 139"/>
          <p:cNvSpPr>
            <a:spLocks noChangeArrowheads="1"/>
          </p:cNvSpPr>
          <p:nvPr/>
        </p:nvSpPr>
        <p:spPr bwMode="auto">
          <a:xfrm>
            <a:off x="5126271" y="4943217"/>
            <a:ext cx="779059"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R-type</a:t>
            </a:r>
          </a:p>
        </p:txBody>
      </p:sp>
      <p:sp>
        <p:nvSpPr>
          <p:cNvPr id="28718" name="Line 140"/>
          <p:cNvSpPr>
            <a:spLocks noChangeShapeType="1"/>
          </p:cNvSpPr>
          <p:nvPr/>
        </p:nvSpPr>
        <p:spPr bwMode="auto">
          <a:xfrm flipV="1">
            <a:off x="6940016" y="2640956"/>
            <a:ext cx="0" cy="616381"/>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19" name="Line 141"/>
          <p:cNvSpPr>
            <a:spLocks noChangeShapeType="1"/>
          </p:cNvSpPr>
          <p:nvPr/>
        </p:nvSpPr>
        <p:spPr bwMode="auto">
          <a:xfrm flipV="1">
            <a:off x="8914256" y="2640956"/>
            <a:ext cx="0" cy="114470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20" name="Line 142"/>
          <p:cNvSpPr>
            <a:spLocks noChangeShapeType="1"/>
          </p:cNvSpPr>
          <p:nvPr/>
        </p:nvSpPr>
        <p:spPr bwMode="auto">
          <a:xfrm flipV="1">
            <a:off x="10888495" y="2640957"/>
            <a:ext cx="0" cy="2201364"/>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21" name="Line 143"/>
          <p:cNvSpPr>
            <a:spLocks noChangeShapeType="1"/>
          </p:cNvSpPr>
          <p:nvPr/>
        </p:nvSpPr>
        <p:spPr bwMode="auto">
          <a:xfrm flipV="1">
            <a:off x="7927136" y="2640956"/>
            <a:ext cx="0" cy="114470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22" name="Line 144"/>
          <p:cNvSpPr>
            <a:spLocks noChangeShapeType="1"/>
          </p:cNvSpPr>
          <p:nvPr/>
        </p:nvSpPr>
        <p:spPr bwMode="auto">
          <a:xfrm flipV="1">
            <a:off x="9901376" y="2640957"/>
            <a:ext cx="0" cy="2201364"/>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79907" name="Group 145"/>
          <p:cNvGrpSpPr/>
          <p:nvPr/>
        </p:nvGrpSpPr>
        <p:grpSpPr bwMode="auto">
          <a:xfrm>
            <a:off x="7163429" y="2741853"/>
            <a:ext cx="3433020" cy="2093131"/>
            <a:chOff x="3383" y="1303"/>
            <a:chExt cx="1837" cy="1141"/>
          </a:xfrm>
        </p:grpSpPr>
        <p:sp>
          <p:nvSpPr>
            <p:cNvPr id="28726" name="Oval 146"/>
            <p:cNvSpPr>
              <a:spLocks noChangeArrowheads="1"/>
            </p:cNvSpPr>
            <p:nvPr/>
          </p:nvSpPr>
          <p:spPr bwMode="auto">
            <a:xfrm>
              <a:off x="3796" y="1780"/>
              <a:ext cx="520" cy="664"/>
            </a:xfrm>
            <a:prstGeom prst="ellipse">
              <a:avLst/>
            </a:prstGeom>
            <a:noFill/>
            <a:ln w="38100">
              <a:solidFill>
                <a:schemeClr val="accent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8727" name="Line 147"/>
            <p:cNvSpPr>
              <a:spLocks noChangeShapeType="1"/>
            </p:cNvSpPr>
            <p:nvPr/>
          </p:nvSpPr>
          <p:spPr bwMode="auto">
            <a:xfrm flipV="1">
              <a:off x="4080" y="1488"/>
              <a:ext cx="0" cy="288"/>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28" name="Rectangle 148"/>
            <p:cNvSpPr>
              <a:spLocks noChangeArrowheads="1"/>
            </p:cNvSpPr>
            <p:nvPr/>
          </p:nvSpPr>
          <p:spPr bwMode="auto">
            <a:xfrm>
              <a:off x="3383" y="1303"/>
              <a:ext cx="1837"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2000" dirty="0">
                  <a:solidFill>
                    <a:srgbClr val="FF0000"/>
                  </a:solidFill>
                  <a:ea typeface="新細明體" panose="02020500000000000000" pitchFamily="18" charset="-120"/>
                </a:rPr>
                <a:t>Ops!  We have a problem!</a:t>
              </a:r>
            </a:p>
          </p:txBody>
        </p:sp>
      </p:grpSp>
      <p:sp>
        <p:nvSpPr>
          <p:cNvPr id="28724" name="Rectangle 149"/>
          <p:cNvSpPr>
            <a:spLocks noGrp="1" noChangeArrowheads="1"/>
          </p:cNvSpPr>
          <p:nvPr>
            <p:ph type="title"/>
          </p:nvPr>
        </p:nvSpPr>
        <p:spPr/>
        <p:txBody>
          <a:bodyPr/>
          <a:lstStyle/>
          <a:p>
            <a:r>
              <a:rPr lang="en-US" altLang="zh-TW" dirty="0"/>
              <a:t>Early WB Causes Structural Hazards</a:t>
            </a:r>
          </a:p>
        </p:txBody>
      </p:sp>
      <p:sp>
        <p:nvSpPr>
          <p:cNvPr id="28725"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76717814-3906-468B-89EF-FB311EA59AB2}" type="slidenum">
              <a:rPr lang="zh-TW" altLang="en-US" sz="1400" b="0">
                <a:solidFill>
                  <a:schemeClr val="bg1"/>
                </a:solidFill>
                <a:latin typeface="Arial" panose="020B0604020202090204" pitchFamily="34" charset="0"/>
                <a:ea typeface="新細明體" panose="02020500000000000000" pitchFamily="18" charset="-120"/>
              </a:rPr>
              <a:t>8</a:t>
            </a:fld>
            <a:endParaRPr lang="en-US" altLang="zh-TW" sz="1400" b="0" dirty="0">
              <a:solidFill>
                <a:schemeClr val="bg1"/>
              </a:solidFill>
              <a:latin typeface="Arial" panose="020B0604020202090204" pitchFamily="34" charset="0"/>
              <a:ea typeface="新細明體" panose="02020500000000000000" pitchFamily="18" charset="-120"/>
            </a:endParaRPr>
          </a:p>
        </p:txBody>
      </p:sp>
      <p:grpSp>
        <p:nvGrpSpPr>
          <p:cNvPr id="151" name="组合 150"/>
          <p:cNvGrpSpPr/>
          <p:nvPr/>
        </p:nvGrpSpPr>
        <p:grpSpPr>
          <a:xfrm>
            <a:off x="1980051" y="2835480"/>
            <a:ext cx="3973632" cy="356109"/>
            <a:chOff x="2893277" y="3842514"/>
            <a:chExt cx="3438290" cy="322684"/>
          </a:xfrm>
        </p:grpSpPr>
        <p:grpSp>
          <p:nvGrpSpPr>
            <p:cNvPr id="152" name="Group 34"/>
            <p:cNvGrpSpPr/>
            <p:nvPr/>
          </p:nvGrpSpPr>
          <p:grpSpPr bwMode="auto">
            <a:xfrm>
              <a:off x="2893277" y="3842514"/>
              <a:ext cx="875748" cy="307643"/>
              <a:chOff x="1880" y="1302"/>
              <a:chExt cx="541" cy="184"/>
            </a:xfrm>
          </p:grpSpPr>
          <p:sp>
            <p:nvSpPr>
              <p:cNvPr id="162" name="Rectangle 35"/>
              <p:cNvSpPr>
                <a:spLocks noChangeArrowheads="1"/>
              </p:cNvSpPr>
              <p:nvPr/>
            </p:nvSpPr>
            <p:spPr bwMode="auto">
              <a:xfrm>
                <a:off x="1880" y="1304"/>
                <a:ext cx="541"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63" name="Rectangle 36"/>
              <p:cNvSpPr>
                <a:spLocks noChangeArrowheads="1"/>
              </p:cNvSpPr>
              <p:nvPr/>
            </p:nvSpPr>
            <p:spPr bwMode="auto">
              <a:xfrm>
                <a:off x="2029" y="1302"/>
                <a:ext cx="20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IF</a:t>
                </a:r>
              </a:p>
            </p:txBody>
          </p:sp>
        </p:grpSp>
        <p:grpSp>
          <p:nvGrpSpPr>
            <p:cNvPr id="153" name="Group 37"/>
            <p:cNvGrpSpPr/>
            <p:nvPr/>
          </p:nvGrpSpPr>
          <p:grpSpPr bwMode="auto">
            <a:xfrm>
              <a:off x="3770887" y="3842516"/>
              <a:ext cx="884025" cy="307641"/>
              <a:chOff x="2438" y="1302"/>
              <a:chExt cx="512" cy="184"/>
            </a:xfrm>
          </p:grpSpPr>
          <p:sp>
            <p:nvSpPr>
              <p:cNvPr id="160" name="Rectangle 38"/>
              <p:cNvSpPr>
                <a:spLocks noChangeArrowheads="1"/>
              </p:cNvSpPr>
              <p:nvPr/>
            </p:nvSpPr>
            <p:spPr bwMode="auto">
              <a:xfrm>
                <a:off x="2438"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61" name="Rectangle 39"/>
              <p:cNvSpPr>
                <a:spLocks noChangeArrowheads="1"/>
              </p:cNvSpPr>
              <p:nvPr/>
            </p:nvSpPr>
            <p:spPr bwMode="auto">
              <a:xfrm>
                <a:off x="2568" y="1302"/>
                <a:ext cx="20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ID</a:t>
                </a:r>
              </a:p>
            </p:txBody>
          </p:sp>
        </p:grpSp>
        <p:grpSp>
          <p:nvGrpSpPr>
            <p:cNvPr id="154" name="Group 40"/>
            <p:cNvGrpSpPr/>
            <p:nvPr/>
          </p:nvGrpSpPr>
          <p:grpSpPr bwMode="auto">
            <a:xfrm>
              <a:off x="4654513" y="3844185"/>
              <a:ext cx="849453" cy="307643"/>
              <a:chOff x="2966" y="1303"/>
              <a:chExt cx="512" cy="184"/>
            </a:xfrm>
          </p:grpSpPr>
          <p:sp>
            <p:nvSpPr>
              <p:cNvPr id="158" name="Rectangle 41"/>
              <p:cNvSpPr>
                <a:spLocks noChangeArrowheads="1"/>
              </p:cNvSpPr>
              <p:nvPr/>
            </p:nvSpPr>
            <p:spPr bwMode="auto">
              <a:xfrm>
                <a:off x="2966"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59" name="Rectangle 42"/>
              <p:cNvSpPr>
                <a:spLocks noChangeArrowheads="1"/>
              </p:cNvSpPr>
              <p:nvPr/>
            </p:nvSpPr>
            <p:spPr bwMode="auto">
              <a:xfrm>
                <a:off x="3057" y="1303"/>
                <a:ext cx="31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Exec</a:t>
                </a:r>
              </a:p>
            </p:txBody>
          </p:sp>
        </p:grpSp>
        <p:grpSp>
          <p:nvGrpSpPr>
            <p:cNvPr id="155" name="Group 43"/>
            <p:cNvGrpSpPr/>
            <p:nvPr/>
          </p:nvGrpSpPr>
          <p:grpSpPr bwMode="auto">
            <a:xfrm>
              <a:off x="5502763" y="3845852"/>
              <a:ext cx="828804" cy="319346"/>
              <a:chOff x="3476" y="1304"/>
              <a:chExt cx="512" cy="191"/>
            </a:xfrm>
          </p:grpSpPr>
          <p:sp>
            <p:nvSpPr>
              <p:cNvPr id="156" name="Rectangle 44"/>
              <p:cNvSpPr>
                <a:spLocks noChangeArrowheads="1"/>
              </p:cNvSpPr>
              <p:nvPr/>
            </p:nvSpPr>
            <p:spPr bwMode="auto">
              <a:xfrm>
                <a:off x="3476"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57" name="Rectangle 45"/>
              <p:cNvSpPr>
                <a:spLocks noChangeArrowheads="1"/>
              </p:cNvSpPr>
              <p:nvPr/>
            </p:nvSpPr>
            <p:spPr bwMode="auto">
              <a:xfrm>
                <a:off x="3582" y="1311"/>
                <a:ext cx="2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WB</a:t>
                </a:r>
              </a:p>
            </p:txBody>
          </p:sp>
        </p:grpSp>
      </p:grpSp>
      <p:grpSp>
        <p:nvGrpSpPr>
          <p:cNvPr id="164" name="组合 163"/>
          <p:cNvGrpSpPr/>
          <p:nvPr/>
        </p:nvGrpSpPr>
        <p:grpSpPr>
          <a:xfrm>
            <a:off x="2981867" y="3312121"/>
            <a:ext cx="3973632" cy="356108"/>
            <a:chOff x="2893277" y="3842515"/>
            <a:chExt cx="3438290" cy="322683"/>
          </a:xfrm>
        </p:grpSpPr>
        <p:grpSp>
          <p:nvGrpSpPr>
            <p:cNvPr id="165" name="Group 34"/>
            <p:cNvGrpSpPr/>
            <p:nvPr/>
          </p:nvGrpSpPr>
          <p:grpSpPr bwMode="auto">
            <a:xfrm>
              <a:off x="2893277" y="3842515"/>
              <a:ext cx="875748" cy="307643"/>
              <a:chOff x="1880" y="1302"/>
              <a:chExt cx="541" cy="184"/>
            </a:xfrm>
          </p:grpSpPr>
          <p:sp>
            <p:nvSpPr>
              <p:cNvPr id="175" name="Rectangle 35"/>
              <p:cNvSpPr>
                <a:spLocks noChangeArrowheads="1"/>
              </p:cNvSpPr>
              <p:nvPr/>
            </p:nvSpPr>
            <p:spPr bwMode="auto">
              <a:xfrm>
                <a:off x="1880" y="1304"/>
                <a:ext cx="541" cy="175"/>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76" name="Rectangle 36"/>
              <p:cNvSpPr>
                <a:spLocks noChangeArrowheads="1"/>
              </p:cNvSpPr>
              <p:nvPr/>
            </p:nvSpPr>
            <p:spPr bwMode="auto">
              <a:xfrm>
                <a:off x="2029" y="1302"/>
                <a:ext cx="20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IF</a:t>
                </a:r>
              </a:p>
            </p:txBody>
          </p:sp>
        </p:grpSp>
        <p:grpSp>
          <p:nvGrpSpPr>
            <p:cNvPr id="166" name="Group 37"/>
            <p:cNvGrpSpPr/>
            <p:nvPr/>
          </p:nvGrpSpPr>
          <p:grpSpPr bwMode="auto">
            <a:xfrm>
              <a:off x="3770887" y="3842516"/>
              <a:ext cx="884025" cy="307641"/>
              <a:chOff x="2438" y="1302"/>
              <a:chExt cx="512" cy="184"/>
            </a:xfrm>
          </p:grpSpPr>
          <p:sp>
            <p:nvSpPr>
              <p:cNvPr id="173" name="Rectangle 38"/>
              <p:cNvSpPr>
                <a:spLocks noChangeArrowheads="1"/>
              </p:cNvSpPr>
              <p:nvPr/>
            </p:nvSpPr>
            <p:spPr bwMode="auto">
              <a:xfrm>
                <a:off x="2438"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74" name="Rectangle 39"/>
              <p:cNvSpPr>
                <a:spLocks noChangeArrowheads="1"/>
              </p:cNvSpPr>
              <p:nvPr/>
            </p:nvSpPr>
            <p:spPr bwMode="auto">
              <a:xfrm>
                <a:off x="2568" y="1302"/>
                <a:ext cx="20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ID</a:t>
                </a:r>
              </a:p>
            </p:txBody>
          </p:sp>
        </p:grpSp>
        <p:grpSp>
          <p:nvGrpSpPr>
            <p:cNvPr id="167" name="Group 40"/>
            <p:cNvGrpSpPr/>
            <p:nvPr/>
          </p:nvGrpSpPr>
          <p:grpSpPr bwMode="auto">
            <a:xfrm>
              <a:off x="4654513" y="3844185"/>
              <a:ext cx="849453" cy="307643"/>
              <a:chOff x="2966" y="1303"/>
              <a:chExt cx="512" cy="184"/>
            </a:xfrm>
          </p:grpSpPr>
          <p:sp>
            <p:nvSpPr>
              <p:cNvPr id="171" name="Rectangle 41"/>
              <p:cNvSpPr>
                <a:spLocks noChangeArrowheads="1"/>
              </p:cNvSpPr>
              <p:nvPr/>
            </p:nvSpPr>
            <p:spPr bwMode="auto">
              <a:xfrm>
                <a:off x="2966"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72" name="Rectangle 42"/>
              <p:cNvSpPr>
                <a:spLocks noChangeArrowheads="1"/>
              </p:cNvSpPr>
              <p:nvPr/>
            </p:nvSpPr>
            <p:spPr bwMode="auto">
              <a:xfrm>
                <a:off x="3057" y="1303"/>
                <a:ext cx="31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Exec</a:t>
                </a:r>
              </a:p>
            </p:txBody>
          </p:sp>
        </p:grpSp>
        <p:grpSp>
          <p:nvGrpSpPr>
            <p:cNvPr id="168" name="Group 43"/>
            <p:cNvGrpSpPr/>
            <p:nvPr/>
          </p:nvGrpSpPr>
          <p:grpSpPr bwMode="auto">
            <a:xfrm>
              <a:off x="5502763" y="3845852"/>
              <a:ext cx="828804" cy="319346"/>
              <a:chOff x="3476" y="1304"/>
              <a:chExt cx="512" cy="191"/>
            </a:xfrm>
          </p:grpSpPr>
          <p:sp>
            <p:nvSpPr>
              <p:cNvPr id="169" name="Rectangle 44"/>
              <p:cNvSpPr>
                <a:spLocks noChangeArrowheads="1"/>
              </p:cNvSpPr>
              <p:nvPr/>
            </p:nvSpPr>
            <p:spPr bwMode="auto">
              <a:xfrm>
                <a:off x="3476"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70" name="Rectangle 45"/>
              <p:cNvSpPr>
                <a:spLocks noChangeArrowheads="1"/>
              </p:cNvSpPr>
              <p:nvPr/>
            </p:nvSpPr>
            <p:spPr bwMode="auto">
              <a:xfrm>
                <a:off x="3582" y="1311"/>
                <a:ext cx="2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WB</a:t>
                </a:r>
              </a:p>
            </p:txBody>
          </p:sp>
        </p:grpSp>
      </p:grpSp>
      <p:grpSp>
        <p:nvGrpSpPr>
          <p:cNvPr id="177" name="组合 176"/>
          <p:cNvGrpSpPr/>
          <p:nvPr/>
        </p:nvGrpSpPr>
        <p:grpSpPr>
          <a:xfrm>
            <a:off x="5936341" y="4958563"/>
            <a:ext cx="3945568" cy="356108"/>
            <a:chOff x="2893277" y="3842515"/>
            <a:chExt cx="3414008" cy="322683"/>
          </a:xfrm>
        </p:grpSpPr>
        <p:grpSp>
          <p:nvGrpSpPr>
            <p:cNvPr id="178" name="Group 34"/>
            <p:cNvGrpSpPr/>
            <p:nvPr/>
          </p:nvGrpSpPr>
          <p:grpSpPr bwMode="auto">
            <a:xfrm>
              <a:off x="2893277" y="3842515"/>
              <a:ext cx="875748" cy="307643"/>
              <a:chOff x="1880" y="1302"/>
              <a:chExt cx="541" cy="184"/>
            </a:xfrm>
          </p:grpSpPr>
          <p:sp>
            <p:nvSpPr>
              <p:cNvPr id="188" name="Rectangle 35"/>
              <p:cNvSpPr>
                <a:spLocks noChangeArrowheads="1"/>
              </p:cNvSpPr>
              <p:nvPr/>
            </p:nvSpPr>
            <p:spPr bwMode="auto">
              <a:xfrm>
                <a:off x="1880" y="1304"/>
                <a:ext cx="541" cy="175"/>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89" name="Rectangle 36"/>
              <p:cNvSpPr>
                <a:spLocks noChangeArrowheads="1"/>
              </p:cNvSpPr>
              <p:nvPr/>
            </p:nvSpPr>
            <p:spPr bwMode="auto">
              <a:xfrm>
                <a:off x="2029" y="1302"/>
                <a:ext cx="20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IF</a:t>
                </a:r>
              </a:p>
            </p:txBody>
          </p:sp>
        </p:grpSp>
        <p:grpSp>
          <p:nvGrpSpPr>
            <p:cNvPr id="179" name="Group 37"/>
            <p:cNvGrpSpPr/>
            <p:nvPr/>
          </p:nvGrpSpPr>
          <p:grpSpPr bwMode="auto">
            <a:xfrm>
              <a:off x="3770888" y="3842516"/>
              <a:ext cx="840860" cy="307641"/>
              <a:chOff x="2438" y="1302"/>
              <a:chExt cx="487" cy="184"/>
            </a:xfrm>
          </p:grpSpPr>
          <p:sp>
            <p:nvSpPr>
              <p:cNvPr id="186" name="Rectangle 38"/>
              <p:cNvSpPr>
                <a:spLocks noChangeArrowheads="1"/>
              </p:cNvSpPr>
              <p:nvPr/>
            </p:nvSpPr>
            <p:spPr bwMode="auto">
              <a:xfrm>
                <a:off x="2438" y="1304"/>
                <a:ext cx="487" cy="175"/>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87" name="Rectangle 39"/>
              <p:cNvSpPr>
                <a:spLocks noChangeArrowheads="1"/>
              </p:cNvSpPr>
              <p:nvPr/>
            </p:nvSpPr>
            <p:spPr bwMode="auto">
              <a:xfrm>
                <a:off x="2568" y="1302"/>
                <a:ext cx="20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ID</a:t>
                </a:r>
              </a:p>
            </p:txBody>
          </p:sp>
        </p:grpSp>
        <p:grpSp>
          <p:nvGrpSpPr>
            <p:cNvPr id="180" name="Group 40"/>
            <p:cNvGrpSpPr/>
            <p:nvPr/>
          </p:nvGrpSpPr>
          <p:grpSpPr bwMode="auto">
            <a:xfrm>
              <a:off x="4621333" y="3844185"/>
              <a:ext cx="849453" cy="307643"/>
              <a:chOff x="2946" y="1303"/>
              <a:chExt cx="512" cy="184"/>
            </a:xfrm>
          </p:grpSpPr>
          <p:sp>
            <p:nvSpPr>
              <p:cNvPr id="184" name="Rectangle 41"/>
              <p:cNvSpPr>
                <a:spLocks noChangeArrowheads="1"/>
              </p:cNvSpPr>
              <p:nvPr/>
            </p:nvSpPr>
            <p:spPr bwMode="auto">
              <a:xfrm>
                <a:off x="2946"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85" name="Rectangle 42"/>
              <p:cNvSpPr>
                <a:spLocks noChangeArrowheads="1"/>
              </p:cNvSpPr>
              <p:nvPr/>
            </p:nvSpPr>
            <p:spPr bwMode="auto">
              <a:xfrm>
                <a:off x="3057" y="1303"/>
                <a:ext cx="31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Exec</a:t>
                </a:r>
              </a:p>
            </p:txBody>
          </p:sp>
        </p:grpSp>
        <p:grpSp>
          <p:nvGrpSpPr>
            <p:cNvPr id="181" name="Group 43"/>
            <p:cNvGrpSpPr/>
            <p:nvPr/>
          </p:nvGrpSpPr>
          <p:grpSpPr bwMode="auto">
            <a:xfrm>
              <a:off x="5478481" y="3845852"/>
              <a:ext cx="828804" cy="319346"/>
              <a:chOff x="3461" y="1304"/>
              <a:chExt cx="512" cy="191"/>
            </a:xfrm>
          </p:grpSpPr>
          <p:sp>
            <p:nvSpPr>
              <p:cNvPr id="182" name="Rectangle 44"/>
              <p:cNvSpPr>
                <a:spLocks noChangeArrowheads="1"/>
              </p:cNvSpPr>
              <p:nvPr/>
            </p:nvSpPr>
            <p:spPr bwMode="auto">
              <a:xfrm>
                <a:off x="3461"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83" name="Rectangle 45"/>
              <p:cNvSpPr>
                <a:spLocks noChangeArrowheads="1"/>
              </p:cNvSpPr>
              <p:nvPr/>
            </p:nvSpPr>
            <p:spPr bwMode="auto">
              <a:xfrm>
                <a:off x="3582" y="1311"/>
                <a:ext cx="2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WB</a:t>
                </a:r>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4000" dirty="0"/>
              <a:t>Data Hazards</a:t>
            </a:r>
          </a:p>
        </p:txBody>
      </p:sp>
      <p:sp>
        <p:nvSpPr>
          <p:cNvPr id="6" name="内容占位符 5"/>
          <p:cNvSpPr>
            <a:spLocks noGrp="1"/>
          </p:cNvSpPr>
          <p:nvPr>
            <p:ph idx="1"/>
          </p:nvPr>
        </p:nvSpPr>
        <p:spPr>
          <a:xfrm>
            <a:off x="262647" y="1001949"/>
            <a:ext cx="11819106" cy="5243208"/>
          </a:xfrm>
        </p:spPr>
        <p:txBody>
          <a:bodyPr/>
          <a:lstStyle/>
          <a:p>
            <a:pPr marL="514345" indent="-457200">
              <a:buSzPct val="181000"/>
              <a:buFont typeface="Arial" panose="020B0604020202020204" pitchFamily="34" charset="0"/>
              <a:buChar char="•"/>
            </a:pPr>
            <a:r>
              <a:rPr lang="en-US" altLang="zh-CN" sz="2400" dirty="0"/>
              <a:t>Data hazards happen when the pipeline must stall because previous instructions in the pipeline have not yet generated the data needed for the current instruction.</a:t>
            </a:r>
          </a:p>
          <a:p>
            <a:pPr marL="514345" indent="-457200">
              <a:buSzPct val="181000"/>
              <a:buFont typeface="Arial" panose="020B0604020202020204" pitchFamily="34" charset="0"/>
              <a:buChar char="•"/>
            </a:pPr>
            <a:r>
              <a:rPr lang="en-US" altLang="zh-CN" sz="2400" dirty="0"/>
              <a:t>Data hazards arise from data dependencies. For example</a:t>
            </a:r>
            <a:r>
              <a:rPr lang="en-US" altLang="zh-CN" sz="2600" dirty="0"/>
              <a:t>,</a:t>
            </a:r>
          </a:p>
          <a:p>
            <a:pPr marL="457176" lvl="1" indent="0">
              <a:buSzPct val="181000"/>
              <a:buNone/>
            </a:pPr>
            <a:r>
              <a:rPr lang="en-US" altLang="zh-CN" sz="2067" dirty="0"/>
              <a:t>Add </a:t>
            </a:r>
            <a:r>
              <a:rPr lang="en-US" altLang="zh-CN" sz="2400" b="1" dirty="0"/>
              <a:t>X9,</a:t>
            </a:r>
            <a:r>
              <a:rPr lang="en-US" altLang="zh-CN" sz="2067" dirty="0"/>
              <a:t> X0, X1	// results are ready at the end of the EXE stage, and write back to reg X9 at WB</a:t>
            </a:r>
          </a:p>
          <a:p>
            <a:pPr marL="457176" lvl="1" indent="0">
              <a:buSzPct val="181000"/>
              <a:buNone/>
            </a:pPr>
            <a:r>
              <a:rPr lang="en-US" altLang="zh-CN" sz="2067" dirty="0"/>
              <a:t>Sub	X10, </a:t>
            </a:r>
            <a:r>
              <a:rPr lang="en-US" altLang="zh-CN" sz="2400" b="1" dirty="0"/>
              <a:t>X9,</a:t>
            </a:r>
            <a:r>
              <a:rPr lang="en-US" altLang="zh-CN" sz="2067" dirty="0"/>
              <a:t>X3	// needs to read data at the ID stage (stage 2)</a:t>
            </a:r>
          </a:p>
          <a:p>
            <a:pPr marL="514345" indent="-457200">
              <a:buSzPct val="181000"/>
              <a:buFont typeface="Arial" panose="020B0604020202020204" pitchFamily="34" charset="0"/>
              <a:buChar char="•"/>
            </a:pPr>
            <a:r>
              <a:rPr lang="en-US" altLang="zh-CN" sz="2400" dirty="0"/>
              <a:t>In the worst-case scenario, the pipeline may be stalled until the previous instruction writes back the data to register X9. Only then can the new instruction begin to read during the Instruction Decode (ID) stage. This would result in three wasted cycles, creating three pipeline </a:t>
            </a:r>
            <a:r>
              <a:rPr lang="en-US" altLang="zh-CN" sz="2400" i="1" dirty="0"/>
              <a:t>bubbles</a:t>
            </a:r>
            <a:r>
              <a:rPr lang="en-US" altLang="zh-CN" sz="2400" dirty="0"/>
              <a:t>.</a:t>
            </a:r>
          </a:p>
          <a:p>
            <a:pPr marL="514345" indent="-457200">
              <a:buSzPct val="181000"/>
              <a:buFont typeface="Arial" panose="020B0604020202020204" pitchFamily="34" charset="0"/>
              <a:buChar char="•"/>
            </a:pPr>
            <a:r>
              <a:rPr lang="en-US" altLang="zh-CN" sz="2400" dirty="0"/>
              <a:t>Three cases to discuss further:</a:t>
            </a:r>
          </a:p>
          <a:p>
            <a:pPr marL="914376" lvl="1" indent="-457200">
              <a:buSzPct val="181000"/>
              <a:buFont typeface="Arial" panose="020B0604020202020204" pitchFamily="34" charset="0"/>
              <a:buChar char="•"/>
            </a:pPr>
            <a:r>
              <a:rPr lang="en-US" altLang="zh-CN" sz="2067" dirty="0"/>
              <a:t>Register accesses</a:t>
            </a:r>
          </a:p>
          <a:p>
            <a:pPr marL="914376" lvl="1" indent="-457200">
              <a:buSzPct val="181000"/>
              <a:buFont typeface="Arial" panose="020B0604020202020204" pitchFamily="34" charset="0"/>
              <a:buChar char="•"/>
            </a:pPr>
            <a:r>
              <a:rPr lang="en-US" altLang="zh-CN" sz="2067" dirty="0"/>
              <a:t>ALU results</a:t>
            </a:r>
          </a:p>
          <a:p>
            <a:pPr marL="914376" lvl="1" indent="-457200">
              <a:buSzPct val="181000"/>
              <a:buFont typeface="Arial" panose="020B0604020202020204" pitchFamily="34" charset="0"/>
              <a:buChar char="•"/>
            </a:pPr>
            <a:r>
              <a:rPr lang="en-US" altLang="zh-CN" sz="2067" dirty="0"/>
              <a:t>Load data hazards</a:t>
            </a: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9</a:t>
            </a:fld>
            <a:endParaRPr lang="zh-TW" altLang="en-US">
              <a:solidFill>
                <a:prstClr val="white"/>
              </a:solidFill>
            </a:endParaRPr>
          </a:p>
        </p:txBody>
      </p:sp>
      <p:cxnSp>
        <p:nvCxnSpPr>
          <p:cNvPr id="3" name="Straight Arrow Connector 2">
            <a:extLst>
              <a:ext uri="{FF2B5EF4-FFF2-40B4-BE49-F238E27FC236}">
                <a16:creationId xmlns:a16="http://schemas.microsoft.com/office/drawing/2014/main" id="{FBFEE6B7-E047-4FAF-AA5A-F844F81F36BA}"/>
              </a:ext>
            </a:extLst>
          </p:cNvPr>
          <p:cNvCxnSpPr/>
          <p:nvPr/>
        </p:nvCxnSpPr>
        <p:spPr bwMode="auto">
          <a:xfrm>
            <a:off x="1420238" y="2645923"/>
            <a:ext cx="389107" cy="209145"/>
          </a:xfrm>
          <a:prstGeom prst="straightConnector1">
            <a:avLst/>
          </a:prstGeom>
          <a:noFill/>
          <a:ln w="3810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1879557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867" y="144466"/>
            <a:ext cx="10517721" cy="692151"/>
          </a:xfrm>
        </p:spPr>
        <p:txBody>
          <a:bodyPr/>
          <a:lstStyle/>
          <a:p>
            <a:r>
              <a:rPr lang="en-US" altLang="zh-CN" sz="4000" dirty="0"/>
              <a:t>Register Access Issues</a:t>
            </a:r>
          </a:p>
        </p:txBody>
      </p:sp>
      <p:pic>
        <p:nvPicPr>
          <p:cNvPr id="3" name="Content Placeholder 2">
            <a:extLst>
              <a:ext uri="{FF2B5EF4-FFF2-40B4-BE49-F238E27FC236}">
                <a16:creationId xmlns:a16="http://schemas.microsoft.com/office/drawing/2014/main" id="{1F6B189F-6B3E-458E-9707-0141FE9DB3C1}"/>
              </a:ext>
            </a:extLst>
          </p:cNvPr>
          <p:cNvPicPr>
            <a:picLocks noGrp="1" noChangeAspect="1"/>
          </p:cNvPicPr>
          <p:nvPr>
            <p:ph idx="1"/>
          </p:nvPr>
        </p:nvPicPr>
        <p:blipFill>
          <a:blip r:embed="rId3"/>
          <a:stretch>
            <a:fillRect/>
          </a:stretch>
        </p:blipFill>
        <p:spPr>
          <a:xfrm>
            <a:off x="595313" y="1177048"/>
            <a:ext cx="10972800" cy="4708186"/>
          </a:xfrm>
        </p:spPr>
      </p:pic>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10</a:t>
            </a:fld>
            <a:endParaRPr lang="zh-TW" altLang="en-US">
              <a:solidFill>
                <a:prstClr val="white"/>
              </a:solidFill>
            </a:endParaRPr>
          </a:p>
        </p:txBody>
      </p:sp>
      <p:sp>
        <p:nvSpPr>
          <p:cNvPr id="7" name="TextBox 6">
            <a:extLst>
              <a:ext uri="{FF2B5EF4-FFF2-40B4-BE49-F238E27FC236}">
                <a16:creationId xmlns:a16="http://schemas.microsoft.com/office/drawing/2014/main" id="{AC0C9883-AF4D-49C8-A32E-04C1467825F0}"/>
              </a:ext>
            </a:extLst>
          </p:cNvPr>
          <p:cNvSpPr txBox="1"/>
          <p:nvPr/>
        </p:nvSpPr>
        <p:spPr>
          <a:xfrm>
            <a:off x="7733489" y="4129791"/>
            <a:ext cx="3762568" cy="923330"/>
          </a:xfrm>
          <a:prstGeom prst="rect">
            <a:avLst/>
          </a:prstGeom>
          <a:noFill/>
        </p:spPr>
        <p:txBody>
          <a:bodyPr wrap="none" rtlCol="0" anchor="ctr" anchorCtr="1">
            <a:spAutoFit/>
          </a:bodyPr>
          <a:lstStyle/>
          <a:p>
            <a:r>
              <a:rPr lang="en-US" dirty="0">
                <a:solidFill>
                  <a:srgbClr val="FFFF00"/>
                </a:solidFill>
                <a:ea typeface="標楷體" pitchFamily="65" charset="-120"/>
                <a:cs typeface="Calibri" pitchFamily="34" charset="0"/>
              </a:rPr>
              <a:t>Register file should write-then-read</a:t>
            </a:r>
          </a:p>
          <a:p>
            <a:r>
              <a:rPr lang="en-US" dirty="0">
                <a:solidFill>
                  <a:srgbClr val="FFFF00"/>
                </a:solidFill>
                <a:ea typeface="標楷體" pitchFamily="65" charset="-120"/>
                <a:cs typeface="Calibri" pitchFamily="34" charset="0"/>
              </a:rPr>
              <a:t>in the same cycle. (indicated by </a:t>
            </a:r>
          </a:p>
          <a:p>
            <a:r>
              <a:rPr lang="en-US" dirty="0">
                <a:solidFill>
                  <a:srgbClr val="FFFF00"/>
                </a:solidFill>
                <a:ea typeface="標楷體" pitchFamily="65" charset="-120"/>
                <a:cs typeface="Calibri" pitchFamily="34" charset="0"/>
              </a:rPr>
              <a:t>Shading in the diagram) </a:t>
            </a:r>
          </a:p>
        </p:txBody>
      </p:sp>
    </p:spTree>
    <p:extLst>
      <p:ext uri="{BB962C8B-B14F-4D97-AF65-F5344CB8AC3E}">
        <p14:creationId xmlns:p14="http://schemas.microsoft.com/office/powerpoint/2010/main" val="3942162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867" y="144466"/>
            <a:ext cx="10517721" cy="692151"/>
          </a:xfrm>
        </p:spPr>
        <p:txBody>
          <a:bodyPr/>
          <a:lstStyle/>
          <a:p>
            <a:r>
              <a:rPr lang="en-US" altLang="zh-CN" sz="4000" dirty="0"/>
              <a:t>ALU Result Access Issue</a:t>
            </a:r>
          </a:p>
        </p:txBody>
      </p:sp>
      <p:sp>
        <p:nvSpPr>
          <p:cNvPr id="4" name="灯片编号占位符 3"/>
          <p:cNvSpPr>
            <a:spLocks noGrp="1"/>
          </p:cNvSpPr>
          <p:nvPr>
            <p:ph type="sldNum" sz="quarter" idx="10"/>
          </p:nvPr>
        </p:nvSpPr>
        <p:spPr>
          <a:xfrm>
            <a:off x="9108017" y="6398752"/>
            <a:ext cx="2844800" cy="339725"/>
          </a:xfrm>
        </p:spPr>
        <p:txBody>
          <a:bodyPr/>
          <a:lstStyle/>
          <a:p>
            <a:pPr defTabSz="1219170"/>
            <a:fld id="{D9B6BDF2-6896-4B98-8776-C18582F63BA5}" type="slidenum">
              <a:rPr lang="zh-TW" altLang="en-US">
                <a:solidFill>
                  <a:prstClr val="white"/>
                </a:solidFill>
              </a:rPr>
              <a:pPr defTabSz="1219170"/>
              <a:t>11</a:t>
            </a:fld>
            <a:endParaRPr lang="zh-TW" altLang="en-US" dirty="0">
              <a:solidFill>
                <a:prstClr val="white"/>
              </a:solidFill>
            </a:endParaRPr>
          </a:p>
        </p:txBody>
      </p:sp>
      <p:pic>
        <p:nvPicPr>
          <p:cNvPr id="9" name="Picture 8">
            <a:extLst>
              <a:ext uri="{FF2B5EF4-FFF2-40B4-BE49-F238E27FC236}">
                <a16:creationId xmlns:a16="http://schemas.microsoft.com/office/drawing/2014/main" id="{3C329AAB-1D73-41B3-8EFD-0079809D1BD0}"/>
              </a:ext>
            </a:extLst>
          </p:cNvPr>
          <p:cNvPicPr>
            <a:picLocks noChangeAspect="1"/>
          </p:cNvPicPr>
          <p:nvPr/>
        </p:nvPicPr>
        <p:blipFill>
          <a:blip r:embed="rId3"/>
          <a:stretch>
            <a:fillRect/>
          </a:stretch>
        </p:blipFill>
        <p:spPr>
          <a:xfrm>
            <a:off x="116732" y="963037"/>
            <a:ext cx="11836085" cy="5309295"/>
          </a:xfrm>
          <a:prstGeom prst="rect">
            <a:avLst/>
          </a:prstGeom>
        </p:spPr>
      </p:pic>
      <p:sp>
        <p:nvSpPr>
          <p:cNvPr id="10" name="Rectangle 9">
            <a:extLst>
              <a:ext uri="{FF2B5EF4-FFF2-40B4-BE49-F238E27FC236}">
                <a16:creationId xmlns:a16="http://schemas.microsoft.com/office/drawing/2014/main" id="{1ADF756F-5965-41DC-BCC3-5F4A8D369FB3}"/>
              </a:ext>
            </a:extLst>
          </p:cNvPr>
          <p:cNvSpPr/>
          <p:nvPr/>
        </p:nvSpPr>
        <p:spPr bwMode="auto">
          <a:xfrm>
            <a:off x="11466434" y="6017404"/>
            <a:ext cx="486383" cy="254928"/>
          </a:xfrm>
          <a:prstGeom prst="rect">
            <a:avLst/>
          </a:prstGeom>
          <a:solidFill>
            <a:schemeClr val="tx2">
              <a:lumMod val="50000"/>
            </a:scheme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cxnSp>
        <p:nvCxnSpPr>
          <p:cNvPr id="12" name="Straight Arrow Connector 11">
            <a:extLst>
              <a:ext uri="{FF2B5EF4-FFF2-40B4-BE49-F238E27FC236}">
                <a16:creationId xmlns:a16="http://schemas.microsoft.com/office/drawing/2014/main" id="{0BA77D50-EABC-4CC9-B80F-CC53D5B3F9BE}"/>
              </a:ext>
            </a:extLst>
          </p:cNvPr>
          <p:cNvCxnSpPr/>
          <p:nvPr/>
        </p:nvCxnSpPr>
        <p:spPr bwMode="auto">
          <a:xfrm>
            <a:off x="1118681" y="2003898"/>
            <a:ext cx="505838" cy="710119"/>
          </a:xfrm>
          <a:prstGeom prst="straightConnector1">
            <a:avLst/>
          </a:prstGeom>
          <a:noFill/>
          <a:ln w="38100" cap="flat" cmpd="sng" algn="ctr">
            <a:solidFill>
              <a:srgbClr val="FF0000"/>
            </a:solidFill>
            <a:prstDash val="solid"/>
            <a:round/>
            <a:headEnd type="none" w="med" len="med"/>
            <a:tailEnd type="triangle"/>
          </a:ln>
          <a:effectLst/>
        </p:spPr>
      </p:cxnSp>
      <p:cxnSp>
        <p:nvCxnSpPr>
          <p:cNvPr id="15" name="Straight Arrow Connector 14">
            <a:extLst>
              <a:ext uri="{FF2B5EF4-FFF2-40B4-BE49-F238E27FC236}">
                <a16:creationId xmlns:a16="http://schemas.microsoft.com/office/drawing/2014/main" id="{D2F616F8-6825-416B-AA7E-1C06A1AFE425}"/>
              </a:ext>
            </a:extLst>
          </p:cNvPr>
          <p:cNvCxnSpPr>
            <a:cxnSpLocks/>
          </p:cNvCxnSpPr>
          <p:nvPr/>
        </p:nvCxnSpPr>
        <p:spPr bwMode="auto">
          <a:xfrm>
            <a:off x="1049867" y="2003898"/>
            <a:ext cx="438465" cy="1613786"/>
          </a:xfrm>
          <a:prstGeom prst="straightConnector1">
            <a:avLst/>
          </a:prstGeom>
          <a:noFill/>
          <a:ln w="38100" cap="flat" cmpd="sng" algn="ctr">
            <a:solidFill>
              <a:srgbClr val="FF0000"/>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16FAA063-0576-4E4E-B4CB-995390377188}"/>
              </a:ext>
            </a:extLst>
          </p:cNvPr>
          <p:cNvCxnSpPr>
            <a:cxnSpLocks/>
          </p:cNvCxnSpPr>
          <p:nvPr/>
        </p:nvCxnSpPr>
        <p:spPr bwMode="auto">
          <a:xfrm>
            <a:off x="1118681" y="2003898"/>
            <a:ext cx="1108953" cy="2586050"/>
          </a:xfrm>
          <a:prstGeom prst="straightConnector1">
            <a:avLst/>
          </a:prstGeom>
          <a:noFill/>
          <a:ln w="38100" cap="flat" cmpd="sng" algn="ctr">
            <a:solidFill>
              <a:schemeClr val="accent5">
                <a:lumMod val="20000"/>
                <a:lumOff val="80000"/>
              </a:schemeClr>
            </a:solidFill>
            <a:prstDash val="solid"/>
            <a:round/>
            <a:headEnd type="none" w="med" len="med"/>
            <a:tailEnd type="triangle"/>
          </a:ln>
          <a:effectLst/>
        </p:spPr>
      </p:cxnSp>
      <p:cxnSp>
        <p:nvCxnSpPr>
          <p:cNvPr id="20" name="Straight Arrow Connector 19">
            <a:extLst>
              <a:ext uri="{FF2B5EF4-FFF2-40B4-BE49-F238E27FC236}">
                <a16:creationId xmlns:a16="http://schemas.microsoft.com/office/drawing/2014/main" id="{28BE7528-F214-4018-9A19-F64BE15A890D}"/>
              </a:ext>
            </a:extLst>
          </p:cNvPr>
          <p:cNvCxnSpPr>
            <a:cxnSpLocks/>
          </p:cNvCxnSpPr>
          <p:nvPr/>
        </p:nvCxnSpPr>
        <p:spPr bwMode="auto">
          <a:xfrm flipH="1">
            <a:off x="913681" y="2025571"/>
            <a:ext cx="205000" cy="3441374"/>
          </a:xfrm>
          <a:prstGeom prst="straightConnector1">
            <a:avLst/>
          </a:prstGeom>
          <a:noFill/>
          <a:ln w="38100" cap="flat" cmpd="sng" algn="ctr">
            <a:solidFill>
              <a:schemeClr val="accent5">
                <a:lumMod val="20000"/>
                <a:lumOff val="80000"/>
              </a:schemeClr>
            </a:solidFill>
            <a:prstDash val="solid"/>
            <a:round/>
            <a:headEnd type="none" w="med" len="med"/>
            <a:tailEnd type="triangle"/>
          </a:ln>
          <a:effectLst/>
        </p:spPr>
      </p:cxnSp>
    </p:spTree>
    <p:extLst>
      <p:ext uri="{BB962C8B-B14F-4D97-AF65-F5344CB8AC3E}">
        <p14:creationId xmlns:p14="http://schemas.microsoft.com/office/powerpoint/2010/main" val="84260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867" y="144466"/>
            <a:ext cx="10517721" cy="692151"/>
          </a:xfrm>
        </p:spPr>
        <p:txBody>
          <a:bodyPr/>
          <a:lstStyle/>
          <a:p>
            <a:r>
              <a:rPr lang="en-US" altLang="zh-CN" sz="4000" dirty="0"/>
              <a:t>Solution 1: Pipeline Stall at ID stage</a:t>
            </a:r>
          </a:p>
        </p:txBody>
      </p:sp>
      <p:sp>
        <p:nvSpPr>
          <p:cNvPr id="4" name="灯片编号占位符 3"/>
          <p:cNvSpPr>
            <a:spLocks noGrp="1"/>
          </p:cNvSpPr>
          <p:nvPr>
            <p:ph type="sldNum" sz="quarter" idx="10"/>
          </p:nvPr>
        </p:nvSpPr>
        <p:spPr>
          <a:xfrm>
            <a:off x="9108017" y="6398752"/>
            <a:ext cx="2844800" cy="339725"/>
          </a:xfrm>
        </p:spPr>
        <p:txBody>
          <a:bodyPr/>
          <a:lstStyle/>
          <a:p>
            <a:pPr defTabSz="1219170"/>
            <a:fld id="{D9B6BDF2-6896-4B98-8776-C18582F63BA5}" type="slidenum">
              <a:rPr lang="zh-TW" altLang="en-US">
                <a:solidFill>
                  <a:prstClr val="white"/>
                </a:solidFill>
              </a:rPr>
              <a:pPr defTabSz="1219170"/>
              <a:t>12</a:t>
            </a:fld>
            <a:endParaRPr lang="zh-TW" altLang="en-US" dirty="0">
              <a:solidFill>
                <a:prstClr val="white"/>
              </a:solidFill>
            </a:endParaRPr>
          </a:p>
        </p:txBody>
      </p:sp>
      <p:pic>
        <p:nvPicPr>
          <p:cNvPr id="3" name="Picture 2">
            <a:extLst>
              <a:ext uri="{FF2B5EF4-FFF2-40B4-BE49-F238E27FC236}">
                <a16:creationId xmlns:a16="http://schemas.microsoft.com/office/drawing/2014/main" id="{D446C3D5-EDAD-499C-A076-C37630BA3E57}"/>
              </a:ext>
            </a:extLst>
          </p:cNvPr>
          <p:cNvPicPr>
            <a:picLocks noChangeAspect="1"/>
          </p:cNvPicPr>
          <p:nvPr/>
        </p:nvPicPr>
        <p:blipFill>
          <a:blip r:embed="rId3"/>
          <a:stretch>
            <a:fillRect/>
          </a:stretch>
        </p:blipFill>
        <p:spPr>
          <a:xfrm>
            <a:off x="0" y="1040860"/>
            <a:ext cx="12192000" cy="5136204"/>
          </a:xfrm>
          <a:prstGeom prst="rect">
            <a:avLst/>
          </a:prstGeom>
        </p:spPr>
      </p:pic>
      <p:cxnSp>
        <p:nvCxnSpPr>
          <p:cNvPr id="7" name="Straight Arrow Connector 6">
            <a:extLst>
              <a:ext uri="{FF2B5EF4-FFF2-40B4-BE49-F238E27FC236}">
                <a16:creationId xmlns:a16="http://schemas.microsoft.com/office/drawing/2014/main" id="{734F4B8E-78A6-40B1-A2C5-41A2D0CC9465}"/>
              </a:ext>
            </a:extLst>
          </p:cNvPr>
          <p:cNvCxnSpPr/>
          <p:nvPr/>
        </p:nvCxnSpPr>
        <p:spPr bwMode="auto">
          <a:xfrm>
            <a:off x="340468" y="2928026"/>
            <a:ext cx="0" cy="1663429"/>
          </a:xfrm>
          <a:prstGeom prst="straightConnector1">
            <a:avLst/>
          </a:prstGeom>
          <a:noFill/>
          <a:ln w="57150" cap="flat" cmpd="sng" algn="ctr">
            <a:solidFill>
              <a:srgbClr val="FF0000"/>
            </a:solidFill>
            <a:prstDash val="solid"/>
            <a:round/>
            <a:headEnd type="none" w="med" len="med"/>
            <a:tailEnd type="triangle"/>
          </a:ln>
          <a:effectLst/>
        </p:spPr>
      </p:cxnSp>
      <p:sp>
        <p:nvSpPr>
          <p:cNvPr id="8" name="TextBox 7">
            <a:extLst>
              <a:ext uri="{FF2B5EF4-FFF2-40B4-BE49-F238E27FC236}">
                <a16:creationId xmlns:a16="http://schemas.microsoft.com/office/drawing/2014/main" id="{95DD23C2-B3D1-4EAD-8248-2971D01F2B64}"/>
              </a:ext>
            </a:extLst>
          </p:cNvPr>
          <p:cNvSpPr txBox="1"/>
          <p:nvPr/>
        </p:nvSpPr>
        <p:spPr>
          <a:xfrm>
            <a:off x="262647" y="4046866"/>
            <a:ext cx="3057247" cy="369332"/>
          </a:xfrm>
          <a:prstGeom prst="rect">
            <a:avLst/>
          </a:prstGeom>
          <a:noFill/>
        </p:spPr>
        <p:txBody>
          <a:bodyPr wrap="none" rtlCol="0" anchor="ctr" anchorCtr="1">
            <a:spAutoFit/>
          </a:bodyPr>
          <a:lstStyle/>
          <a:p>
            <a:r>
              <a:rPr lang="en-US" dirty="0">
                <a:solidFill>
                  <a:srgbClr val="FFFF00"/>
                </a:solidFill>
                <a:ea typeface="標楷體" pitchFamily="65" charset="-120"/>
                <a:cs typeface="Calibri" pitchFamily="34" charset="0"/>
              </a:rPr>
              <a:t>Delayed by two clock cycles</a:t>
            </a:r>
          </a:p>
        </p:txBody>
      </p:sp>
    </p:spTree>
    <p:extLst>
      <p:ext uri="{BB962C8B-B14F-4D97-AF65-F5344CB8AC3E}">
        <p14:creationId xmlns:p14="http://schemas.microsoft.com/office/powerpoint/2010/main" val="3807832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867" y="144466"/>
            <a:ext cx="10517721" cy="692151"/>
          </a:xfrm>
        </p:spPr>
        <p:txBody>
          <a:bodyPr/>
          <a:lstStyle/>
          <a:p>
            <a:r>
              <a:rPr lang="en-US" altLang="zh-CN" sz="4000" dirty="0"/>
              <a:t>Solution 2: Data Forwarding (Bypassing)</a:t>
            </a:r>
          </a:p>
        </p:txBody>
      </p:sp>
      <p:sp>
        <p:nvSpPr>
          <p:cNvPr id="4" name="灯片编号占位符 3"/>
          <p:cNvSpPr>
            <a:spLocks noGrp="1"/>
          </p:cNvSpPr>
          <p:nvPr>
            <p:ph type="sldNum" sz="quarter" idx="10"/>
          </p:nvPr>
        </p:nvSpPr>
        <p:spPr>
          <a:xfrm>
            <a:off x="9108017" y="6398752"/>
            <a:ext cx="2844800" cy="339725"/>
          </a:xfrm>
        </p:spPr>
        <p:txBody>
          <a:bodyPr/>
          <a:lstStyle/>
          <a:p>
            <a:pPr defTabSz="1219170"/>
            <a:fld id="{D9B6BDF2-6896-4B98-8776-C18582F63BA5}" type="slidenum">
              <a:rPr lang="zh-TW" altLang="en-US">
                <a:solidFill>
                  <a:prstClr val="white"/>
                </a:solidFill>
              </a:rPr>
              <a:pPr defTabSz="1219170"/>
              <a:t>13</a:t>
            </a:fld>
            <a:endParaRPr lang="zh-TW" altLang="en-US" dirty="0">
              <a:solidFill>
                <a:prstClr val="white"/>
              </a:solidFill>
            </a:endParaRPr>
          </a:p>
        </p:txBody>
      </p:sp>
      <p:pic>
        <p:nvPicPr>
          <p:cNvPr id="6" name="Picture 5">
            <a:extLst>
              <a:ext uri="{FF2B5EF4-FFF2-40B4-BE49-F238E27FC236}">
                <a16:creationId xmlns:a16="http://schemas.microsoft.com/office/drawing/2014/main" id="{4FF4381C-2800-42E7-8123-03EB98B57631}"/>
              </a:ext>
            </a:extLst>
          </p:cNvPr>
          <p:cNvPicPr>
            <a:picLocks noChangeAspect="1"/>
          </p:cNvPicPr>
          <p:nvPr/>
        </p:nvPicPr>
        <p:blipFill>
          <a:blip r:embed="rId3"/>
          <a:stretch>
            <a:fillRect/>
          </a:stretch>
        </p:blipFill>
        <p:spPr>
          <a:xfrm>
            <a:off x="0" y="1073752"/>
            <a:ext cx="12192000" cy="5087865"/>
          </a:xfrm>
          <a:prstGeom prst="rect">
            <a:avLst/>
          </a:prstGeom>
        </p:spPr>
      </p:pic>
    </p:spTree>
    <p:extLst>
      <p:ext uri="{BB962C8B-B14F-4D97-AF65-F5344CB8AC3E}">
        <p14:creationId xmlns:p14="http://schemas.microsoft.com/office/powerpoint/2010/main" val="120705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867" y="144466"/>
            <a:ext cx="10517721" cy="692151"/>
          </a:xfrm>
        </p:spPr>
        <p:txBody>
          <a:bodyPr/>
          <a:lstStyle/>
          <a:p>
            <a:r>
              <a:rPr lang="en-US" altLang="zh-CN" sz="4000" dirty="0"/>
              <a:t>Data Forwarding for Load Instructions</a:t>
            </a:r>
          </a:p>
        </p:txBody>
      </p:sp>
      <p:sp>
        <p:nvSpPr>
          <p:cNvPr id="4" name="灯片编号占位符 3"/>
          <p:cNvSpPr>
            <a:spLocks noGrp="1"/>
          </p:cNvSpPr>
          <p:nvPr>
            <p:ph type="sldNum" sz="quarter" idx="10"/>
          </p:nvPr>
        </p:nvSpPr>
        <p:spPr>
          <a:xfrm>
            <a:off x="9108017" y="6398752"/>
            <a:ext cx="2844800" cy="339725"/>
          </a:xfrm>
        </p:spPr>
        <p:txBody>
          <a:bodyPr/>
          <a:lstStyle/>
          <a:p>
            <a:pPr defTabSz="1219170"/>
            <a:fld id="{D9B6BDF2-6896-4B98-8776-C18582F63BA5}" type="slidenum">
              <a:rPr lang="zh-TW" altLang="en-US">
                <a:solidFill>
                  <a:prstClr val="white"/>
                </a:solidFill>
              </a:rPr>
              <a:pPr defTabSz="1219170"/>
              <a:t>14</a:t>
            </a:fld>
            <a:endParaRPr lang="zh-TW" altLang="en-US" dirty="0">
              <a:solidFill>
                <a:prstClr val="white"/>
              </a:solidFill>
            </a:endParaRPr>
          </a:p>
        </p:txBody>
      </p:sp>
      <p:pic>
        <p:nvPicPr>
          <p:cNvPr id="3" name="Picture 2">
            <a:extLst>
              <a:ext uri="{FF2B5EF4-FFF2-40B4-BE49-F238E27FC236}">
                <a16:creationId xmlns:a16="http://schemas.microsoft.com/office/drawing/2014/main" id="{3A4E3BFF-EFB2-44F8-B638-EA27D135CBB7}"/>
              </a:ext>
            </a:extLst>
          </p:cNvPr>
          <p:cNvPicPr>
            <a:picLocks noChangeAspect="1"/>
          </p:cNvPicPr>
          <p:nvPr/>
        </p:nvPicPr>
        <p:blipFill>
          <a:blip r:embed="rId3"/>
          <a:stretch>
            <a:fillRect/>
          </a:stretch>
        </p:blipFill>
        <p:spPr>
          <a:xfrm>
            <a:off x="61070" y="1040860"/>
            <a:ext cx="12069859" cy="5126476"/>
          </a:xfrm>
          <a:prstGeom prst="rect">
            <a:avLst/>
          </a:prstGeom>
        </p:spPr>
      </p:pic>
      <p:sp>
        <p:nvSpPr>
          <p:cNvPr id="7" name="Rectangle 6">
            <a:extLst>
              <a:ext uri="{FF2B5EF4-FFF2-40B4-BE49-F238E27FC236}">
                <a16:creationId xmlns:a16="http://schemas.microsoft.com/office/drawing/2014/main" id="{0CAC1183-6B6B-4387-8EED-B09E4799D960}"/>
              </a:ext>
            </a:extLst>
          </p:cNvPr>
          <p:cNvSpPr/>
          <p:nvPr/>
        </p:nvSpPr>
        <p:spPr bwMode="auto">
          <a:xfrm>
            <a:off x="61070" y="2344366"/>
            <a:ext cx="11777492" cy="2772383"/>
          </a:xfrm>
          <a:prstGeom prst="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1745287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867" y="144466"/>
            <a:ext cx="10517721" cy="692151"/>
          </a:xfrm>
        </p:spPr>
        <p:txBody>
          <a:bodyPr/>
          <a:lstStyle/>
          <a:p>
            <a:r>
              <a:rPr lang="en-US" altLang="zh-CN" sz="4000" dirty="0"/>
              <a:t>Data Forwarding for Load Instructions</a:t>
            </a:r>
          </a:p>
        </p:txBody>
      </p:sp>
      <p:sp>
        <p:nvSpPr>
          <p:cNvPr id="4" name="灯片编号占位符 3"/>
          <p:cNvSpPr>
            <a:spLocks noGrp="1"/>
          </p:cNvSpPr>
          <p:nvPr>
            <p:ph type="sldNum" sz="quarter" idx="10"/>
          </p:nvPr>
        </p:nvSpPr>
        <p:spPr>
          <a:xfrm>
            <a:off x="9108017" y="6398752"/>
            <a:ext cx="2844800" cy="339725"/>
          </a:xfrm>
        </p:spPr>
        <p:txBody>
          <a:bodyPr/>
          <a:lstStyle/>
          <a:p>
            <a:pPr defTabSz="1219170"/>
            <a:fld id="{D9B6BDF2-6896-4B98-8776-C18582F63BA5}" type="slidenum">
              <a:rPr lang="zh-TW" altLang="en-US">
                <a:solidFill>
                  <a:prstClr val="white"/>
                </a:solidFill>
              </a:rPr>
              <a:pPr defTabSz="1219170"/>
              <a:t>15</a:t>
            </a:fld>
            <a:endParaRPr lang="zh-TW" altLang="en-US" dirty="0">
              <a:solidFill>
                <a:prstClr val="white"/>
              </a:solidFill>
            </a:endParaRPr>
          </a:p>
        </p:txBody>
      </p:sp>
      <p:pic>
        <p:nvPicPr>
          <p:cNvPr id="3" name="Picture 2">
            <a:extLst>
              <a:ext uri="{FF2B5EF4-FFF2-40B4-BE49-F238E27FC236}">
                <a16:creationId xmlns:a16="http://schemas.microsoft.com/office/drawing/2014/main" id="{3A4E3BFF-EFB2-44F8-B638-EA27D135CBB7}"/>
              </a:ext>
            </a:extLst>
          </p:cNvPr>
          <p:cNvPicPr>
            <a:picLocks noChangeAspect="1"/>
          </p:cNvPicPr>
          <p:nvPr/>
        </p:nvPicPr>
        <p:blipFill>
          <a:blip r:embed="rId3"/>
          <a:stretch>
            <a:fillRect/>
          </a:stretch>
        </p:blipFill>
        <p:spPr>
          <a:xfrm>
            <a:off x="61070" y="1070042"/>
            <a:ext cx="12069859" cy="5126476"/>
          </a:xfrm>
          <a:prstGeom prst="rect">
            <a:avLst/>
          </a:prstGeom>
        </p:spPr>
      </p:pic>
      <p:sp>
        <p:nvSpPr>
          <p:cNvPr id="2" name="Rectangle 1">
            <a:extLst>
              <a:ext uri="{FF2B5EF4-FFF2-40B4-BE49-F238E27FC236}">
                <a16:creationId xmlns:a16="http://schemas.microsoft.com/office/drawing/2014/main" id="{1F722FD3-D1AB-40CC-AE99-BA983DB506C5}"/>
              </a:ext>
            </a:extLst>
          </p:cNvPr>
          <p:cNvSpPr/>
          <p:nvPr/>
        </p:nvSpPr>
        <p:spPr bwMode="auto">
          <a:xfrm rot="20169986">
            <a:off x="927456" y="2507054"/>
            <a:ext cx="719279" cy="1784453"/>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 name="Arrow: Down 5">
            <a:extLst>
              <a:ext uri="{FF2B5EF4-FFF2-40B4-BE49-F238E27FC236}">
                <a16:creationId xmlns:a16="http://schemas.microsoft.com/office/drawing/2014/main" id="{C4FB41B4-F41B-4C30-AE6D-11A27986A737}"/>
              </a:ext>
            </a:extLst>
          </p:cNvPr>
          <p:cNvSpPr/>
          <p:nvPr/>
        </p:nvSpPr>
        <p:spPr bwMode="auto">
          <a:xfrm>
            <a:off x="6225702" y="2937753"/>
            <a:ext cx="247924" cy="491247"/>
          </a:xfrm>
          <a:prstGeom prst="downArrow">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TextBox 7">
            <a:extLst>
              <a:ext uri="{FF2B5EF4-FFF2-40B4-BE49-F238E27FC236}">
                <a16:creationId xmlns:a16="http://schemas.microsoft.com/office/drawing/2014/main" id="{236862FA-72FA-4C8D-9173-519AF080A2B5}"/>
              </a:ext>
            </a:extLst>
          </p:cNvPr>
          <p:cNvSpPr txBox="1"/>
          <p:nvPr/>
        </p:nvSpPr>
        <p:spPr>
          <a:xfrm>
            <a:off x="8421267" y="2517312"/>
            <a:ext cx="3326552" cy="646331"/>
          </a:xfrm>
          <a:prstGeom prst="rect">
            <a:avLst/>
          </a:prstGeom>
          <a:noFill/>
        </p:spPr>
        <p:txBody>
          <a:bodyPr wrap="none" rtlCol="0" anchor="ctr" anchorCtr="1">
            <a:spAutoFit/>
          </a:bodyPr>
          <a:lstStyle/>
          <a:p>
            <a:r>
              <a:rPr lang="en-US" dirty="0">
                <a:solidFill>
                  <a:srgbClr val="FFFF00"/>
                </a:solidFill>
                <a:ea typeface="標楷體" pitchFamily="65" charset="-120"/>
                <a:cs typeface="Calibri" pitchFamily="34" charset="0"/>
              </a:rPr>
              <a:t>This forwarding does not work!</a:t>
            </a:r>
          </a:p>
          <a:p>
            <a:r>
              <a:rPr lang="en-US" dirty="0">
                <a:solidFill>
                  <a:srgbClr val="FFFF00"/>
                </a:solidFill>
                <a:ea typeface="標楷體" pitchFamily="65" charset="-120"/>
                <a:cs typeface="Calibri" pitchFamily="34" charset="0"/>
              </a:rPr>
              <a:t>Must stall !</a:t>
            </a:r>
          </a:p>
        </p:txBody>
      </p:sp>
      <p:cxnSp>
        <p:nvCxnSpPr>
          <p:cNvPr id="10" name="Straight Arrow Connector 9">
            <a:extLst>
              <a:ext uri="{FF2B5EF4-FFF2-40B4-BE49-F238E27FC236}">
                <a16:creationId xmlns:a16="http://schemas.microsoft.com/office/drawing/2014/main" id="{60D6E36D-56C9-4CA1-9226-34E3785A9A62}"/>
              </a:ext>
            </a:extLst>
          </p:cNvPr>
          <p:cNvCxnSpPr>
            <a:stCxn id="8" idx="1"/>
          </p:cNvCxnSpPr>
          <p:nvPr/>
        </p:nvCxnSpPr>
        <p:spPr bwMode="auto">
          <a:xfrm flipH="1">
            <a:off x="6473626" y="2840478"/>
            <a:ext cx="1947641" cy="342898"/>
          </a:xfrm>
          <a:prstGeom prst="straightConnector1">
            <a:avLst/>
          </a:prstGeom>
          <a:noFill/>
          <a:ln w="38100" cap="flat" cmpd="sng" algn="ctr">
            <a:solidFill>
              <a:srgbClr val="FF0000"/>
            </a:solidFill>
            <a:prstDash val="solid"/>
            <a:round/>
            <a:headEnd type="none" w="med" len="med"/>
            <a:tailEnd type="stealth" w="lg" len="lg"/>
          </a:ln>
          <a:effectLst/>
        </p:spPr>
      </p:cxnSp>
    </p:spTree>
    <p:extLst>
      <p:ext uri="{BB962C8B-B14F-4D97-AF65-F5344CB8AC3E}">
        <p14:creationId xmlns:p14="http://schemas.microsoft.com/office/powerpoint/2010/main" val="2057909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altLang="zh-TW" dirty="0"/>
              <a:t>Detect Data Hazards (1)</a:t>
            </a:r>
          </a:p>
        </p:txBody>
      </p:sp>
      <p:sp>
        <p:nvSpPr>
          <p:cNvPr id="76803" name="Rectangle 3"/>
          <p:cNvSpPr>
            <a:spLocks noGrp="1" noChangeArrowheads="1"/>
          </p:cNvSpPr>
          <p:nvPr>
            <p:ph idx="1"/>
          </p:nvPr>
        </p:nvSpPr>
        <p:spPr>
          <a:xfrm>
            <a:off x="478164" y="1083226"/>
            <a:ext cx="10171953" cy="4895851"/>
          </a:xfrm>
        </p:spPr>
        <p:txBody>
          <a:bodyPr/>
          <a:lstStyle/>
          <a:p>
            <a:r>
              <a:rPr lang="en-US" altLang="zh-TW" sz="3200" dirty="0"/>
              <a:t>Hazard conditions</a:t>
            </a:r>
          </a:p>
          <a:p>
            <a:pPr lvl="1"/>
            <a:r>
              <a:rPr lang="en-US" altLang="zh-TW" sz="2800" dirty="0"/>
              <a:t>1a. EX/</a:t>
            </a:r>
            <a:r>
              <a:rPr lang="en-US" altLang="zh-TW" sz="2800" dirty="0" err="1"/>
              <a:t>MEM.RegRd</a:t>
            </a:r>
            <a:r>
              <a:rPr lang="en-US" altLang="zh-TW" sz="2800" dirty="0"/>
              <a:t> = ID/EX.RegRs1</a:t>
            </a:r>
          </a:p>
          <a:p>
            <a:pPr lvl="1"/>
            <a:r>
              <a:rPr lang="en-US" altLang="zh-TW" sz="2800" dirty="0"/>
              <a:t>1b. EX/</a:t>
            </a:r>
            <a:r>
              <a:rPr lang="en-US" altLang="zh-TW" sz="2800" dirty="0" err="1"/>
              <a:t>MEM.RegRd</a:t>
            </a:r>
            <a:r>
              <a:rPr lang="en-US" altLang="zh-TW" sz="2800" dirty="0"/>
              <a:t> = ID/EX.RegRs2</a:t>
            </a:r>
          </a:p>
          <a:p>
            <a:pPr lvl="1"/>
            <a:r>
              <a:rPr lang="en-US" altLang="zh-TW" sz="2800" dirty="0"/>
              <a:t>2a. MEM/</a:t>
            </a:r>
            <a:r>
              <a:rPr lang="en-US" altLang="zh-TW" sz="2800" dirty="0" err="1"/>
              <a:t>WB.RegRd</a:t>
            </a:r>
            <a:r>
              <a:rPr lang="en-US" altLang="zh-TW" sz="2800" dirty="0"/>
              <a:t> = ID/EX.RegRs1</a:t>
            </a:r>
          </a:p>
          <a:p>
            <a:pPr lvl="1"/>
            <a:r>
              <a:rPr lang="en-US" altLang="zh-TW" sz="2800" dirty="0"/>
              <a:t>2b. MEM/</a:t>
            </a:r>
            <a:r>
              <a:rPr lang="en-US" altLang="zh-TW" sz="2800" dirty="0" err="1"/>
              <a:t>WB.RegRd</a:t>
            </a:r>
            <a:r>
              <a:rPr lang="en-US" altLang="zh-TW" sz="2800" dirty="0"/>
              <a:t> = ID/EX.RegRs2</a:t>
            </a:r>
          </a:p>
          <a:p>
            <a:r>
              <a:rPr lang="en-US" altLang="zh-TW" sz="3200" dirty="0"/>
              <a:t>Some </a:t>
            </a:r>
            <a:r>
              <a:rPr lang="en-US" altLang="zh-TW" sz="3200" dirty="0">
                <a:solidFill>
                  <a:srgbClr val="FF0000"/>
                </a:solidFill>
              </a:rPr>
              <a:t>corner cases</a:t>
            </a:r>
          </a:p>
          <a:p>
            <a:pPr lvl="1"/>
            <a:r>
              <a:rPr lang="en-US" altLang="zh-TW" sz="2800" dirty="0"/>
              <a:t>Do not forward if instruction does not write register</a:t>
            </a:r>
            <a:br>
              <a:rPr lang="en-US" altLang="zh-TW" sz="2800" dirty="0"/>
            </a:br>
            <a:r>
              <a:rPr lang="en-US" altLang="zh-TW" sz="2800" dirty="0"/>
              <a:t>=&gt; check if </a:t>
            </a:r>
            <a:r>
              <a:rPr lang="en-US" altLang="zh-TW" sz="2800" dirty="0" err="1"/>
              <a:t>RegWr</a:t>
            </a:r>
            <a:r>
              <a:rPr lang="en-US" altLang="zh-TW" sz="2800" dirty="0"/>
              <a:t> is asserted</a:t>
            </a:r>
          </a:p>
          <a:p>
            <a:pPr lvl="1"/>
            <a:r>
              <a:rPr lang="en-US" altLang="zh-TW" sz="2800" dirty="0"/>
              <a:t>Do not forward if destination register is $0</a:t>
            </a:r>
            <a:br>
              <a:rPr lang="en-US" altLang="zh-TW" sz="2800" dirty="0"/>
            </a:br>
            <a:r>
              <a:rPr lang="en-US" altLang="zh-TW" sz="2800" dirty="0"/>
              <a:t>=&gt; check if </a:t>
            </a:r>
            <a:r>
              <a:rPr lang="en-US" altLang="zh-TW" sz="2800" dirty="0" err="1"/>
              <a:t>RegRd</a:t>
            </a:r>
            <a:r>
              <a:rPr lang="en-US" altLang="zh-TW" sz="2800" dirty="0"/>
              <a:t> = 0</a:t>
            </a:r>
          </a:p>
        </p:txBody>
      </p:sp>
      <p:sp>
        <p:nvSpPr>
          <p:cNvPr id="76804"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F797A42B-4208-4460-8F20-6003F215C85C}" type="slidenum">
              <a:rPr lang="zh-TW" altLang="en-US" sz="1400" b="0">
                <a:solidFill>
                  <a:schemeClr val="bg1"/>
                </a:solidFill>
                <a:latin typeface="Arial" panose="020B0604020202090204" pitchFamily="34" charset="0"/>
                <a:ea typeface="新細明體" panose="02020500000000000000" pitchFamily="18" charset="-120"/>
              </a:rPr>
              <a:t>16</a:t>
            </a:fld>
            <a:endParaRPr lang="en-US" altLang="zh-TW" sz="1400" b="0">
              <a:solidFill>
                <a:schemeClr val="bg1"/>
              </a:solidFill>
              <a:latin typeface="Arial" panose="020B0604020202090204" pitchFamily="34" charset="0"/>
              <a:ea typeface="新細明體" panose="02020500000000000000" pitchFamily="18" charset="-120"/>
            </a:endParaRPr>
          </a:p>
        </p:txBody>
      </p:sp>
      <p:sp>
        <p:nvSpPr>
          <p:cNvPr id="5" name="TextBox 9"/>
          <p:cNvSpPr txBox="1"/>
          <p:nvPr/>
        </p:nvSpPr>
        <p:spPr>
          <a:xfrm>
            <a:off x="8237903" y="1791282"/>
            <a:ext cx="2042684" cy="830997"/>
          </a:xfrm>
          <a:prstGeom prst="rect">
            <a:avLst/>
          </a:prstGeom>
          <a:noFill/>
        </p:spPr>
        <p:txBody>
          <a:bodyPr wrap="square" rtlCol="0">
            <a:spAutoFit/>
          </a:bodyPr>
          <a:lstStyle/>
          <a:p>
            <a:r>
              <a:rPr lang="en-US" sz="1600" dirty="0"/>
              <a:t>Forward from</a:t>
            </a:r>
            <a:br>
              <a:rPr lang="en-US" sz="1600" dirty="0"/>
            </a:br>
            <a:r>
              <a:rPr lang="en-US" sz="1600" dirty="0"/>
              <a:t>EX/MEM pipeline</a:t>
            </a:r>
            <a:br>
              <a:rPr lang="en-US" sz="1600" dirty="0"/>
            </a:br>
            <a:r>
              <a:rPr lang="en-US" sz="1600" dirty="0"/>
              <a:t>registers</a:t>
            </a:r>
          </a:p>
        </p:txBody>
      </p:sp>
      <p:sp>
        <p:nvSpPr>
          <p:cNvPr id="6" name="TextBox 10"/>
          <p:cNvSpPr txBox="1"/>
          <p:nvPr/>
        </p:nvSpPr>
        <p:spPr>
          <a:xfrm>
            <a:off x="8285840" y="2810964"/>
            <a:ext cx="1813317" cy="830997"/>
          </a:xfrm>
          <a:prstGeom prst="rect">
            <a:avLst/>
          </a:prstGeom>
          <a:noFill/>
        </p:spPr>
        <p:txBody>
          <a:bodyPr wrap="none" rtlCol="0">
            <a:spAutoFit/>
          </a:bodyPr>
          <a:lstStyle/>
          <a:p>
            <a:r>
              <a:rPr lang="en-US" sz="1600" dirty="0"/>
              <a:t>Forward from</a:t>
            </a:r>
            <a:br>
              <a:rPr lang="en-US" sz="1600" dirty="0"/>
            </a:br>
            <a:r>
              <a:rPr lang="en-US" sz="1600" dirty="0"/>
              <a:t>MEM/WB pipeline</a:t>
            </a:r>
            <a:br>
              <a:rPr lang="en-US" sz="1600" dirty="0"/>
            </a:br>
            <a:r>
              <a:rPr lang="en-US" sz="1600" dirty="0"/>
              <a:t>registers</a:t>
            </a:r>
          </a:p>
        </p:txBody>
      </p:sp>
      <p:sp>
        <p:nvSpPr>
          <p:cNvPr id="7" name="Right Brace 5"/>
          <p:cNvSpPr/>
          <p:nvPr/>
        </p:nvSpPr>
        <p:spPr>
          <a:xfrm>
            <a:off x="7220338" y="1891647"/>
            <a:ext cx="265907" cy="642937"/>
          </a:xfrm>
          <a:prstGeom prst="rightBrace">
            <a:avLst>
              <a:gd name="adj1" fmla="val 38333"/>
              <a:gd name="adj2" fmla="val 52177"/>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ight Brace 8"/>
          <p:cNvSpPr/>
          <p:nvPr/>
        </p:nvSpPr>
        <p:spPr>
          <a:xfrm>
            <a:off x="7220338" y="2914840"/>
            <a:ext cx="265907" cy="642937"/>
          </a:xfrm>
          <a:prstGeom prst="rightBrace">
            <a:avLst>
              <a:gd name="adj1" fmla="val 38333"/>
              <a:gd name="adj2" fmla="val 48732"/>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2" name="组合 1"/>
          <p:cNvGrpSpPr/>
          <p:nvPr/>
        </p:nvGrpSpPr>
        <p:grpSpPr>
          <a:xfrm>
            <a:off x="6096000" y="1108378"/>
            <a:ext cx="5197813" cy="536609"/>
            <a:chOff x="4738269" y="4221791"/>
            <a:chExt cx="3383756" cy="228604"/>
          </a:xfrm>
        </p:grpSpPr>
        <p:grpSp>
          <p:nvGrpSpPr>
            <p:cNvPr id="9" name="Group 142"/>
            <p:cNvGrpSpPr/>
            <p:nvPr/>
          </p:nvGrpSpPr>
          <p:grpSpPr bwMode="auto">
            <a:xfrm>
              <a:off x="4738269" y="4226557"/>
              <a:ext cx="659606" cy="223838"/>
              <a:chOff x="1496" y="1591"/>
              <a:chExt cx="512" cy="188"/>
            </a:xfrm>
          </p:grpSpPr>
          <p:sp>
            <p:nvSpPr>
              <p:cNvPr id="10" name="Rectangle 143"/>
              <p:cNvSpPr>
                <a:spLocks noChangeArrowheads="1"/>
              </p:cNvSpPr>
              <p:nvPr/>
            </p:nvSpPr>
            <p:spPr bwMode="auto">
              <a:xfrm>
                <a:off x="1496" y="1592"/>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sz="1333" b="0">
                  <a:latin typeface="Times New Roman" panose="02020503050405090304" pitchFamily="18" charset="0"/>
                  <a:ea typeface="新細明體" panose="02020500000000000000" pitchFamily="18" charset="-120"/>
                </a:endParaRPr>
              </a:p>
            </p:txBody>
          </p:sp>
          <p:sp>
            <p:nvSpPr>
              <p:cNvPr id="11" name="Rectangle 144"/>
              <p:cNvSpPr>
                <a:spLocks noChangeArrowheads="1"/>
              </p:cNvSpPr>
              <p:nvPr/>
            </p:nvSpPr>
            <p:spPr bwMode="auto">
              <a:xfrm>
                <a:off x="1656" y="1591"/>
                <a:ext cx="20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333" dirty="0">
                    <a:latin typeface="Times New Roman" panose="02020503050405090304" pitchFamily="18" charset="0"/>
                    <a:ea typeface="新細明體" panose="02020500000000000000" pitchFamily="18" charset="-120"/>
                  </a:rPr>
                  <a:t>IF</a:t>
                </a:r>
              </a:p>
            </p:txBody>
          </p:sp>
        </p:grpSp>
        <p:grpSp>
          <p:nvGrpSpPr>
            <p:cNvPr id="12" name="Group 145"/>
            <p:cNvGrpSpPr/>
            <p:nvPr/>
          </p:nvGrpSpPr>
          <p:grpSpPr bwMode="auto">
            <a:xfrm>
              <a:off x="5418729" y="4226557"/>
              <a:ext cx="660845" cy="223838"/>
              <a:chOff x="2024" y="1591"/>
              <a:chExt cx="512" cy="188"/>
            </a:xfrm>
          </p:grpSpPr>
          <p:sp>
            <p:nvSpPr>
              <p:cNvPr id="13" name="Rectangle 146"/>
              <p:cNvSpPr>
                <a:spLocks noChangeArrowheads="1"/>
              </p:cNvSpPr>
              <p:nvPr/>
            </p:nvSpPr>
            <p:spPr bwMode="auto">
              <a:xfrm>
                <a:off x="2024" y="1592"/>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sz="1333" b="0">
                  <a:latin typeface="Times New Roman" panose="02020503050405090304" pitchFamily="18" charset="0"/>
                  <a:ea typeface="新細明體" panose="02020500000000000000" pitchFamily="18" charset="-120"/>
                </a:endParaRPr>
              </a:p>
            </p:txBody>
          </p:sp>
          <p:sp>
            <p:nvSpPr>
              <p:cNvPr id="14" name="Rectangle 147"/>
              <p:cNvSpPr>
                <a:spLocks noChangeArrowheads="1"/>
              </p:cNvSpPr>
              <p:nvPr/>
            </p:nvSpPr>
            <p:spPr bwMode="auto">
              <a:xfrm>
                <a:off x="2198" y="1591"/>
                <a:ext cx="219"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333" dirty="0">
                    <a:latin typeface="Times New Roman" panose="02020503050405090304" pitchFamily="18" charset="0"/>
                    <a:ea typeface="新細明體" panose="02020500000000000000" pitchFamily="18" charset="-120"/>
                  </a:rPr>
                  <a:t>ID</a:t>
                </a:r>
              </a:p>
            </p:txBody>
          </p:sp>
        </p:grpSp>
        <p:sp>
          <p:nvSpPr>
            <p:cNvPr id="15" name="Rectangle 148"/>
            <p:cNvSpPr>
              <a:spLocks noChangeArrowheads="1"/>
            </p:cNvSpPr>
            <p:nvPr/>
          </p:nvSpPr>
          <p:spPr bwMode="auto">
            <a:xfrm>
              <a:off x="6100344" y="4227745"/>
              <a:ext cx="659606" cy="20955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sz="1333" b="0">
                <a:latin typeface="Times New Roman" panose="02020503050405090304" pitchFamily="18" charset="0"/>
                <a:ea typeface="新細明體" panose="02020500000000000000" pitchFamily="18" charset="-120"/>
              </a:endParaRPr>
            </a:p>
          </p:txBody>
        </p:sp>
        <p:sp>
          <p:nvSpPr>
            <p:cNvPr id="16" name="Rectangle 149"/>
            <p:cNvSpPr>
              <a:spLocks noChangeArrowheads="1"/>
            </p:cNvSpPr>
            <p:nvPr/>
          </p:nvSpPr>
          <p:spPr bwMode="auto">
            <a:xfrm>
              <a:off x="6195594" y="4221791"/>
              <a:ext cx="401552" cy="223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333">
                  <a:latin typeface="Times New Roman" panose="02020503050405090304" pitchFamily="18" charset="0"/>
                  <a:ea typeface="新細明體" panose="02020500000000000000" pitchFamily="18" charset="-120"/>
                </a:rPr>
                <a:t>Exec</a:t>
              </a:r>
            </a:p>
          </p:txBody>
        </p:sp>
        <p:grpSp>
          <p:nvGrpSpPr>
            <p:cNvPr id="17" name="Group 150"/>
            <p:cNvGrpSpPr/>
            <p:nvPr/>
          </p:nvGrpSpPr>
          <p:grpSpPr bwMode="auto">
            <a:xfrm>
              <a:off x="7462419" y="4226557"/>
              <a:ext cx="659606" cy="223838"/>
              <a:chOff x="3608" y="1591"/>
              <a:chExt cx="512" cy="188"/>
            </a:xfrm>
          </p:grpSpPr>
          <p:sp>
            <p:nvSpPr>
              <p:cNvPr id="18" name="Rectangle 151"/>
              <p:cNvSpPr>
                <a:spLocks noChangeArrowheads="1"/>
              </p:cNvSpPr>
              <p:nvPr/>
            </p:nvSpPr>
            <p:spPr bwMode="auto">
              <a:xfrm>
                <a:off x="3608" y="1592"/>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sz="1333" b="0">
                  <a:latin typeface="Times New Roman" panose="02020503050405090304" pitchFamily="18" charset="0"/>
                  <a:ea typeface="新細明體" panose="02020500000000000000" pitchFamily="18" charset="-120"/>
                </a:endParaRPr>
              </a:p>
            </p:txBody>
          </p:sp>
          <p:sp>
            <p:nvSpPr>
              <p:cNvPr id="19" name="Rectangle 152"/>
              <p:cNvSpPr>
                <a:spLocks noChangeArrowheads="1"/>
              </p:cNvSpPr>
              <p:nvPr/>
            </p:nvSpPr>
            <p:spPr bwMode="auto">
              <a:xfrm>
                <a:off x="3686" y="1591"/>
                <a:ext cx="27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333" dirty="0">
                    <a:latin typeface="Times New Roman" panose="02020503050405090304" pitchFamily="18" charset="0"/>
                    <a:ea typeface="新細明體" panose="02020500000000000000" pitchFamily="18" charset="-120"/>
                  </a:rPr>
                  <a:t>WB</a:t>
                </a:r>
              </a:p>
            </p:txBody>
          </p:sp>
        </p:grpSp>
        <p:sp>
          <p:nvSpPr>
            <p:cNvPr id="20" name="Rectangle 154"/>
            <p:cNvSpPr>
              <a:spLocks noChangeArrowheads="1"/>
            </p:cNvSpPr>
            <p:nvPr/>
          </p:nvSpPr>
          <p:spPr bwMode="auto">
            <a:xfrm>
              <a:off x="6781382" y="4227745"/>
              <a:ext cx="659606" cy="209550"/>
            </a:xfrm>
            <a:prstGeom prst="rect">
              <a:avLst/>
            </a:prstGeom>
            <a:solidFill>
              <a:srgbClr val="FFFFFF"/>
            </a:solidFill>
            <a:ln w="25400">
              <a:solidFill>
                <a:schemeClr val="tx1"/>
              </a:solidFill>
              <a:miter lim="800000"/>
            </a:ln>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sz="1333" b="0" dirty="0">
                <a:latin typeface="Times New Roman" panose="02020503050405090304" pitchFamily="18" charset="0"/>
                <a:ea typeface="新細明體" panose="02020500000000000000" pitchFamily="18" charset="-120"/>
              </a:endParaRPr>
            </a:p>
          </p:txBody>
        </p:sp>
        <p:sp>
          <p:nvSpPr>
            <p:cNvPr id="21" name="Rectangle 155"/>
            <p:cNvSpPr>
              <a:spLocks noChangeArrowheads="1"/>
            </p:cNvSpPr>
            <p:nvPr/>
          </p:nvSpPr>
          <p:spPr bwMode="auto">
            <a:xfrm>
              <a:off x="6876632" y="4221791"/>
              <a:ext cx="467677" cy="223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333" dirty="0">
                  <a:latin typeface="Times New Roman" panose="02020503050405090304" pitchFamily="18" charset="0"/>
                  <a:ea typeface="新細明體" panose="02020500000000000000" pitchFamily="18" charset="-120"/>
                </a:rPr>
                <a:t>MEM</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594788" y="1147863"/>
            <a:ext cx="10972800" cy="5058383"/>
          </a:xfrm>
        </p:spPr>
        <p:txBody>
          <a:bodyPr/>
          <a:lstStyle/>
          <a:p>
            <a:pPr marL="514345" indent="-457200">
              <a:buSzPct val="186000"/>
              <a:buFont typeface="Arial" panose="020B0604020202020204" pitchFamily="34" charset="0"/>
              <a:buChar char="•"/>
            </a:pPr>
            <a:r>
              <a:rPr lang="en-US" altLang="zh-CN" sz="2600" dirty="0"/>
              <a:t>MIPS (Micro-Processor without Interlocked Pipe Stages) implemented a micro-processor with no pipelined interlocks. To deal with data hazards, the compiler must reorder instructions to avoid data hazards. If no instructions to be placed between a generate-and-use gap, NOPs must be inserted.</a:t>
            </a:r>
          </a:p>
          <a:p>
            <a:pPr marL="514345" indent="-457200">
              <a:buSzPct val="186000"/>
              <a:buFont typeface="Arial" panose="020B0604020202020204" pitchFamily="34" charset="0"/>
              <a:buChar char="•"/>
            </a:pPr>
            <a:r>
              <a:rPr lang="en-US" altLang="zh-CN" sz="2600" dirty="0"/>
              <a:t>Most pipelined microprocessors do have hardware interlocks. So the compiler reorders instructions to reduce the number of interlocks (or stalls) occur at runtime.</a:t>
            </a:r>
          </a:p>
          <a:p>
            <a:pPr marL="514345" indent="-457200">
              <a:buSzPct val="186000"/>
              <a:buFont typeface="Arial" panose="020B0604020202020204" pitchFamily="34" charset="0"/>
              <a:buChar char="•"/>
            </a:pPr>
            <a:r>
              <a:rPr lang="en-US" altLang="zh-CN" sz="2600" dirty="0"/>
              <a:t>Reordering at compile time is very cost effective, except for</a:t>
            </a:r>
          </a:p>
          <a:p>
            <a:pPr lvl="1">
              <a:buSzPct val="100000"/>
              <a:buFont typeface="Wingdings" panose="05000000000000000000" pitchFamily="2" charset="2"/>
              <a:buChar char="Ø"/>
            </a:pPr>
            <a:r>
              <a:rPr lang="en-US" altLang="zh-CN" sz="2067" dirty="0"/>
              <a:t>Memory dependences are often unknown</a:t>
            </a:r>
          </a:p>
          <a:p>
            <a:pPr lvl="1">
              <a:buSzPct val="100000"/>
              <a:buFont typeface="Wingdings" panose="05000000000000000000" pitchFamily="2" charset="2"/>
              <a:buChar char="Ø"/>
            </a:pPr>
            <a:r>
              <a:rPr lang="en-US" altLang="zh-CN" sz="2067" dirty="0"/>
              <a:t>Scheduling (reordering) scope is often limited by branches, indirect branches, and call/ret.</a:t>
            </a:r>
          </a:p>
          <a:p>
            <a:pPr marL="514345" indent="-457200">
              <a:buSzPct val="186000"/>
              <a:buFont typeface="Arial" panose="020B0604020202020204" pitchFamily="34" charset="0"/>
              <a:buChar char="•"/>
            </a:pPr>
            <a:endParaRPr lang="en-US" altLang="zh-CN" sz="2600" dirty="0"/>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17</a:t>
            </a:fld>
            <a:endParaRPr lang="zh-TW" altLang="en-US">
              <a:solidFill>
                <a:prstClr val="white"/>
              </a:solidFill>
            </a:endParaRPr>
          </a:p>
        </p:txBody>
      </p:sp>
      <p:sp>
        <p:nvSpPr>
          <p:cNvPr id="7" name="标题 4">
            <a:extLst>
              <a:ext uri="{FF2B5EF4-FFF2-40B4-BE49-F238E27FC236}">
                <a16:creationId xmlns:a16="http://schemas.microsoft.com/office/drawing/2014/main" id="{3D35E532-259E-4216-8365-094358C0C83C}"/>
              </a:ext>
            </a:extLst>
          </p:cNvPr>
          <p:cNvSpPr>
            <a:spLocks noGrp="1"/>
          </p:cNvSpPr>
          <p:nvPr>
            <p:ph type="title"/>
          </p:nvPr>
        </p:nvSpPr>
        <p:spPr>
          <a:xfrm>
            <a:off x="1049338" y="144463"/>
            <a:ext cx="10518775" cy="692150"/>
          </a:xfrm>
        </p:spPr>
        <p:txBody>
          <a:bodyPr/>
          <a:lstStyle/>
          <a:p>
            <a:r>
              <a:rPr lang="en-US" altLang="zh-CN" sz="4000" dirty="0"/>
              <a:t>Solution 3: Compiler Code Transformations</a:t>
            </a:r>
          </a:p>
        </p:txBody>
      </p:sp>
    </p:spTree>
    <p:extLst>
      <p:ext uri="{BB962C8B-B14F-4D97-AF65-F5344CB8AC3E}">
        <p14:creationId xmlns:p14="http://schemas.microsoft.com/office/powerpoint/2010/main" val="684716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18</a:t>
            </a:fld>
            <a:endParaRPr lang="zh-TW" altLang="en-US">
              <a:solidFill>
                <a:prstClr val="white"/>
              </a:solidFill>
            </a:endParaRPr>
          </a:p>
        </p:txBody>
      </p:sp>
      <p:sp>
        <p:nvSpPr>
          <p:cNvPr id="7" name="标题 4">
            <a:extLst>
              <a:ext uri="{FF2B5EF4-FFF2-40B4-BE49-F238E27FC236}">
                <a16:creationId xmlns:a16="http://schemas.microsoft.com/office/drawing/2014/main" id="{3D35E532-259E-4216-8365-094358C0C83C}"/>
              </a:ext>
            </a:extLst>
          </p:cNvPr>
          <p:cNvSpPr>
            <a:spLocks noGrp="1"/>
          </p:cNvSpPr>
          <p:nvPr>
            <p:ph type="title"/>
          </p:nvPr>
        </p:nvSpPr>
        <p:spPr>
          <a:xfrm>
            <a:off x="1049338" y="144463"/>
            <a:ext cx="10518775" cy="692150"/>
          </a:xfrm>
        </p:spPr>
        <p:txBody>
          <a:bodyPr/>
          <a:lstStyle/>
          <a:p>
            <a:r>
              <a:rPr lang="en-US" altLang="zh-CN" sz="4000" dirty="0"/>
              <a:t>Compiler Code Scheduling Example (1) </a:t>
            </a:r>
          </a:p>
        </p:txBody>
      </p:sp>
      <p:pic>
        <p:nvPicPr>
          <p:cNvPr id="8" name="Picture 7">
            <a:extLst>
              <a:ext uri="{FF2B5EF4-FFF2-40B4-BE49-F238E27FC236}">
                <a16:creationId xmlns:a16="http://schemas.microsoft.com/office/drawing/2014/main" id="{5A3BE77F-F929-4B6A-927F-06F401ED7212}"/>
              </a:ext>
            </a:extLst>
          </p:cNvPr>
          <p:cNvPicPr>
            <a:picLocks noChangeAspect="1"/>
          </p:cNvPicPr>
          <p:nvPr/>
        </p:nvPicPr>
        <p:blipFill>
          <a:blip r:embed="rId3"/>
          <a:stretch>
            <a:fillRect/>
          </a:stretch>
        </p:blipFill>
        <p:spPr>
          <a:xfrm>
            <a:off x="1284051" y="1108953"/>
            <a:ext cx="9328826" cy="4805464"/>
          </a:xfrm>
          <a:prstGeom prst="rect">
            <a:avLst/>
          </a:prstGeom>
        </p:spPr>
      </p:pic>
    </p:spTree>
    <p:extLst>
      <p:ext uri="{BB962C8B-B14F-4D97-AF65-F5344CB8AC3E}">
        <p14:creationId xmlns:p14="http://schemas.microsoft.com/office/powerpoint/2010/main" val="3031128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19</a:t>
            </a:fld>
            <a:endParaRPr lang="zh-TW" altLang="en-US">
              <a:solidFill>
                <a:prstClr val="white"/>
              </a:solidFill>
            </a:endParaRPr>
          </a:p>
        </p:txBody>
      </p:sp>
      <p:sp>
        <p:nvSpPr>
          <p:cNvPr id="7" name="标题 4">
            <a:extLst>
              <a:ext uri="{FF2B5EF4-FFF2-40B4-BE49-F238E27FC236}">
                <a16:creationId xmlns:a16="http://schemas.microsoft.com/office/drawing/2014/main" id="{3D35E532-259E-4216-8365-094358C0C83C}"/>
              </a:ext>
            </a:extLst>
          </p:cNvPr>
          <p:cNvSpPr>
            <a:spLocks noGrp="1"/>
          </p:cNvSpPr>
          <p:nvPr>
            <p:ph type="title"/>
          </p:nvPr>
        </p:nvSpPr>
        <p:spPr>
          <a:xfrm>
            <a:off x="1049338" y="144463"/>
            <a:ext cx="10518775" cy="692150"/>
          </a:xfrm>
        </p:spPr>
        <p:txBody>
          <a:bodyPr/>
          <a:lstStyle/>
          <a:p>
            <a:r>
              <a:rPr lang="en-US" altLang="zh-CN" sz="4000" dirty="0"/>
              <a:t>Compiler Code Scheduling Example (2) </a:t>
            </a:r>
          </a:p>
        </p:txBody>
      </p:sp>
      <p:pic>
        <p:nvPicPr>
          <p:cNvPr id="3" name="Picture 2">
            <a:extLst>
              <a:ext uri="{FF2B5EF4-FFF2-40B4-BE49-F238E27FC236}">
                <a16:creationId xmlns:a16="http://schemas.microsoft.com/office/drawing/2014/main" id="{4A376974-64DE-4F9C-A919-878C1CFFD3FD}"/>
              </a:ext>
            </a:extLst>
          </p:cNvPr>
          <p:cNvPicPr>
            <a:picLocks noChangeAspect="1"/>
          </p:cNvPicPr>
          <p:nvPr/>
        </p:nvPicPr>
        <p:blipFill>
          <a:blip r:embed="rId3"/>
          <a:stretch>
            <a:fillRect/>
          </a:stretch>
        </p:blipFill>
        <p:spPr>
          <a:xfrm>
            <a:off x="175098" y="1225685"/>
            <a:ext cx="11896928" cy="4562271"/>
          </a:xfrm>
          <a:prstGeom prst="rect">
            <a:avLst/>
          </a:prstGeom>
        </p:spPr>
      </p:pic>
    </p:spTree>
    <p:extLst>
      <p:ext uri="{BB962C8B-B14F-4D97-AF65-F5344CB8AC3E}">
        <p14:creationId xmlns:p14="http://schemas.microsoft.com/office/powerpoint/2010/main" val="1809528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4000" dirty="0"/>
              <a:t>Control Hazards</a:t>
            </a:r>
          </a:p>
        </p:txBody>
      </p:sp>
      <p:sp>
        <p:nvSpPr>
          <p:cNvPr id="6" name="内容占位符 5"/>
          <p:cNvSpPr>
            <a:spLocks noGrp="1"/>
          </p:cNvSpPr>
          <p:nvPr>
            <p:ph idx="1"/>
          </p:nvPr>
        </p:nvSpPr>
        <p:spPr>
          <a:xfrm>
            <a:off x="594788" y="1147863"/>
            <a:ext cx="10972800" cy="5058383"/>
          </a:xfrm>
        </p:spPr>
        <p:txBody>
          <a:bodyPr/>
          <a:lstStyle/>
          <a:p>
            <a:pPr algn="l"/>
            <a:r>
              <a:rPr lang="en-US" sz="2800" b="0" i="0" dirty="0">
                <a:solidFill>
                  <a:srgbClr val="1F1F1F"/>
                </a:solidFill>
                <a:effectLst/>
                <a:latin typeface="Google Sans"/>
              </a:rPr>
              <a:t>Control hazards </a:t>
            </a:r>
            <a:r>
              <a:rPr lang="en-US" sz="2800" dirty="0">
                <a:solidFill>
                  <a:srgbClr val="1F1F1F"/>
                </a:solidFill>
                <a:latin typeface="Google Sans"/>
              </a:rPr>
              <a:t>are </a:t>
            </a:r>
            <a:r>
              <a:rPr lang="en-US" sz="2800" b="0" i="0" dirty="0">
                <a:solidFill>
                  <a:srgbClr val="1F1F1F"/>
                </a:solidFill>
                <a:effectLst/>
                <a:latin typeface="Google Sans"/>
              </a:rPr>
              <a:t>due to </a:t>
            </a:r>
            <a:r>
              <a:rPr lang="en-US" sz="2800" b="1" i="0" dirty="0">
                <a:solidFill>
                  <a:srgbClr val="1F1F1F"/>
                </a:solidFill>
                <a:effectLst/>
                <a:latin typeface="Google Sans"/>
              </a:rPr>
              <a:t>branch instructions (conditional jumps</a:t>
            </a:r>
            <a:r>
              <a:rPr lang="en-US" sz="2800" b="1" dirty="0">
                <a:solidFill>
                  <a:srgbClr val="1F1F1F"/>
                </a:solidFill>
                <a:latin typeface="Google Sans"/>
              </a:rPr>
              <a:t>) and JALR instructions.</a:t>
            </a:r>
            <a:r>
              <a:rPr lang="en-US" sz="2800" dirty="0">
                <a:solidFill>
                  <a:srgbClr val="1F1F1F"/>
                </a:solidFill>
                <a:latin typeface="Google Sans"/>
              </a:rPr>
              <a:t> Branch</a:t>
            </a:r>
            <a:r>
              <a:rPr lang="en-US" sz="2800" b="0" i="0" dirty="0">
                <a:solidFill>
                  <a:srgbClr val="1F1F1F"/>
                </a:solidFill>
                <a:effectLst/>
                <a:latin typeface="Google Sans"/>
              </a:rPr>
              <a:t> instructions alter the normal flow of the program execution by jumping to a different set of instructions. </a:t>
            </a:r>
          </a:p>
          <a:p>
            <a:pPr algn="l"/>
            <a:r>
              <a:rPr lang="en-US" sz="2800" b="0" i="0" dirty="0">
                <a:solidFill>
                  <a:srgbClr val="1F1F1F"/>
                </a:solidFill>
                <a:effectLst/>
                <a:latin typeface="Google Sans"/>
              </a:rPr>
              <a:t>The pipeline can't know for sure which instruction will be executed next until the branch condition is evaluated. This can lead to the pipeline fetching and processing incorrect instructions.  </a:t>
            </a:r>
          </a:p>
          <a:p>
            <a:pPr algn="l"/>
            <a:r>
              <a:rPr lang="en-US" sz="2800" dirty="0">
                <a:solidFill>
                  <a:srgbClr val="1F1F1F"/>
                </a:solidFill>
                <a:latin typeface="Google Sans"/>
              </a:rPr>
              <a:t>Control hazards are crucial because branch instructions occur frequently, ranging from 15% to 30%. Historical studies indicated that there is one branch for every 4 to 5 instructions. </a:t>
            </a:r>
            <a:endParaRPr lang="en-US" sz="2800" b="0" i="0" dirty="0">
              <a:solidFill>
                <a:srgbClr val="1F1F1F"/>
              </a:solidFill>
              <a:effectLst/>
              <a:latin typeface="Google Sans"/>
            </a:endParaRPr>
          </a:p>
          <a:p>
            <a:pPr marL="514345" indent="-457200">
              <a:buSzPct val="157000"/>
              <a:buFont typeface="Arial" panose="020B0604020202020204" pitchFamily="34" charset="0"/>
              <a:buChar char="•"/>
            </a:pPr>
            <a:endParaRPr lang="en-US" altLang="zh-CN" sz="2600" dirty="0"/>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20</a:t>
            </a:fld>
            <a:endParaRPr lang="zh-TW" altLang="en-US">
              <a:solidFill>
                <a:prstClr val="white"/>
              </a:solidFill>
            </a:endParaRPr>
          </a:p>
        </p:txBody>
      </p:sp>
    </p:spTree>
    <p:extLst>
      <p:ext uri="{BB962C8B-B14F-4D97-AF65-F5344CB8AC3E}">
        <p14:creationId xmlns:p14="http://schemas.microsoft.com/office/powerpoint/2010/main" val="23817754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21</a:t>
            </a:fld>
            <a:endParaRPr lang="zh-TW" altLang="en-US">
              <a:solidFill>
                <a:prstClr val="white"/>
              </a:solidFill>
            </a:endParaRPr>
          </a:p>
        </p:txBody>
      </p:sp>
      <p:sp>
        <p:nvSpPr>
          <p:cNvPr id="7" name="标题 4">
            <a:extLst>
              <a:ext uri="{FF2B5EF4-FFF2-40B4-BE49-F238E27FC236}">
                <a16:creationId xmlns:a16="http://schemas.microsoft.com/office/drawing/2014/main" id="{3D35E532-259E-4216-8365-094358C0C83C}"/>
              </a:ext>
            </a:extLst>
          </p:cNvPr>
          <p:cNvSpPr>
            <a:spLocks noGrp="1"/>
          </p:cNvSpPr>
          <p:nvPr>
            <p:ph type="title"/>
          </p:nvPr>
        </p:nvSpPr>
        <p:spPr>
          <a:xfrm>
            <a:off x="1049338" y="144463"/>
            <a:ext cx="10518775" cy="692150"/>
          </a:xfrm>
        </p:spPr>
        <p:txBody>
          <a:bodyPr/>
          <a:lstStyle/>
          <a:p>
            <a:r>
              <a:rPr lang="en-US" altLang="zh-CN" sz="4000" dirty="0"/>
              <a:t>Branch Outcome Available at MEM stage</a:t>
            </a:r>
          </a:p>
        </p:txBody>
      </p:sp>
      <p:pic>
        <p:nvPicPr>
          <p:cNvPr id="3" name="Picture 2">
            <a:extLst>
              <a:ext uri="{FF2B5EF4-FFF2-40B4-BE49-F238E27FC236}">
                <a16:creationId xmlns:a16="http://schemas.microsoft.com/office/drawing/2014/main" id="{DEE7CB0B-DD3C-4FD2-90A3-B690D2684845}"/>
              </a:ext>
            </a:extLst>
          </p:cNvPr>
          <p:cNvPicPr>
            <a:picLocks noChangeAspect="1"/>
          </p:cNvPicPr>
          <p:nvPr/>
        </p:nvPicPr>
        <p:blipFill>
          <a:blip r:embed="rId3"/>
          <a:stretch>
            <a:fillRect/>
          </a:stretch>
        </p:blipFill>
        <p:spPr>
          <a:xfrm>
            <a:off x="0" y="1089498"/>
            <a:ext cx="12192000" cy="5029200"/>
          </a:xfrm>
          <a:prstGeom prst="rect">
            <a:avLst/>
          </a:prstGeom>
        </p:spPr>
      </p:pic>
    </p:spTree>
    <p:extLst>
      <p:ext uri="{BB962C8B-B14F-4D97-AF65-F5344CB8AC3E}">
        <p14:creationId xmlns:p14="http://schemas.microsoft.com/office/powerpoint/2010/main" val="3348600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22</a:t>
            </a:fld>
            <a:endParaRPr lang="zh-TW" altLang="en-US">
              <a:solidFill>
                <a:prstClr val="white"/>
              </a:solidFill>
            </a:endParaRPr>
          </a:p>
        </p:txBody>
      </p:sp>
      <p:sp>
        <p:nvSpPr>
          <p:cNvPr id="7" name="标题 4">
            <a:extLst>
              <a:ext uri="{FF2B5EF4-FFF2-40B4-BE49-F238E27FC236}">
                <a16:creationId xmlns:a16="http://schemas.microsoft.com/office/drawing/2014/main" id="{3D35E532-259E-4216-8365-094358C0C83C}"/>
              </a:ext>
            </a:extLst>
          </p:cNvPr>
          <p:cNvSpPr>
            <a:spLocks noGrp="1"/>
          </p:cNvSpPr>
          <p:nvPr>
            <p:ph type="title"/>
          </p:nvPr>
        </p:nvSpPr>
        <p:spPr>
          <a:xfrm>
            <a:off x="1049338" y="144463"/>
            <a:ext cx="10518775" cy="692150"/>
          </a:xfrm>
        </p:spPr>
        <p:txBody>
          <a:bodyPr/>
          <a:lstStyle/>
          <a:p>
            <a:r>
              <a:rPr lang="en-US" altLang="zh-CN" sz="4000" dirty="0"/>
              <a:t>Branch Instruction in the Pipelined </a:t>
            </a:r>
            <a:r>
              <a:rPr lang="en-US" altLang="zh-CN" sz="4000" dirty="0" err="1"/>
              <a:t>DataPath</a:t>
            </a:r>
            <a:endParaRPr lang="en-US" altLang="zh-CN" sz="4000" dirty="0"/>
          </a:p>
        </p:txBody>
      </p:sp>
      <p:pic>
        <p:nvPicPr>
          <p:cNvPr id="5" name="Picture 4">
            <a:extLst>
              <a:ext uri="{FF2B5EF4-FFF2-40B4-BE49-F238E27FC236}">
                <a16:creationId xmlns:a16="http://schemas.microsoft.com/office/drawing/2014/main" id="{8CF0239B-E5A5-4047-AA1D-C4C563546E04}"/>
              </a:ext>
            </a:extLst>
          </p:cNvPr>
          <p:cNvPicPr>
            <a:picLocks noChangeAspect="1"/>
          </p:cNvPicPr>
          <p:nvPr/>
        </p:nvPicPr>
        <p:blipFill>
          <a:blip r:embed="rId3"/>
          <a:stretch>
            <a:fillRect/>
          </a:stretch>
        </p:blipFill>
        <p:spPr>
          <a:xfrm>
            <a:off x="107004" y="1079769"/>
            <a:ext cx="12003932" cy="5092859"/>
          </a:xfrm>
          <a:prstGeom prst="rect">
            <a:avLst/>
          </a:prstGeom>
        </p:spPr>
      </p:pic>
    </p:spTree>
    <p:extLst>
      <p:ext uri="{BB962C8B-B14F-4D97-AF65-F5344CB8AC3E}">
        <p14:creationId xmlns:p14="http://schemas.microsoft.com/office/powerpoint/2010/main" val="14793930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23</a:t>
            </a:fld>
            <a:endParaRPr lang="zh-TW" altLang="en-US">
              <a:solidFill>
                <a:prstClr val="white"/>
              </a:solidFill>
            </a:endParaRPr>
          </a:p>
        </p:txBody>
      </p:sp>
      <p:sp>
        <p:nvSpPr>
          <p:cNvPr id="7" name="标题 4">
            <a:extLst>
              <a:ext uri="{FF2B5EF4-FFF2-40B4-BE49-F238E27FC236}">
                <a16:creationId xmlns:a16="http://schemas.microsoft.com/office/drawing/2014/main" id="{3D35E532-259E-4216-8365-094358C0C83C}"/>
              </a:ext>
            </a:extLst>
          </p:cNvPr>
          <p:cNvSpPr>
            <a:spLocks noGrp="1"/>
          </p:cNvSpPr>
          <p:nvPr>
            <p:ph type="title"/>
          </p:nvPr>
        </p:nvSpPr>
        <p:spPr>
          <a:xfrm>
            <a:off x="1049338" y="144463"/>
            <a:ext cx="10518775" cy="692150"/>
          </a:xfrm>
        </p:spPr>
        <p:txBody>
          <a:bodyPr/>
          <a:lstStyle/>
          <a:p>
            <a:r>
              <a:rPr lang="en-US" altLang="zh-CN" sz="4000" dirty="0"/>
              <a:t>Flush All Incorrectly Executed Instructions</a:t>
            </a:r>
          </a:p>
        </p:txBody>
      </p:sp>
      <p:pic>
        <p:nvPicPr>
          <p:cNvPr id="5" name="Picture 4">
            <a:extLst>
              <a:ext uri="{FF2B5EF4-FFF2-40B4-BE49-F238E27FC236}">
                <a16:creationId xmlns:a16="http://schemas.microsoft.com/office/drawing/2014/main" id="{8CF0239B-E5A5-4047-AA1D-C4C563546E04}"/>
              </a:ext>
            </a:extLst>
          </p:cNvPr>
          <p:cNvPicPr>
            <a:picLocks noChangeAspect="1"/>
          </p:cNvPicPr>
          <p:nvPr/>
        </p:nvPicPr>
        <p:blipFill>
          <a:blip r:embed="rId3"/>
          <a:stretch>
            <a:fillRect/>
          </a:stretch>
        </p:blipFill>
        <p:spPr>
          <a:xfrm>
            <a:off x="107004" y="1079769"/>
            <a:ext cx="12003932" cy="5092859"/>
          </a:xfrm>
          <a:prstGeom prst="rect">
            <a:avLst/>
          </a:prstGeom>
        </p:spPr>
      </p:pic>
      <p:sp>
        <p:nvSpPr>
          <p:cNvPr id="2" name="Rectangle 1">
            <a:extLst>
              <a:ext uri="{FF2B5EF4-FFF2-40B4-BE49-F238E27FC236}">
                <a16:creationId xmlns:a16="http://schemas.microsoft.com/office/drawing/2014/main" id="{A2585382-14DA-49A2-B06C-EAC5416E3721}"/>
              </a:ext>
            </a:extLst>
          </p:cNvPr>
          <p:cNvSpPr/>
          <p:nvPr/>
        </p:nvSpPr>
        <p:spPr bwMode="auto">
          <a:xfrm>
            <a:off x="3900791" y="2908570"/>
            <a:ext cx="5661498" cy="2597285"/>
          </a:xfrm>
          <a:prstGeom prst="rect">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cxnSp>
        <p:nvCxnSpPr>
          <p:cNvPr id="6" name="Straight Connector 5">
            <a:extLst>
              <a:ext uri="{FF2B5EF4-FFF2-40B4-BE49-F238E27FC236}">
                <a16:creationId xmlns:a16="http://schemas.microsoft.com/office/drawing/2014/main" id="{730DC284-DBC4-4272-8FDF-58A66E7B4112}"/>
              </a:ext>
            </a:extLst>
          </p:cNvPr>
          <p:cNvCxnSpPr/>
          <p:nvPr/>
        </p:nvCxnSpPr>
        <p:spPr bwMode="auto">
          <a:xfrm>
            <a:off x="3900791" y="2908570"/>
            <a:ext cx="5661498" cy="2597285"/>
          </a:xfrm>
          <a:prstGeom prst="line">
            <a:avLst/>
          </a:prstGeom>
          <a:noFill/>
          <a:ln w="28575" cap="flat" cmpd="sng" algn="ctr">
            <a:solidFill>
              <a:srgbClr val="FF0000"/>
            </a:solidFill>
            <a:prstDash val="solid"/>
            <a:round/>
            <a:headEnd type="none" w="med" len="med"/>
            <a:tailEnd type="none" w="med" len="med"/>
          </a:ln>
          <a:effectLst/>
        </p:spPr>
      </p:cxnSp>
      <p:cxnSp>
        <p:nvCxnSpPr>
          <p:cNvPr id="8" name="Straight Connector 7">
            <a:extLst>
              <a:ext uri="{FF2B5EF4-FFF2-40B4-BE49-F238E27FC236}">
                <a16:creationId xmlns:a16="http://schemas.microsoft.com/office/drawing/2014/main" id="{CA2A4E64-8AF7-458C-9451-7D1A84B654C0}"/>
              </a:ext>
            </a:extLst>
          </p:cNvPr>
          <p:cNvCxnSpPr>
            <a:cxnSpLocks/>
          </p:cNvCxnSpPr>
          <p:nvPr/>
        </p:nvCxnSpPr>
        <p:spPr bwMode="auto">
          <a:xfrm flipH="1">
            <a:off x="3900791" y="2908570"/>
            <a:ext cx="5661498" cy="2597285"/>
          </a:xfrm>
          <a:prstGeom prst="line">
            <a:avLst/>
          </a:prstGeom>
          <a:noFill/>
          <a:ln w="28575" cap="flat" cmpd="sng" algn="ctr">
            <a:solidFill>
              <a:srgbClr val="FF0000"/>
            </a:solidFill>
            <a:prstDash val="solid"/>
            <a:round/>
            <a:headEnd type="none" w="med" len="med"/>
            <a:tailEnd type="none" w="med" len="med"/>
          </a:ln>
          <a:effectLst/>
        </p:spPr>
      </p:cxnSp>
      <p:cxnSp>
        <p:nvCxnSpPr>
          <p:cNvPr id="9" name="Straight Arrow Connector 8">
            <a:extLst>
              <a:ext uri="{FF2B5EF4-FFF2-40B4-BE49-F238E27FC236}">
                <a16:creationId xmlns:a16="http://schemas.microsoft.com/office/drawing/2014/main" id="{B6611160-1687-4EC5-9ADE-6EF2EEF36F06}"/>
              </a:ext>
            </a:extLst>
          </p:cNvPr>
          <p:cNvCxnSpPr/>
          <p:nvPr/>
        </p:nvCxnSpPr>
        <p:spPr bwMode="auto">
          <a:xfrm>
            <a:off x="6011694" y="2461098"/>
            <a:ext cx="84306" cy="2694562"/>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14428037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24</a:t>
            </a:fld>
            <a:endParaRPr lang="zh-TW" altLang="en-US">
              <a:solidFill>
                <a:prstClr val="white"/>
              </a:solidFill>
            </a:endParaRPr>
          </a:p>
        </p:txBody>
      </p:sp>
      <p:sp>
        <p:nvSpPr>
          <p:cNvPr id="7" name="标题 4">
            <a:extLst>
              <a:ext uri="{FF2B5EF4-FFF2-40B4-BE49-F238E27FC236}">
                <a16:creationId xmlns:a16="http://schemas.microsoft.com/office/drawing/2014/main" id="{3D35E532-259E-4216-8365-094358C0C83C}"/>
              </a:ext>
            </a:extLst>
          </p:cNvPr>
          <p:cNvSpPr>
            <a:spLocks noGrp="1"/>
          </p:cNvSpPr>
          <p:nvPr>
            <p:ph type="title"/>
          </p:nvPr>
        </p:nvSpPr>
        <p:spPr>
          <a:xfrm>
            <a:off x="1049338" y="144463"/>
            <a:ext cx="10518775" cy="692150"/>
          </a:xfrm>
        </p:spPr>
        <p:txBody>
          <a:bodyPr/>
          <a:lstStyle/>
          <a:p>
            <a:r>
              <a:rPr lang="en-US" altLang="zh-CN" sz="4000" dirty="0"/>
              <a:t>Flush All Incorrectly Executed Instructions</a:t>
            </a:r>
          </a:p>
        </p:txBody>
      </p:sp>
      <p:pic>
        <p:nvPicPr>
          <p:cNvPr id="5" name="Picture 4">
            <a:extLst>
              <a:ext uri="{FF2B5EF4-FFF2-40B4-BE49-F238E27FC236}">
                <a16:creationId xmlns:a16="http://schemas.microsoft.com/office/drawing/2014/main" id="{8CF0239B-E5A5-4047-AA1D-C4C563546E04}"/>
              </a:ext>
            </a:extLst>
          </p:cNvPr>
          <p:cNvPicPr>
            <a:picLocks noChangeAspect="1"/>
          </p:cNvPicPr>
          <p:nvPr/>
        </p:nvPicPr>
        <p:blipFill>
          <a:blip r:embed="rId3"/>
          <a:stretch>
            <a:fillRect/>
          </a:stretch>
        </p:blipFill>
        <p:spPr>
          <a:xfrm>
            <a:off x="107004" y="1079769"/>
            <a:ext cx="12003932" cy="5092859"/>
          </a:xfrm>
          <a:prstGeom prst="rect">
            <a:avLst/>
          </a:prstGeom>
        </p:spPr>
      </p:pic>
      <p:sp>
        <p:nvSpPr>
          <p:cNvPr id="3" name="Rectangle 2">
            <a:extLst>
              <a:ext uri="{FF2B5EF4-FFF2-40B4-BE49-F238E27FC236}">
                <a16:creationId xmlns:a16="http://schemas.microsoft.com/office/drawing/2014/main" id="{EAA113E9-7943-4DEA-B199-F049FB7E6584}"/>
              </a:ext>
            </a:extLst>
          </p:cNvPr>
          <p:cNvSpPr/>
          <p:nvPr/>
        </p:nvSpPr>
        <p:spPr bwMode="auto">
          <a:xfrm>
            <a:off x="3570052" y="2928026"/>
            <a:ext cx="6011694" cy="2587557"/>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sz="2000" b="1" i="0" u="none" strike="noStrike" cap="none" normalizeH="0" baseline="0" dirty="0">
                <a:ln>
                  <a:noFill/>
                </a:ln>
                <a:solidFill>
                  <a:schemeClr val="tx1"/>
                </a:solidFill>
                <a:effectLst/>
                <a:latin typeface="Arial" pitchFamily="34" charset="0"/>
                <a:ea typeface="新細明體" pitchFamily="18" charset="-120"/>
              </a:rPr>
              <a:t>Performance penalty could be as high as 30-60%</a:t>
            </a:r>
          </a:p>
          <a:p>
            <a:pPr marL="0" marR="0" indent="0"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a:p>
            <a:pPr marL="0" marR="0" indent="0"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Assuming: </a:t>
            </a:r>
          </a:p>
          <a:p>
            <a:pPr marL="0" marR="0" indent="0"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20% of branches</a:t>
            </a:r>
          </a:p>
          <a:p>
            <a:pPr marL="0" marR="0" indent="0" defTabSz="914400" rtl="0" eaLnBrk="1" fontAlgn="base" latinLnBrk="0" hangingPunct="1">
              <a:lnSpc>
                <a:spcPct val="100000"/>
              </a:lnSpc>
              <a:spcBef>
                <a:spcPct val="0"/>
              </a:spcBef>
              <a:spcAft>
                <a:spcPct val="0"/>
              </a:spcAft>
              <a:buClrTx/>
              <a:buSzTx/>
              <a:buFontTx/>
              <a:buNone/>
              <a:tabLst/>
            </a:pPr>
            <a:r>
              <a:rPr kumimoji="1" lang="en-US" b="1" dirty="0">
                <a:latin typeface="Arial" pitchFamily="34" charset="0"/>
                <a:ea typeface="新細明體" pitchFamily="18" charset="-120"/>
              </a:rPr>
              <a:t>50% of the branches taken</a:t>
            </a:r>
          </a:p>
          <a:p>
            <a:pPr marL="0" marR="0" indent="0"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Average CPI = 1 </a:t>
            </a:r>
          </a:p>
          <a:p>
            <a:pPr marL="0" marR="0" indent="0" defTabSz="914400" rtl="0" eaLnBrk="1" fontAlgn="base" latinLnBrk="0" hangingPunct="1">
              <a:lnSpc>
                <a:spcPct val="100000"/>
              </a:lnSpc>
              <a:spcBef>
                <a:spcPct val="0"/>
              </a:spcBef>
              <a:spcAft>
                <a:spcPct val="0"/>
              </a:spcAft>
              <a:buClrTx/>
              <a:buSzTx/>
              <a:buFontTx/>
              <a:buNone/>
              <a:tabLst/>
            </a:pPr>
            <a:r>
              <a:rPr kumimoji="1" lang="en-US" b="1" dirty="0">
                <a:latin typeface="Arial" pitchFamily="34" charset="0"/>
                <a:ea typeface="新細明體" pitchFamily="18" charset="-120"/>
              </a:rPr>
              <a:t>Penalty = 3 (flushed </a:t>
            </a:r>
            <a:r>
              <a:rPr kumimoji="1" lang="en-US" b="1" dirty="0" err="1">
                <a:latin typeface="Arial" pitchFamily="34" charset="0"/>
                <a:ea typeface="新細明體" pitchFamily="18" charset="-120"/>
              </a:rPr>
              <a:t>inst</a:t>
            </a:r>
            <a:r>
              <a:rPr kumimoji="1" lang="en-US" b="1" dirty="0">
                <a:latin typeface="Arial" pitchFamily="34" charset="0"/>
                <a:ea typeface="新細明體" pitchFamily="18" charset="-120"/>
              </a:rPr>
              <a:t>) * 0.2 * 0.5 = 0.3 CPI</a:t>
            </a:r>
          </a:p>
          <a:p>
            <a:pPr marL="0" marR="0" indent="0"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So the penalty would be 30%</a:t>
            </a:r>
          </a:p>
        </p:txBody>
      </p:sp>
    </p:spTree>
    <p:extLst>
      <p:ext uri="{BB962C8B-B14F-4D97-AF65-F5344CB8AC3E}">
        <p14:creationId xmlns:p14="http://schemas.microsoft.com/office/powerpoint/2010/main" val="17445250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25</a:t>
            </a:fld>
            <a:endParaRPr lang="zh-TW" altLang="en-US">
              <a:solidFill>
                <a:prstClr val="white"/>
              </a:solidFill>
            </a:endParaRPr>
          </a:p>
        </p:txBody>
      </p:sp>
      <p:sp>
        <p:nvSpPr>
          <p:cNvPr id="7" name="标题 4">
            <a:extLst>
              <a:ext uri="{FF2B5EF4-FFF2-40B4-BE49-F238E27FC236}">
                <a16:creationId xmlns:a16="http://schemas.microsoft.com/office/drawing/2014/main" id="{3D35E532-259E-4216-8365-094358C0C83C}"/>
              </a:ext>
            </a:extLst>
          </p:cNvPr>
          <p:cNvSpPr>
            <a:spLocks noGrp="1"/>
          </p:cNvSpPr>
          <p:nvPr>
            <p:ph type="title"/>
          </p:nvPr>
        </p:nvSpPr>
        <p:spPr>
          <a:xfrm>
            <a:off x="1049338" y="144463"/>
            <a:ext cx="10518775" cy="692150"/>
          </a:xfrm>
        </p:spPr>
        <p:txBody>
          <a:bodyPr/>
          <a:lstStyle/>
          <a:p>
            <a:r>
              <a:rPr lang="en-US" altLang="zh-CN" sz="4000" dirty="0"/>
              <a:t>What If Branch Outcome Available at EXE stage</a:t>
            </a:r>
          </a:p>
        </p:txBody>
      </p:sp>
      <p:pic>
        <p:nvPicPr>
          <p:cNvPr id="3" name="Picture 2">
            <a:extLst>
              <a:ext uri="{FF2B5EF4-FFF2-40B4-BE49-F238E27FC236}">
                <a16:creationId xmlns:a16="http://schemas.microsoft.com/office/drawing/2014/main" id="{DEE7CB0B-DD3C-4FD2-90A3-B690D2684845}"/>
              </a:ext>
            </a:extLst>
          </p:cNvPr>
          <p:cNvPicPr>
            <a:picLocks noChangeAspect="1"/>
          </p:cNvPicPr>
          <p:nvPr/>
        </p:nvPicPr>
        <p:blipFill>
          <a:blip r:embed="rId3"/>
          <a:stretch>
            <a:fillRect/>
          </a:stretch>
        </p:blipFill>
        <p:spPr>
          <a:xfrm>
            <a:off x="0" y="1118073"/>
            <a:ext cx="12192000" cy="5029200"/>
          </a:xfrm>
          <a:prstGeom prst="rect">
            <a:avLst/>
          </a:prstGeom>
        </p:spPr>
      </p:pic>
      <p:sp>
        <p:nvSpPr>
          <p:cNvPr id="2" name="Arrow: Down 1">
            <a:extLst>
              <a:ext uri="{FF2B5EF4-FFF2-40B4-BE49-F238E27FC236}">
                <a16:creationId xmlns:a16="http://schemas.microsoft.com/office/drawing/2014/main" id="{5C3FAD34-204E-4BAF-B3C6-3CBB1E8399E1}"/>
              </a:ext>
            </a:extLst>
          </p:cNvPr>
          <p:cNvSpPr/>
          <p:nvPr/>
        </p:nvSpPr>
        <p:spPr bwMode="auto">
          <a:xfrm rot="10800000">
            <a:off x="8572500" y="1714500"/>
            <a:ext cx="236982" cy="1819275"/>
          </a:xfrm>
          <a:prstGeom prst="downArrow">
            <a:avLst/>
          </a:prstGeom>
          <a:solidFill>
            <a:schemeClr val="accent2"/>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1621290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26</a:t>
            </a:fld>
            <a:endParaRPr lang="zh-TW" altLang="en-US">
              <a:solidFill>
                <a:prstClr val="white"/>
              </a:solidFill>
            </a:endParaRPr>
          </a:p>
        </p:txBody>
      </p:sp>
      <p:sp>
        <p:nvSpPr>
          <p:cNvPr id="7" name="标题 4">
            <a:extLst>
              <a:ext uri="{FF2B5EF4-FFF2-40B4-BE49-F238E27FC236}">
                <a16:creationId xmlns:a16="http://schemas.microsoft.com/office/drawing/2014/main" id="{3D35E532-259E-4216-8365-094358C0C83C}"/>
              </a:ext>
            </a:extLst>
          </p:cNvPr>
          <p:cNvSpPr>
            <a:spLocks noGrp="1"/>
          </p:cNvSpPr>
          <p:nvPr>
            <p:ph type="title"/>
          </p:nvPr>
        </p:nvSpPr>
        <p:spPr>
          <a:xfrm>
            <a:off x="1049338" y="144463"/>
            <a:ext cx="10518775" cy="692150"/>
          </a:xfrm>
        </p:spPr>
        <p:txBody>
          <a:bodyPr/>
          <a:lstStyle/>
          <a:p>
            <a:r>
              <a:rPr lang="en-US" altLang="zh-CN" sz="4000" dirty="0"/>
              <a:t>Flush All Incorrectly Executed Instructions</a:t>
            </a:r>
          </a:p>
        </p:txBody>
      </p:sp>
      <p:pic>
        <p:nvPicPr>
          <p:cNvPr id="5" name="Picture 4">
            <a:extLst>
              <a:ext uri="{FF2B5EF4-FFF2-40B4-BE49-F238E27FC236}">
                <a16:creationId xmlns:a16="http://schemas.microsoft.com/office/drawing/2014/main" id="{8CF0239B-E5A5-4047-AA1D-C4C563546E04}"/>
              </a:ext>
            </a:extLst>
          </p:cNvPr>
          <p:cNvPicPr>
            <a:picLocks noChangeAspect="1"/>
          </p:cNvPicPr>
          <p:nvPr/>
        </p:nvPicPr>
        <p:blipFill>
          <a:blip r:embed="rId3"/>
          <a:stretch>
            <a:fillRect/>
          </a:stretch>
        </p:blipFill>
        <p:spPr>
          <a:xfrm>
            <a:off x="107004" y="1079769"/>
            <a:ext cx="12003932" cy="5092859"/>
          </a:xfrm>
          <a:prstGeom prst="rect">
            <a:avLst/>
          </a:prstGeom>
        </p:spPr>
      </p:pic>
      <p:sp>
        <p:nvSpPr>
          <p:cNvPr id="3" name="Rectangle 2">
            <a:extLst>
              <a:ext uri="{FF2B5EF4-FFF2-40B4-BE49-F238E27FC236}">
                <a16:creationId xmlns:a16="http://schemas.microsoft.com/office/drawing/2014/main" id="{EAA113E9-7943-4DEA-B199-F049FB7E6584}"/>
              </a:ext>
            </a:extLst>
          </p:cNvPr>
          <p:cNvSpPr/>
          <p:nvPr/>
        </p:nvSpPr>
        <p:spPr bwMode="auto">
          <a:xfrm>
            <a:off x="3570052" y="2228850"/>
            <a:ext cx="6011694" cy="3724275"/>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sz="2000" b="1" i="0" u="none" strike="noStrike" cap="none" normalizeH="0" baseline="0" dirty="0">
                <a:ln>
                  <a:noFill/>
                </a:ln>
                <a:solidFill>
                  <a:schemeClr val="tx1"/>
                </a:solidFill>
                <a:effectLst/>
                <a:latin typeface="Arial" pitchFamily="34" charset="0"/>
                <a:ea typeface="新細明體" pitchFamily="18" charset="-120"/>
              </a:rPr>
              <a:t>Performance penalty could be as high as 20-50%</a:t>
            </a:r>
          </a:p>
          <a:p>
            <a:pPr marL="0" marR="0" indent="0"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a:p>
            <a:pPr marL="0" marR="0" indent="0"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Assuming: </a:t>
            </a:r>
          </a:p>
          <a:p>
            <a:pPr marL="0" marR="0" indent="0"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20% of branches</a:t>
            </a:r>
          </a:p>
          <a:p>
            <a:pPr marL="0" marR="0" indent="0" defTabSz="914400" rtl="0" eaLnBrk="1" fontAlgn="base" latinLnBrk="0" hangingPunct="1">
              <a:lnSpc>
                <a:spcPct val="100000"/>
              </a:lnSpc>
              <a:spcBef>
                <a:spcPct val="0"/>
              </a:spcBef>
              <a:spcAft>
                <a:spcPct val="0"/>
              </a:spcAft>
              <a:buClrTx/>
              <a:buSzTx/>
              <a:buFontTx/>
              <a:buNone/>
              <a:tabLst/>
            </a:pPr>
            <a:r>
              <a:rPr kumimoji="1" lang="en-US" b="1" dirty="0">
                <a:latin typeface="Arial" pitchFamily="34" charset="0"/>
                <a:ea typeface="新細明體" pitchFamily="18" charset="-120"/>
              </a:rPr>
              <a:t>50% of the branches taken</a:t>
            </a:r>
          </a:p>
          <a:p>
            <a:pPr marL="0" marR="0" indent="0"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Average CPI = 1 </a:t>
            </a:r>
          </a:p>
          <a:p>
            <a:pPr marL="0" marR="0" indent="0" defTabSz="914400" rtl="0" eaLnBrk="1" fontAlgn="base" latinLnBrk="0" hangingPunct="1">
              <a:lnSpc>
                <a:spcPct val="100000"/>
              </a:lnSpc>
              <a:spcBef>
                <a:spcPct val="0"/>
              </a:spcBef>
              <a:spcAft>
                <a:spcPct val="0"/>
              </a:spcAft>
              <a:buClrTx/>
              <a:buSzTx/>
              <a:buFontTx/>
              <a:buNone/>
              <a:tabLst/>
            </a:pPr>
            <a:r>
              <a:rPr kumimoji="1" lang="en-US" b="1" dirty="0">
                <a:latin typeface="Arial" pitchFamily="34" charset="0"/>
                <a:ea typeface="新細明體" pitchFamily="18" charset="-120"/>
              </a:rPr>
              <a:t>Penalty = </a:t>
            </a:r>
            <a:r>
              <a:rPr kumimoji="1" lang="en-US" sz="2800" b="1" dirty="0">
                <a:solidFill>
                  <a:srgbClr val="FF0000"/>
                </a:solidFill>
                <a:latin typeface="Arial" pitchFamily="34" charset="0"/>
                <a:ea typeface="新細明體" pitchFamily="18" charset="-120"/>
              </a:rPr>
              <a:t>2</a:t>
            </a:r>
            <a:r>
              <a:rPr kumimoji="1" lang="en-US" b="1" dirty="0">
                <a:latin typeface="Arial" pitchFamily="34" charset="0"/>
                <a:ea typeface="新細明體" pitchFamily="18" charset="-120"/>
              </a:rPr>
              <a:t> (flushed </a:t>
            </a:r>
            <a:r>
              <a:rPr kumimoji="1" lang="en-US" b="1" dirty="0" err="1">
                <a:latin typeface="Arial" pitchFamily="34" charset="0"/>
                <a:ea typeface="新細明體" pitchFamily="18" charset="-120"/>
              </a:rPr>
              <a:t>inst</a:t>
            </a:r>
            <a:r>
              <a:rPr kumimoji="1" lang="en-US" b="1" dirty="0">
                <a:latin typeface="Arial" pitchFamily="34" charset="0"/>
                <a:ea typeface="新細明體" pitchFamily="18" charset="-120"/>
              </a:rPr>
              <a:t>) * 0.2 * 0.5 = 0.2 CPI</a:t>
            </a:r>
          </a:p>
          <a:p>
            <a:pPr marL="0" marR="0" indent="0"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So the penalty would be 20%</a:t>
            </a:r>
          </a:p>
        </p:txBody>
      </p:sp>
    </p:spTree>
    <p:extLst>
      <p:ext uri="{BB962C8B-B14F-4D97-AF65-F5344CB8AC3E}">
        <p14:creationId xmlns:p14="http://schemas.microsoft.com/office/powerpoint/2010/main" val="523000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27</a:t>
            </a:fld>
            <a:endParaRPr lang="zh-TW" altLang="en-US">
              <a:solidFill>
                <a:prstClr val="white"/>
              </a:solidFill>
            </a:endParaRPr>
          </a:p>
        </p:txBody>
      </p:sp>
      <p:sp>
        <p:nvSpPr>
          <p:cNvPr id="7" name="标题 4">
            <a:extLst>
              <a:ext uri="{FF2B5EF4-FFF2-40B4-BE49-F238E27FC236}">
                <a16:creationId xmlns:a16="http://schemas.microsoft.com/office/drawing/2014/main" id="{3D35E532-259E-4216-8365-094358C0C83C}"/>
              </a:ext>
            </a:extLst>
          </p:cNvPr>
          <p:cNvSpPr>
            <a:spLocks noGrp="1"/>
          </p:cNvSpPr>
          <p:nvPr>
            <p:ph type="title"/>
          </p:nvPr>
        </p:nvSpPr>
        <p:spPr>
          <a:xfrm>
            <a:off x="1049338" y="144463"/>
            <a:ext cx="10518775" cy="692150"/>
          </a:xfrm>
        </p:spPr>
        <p:txBody>
          <a:bodyPr/>
          <a:lstStyle/>
          <a:p>
            <a:r>
              <a:rPr lang="en-US" altLang="zh-CN" sz="4000" dirty="0"/>
              <a:t>Simply Predict the Branch is Not Taken</a:t>
            </a:r>
          </a:p>
        </p:txBody>
      </p:sp>
      <p:sp>
        <p:nvSpPr>
          <p:cNvPr id="6" name="TextBox 5">
            <a:extLst>
              <a:ext uri="{FF2B5EF4-FFF2-40B4-BE49-F238E27FC236}">
                <a16:creationId xmlns:a16="http://schemas.microsoft.com/office/drawing/2014/main" id="{096173EC-9A06-449F-A2C8-5D9A3CA0345D}"/>
              </a:ext>
            </a:extLst>
          </p:cNvPr>
          <p:cNvSpPr txBox="1"/>
          <p:nvPr/>
        </p:nvSpPr>
        <p:spPr>
          <a:xfrm>
            <a:off x="2782111" y="1201499"/>
            <a:ext cx="3756156" cy="369332"/>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Guess the next PC would be PC+4</a:t>
            </a:r>
          </a:p>
        </p:txBody>
      </p:sp>
      <p:cxnSp>
        <p:nvCxnSpPr>
          <p:cNvPr id="9" name="Straight Arrow Connector 8">
            <a:extLst>
              <a:ext uri="{FF2B5EF4-FFF2-40B4-BE49-F238E27FC236}">
                <a16:creationId xmlns:a16="http://schemas.microsoft.com/office/drawing/2014/main" id="{637A2CCA-3ACF-4F6E-9C9A-5E82BC09B381}"/>
              </a:ext>
            </a:extLst>
          </p:cNvPr>
          <p:cNvCxnSpPr>
            <a:stCxn id="6" idx="2"/>
          </p:cNvCxnSpPr>
          <p:nvPr/>
        </p:nvCxnSpPr>
        <p:spPr bwMode="auto">
          <a:xfrm>
            <a:off x="4660189" y="1570831"/>
            <a:ext cx="193913" cy="364887"/>
          </a:xfrm>
          <a:prstGeom prst="straightConnector1">
            <a:avLst/>
          </a:prstGeom>
          <a:noFill/>
          <a:ln w="38100" cap="flat" cmpd="sng" algn="ctr">
            <a:solidFill>
              <a:srgbClr val="FF0000"/>
            </a:solidFill>
            <a:prstDash val="solid"/>
            <a:round/>
            <a:headEnd type="none" w="med" len="med"/>
            <a:tailEnd type="triangle"/>
          </a:ln>
          <a:effectLst/>
        </p:spPr>
      </p:cxnSp>
      <p:sp>
        <p:nvSpPr>
          <p:cNvPr id="10" name="TextBox 9">
            <a:extLst>
              <a:ext uri="{FF2B5EF4-FFF2-40B4-BE49-F238E27FC236}">
                <a16:creationId xmlns:a16="http://schemas.microsoft.com/office/drawing/2014/main" id="{2502DDCD-E55A-40B4-A165-8449DD13A303}"/>
              </a:ext>
            </a:extLst>
          </p:cNvPr>
          <p:cNvSpPr txBox="1"/>
          <p:nvPr/>
        </p:nvSpPr>
        <p:spPr>
          <a:xfrm>
            <a:off x="10170313" y="2560609"/>
            <a:ext cx="1851789" cy="1477328"/>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All the three </a:t>
            </a:r>
          </a:p>
          <a:p>
            <a:r>
              <a:rPr lang="en-US" dirty="0">
                <a:ea typeface="標楷體" pitchFamily="65" charset="-120"/>
                <a:cs typeface="Calibri" pitchFamily="34" charset="0"/>
              </a:rPr>
              <a:t>instructions </a:t>
            </a:r>
          </a:p>
          <a:p>
            <a:r>
              <a:rPr lang="en-US" dirty="0">
                <a:ea typeface="標楷體" pitchFamily="65" charset="-120"/>
                <a:cs typeface="Calibri" pitchFamily="34" charset="0"/>
              </a:rPr>
              <a:t>executed would </a:t>
            </a:r>
          </a:p>
          <a:p>
            <a:r>
              <a:rPr lang="en-US" dirty="0">
                <a:ea typeface="標楷體" pitchFamily="65" charset="-120"/>
                <a:cs typeface="Calibri" pitchFamily="34" charset="0"/>
              </a:rPr>
              <a:t>be correct if the</a:t>
            </a:r>
          </a:p>
          <a:p>
            <a:r>
              <a:rPr lang="en-US" dirty="0">
                <a:ea typeface="標楷體" pitchFamily="65" charset="-120"/>
                <a:cs typeface="Calibri" pitchFamily="34" charset="0"/>
              </a:rPr>
              <a:t>guess is right</a:t>
            </a:r>
          </a:p>
        </p:txBody>
      </p:sp>
      <p:pic>
        <p:nvPicPr>
          <p:cNvPr id="13" name="Picture 12">
            <a:extLst>
              <a:ext uri="{FF2B5EF4-FFF2-40B4-BE49-F238E27FC236}">
                <a16:creationId xmlns:a16="http://schemas.microsoft.com/office/drawing/2014/main" id="{1E0B58CA-32C9-4DC1-9917-BBB0EC1556D2}"/>
              </a:ext>
            </a:extLst>
          </p:cNvPr>
          <p:cNvPicPr>
            <a:picLocks noChangeAspect="1"/>
          </p:cNvPicPr>
          <p:nvPr/>
        </p:nvPicPr>
        <p:blipFill>
          <a:blip r:embed="rId3"/>
          <a:stretch>
            <a:fillRect/>
          </a:stretch>
        </p:blipFill>
        <p:spPr>
          <a:xfrm>
            <a:off x="815457" y="1935717"/>
            <a:ext cx="9354856" cy="3391373"/>
          </a:xfrm>
          <a:prstGeom prst="rect">
            <a:avLst/>
          </a:prstGeom>
        </p:spPr>
      </p:pic>
      <p:sp>
        <p:nvSpPr>
          <p:cNvPr id="14" name="TextBox 13">
            <a:extLst>
              <a:ext uri="{FF2B5EF4-FFF2-40B4-BE49-F238E27FC236}">
                <a16:creationId xmlns:a16="http://schemas.microsoft.com/office/drawing/2014/main" id="{EA7ADBB0-45E4-48E9-9483-75D99965B2DA}"/>
              </a:ext>
            </a:extLst>
          </p:cNvPr>
          <p:cNvSpPr txBox="1"/>
          <p:nvPr/>
        </p:nvSpPr>
        <p:spPr>
          <a:xfrm>
            <a:off x="6626843" y="1201499"/>
            <a:ext cx="3070071" cy="369332"/>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Evaluate if the guess is right</a:t>
            </a:r>
          </a:p>
        </p:txBody>
      </p:sp>
      <p:cxnSp>
        <p:nvCxnSpPr>
          <p:cNvPr id="15" name="Straight Arrow Connector 14">
            <a:extLst>
              <a:ext uri="{FF2B5EF4-FFF2-40B4-BE49-F238E27FC236}">
                <a16:creationId xmlns:a16="http://schemas.microsoft.com/office/drawing/2014/main" id="{CE5D7393-7297-4626-941F-C1343B2EB690}"/>
              </a:ext>
            </a:extLst>
          </p:cNvPr>
          <p:cNvCxnSpPr>
            <a:cxnSpLocks/>
          </p:cNvCxnSpPr>
          <p:nvPr/>
        </p:nvCxnSpPr>
        <p:spPr bwMode="auto">
          <a:xfrm flipH="1">
            <a:off x="6965004" y="1530910"/>
            <a:ext cx="450248" cy="404806"/>
          </a:xfrm>
          <a:prstGeom prst="straightConnector1">
            <a:avLst/>
          </a:prstGeom>
          <a:noFill/>
          <a:ln w="3810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30706814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en-US" altLang="zh-TW" dirty="0"/>
              <a:t>Static Branch Prediction</a:t>
            </a:r>
          </a:p>
        </p:txBody>
      </p:sp>
      <p:sp>
        <p:nvSpPr>
          <p:cNvPr id="105476"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95AFD5EC-A468-4BDB-B0F2-6338684D54D8}" type="slidenum">
              <a:rPr lang="zh-TW" altLang="en-US" sz="1400" b="0">
                <a:solidFill>
                  <a:schemeClr val="bg1"/>
                </a:solidFill>
                <a:latin typeface="Arial" panose="020B0604020202090204" pitchFamily="34" charset="0"/>
                <a:ea typeface="新細明體" panose="02020500000000000000" pitchFamily="18" charset="-120"/>
              </a:rPr>
              <a:t>28</a:t>
            </a:fld>
            <a:endParaRPr lang="en-US" altLang="zh-TW" sz="1400" b="0">
              <a:solidFill>
                <a:schemeClr val="bg1"/>
              </a:solidFill>
              <a:latin typeface="Arial" panose="020B0604020202090204" pitchFamily="34" charset="0"/>
              <a:ea typeface="新細明體" panose="02020500000000000000" pitchFamily="18" charset="-120"/>
            </a:endParaRPr>
          </a:p>
        </p:txBody>
      </p:sp>
      <p:sp>
        <p:nvSpPr>
          <p:cNvPr id="3" name="Content Placeholder 2">
            <a:extLst>
              <a:ext uri="{FF2B5EF4-FFF2-40B4-BE49-F238E27FC236}">
                <a16:creationId xmlns:a16="http://schemas.microsoft.com/office/drawing/2014/main" id="{4AB1C273-0A4F-4627-9D45-CC1801EB4290}"/>
              </a:ext>
            </a:extLst>
          </p:cNvPr>
          <p:cNvSpPr>
            <a:spLocks noGrp="1"/>
          </p:cNvSpPr>
          <p:nvPr>
            <p:ph idx="1"/>
          </p:nvPr>
        </p:nvSpPr>
        <p:spPr>
          <a:xfrm>
            <a:off x="146553" y="1071749"/>
            <a:ext cx="11806264" cy="5095969"/>
          </a:xfrm>
        </p:spPr>
        <p:txBody>
          <a:bodyPr/>
          <a:lstStyle/>
          <a:p>
            <a:r>
              <a:rPr lang="en-US" sz="3200" dirty="0"/>
              <a:t>Branch prediction could be determined at </a:t>
            </a:r>
            <a:r>
              <a:rPr lang="en-US" sz="3200" dirty="0">
                <a:solidFill>
                  <a:srgbClr val="FF0000"/>
                </a:solidFill>
              </a:rPr>
              <a:t>compile time</a:t>
            </a:r>
            <a:r>
              <a:rPr lang="en-US" sz="3200" dirty="0"/>
              <a:t>.</a:t>
            </a:r>
          </a:p>
          <a:p>
            <a:r>
              <a:rPr lang="en-US" sz="3200" dirty="0"/>
              <a:t>Compiler sets the prediction</a:t>
            </a:r>
          </a:p>
          <a:p>
            <a:r>
              <a:rPr lang="en-US" sz="3200" dirty="0"/>
              <a:t>Hardware can assist, for example </a:t>
            </a:r>
            <a:endParaRPr lang="en-US" sz="2134" dirty="0"/>
          </a:p>
          <a:p>
            <a:pPr lvl="1"/>
            <a:r>
              <a:rPr lang="en-US" sz="2667" dirty="0"/>
              <a:t>Predict a </a:t>
            </a:r>
            <a:r>
              <a:rPr lang="en-US" sz="2667" i="1" dirty="0">
                <a:solidFill>
                  <a:srgbClr val="FF0000"/>
                </a:solidFill>
              </a:rPr>
              <a:t>backward branch as taken </a:t>
            </a:r>
            <a:r>
              <a:rPr lang="en-US" sz="2667" dirty="0"/>
              <a:t>(because loop back branches are likely to take)</a:t>
            </a:r>
          </a:p>
          <a:p>
            <a:pPr lvl="1"/>
            <a:r>
              <a:rPr lang="en-US" sz="2667" dirty="0"/>
              <a:t>Predict a </a:t>
            </a:r>
            <a:r>
              <a:rPr lang="en-US" sz="2667" i="1" dirty="0">
                <a:solidFill>
                  <a:srgbClr val="FF0000"/>
                </a:solidFill>
              </a:rPr>
              <a:t>forward branch as fall-through </a:t>
            </a:r>
            <a:r>
              <a:rPr lang="en-US" sz="2667" dirty="0"/>
              <a:t>(because the compiler always puts the then part in the fall-through path).</a:t>
            </a:r>
          </a:p>
          <a:p>
            <a:r>
              <a:rPr lang="en-US" sz="3200" dirty="0"/>
              <a:t>The ISA may reserve a bit in branch instructions as a prediction bit</a:t>
            </a:r>
          </a:p>
          <a:p>
            <a:r>
              <a:rPr lang="en-US" sz="3200" dirty="0"/>
              <a:t>HP (Hewlett Packard) used the register order to indicate prediction. </a:t>
            </a:r>
          </a:p>
          <a:p>
            <a:pPr lvl="1"/>
            <a:r>
              <a:rPr lang="en-US" sz="2000" dirty="0"/>
              <a:t>Example: (</a:t>
            </a:r>
            <a:r>
              <a:rPr lang="en-US" sz="2000" dirty="0" err="1"/>
              <a:t>beq</a:t>
            </a:r>
            <a:r>
              <a:rPr lang="en-US" sz="2000" dirty="0"/>
              <a:t> r3,r4,8 </a:t>
            </a:r>
            <a:r>
              <a:rPr lang="en-US" sz="2000" dirty="0">
                <a:sym typeface="Wingdings" panose="05000000000000000000" pitchFamily="2" charset="2"/>
              </a:rPr>
              <a:t> predict not taken) (</a:t>
            </a:r>
            <a:r>
              <a:rPr lang="en-US" sz="2000" dirty="0" err="1">
                <a:sym typeface="Wingdings" panose="05000000000000000000" pitchFamily="2" charset="2"/>
              </a:rPr>
              <a:t>beq</a:t>
            </a:r>
            <a:r>
              <a:rPr lang="en-US" sz="2000" dirty="0">
                <a:sym typeface="Wingdings" panose="05000000000000000000" pitchFamily="2" charset="2"/>
              </a:rPr>
              <a:t> r4,r3,8  predict taken)</a:t>
            </a:r>
            <a:endParaRPr lang="en-US" sz="2000" dirty="0"/>
          </a:p>
        </p:txBody>
      </p:sp>
    </p:spTree>
    <p:extLst>
      <p:ext uri="{BB962C8B-B14F-4D97-AF65-F5344CB8AC3E}">
        <p14:creationId xmlns:p14="http://schemas.microsoft.com/office/powerpoint/2010/main" val="13131023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en-US" altLang="zh-TW"/>
              <a:t>Dynamic Branch Prediction</a:t>
            </a:r>
          </a:p>
        </p:txBody>
      </p:sp>
      <p:sp>
        <p:nvSpPr>
          <p:cNvPr id="105475" name="Rectangle 3"/>
          <p:cNvSpPr>
            <a:spLocks noGrp="1" noChangeArrowheads="1"/>
          </p:cNvSpPr>
          <p:nvPr>
            <p:ph idx="1"/>
          </p:nvPr>
        </p:nvSpPr>
        <p:spPr>
          <a:xfrm>
            <a:off x="729574" y="1085851"/>
            <a:ext cx="10864779" cy="4579846"/>
          </a:xfrm>
        </p:spPr>
        <p:txBody>
          <a:bodyPr/>
          <a:lstStyle/>
          <a:p>
            <a:pPr>
              <a:lnSpc>
                <a:spcPct val="80000"/>
              </a:lnSpc>
            </a:pPr>
            <a:r>
              <a:rPr lang="en-US" altLang="zh-TW" sz="3200" dirty="0"/>
              <a:t>Dynamic Branch Predictions are made at </a:t>
            </a:r>
            <a:r>
              <a:rPr lang="en-US" altLang="zh-TW" sz="3200" dirty="0">
                <a:solidFill>
                  <a:srgbClr val="FF0000"/>
                </a:solidFill>
              </a:rPr>
              <a:t>Runtime</a:t>
            </a:r>
          </a:p>
          <a:p>
            <a:pPr>
              <a:lnSpc>
                <a:spcPct val="80000"/>
              </a:lnSpc>
            </a:pPr>
            <a:r>
              <a:rPr lang="en-US" altLang="zh-TW" sz="3200" dirty="0"/>
              <a:t>Static predictions typically have low accuracy, ranging from 65% to 85%, while dynamic predictions can achieve accuracy levels as high as 90% to 99%.</a:t>
            </a:r>
          </a:p>
          <a:p>
            <a:pPr>
              <a:lnSpc>
                <a:spcPct val="80000"/>
              </a:lnSpc>
            </a:pPr>
            <a:r>
              <a:rPr lang="en-US" altLang="zh-TW" sz="3200" dirty="0"/>
              <a:t>One common approach is to have a branch history table</a:t>
            </a:r>
            <a:endParaRPr lang="en-US" altLang="zh-TW" sz="2800" dirty="0"/>
          </a:p>
          <a:p>
            <a:pPr lvl="1">
              <a:lnSpc>
                <a:spcPct val="80000"/>
              </a:lnSpc>
            </a:pPr>
            <a:r>
              <a:rPr lang="en-US" altLang="zh-TW" sz="2800" dirty="0"/>
              <a:t>Indexed by recent branch instruction addresses </a:t>
            </a:r>
          </a:p>
          <a:p>
            <a:pPr lvl="1">
              <a:lnSpc>
                <a:spcPct val="80000"/>
              </a:lnSpc>
            </a:pPr>
            <a:r>
              <a:rPr lang="en-US" altLang="zh-TW" sz="2800" dirty="0"/>
              <a:t>Stores branch outcomes (taken/not taken)</a:t>
            </a:r>
          </a:p>
          <a:p>
            <a:pPr lvl="1">
              <a:lnSpc>
                <a:spcPct val="80000"/>
              </a:lnSpc>
            </a:pPr>
            <a:r>
              <a:rPr lang="en-US" altLang="zh-TW" sz="2800" dirty="0"/>
              <a:t>To execute a branch</a:t>
            </a:r>
          </a:p>
          <a:p>
            <a:pPr lvl="2">
              <a:lnSpc>
                <a:spcPct val="80000"/>
              </a:lnSpc>
            </a:pPr>
            <a:r>
              <a:rPr lang="en-US" altLang="zh-TW" sz="2800" dirty="0"/>
              <a:t>Check the prediction table; expect the same outcome</a:t>
            </a:r>
          </a:p>
          <a:p>
            <a:pPr lvl="2">
              <a:lnSpc>
                <a:spcPct val="80000"/>
              </a:lnSpc>
            </a:pPr>
            <a:r>
              <a:rPr lang="en-US" altLang="zh-TW" sz="2800" dirty="0"/>
              <a:t>Start fetching from fall-through or target</a:t>
            </a:r>
          </a:p>
          <a:p>
            <a:pPr lvl="2">
              <a:lnSpc>
                <a:spcPct val="80000"/>
              </a:lnSpc>
            </a:pPr>
            <a:r>
              <a:rPr lang="en-US" altLang="zh-TW" sz="2800" dirty="0"/>
              <a:t>If wrong, flush the pipeline and change the prediction</a:t>
            </a:r>
            <a:endParaRPr lang="en-AU" altLang="zh-TW" sz="2800" dirty="0"/>
          </a:p>
        </p:txBody>
      </p:sp>
      <p:sp>
        <p:nvSpPr>
          <p:cNvPr id="105476"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95AFD5EC-A468-4BDB-B0F2-6338684D54D8}" type="slidenum">
              <a:rPr lang="zh-TW" altLang="en-US" sz="1400" b="0">
                <a:solidFill>
                  <a:schemeClr val="bg1"/>
                </a:solidFill>
                <a:latin typeface="Arial" panose="020B0604020202090204" pitchFamily="34" charset="0"/>
                <a:ea typeface="新細明體" panose="02020500000000000000" pitchFamily="18" charset="-120"/>
              </a:rPr>
              <a:t>29</a:t>
            </a:fld>
            <a:endParaRPr lang="en-US" altLang="zh-TW" sz="1400" b="0">
              <a:solidFill>
                <a:schemeClr val="bg1"/>
              </a:solidFill>
              <a:latin typeface="Arial" panose="020B0604020202090204" pitchFamily="34" charset="0"/>
              <a:ea typeface="新細明體" panose="02020500000000000000" pitchFamily="18" charset="-12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en-US" altLang="zh-TW" dirty="0"/>
              <a:t>A Simple Branch History Table</a:t>
            </a:r>
          </a:p>
        </p:txBody>
      </p:sp>
      <p:sp>
        <p:nvSpPr>
          <p:cNvPr id="105476"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95AFD5EC-A468-4BDB-B0F2-6338684D54D8}" type="slidenum">
              <a:rPr lang="zh-TW" altLang="en-US" sz="1400" b="0">
                <a:solidFill>
                  <a:schemeClr val="bg1"/>
                </a:solidFill>
                <a:latin typeface="Arial" panose="020B0604020202090204" pitchFamily="34" charset="0"/>
                <a:ea typeface="新細明體" panose="02020500000000000000" pitchFamily="18" charset="-120"/>
              </a:rPr>
              <a:t>30</a:t>
            </a:fld>
            <a:endParaRPr lang="en-US" altLang="zh-TW" sz="1400" b="0">
              <a:solidFill>
                <a:schemeClr val="bg1"/>
              </a:solidFill>
              <a:latin typeface="Arial" panose="020B0604020202090204" pitchFamily="34" charset="0"/>
              <a:ea typeface="新細明體" panose="02020500000000000000" pitchFamily="18" charset="-120"/>
            </a:endParaRPr>
          </a:p>
        </p:txBody>
      </p:sp>
      <p:graphicFrame>
        <p:nvGraphicFramePr>
          <p:cNvPr id="4" name="Table 4">
            <a:extLst>
              <a:ext uri="{FF2B5EF4-FFF2-40B4-BE49-F238E27FC236}">
                <a16:creationId xmlns:a16="http://schemas.microsoft.com/office/drawing/2014/main" id="{9C72632F-5561-4439-989B-67A3D1E1E044}"/>
              </a:ext>
            </a:extLst>
          </p:cNvPr>
          <p:cNvGraphicFramePr>
            <a:graphicFrameLocks noGrp="1"/>
          </p:cNvGraphicFramePr>
          <p:nvPr>
            <p:extLst>
              <p:ext uri="{D42A27DB-BD31-4B8C-83A1-F6EECF244321}">
                <p14:modId xmlns:p14="http://schemas.microsoft.com/office/powerpoint/2010/main" val="3203875621"/>
              </p:ext>
            </p:extLst>
          </p:nvPr>
        </p:nvGraphicFramePr>
        <p:xfrm>
          <a:off x="771962" y="1678889"/>
          <a:ext cx="1155450" cy="1854200"/>
        </p:xfrm>
        <a:graphic>
          <a:graphicData uri="http://schemas.openxmlformats.org/drawingml/2006/table">
            <a:tbl>
              <a:tblPr firstRow="1" bandRow="1">
                <a:tableStyleId>{5C22544A-7EE6-4342-B048-85BDC9FD1C3A}</a:tableStyleId>
              </a:tblPr>
              <a:tblGrid>
                <a:gridCol w="1155450">
                  <a:extLst>
                    <a:ext uri="{9D8B030D-6E8A-4147-A177-3AD203B41FA5}">
                      <a16:colId xmlns:a16="http://schemas.microsoft.com/office/drawing/2014/main" val="4210759225"/>
                    </a:ext>
                  </a:extLst>
                </a:gridCol>
              </a:tblGrid>
              <a:tr h="370840">
                <a:tc>
                  <a:txBody>
                    <a:bodyPr/>
                    <a:lstStyle/>
                    <a:p>
                      <a:r>
                        <a:rPr lang="en-US" dirty="0"/>
                        <a:t>Program</a:t>
                      </a:r>
                    </a:p>
                  </a:txBody>
                  <a:tcPr/>
                </a:tc>
                <a:extLst>
                  <a:ext uri="{0D108BD9-81ED-4DB2-BD59-A6C34878D82A}">
                    <a16:rowId xmlns:a16="http://schemas.microsoft.com/office/drawing/2014/main" val="2200039356"/>
                  </a:ext>
                </a:extLst>
              </a:tr>
              <a:tr h="370840">
                <a:tc>
                  <a:txBody>
                    <a:bodyPr/>
                    <a:lstStyle/>
                    <a:p>
                      <a:r>
                        <a:rPr lang="en-US" dirty="0" err="1"/>
                        <a:t>bne</a:t>
                      </a:r>
                      <a:endParaRPr lang="en-US" dirty="0"/>
                    </a:p>
                  </a:txBody>
                  <a:tcPr/>
                </a:tc>
                <a:extLst>
                  <a:ext uri="{0D108BD9-81ED-4DB2-BD59-A6C34878D82A}">
                    <a16:rowId xmlns:a16="http://schemas.microsoft.com/office/drawing/2014/main" val="3697772335"/>
                  </a:ext>
                </a:extLst>
              </a:tr>
              <a:tr h="370840">
                <a:tc>
                  <a:txBody>
                    <a:bodyPr/>
                    <a:lstStyle/>
                    <a:p>
                      <a:r>
                        <a:rPr lang="en-US" dirty="0" err="1"/>
                        <a:t>beq</a:t>
                      </a:r>
                      <a:endParaRPr lang="en-US" dirty="0"/>
                    </a:p>
                  </a:txBody>
                  <a:tcPr/>
                </a:tc>
                <a:extLst>
                  <a:ext uri="{0D108BD9-81ED-4DB2-BD59-A6C34878D82A}">
                    <a16:rowId xmlns:a16="http://schemas.microsoft.com/office/drawing/2014/main" val="4045770082"/>
                  </a:ext>
                </a:extLst>
              </a:tr>
              <a:tr h="370840">
                <a:tc>
                  <a:txBody>
                    <a:bodyPr/>
                    <a:lstStyle/>
                    <a:p>
                      <a:r>
                        <a:rPr lang="en-US" dirty="0" err="1"/>
                        <a:t>ld</a:t>
                      </a:r>
                      <a:endParaRPr lang="en-US" dirty="0"/>
                    </a:p>
                  </a:txBody>
                  <a:tcPr/>
                </a:tc>
                <a:extLst>
                  <a:ext uri="{0D108BD9-81ED-4DB2-BD59-A6C34878D82A}">
                    <a16:rowId xmlns:a16="http://schemas.microsoft.com/office/drawing/2014/main" val="2952140346"/>
                  </a:ext>
                </a:extLst>
              </a:tr>
              <a:tr h="370840">
                <a:tc>
                  <a:txBody>
                    <a:bodyPr/>
                    <a:lstStyle/>
                    <a:p>
                      <a:r>
                        <a:rPr lang="en-US" dirty="0" err="1"/>
                        <a:t>sw</a:t>
                      </a:r>
                      <a:endParaRPr lang="en-US" dirty="0"/>
                    </a:p>
                  </a:txBody>
                  <a:tcPr/>
                </a:tc>
                <a:extLst>
                  <a:ext uri="{0D108BD9-81ED-4DB2-BD59-A6C34878D82A}">
                    <a16:rowId xmlns:a16="http://schemas.microsoft.com/office/drawing/2014/main" val="7878685"/>
                  </a:ext>
                </a:extLst>
              </a:tr>
            </a:tbl>
          </a:graphicData>
        </a:graphic>
      </p:graphicFrame>
      <p:graphicFrame>
        <p:nvGraphicFramePr>
          <p:cNvPr id="5" name="Table 5">
            <a:extLst>
              <a:ext uri="{FF2B5EF4-FFF2-40B4-BE49-F238E27FC236}">
                <a16:creationId xmlns:a16="http://schemas.microsoft.com/office/drawing/2014/main" id="{669863D7-D4FF-474A-81B6-4836D44C1382}"/>
              </a:ext>
            </a:extLst>
          </p:cNvPr>
          <p:cNvGraphicFramePr>
            <a:graphicFrameLocks noGrp="1"/>
          </p:cNvGraphicFramePr>
          <p:nvPr>
            <p:extLst>
              <p:ext uri="{D42A27DB-BD31-4B8C-83A1-F6EECF244321}">
                <p14:modId xmlns:p14="http://schemas.microsoft.com/office/powerpoint/2010/main" val="3460805142"/>
              </p:ext>
            </p:extLst>
          </p:nvPr>
        </p:nvGraphicFramePr>
        <p:xfrm>
          <a:off x="4410635" y="1095736"/>
          <a:ext cx="1021977" cy="3977894"/>
        </p:xfrm>
        <a:graphic>
          <a:graphicData uri="http://schemas.openxmlformats.org/drawingml/2006/table">
            <a:tbl>
              <a:tblPr firstRow="1" bandRow="1">
                <a:tableStyleId>{5C22544A-7EE6-4342-B048-85BDC9FD1C3A}</a:tableStyleId>
              </a:tblPr>
              <a:tblGrid>
                <a:gridCol w="1021977">
                  <a:extLst>
                    <a:ext uri="{9D8B030D-6E8A-4147-A177-3AD203B41FA5}">
                      <a16:colId xmlns:a16="http://schemas.microsoft.com/office/drawing/2014/main" val="2417630684"/>
                    </a:ext>
                  </a:extLst>
                </a:gridCol>
              </a:tblGrid>
              <a:tr h="370840">
                <a:tc>
                  <a:txBody>
                    <a:bodyPr/>
                    <a:lstStyle/>
                    <a:p>
                      <a:r>
                        <a:rPr lang="en-US" dirty="0"/>
                        <a:t>Branch </a:t>
                      </a:r>
                    </a:p>
                    <a:p>
                      <a:r>
                        <a:rPr lang="en-US" dirty="0"/>
                        <a:t>History</a:t>
                      </a:r>
                    </a:p>
                  </a:txBody>
                  <a:tcPr/>
                </a:tc>
                <a:extLst>
                  <a:ext uri="{0D108BD9-81ED-4DB2-BD59-A6C34878D82A}">
                    <a16:rowId xmlns:a16="http://schemas.microsoft.com/office/drawing/2014/main" val="582620393"/>
                  </a:ext>
                </a:extLst>
              </a:tr>
              <a:tr h="370840">
                <a:tc>
                  <a:txBody>
                    <a:bodyPr/>
                    <a:lstStyle/>
                    <a:p>
                      <a:endParaRPr lang="en-US"/>
                    </a:p>
                  </a:txBody>
                  <a:tcPr/>
                </a:tc>
                <a:extLst>
                  <a:ext uri="{0D108BD9-81ED-4DB2-BD59-A6C34878D82A}">
                    <a16:rowId xmlns:a16="http://schemas.microsoft.com/office/drawing/2014/main" val="2963899545"/>
                  </a:ext>
                </a:extLst>
              </a:tr>
              <a:tr h="370840">
                <a:tc>
                  <a:txBody>
                    <a:bodyPr/>
                    <a:lstStyle/>
                    <a:p>
                      <a:r>
                        <a:rPr lang="en-US" dirty="0"/>
                        <a:t>0</a:t>
                      </a:r>
                    </a:p>
                  </a:txBody>
                  <a:tcPr/>
                </a:tc>
                <a:extLst>
                  <a:ext uri="{0D108BD9-81ED-4DB2-BD59-A6C34878D82A}">
                    <a16:rowId xmlns:a16="http://schemas.microsoft.com/office/drawing/2014/main" val="175844064"/>
                  </a:ext>
                </a:extLst>
              </a:tr>
              <a:tr h="370840">
                <a:tc>
                  <a:txBody>
                    <a:bodyPr/>
                    <a:lstStyle/>
                    <a:p>
                      <a:endParaRPr lang="en-US" dirty="0"/>
                    </a:p>
                  </a:txBody>
                  <a:tcPr/>
                </a:tc>
                <a:extLst>
                  <a:ext uri="{0D108BD9-81ED-4DB2-BD59-A6C34878D82A}">
                    <a16:rowId xmlns:a16="http://schemas.microsoft.com/office/drawing/2014/main" val="2097841029"/>
                  </a:ext>
                </a:extLst>
              </a:tr>
              <a:tr h="370840">
                <a:tc>
                  <a:txBody>
                    <a:bodyPr/>
                    <a:lstStyle/>
                    <a:p>
                      <a:endParaRPr lang="en-US"/>
                    </a:p>
                  </a:txBody>
                  <a:tcPr/>
                </a:tc>
                <a:extLst>
                  <a:ext uri="{0D108BD9-81ED-4DB2-BD59-A6C34878D82A}">
                    <a16:rowId xmlns:a16="http://schemas.microsoft.com/office/drawing/2014/main" val="3370050660"/>
                  </a:ext>
                </a:extLst>
              </a:tr>
              <a:tr h="370840">
                <a:tc>
                  <a:txBody>
                    <a:bodyPr/>
                    <a:lstStyle/>
                    <a:p>
                      <a:r>
                        <a:rPr lang="en-US" dirty="0"/>
                        <a:t>1</a:t>
                      </a:r>
                    </a:p>
                  </a:txBody>
                  <a:tcPr/>
                </a:tc>
                <a:extLst>
                  <a:ext uri="{0D108BD9-81ED-4DB2-BD59-A6C34878D82A}">
                    <a16:rowId xmlns:a16="http://schemas.microsoft.com/office/drawing/2014/main" val="133835550"/>
                  </a:ext>
                </a:extLst>
              </a:tr>
              <a:tr h="370840">
                <a:tc>
                  <a:txBody>
                    <a:bodyPr/>
                    <a:lstStyle/>
                    <a:p>
                      <a:endParaRPr lang="en-US" dirty="0"/>
                    </a:p>
                  </a:txBody>
                  <a:tcPr/>
                </a:tc>
                <a:extLst>
                  <a:ext uri="{0D108BD9-81ED-4DB2-BD59-A6C34878D82A}">
                    <a16:rowId xmlns:a16="http://schemas.microsoft.com/office/drawing/2014/main" val="1177836470"/>
                  </a:ext>
                </a:extLst>
              </a:tr>
              <a:tr h="370840">
                <a:tc>
                  <a:txBody>
                    <a:bodyPr/>
                    <a:lstStyle/>
                    <a:p>
                      <a:endParaRPr lang="en-US" dirty="0"/>
                    </a:p>
                  </a:txBody>
                  <a:tcPr/>
                </a:tc>
                <a:extLst>
                  <a:ext uri="{0D108BD9-81ED-4DB2-BD59-A6C34878D82A}">
                    <a16:rowId xmlns:a16="http://schemas.microsoft.com/office/drawing/2014/main" val="1039889336"/>
                  </a:ext>
                </a:extLst>
              </a:tr>
              <a:tr h="370840">
                <a:tc>
                  <a:txBody>
                    <a:bodyPr/>
                    <a:lstStyle/>
                    <a:p>
                      <a:endParaRPr lang="en-US" dirty="0"/>
                    </a:p>
                  </a:txBody>
                  <a:tcPr/>
                </a:tc>
                <a:extLst>
                  <a:ext uri="{0D108BD9-81ED-4DB2-BD59-A6C34878D82A}">
                    <a16:rowId xmlns:a16="http://schemas.microsoft.com/office/drawing/2014/main" val="2089270168"/>
                  </a:ext>
                </a:extLst>
              </a:tr>
              <a:tr h="370840">
                <a:tc>
                  <a:txBody>
                    <a:bodyPr/>
                    <a:lstStyle/>
                    <a:p>
                      <a:endParaRPr lang="en-US" dirty="0"/>
                    </a:p>
                  </a:txBody>
                  <a:tcPr/>
                </a:tc>
                <a:extLst>
                  <a:ext uri="{0D108BD9-81ED-4DB2-BD59-A6C34878D82A}">
                    <a16:rowId xmlns:a16="http://schemas.microsoft.com/office/drawing/2014/main" val="685313306"/>
                  </a:ext>
                </a:extLst>
              </a:tr>
            </a:tbl>
          </a:graphicData>
        </a:graphic>
      </p:graphicFrame>
      <p:cxnSp>
        <p:nvCxnSpPr>
          <p:cNvPr id="7" name="Straight Arrow Connector 6">
            <a:extLst>
              <a:ext uri="{FF2B5EF4-FFF2-40B4-BE49-F238E27FC236}">
                <a16:creationId xmlns:a16="http://schemas.microsoft.com/office/drawing/2014/main" id="{C3D7D8A4-4E8E-478D-AFE6-680A3C854BDD}"/>
              </a:ext>
            </a:extLst>
          </p:cNvPr>
          <p:cNvCxnSpPr/>
          <p:nvPr/>
        </p:nvCxnSpPr>
        <p:spPr bwMode="auto">
          <a:xfrm>
            <a:off x="1918447" y="2617694"/>
            <a:ext cx="2492188" cy="811306"/>
          </a:xfrm>
          <a:prstGeom prst="straightConnector1">
            <a:avLst/>
          </a:prstGeom>
          <a:noFill/>
          <a:ln w="15875" cap="flat" cmpd="sng" algn="ctr">
            <a:solidFill>
              <a:srgbClr val="FF0000"/>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1E3E3565-73DA-4DA7-B071-ADA753346ED5}"/>
              </a:ext>
            </a:extLst>
          </p:cNvPr>
          <p:cNvCxnSpPr>
            <a:cxnSpLocks/>
          </p:cNvCxnSpPr>
          <p:nvPr/>
        </p:nvCxnSpPr>
        <p:spPr bwMode="auto">
          <a:xfrm>
            <a:off x="1927412" y="2264086"/>
            <a:ext cx="2483223" cy="0"/>
          </a:xfrm>
          <a:prstGeom prst="straightConnector1">
            <a:avLst/>
          </a:prstGeom>
          <a:noFill/>
          <a:ln w="15875" cap="flat" cmpd="sng" algn="ctr">
            <a:solidFill>
              <a:srgbClr val="FF0000"/>
            </a:solidFill>
            <a:prstDash val="solid"/>
            <a:round/>
            <a:headEnd type="none" w="med" len="med"/>
            <a:tailEnd type="triangle"/>
          </a:ln>
          <a:effectLst/>
        </p:spPr>
      </p:cxnSp>
      <p:sp>
        <p:nvSpPr>
          <p:cNvPr id="9" name="TextBox 8">
            <a:extLst>
              <a:ext uri="{FF2B5EF4-FFF2-40B4-BE49-F238E27FC236}">
                <a16:creationId xmlns:a16="http://schemas.microsoft.com/office/drawing/2014/main" id="{EFC46A0C-C7D1-4752-9A9A-2850CB2F2029}"/>
              </a:ext>
            </a:extLst>
          </p:cNvPr>
          <p:cNvSpPr txBox="1"/>
          <p:nvPr/>
        </p:nvSpPr>
        <p:spPr>
          <a:xfrm>
            <a:off x="4085496" y="5148083"/>
            <a:ext cx="4570482" cy="369332"/>
          </a:xfrm>
          <a:prstGeom prst="rect">
            <a:avLst/>
          </a:prstGeom>
          <a:noFill/>
        </p:spPr>
        <p:txBody>
          <a:bodyPr wrap="none" rtlCol="0" anchor="ctr" anchorCtr="1">
            <a:spAutoFit/>
          </a:bodyPr>
          <a:lstStyle/>
          <a:p>
            <a:r>
              <a:rPr lang="en-US" dirty="0">
                <a:ea typeface="標楷體" pitchFamily="65" charset="-120"/>
                <a:cs typeface="Calibri" pitchFamily="34" charset="0"/>
              </a:rPr>
              <a:t>One bit history here, but could be multi-bits</a:t>
            </a:r>
          </a:p>
        </p:txBody>
      </p:sp>
      <p:cxnSp>
        <p:nvCxnSpPr>
          <p:cNvPr id="12" name="Straight Arrow Connector 11">
            <a:extLst>
              <a:ext uri="{FF2B5EF4-FFF2-40B4-BE49-F238E27FC236}">
                <a16:creationId xmlns:a16="http://schemas.microsoft.com/office/drawing/2014/main" id="{71B41576-2DA2-4F24-BDEF-257AF38E9AD1}"/>
              </a:ext>
            </a:extLst>
          </p:cNvPr>
          <p:cNvCxnSpPr>
            <a:cxnSpLocks/>
          </p:cNvCxnSpPr>
          <p:nvPr/>
        </p:nvCxnSpPr>
        <p:spPr bwMode="auto">
          <a:xfrm>
            <a:off x="5432612" y="2264086"/>
            <a:ext cx="2079812" cy="0"/>
          </a:xfrm>
          <a:prstGeom prst="straightConnector1">
            <a:avLst/>
          </a:prstGeom>
          <a:noFill/>
          <a:ln w="15875" cap="flat" cmpd="sng" algn="ctr">
            <a:solidFill>
              <a:srgbClr val="FF0000"/>
            </a:solidFill>
            <a:prstDash val="solid"/>
            <a:round/>
            <a:headEnd type="none" w="med" len="med"/>
            <a:tailEnd type="triangle"/>
          </a:ln>
          <a:effectLst/>
        </p:spPr>
      </p:cxnSp>
      <p:sp>
        <p:nvSpPr>
          <p:cNvPr id="13" name="TextBox 12">
            <a:extLst>
              <a:ext uri="{FF2B5EF4-FFF2-40B4-BE49-F238E27FC236}">
                <a16:creationId xmlns:a16="http://schemas.microsoft.com/office/drawing/2014/main" id="{1C1D9B6F-0DA7-4252-8A79-774526D92571}"/>
              </a:ext>
            </a:extLst>
          </p:cNvPr>
          <p:cNvSpPr txBox="1"/>
          <p:nvPr/>
        </p:nvSpPr>
        <p:spPr>
          <a:xfrm>
            <a:off x="7512424" y="2079420"/>
            <a:ext cx="1915909" cy="369332"/>
          </a:xfrm>
          <a:prstGeom prst="rect">
            <a:avLst/>
          </a:prstGeom>
          <a:noFill/>
        </p:spPr>
        <p:txBody>
          <a:bodyPr wrap="none" rtlCol="0" anchor="ctr" anchorCtr="1">
            <a:spAutoFit/>
          </a:bodyPr>
          <a:lstStyle/>
          <a:p>
            <a:r>
              <a:rPr lang="en-US" dirty="0">
                <a:ea typeface="標楷體" pitchFamily="65" charset="-120"/>
                <a:cs typeface="Calibri" pitchFamily="34" charset="0"/>
              </a:rPr>
              <a:t>Predict not taken</a:t>
            </a:r>
          </a:p>
        </p:txBody>
      </p:sp>
      <p:cxnSp>
        <p:nvCxnSpPr>
          <p:cNvPr id="18" name="Straight Arrow Connector 17">
            <a:extLst>
              <a:ext uri="{FF2B5EF4-FFF2-40B4-BE49-F238E27FC236}">
                <a16:creationId xmlns:a16="http://schemas.microsoft.com/office/drawing/2014/main" id="{0EA9DFDB-B9E0-4AB0-8190-021F30FE68B7}"/>
              </a:ext>
            </a:extLst>
          </p:cNvPr>
          <p:cNvCxnSpPr>
            <a:cxnSpLocks/>
          </p:cNvCxnSpPr>
          <p:nvPr/>
        </p:nvCxnSpPr>
        <p:spPr bwMode="auto">
          <a:xfrm>
            <a:off x="5432612" y="3429000"/>
            <a:ext cx="2079812" cy="0"/>
          </a:xfrm>
          <a:prstGeom prst="straightConnector1">
            <a:avLst/>
          </a:prstGeom>
          <a:noFill/>
          <a:ln w="15875" cap="flat" cmpd="sng" algn="ctr">
            <a:solidFill>
              <a:srgbClr val="FF0000"/>
            </a:solidFill>
            <a:prstDash val="solid"/>
            <a:round/>
            <a:headEnd type="none" w="med" len="med"/>
            <a:tailEnd type="triangle"/>
          </a:ln>
          <a:effectLst/>
        </p:spPr>
      </p:cxnSp>
      <p:sp>
        <p:nvSpPr>
          <p:cNvPr id="19" name="TextBox 18">
            <a:extLst>
              <a:ext uri="{FF2B5EF4-FFF2-40B4-BE49-F238E27FC236}">
                <a16:creationId xmlns:a16="http://schemas.microsoft.com/office/drawing/2014/main" id="{7AB03129-CB60-4E0D-B5C2-CE4E10403075}"/>
              </a:ext>
            </a:extLst>
          </p:cNvPr>
          <p:cNvSpPr txBox="1"/>
          <p:nvPr/>
        </p:nvSpPr>
        <p:spPr>
          <a:xfrm>
            <a:off x="7512423" y="3244334"/>
            <a:ext cx="1531188" cy="369332"/>
          </a:xfrm>
          <a:prstGeom prst="rect">
            <a:avLst/>
          </a:prstGeom>
          <a:noFill/>
        </p:spPr>
        <p:txBody>
          <a:bodyPr wrap="none" rtlCol="0" anchor="ctr" anchorCtr="1">
            <a:spAutoFit/>
          </a:bodyPr>
          <a:lstStyle/>
          <a:p>
            <a:r>
              <a:rPr lang="en-US" dirty="0">
                <a:ea typeface="標楷體" pitchFamily="65" charset="-120"/>
                <a:cs typeface="Calibri" pitchFamily="34" charset="0"/>
              </a:rPr>
              <a:t>Predict taken</a:t>
            </a:r>
          </a:p>
        </p:txBody>
      </p:sp>
      <p:sp>
        <p:nvSpPr>
          <p:cNvPr id="2" name="TextBox 1">
            <a:extLst>
              <a:ext uri="{FF2B5EF4-FFF2-40B4-BE49-F238E27FC236}">
                <a16:creationId xmlns:a16="http://schemas.microsoft.com/office/drawing/2014/main" id="{A56DADB5-CB1E-4CAA-86D0-90CA4FE4C258}"/>
              </a:ext>
            </a:extLst>
          </p:cNvPr>
          <p:cNvSpPr txBox="1"/>
          <p:nvPr/>
        </p:nvSpPr>
        <p:spPr>
          <a:xfrm>
            <a:off x="2473961" y="2328939"/>
            <a:ext cx="1633781" cy="369332"/>
          </a:xfrm>
          <a:prstGeom prst="rect">
            <a:avLst/>
          </a:prstGeom>
          <a:noFill/>
        </p:spPr>
        <p:txBody>
          <a:bodyPr wrap="none" rtlCol="0" anchor="ctr" anchorCtr="1">
            <a:spAutoFit/>
          </a:bodyPr>
          <a:lstStyle/>
          <a:p>
            <a:r>
              <a:rPr lang="en-US" dirty="0">
                <a:ea typeface="標楷體" pitchFamily="65" charset="-120"/>
                <a:cs typeface="Calibri" pitchFamily="34" charset="0"/>
              </a:rPr>
              <a:t>PC addresses</a:t>
            </a:r>
          </a:p>
        </p:txBody>
      </p:sp>
      <p:graphicFrame>
        <p:nvGraphicFramePr>
          <p:cNvPr id="15" name="Table 5">
            <a:extLst>
              <a:ext uri="{FF2B5EF4-FFF2-40B4-BE49-F238E27FC236}">
                <a16:creationId xmlns:a16="http://schemas.microsoft.com/office/drawing/2014/main" id="{AC40E3AE-6E73-406F-AB63-48D41E26C16B}"/>
              </a:ext>
            </a:extLst>
          </p:cNvPr>
          <p:cNvGraphicFramePr>
            <a:graphicFrameLocks noGrp="1"/>
          </p:cNvGraphicFramePr>
          <p:nvPr>
            <p:extLst>
              <p:ext uri="{D42A27DB-BD31-4B8C-83A1-F6EECF244321}">
                <p14:modId xmlns:p14="http://schemas.microsoft.com/office/powerpoint/2010/main" val="348672080"/>
              </p:ext>
            </p:extLst>
          </p:nvPr>
        </p:nvGraphicFramePr>
        <p:xfrm>
          <a:off x="2538630" y="1095735"/>
          <a:ext cx="1741633" cy="4220435"/>
        </p:xfrm>
        <a:graphic>
          <a:graphicData uri="http://schemas.openxmlformats.org/drawingml/2006/table">
            <a:tbl>
              <a:tblPr firstRow="1" bandRow="1">
                <a:tableStyleId>{5C22544A-7EE6-4342-B048-85BDC9FD1C3A}</a:tableStyleId>
              </a:tblPr>
              <a:tblGrid>
                <a:gridCol w="1741633">
                  <a:extLst>
                    <a:ext uri="{9D8B030D-6E8A-4147-A177-3AD203B41FA5}">
                      <a16:colId xmlns:a16="http://schemas.microsoft.com/office/drawing/2014/main" val="2417630684"/>
                    </a:ext>
                  </a:extLst>
                </a:gridCol>
              </a:tblGrid>
              <a:tr h="397789">
                <a:tc>
                  <a:txBody>
                    <a:bodyPr/>
                    <a:lstStyle/>
                    <a:p>
                      <a:r>
                        <a:rPr lang="en-US" dirty="0"/>
                        <a:t>Tag / Key</a:t>
                      </a:r>
                    </a:p>
                    <a:p>
                      <a:endParaRPr lang="en-US" dirty="0"/>
                    </a:p>
                  </a:txBody>
                  <a:tcPr/>
                </a:tc>
                <a:extLst>
                  <a:ext uri="{0D108BD9-81ED-4DB2-BD59-A6C34878D82A}">
                    <a16:rowId xmlns:a16="http://schemas.microsoft.com/office/drawing/2014/main" val="582620393"/>
                  </a:ext>
                </a:extLst>
              </a:tr>
              <a:tr h="397789">
                <a:tc>
                  <a:txBody>
                    <a:bodyPr/>
                    <a:lstStyle/>
                    <a:p>
                      <a:endParaRPr lang="en-US"/>
                    </a:p>
                  </a:txBody>
                  <a:tcPr/>
                </a:tc>
                <a:extLst>
                  <a:ext uri="{0D108BD9-81ED-4DB2-BD59-A6C34878D82A}">
                    <a16:rowId xmlns:a16="http://schemas.microsoft.com/office/drawing/2014/main" val="2963899545"/>
                  </a:ext>
                </a:extLst>
              </a:tr>
              <a:tr h="397789">
                <a:tc>
                  <a:txBody>
                    <a:bodyPr/>
                    <a:lstStyle/>
                    <a:p>
                      <a:r>
                        <a:rPr lang="en-US" dirty="0"/>
                        <a:t>000001110010</a:t>
                      </a:r>
                    </a:p>
                  </a:txBody>
                  <a:tcPr/>
                </a:tc>
                <a:extLst>
                  <a:ext uri="{0D108BD9-81ED-4DB2-BD59-A6C34878D82A}">
                    <a16:rowId xmlns:a16="http://schemas.microsoft.com/office/drawing/2014/main" val="175844064"/>
                  </a:ext>
                </a:extLst>
              </a:tr>
              <a:tr h="397789">
                <a:tc>
                  <a:txBody>
                    <a:bodyPr/>
                    <a:lstStyle/>
                    <a:p>
                      <a:r>
                        <a:rPr lang="en-US" dirty="0"/>
                        <a:t>000001110110</a:t>
                      </a:r>
                    </a:p>
                  </a:txBody>
                  <a:tcPr/>
                </a:tc>
                <a:extLst>
                  <a:ext uri="{0D108BD9-81ED-4DB2-BD59-A6C34878D82A}">
                    <a16:rowId xmlns:a16="http://schemas.microsoft.com/office/drawing/2014/main" val="2097841029"/>
                  </a:ext>
                </a:extLst>
              </a:tr>
              <a:tr h="397789">
                <a:tc>
                  <a:txBody>
                    <a:bodyPr/>
                    <a:lstStyle/>
                    <a:p>
                      <a:endParaRPr lang="en-US"/>
                    </a:p>
                  </a:txBody>
                  <a:tcPr/>
                </a:tc>
                <a:extLst>
                  <a:ext uri="{0D108BD9-81ED-4DB2-BD59-A6C34878D82A}">
                    <a16:rowId xmlns:a16="http://schemas.microsoft.com/office/drawing/2014/main" val="3370050660"/>
                  </a:ext>
                </a:extLst>
              </a:tr>
              <a:tr h="397789">
                <a:tc>
                  <a:txBody>
                    <a:bodyPr/>
                    <a:lstStyle/>
                    <a:p>
                      <a:r>
                        <a:rPr lang="en-US" dirty="0"/>
                        <a:t>000001111000</a:t>
                      </a:r>
                    </a:p>
                  </a:txBody>
                  <a:tcPr/>
                </a:tc>
                <a:extLst>
                  <a:ext uri="{0D108BD9-81ED-4DB2-BD59-A6C34878D82A}">
                    <a16:rowId xmlns:a16="http://schemas.microsoft.com/office/drawing/2014/main" val="133835550"/>
                  </a:ext>
                </a:extLst>
              </a:tr>
              <a:tr h="397789">
                <a:tc>
                  <a:txBody>
                    <a:bodyPr/>
                    <a:lstStyle/>
                    <a:p>
                      <a:endParaRPr lang="en-US" dirty="0"/>
                    </a:p>
                  </a:txBody>
                  <a:tcPr/>
                </a:tc>
                <a:extLst>
                  <a:ext uri="{0D108BD9-81ED-4DB2-BD59-A6C34878D82A}">
                    <a16:rowId xmlns:a16="http://schemas.microsoft.com/office/drawing/2014/main" val="1177836470"/>
                  </a:ext>
                </a:extLst>
              </a:tr>
              <a:tr h="397789">
                <a:tc>
                  <a:txBody>
                    <a:bodyPr/>
                    <a:lstStyle/>
                    <a:p>
                      <a:endParaRPr lang="en-US" dirty="0"/>
                    </a:p>
                  </a:txBody>
                  <a:tcPr/>
                </a:tc>
                <a:extLst>
                  <a:ext uri="{0D108BD9-81ED-4DB2-BD59-A6C34878D82A}">
                    <a16:rowId xmlns:a16="http://schemas.microsoft.com/office/drawing/2014/main" val="1039889336"/>
                  </a:ext>
                </a:extLst>
              </a:tr>
              <a:tr h="397789">
                <a:tc>
                  <a:txBody>
                    <a:bodyPr/>
                    <a:lstStyle/>
                    <a:p>
                      <a:endParaRPr lang="en-US" dirty="0"/>
                    </a:p>
                  </a:txBody>
                  <a:tcPr/>
                </a:tc>
                <a:extLst>
                  <a:ext uri="{0D108BD9-81ED-4DB2-BD59-A6C34878D82A}">
                    <a16:rowId xmlns:a16="http://schemas.microsoft.com/office/drawing/2014/main" val="2089270168"/>
                  </a:ext>
                </a:extLst>
              </a:tr>
              <a:tr h="397789">
                <a:tc>
                  <a:txBody>
                    <a:bodyPr/>
                    <a:lstStyle/>
                    <a:p>
                      <a:endParaRPr lang="en-US" dirty="0"/>
                    </a:p>
                  </a:txBody>
                  <a:tcPr/>
                </a:tc>
                <a:extLst>
                  <a:ext uri="{0D108BD9-81ED-4DB2-BD59-A6C34878D82A}">
                    <a16:rowId xmlns:a16="http://schemas.microsoft.com/office/drawing/2014/main" val="685313306"/>
                  </a:ext>
                </a:extLst>
              </a:tr>
            </a:tbl>
          </a:graphicData>
        </a:graphic>
      </p:graphicFrame>
      <p:sp>
        <p:nvSpPr>
          <p:cNvPr id="6" name="TextBox 5">
            <a:extLst>
              <a:ext uri="{FF2B5EF4-FFF2-40B4-BE49-F238E27FC236}">
                <a16:creationId xmlns:a16="http://schemas.microsoft.com/office/drawing/2014/main" id="{8D19B9F0-29FD-4E9C-982F-1A8DDC81ED02}"/>
              </a:ext>
            </a:extLst>
          </p:cNvPr>
          <p:cNvSpPr txBox="1"/>
          <p:nvPr/>
        </p:nvSpPr>
        <p:spPr>
          <a:xfrm>
            <a:off x="370175" y="5526612"/>
            <a:ext cx="10841429" cy="369332"/>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Branch prediction table may not have tag/key: history data has only 1 or 2 bits, but tag takes 30-46 bits !!</a:t>
            </a:r>
          </a:p>
        </p:txBody>
      </p:sp>
      <p:sp>
        <p:nvSpPr>
          <p:cNvPr id="16" name="TextBox 15">
            <a:extLst>
              <a:ext uri="{FF2B5EF4-FFF2-40B4-BE49-F238E27FC236}">
                <a16:creationId xmlns:a16="http://schemas.microsoft.com/office/drawing/2014/main" id="{0C24D90C-0051-4498-99DB-91D29C0B82C4}"/>
              </a:ext>
            </a:extLst>
          </p:cNvPr>
          <p:cNvSpPr txBox="1"/>
          <p:nvPr/>
        </p:nvSpPr>
        <p:spPr>
          <a:xfrm>
            <a:off x="370175" y="5953818"/>
            <a:ext cx="8323754" cy="369332"/>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In practice, the lower several bits of the PC address are used to index the BHT !</a:t>
            </a:r>
          </a:p>
        </p:txBody>
      </p:sp>
    </p:spTree>
    <p:extLst>
      <p:ext uri="{BB962C8B-B14F-4D97-AF65-F5344CB8AC3E}">
        <p14:creationId xmlns:p14="http://schemas.microsoft.com/office/powerpoint/2010/main" val="2496277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en-US" altLang="zh-TW" dirty="0"/>
              <a:t>Branch Prediction at IF Stage</a:t>
            </a:r>
          </a:p>
        </p:txBody>
      </p:sp>
      <p:sp>
        <p:nvSpPr>
          <p:cNvPr id="105475" name="Rectangle 3"/>
          <p:cNvSpPr>
            <a:spLocks noGrp="1" noChangeArrowheads="1"/>
          </p:cNvSpPr>
          <p:nvPr>
            <p:ph idx="1"/>
          </p:nvPr>
        </p:nvSpPr>
        <p:spPr>
          <a:xfrm>
            <a:off x="729574" y="1085851"/>
            <a:ext cx="10864779" cy="4579846"/>
          </a:xfrm>
        </p:spPr>
        <p:txBody>
          <a:bodyPr/>
          <a:lstStyle/>
          <a:p>
            <a:pPr>
              <a:lnSpc>
                <a:spcPct val="80000"/>
              </a:lnSpc>
            </a:pPr>
            <a:r>
              <a:rPr lang="en-US" altLang="zh-TW" sz="2800" dirty="0"/>
              <a:t>Branch prediction should occur at the instruction fetch (IF) stage.</a:t>
            </a:r>
          </a:p>
          <a:p>
            <a:pPr marL="342882" marR="0" lvl="0" indent="-342882" algn="l" defTabSz="914400" rtl="0" eaLnBrk="1" fontAlgn="base" latinLnBrk="0" hangingPunct="1">
              <a:lnSpc>
                <a:spcPct val="80000"/>
              </a:lnSpc>
              <a:spcBef>
                <a:spcPct val="20000"/>
              </a:spcBef>
              <a:spcAft>
                <a:spcPct val="0"/>
              </a:spcAft>
              <a:buClr>
                <a:srgbClr val="0000FF"/>
              </a:buClr>
              <a:buSzPct val="80000"/>
              <a:buFont typeface="Wingdings" pitchFamily="2" charset="2"/>
              <a:buChar char="l"/>
              <a:tabLst/>
              <a:defRPr/>
            </a:pPr>
            <a:r>
              <a:rPr kumimoji="1" lang="en-US" altLang="zh-TW"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But</a:t>
            </a:r>
            <a:r>
              <a:rPr kumimoji="1" lang="en-AU" altLang="zh-TW"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the instruction fetched at the IF stage may not be a branch</a:t>
            </a:r>
          </a:p>
          <a:p>
            <a:pPr marL="0" marR="0" lvl="0" indent="0" algn="l" defTabSz="914400" rtl="0" eaLnBrk="1" fontAlgn="base" latinLnBrk="0" hangingPunct="1">
              <a:lnSpc>
                <a:spcPct val="80000"/>
              </a:lnSpc>
              <a:spcBef>
                <a:spcPct val="20000"/>
              </a:spcBef>
              <a:spcAft>
                <a:spcPct val="0"/>
              </a:spcAft>
              <a:buClr>
                <a:srgbClr val="0000FF"/>
              </a:buClr>
              <a:buSzPct val="80000"/>
              <a:buFont typeface="Wingdings" pitchFamily="2" charset="2"/>
              <a:buNone/>
              <a:tabLst/>
              <a:defRPr/>
            </a:pPr>
            <a:r>
              <a:rPr kumimoji="1" lang="en-AU" altLang="zh-TW"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Cannot wait until the instruction is decoded – too late</a:t>
            </a:r>
          </a:p>
          <a:p>
            <a:pPr marL="342882" marR="0" lvl="0" indent="-342882" algn="l" defTabSz="914400" rtl="0" eaLnBrk="1" fontAlgn="base" latinLnBrk="0" hangingPunct="1">
              <a:lnSpc>
                <a:spcPct val="80000"/>
              </a:lnSpc>
              <a:spcBef>
                <a:spcPct val="20000"/>
              </a:spcBef>
              <a:spcAft>
                <a:spcPct val="0"/>
              </a:spcAft>
              <a:buClr>
                <a:srgbClr val="0000FF"/>
              </a:buClr>
              <a:buSzPct val="80000"/>
              <a:buFont typeface="Wingdings" pitchFamily="2" charset="2"/>
              <a:buChar char="l"/>
              <a:tabLst/>
              <a:defRPr/>
            </a:pPr>
            <a:r>
              <a:rPr kumimoji="1" lang="en-US" altLang="zh-TW"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At the IF stage, the instruction address (i.e. PC) is used to index the BHT</a:t>
            </a:r>
          </a:p>
          <a:p>
            <a:pPr marL="742913" marR="0" lvl="1" indent="-285737" algn="l" defTabSz="914400" rtl="0" eaLnBrk="1" fontAlgn="base" latinLnBrk="0" hangingPunct="1">
              <a:lnSpc>
                <a:spcPct val="80000"/>
              </a:lnSpc>
              <a:spcBef>
                <a:spcPct val="20000"/>
              </a:spcBef>
              <a:spcAft>
                <a:spcPct val="0"/>
              </a:spcAft>
              <a:buClr>
                <a:srgbClr val="0000FF"/>
              </a:buClr>
              <a:buSzPct val="90000"/>
              <a:buFont typeface="Wingdings" panose="05000000000000000000" pitchFamily="2" charset="2"/>
              <a:buChar char="Ø"/>
              <a:tabLst/>
              <a:defRPr/>
            </a:pPr>
            <a:r>
              <a:rPr kumimoji="1" lang="en-US" altLang="zh-TW" sz="2400" b="0" i="0" u="none" strike="noStrike" kern="0" cap="none" spc="0" normalizeH="0" baseline="0" noProof="0" dirty="0">
                <a:ln>
                  <a:noFill/>
                </a:ln>
                <a:solidFill>
                  <a:prstClr val="black"/>
                </a:solidFill>
                <a:effectLst/>
                <a:uLnTx/>
                <a:uFillTx/>
                <a:latin typeface="Calibri" pitchFamily="34" charset="0"/>
                <a:ea typeface="標楷體" pitchFamily="65" charset="-120"/>
              </a:rPr>
              <a:t>If the BHT entry lacks history, predict NT (Not Taken). </a:t>
            </a:r>
          </a:p>
          <a:p>
            <a:pPr marL="742913" marR="0" lvl="1" indent="-285737" algn="l" defTabSz="914400" rtl="0" eaLnBrk="1" fontAlgn="base" latinLnBrk="0" hangingPunct="1">
              <a:lnSpc>
                <a:spcPct val="80000"/>
              </a:lnSpc>
              <a:spcBef>
                <a:spcPct val="20000"/>
              </a:spcBef>
              <a:spcAft>
                <a:spcPct val="0"/>
              </a:spcAft>
              <a:buClr>
                <a:srgbClr val="0000FF"/>
              </a:buClr>
              <a:buSzPct val="90000"/>
              <a:buFont typeface="Wingdings" panose="05000000000000000000" pitchFamily="2" charset="2"/>
              <a:buChar char="Ø"/>
              <a:tabLst/>
              <a:defRPr/>
            </a:pPr>
            <a:r>
              <a:rPr kumimoji="1" lang="en-US" altLang="zh-TW" sz="2400" b="0" i="0" u="none" strike="noStrike" kern="0" cap="none" spc="0" normalizeH="0" baseline="0" noProof="0" dirty="0">
                <a:ln>
                  <a:noFill/>
                </a:ln>
                <a:solidFill>
                  <a:prstClr val="black"/>
                </a:solidFill>
                <a:effectLst/>
                <a:uLnTx/>
                <a:uFillTx/>
                <a:latin typeface="Calibri" pitchFamily="34" charset="0"/>
                <a:ea typeface="標楷體" pitchFamily="65" charset="-120"/>
              </a:rPr>
              <a:t>For a branch instruction, the branch outcome updates the BHT entry.</a:t>
            </a:r>
          </a:p>
          <a:p>
            <a:pPr>
              <a:lnSpc>
                <a:spcPct val="80000"/>
              </a:lnSpc>
            </a:pPr>
            <a:r>
              <a:rPr lang="en-US" altLang="zh-TW" sz="2800" dirty="0"/>
              <a:t> If the BHT is not tagged, “aliased” entries could result in higher branch mispredictions.</a:t>
            </a:r>
          </a:p>
          <a:p>
            <a:pPr>
              <a:lnSpc>
                <a:spcPct val="80000"/>
              </a:lnSpc>
            </a:pPr>
            <a:r>
              <a:rPr lang="en-US" altLang="zh-TW" sz="2800" dirty="0"/>
              <a:t> Untagged BHT is simple, fast, has low power consumption, and is less costly.</a:t>
            </a:r>
          </a:p>
          <a:p>
            <a:pPr>
              <a:lnSpc>
                <a:spcPct val="80000"/>
              </a:lnSpc>
            </a:pPr>
            <a:r>
              <a:rPr lang="en-US" altLang="zh-TW" sz="2800" dirty="0"/>
              <a:t> However, high-performance microprocessors tend to use tagged BHT</a:t>
            </a:r>
          </a:p>
        </p:txBody>
      </p:sp>
      <p:sp>
        <p:nvSpPr>
          <p:cNvPr id="105476"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95AFD5EC-A468-4BDB-B0F2-6338684D54D8}" type="slidenum">
              <a:rPr lang="zh-TW" altLang="en-US" sz="1400" b="0">
                <a:solidFill>
                  <a:schemeClr val="bg1"/>
                </a:solidFill>
                <a:latin typeface="Arial" panose="020B0604020202090204" pitchFamily="34" charset="0"/>
                <a:ea typeface="新細明體" panose="02020500000000000000" pitchFamily="18" charset="-120"/>
              </a:rPr>
              <a:t>31</a:t>
            </a:fld>
            <a:endParaRPr lang="en-US" altLang="zh-TW" sz="1400" b="0">
              <a:solidFill>
                <a:schemeClr val="bg1"/>
              </a:solidFill>
              <a:latin typeface="Arial" panose="020B0604020202090204" pitchFamily="34" charset="0"/>
              <a:ea typeface="新細明體" panose="02020500000000000000" pitchFamily="18" charset="-120"/>
            </a:endParaRPr>
          </a:p>
        </p:txBody>
      </p:sp>
    </p:spTree>
    <p:extLst>
      <p:ext uri="{BB962C8B-B14F-4D97-AF65-F5344CB8AC3E}">
        <p14:creationId xmlns:p14="http://schemas.microsoft.com/office/powerpoint/2010/main" val="28806679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t>1-bit Predictor</a:t>
            </a:r>
          </a:p>
        </p:txBody>
      </p:sp>
      <p:sp>
        <p:nvSpPr>
          <p:cNvPr id="4" name="灯片编号占位符 3"/>
          <p:cNvSpPr>
            <a:spLocks noGrp="1"/>
          </p:cNvSpPr>
          <p:nvPr>
            <p:ph type="sldNum" sz="quarter" idx="10"/>
          </p:nvPr>
        </p:nvSpPr>
        <p:spPr/>
        <p:txBody>
          <a:bodyPr/>
          <a:lstStyle/>
          <a:p>
            <a:fld id="{D9B6BDF2-6896-4B98-8776-C18582F63BA5}" type="slidenum">
              <a:rPr lang="zh-TW" altLang="en-US" smtClean="0"/>
              <a:t>32</a:t>
            </a:fld>
            <a:endParaRPr lang="zh-TW" altLang="en-US"/>
          </a:p>
        </p:txBody>
      </p:sp>
      <p:sp>
        <p:nvSpPr>
          <p:cNvPr id="8" name="Rectangle 2"/>
          <p:cNvSpPr/>
          <p:nvPr/>
        </p:nvSpPr>
        <p:spPr>
          <a:xfrm>
            <a:off x="3883238" y="3790527"/>
            <a:ext cx="3263900" cy="57573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0" hangingPunct="0"/>
            <a:endParaRPr lang="en-US" altLang="en-US" sz="2400" dirty="0">
              <a:latin typeface="Arial" panose="020B0604020202090204" pitchFamily="34" charset="0"/>
            </a:endParaRPr>
          </a:p>
        </p:txBody>
      </p:sp>
      <p:sp>
        <p:nvSpPr>
          <p:cNvPr id="9" name="Text Box 5"/>
          <p:cNvSpPr txBox="1"/>
          <p:nvPr/>
        </p:nvSpPr>
        <p:spPr>
          <a:xfrm>
            <a:off x="2439671" y="2158577"/>
            <a:ext cx="4733988" cy="2965364"/>
          </a:xfrm>
          <a:prstGeom prst="rect">
            <a:avLst/>
          </a:prstGeom>
          <a:noFill/>
          <a:ln w="9525">
            <a:noFill/>
          </a:ln>
        </p:spPr>
        <p:txBody>
          <a:bodyPr wrap="none" anchor="t">
            <a:spAutoFit/>
          </a:bodyPr>
          <a:lstStyle/>
          <a:p>
            <a:pPr eaLnBrk="0" hangingPunct="0"/>
            <a:r>
              <a:rPr lang="en-US" altLang="en-US" sz="2667" dirty="0">
                <a:latin typeface="Lucida Console" panose="020B0609040504020204" pitchFamily="49" charset="0"/>
              </a:rPr>
              <a:t>outer: …</a:t>
            </a:r>
            <a:br>
              <a:rPr lang="en-US" altLang="en-US" sz="2667" dirty="0">
                <a:latin typeface="Lucida Console" panose="020B0609040504020204" pitchFamily="49" charset="0"/>
              </a:rPr>
            </a:br>
            <a:r>
              <a:rPr lang="en-US" altLang="en-US" sz="2667" dirty="0">
                <a:latin typeface="Lucida Console" panose="020B0609040504020204" pitchFamily="49" charset="0"/>
              </a:rPr>
              <a:t>       …</a:t>
            </a:r>
            <a:br>
              <a:rPr lang="en-US" altLang="en-US" sz="2667" dirty="0">
                <a:latin typeface="Lucida Console" panose="020B0609040504020204" pitchFamily="49" charset="0"/>
              </a:rPr>
            </a:br>
            <a:r>
              <a:rPr lang="en-US" altLang="en-US" sz="2667" dirty="0">
                <a:latin typeface="Lucida Console" panose="020B0609040504020204" pitchFamily="49" charset="0"/>
              </a:rPr>
              <a:t>inner: …</a:t>
            </a:r>
          </a:p>
          <a:p>
            <a:pPr eaLnBrk="0" hangingPunct="0"/>
            <a:r>
              <a:rPr lang="en-US" altLang="en-US" sz="2667" dirty="0">
                <a:latin typeface="Lucida Console" panose="020B0609040504020204" pitchFamily="49" charset="0"/>
              </a:rPr>
              <a:t>       …</a:t>
            </a:r>
          </a:p>
          <a:p>
            <a:pPr eaLnBrk="0" hangingPunct="0"/>
            <a:r>
              <a:rPr lang="en-US" altLang="en-US" sz="2667" dirty="0">
                <a:latin typeface="Lucida Console" panose="020B0609040504020204" pitchFamily="49" charset="0"/>
              </a:rPr>
              <a:t>       beq …, …, inner</a:t>
            </a:r>
            <a:br>
              <a:rPr lang="en-US" altLang="en-US" sz="2667" dirty="0">
                <a:latin typeface="Lucida Console" panose="020B0609040504020204" pitchFamily="49" charset="0"/>
              </a:rPr>
            </a:br>
            <a:r>
              <a:rPr lang="en-US" altLang="en-US" sz="2667" dirty="0">
                <a:latin typeface="Lucida Console" panose="020B0609040504020204" pitchFamily="49" charset="0"/>
              </a:rPr>
              <a:t>       …</a:t>
            </a:r>
            <a:br>
              <a:rPr lang="en-US" altLang="en-US" sz="2667" dirty="0">
                <a:latin typeface="Lucida Console" panose="020B0609040504020204" pitchFamily="49" charset="0"/>
              </a:rPr>
            </a:br>
            <a:r>
              <a:rPr lang="en-US" altLang="en-US" sz="2667" dirty="0">
                <a:latin typeface="Lucida Console" panose="020B0609040504020204" pitchFamily="49" charset="0"/>
              </a:rPr>
              <a:t>       beq …, …, outer</a:t>
            </a:r>
            <a:endParaRPr lang="en-AU" altLang="en-US" sz="2667" dirty="0">
              <a:latin typeface="Lucida Console" panose="020B0609040504020204" pitchFamily="49" charset="0"/>
            </a:endParaRPr>
          </a:p>
        </p:txBody>
      </p:sp>
      <p:sp>
        <p:nvSpPr>
          <p:cNvPr id="10" name="Line 6"/>
          <p:cNvSpPr/>
          <p:nvPr/>
        </p:nvSpPr>
        <p:spPr>
          <a:xfrm>
            <a:off x="7242387" y="4108027"/>
            <a:ext cx="480484" cy="0"/>
          </a:xfrm>
          <a:prstGeom prst="line">
            <a:avLst/>
          </a:prstGeom>
          <a:ln w="9525" cap="flat" cmpd="sng">
            <a:solidFill>
              <a:schemeClr val="tx1"/>
            </a:solidFill>
            <a:prstDash val="solid"/>
            <a:round/>
            <a:headEnd type="none" w="med" len="med"/>
            <a:tailEnd type="none" w="med" len="med"/>
          </a:ln>
        </p:spPr>
      </p:sp>
      <p:sp>
        <p:nvSpPr>
          <p:cNvPr id="11" name="Line 7"/>
          <p:cNvSpPr/>
          <p:nvPr/>
        </p:nvSpPr>
        <p:spPr>
          <a:xfrm flipV="1">
            <a:off x="7722871" y="3244427"/>
            <a:ext cx="0" cy="863600"/>
          </a:xfrm>
          <a:prstGeom prst="line">
            <a:avLst/>
          </a:prstGeom>
          <a:ln w="9525" cap="flat" cmpd="sng">
            <a:solidFill>
              <a:schemeClr val="tx1"/>
            </a:solidFill>
            <a:prstDash val="solid"/>
            <a:round/>
            <a:headEnd type="none" w="med" len="med"/>
            <a:tailEnd type="none" w="med" len="med"/>
          </a:ln>
        </p:spPr>
      </p:sp>
      <p:sp>
        <p:nvSpPr>
          <p:cNvPr id="12" name="Line 8"/>
          <p:cNvSpPr/>
          <p:nvPr/>
        </p:nvSpPr>
        <p:spPr>
          <a:xfrm flipH="1">
            <a:off x="6090921" y="3244427"/>
            <a:ext cx="1631951" cy="0"/>
          </a:xfrm>
          <a:prstGeom prst="line">
            <a:avLst/>
          </a:prstGeom>
          <a:ln w="9525" cap="flat" cmpd="sng">
            <a:solidFill>
              <a:schemeClr val="tx1"/>
            </a:solidFill>
            <a:prstDash val="solid"/>
            <a:round/>
            <a:headEnd type="none" w="med" len="med"/>
            <a:tailEnd type="triangle" w="med" len="med"/>
          </a:ln>
        </p:spPr>
      </p:sp>
      <p:sp>
        <p:nvSpPr>
          <p:cNvPr id="13" name="Line 9"/>
          <p:cNvSpPr/>
          <p:nvPr/>
        </p:nvSpPr>
        <p:spPr>
          <a:xfrm>
            <a:off x="7242387" y="4876377"/>
            <a:ext cx="960967" cy="0"/>
          </a:xfrm>
          <a:prstGeom prst="line">
            <a:avLst/>
          </a:prstGeom>
          <a:ln w="9525" cap="flat" cmpd="sng">
            <a:solidFill>
              <a:schemeClr val="tx1"/>
            </a:solidFill>
            <a:prstDash val="solid"/>
            <a:round/>
            <a:headEnd type="none" w="med" len="med"/>
            <a:tailEnd type="none" w="med" len="med"/>
          </a:ln>
        </p:spPr>
      </p:sp>
      <p:sp>
        <p:nvSpPr>
          <p:cNvPr id="14" name="Line 10"/>
          <p:cNvSpPr/>
          <p:nvPr/>
        </p:nvSpPr>
        <p:spPr>
          <a:xfrm flipV="1">
            <a:off x="8203353" y="2380827"/>
            <a:ext cx="0" cy="2495551"/>
          </a:xfrm>
          <a:prstGeom prst="line">
            <a:avLst/>
          </a:prstGeom>
          <a:ln w="9525" cap="flat" cmpd="sng">
            <a:solidFill>
              <a:schemeClr val="tx1"/>
            </a:solidFill>
            <a:prstDash val="solid"/>
            <a:round/>
            <a:headEnd type="none" w="med" len="med"/>
            <a:tailEnd type="none" w="med" len="med"/>
          </a:ln>
        </p:spPr>
      </p:sp>
      <p:sp>
        <p:nvSpPr>
          <p:cNvPr id="15" name="Line 11"/>
          <p:cNvSpPr/>
          <p:nvPr/>
        </p:nvSpPr>
        <p:spPr>
          <a:xfrm flipH="1">
            <a:off x="6090921" y="2380827"/>
            <a:ext cx="2112433" cy="0"/>
          </a:xfrm>
          <a:prstGeom prst="line">
            <a:avLst/>
          </a:prstGeom>
          <a:ln w="9525" cap="flat" cmpd="sng">
            <a:solidFill>
              <a:schemeClr val="tx1"/>
            </a:solidFill>
            <a:prstDash val="solid"/>
            <a:round/>
            <a:headEnd type="none" w="med" len="med"/>
            <a:tailEnd type="triangle" w="med" len="med"/>
          </a:ln>
        </p:spPr>
      </p:sp>
      <p:sp>
        <p:nvSpPr>
          <p:cNvPr id="106499" name="Rectangle 3"/>
          <p:cNvSpPr>
            <a:spLocks noGrp="1" noChangeArrowheads="1"/>
          </p:cNvSpPr>
          <p:nvPr>
            <p:ph idx="1"/>
          </p:nvPr>
        </p:nvSpPr>
        <p:spPr>
          <a:xfrm>
            <a:off x="1374987" y="1220894"/>
            <a:ext cx="9693487" cy="774700"/>
          </a:xfrm>
        </p:spPr>
        <p:txBody>
          <a:bodyPr/>
          <a:lstStyle/>
          <a:p>
            <a:r>
              <a:rPr lang="en-US" altLang="en-US" sz="2667" dirty="0">
                <a:sym typeface="+mn-ea"/>
              </a:rPr>
              <a:t>Inner loop branches mispredicted twice!</a:t>
            </a:r>
            <a:endParaRPr lang="en-AU" altLang="zh-TW" sz="2133" dirty="0">
              <a:ea typeface="新細明體" panose="02020500000000000000" pitchFamily="18" charset="-120"/>
            </a:endParaRPr>
          </a:p>
        </p:txBody>
      </p:sp>
      <p:sp>
        <p:nvSpPr>
          <p:cNvPr id="16" name="Rectangle 3"/>
          <p:cNvSpPr>
            <a:spLocks noGrp="1" noChangeArrowheads="1"/>
          </p:cNvSpPr>
          <p:nvPr/>
        </p:nvSpPr>
        <p:spPr>
          <a:xfrm>
            <a:off x="603116" y="5246793"/>
            <a:ext cx="10517720" cy="907627"/>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anose="02010601000101010101"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anose="02010601000101010101"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7020304040A0204" pitchFamily="34" charset="0"/>
                <a:ea typeface="標楷體" panose="02010601000101010101"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en-US" altLang="en-US" sz="2133" dirty="0">
                <a:latin typeface="Arial" panose="020B0604020202090204" pitchFamily="34" charset="0"/>
                <a:sym typeface="+mn-ea"/>
              </a:rPr>
              <a:t>Mispredict as taken on the last iteration of the inner loop</a:t>
            </a:r>
          </a:p>
          <a:p>
            <a:r>
              <a:rPr lang="en-US" altLang="en-US" sz="2133" dirty="0">
                <a:latin typeface="Arial" panose="020B0604020202090204" pitchFamily="34" charset="0"/>
                <a:sym typeface="+mn-ea"/>
              </a:rPr>
              <a:t>Then mispredict as not taken on the first iteration of the inner loop next time around</a:t>
            </a:r>
            <a:endParaRPr lang="en-AU" altLang="zh-TW" sz="2133" dirty="0">
              <a:ea typeface="新細明體" panose="02020500000000000000" pitchFamily="18" charset="-120"/>
            </a:endParaRPr>
          </a:p>
        </p:txBody>
      </p:sp>
      <p:sp>
        <p:nvSpPr>
          <p:cNvPr id="2" name="TextBox 1">
            <a:extLst>
              <a:ext uri="{FF2B5EF4-FFF2-40B4-BE49-F238E27FC236}">
                <a16:creationId xmlns:a16="http://schemas.microsoft.com/office/drawing/2014/main" id="{EAC3769A-060E-4DC6-B14F-8C0D4CEDFB16}"/>
              </a:ext>
            </a:extLst>
          </p:cNvPr>
          <p:cNvSpPr txBox="1"/>
          <p:nvPr/>
        </p:nvSpPr>
        <p:spPr>
          <a:xfrm>
            <a:off x="8272083" y="3996928"/>
            <a:ext cx="2206310" cy="369332"/>
          </a:xfrm>
          <a:prstGeom prst="rect">
            <a:avLst/>
          </a:prstGeom>
          <a:noFill/>
        </p:spPr>
        <p:txBody>
          <a:bodyPr wrap="none" rtlCol="0" anchor="ctr" anchorCtr="1">
            <a:spAutoFit/>
          </a:bodyPr>
          <a:lstStyle/>
          <a:p>
            <a:r>
              <a:rPr lang="en-US" dirty="0">
                <a:ea typeface="標楷體" pitchFamily="65" charset="-120"/>
                <a:cs typeface="Calibri" pitchFamily="34" charset="0"/>
              </a:rPr>
              <a:t>11111110 111111110</a:t>
            </a:r>
          </a:p>
        </p:txBody>
      </p:sp>
      <p:cxnSp>
        <p:nvCxnSpPr>
          <p:cNvPr id="6" name="Straight Arrow Connector 5">
            <a:extLst>
              <a:ext uri="{FF2B5EF4-FFF2-40B4-BE49-F238E27FC236}">
                <a16:creationId xmlns:a16="http://schemas.microsoft.com/office/drawing/2014/main" id="{8C3AA32A-264B-45D0-8A47-8F356A8A9D09}"/>
              </a:ext>
            </a:extLst>
          </p:cNvPr>
          <p:cNvCxnSpPr/>
          <p:nvPr/>
        </p:nvCxnSpPr>
        <p:spPr bwMode="auto">
          <a:xfrm>
            <a:off x="9202569" y="3260813"/>
            <a:ext cx="0" cy="753532"/>
          </a:xfrm>
          <a:prstGeom prst="straightConnector1">
            <a:avLst/>
          </a:prstGeom>
          <a:noFill/>
          <a:ln w="15875" cap="flat" cmpd="sng" algn="ctr">
            <a:solidFill>
              <a:srgbClr val="FF0000"/>
            </a:solidFill>
            <a:prstDash val="solid"/>
            <a:round/>
            <a:headEnd type="none" w="med" len="med"/>
            <a:tailEnd type="triangle"/>
          </a:ln>
          <a:effectLst/>
        </p:spPr>
      </p:cxnSp>
      <p:sp>
        <p:nvSpPr>
          <p:cNvPr id="7" name="TextBox 6">
            <a:extLst>
              <a:ext uri="{FF2B5EF4-FFF2-40B4-BE49-F238E27FC236}">
                <a16:creationId xmlns:a16="http://schemas.microsoft.com/office/drawing/2014/main" id="{3E398F96-54E1-418D-A603-1EB59ABBD1DC}"/>
              </a:ext>
            </a:extLst>
          </p:cNvPr>
          <p:cNvSpPr txBox="1"/>
          <p:nvPr/>
        </p:nvSpPr>
        <p:spPr>
          <a:xfrm>
            <a:off x="8603910" y="2901183"/>
            <a:ext cx="1120820" cy="369332"/>
          </a:xfrm>
          <a:prstGeom prst="rect">
            <a:avLst/>
          </a:prstGeom>
          <a:noFill/>
        </p:spPr>
        <p:txBody>
          <a:bodyPr wrap="none" rtlCol="0" anchor="ctr" anchorCtr="1">
            <a:spAutoFit/>
          </a:bodyPr>
          <a:lstStyle/>
          <a:p>
            <a:r>
              <a:rPr lang="en-US" dirty="0">
                <a:ea typeface="標楷體" pitchFamily="65" charset="-120"/>
                <a:cs typeface="Calibri" pitchFamily="34" charset="0"/>
              </a:rPr>
              <a:t>Loop exit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2-bit Predictor (FSM)</a:t>
            </a:r>
          </a:p>
        </p:txBody>
      </p:sp>
      <p:sp>
        <p:nvSpPr>
          <p:cNvPr id="4" name="灯片编号占位符 3"/>
          <p:cNvSpPr>
            <a:spLocks noGrp="1"/>
          </p:cNvSpPr>
          <p:nvPr>
            <p:ph type="sldNum" sz="quarter" idx="10"/>
          </p:nvPr>
        </p:nvSpPr>
        <p:spPr/>
        <p:txBody>
          <a:bodyPr/>
          <a:lstStyle/>
          <a:p>
            <a:fld id="{D9B6BDF2-6896-4B98-8776-C18582F63BA5}" type="slidenum">
              <a:rPr lang="zh-TW" altLang="en-US" smtClean="0"/>
              <a:t>33</a:t>
            </a:fld>
            <a:endParaRPr lang="zh-TW" altLang="en-US"/>
          </a:p>
        </p:txBody>
      </p:sp>
      <p:sp>
        <p:nvSpPr>
          <p:cNvPr id="106499" name="Rectangle 3"/>
          <p:cNvSpPr>
            <a:spLocks noGrp="1" noChangeArrowheads="1"/>
          </p:cNvSpPr>
          <p:nvPr>
            <p:ph idx="1"/>
          </p:nvPr>
        </p:nvSpPr>
        <p:spPr>
          <a:xfrm>
            <a:off x="1374987" y="1220894"/>
            <a:ext cx="9693487" cy="774700"/>
          </a:xfrm>
        </p:spPr>
        <p:txBody>
          <a:bodyPr/>
          <a:lstStyle/>
          <a:p>
            <a:r>
              <a:rPr lang="en-US" altLang="en-US" sz="2800" dirty="0">
                <a:sym typeface="+mn-ea"/>
              </a:rPr>
              <a:t>Only change prediction on two successive mispredictions</a:t>
            </a:r>
            <a:endParaRPr lang="en-AU" altLang="en-US" sz="2800" dirty="0"/>
          </a:p>
          <a:p>
            <a:endParaRPr lang="en-AU" altLang="zh-TW" sz="2133" dirty="0">
              <a:ea typeface="新細明體" panose="02020500000000000000" pitchFamily="18" charset="-120"/>
            </a:endParaRPr>
          </a:p>
        </p:txBody>
      </p:sp>
      <p:pic>
        <p:nvPicPr>
          <p:cNvPr id="119810" name="Picture 6" descr="f04-63-P374493"/>
          <p:cNvPicPr>
            <a:picLocks noChangeAspect="1"/>
          </p:cNvPicPr>
          <p:nvPr/>
        </p:nvPicPr>
        <p:blipFill>
          <a:blip r:embed="rId2"/>
          <a:stretch>
            <a:fillRect/>
          </a:stretch>
        </p:blipFill>
        <p:spPr>
          <a:xfrm>
            <a:off x="2054014" y="1910928"/>
            <a:ext cx="6533727" cy="3966633"/>
          </a:xfrm>
          <a:prstGeom prst="rect">
            <a:avLst/>
          </a:prstGeom>
          <a:noFill/>
          <a:ln w="9525">
            <a:noFill/>
          </a:ln>
        </p:spPr>
      </p:pic>
      <p:sp>
        <p:nvSpPr>
          <p:cNvPr id="2" name="TextBox 1">
            <a:extLst>
              <a:ext uri="{FF2B5EF4-FFF2-40B4-BE49-F238E27FC236}">
                <a16:creationId xmlns:a16="http://schemas.microsoft.com/office/drawing/2014/main" id="{0F332238-7460-4528-9269-9426A0468BAD}"/>
              </a:ext>
            </a:extLst>
          </p:cNvPr>
          <p:cNvSpPr txBox="1"/>
          <p:nvPr/>
        </p:nvSpPr>
        <p:spPr>
          <a:xfrm>
            <a:off x="1495271" y="2791165"/>
            <a:ext cx="558743" cy="523220"/>
          </a:xfrm>
          <a:prstGeom prst="rect">
            <a:avLst/>
          </a:prstGeom>
          <a:noFill/>
        </p:spPr>
        <p:txBody>
          <a:bodyPr wrap="none" rtlCol="0" anchor="ctr" anchorCtr="1">
            <a:spAutoFit/>
          </a:bodyPr>
          <a:lstStyle/>
          <a:p>
            <a:r>
              <a:rPr lang="en-US" sz="2800" dirty="0">
                <a:solidFill>
                  <a:srgbClr val="FF0000"/>
                </a:solidFill>
                <a:ea typeface="標楷體" pitchFamily="65" charset="-120"/>
                <a:cs typeface="Calibri" pitchFamily="34" charset="0"/>
              </a:rPr>
              <a:t>11</a:t>
            </a:r>
          </a:p>
        </p:txBody>
      </p:sp>
      <p:sp>
        <p:nvSpPr>
          <p:cNvPr id="7" name="TextBox 6">
            <a:extLst>
              <a:ext uri="{FF2B5EF4-FFF2-40B4-BE49-F238E27FC236}">
                <a16:creationId xmlns:a16="http://schemas.microsoft.com/office/drawing/2014/main" id="{7BF85D6D-26F1-4103-BA2A-F0BDD76208C1}"/>
              </a:ext>
            </a:extLst>
          </p:cNvPr>
          <p:cNvSpPr txBox="1"/>
          <p:nvPr/>
        </p:nvSpPr>
        <p:spPr>
          <a:xfrm>
            <a:off x="8587741" y="2791165"/>
            <a:ext cx="585417" cy="523220"/>
          </a:xfrm>
          <a:prstGeom prst="rect">
            <a:avLst/>
          </a:prstGeom>
          <a:noFill/>
        </p:spPr>
        <p:txBody>
          <a:bodyPr wrap="none" rtlCol="0" anchor="ctr" anchorCtr="1">
            <a:spAutoFit/>
          </a:bodyPr>
          <a:lstStyle/>
          <a:p>
            <a:r>
              <a:rPr lang="en-US" sz="2800" dirty="0">
                <a:solidFill>
                  <a:srgbClr val="FF0000"/>
                </a:solidFill>
                <a:ea typeface="標楷體" pitchFamily="65" charset="-120"/>
                <a:cs typeface="Calibri" pitchFamily="34" charset="0"/>
              </a:rPr>
              <a:t>10</a:t>
            </a:r>
          </a:p>
        </p:txBody>
      </p:sp>
      <p:sp>
        <p:nvSpPr>
          <p:cNvPr id="8" name="TextBox 7">
            <a:extLst>
              <a:ext uri="{FF2B5EF4-FFF2-40B4-BE49-F238E27FC236}">
                <a16:creationId xmlns:a16="http://schemas.microsoft.com/office/drawing/2014/main" id="{A721ACB0-4683-4191-979B-29E5F858EE6A}"/>
              </a:ext>
            </a:extLst>
          </p:cNvPr>
          <p:cNvSpPr txBox="1"/>
          <p:nvPr/>
        </p:nvSpPr>
        <p:spPr>
          <a:xfrm>
            <a:off x="8561067" y="4396286"/>
            <a:ext cx="585417" cy="523220"/>
          </a:xfrm>
          <a:prstGeom prst="rect">
            <a:avLst/>
          </a:prstGeom>
          <a:noFill/>
        </p:spPr>
        <p:txBody>
          <a:bodyPr wrap="none" rtlCol="0" anchor="ctr" anchorCtr="1">
            <a:spAutoFit/>
          </a:bodyPr>
          <a:lstStyle/>
          <a:p>
            <a:r>
              <a:rPr lang="en-US" sz="2800" dirty="0">
                <a:solidFill>
                  <a:srgbClr val="FF0000"/>
                </a:solidFill>
                <a:ea typeface="標楷體" pitchFamily="65" charset="-120"/>
                <a:cs typeface="Calibri" pitchFamily="34" charset="0"/>
              </a:rPr>
              <a:t>01</a:t>
            </a:r>
          </a:p>
        </p:txBody>
      </p:sp>
      <p:sp>
        <p:nvSpPr>
          <p:cNvPr id="9" name="TextBox 8">
            <a:extLst>
              <a:ext uri="{FF2B5EF4-FFF2-40B4-BE49-F238E27FC236}">
                <a16:creationId xmlns:a16="http://schemas.microsoft.com/office/drawing/2014/main" id="{51B1D6AC-817C-4D92-AF06-0C52462202E0}"/>
              </a:ext>
            </a:extLst>
          </p:cNvPr>
          <p:cNvSpPr txBox="1"/>
          <p:nvPr/>
        </p:nvSpPr>
        <p:spPr>
          <a:xfrm>
            <a:off x="1495271" y="4408122"/>
            <a:ext cx="585417" cy="523220"/>
          </a:xfrm>
          <a:prstGeom prst="rect">
            <a:avLst/>
          </a:prstGeom>
          <a:noFill/>
        </p:spPr>
        <p:txBody>
          <a:bodyPr wrap="none" rtlCol="0" anchor="ctr" anchorCtr="1">
            <a:spAutoFit/>
          </a:bodyPr>
          <a:lstStyle/>
          <a:p>
            <a:r>
              <a:rPr lang="en-US" sz="2800" dirty="0">
                <a:solidFill>
                  <a:srgbClr val="FF0000"/>
                </a:solidFill>
                <a:ea typeface="標楷體" pitchFamily="65" charset="-120"/>
                <a:cs typeface="Calibri" pitchFamily="34" charset="0"/>
              </a:rPr>
              <a:t>00</a:t>
            </a:r>
          </a:p>
        </p:txBody>
      </p:sp>
      <p:sp>
        <p:nvSpPr>
          <p:cNvPr id="3" name="TextBox 2">
            <a:extLst>
              <a:ext uri="{FF2B5EF4-FFF2-40B4-BE49-F238E27FC236}">
                <a16:creationId xmlns:a16="http://schemas.microsoft.com/office/drawing/2014/main" id="{7728C319-C565-4FA1-8B32-0EA2E9478BA5}"/>
              </a:ext>
            </a:extLst>
          </p:cNvPr>
          <p:cNvSpPr txBox="1"/>
          <p:nvPr/>
        </p:nvSpPr>
        <p:spPr>
          <a:xfrm>
            <a:off x="9266768" y="3274858"/>
            <a:ext cx="2240742" cy="954107"/>
          </a:xfrm>
          <a:prstGeom prst="rect">
            <a:avLst/>
          </a:prstGeom>
          <a:solidFill>
            <a:srgbClr val="FFFF00"/>
          </a:solidFill>
        </p:spPr>
        <p:txBody>
          <a:bodyPr wrap="none" rtlCol="0" anchor="ctr" anchorCtr="1">
            <a:spAutoFit/>
          </a:bodyPr>
          <a:lstStyle/>
          <a:p>
            <a:r>
              <a:rPr lang="en-US" sz="2800" dirty="0">
                <a:ea typeface="標楷體" pitchFamily="65" charset="-120"/>
                <a:cs typeface="Calibri" pitchFamily="34" charset="0"/>
              </a:rPr>
              <a:t>A finite state </a:t>
            </a:r>
          </a:p>
          <a:p>
            <a:r>
              <a:rPr lang="en-US" sz="2800" dirty="0">
                <a:ea typeface="標楷體" pitchFamily="65" charset="-120"/>
                <a:cs typeface="Calibri" pitchFamily="34" charset="0"/>
              </a:rPr>
              <a:t>transition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AU" altLang="zh-TW" dirty="0">
                <a:ea typeface="新細明體" panose="02020500000000000000" pitchFamily="18" charset="-120"/>
              </a:rPr>
              <a:t>Correlated Prediction </a:t>
            </a:r>
          </a:p>
        </p:txBody>
      </p:sp>
      <p:sp>
        <p:nvSpPr>
          <p:cNvPr id="106499" name="Rectangle 3"/>
          <p:cNvSpPr>
            <a:spLocks noGrp="1" noChangeArrowheads="1"/>
          </p:cNvSpPr>
          <p:nvPr>
            <p:ph idx="1"/>
          </p:nvPr>
        </p:nvSpPr>
        <p:spPr>
          <a:xfrm>
            <a:off x="708212" y="1131515"/>
            <a:ext cx="10954870" cy="4819715"/>
          </a:xfrm>
        </p:spPr>
        <p:txBody>
          <a:bodyPr/>
          <a:lstStyle/>
          <a:p>
            <a:r>
              <a:rPr lang="en-AU" altLang="zh-TW" sz="2000" dirty="0">
                <a:ea typeface="新細明體" panose="02020500000000000000" pitchFamily="18" charset="-120"/>
              </a:rPr>
              <a:t>Correlated Branch Prediction is also called </a:t>
            </a:r>
            <a:r>
              <a:rPr lang="en-AU" altLang="zh-TW" sz="2000" dirty="0">
                <a:solidFill>
                  <a:srgbClr val="FF0000"/>
                </a:solidFill>
                <a:ea typeface="新細明體" panose="02020500000000000000" pitchFamily="18" charset="-120"/>
              </a:rPr>
              <a:t>2-level adaptive branch prediction</a:t>
            </a:r>
            <a:r>
              <a:rPr lang="en-AU" altLang="zh-TW" sz="2000" dirty="0">
                <a:ea typeface="新細明體" panose="02020500000000000000" pitchFamily="18" charset="-120"/>
              </a:rPr>
              <a:t>.</a:t>
            </a:r>
          </a:p>
          <a:p>
            <a:r>
              <a:rPr lang="en-US" altLang="zh-TW" sz="2000" dirty="0">
                <a:ea typeface="新細明體" panose="02020500000000000000" pitchFamily="18" charset="-120"/>
              </a:rPr>
              <a:t>Global Branch History Register</a:t>
            </a:r>
          </a:p>
          <a:p>
            <a:pPr lvl="1"/>
            <a:r>
              <a:rPr lang="en-US" altLang="zh-TW" sz="2000" dirty="0">
                <a:ea typeface="新細明體" panose="02020500000000000000" pitchFamily="18" charset="-120"/>
              </a:rPr>
              <a:t>Shift Register: A global branch history register (GHB) tracks the recent outcomes of several branches. It's typically implemented as a shift register, where each bit represents a recent branch's outcome (taken or not taken).</a:t>
            </a:r>
          </a:p>
          <a:p>
            <a:pPr lvl="1"/>
            <a:r>
              <a:rPr lang="en-US" altLang="zh-TW" sz="2000" dirty="0">
                <a:ea typeface="新細明體" panose="02020500000000000000" pitchFamily="18" charset="-120"/>
              </a:rPr>
              <a:t>Shifting on Branch: Whenever a branch is executed, its outcome is shifted into the GHB, pushing out the oldest history bit.</a:t>
            </a:r>
          </a:p>
          <a:p>
            <a:r>
              <a:rPr lang="en-US" altLang="zh-TW" sz="2000" dirty="0">
                <a:ea typeface="新細明體" panose="02020500000000000000" pitchFamily="18" charset="-120"/>
              </a:rPr>
              <a:t>Pattern History Table (PHT)</a:t>
            </a:r>
          </a:p>
          <a:p>
            <a:pPr lvl="1"/>
            <a:r>
              <a:rPr lang="en-US" altLang="zh-TW" sz="2000" dirty="0">
                <a:ea typeface="新細明體" panose="02020500000000000000" pitchFamily="18" charset="-120"/>
              </a:rPr>
              <a:t>Indexed by GHB: The PHT is a table of 2-bit saturating counters. Each entry corresponds to a unique pattern of recent branch outcomes captured by the GHB.</a:t>
            </a:r>
          </a:p>
          <a:p>
            <a:pPr lvl="1"/>
            <a:r>
              <a:rPr lang="en-US" altLang="zh-TW" sz="2000" dirty="0">
                <a:ea typeface="新細明體" panose="02020500000000000000" pitchFamily="18" charset="-120"/>
              </a:rPr>
              <a:t>Indexing: The GHB's contents are used to index the PHT.</a:t>
            </a:r>
          </a:p>
          <a:p>
            <a:pPr lvl="1"/>
            <a:r>
              <a:rPr lang="en-US" altLang="zh-TW" sz="2000" dirty="0">
                <a:ea typeface="新細明體" panose="02020500000000000000" pitchFamily="18" charset="-120"/>
              </a:rPr>
              <a:t>Counter Update: The 2-bit counter at the indexed entry is incremented if the branch is taken and decremented if it's not taken. This counter effectively tracks the branch's behavior for that specific pattern of recent branch history.</a:t>
            </a:r>
            <a:endParaRPr lang="en-AU" altLang="zh-TW" sz="2000" dirty="0">
              <a:ea typeface="新細明體" panose="02020500000000000000" pitchFamily="18" charset="-120"/>
            </a:endParaRPr>
          </a:p>
        </p:txBody>
      </p:sp>
      <p:sp>
        <p:nvSpPr>
          <p:cNvPr id="106500"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80C97838-98F0-4631-AC0E-58B03BA5C179}" type="slidenum">
              <a:rPr lang="zh-TW" altLang="en-US" sz="1400" b="0">
                <a:solidFill>
                  <a:schemeClr val="bg1"/>
                </a:solidFill>
                <a:latin typeface="Arial" panose="020B0604020202090204" pitchFamily="34" charset="0"/>
                <a:ea typeface="新細明體" panose="02020500000000000000" pitchFamily="18" charset="-120"/>
              </a:rPr>
              <a:t>34</a:t>
            </a:fld>
            <a:endParaRPr lang="en-US" altLang="zh-TW" sz="1400" b="0">
              <a:solidFill>
                <a:schemeClr val="bg1"/>
              </a:solidFill>
              <a:latin typeface="Arial" panose="020B0604020202090204" pitchFamily="34" charset="0"/>
              <a:ea typeface="新細明體" panose="02020500000000000000" pitchFamily="18" charset="-120"/>
            </a:endParaRPr>
          </a:p>
        </p:txBody>
      </p:sp>
    </p:spTree>
    <p:extLst>
      <p:ext uri="{BB962C8B-B14F-4D97-AF65-F5344CB8AC3E}">
        <p14:creationId xmlns:p14="http://schemas.microsoft.com/office/powerpoint/2010/main" val="1169593204"/>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en-US" altLang="zh-TW" dirty="0"/>
              <a:t>2-level adaptive branch prediction</a:t>
            </a:r>
          </a:p>
        </p:txBody>
      </p:sp>
      <p:sp>
        <p:nvSpPr>
          <p:cNvPr id="105476"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95AFD5EC-A468-4BDB-B0F2-6338684D54D8}" type="slidenum">
              <a:rPr lang="zh-TW" altLang="en-US" sz="1400" b="0">
                <a:solidFill>
                  <a:schemeClr val="bg1"/>
                </a:solidFill>
                <a:latin typeface="Arial" panose="020B0604020202090204" pitchFamily="34" charset="0"/>
                <a:ea typeface="新細明體" panose="02020500000000000000" pitchFamily="18" charset="-120"/>
              </a:rPr>
              <a:t>35</a:t>
            </a:fld>
            <a:endParaRPr lang="en-US" altLang="zh-TW" sz="1400" b="0">
              <a:solidFill>
                <a:schemeClr val="bg1"/>
              </a:solidFill>
              <a:latin typeface="Arial" panose="020B0604020202090204" pitchFamily="34" charset="0"/>
              <a:ea typeface="新細明體" panose="02020500000000000000" pitchFamily="18" charset="-120"/>
            </a:endParaRPr>
          </a:p>
        </p:txBody>
      </p:sp>
      <p:graphicFrame>
        <p:nvGraphicFramePr>
          <p:cNvPr id="4" name="Table 4">
            <a:extLst>
              <a:ext uri="{FF2B5EF4-FFF2-40B4-BE49-F238E27FC236}">
                <a16:creationId xmlns:a16="http://schemas.microsoft.com/office/drawing/2014/main" id="{9C72632F-5561-4439-989B-67A3D1E1E044}"/>
              </a:ext>
            </a:extLst>
          </p:cNvPr>
          <p:cNvGraphicFramePr>
            <a:graphicFrameLocks noGrp="1"/>
          </p:cNvGraphicFramePr>
          <p:nvPr>
            <p:extLst>
              <p:ext uri="{D42A27DB-BD31-4B8C-83A1-F6EECF244321}">
                <p14:modId xmlns:p14="http://schemas.microsoft.com/office/powerpoint/2010/main" val="2577384"/>
              </p:ext>
            </p:extLst>
          </p:nvPr>
        </p:nvGraphicFramePr>
        <p:xfrm>
          <a:off x="2367298" y="2992123"/>
          <a:ext cx="1155450" cy="1854200"/>
        </p:xfrm>
        <a:graphic>
          <a:graphicData uri="http://schemas.openxmlformats.org/drawingml/2006/table">
            <a:tbl>
              <a:tblPr firstRow="1" bandRow="1">
                <a:tableStyleId>{5C22544A-7EE6-4342-B048-85BDC9FD1C3A}</a:tableStyleId>
              </a:tblPr>
              <a:tblGrid>
                <a:gridCol w="1155450">
                  <a:extLst>
                    <a:ext uri="{9D8B030D-6E8A-4147-A177-3AD203B41FA5}">
                      <a16:colId xmlns:a16="http://schemas.microsoft.com/office/drawing/2014/main" val="4210759225"/>
                    </a:ext>
                  </a:extLst>
                </a:gridCol>
              </a:tblGrid>
              <a:tr h="370840">
                <a:tc>
                  <a:txBody>
                    <a:bodyPr/>
                    <a:lstStyle/>
                    <a:p>
                      <a:r>
                        <a:rPr lang="en-US" dirty="0"/>
                        <a:t>Program</a:t>
                      </a:r>
                    </a:p>
                  </a:txBody>
                  <a:tcPr/>
                </a:tc>
                <a:extLst>
                  <a:ext uri="{0D108BD9-81ED-4DB2-BD59-A6C34878D82A}">
                    <a16:rowId xmlns:a16="http://schemas.microsoft.com/office/drawing/2014/main" val="2200039356"/>
                  </a:ext>
                </a:extLst>
              </a:tr>
              <a:tr h="370840">
                <a:tc>
                  <a:txBody>
                    <a:bodyPr/>
                    <a:lstStyle/>
                    <a:p>
                      <a:r>
                        <a:rPr lang="en-US" dirty="0" err="1"/>
                        <a:t>bne</a:t>
                      </a:r>
                      <a:endParaRPr lang="en-US" dirty="0"/>
                    </a:p>
                  </a:txBody>
                  <a:tcPr/>
                </a:tc>
                <a:extLst>
                  <a:ext uri="{0D108BD9-81ED-4DB2-BD59-A6C34878D82A}">
                    <a16:rowId xmlns:a16="http://schemas.microsoft.com/office/drawing/2014/main" val="3697772335"/>
                  </a:ext>
                </a:extLst>
              </a:tr>
              <a:tr h="370840">
                <a:tc>
                  <a:txBody>
                    <a:bodyPr/>
                    <a:lstStyle/>
                    <a:p>
                      <a:r>
                        <a:rPr lang="en-US" dirty="0" err="1"/>
                        <a:t>ld</a:t>
                      </a:r>
                      <a:endParaRPr lang="en-US" dirty="0"/>
                    </a:p>
                  </a:txBody>
                  <a:tcPr/>
                </a:tc>
                <a:extLst>
                  <a:ext uri="{0D108BD9-81ED-4DB2-BD59-A6C34878D82A}">
                    <a16:rowId xmlns:a16="http://schemas.microsoft.com/office/drawing/2014/main" val="4045770082"/>
                  </a:ext>
                </a:extLst>
              </a:tr>
              <a:tr h="370840">
                <a:tc>
                  <a:txBody>
                    <a:bodyPr/>
                    <a:lstStyle/>
                    <a:p>
                      <a:r>
                        <a:rPr lang="en-US" dirty="0" err="1"/>
                        <a:t>sw</a:t>
                      </a:r>
                      <a:endParaRPr lang="en-US" dirty="0"/>
                    </a:p>
                  </a:txBody>
                  <a:tcPr/>
                </a:tc>
                <a:extLst>
                  <a:ext uri="{0D108BD9-81ED-4DB2-BD59-A6C34878D82A}">
                    <a16:rowId xmlns:a16="http://schemas.microsoft.com/office/drawing/2014/main" val="2952140346"/>
                  </a:ext>
                </a:extLst>
              </a:tr>
              <a:tr h="370840">
                <a:tc>
                  <a:txBody>
                    <a:bodyPr/>
                    <a:lstStyle/>
                    <a:p>
                      <a:r>
                        <a:rPr lang="en-US" dirty="0" err="1"/>
                        <a:t>beq</a:t>
                      </a:r>
                      <a:endParaRPr lang="en-US" dirty="0"/>
                    </a:p>
                  </a:txBody>
                  <a:tcPr/>
                </a:tc>
                <a:extLst>
                  <a:ext uri="{0D108BD9-81ED-4DB2-BD59-A6C34878D82A}">
                    <a16:rowId xmlns:a16="http://schemas.microsoft.com/office/drawing/2014/main" val="7878685"/>
                  </a:ext>
                </a:extLst>
              </a:tr>
            </a:tbl>
          </a:graphicData>
        </a:graphic>
      </p:graphicFrame>
      <p:graphicFrame>
        <p:nvGraphicFramePr>
          <p:cNvPr id="5" name="Table 5">
            <a:extLst>
              <a:ext uri="{FF2B5EF4-FFF2-40B4-BE49-F238E27FC236}">
                <a16:creationId xmlns:a16="http://schemas.microsoft.com/office/drawing/2014/main" id="{669863D7-D4FF-474A-81B6-4836D44C1382}"/>
              </a:ext>
            </a:extLst>
          </p:cNvPr>
          <p:cNvGraphicFramePr>
            <a:graphicFrameLocks noGrp="1"/>
          </p:cNvGraphicFramePr>
          <p:nvPr>
            <p:extLst>
              <p:ext uri="{D42A27DB-BD31-4B8C-83A1-F6EECF244321}">
                <p14:modId xmlns:p14="http://schemas.microsoft.com/office/powerpoint/2010/main" val="2892339840"/>
              </p:ext>
            </p:extLst>
          </p:nvPr>
        </p:nvGraphicFramePr>
        <p:xfrm>
          <a:off x="7062283" y="1348655"/>
          <a:ext cx="1021977" cy="3977894"/>
        </p:xfrm>
        <a:graphic>
          <a:graphicData uri="http://schemas.openxmlformats.org/drawingml/2006/table">
            <a:tbl>
              <a:tblPr firstRow="1" bandRow="1">
                <a:tableStyleId>{5C22544A-7EE6-4342-B048-85BDC9FD1C3A}</a:tableStyleId>
              </a:tblPr>
              <a:tblGrid>
                <a:gridCol w="1021977">
                  <a:extLst>
                    <a:ext uri="{9D8B030D-6E8A-4147-A177-3AD203B41FA5}">
                      <a16:colId xmlns:a16="http://schemas.microsoft.com/office/drawing/2014/main" val="2417630684"/>
                    </a:ext>
                  </a:extLst>
                </a:gridCol>
              </a:tblGrid>
              <a:tr h="370840">
                <a:tc>
                  <a:txBody>
                    <a:bodyPr/>
                    <a:lstStyle/>
                    <a:p>
                      <a:r>
                        <a:rPr lang="en-US" dirty="0"/>
                        <a:t>Branch </a:t>
                      </a:r>
                    </a:p>
                    <a:p>
                      <a:r>
                        <a:rPr lang="en-US" dirty="0"/>
                        <a:t>History</a:t>
                      </a:r>
                    </a:p>
                  </a:txBody>
                  <a:tcPr/>
                </a:tc>
                <a:extLst>
                  <a:ext uri="{0D108BD9-81ED-4DB2-BD59-A6C34878D82A}">
                    <a16:rowId xmlns:a16="http://schemas.microsoft.com/office/drawing/2014/main" val="582620393"/>
                  </a:ext>
                </a:extLst>
              </a:tr>
              <a:tr h="370840">
                <a:tc>
                  <a:txBody>
                    <a:bodyPr/>
                    <a:lstStyle/>
                    <a:p>
                      <a:endParaRPr lang="en-US"/>
                    </a:p>
                  </a:txBody>
                  <a:tcPr/>
                </a:tc>
                <a:extLst>
                  <a:ext uri="{0D108BD9-81ED-4DB2-BD59-A6C34878D82A}">
                    <a16:rowId xmlns:a16="http://schemas.microsoft.com/office/drawing/2014/main" val="2963899545"/>
                  </a:ext>
                </a:extLst>
              </a:tr>
              <a:tr h="370840">
                <a:tc>
                  <a:txBody>
                    <a:bodyPr/>
                    <a:lstStyle/>
                    <a:p>
                      <a:r>
                        <a:rPr lang="en-US" dirty="0"/>
                        <a:t>00</a:t>
                      </a:r>
                    </a:p>
                  </a:txBody>
                  <a:tcPr/>
                </a:tc>
                <a:extLst>
                  <a:ext uri="{0D108BD9-81ED-4DB2-BD59-A6C34878D82A}">
                    <a16:rowId xmlns:a16="http://schemas.microsoft.com/office/drawing/2014/main" val="175844064"/>
                  </a:ext>
                </a:extLst>
              </a:tr>
              <a:tr h="370840">
                <a:tc>
                  <a:txBody>
                    <a:bodyPr/>
                    <a:lstStyle/>
                    <a:p>
                      <a:endParaRPr lang="en-US" dirty="0"/>
                    </a:p>
                  </a:txBody>
                  <a:tcPr/>
                </a:tc>
                <a:extLst>
                  <a:ext uri="{0D108BD9-81ED-4DB2-BD59-A6C34878D82A}">
                    <a16:rowId xmlns:a16="http://schemas.microsoft.com/office/drawing/2014/main" val="2097841029"/>
                  </a:ext>
                </a:extLst>
              </a:tr>
              <a:tr h="370840">
                <a:tc>
                  <a:txBody>
                    <a:bodyPr/>
                    <a:lstStyle/>
                    <a:p>
                      <a:endParaRPr lang="en-US"/>
                    </a:p>
                  </a:txBody>
                  <a:tcPr/>
                </a:tc>
                <a:extLst>
                  <a:ext uri="{0D108BD9-81ED-4DB2-BD59-A6C34878D82A}">
                    <a16:rowId xmlns:a16="http://schemas.microsoft.com/office/drawing/2014/main" val="3370050660"/>
                  </a:ext>
                </a:extLst>
              </a:tr>
              <a:tr h="370840">
                <a:tc>
                  <a:txBody>
                    <a:bodyPr/>
                    <a:lstStyle/>
                    <a:p>
                      <a:r>
                        <a:rPr lang="en-US" dirty="0"/>
                        <a:t>10</a:t>
                      </a:r>
                    </a:p>
                  </a:txBody>
                  <a:tcPr/>
                </a:tc>
                <a:extLst>
                  <a:ext uri="{0D108BD9-81ED-4DB2-BD59-A6C34878D82A}">
                    <a16:rowId xmlns:a16="http://schemas.microsoft.com/office/drawing/2014/main" val="133835550"/>
                  </a:ext>
                </a:extLst>
              </a:tr>
              <a:tr h="370840">
                <a:tc>
                  <a:txBody>
                    <a:bodyPr/>
                    <a:lstStyle/>
                    <a:p>
                      <a:endParaRPr lang="en-US" dirty="0"/>
                    </a:p>
                  </a:txBody>
                  <a:tcPr/>
                </a:tc>
                <a:extLst>
                  <a:ext uri="{0D108BD9-81ED-4DB2-BD59-A6C34878D82A}">
                    <a16:rowId xmlns:a16="http://schemas.microsoft.com/office/drawing/2014/main" val="1177836470"/>
                  </a:ext>
                </a:extLst>
              </a:tr>
              <a:tr h="370840">
                <a:tc>
                  <a:txBody>
                    <a:bodyPr/>
                    <a:lstStyle/>
                    <a:p>
                      <a:endParaRPr lang="en-US" dirty="0"/>
                    </a:p>
                  </a:txBody>
                  <a:tcPr/>
                </a:tc>
                <a:extLst>
                  <a:ext uri="{0D108BD9-81ED-4DB2-BD59-A6C34878D82A}">
                    <a16:rowId xmlns:a16="http://schemas.microsoft.com/office/drawing/2014/main" val="1039889336"/>
                  </a:ext>
                </a:extLst>
              </a:tr>
              <a:tr h="370840">
                <a:tc>
                  <a:txBody>
                    <a:bodyPr/>
                    <a:lstStyle/>
                    <a:p>
                      <a:endParaRPr lang="en-US" dirty="0"/>
                    </a:p>
                  </a:txBody>
                  <a:tcPr/>
                </a:tc>
                <a:extLst>
                  <a:ext uri="{0D108BD9-81ED-4DB2-BD59-A6C34878D82A}">
                    <a16:rowId xmlns:a16="http://schemas.microsoft.com/office/drawing/2014/main" val="2089270168"/>
                  </a:ext>
                </a:extLst>
              </a:tr>
              <a:tr h="370840">
                <a:tc>
                  <a:txBody>
                    <a:bodyPr/>
                    <a:lstStyle/>
                    <a:p>
                      <a:endParaRPr lang="en-US" dirty="0"/>
                    </a:p>
                  </a:txBody>
                  <a:tcPr/>
                </a:tc>
                <a:extLst>
                  <a:ext uri="{0D108BD9-81ED-4DB2-BD59-A6C34878D82A}">
                    <a16:rowId xmlns:a16="http://schemas.microsoft.com/office/drawing/2014/main" val="685313306"/>
                  </a:ext>
                </a:extLst>
              </a:tr>
            </a:tbl>
          </a:graphicData>
        </a:graphic>
      </p:graphicFrame>
      <p:cxnSp>
        <p:nvCxnSpPr>
          <p:cNvPr id="11" name="Straight Arrow Connector 10">
            <a:extLst>
              <a:ext uri="{FF2B5EF4-FFF2-40B4-BE49-F238E27FC236}">
                <a16:creationId xmlns:a16="http://schemas.microsoft.com/office/drawing/2014/main" id="{1E3E3565-73DA-4DA7-B071-ADA753346ED5}"/>
              </a:ext>
            </a:extLst>
          </p:cNvPr>
          <p:cNvCxnSpPr>
            <a:cxnSpLocks/>
          </p:cNvCxnSpPr>
          <p:nvPr/>
        </p:nvCxnSpPr>
        <p:spPr bwMode="auto">
          <a:xfrm>
            <a:off x="3522748" y="3577320"/>
            <a:ext cx="1495391" cy="0"/>
          </a:xfrm>
          <a:prstGeom prst="straightConnector1">
            <a:avLst/>
          </a:prstGeom>
          <a:noFill/>
          <a:ln w="15875" cap="flat" cmpd="sng" algn="ctr">
            <a:solidFill>
              <a:srgbClr val="FF0000"/>
            </a:solidFill>
            <a:prstDash val="solid"/>
            <a:round/>
            <a:headEnd type="none" w="med" len="med"/>
            <a:tailEnd type="triangle"/>
          </a:ln>
          <a:effectLst/>
        </p:spPr>
      </p:cxnSp>
      <p:sp>
        <p:nvSpPr>
          <p:cNvPr id="2" name="TextBox 1">
            <a:extLst>
              <a:ext uri="{FF2B5EF4-FFF2-40B4-BE49-F238E27FC236}">
                <a16:creationId xmlns:a16="http://schemas.microsoft.com/office/drawing/2014/main" id="{A56DADB5-CB1E-4CAA-86D0-90CA4FE4C258}"/>
              </a:ext>
            </a:extLst>
          </p:cNvPr>
          <p:cNvSpPr txBox="1"/>
          <p:nvPr/>
        </p:nvSpPr>
        <p:spPr>
          <a:xfrm>
            <a:off x="4069297" y="3642173"/>
            <a:ext cx="1633781" cy="369332"/>
          </a:xfrm>
          <a:prstGeom prst="rect">
            <a:avLst/>
          </a:prstGeom>
          <a:noFill/>
        </p:spPr>
        <p:txBody>
          <a:bodyPr wrap="none" rtlCol="0" anchor="ctr" anchorCtr="1">
            <a:spAutoFit/>
          </a:bodyPr>
          <a:lstStyle/>
          <a:p>
            <a:r>
              <a:rPr lang="en-US" dirty="0">
                <a:ea typeface="標楷體" pitchFamily="65" charset="-120"/>
                <a:cs typeface="Calibri" pitchFamily="34" charset="0"/>
              </a:rPr>
              <a:t>PC addresses</a:t>
            </a:r>
          </a:p>
        </p:txBody>
      </p:sp>
      <p:sp>
        <p:nvSpPr>
          <p:cNvPr id="3" name="TextBox 2">
            <a:extLst>
              <a:ext uri="{FF2B5EF4-FFF2-40B4-BE49-F238E27FC236}">
                <a16:creationId xmlns:a16="http://schemas.microsoft.com/office/drawing/2014/main" id="{7BBFE1C6-6853-4562-9AB9-E2BD67E98BD9}"/>
              </a:ext>
            </a:extLst>
          </p:cNvPr>
          <p:cNvSpPr txBox="1"/>
          <p:nvPr/>
        </p:nvSpPr>
        <p:spPr>
          <a:xfrm>
            <a:off x="914400" y="1785185"/>
            <a:ext cx="282102" cy="369332"/>
          </a:xfrm>
          <a:prstGeom prst="rect">
            <a:avLst/>
          </a:prstGeom>
          <a:noFill/>
          <a:ln>
            <a:solidFill>
              <a:schemeClr val="tx2"/>
            </a:solidFill>
          </a:ln>
        </p:spPr>
        <p:txBody>
          <a:bodyPr wrap="square" rtlCol="0" anchor="ctr" anchorCtr="1">
            <a:spAutoFit/>
          </a:bodyPr>
          <a:lstStyle/>
          <a:p>
            <a:r>
              <a:rPr lang="en-US" dirty="0">
                <a:ea typeface="標楷體" pitchFamily="65" charset="-120"/>
                <a:cs typeface="Calibri" pitchFamily="34" charset="0"/>
              </a:rPr>
              <a:t>0</a:t>
            </a:r>
          </a:p>
        </p:txBody>
      </p:sp>
      <p:sp>
        <p:nvSpPr>
          <p:cNvPr id="17" name="TextBox 16">
            <a:extLst>
              <a:ext uri="{FF2B5EF4-FFF2-40B4-BE49-F238E27FC236}">
                <a16:creationId xmlns:a16="http://schemas.microsoft.com/office/drawing/2014/main" id="{17D88118-C75A-4758-892F-A0C46FCFD6B3}"/>
              </a:ext>
            </a:extLst>
          </p:cNvPr>
          <p:cNvSpPr txBox="1"/>
          <p:nvPr/>
        </p:nvSpPr>
        <p:spPr>
          <a:xfrm>
            <a:off x="1196502" y="1785185"/>
            <a:ext cx="282102" cy="369332"/>
          </a:xfrm>
          <a:prstGeom prst="rect">
            <a:avLst/>
          </a:prstGeom>
          <a:noFill/>
          <a:ln>
            <a:solidFill>
              <a:schemeClr val="tx2"/>
            </a:solidFill>
          </a:ln>
        </p:spPr>
        <p:txBody>
          <a:bodyPr wrap="square" rtlCol="0" anchor="ctr" anchorCtr="1">
            <a:spAutoFit/>
          </a:bodyPr>
          <a:lstStyle/>
          <a:p>
            <a:r>
              <a:rPr lang="en-US" dirty="0">
                <a:ea typeface="標楷體" pitchFamily="65" charset="-120"/>
                <a:cs typeface="Calibri" pitchFamily="34" charset="0"/>
              </a:rPr>
              <a:t>1</a:t>
            </a:r>
          </a:p>
        </p:txBody>
      </p:sp>
      <p:sp>
        <p:nvSpPr>
          <p:cNvPr id="20" name="TextBox 19">
            <a:extLst>
              <a:ext uri="{FF2B5EF4-FFF2-40B4-BE49-F238E27FC236}">
                <a16:creationId xmlns:a16="http://schemas.microsoft.com/office/drawing/2014/main" id="{082BCDE6-714B-4822-AE04-6505AE53FF19}"/>
              </a:ext>
            </a:extLst>
          </p:cNvPr>
          <p:cNvSpPr txBox="1"/>
          <p:nvPr/>
        </p:nvSpPr>
        <p:spPr>
          <a:xfrm>
            <a:off x="1478604" y="1785185"/>
            <a:ext cx="282102" cy="369332"/>
          </a:xfrm>
          <a:prstGeom prst="rect">
            <a:avLst/>
          </a:prstGeom>
          <a:noFill/>
          <a:ln>
            <a:solidFill>
              <a:schemeClr val="tx2"/>
            </a:solidFill>
          </a:ln>
        </p:spPr>
        <p:txBody>
          <a:bodyPr wrap="square" rtlCol="0" anchor="ctr" anchorCtr="1">
            <a:spAutoFit/>
          </a:bodyPr>
          <a:lstStyle/>
          <a:p>
            <a:r>
              <a:rPr lang="en-US" dirty="0">
                <a:ea typeface="標楷體" pitchFamily="65" charset="-120"/>
                <a:cs typeface="Calibri" pitchFamily="34" charset="0"/>
              </a:rPr>
              <a:t>1</a:t>
            </a:r>
          </a:p>
        </p:txBody>
      </p:sp>
      <p:sp>
        <p:nvSpPr>
          <p:cNvPr id="21" name="TextBox 20">
            <a:extLst>
              <a:ext uri="{FF2B5EF4-FFF2-40B4-BE49-F238E27FC236}">
                <a16:creationId xmlns:a16="http://schemas.microsoft.com/office/drawing/2014/main" id="{B6DB57E9-05D6-4CCE-ADEF-379111878026}"/>
              </a:ext>
            </a:extLst>
          </p:cNvPr>
          <p:cNvSpPr txBox="1"/>
          <p:nvPr/>
        </p:nvSpPr>
        <p:spPr>
          <a:xfrm>
            <a:off x="1760706" y="1785185"/>
            <a:ext cx="282102" cy="369332"/>
          </a:xfrm>
          <a:prstGeom prst="rect">
            <a:avLst/>
          </a:prstGeom>
          <a:noFill/>
          <a:ln>
            <a:solidFill>
              <a:schemeClr val="tx2"/>
            </a:solidFill>
          </a:ln>
        </p:spPr>
        <p:txBody>
          <a:bodyPr wrap="square" rtlCol="0" anchor="ctr" anchorCtr="1">
            <a:spAutoFit/>
          </a:bodyPr>
          <a:lstStyle/>
          <a:p>
            <a:r>
              <a:rPr lang="en-US" dirty="0">
                <a:ea typeface="標楷體" pitchFamily="65" charset="-120"/>
                <a:cs typeface="Calibri" pitchFamily="34" charset="0"/>
              </a:rPr>
              <a:t>1</a:t>
            </a:r>
          </a:p>
        </p:txBody>
      </p:sp>
      <p:sp>
        <p:nvSpPr>
          <p:cNvPr id="24" name="TextBox 23">
            <a:extLst>
              <a:ext uri="{FF2B5EF4-FFF2-40B4-BE49-F238E27FC236}">
                <a16:creationId xmlns:a16="http://schemas.microsoft.com/office/drawing/2014/main" id="{6D7494AB-1F76-45A4-A995-18DAA2583380}"/>
              </a:ext>
            </a:extLst>
          </p:cNvPr>
          <p:cNvSpPr txBox="1"/>
          <p:nvPr/>
        </p:nvSpPr>
        <p:spPr>
          <a:xfrm>
            <a:off x="2042808" y="1785185"/>
            <a:ext cx="282102" cy="369332"/>
          </a:xfrm>
          <a:prstGeom prst="rect">
            <a:avLst/>
          </a:prstGeom>
          <a:noFill/>
          <a:ln>
            <a:solidFill>
              <a:schemeClr val="tx2"/>
            </a:solidFill>
          </a:ln>
        </p:spPr>
        <p:txBody>
          <a:bodyPr wrap="square" rtlCol="0" anchor="ctr" anchorCtr="1">
            <a:spAutoFit/>
          </a:bodyPr>
          <a:lstStyle/>
          <a:p>
            <a:r>
              <a:rPr lang="en-US" dirty="0">
                <a:ea typeface="標楷體" pitchFamily="65" charset="-120"/>
                <a:cs typeface="Calibri" pitchFamily="34" charset="0"/>
              </a:rPr>
              <a:t>0</a:t>
            </a:r>
          </a:p>
        </p:txBody>
      </p:sp>
      <p:sp>
        <p:nvSpPr>
          <p:cNvPr id="25" name="TextBox 24">
            <a:extLst>
              <a:ext uri="{FF2B5EF4-FFF2-40B4-BE49-F238E27FC236}">
                <a16:creationId xmlns:a16="http://schemas.microsoft.com/office/drawing/2014/main" id="{6F3ECB72-35BC-4739-8DE2-7DC11145B00F}"/>
              </a:ext>
            </a:extLst>
          </p:cNvPr>
          <p:cNvSpPr txBox="1"/>
          <p:nvPr/>
        </p:nvSpPr>
        <p:spPr>
          <a:xfrm>
            <a:off x="2324910" y="1785185"/>
            <a:ext cx="282102" cy="369332"/>
          </a:xfrm>
          <a:prstGeom prst="rect">
            <a:avLst/>
          </a:prstGeom>
          <a:noFill/>
          <a:ln>
            <a:solidFill>
              <a:schemeClr val="tx2"/>
            </a:solidFill>
          </a:ln>
        </p:spPr>
        <p:txBody>
          <a:bodyPr wrap="square" rtlCol="0" anchor="ctr" anchorCtr="1">
            <a:spAutoFit/>
          </a:bodyPr>
          <a:lstStyle/>
          <a:p>
            <a:r>
              <a:rPr lang="en-US" dirty="0">
                <a:ea typeface="標楷體" pitchFamily="65" charset="-120"/>
                <a:cs typeface="Calibri" pitchFamily="34" charset="0"/>
              </a:rPr>
              <a:t>0</a:t>
            </a:r>
          </a:p>
        </p:txBody>
      </p:sp>
      <p:sp>
        <p:nvSpPr>
          <p:cNvPr id="26" name="TextBox 25">
            <a:extLst>
              <a:ext uri="{FF2B5EF4-FFF2-40B4-BE49-F238E27FC236}">
                <a16:creationId xmlns:a16="http://schemas.microsoft.com/office/drawing/2014/main" id="{90856DEC-C70C-4F94-B18C-AC8AC90FF78F}"/>
              </a:ext>
            </a:extLst>
          </p:cNvPr>
          <p:cNvSpPr txBox="1"/>
          <p:nvPr/>
        </p:nvSpPr>
        <p:spPr>
          <a:xfrm>
            <a:off x="2607012" y="1785185"/>
            <a:ext cx="282102" cy="369332"/>
          </a:xfrm>
          <a:prstGeom prst="rect">
            <a:avLst/>
          </a:prstGeom>
          <a:noFill/>
          <a:ln>
            <a:solidFill>
              <a:schemeClr val="tx2"/>
            </a:solidFill>
          </a:ln>
        </p:spPr>
        <p:txBody>
          <a:bodyPr wrap="square" rtlCol="0" anchor="ctr" anchorCtr="1">
            <a:spAutoFit/>
          </a:bodyPr>
          <a:lstStyle/>
          <a:p>
            <a:r>
              <a:rPr lang="en-US" dirty="0">
                <a:ea typeface="標楷體" pitchFamily="65" charset="-120"/>
                <a:cs typeface="Calibri" pitchFamily="34" charset="0"/>
              </a:rPr>
              <a:t>1</a:t>
            </a:r>
          </a:p>
        </p:txBody>
      </p:sp>
      <p:sp>
        <p:nvSpPr>
          <p:cNvPr id="27" name="TextBox 26">
            <a:extLst>
              <a:ext uri="{FF2B5EF4-FFF2-40B4-BE49-F238E27FC236}">
                <a16:creationId xmlns:a16="http://schemas.microsoft.com/office/drawing/2014/main" id="{E7214DC0-4D16-4090-A9D3-37511E174482}"/>
              </a:ext>
            </a:extLst>
          </p:cNvPr>
          <p:cNvSpPr txBox="1"/>
          <p:nvPr/>
        </p:nvSpPr>
        <p:spPr>
          <a:xfrm>
            <a:off x="2889114" y="1785185"/>
            <a:ext cx="282102" cy="369332"/>
          </a:xfrm>
          <a:prstGeom prst="rect">
            <a:avLst/>
          </a:prstGeom>
          <a:noFill/>
          <a:ln>
            <a:solidFill>
              <a:schemeClr val="tx2"/>
            </a:solidFill>
          </a:ln>
        </p:spPr>
        <p:txBody>
          <a:bodyPr wrap="square" rtlCol="0" anchor="ctr" anchorCtr="1">
            <a:spAutoFit/>
          </a:bodyPr>
          <a:lstStyle/>
          <a:p>
            <a:r>
              <a:rPr lang="en-US" dirty="0">
                <a:ea typeface="標楷體" pitchFamily="65" charset="-120"/>
                <a:cs typeface="Calibri" pitchFamily="34" charset="0"/>
              </a:rPr>
              <a:t>0</a:t>
            </a:r>
          </a:p>
        </p:txBody>
      </p:sp>
      <p:sp>
        <p:nvSpPr>
          <p:cNvPr id="8" name="TextBox 7">
            <a:extLst>
              <a:ext uri="{FF2B5EF4-FFF2-40B4-BE49-F238E27FC236}">
                <a16:creationId xmlns:a16="http://schemas.microsoft.com/office/drawing/2014/main" id="{F43404DA-A695-4CB1-AED1-F69A756AE786}"/>
              </a:ext>
            </a:extLst>
          </p:cNvPr>
          <p:cNvSpPr txBox="1"/>
          <p:nvPr/>
        </p:nvSpPr>
        <p:spPr>
          <a:xfrm>
            <a:off x="1682495" y="1304891"/>
            <a:ext cx="684803" cy="369332"/>
          </a:xfrm>
          <a:prstGeom prst="rect">
            <a:avLst/>
          </a:prstGeom>
          <a:noFill/>
        </p:spPr>
        <p:txBody>
          <a:bodyPr wrap="none" rtlCol="0" anchor="ctr" anchorCtr="1">
            <a:spAutoFit/>
          </a:bodyPr>
          <a:lstStyle/>
          <a:p>
            <a:r>
              <a:rPr lang="en-US" dirty="0">
                <a:ea typeface="標楷體" pitchFamily="65" charset="-120"/>
                <a:cs typeface="Calibri" pitchFamily="34" charset="0"/>
              </a:rPr>
              <a:t>GHB</a:t>
            </a:r>
          </a:p>
        </p:txBody>
      </p:sp>
      <p:cxnSp>
        <p:nvCxnSpPr>
          <p:cNvPr id="14" name="Straight Arrow Connector 13">
            <a:extLst>
              <a:ext uri="{FF2B5EF4-FFF2-40B4-BE49-F238E27FC236}">
                <a16:creationId xmlns:a16="http://schemas.microsoft.com/office/drawing/2014/main" id="{DE26BAC9-1FD2-4337-A10C-839C2D12E855}"/>
              </a:ext>
            </a:extLst>
          </p:cNvPr>
          <p:cNvCxnSpPr>
            <a:stCxn id="27" idx="3"/>
          </p:cNvCxnSpPr>
          <p:nvPr/>
        </p:nvCxnSpPr>
        <p:spPr bwMode="auto">
          <a:xfrm>
            <a:off x="3171216" y="1969851"/>
            <a:ext cx="1846923" cy="0"/>
          </a:xfrm>
          <a:prstGeom prst="straightConnector1">
            <a:avLst/>
          </a:prstGeom>
          <a:noFill/>
          <a:ln w="15875" cap="flat" cmpd="sng" algn="ctr">
            <a:solidFill>
              <a:srgbClr val="FF0000"/>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316BEE4C-A00B-4684-AFEF-F646D8C450CE}"/>
              </a:ext>
            </a:extLst>
          </p:cNvPr>
          <p:cNvCxnSpPr/>
          <p:nvPr/>
        </p:nvCxnSpPr>
        <p:spPr bwMode="auto">
          <a:xfrm>
            <a:off x="5018139" y="1969851"/>
            <a:ext cx="0" cy="627434"/>
          </a:xfrm>
          <a:prstGeom prst="straightConnector1">
            <a:avLst/>
          </a:prstGeom>
          <a:noFill/>
          <a:ln w="15875" cap="flat" cmpd="sng" algn="ctr">
            <a:solidFill>
              <a:srgbClr val="FF0000"/>
            </a:solidFill>
            <a:prstDash val="solid"/>
            <a:round/>
            <a:headEnd type="none" w="med" len="med"/>
            <a:tailEnd type="triangle"/>
          </a:ln>
          <a:effectLst/>
        </p:spPr>
      </p:cxnSp>
      <p:cxnSp>
        <p:nvCxnSpPr>
          <p:cNvPr id="32" name="Straight Arrow Connector 31">
            <a:extLst>
              <a:ext uri="{FF2B5EF4-FFF2-40B4-BE49-F238E27FC236}">
                <a16:creationId xmlns:a16="http://schemas.microsoft.com/office/drawing/2014/main" id="{58C4651F-6516-49C8-B2B4-3D60541FB297}"/>
              </a:ext>
            </a:extLst>
          </p:cNvPr>
          <p:cNvCxnSpPr/>
          <p:nvPr/>
        </p:nvCxnSpPr>
        <p:spPr bwMode="auto">
          <a:xfrm>
            <a:off x="5018139" y="2992123"/>
            <a:ext cx="0" cy="627434"/>
          </a:xfrm>
          <a:prstGeom prst="straightConnector1">
            <a:avLst/>
          </a:prstGeom>
          <a:noFill/>
          <a:ln w="15875" cap="flat" cmpd="sng" algn="ctr">
            <a:solidFill>
              <a:srgbClr val="FF0000"/>
            </a:solidFill>
            <a:prstDash val="solid"/>
            <a:round/>
            <a:headEnd type="stealth" w="med" len="med"/>
            <a:tailEnd type="none"/>
          </a:ln>
          <a:effectLst/>
        </p:spPr>
      </p:cxnSp>
      <p:sp>
        <p:nvSpPr>
          <p:cNvPr id="30" name="Oval 29">
            <a:extLst>
              <a:ext uri="{FF2B5EF4-FFF2-40B4-BE49-F238E27FC236}">
                <a16:creationId xmlns:a16="http://schemas.microsoft.com/office/drawing/2014/main" id="{FEC0D258-0651-4DE0-AB4B-0BEED6259264}"/>
              </a:ext>
            </a:extLst>
          </p:cNvPr>
          <p:cNvSpPr/>
          <p:nvPr/>
        </p:nvSpPr>
        <p:spPr bwMode="auto">
          <a:xfrm>
            <a:off x="4270442" y="2597285"/>
            <a:ext cx="1495389" cy="329985"/>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hash</a:t>
            </a:r>
          </a:p>
        </p:txBody>
      </p:sp>
      <p:cxnSp>
        <p:nvCxnSpPr>
          <p:cNvPr id="33" name="Straight Arrow Connector 32">
            <a:extLst>
              <a:ext uri="{FF2B5EF4-FFF2-40B4-BE49-F238E27FC236}">
                <a16:creationId xmlns:a16="http://schemas.microsoft.com/office/drawing/2014/main" id="{87EF38BB-E0E5-4AF0-9008-99F21B8F0EE8}"/>
              </a:ext>
            </a:extLst>
          </p:cNvPr>
          <p:cNvCxnSpPr>
            <a:stCxn id="30" idx="6"/>
          </p:cNvCxnSpPr>
          <p:nvPr/>
        </p:nvCxnSpPr>
        <p:spPr bwMode="auto">
          <a:xfrm>
            <a:off x="5765831" y="2762278"/>
            <a:ext cx="1188422" cy="4985"/>
          </a:xfrm>
          <a:prstGeom prst="straightConnector1">
            <a:avLst/>
          </a:prstGeom>
          <a:noFill/>
          <a:ln w="15875" cap="flat" cmpd="sng" algn="ctr">
            <a:solidFill>
              <a:srgbClr val="FF0000"/>
            </a:solidFill>
            <a:prstDash val="solid"/>
            <a:round/>
            <a:headEnd type="none" w="med" len="med"/>
            <a:tailEnd type="triangle"/>
          </a:ln>
          <a:effectLst/>
        </p:spPr>
      </p:cxnSp>
      <p:sp>
        <p:nvSpPr>
          <p:cNvPr id="36" name="TextBox 35">
            <a:extLst>
              <a:ext uri="{FF2B5EF4-FFF2-40B4-BE49-F238E27FC236}">
                <a16:creationId xmlns:a16="http://schemas.microsoft.com/office/drawing/2014/main" id="{6588717D-0578-489D-A8F5-E447116B59BF}"/>
              </a:ext>
            </a:extLst>
          </p:cNvPr>
          <p:cNvSpPr txBox="1"/>
          <p:nvPr/>
        </p:nvSpPr>
        <p:spPr>
          <a:xfrm>
            <a:off x="3287023" y="1577903"/>
            <a:ext cx="2364750" cy="369332"/>
          </a:xfrm>
          <a:prstGeom prst="rect">
            <a:avLst/>
          </a:prstGeom>
          <a:noFill/>
        </p:spPr>
        <p:txBody>
          <a:bodyPr wrap="none" rtlCol="0" anchor="ctr" anchorCtr="1">
            <a:spAutoFit/>
          </a:bodyPr>
          <a:lstStyle/>
          <a:p>
            <a:r>
              <a:rPr lang="en-US" dirty="0">
                <a:ea typeface="標楷體" pitchFamily="65" charset="-120"/>
                <a:cs typeface="Calibri" pitchFamily="34" charset="0"/>
              </a:rPr>
              <a:t>Global branch history</a:t>
            </a:r>
          </a:p>
        </p:txBody>
      </p:sp>
    </p:spTree>
    <p:extLst>
      <p:ext uri="{BB962C8B-B14F-4D97-AF65-F5344CB8AC3E}">
        <p14:creationId xmlns:p14="http://schemas.microsoft.com/office/powerpoint/2010/main" val="14278629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AU" altLang="zh-TW" dirty="0">
                <a:ea typeface="新細明體" panose="02020500000000000000" pitchFamily="18" charset="-120"/>
              </a:rPr>
              <a:t>Why Correlated Prediction Works</a:t>
            </a:r>
          </a:p>
        </p:txBody>
      </p:sp>
      <p:sp>
        <p:nvSpPr>
          <p:cNvPr id="106500"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80C97838-98F0-4631-AC0E-58B03BA5C179}" type="slidenum">
              <a:rPr lang="zh-TW" altLang="en-US" sz="1400" b="0">
                <a:solidFill>
                  <a:schemeClr val="bg1"/>
                </a:solidFill>
                <a:latin typeface="Arial" panose="020B0604020202090204" pitchFamily="34" charset="0"/>
                <a:ea typeface="新細明體" panose="02020500000000000000" pitchFamily="18" charset="-120"/>
              </a:rPr>
              <a:t>36</a:t>
            </a:fld>
            <a:endParaRPr lang="en-US" altLang="zh-TW" sz="1400" b="0">
              <a:solidFill>
                <a:schemeClr val="bg1"/>
              </a:solidFill>
              <a:latin typeface="Arial" panose="020B0604020202090204" pitchFamily="34" charset="0"/>
              <a:ea typeface="新細明體" panose="02020500000000000000" pitchFamily="18" charset="-120"/>
            </a:endParaRPr>
          </a:p>
        </p:txBody>
      </p:sp>
      <p:sp>
        <p:nvSpPr>
          <p:cNvPr id="3" name="Content Placeholder 2">
            <a:extLst>
              <a:ext uri="{FF2B5EF4-FFF2-40B4-BE49-F238E27FC236}">
                <a16:creationId xmlns:a16="http://schemas.microsoft.com/office/drawing/2014/main" id="{36906C9D-7290-450B-8FB0-8CA79BC5C46A}"/>
              </a:ext>
            </a:extLst>
          </p:cNvPr>
          <p:cNvSpPr>
            <a:spLocks noGrp="1"/>
          </p:cNvSpPr>
          <p:nvPr>
            <p:ph idx="1"/>
          </p:nvPr>
        </p:nvSpPr>
        <p:spPr>
          <a:xfrm>
            <a:off x="95250" y="1144587"/>
            <a:ext cx="6324600" cy="4895851"/>
          </a:xfrm>
        </p:spPr>
        <p:txBody>
          <a:bodyPr/>
          <a:lstStyle/>
          <a:p>
            <a:pPr marL="0" indent="0">
              <a:buNone/>
            </a:pPr>
            <a:r>
              <a:rPr lang="en-US" sz="2800" dirty="0"/>
              <a:t>Example 1:</a:t>
            </a:r>
          </a:p>
          <a:p>
            <a:pPr marL="0" indent="0">
              <a:buNone/>
            </a:pPr>
            <a:r>
              <a:rPr lang="en-US" sz="2800" dirty="0"/>
              <a:t>	if (a==2) a=0; Branch 1</a:t>
            </a:r>
          </a:p>
          <a:p>
            <a:pPr marL="0" indent="0">
              <a:buNone/>
            </a:pPr>
            <a:r>
              <a:rPr lang="en-US" sz="2800" dirty="0"/>
              <a:t>	if (b==2) b=0; Branch 2</a:t>
            </a:r>
          </a:p>
          <a:p>
            <a:pPr marL="0" indent="0">
              <a:buNone/>
            </a:pPr>
            <a:r>
              <a:rPr lang="en-US" sz="2800" dirty="0"/>
              <a:t>           if (a!=b) {…};   Branch 3</a:t>
            </a:r>
          </a:p>
          <a:p>
            <a:pPr marL="0" indent="0">
              <a:buNone/>
            </a:pPr>
            <a:endParaRPr lang="en-US" sz="2800" dirty="0"/>
          </a:p>
          <a:p>
            <a:pPr marL="0" indent="0">
              <a:buNone/>
            </a:pPr>
            <a:r>
              <a:rPr lang="en-US" sz="2800" dirty="0"/>
              <a:t>If Branch 1 is taken and Branch 2 is taken </a:t>
            </a:r>
          </a:p>
          <a:p>
            <a:pPr marL="0" indent="0">
              <a:buNone/>
            </a:pPr>
            <a:r>
              <a:rPr lang="en-US" sz="2800" dirty="0"/>
              <a:t>Then Branch 3 is NOT taken</a:t>
            </a:r>
          </a:p>
          <a:p>
            <a:pPr marL="0" indent="0">
              <a:buNone/>
            </a:pPr>
            <a:r>
              <a:rPr lang="en-US" sz="2800" dirty="0"/>
              <a:t>GHB 11 </a:t>
            </a:r>
            <a:r>
              <a:rPr lang="en-US" sz="2800" dirty="0">
                <a:sym typeface="Wingdings" panose="05000000000000000000" pitchFamily="2" charset="2"/>
              </a:rPr>
              <a:t> Branch 3 will fall through</a:t>
            </a:r>
          </a:p>
          <a:p>
            <a:pPr marL="0" indent="0">
              <a:buNone/>
            </a:pPr>
            <a:r>
              <a:rPr lang="en-US" sz="2800" dirty="0">
                <a:sym typeface="Wingdings" panose="05000000000000000000" pitchFamily="2" charset="2"/>
              </a:rPr>
              <a:t>GHB 00/01/10  needs prediction</a:t>
            </a:r>
            <a:endParaRPr lang="en-US" sz="2800" dirty="0"/>
          </a:p>
        </p:txBody>
      </p:sp>
      <p:sp>
        <p:nvSpPr>
          <p:cNvPr id="4" name="Oval 3">
            <a:extLst>
              <a:ext uri="{FF2B5EF4-FFF2-40B4-BE49-F238E27FC236}">
                <a16:creationId xmlns:a16="http://schemas.microsoft.com/office/drawing/2014/main" id="{0F08B92C-8E00-4DE4-BEAB-B1C455C9510E}"/>
              </a:ext>
            </a:extLst>
          </p:cNvPr>
          <p:cNvSpPr/>
          <p:nvPr/>
        </p:nvSpPr>
        <p:spPr bwMode="auto">
          <a:xfrm>
            <a:off x="7924800" y="3390110"/>
            <a:ext cx="914400" cy="581025"/>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Branch</a:t>
            </a:r>
          </a:p>
        </p:txBody>
      </p:sp>
      <p:sp>
        <p:nvSpPr>
          <p:cNvPr id="8" name="Oval 7">
            <a:extLst>
              <a:ext uri="{FF2B5EF4-FFF2-40B4-BE49-F238E27FC236}">
                <a16:creationId xmlns:a16="http://schemas.microsoft.com/office/drawing/2014/main" id="{D5038A8D-EE3C-4AC7-B789-88305A4F9670}"/>
              </a:ext>
            </a:extLst>
          </p:cNvPr>
          <p:cNvSpPr/>
          <p:nvPr/>
        </p:nvSpPr>
        <p:spPr bwMode="auto">
          <a:xfrm>
            <a:off x="6753225" y="1599410"/>
            <a:ext cx="914400" cy="581025"/>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Branch</a:t>
            </a:r>
          </a:p>
        </p:txBody>
      </p:sp>
      <p:sp>
        <p:nvSpPr>
          <p:cNvPr id="9" name="Oval 8">
            <a:extLst>
              <a:ext uri="{FF2B5EF4-FFF2-40B4-BE49-F238E27FC236}">
                <a16:creationId xmlns:a16="http://schemas.microsoft.com/office/drawing/2014/main" id="{FC61FB31-4D2A-4D05-AA05-DBB8746C0CF7}"/>
              </a:ext>
            </a:extLst>
          </p:cNvPr>
          <p:cNvSpPr/>
          <p:nvPr/>
        </p:nvSpPr>
        <p:spPr bwMode="auto">
          <a:xfrm>
            <a:off x="8934450" y="1532338"/>
            <a:ext cx="914400" cy="581025"/>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Branch</a:t>
            </a:r>
          </a:p>
        </p:txBody>
      </p:sp>
      <p:cxnSp>
        <p:nvCxnSpPr>
          <p:cNvPr id="6" name="Straight Arrow Connector 5">
            <a:extLst>
              <a:ext uri="{FF2B5EF4-FFF2-40B4-BE49-F238E27FC236}">
                <a16:creationId xmlns:a16="http://schemas.microsoft.com/office/drawing/2014/main" id="{C6C86601-09C1-4968-AD06-5F896A8B78F8}"/>
              </a:ext>
            </a:extLst>
          </p:cNvPr>
          <p:cNvCxnSpPr>
            <a:stCxn id="8" idx="4"/>
            <a:endCxn id="4" idx="0"/>
          </p:cNvCxnSpPr>
          <p:nvPr/>
        </p:nvCxnSpPr>
        <p:spPr bwMode="auto">
          <a:xfrm>
            <a:off x="7210425" y="2180435"/>
            <a:ext cx="1171575" cy="1209675"/>
          </a:xfrm>
          <a:prstGeom prst="straightConnector1">
            <a:avLst/>
          </a:prstGeom>
          <a:noFill/>
          <a:ln w="15875" cap="flat" cmpd="sng" algn="ctr">
            <a:solidFill>
              <a:srgbClr val="FF0000"/>
            </a:solidFill>
            <a:prstDash val="solid"/>
            <a:round/>
            <a:headEnd type="none" w="med" len="med"/>
            <a:tailEnd type="triangle"/>
          </a:ln>
          <a:effectLst/>
        </p:spPr>
      </p:cxnSp>
      <p:cxnSp>
        <p:nvCxnSpPr>
          <p:cNvPr id="10" name="Straight Arrow Connector 9">
            <a:extLst>
              <a:ext uri="{FF2B5EF4-FFF2-40B4-BE49-F238E27FC236}">
                <a16:creationId xmlns:a16="http://schemas.microsoft.com/office/drawing/2014/main" id="{68889278-C95E-4420-8156-47C11AA90583}"/>
              </a:ext>
            </a:extLst>
          </p:cNvPr>
          <p:cNvCxnSpPr>
            <a:stCxn id="9" idx="4"/>
            <a:endCxn id="4" idx="0"/>
          </p:cNvCxnSpPr>
          <p:nvPr/>
        </p:nvCxnSpPr>
        <p:spPr bwMode="auto">
          <a:xfrm flipH="1">
            <a:off x="8382000" y="2113363"/>
            <a:ext cx="1009650" cy="1276747"/>
          </a:xfrm>
          <a:prstGeom prst="straightConnector1">
            <a:avLst/>
          </a:prstGeom>
          <a:noFill/>
          <a:ln w="15875" cap="flat" cmpd="sng" algn="ctr">
            <a:solidFill>
              <a:srgbClr val="FF0000"/>
            </a:solidFill>
            <a:prstDash val="solid"/>
            <a:round/>
            <a:headEnd type="none" w="med" len="med"/>
            <a:tailEnd type="triangle"/>
          </a:ln>
          <a:effectLst/>
        </p:spPr>
      </p:cxnSp>
      <p:cxnSp>
        <p:nvCxnSpPr>
          <p:cNvPr id="12" name="Straight Arrow Connector 11">
            <a:extLst>
              <a:ext uri="{FF2B5EF4-FFF2-40B4-BE49-F238E27FC236}">
                <a16:creationId xmlns:a16="http://schemas.microsoft.com/office/drawing/2014/main" id="{25D2779B-7CB6-4875-8047-00F2DEC4BA59}"/>
              </a:ext>
            </a:extLst>
          </p:cNvPr>
          <p:cNvCxnSpPr>
            <a:stCxn id="8" idx="4"/>
          </p:cNvCxnSpPr>
          <p:nvPr/>
        </p:nvCxnSpPr>
        <p:spPr bwMode="auto">
          <a:xfrm flipH="1">
            <a:off x="6753225" y="2180435"/>
            <a:ext cx="457200" cy="1067590"/>
          </a:xfrm>
          <a:prstGeom prst="straightConnector1">
            <a:avLst/>
          </a:prstGeom>
          <a:noFill/>
          <a:ln w="15875" cap="flat" cmpd="sng" algn="ctr">
            <a:solidFill>
              <a:srgbClr val="FF0000"/>
            </a:solidFill>
            <a:prstDash val="solid"/>
            <a:round/>
            <a:headEnd type="none" w="med" len="med"/>
            <a:tailEnd type="triangle"/>
          </a:ln>
          <a:effectLst/>
        </p:spPr>
      </p:cxnSp>
      <p:cxnSp>
        <p:nvCxnSpPr>
          <p:cNvPr id="16" name="Straight Arrow Connector 15">
            <a:extLst>
              <a:ext uri="{FF2B5EF4-FFF2-40B4-BE49-F238E27FC236}">
                <a16:creationId xmlns:a16="http://schemas.microsoft.com/office/drawing/2014/main" id="{715BB0DA-7856-4870-A8C4-A9448EAEE395}"/>
              </a:ext>
            </a:extLst>
          </p:cNvPr>
          <p:cNvCxnSpPr>
            <a:cxnSpLocks/>
          </p:cNvCxnSpPr>
          <p:nvPr/>
        </p:nvCxnSpPr>
        <p:spPr bwMode="auto">
          <a:xfrm>
            <a:off x="9401175" y="2113363"/>
            <a:ext cx="781050" cy="1276746"/>
          </a:xfrm>
          <a:prstGeom prst="straightConnector1">
            <a:avLst/>
          </a:prstGeom>
          <a:noFill/>
          <a:ln w="15875" cap="flat" cmpd="sng" algn="ctr">
            <a:solidFill>
              <a:srgbClr val="FF0000"/>
            </a:solidFill>
            <a:prstDash val="solid"/>
            <a:round/>
            <a:headEnd type="none" w="med" len="med"/>
            <a:tailEnd type="triangle"/>
          </a:ln>
          <a:effectLst/>
        </p:spPr>
      </p:cxnSp>
      <p:cxnSp>
        <p:nvCxnSpPr>
          <p:cNvPr id="18" name="Straight Arrow Connector 17">
            <a:extLst>
              <a:ext uri="{FF2B5EF4-FFF2-40B4-BE49-F238E27FC236}">
                <a16:creationId xmlns:a16="http://schemas.microsoft.com/office/drawing/2014/main" id="{316F0594-55D0-488E-8CBD-086CFB2F2CF3}"/>
              </a:ext>
            </a:extLst>
          </p:cNvPr>
          <p:cNvCxnSpPr/>
          <p:nvPr/>
        </p:nvCxnSpPr>
        <p:spPr bwMode="auto">
          <a:xfrm flipH="1">
            <a:off x="7291387" y="3961411"/>
            <a:ext cx="1009650" cy="1276747"/>
          </a:xfrm>
          <a:prstGeom prst="straightConnector1">
            <a:avLst/>
          </a:prstGeom>
          <a:noFill/>
          <a:ln w="15875" cap="flat" cmpd="sng" algn="ctr">
            <a:solidFill>
              <a:srgbClr val="FF0000"/>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id="{E6ED5BB6-2D1E-4CB6-AA58-9D39C276759B}"/>
              </a:ext>
            </a:extLst>
          </p:cNvPr>
          <p:cNvCxnSpPr>
            <a:cxnSpLocks/>
            <a:stCxn id="4" idx="4"/>
          </p:cNvCxnSpPr>
          <p:nvPr/>
        </p:nvCxnSpPr>
        <p:spPr bwMode="auto">
          <a:xfrm>
            <a:off x="8382000" y="3971135"/>
            <a:ext cx="790574" cy="1276747"/>
          </a:xfrm>
          <a:prstGeom prst="straightConnector1">
            <a:avLst/>
          </a:prstGeom>
          <a:noFill/>
          <a:ln w="15875" cap="flat" cmpd="sng" algn="ctr">
            <a:solidFill>
              <a:srgbClr val="FF0000"/>
            </a:solidFill>
            <a:prstDash val="solid"/>
            <a:round/>
            <a:headEnd type="none" w="med" len="med"/>
            <a:tailEnd type="triangle"/>
          </a:ln>
          <a:effectLst/>
        </p:spPr>
      </p:cxnSp>
      <p:sp>
        <p:nvSpPr>
          <p:cNvPr id="21" name="Freeform: Shape 20">
            <a:extLst>
              <a:ext uri="{FF2B5EF4-FFF2-40B4-BE49-F238E27FC236}">
                <a16:creationId xmlns:a16="http://schemas.microsoft.com/office/drawing/2014/main" id="{4570DBED-5530-4B02-967A-57DF437E76BE}"/>
              </a:ext>
            </a:extLst>
          </p:cNvPr>
          <p:cNvSpPr/>
          <p:nvPr/>
        </p:nvSpPr>
        <p:spPr bwMode="auto">
          <a:xfrm>
            <a:off x="7010400" y="1447800"/>
            <a:ext cx="1209675" cy="3362325"/>
          </a:xfrm>
          <a:custGeom>
            <a:avLst/>
            <a:gdLst>
              <a:gd name="connsiteX0" fmla="*/ 0 w 1209675"/>
              <a:gd name="connsiteY0" fmla="*/ 0 h 3362325"/>
              <a:gd name="connsiteX1" fmla="*/ 200025 w 1209675"/>
              <a:gd name="connsiteY1" fmla="*/ 266700 h 3362325"/>
              <a:gd name="connsiteX2" fmla="*/ 304800 w 1209675"/>
              <a:gd name="connsiteY2" fmla="*/ 390525 h 3362325"/>
              <a:gd name="connsiteX3" fmla="*/ 409575 w 1209675"/>
              <a:gd name="connsiteY3" fmla="*/ 495300 h 3362325"/>
              <a:gd name="connsiteX4" fmla="*/ 447675 w 1209675"/>
              <a:gd name="connsiteY4" fmla="*/ 533400 h 3362325"/>
              <a:gd name="connsiteX5" fmla="*/ 476250 w 1209675"/>
              <a:gd name="connsiteY5" fmla="*/ 581025 h 3362325"/>
              <a:gd name="connsiteX6" fmla="*/ 609600 w 1209675"/>
              <a:gd name="connsiteY6" fmla="*/ 781050 h 3362325"/>
              <a:gd name="connsiteX7" fmla="*/ 628650 w 1209675"/>
              <a:gd name="connsiteY7" fmla="*/ 828675 h 3362325"/>
              <a:gd name="connsiteX8" fmla="*/ 657225 w 1209675"/>
              <a:gd name="connsiteY8" fmla="*/ 885825 h 3362325"/>
              <a:gd name="connsiteX9" fmla="*/ 676275 w 1209675"/>
              <a:gd name="connsiteY9" fmla="*/ 914400 h 3362325"/>
              <a:gd name="connsiteX10" fmla="*/ 695325 w 1209675"/>
              <a:gd name="connsiteY10" fmla="*/ 971550 h 3362325"/>
              <a:gd name="connsiteX11" fmla="*/ 714375 w 1209675"/>
              <a:gd name="connsiteY11" fmla="*/ 1038225 h 3362325"/>
              <a:gd name="connsiteX12" fmla="*/ 723900 w 1209675"/>
              <a:gd name="connsiteY12" fmla="*/ 1085850 h 3362325"/>
              <a:gd name="connsiteX13" fmla="*/ 742950 w 1209675"/>
              <a:gd name="connsiteY13" fmla="*/ 1162050 h 3362325"/>
              <a:gd name="connsiteX14" fmla="*/ 762000 w 1209675"/>
              <a:gd name="connsiteY14" fmla="*/ 1247775 h 3362325"/>
              <a:gd name="connsiteX15" fmla="*/ 781050 w 1209675"/>
              <a:gd name="connsiteY15" fmla="*/ 1304925 h 3362325"/>
              <a:gd name="connsiteX16" fmla="*/ 809625 w 1209675"/>
              <a:gd name="connsiteY16" fmla="*/ 1419225 h 3362325"/>
              <a:gd name="connsiteX17" fmla="*/ 819150 w 1209675"/>
              <a:gd name="connsiteY17" fmla="*/ 1447800 h 3362325"/>
              <a:gd name="connsiteX18" fmla="*/ 828675 w 1209675"/>
              <a:gd name="connsiteY18" fmla="*/ 1485900 h 3362325"/>
              <a:gd name="connsiteX19" fmla="*/ 847725 w 1209675"/>
              <a:gd name="connsiteY19" fmla="*/ 1524000 h 3362325"/>
              <a:gd name="connsiteX20" fmla="*/ 866775 w 1209675"/>
              <a:gd name="connsiteY20" fmla="*/ 1619250 h 3362325"/>
              <a:gd name="connsiteX21" fmla="*/ 895350 w 1209675"/>
              <a:gd name="connsiteY21" fmla="*/ 1666875 h 3362325"/>
              <a:gd name="connsiteX22" fmla="*/ 981075 w 1209675"/>
              <a:gd name="connsiteY22" fmla="*/ 1847850 h 3362325"/>
              <a:gd name="connsiteX23" fmla="*/ 1019175 w 1209675"/>
              <a:gd name="connsiteY23" fmla="*/ 1895475 h 3362325"/>
              <a:gd name="connsiteX24" fmla="*/ 1038225 w 1209675"/>
              <a:gd name="connsiteY24" fmla="*/ 1943100 h 3362325"/>
              <a:gd name="connsiteX25" fmla="*/ 1066800 w 1209675"/>
              <a:gd name="connsiteY25" fmla="*/ 1981200 h 3362325"/>
              <a:gd name="connsiteX26" fmla="*/ 1085850 w 1209675"/>
              <a:gd name="connsiteY26" fmla="*/ 2019300 h 3362325"/>
              <a:gd name="connsiteX27" fmla="*/ 1181100 w 1209675"/>
              <a:gd name="connsiteY27" fmla="*/ 2152650 h 3362325"/>
              <a:gd name="connsiteX28" fmla="*/ 1209675 w 1209675"/>
              <a:gd name="connsiteY28" fmla="*/ 2228850 h 3362325"/>
              <a:gd name="connsiteX29" fmla="*/ 1200150 w 1209675"/>
              <a:gd name="connsiteY29" fmla="*/ 2343150 h 3362325"/>
              <a:gd name="connsiteX30" fmla="*/ 1181100 w 1209675"/>
              <a:gd name="connsiteY30" fmla="*/ 2381250 h 3362325"/>
              <a:gd name="connsiteX31" fmla="*/ 1162050 w 1209675"/>
              <a:gd name="connsiteY31" fmla="*/ 2428875 h 3362325"/>
              <a:gd name="connsiteX32" fmla="*/ 1133475 w 1209675"/>
              <a:gd name="connsiteY32" fmla="*/ 2466975 h 3362325"/>
              <a:gd name="connsiteX33" fmla="*/ 1104900 w 1209675"/>
              <a:gd name="connsiteY33" fmla="*/ 2533650 h 3362325"/>
              <a:gd name="connsiteX34" fmla="*/ 1047750 w 1209675"/>
              <a:gd name="connsiteY34" fmla="*/ 2619375 h 3362325"/>
              <a:gd name="connsiteX35" fmla="*/ 1028700 w 1209675"/>
              <a:gd name="connsiteY35" fmla="*/ 2676525 h 3362325"/>
              <a:gd name="connsiteX36" fmla="*/ 1009650 w 1209675"/>
              <a:gd name="connsiteY36" fmla="*/ 2752725 h 3362325"/>
              <a:gd name="connsiteX37" fmla="*/ 971550 w 1209675"/>
              <a:gd name="connsiteY37" fmla="*/ 2809875 h 3362325"/>
              <a:gd name="connsiteX38" fmla="*/ 733425 w 1209675"/>
              <a:gd name="connsiteY38" fmla="*/ 2981325 h 3362325"/>
              <a:gd name="connsiteX39" fmla="*/ 590550 w 1209675"/>
              <a:gd name="connsiteY39" fmla="*/ 3095625 h 3362325"/>
              <a:gd name="connsiteX40" fmla="*/ 495300 w 1209675"/>
              <a:gd name="connsiteY40" fmla="*/ 3219450 h 3362325"/>
              <a:gd name="connsiteX41" fmla="*/ 476250 w 1209675"/>
              <a:gd name="connsiteY41" fmla="*/ 3267075 h 3362325"/>
              <a:gd name="connsiteX42" fmla="*/ 419100 w 1209675"/>
              <a:gd name="connsiteY42" fmla="*/ 3324225 h 3362325"/>
              <a:gd name="connsiteX43" fmla="*/ 409575 w 1209675"/>
              <a:gd name="connsiteY43" fmla="*/ 3362325 h 3362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09675" h="3362325">
                <a:moveTo>
                  <a:pt x="0" y="0"/>
                </a:moveTo>
                <a:cubicBezTo>
                  <a:pt x="66675" y="88900"/>
                  <a:pt x="131653" y="179098"/>
                  <a:pt x="200025" y="266700"/>
                </a:cubicBezTo>
                <a:cubicBezTo>
                  <a:pt x="233292" y="309323"/>
                  <a:pt x="263264" y="355911"/>
                  <a:pt x="304800" y="390525"/>
                </a:cubicBezTo>
                <a:cubicBezTo>
                  <a:pt x="401320" y="470958"/>
                  <a:pt x="325755" y="402167"/>
                  <a:pt x="409575" y="495300"/>
                </a:cubicBezTo>
                <a:cubicBezTo>
                  <a:pt x="421590" y="508650"/>
                  <a:pt x="436648" y="519223"/>
                  <a:pt x="447675" y="533400"/>
                </a:cubicBezTo>
                <a:cubicBezTo>
                  <a:pt x="459041" y="548013"/>
                  <a:pt x="465796" y="565746"/>
                  <a:pt x="476250" y="581025"/>
                </a:cubicBezTo>
                <a:cubicBezTo>
                  <a:pt x="534365" y="665962"/>
                  <a:pt x="568773" y="699395"/>
                  <a:pt x="609600" y="781050"/>
                </a:cubicBezTo>
                <a:cubicBezTo>
                  <a:pt x="617246" y="796343"/>
                  <a:pt x="621575" y="813110"/>
                  <a:pt x="628650" y="828675"/>
                </a:cubicBezTo>
                <a:cubicBezTo>
                  <a:pt x="637463" y="848064"/>
                  <a:pt x="646882" y="867207"/>
                  <a:pt x="657225" y="885825"/>
                </a:cubicBezTo>
                <a:cubicBezTo>
                  <a:pt x="662784" y="895832"/>
                  <a:pt x="671626" y="903939"/>
                  <a:pt x="676275" y="914400"/>
                </a:cubicBezTo>
                <a:cubicBezTo>
                  <a:pt x="684430" y="932750"/>
                  <a:pt x="688975" y="952500"/>
                  <a:pt x="695325" y="971550"/>
                </a:cubicBezTo>
                <a:cubicBezTo>
                  <a:pt x="705932" y="1003371"/>
                  <a:pt x="706402" y="1002345"/>
                  <a:pt x="714375" y="1038225"/>
                </a:cubicBezTo>
                <a:cubicBezTo>
                  <a:pt x="717887" y="1054029"/>
                  <a:pt x="720260" y="1070075"/>
                  <a:pt x="723900" y="1085850"/>
                </a:cubicBezTo>
                <a:cubicBezTo>
                  <a:pt x="729787" y="1111361"/>
                  <a:pt x="737815" y="1136377"/>
                  <a:pt x="742950" y="1162050"/>
                </a:cubicBezTo>
                <a:cubicBezTo>
                  <a:pt x="748388" y="1189241"/>
                  <a:pt x="753929" y="1220872"/>
                  <a:pt x="762000" y="1247775"/>
                </a:cubicBezTo>
                <a:cubicBezTo>
                  <a:pt x="767770" y="1267009"/>
                  <a:pt x="776180" y="1285444"/>
                  <a:pt x="781050" y="1304925"/>
                </a:cubicBezTo>
                <a:cubicBezTo>
                  <a:pt x="790575" y="1343025"/>
                  <a:pt x="797206" y="1381968"/>
                  <a:pt x="809625" y="1419225"/>
                </a:cubicBezTo>
                <a:cubicBezTo>
                  <a:pt x="812800" y="1428750"/>
                  <a:pt x="816392" y="1438146"/>
                  <a:pt x="819150" y="1447800"/>
                </a:cubicBezTo>
                <a:cubicBezTo>
                  <a:pt x="822746" y="1460387"/>
                  <a:pt x="824078" y="1473643"/>
                  <a:pt x="828675" y="1485900"/>
                </a:cubicBezTo>
                <a:cubicBezTo>
                  <a:pt x="833661" y="1499195"/>
                  <a:pt x="841375" y="1511300"/>
                  <a:pt x="847725" y="1524000"/>
                </a:cubicBezTo>
                <a:cubicBezTo>
                  <a:pt x="849620" y="1535368"/>
                  <a:pt x="859197" y="1602199"/>
                  <a:pt x="866775" y="1619250"/>
                </a:cubicBezTo>
                <a:cubicBezTo>
                  <a:pt x="874294" y="1636168"/>
                  <a:pt x="887071" y="1650316"/>
                  <a:pt x="895350" y="1666875"/>
                </a:cubicBezTo>
                <a:cubicBezTo>
                  <a:pt x="932982" y="1742140"/>
                  <a:pt x="936362" y="1773329"/>
                  <a:pt x="981075" y="1847850"/>
                </a:cubicBezTo>
                <a:cubicBezTo>
                  <a:pt x="991535" y="1865283"/>
                  <a:pt x="1008715" y="1878042"/>
                  <a:pt x="1019175" y="1895475"/>
                </a:cubicBezTo>
                <a:cubicBezTo>
                  <a:pt x="1027972" y="1910136"/>
                  <a:pt x="1029922" y="1928154"/>
                  <a:pt x="1038225" y="1943100"/>
                </a:cubicBezTo>
                <a:cubicBezTo>
                  <a:pt x="1045935" y="1956977"/>
                  <a:pt x="1058386" y="1967738"/>
                  <a:pt x="1066800" y="1981200"/>
                </a:cubicBezTo>
                <a:cubicBezTo>
                  <a:pt x="1074325" y="1993241"/>
                  <a:pt x="1077974" y="2007486"/>
                  <a:pt x="1085850" y="2019300"/>
                </a:cubicBezTo>
                <a:cubicBezTo>
                  <a:pt x="1089606" y="2024933"/>
                  <a:pt x="1173798" y="2133177"/>
                  <a:pt x="1181100" y="2152650"/>
                </a:cubicBezTo>
                <a:lnTo>
                  <a:pt x="1209675" y="2228850"/>
                </a:lnTo>
                <a:cubicBezTo>
                  <a:pt x="1206500" y="2266950"/>
                  <a:pt x="1207196" y="2305573"/>
                  <a:pt x="1200150" y="2343150"/>
                </a:cubicBezTo>
                <a:cubicBezTo>
                  <a:pt x="1197533" y="2357106"/>
                  <a:pt x="1186867" y="2368275"/>
                  <a:pt x="1181100" y="2381250"/>
                </a:cubicBezTo>
                <a:cubicBezTo>
                  <a:pt x="1174156" y="2396874"/>
                  <a:pt x="1170353" y="2413929"/>
                  <a:pt x="1162050" y="2428875"/>
                </a:cubicBezTo>
                <a:cubicBezTo>
                  <a:pt x="1154340" y="2442752"/>
                  <a:pt x="1141077" y="2453038"/>
                  <a:pt x="1133475" y="2466975"/>
                </a:cubicBezTo>
                <a:cubicBezTo>
                  <a:pt x="1121896" y="2488203"/>
                  <a:pt x="1115714" y="2512023"/>
                  <a:pt x="1104900" y="2533650"/>
                </a:cubicBezTo>
                <a:cubicBezTo>
                  <a:pt x="1086529" y="2570393"/>
                  <a:pt x="1071680" y="2587469"/>
                  <a:pt x="1047750" y="2619375"/>
                </a:cubicBezTo>
                <a:cubicBezTo>
                  <a:pt x="1041400" y="2638425"/>
                  <a:pt x="1033984" y="2657152"/>
                  <a:pt x="1028700" y="2676525"/>
                </a:cubicBezTo>
                <a:cubicBezTo>
                  <a:pt x="1024176" y="2693113"/>
                  <a:pt x="1019972" y="2734146"/>
                  <a:pt x="1009650" y="2752725"/>
                </a:cubicBezTo>
                <a:cubicBezTo>
                  <a:pt x="998531" y="2772739"/>
                  <a:pt x="986207" y="2792286"/>
                  <a:pt x="971550" y="2809875"/>
                </a:cubicBezTo>
                <a:cubicBezTo>
                  <a:pt x="891525" y="2905905"/>
                  <a:pt x="864144" y="2883285"/>
                  <a:pt x="733425" y="2981325"/>
                </a:cubicBezTo>
                <a:cubicBezTo>
                  <a:pt x="661941" y="3034938"/>
                  <a:pt x="655394" y="3037266"/>
                  <a:pt x="590550" y="3095625"/>
                </a:cubicBezTo>
                <a:cubicBezTo>
                  <a:pt x="552529" y="3129844"/>
                  <a:pt x="518179" y="3173692"/>
                  <a:pt x="495300" y="3219450"/>
                </a:cubicBezTo>
                <a:cubicBezTo>
                  <a:pt x="487654" y="3234743"/>
                  <a:pt x="484553" y="3252129"/>
                  <a:pt x="476250" y="3267075"/>
                </a:cubicBezTo>
                <a:cubicBezTo>
                  <a:pt x="455401" y="3304603"/>
                  <a:pt x="450360" y="3303385"/>
                  <a:pt x="419100" y="3324225"/>
                </a:cubicBezTo>
                <a:lnTo>
                  <a:pt x="409575" y="3362325"/>
                </a:lnTo>
              </a:path>
            </a:pathLst>
          </a:custGeom>
          <a:noFill/>
          <a:ln w="15875" cap="flat" cmpd="sng" algn="ctr">
            <a:solidFill>
              <a:schemeClr val="accent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2" name="Freeform: Shape 21">
            <a:extLst>
              <a:ext uri="{FF2B5EF4-FFF2-40B4-BE49-F238E27FC236}">
                <a16:creationId xmlns:a16="http://schemas.microsoft.com/office/drawing/2014/main" id="{979D69E3-5106-4E5F-85D1-B87CBF173508}"/>
              </a:ext>
            </a:extLst>
          </p:cNvPr>
          <p:cNvSpPr/>
          <p:nvPr/>
        </p:nvSpPr>
        <p:spPr bwMode="auto">
          <a:xfrm>
            <a:off x="8561517" y="1352550"/>
            <a:ext cx="1106358" cy="3400452"/>
          </a:xfrm>
          <a:custGeom>
            <a:avLst/>
            <a:gdLst>
              <a:gd name="connsiteX0" fmla="*/ 1106358 w 1106358"/>
              <a:gd name="connsiteY0" fmla="*/ 0 h 3400452"/>
              <a:gd name="connsiteX1" fmla="*/ 1049208 w 1106358"/>
              <a:gd name="connsiteY1" fmla="*/ 57150 h 3400452"/>
              <a:gd name="connsiteX2" fmla="*/ 887283 w 1106358"/>
              <a:gd name="connsiteY2" fmla="*/ 285750 h 3400452"/>
              <a:gd name="connsiteX3" fmla="*/ 849183 w 1106358"/>
              <a:gd name="connsiteY3" fmla="*/ 342900 h 3400452"/>
              <a:gd name="connsiteX4" fmla="*/ 792033 w 1106358"/>
              <a:gd name="connsiteY4" fmla="*/ 438150 h 3400452"/>
              <a:gd name="connsiteX5" fmla="*/ 706308 w 1106358"/>
              <a:gd name="connsiteY5" fmla="*/ 647700 h 3400452"/>
              <a:gd name="connsiteX6" fmla="*/ 515808 w 1106358"/>
              <a:gd name="connsiteY6" fmla="*/ 800100 h 3400452"/>
              <a:gd name="connsiteX7" fmla="*/ 449133 w 1106358"/>
              <a:gd name="connsiteY7" fmla="*/ 847725 h 3400452"/>
              <a:gd name="connsiteX8" fmla="*/ 382458 w 1106358"/>
              <a:gd name="connsiteY8" fmla="*/ 923925 h 3400452"/>
              <a:gd name="connsiteX9" fmla="*/ 315783 w 1106358"/>
              <a:gd name="connsiteY9" fmla="*/ 990600 h 3400452"/>
              <a:gd name="connsiteX10" fmla="*/ 268158 w 1106358"/>
              <a:gd name="connsiteY10" fmla="*/ 1047750 h 3400452"/>
              <a:gd name="connsiteX11" fmla="*/ 201483 w 1106358"/>
              <a:gd name="connsiteY11" fmla="*/ 1209675 h 3400452"/>
              <a:gd name="connsiteX12" fmla="*/ 191958 w 1106358"/>
              <a:gd name="connsiteY12" fmla="*/ 1266825 h 3400452"/>
              <a:gd name="connsiteX13" fmla="*/ 172908 w 1106358"/>
              <a:gd name="connsiteY13" fmla="*/ 1409700 h 3400452"/>
              <a:gd name="connsiteX14" fmla="*/ 153858 w 1106358"/>
              <a:gd name="connsiteY14" fmla="*/ 1676400 h 3400452"/>
              <a:gd name="connsiteX15" fmla="*/ 115758 w 1106358"/>
              <a:gd name="connsiteY15" fmla="*/ 1838325 h 3400452"/>
              <a:gd name="connsiteX16" fmla="*/ 106233 w 1106358"/>
              <a:gd name="connsiteY16" fmla="*/ 1885950 h 3400452"/>
              <a:gd name="connsiteX17" fmla="*/ 96708 w 1106358"/>
              <a:gd name="connsiteY17" fmla="*/ 1924050 h 3400452"/>
              <a:gd name="connsiteX18" fmla="*/ 77658 w 1106358"/>
              <a:gd name="connsiteY18" fmla="*/ 2057400 h 3400452"/>
              <a:gd name="connsiteX19" fmla="*/ 58608 w 1106358"/>
              <a:gd name="connsiteY19" fmla="*/ 2124075 h 3400452"/>
              <a:gd name="connsiteX20" fmla="*/ 49083 w 1106358"/>
              <a:gd name="connsiteY20" fmla="*/ 2190750 h 3400452"/>
              <a:gd name="connsiteX21" fmla="*/ 10983 w 1106358"/>
              <a:gd name="connsiteY21" fmla="*/ 2314575 h 3400452"/>
              <a:gd name="connsiteX22" fmla="*/ 1458 w 1106358"/>
              <a:gd name="connsiteY22" fmla="*/ 2362200 h 3400452"/>
              <a:gd name="connsiteX23" fmla="*/ 10983 w 1106358"/>
              <a:gd name="connsiteY23" fmla="*/ 2609850 h 3400452"/>
              <a:gd name="connsiteX24" fmla="*/ 96708 w 1106358"/>
              <a:gd name="connsiteY24" fmla="*/ 2752725 h 3400452"/>
              <a:gd name="connsiteX25" fmla="*/ 125283 w 1106358"/>
              <a:gd name="connsiteY25" fmla="*/ 2809875 h 3400452"/>
              <a:gd name="connsiteX26" fmla="*/ 144333 w 1106358"/>
              <a:gd name="connsiteY26" fmla="*/ 2857500 h 3400452"/>
              <a:gd name="connsiteX27" fmla="*/ 191958 w 1106358"/>
              <a:gd name="connsiteY27" fmla="*/ 2943225 h 3400452"/>
              <a:gd name="connsiteX28" fmla="*/ 258633 w 1106358"/>
              <a:gd name="connsiteY28" fmla="*/ 3086100 h 3400452"/>
              <a:gd name="connsiteX29" fmla="*/ 315783 w 1106358"/>
              <a:gd name="connsiteY29" fmla="*/ 3143250 h 3400452"/>
              <a:gd name="connsiteX30" fmla="*/ 391983 w 1106358"/>
              <a:gd name="connsiteY30" fmla="*/ 3209925 h 3400452"/>
              <a:gd name="connsiteX31" fmla="*/ 553908 w 1106358"/>
              <a:gd name="connsiteY31" fmla="*/ 3267075 h 3400452"/>
              <a:gd name="connsiteX32" fmla="*/ 601533 w 1106358"/>
              <a:gd name="connsiteY32" fmla="*/ 3286125 h 3400452"/>
              <a:gd name="connsiteX33" fmla="*/ 792033 w 1106358"/>
              <a:gd name="connsiteY33" fmla="*/ 3314700 h 3400452"/>
              <a:gd name="connsiteX34" fmla="*/ 915858 w 1106358"/>
              <a:gd name="connsiteY34" fmla="*/ 3400425 h 340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106358" h="3400452">
                <a:moveTo>
                  <a:pt x="1106358" y="0"/>
                </a:moveTo>
                <a:cubicBezTo>
                  <a:pt x="1087308" y="19050"/>
                  <a:pt x="1065600" y="35770"/>
                  <a:pt x="1049208" y="57150"/>
                </a:cubicBezTo>
                <a:cubicBezTo>
                  <a:pt x="992393" y="131257"/>
                  <a:pt x="940833" y="209250"/>
                  <a:pt x="887283" y="285750"/>
                </a:cubicBezTo>
                <a:cubicBezTo>
                  <a:pt x="874153" y="304507"/>
                  <a:pt x="860963" y="323267"/>
                  <a:pt x="849183" y="342900"/>
                </a:cubicBezTo>
                <a:lnTo>
                  <a:pt x="792033" y="438150"/>
                </a:lnTo>
                <a:cubicBezTo>
                  <a:pt x="770869" y="515751"/>
                  <a:pt x="761145" y="583186"/>
                  <a:pt x="706308" y="647700"/>
                </a:cubicBezTo>
                <a:cubicBezTo>
                  <a:pt x="694930" y="661086"/>
                  <a:pt x="539751" y="782143"/>
                  <a:pt x="515808" y="800100"/>
                </a:cubicBezTo>
                <a:cubicBezTo>
                  <a:pt x="493958" y="816487"/>
                  <a:pt x="467118" y="827170"/>
                  <a:pt x="449133" y="847725"/>
                </a:cubicBezTo>
                <a:cubicBezTo>
                  <a:pt x="426908" y="873125"/>
                  <a:pt x="405487" y="899251"/>
                  <a:pt x="382458" y="923925"/>
                </a:cubicBezTo>
                <a:cubicBezTo>
                  <a:pt x="361012" y="946903"/>
                  <a:pt x="336809" y="967238"/>
                  <a:pt x="315783" y="990600"/>
                </a:cubicBezTo>
                <a:cubicBezTo>
                  <a:pt x="196434" y="1123210"/>
                  <a:pt x="414057" y="901851"/>
                  <a:pt x="268158" y="1047750"/>
                </a:cubicBezTo>
                <a:cubicBezTo>
                  <a:pt x="249438" y="1089871"/>
                  <a:pt x="214668" y="1163528"/>
                  <a:pt x="201483" y="1209675"/>
                </a:cubicBezTo>
                <a:cubicBezTo>
                  <a:pt x="196177" y="1228245"/>
                  <a:pt x="194510" y="1247682"/>
                  <a:pt x="191958" y="1266825"/>
                </a:cubicBezTo>
                <a:cubicBezTo>
                  <a:pt x="168643" y="1441691"/>
                  <a:pt x="194990" y="1277205"/>
                  <a:pt x="172908" y="1409700"/>
                </a:cubicBezTo>
                <a:cubicBezTo>
                  <a:pt x="169036" y="1483268"/>
                  <a:pt x="166644" y="1595420"/>
                  <a:pt x="153858" y="1676400"/>
                </a:cubicBezTo>
                <a:cubicBezTo>
                  <a:pt x="135363" y="1793538"/>
                  <a:pt x="140071" y="1741072"/>
                  <a:pt x="115758" y="1838325"/>
                </a:cubicBezTo>
                <a:cubicBezTo>
                  <a:pt x="111831" y="1854031"/>
                  <a:pt x="109745" y="1870146"/>
                  <a:pt x="106233" y="1885950"/>
                </a:cubicBezTo>
                <a:cubicBezTo>
                  <a:pt x="103393" y="1898729"/>
                  <a:pt x="99548" y="1911271"/>
                  <a:pt x="96708" y="1924050"/>
                </a:cubicBezTo>
                <a:cubicBezTo>
                  <a:pt x="62614" y="2077474"/>
                  <a:pt x="122590" y="1817764"/>
                  <a:pt x="77658" y="2057400"/>
                </a:cubicBezTo>
                <a:cubicBezTo>
                  <a:pt x="73398" y="2080118"/>
                  <a:pt x="63451" y="2101474"/>
                  <a:pt x="58608" y="2124075"/>
                </a:cubicBezTo>
                <a:cubicBezTo>
                  <a:pt x="53904" y="2146027"/>
                  <a:pt x="53486" y="2168735"/>
                  <a:pt x="49083" y="2190750"/>
                </a:cubicBezTo>
                <a:cubicBezTo>
                  <a:pt x="17774" y="2347295"/>
                  <a:pt x="45054" y="2201004"/>
                  <a:pt x="10983" y="2314575"/>
                </a:cubicBezTo>
                <a:cubicBezTo>
                  <a:pt x="6331" y="2330082"/>
                  <a:pt x="4633" y="2346325"/>
                  <a:pt x="1458" y="2362200"/>
                </a:cubicBezTo>
                <a:cubicBezTo>
                  <a:pt x="4633" y="2444750"/>
                  <a:pt x="-8592" y="2529592"/>
                  <a:pt x="10983" y="2609850"/>
                </a:cubicBezTo>
                <a:cubicBezTo>
                  <a:pt x="24144" y="2663808"/>
                  <a:pt x="71870" y="2703049"/>
                  <a:pt x="96708" y="2752725"/>
                </a:cubicBezTo>
                <a:cubicBezTo>
                  <a:pt x="106233" y="2771775"/>
                  <a:pt x="116470" y="2790486"/>
                  <a:pt x="125283" y="2809875"/>
                </a:cubicBezTo>
                <a:cubicBezTo>
                  <a:pt x="132358" y="2825440"/>
                  <a:pt x="136687" y="2842207"/>
                  <a:pt x="144333" y="2857500"/>
                </a:cubicBezTo>
                <a:cubicBezTo>
                  <a:pt x="158952" y="2886738"/>
                  <a:pt x="177339" y="2913987"/>
                  <a:pt x="191958" y="2943225"/>
                </a:cubicBezTo>
                <a:cubicBezTo>
                  <a:pt x="193755" y="2946818"/>
                  <a:pt x="246692" y="3070179"/>
                  <a:pt x="258633" y="3086100"/>
                </a:cubicBezTo>
                <a:cubicBezTo>
                  <a:pt x="274797" y="3107653"/>
                  <a:pt x="296041" y="3124918"/>
                  <a:pt x="315783" y="3143250"/>
                </a:cubicBezTo>
                <a:cubicBezTo>
                  <a:pt x="340515" y="3166216"/>
                  <a:pt x="362039" y="3194354"/>
                  <a:pt x="391983" y="3209925"/>
                </a:cubicBezTo>
                <a:cubicBezTo>
                  <a:pt x="442766" y="3236332"/>
                  <a:pt x="500764" y="3245817"/>
                  <a:pt x="553908" y="3267075"/>
                </a:cubicBezTo>
                <a:cubicBezTo>
                  <a:pt x="569783" y="3273425"/>
                  <a:pt x="585012" y="3281720"/>
                  <a:pt x="601533" y="3286125"/>
                </a:cubicBezTo>
                <a:cubicBezTo>
                  <a:pt x="677456" y="3306371"/>
                  <a:pt x="714445" y="3306941"/>
                  <a:pt x="792033" y="3314700"/>
                </a:cubicBezTo>
                <a:cubicBezTo>
                  <a:pt x="901723" y="3404446"/>
                  <a:pt x="851683" y="3400425"/>
                  <a:pt x="915858" y="3400425"/>
                </a:cubicBezTo>
              </a:path>
            </a:pathLst>
          </a:custGeom>
          <a:noFill/>
          <a:ln w="1587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3" name="TextBox 22">
            <a:extLst>
              <a:ext uri="{FF2B5EF4-FFF2-40B4-BE49-F238E27FC236}">
                <a16:creationId xmlns:a16="http://schemas.microsoft.com/office/drawing/2014/main" id="{071A4CD7-C99F-4D18-8B5E-D167C2E7D254}"/>
              </a:ext>
            </a:extLst>
          </p:cNvPr>
          <p:cNvSpPr txBox="1"/>
          <p:nvPr/>
        </p:nvSpPr>
        <p:spPr>
          <a:xfrm>
            <a:off x="7564492" y="1089309"/>
            <a:ext cx="1274708" cy="369332"/>
          </a:xfrm>
          <a:prstGeom prst="rect">
            <a:avLst/>
          </a:prstGeom>
          <a:noFill/>
        </p:spPr>
        <p:txBody>
          <a:bodyPr wrap="none" rtlCol="0" anchor="ctr" anchorCtr="1">
            <a:spAutoFit/>
          </a:bodyPr>
          <a:lstStyle/>
          <a:p>
            <a:r>
              <a:rPr lang="en-US" dirty="0">
                <a:ea typeface="標楷體" pitchFamily="65" charset="-120"/>
                <a:cs typeface="Calibri" pitchFamily="34" charset="0"/>
              </a:rPr>
              <a:t>Example 2</a:t>
            </a:r>
          </a:p>
        </p:txBody>
      </p:sp>
    </p:spTree>
    <p:extLst>
      <p:ext uri="{BB962C8B-B14F-4D97-AF65-F5344CB8AC3E}">
        <p14:creationId xmlns:p14="http://schemas.microsoft.com/office/powerpoint/2010/main" val="13577661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AU" altLang="zh-TW" dirty="0">
                <a:ea typeface="新細明體" panose="02020500000000000000" pitchFamily="18" charset="-120"/>
              </a:rPr>
              <a:t>Prediction: Whether and Where</a:t>
            </a:r>
          </a:p>
        </p:txBody>
      </p:sp>
      <p:sp>
        <p:nvSpPr>
          <p:cNvPr id="106499" name="Rectangle 3"/>
          <p:cNvSpPr>
            <a:spLocks noGrp="1" noChangeArrowheads="1"/>
          </p:cNvSpPr>
          <p:nvPr>
            <p:ph idx="1"/>
          </p:nvPr>
        </p:nvSpPr>
        <p:spPr>
          <a:xfrm>
            <a:off x="323850" y="1019142"/>
            <a:ext cx="11249585" cy="4819715"/>
          </a:xfrm>
        </p:spPr>
        <p:txBody>
          <a:bodyPr/>
          <a:lstStyle/>
          <a:p>
            <a:r>
              <a:rPr lang="en-US" altLang="zh-TW" sz="2667" dirty="0">
                <a:solidFill>
                  <a:srgbClr val="FF0000"/>
                </a:solidFill>
              </a:rPr>
              <a:t>Whether</a:t>
            </a:r>
            <a:r>
              <a:rPr lang="en-US" altLang="zh-TW" sz="2667" dirty="0"/>
              <a:t>: need to predict the branch is taken or not</a:t>
            </a:r>
          </a:p>
          <a:p>
            <a:r>
              <a:rPr lang="en-US" altLang="zh-TW" sz="2667" dirty="0">
                <a:solidFill>
                  <a:srgbClr val="FF0000"/>
                </a:solidFill>
              </a:rPr>
              <a:t>Where</a:t>
            </a:r>
            <a:r>
              <a:rPr lang="en-US" altLang="zh-TW" sz="2667" dirty="0"/>
              <a:t>: need to know where does the branch jump to?</a:t>
            </a:r>
          </a:p>
          <a:p>
            <a:r>
              <a:rPr lang="en-US" altLang="zh-TW" sz="2667" dirty="0"/>
              <a:t>Even with predictor, still need to calculate the target address</a:t>
            </a:r>
          </a:p>
          <a:p>
            <a:pPr lvl="1"/>
            <a:r>
              <a:rPr lang="en-US" altLang="zh-TW" sz="2400" dirty="0"/>
              <a:t>1-cycle or 2-cycle penalty for a taken branch (depends on whether the target address is calculated in the ID or in the EXE stage)</a:t>
            </a:r>
          </a:p>
          <a:p>
            <a:r>
              <a:rPr lang="en-US" altLang="zh-TW" sz="2667" dirty="0"/>
              <a:t>Branch Target Buffer (BTB)</a:t>
            </a:r>
          </a:p>
          <a:p>
            <a:pPr lvl="1"/>
            <a:r>
              <a:rPr lang="en-US" altLang="zh-TW" sz="2400" dirty="0"/>
              <a:t>Cache of target addresses</a:t>
            </a:r>
          </a:p>
          <a:p>
            <a:pPr lvl="1"/>
            <a:r>
              <a:rPr lang="en-US" altLang="zh-TW" sz="2400" dirty="0"/>
              <a:t>Target addresses are usually unchanged (</a:t>
            </a:r>
            <a:r>
              <a:rPr lang="en-US" altLang="zh-TW" sz="2400" i="1" dirty="0">
                <a:solidFill>
                  <a:srgbClr val="FF0000"/>
                </a:solidFill>
              </a:rPr>
              <a:t>immediate is not changed</a:t>
            </a:r>
            <a:r>
              <a:rPr lang="en-US" altLang="zh-TW" sz="2400" dirty="0"/>
              <a:t>)</a:t>
            </a:r>
          </a:p>
          <a:p>
            <a:pPr lvl="1"/>
            <a:r>
              <a:rPr lang="en-US" altLang="zh-TW" sz="2400" dirty="0"/>
              <a:t>Indexed by PC when instruction fetched</a:t>
            </a:r>
          </a:p>
          <a:p>
            <a:pPr lvl="2"/>
            <a:r>
              <a:rPr lang="en-US" altLang="zh-TW" sz="2133" dirty="0"/>
              <a:t>If hit and instruction is branch predicted taken, it can fetch the target immediately</a:t>
            </a:r>
          </a:p>
          <a:p>
            <a:r>
              <a:rPr lang="en-AU" altLang="zh-TW" sz="3199" dirty="0">
                <a:ea typeface="新細明體" panose="02020500000000000000" pitchFamily="18" charset="-120"/>
              </a:rPr>
              <a:t>How about </a:t>
            </a:r>
            <a:r>
              <a:rPr lang="en-AU" altLang="zh-TW" sz="3199" i="1" dirty="0">
                <a:solidFill>
                  <a:srgbClr val="FF0000"/>
                </a:solidFill>
                <a:ea typeface="新細明體" panose="02020500000000000000" pitchFamily="18" charset="-120"/>
              </a:rPr>
              <a:t>indirect branch</a:t>
            </a:r>
            <a:r>
              <a:rPr lang="en-AU" altLang="zh-TW" sz="3199" dirty="0">
                <a:ea typeface="新細明體" panose="02020500000000000000" pitchFamily="18" charset="-120"/>
              </a:rPr>
              <a:t>? </a:t>
            </a:r>
            <a:r>
              <a:rPr lang="en-AU" altLang="zh-TW" sz="3199" i="1" dirty="0">
                <a:solidFill>
                  <a:srgbClr val="FF0000"/>
                </a:solidFill>
                <a:ea typeface="新細明體" panose="02020500000000000000" pitchFamily="18" charset="-120"/>
              </a:rPr>
              <a:t>Function returns</a:t>
            </a:r>
            <a:r>
              <a:rPr lang="en-AU" altLang="zh-TW" sz="3199" dirty="0">
                <a:ea typeface="新細明體" panose="02020500000000000000" pitchFamily="18" charset="-120"/>
              </a:rPr>
              <a:t>? </a:t>
            </a:r>
            <a:r>
              <a:rPr lang="en-AU" altLang="zh-TW" sz="3199" i="1" dirty="0">
                <a:solidFill>
                  <a:srgbClr val="FF0000"/>
                </a:solidFill>
                <a:ea typeface="新細明體" panose="02020500000000000000" pitchFamily="18" charset="-120"/>
              </a:rPr>
              <a:t>Function pointers</a:t>
            </a:r>
            <a:r>
              <a:rPr lang="en-AU" altLang="zh-TW" sz="3199" dirty="0">
                <a:ea typeface="新細明體" panose="02020500000000000000" pitchFamily="18" charset="-120"/>
              </a:rPr>
              <a:t>?</a:t>
            </a:r>
          </a:p>
        </p:txBody>
      </p:sp>
      <p:sp>
        <p:nvSpPr>
          <p:cNvPr id="106500"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80C97838-98F0-4631-AC0E-58B03BA5C179}" type="slidenum">
              <a:rPr lang="zh-TW" altLang="en-US" sz="1400" b="0">
                <a:solidFill>
                  <a:schemeClr val="bg1"/>
                </a:solidFill>
                <a:latin typeface="Arial" panose="020B0604020202090204" pitchFamily="34" charset="0"/>
                <a:ea typeface="新細明體" panose="02020500000000000000" pitchFamily="18" charset="-120"/>
              </a:rPr>
              <a:t>37</a:t>
            </a:fld>
            <a:endParaRPr lang="en-US" altLang="zh-TW" sz="1400" b="0">
              <a:solidFill>
                <a:schemeClr val="bg1"/>
              </a:solidFill>
              <a:latin typeface="Arial" panose="020B0604020202090204" pitchFamily="34" charset="0"/>
              <a:ea typeface="新細明體" panose="02020500000000000000" pitchFamily="18" charset="-120"/>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US" altLang="zh-TW" dirty="0"/>
              <a:t>Branch Target Buffer</a:t>
            </a:r>
            <a:endParaRPr lang="en-AU" altLang="zh-TW" dirty="0">
              <a:ea typeface="新細明體" panose="02020500000000000000" pitchFamily="18" charset="-120"/>
            </a:endParaRPr>
          </a:p>
        </p:txBody>
      </p:sp>
      <p:sp>
        <p:nvSpPr>
          <p:cNvPr id="106500"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80C97838-98F0-4631-AC0E-58B03BA5C179}" type="slidenum">
              <a:rPr lang="zh-TW" altLang="en-US" sz="1400" b="0">
                <a:solidFill>
                  <a:schemeClr val="bg1"/>
                </a:solidFill>
                <a:latin typeface="Arial" panose="020B0604020202090204" pitchFamily="34" charset="0"/>
                <a:ea typeface="新細明體" panose="02020500000000000000" pitchFamily="18" charset="-120"/>
              </a:rPr>
              <a:t>38</a:t>
            </a:fld>
            <a:endParaRPr lang="en-US" altLang="zh-TW" sz="1400" b="0">
              <a:solidFill>
                <a:schemeClr val="bg1"/>
              </a:solidFill>
              <a:latin typeface="Arial" panose="020B0604020202090204" pitchFamily="34" charset="0"/>
              <a:ea typeface="新細明體" panose="02020500000000000000" pitchFamily="18" charset="-120"/>
            </a:endParaRPr>
          </a:p>
        </p:txBody>
      </p:sp>
      <p:pic>
        <p:nvPicPr>
          <p:cNvPr id="5" name="Picture 4">
            <a:extLst>
              <a:ext uri="{FF2B5EF4-FFF2-40B4-BE49-F238E27FC236}">
                <a16:creationId xmlns:a16="http://schemas.microsoft.com/office/drawing/2014/main" id="{0A18224C-139A-4AF4-9289-CA0443F530AB}"/>
              </a:ext>
            </a:extLst>
          </p:cNvPr>
          <p:cNvPicPr>
            <a:picLocks noChangeAspect="1"/>
          </p:cNvPicPr>
          <p:nvPr/>
        </p:nvPicPr>
        <p:blipFill>
          <a:blip r:embed="rId3"/>
          <a:stretch>
            <a:fillRect/>
          </a:stretch>
        </p:blipFill>
        <p:spPr>
          <a:xfrm>
            <a:off x="219354" y="1460796"/>
            <a:ext cx="10311063" cy="4627183"/>
          </a:xfrm>
          <a:prstGeom prst="rect">
            <a:avLst/>
          </a:prstGeom>
        </p:spPr>
      </p:pic>
    </p:spTree>
    <p:extLst>
      <p:ext uri="{BB962C8B-B14F-4D97-AF65-F5344CB8AC3E}">
        <p14:creationId xmlns:p14="http://schemas.microsoft.com/office/powerpoint/2010/main" val="1076231488"/>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4000" dirty="0"/>
              <a:t>Control Signals Used at Each Stage</a:t>
            </a:r>
          </a:p>
        </p:txBody>
      </p:sp>
      <p:sp>
        <p:nvSpPr>
          <p:cNvPr id="6" name="内容占位符 5"/>
          <p:cNvSpPr>
            <a:spLocks noGrp="1"/>
          </p:cNvSpPr>
          <p:nvPr>
            <p:ph idx="1"/>
          </p:nvPr>
        </p:nvSpPr>
        <p:spPr>
          <a:xfrm>
            <a:off x="594788" y="912805"/>
            <a:ext cx="10972800" cy="5293442"/>
          </a:xfrm>
        </p:spPr>
        <p:txBody>
          <a:bodyPr/>
          <a:lstStyle/>
          <a:p>
            <a:r>
              <a:rPr lang="en-US" altLang="zh-CN" sz="2600" dirty="0"/>
              <a:t>ID stage</a:t>
            </a:r>
          </a:p>
          <a:p>
            <a:pPr lvl="1"/>
            <a:r>
              <a:rPr lang="en-US" altLang="zh-CN" sz="2000" dirty="0"/>
              <a:t>Data path: rs1, rs2 designators </a:t>
            </a:r>
          </a:p>
          <a:p>
            <a:pPr lvl="1"/>
            <a:r>
              <a:rPr lang="en-US" altLang="zh-CN" sz="2000" dirty="0"/>
              <a:t>Control: </a:t>
            </a:r>
            <a:r>
              <a:rPr lang="en-US" altLang="zh-CN" sz="2000" dirty="0" err="1"/>
              <a:t>immed_sel</a:t>
            </a:r>
            <a:r>
              <a:rPr lang="en-US" altLang="zh-CN" sz="2000" dirty="0"/>
              <a:t>, </a:t>
            </a:r>
          </a:p>
          <a:p>
            <a:pPr lvl="1"/>
            <a:r>
              <a:rPr lang="en-US" altLang="zh-CN" sz="2000" dirty="0"/>
              <a:t>Rd, and </a:t>
            </a:r>
            <a:r>
              <a:rPr lang="en-US" altLang="zh-CN" sz="2000" dirty="0" err="1"/>
              <a:t>WRen</a:t>
            </a:r>
            <a:r>
              <a:rPr lang="en-US" altLang="zh-CN" sz="2000" dirty="0"/>
              <a:t>, are actually from the WB stage (</a:t>
            </a:r>
            <a:r>
              <a:rPr lang="en-US" altLang="zh-CN" sz="2000" dirty="0">
                <a:solidFill>
                  <a:srgbClr val="FF0000"/>
                </a:solidFill>
              </a:rPr>
              <a:t>Unlike the single cycle data path !!</a:t>
            </a:r>
            <a:r>
              <a:rPr lang="en-US" altLang="zh-CN" sz="2000" dirty="0"/>
              <a:t>)</a:t>
            </a:r>
          </a:p>
          <a:p>
            <a:r>
              <a:rPr lang="en-US" altLang="zh-CN" sz="2600" dirty="0"/>
              <a:t>EX stage</a:t>
            </a:r>
          </a:p>
          <a:p>
            <a:pPr lvl="1"/>
            <a:r>
              <a:rPr lang="en-US" altLang="zh-CN" sz="2000" dirty="0"/>
              <a:t>Data Path: rs1, rs2 contents, PC, </a:t>
            </a:r>
            <a:r>
              <a:rPr lang="en-US" altLang="zh-CN" sz="2000" dirty="0" err="1"/>
              <a:t>immed</a:t>
            </a:r>
            <a:r>
              <a:rPr lang="en-US" altLang="zh-CN" sz="2000" dirty="0"/>
              <a:t> value,</a:t>
            </a:r>
          </a:p>
          <a:p>
            <a:pPr lvl="1"/>
            <a:r>
              <a:rPr lang="en-US" altLang="zh-CN" sz="2000" dirty="0"/>
              <a:t>Control: </a:t>
            </a:r>
            <a:r>
              <a:rPr lang="en-US" altLang="zh-CN" sz="2000" dirty="0" err="1"/>
              <a:t>Asel</a:t>
            </a:r>
            <a:r>
              <a:rPr lang="en-US" altLang="zh-CN" sz="2000" dirty="0"/>
              <a:t>, </a:t>
            </a:r>
            <a:r>
              <a:rPr lang="en-US" altLang="zh-CN" sz="2000" dirty="0" err="1"/>
              <a:t>Bsel</a:t>
            </a:r>
            <a:r>
              <a:rPr lang="en-US" altLang="zh-CN" sz="2000" dirty="0"/>
              <a:t>, </a:t>
            </a:r>
            <a:r>
              <a:rPr lang="en-US" altLang="zh-CN" sz="2000" dirty="0" err="1"/>
              <a:t>ALUsel</a:t>
            </a:r>
            <a:endParaRPr lang="en-US" altLang="zh-CN" sz="2000" dirty="0"/>
          </a:p>
          <a:p>
            <a:r>
              <a:rPr lang="en-US" altLang="zh-CN" sz="2600" dirty="0"/>
              <a:t>MEM stage</a:t>
            </a:r>
          </a:p>
          <a:p>
            <a:pPr lvl="1"/>
            <a:r>
              <a:rPr lang="en-US" altLang="zh-CN" sz="2000" dirty="0"/>
              <a:t>Data path: </a:t>
            </a:r>
            <a:r>
              <a:rPr lang="en-US" altLang="zh-CN" sz="2000" dirty="0" err="1"/>
              <a:t>ALUout</a:t>
            </a:r>
            <a:r>
              <a:rPr lang="en-US" altLang="zh-CN" sz="2000" dirty="0"/>
              <a:t>(Address), rs2 content,</a:t>
            </a:r>
          </a:p>
          <a:p>
            <a:pPr lvl="1"/>
            <a:r>
              <a:rPr lang="en-US" altLang="zh-CN" sz="2000" dirty="0"/>
              <a:t>Control: </a:t>
            </a:r>
            <a:r>
              <a:rPr lang="en-US" altLang="zh-CN" sz="2000" dirty="0" err="1"/>
              <a:t>MemRW</a:t>
            </a:r>
            <a:r>
              <a:rPr lang="en-US" altLang="zh-CN" sz="2000" dirty="0"/>
              <a:t> (read/write),</a:t>
            </a:r>
            <a:r>
              <a:rPr lang="en-US" altLang="zh-CN" sz="2000" dirty="0" err="1"/>
              <a:t>BrLt,Breq</a:t>
            </a:r>
            <a:endParaRPr lang="en-US" altLang="zh-CN" sz="2000" dirty="0"/>
          </a:p>
          <a:p>
            <a:r>
              <a:rPr lang="en-US" altLang="zh-CN" sz="2600" dirty="0"/>
              <a:t>WB stage</a:t>
            </a:r>
          </a:p>
          <a:p>
            <a:pPr lvl="1"/>
            <a:r>
              <a:rPr lang="en-US" altLang="zh-CN" sz="2000" dirty="0"/>
              <a:t>Data path: </a:t>
            </a:r>
            <a:r>
              <a:rPr lang="en-US" altLang="zh-CN" sz="2000" dirty="0" err="1"/>
              <a:t>ALUout</a:t>
            </a:r>
            <a:r>
              <a:rPr lang="en-US" altLang="zh-CN" sz="2000" dirty="0"/>
              <a:t>, PC+4(for link reg), </a:t>
            </a:r>
            <a:r>
              <a:rPr lang="en-US" altLang="zh-CN" sz="2000" dirty="0" err="1"/>
              <a:t>MEMout</a:t>
            </a:r>
            <a:r>
              <a:rPr lang="en-US" altLang="zh-CN" sz="2000" dirty="0"/>
              <a:t>, </a:t>
            </a:r>
          </a:p>
          <a:p>
            <a:pPr lvl="1"/>
            <a:r>
              <a:rPr lang="en-US" altLang="zh-CN" sz="2000" dirty="0"/>
              <a:t>Control: </a:t>
            </a:r>
            <a:r>
              <a:rPr lang="en-US" altLang="zh-CN" sz="2000" dirty="0" err="1"/>
              <a:t>Wbsel</a:t>
            </a:r>
            <a:r>
              <a:rPr lang="en-US" altLang="zh-CN" sz="2000" dirty="0"/>
              <a:t>, </a:t>
            </a:r>
            <a:r>
              <a:rPr lang="en-US" altLang="zh-CN" sz="2000" dirty="0" err="1">
                <a:solidFill>
                  <a:srgbClr val="FF0000"/>
                </a:solidFill>
              </a:rPr>
              <a:t>rd</a:t>
            </a:r>
            <a:r>
              <a:rPr lang="en-US" altLang="zh-CN" sz="2000" dirty="0">
                <a:solidFill>
                  <a:srgbClr val="FF0000"/>
                </a:solidFill>
              </a:rPr>
              <a:t> designator, </a:t>
            </a:r>
            <a:r>
              <a:rPr lang="en-US" altLang="zh-CN" sz="2000" dirty="0" err="1">
                <a:solidFill>
                  <a:srgbClr val="FF0000"/>
                </a:solidFill>
              </a:rPr>
              <a:t>WRen</a:t>
            </a:r>
            <a:endParaRPr lang="en-US" altLang="zh-CN" sz="2000" dirty="0">
              <a:solidFill>
                <a:srgbClr val="FF0000"/>
              </a:solidFill>
            </a:endParaRPr>
          </a:p>
          <a:p>
            <a:pPr lvl="1"/>
            <a:endParaRPr lang="en-US" altLang="zh-CN" sz="2067" dirty="0"/>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39</a:t>
            </a:fld>
            <a:endParaRPr lang="zh-TW" altLang="en-US">
              <a:solidFill>
                <a:prstClr val="white"/>
              </a:solidFill>
            </a:endParaRPr>
          </a:p>
        </p:txBody>
      </p:sp>
      <p:pic>
        <p:nvPicPr>
          <p:cNvPr id="7" name="Picture 6">
            <a:extLst>
              <a:ext uri="{FF2B5EF4-FFF2-40B4-BE49-F238E27FC236}">
                <a16:creationId xmlns:a16="http://schemas.microsoft.com/office/drawing/2014/main" id="{AD3F12F3-D17B-4E67-9927-7021FC7C796D}"/>
              </a:ext>
            </a:extLst>
          </p:cNvPr>
          <p:cNvPicPr>
            <a:picLocks noChangeAspect="1"/>
          </p:cNvPicPr>
          <p:nvPr/>
        </p:nvPicPr>
        <p:blipFill>
          <a:blip r:embed="rId3"/>
          <a:stretch>
            <a:fillRect/>
          </a:stretch>
        </p:blipFill>
        <p:spPr>
          <a:xfrm>
            <a:off x="6391073" y="2529192"/>
            <a:ext cx="5713378" cy="3521412"/>
          </a:xfrm>
          <a:prstGeom prst="rect">
            <a:avLst/>
          </a:prstGeom>
        </p:spPr>
      </p:pic>
    </p:spTree>
    <p:extLst>
      <p:ext uri="{BB962C8B-B14F-4D97-AF65-F5344CB8AC3E}">
        <p14:creationId xmlns:p14="http://schemas.microsoft.com/office/powerpoint/2010/main" val="29518002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316905" y="2672707"/>
            <a:ext cx="9077325" cy="3621101"/>
            <a:chOff x="1293019" y="2114550"/>
            <a:chExt cx="6807994" cy="2715826"/>
          </a:xfrm>
        </p:grpSpPr>
        <p:sp>
          <p:nvSpPr>
            <p:cNvPr id="45058" name="Rectangle 2"/>
            <p:cNvSpPr>
              <a:spLocks noChangeArrowheads="1"/>
            </p:cNvSpPr>
            <p:nvPr/>
          </p:nvSpPr>
          <p:spPr bwMode="auto">
            <a:xfrm>
              <a:off x="1293019" y="2752725"/>
              <a:ext cx="234554" cy="192405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45059" name="Rectangle 3"/>
            <p:cNvSpPr>
              <a:spLocks noChangeArrowheads="1"/>
            </p:cNvSpPr>
            <p:nvPr/>
          </p:nvSpPr>
          <p:spPr bwMode="auto">
            <a:xfrm rot="5400000">
              <a:off x="879346" y="3614935"/>
              <a:ext cx="1094050"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ct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IF/ID Register</a:t>
              </a:r>
            </a:p>
          </p:txBody>
        </p:sp>
        <p:sp>
          <p:nvSpPr>
            <p:cNvPr id="45060" name="Line 4"/>
            <p:cNvSpPr>
              <a:spLocks noChangeShapeType="1"/>
            </p:cNvSpPr>
            <p:nvPr/>
          </p:nvSpPr>
          <p:spPr bwMode="auto">
            <a:xfrm>
              <a:off x="1414463" y="2514600"/>
              <a:ext cx="0"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1" name="Rectangle 5"/>
            <p:cNvSpPr>
              <a:spLocks noChangeArrowheads="1"/>
            </p:cNvSpPr>
            <p:nvPr/>
          </p:nvSpPr>
          <p:spPr bwMode="auto">
            <a:xfrm>
              <a:off x="3583781" y="2752725"/>
              <a:ext cx="234554" cy="192405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45062" name="Rectangle 6"/>
            <p:cNvSpPr>
              <a:spLocks noChangeArrowheads="1"/>
            </p:cNvSpPr>
            <p:nvPr/>
          </p:nvSpPr>
          <p:spPr bwMode="auto">
            <a:xfrm rot="5400000">
              <a:off x="3157485" y="3569097"/>
              <a:ext cx="1119296"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ct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ID/Ex Register</a:t>
              </a:r>
            </a:p>
          </p:txBody>
        </p:sp>
        <p:sp>
          <p:nvSpPr>
            <p:cNvPr id="45063" name="Rectangle 7"/>
            <p:cNvSpPr>
              <a:spLocks noChangeArrowheads="1"/>
            </p:cNvSpPr>
            <p:nvPr/>
          </p:nvSpPr>
          <p:spPr bwMode="auto">
            <a:xfrm>
              <a:off x="5193506" y="2752725"/>
              <a:ext cx="234554" cy="192405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45064" name="Rectangle 8"/>
            <p:cNvSpPr>
              <a:spLocks noChangeArrowheads="1"/>
            </p:cNvSpPr>
            <p:nvPr/>
          </p:nvSpPr>
          <p:spPr bwMode="auto">
            <a:xfrm rot="5400000">
              <a:off x="4654810" y="3537545"/>
              <a:ext cx="1341713"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ct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Ex/MEM Register</a:t>
              </a:r>
            </a:p>
          </p:txBody>
        </p:sp>
        <p:sp>
          <p:nvSpPr>
            <p:cNvPr id="45065" name="Rectangle 9"/>
            <p:cNvSpPr>
              <a:spLocks noChangeArrowheads="1"/>
            </p:cNvSpPr>
            <p:nvPr/>
          </p:nvSpPr>
          <p:spPr bwMode="auto">
            <a:xfrm>
              <a:off x="6865144" y="2752725"/>
              <a:ext cx="234554" cy="192405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45066" name="Rectangle 10"/>
            <p:cNvSpPr>
              <a:spLocks noChangeArrowheads="1"/>
            </p:cNvSpPr>
            <p:nvPr/>
          </p:nvSpPr>
          <p:spPr bwMode="auto">
            <a:xfrm rot="5400000">
              <a:off x="6286190" y="3557786"/>
              <a:ext cx="1418657"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ct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MEM/WB Register</a:t>
              </a:r>
            </a:p>
          </p:txBody>
        </p:sp>
        <p:sp>
          <p:nvSpPr>
            <p:cNvPr id="45067" name="Oval 11"/>
            <p:cNvSpPr>
              <a:spLocks noChangeArrowheads="1"/>
            </p:cNvSpPr>
            <p:nvPr/>
          </p:nvSpPr>
          <p:spPr bwMode="auto">
            <a:xfrm>
              <a:off x="1363266" y="2638425"/>
              <a:ext cx="102394" cy="9525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45068" name="Line 12"/>
            <p:cNvSpPr>
              <a:spLocks noChangeShapeType="1"/>
            </p:cNvSpPr>
            <p:nvPr/>
          </p:nvSpPr>
          <p:spPr bwMode="auto">
            <a:xfrm>
              <a:off x="3705225" y="2514600"/>
              <a:ext cx="0"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9" name="Oval 13"/>
            <p:cNvSpPr>
              <a:spLocks noChangeArrowheads="1"/>
            </p:cNvSpPr>
            <p:nvPr/>
          </p:nvSpPr>
          <p:spPr bwMode="auto">
            <a:xfrm>
              <a:off x="3654029" y="2638425"/>
              <a:ext cx="102394" cy="9525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45070" name="Line 14"/>
            <p:cNvSpPr>
              <a:spLocks noChangeShapeType="1"/>
            </p:cNvSpPr>
            <p:nvPr/>
          </p:nvSpPr>
          <p:spPr bwMode="auto">
            <a:xfrm>
              <a:off x="5314950" y="2514600"/>
              <a:ext cx="0"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1" name="Oval 15"/>
            <p:cNvSpPr>
              <a:spLocks noChangeArrowheads="1"/>
            </p:cNvSpPr>
            <p:nvPr/>
          </p:nvSpPr>
          <p:spPr bwMode="auto">
            <a:xfrm>
              <a:off x="5263754" y="2638425"/>
              <a:ext cx="102394" cy="9525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45072" name="Line 16"/>
            <p:cNvSpPr>
              <a:spLocks noChangeShapeType="1"/>
            </p:cNvSpPr>
            <p:nvPr/>
          </p:nvSpPr>
          <p:spPr bwMode="auto">
            <a:xfrm>
              <a:off x="6986588" y="2514600"/>
              <a:ext cx="0"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3" name="Oval 17"/>
            <p:cNvSpPr>
              <a:spLocks noChangeArrowheads="1"/>
            </p:cNvSpPr>
            <p:nvPr/>
          </p:nvSpPr>
          <p:spPr bwMode="auto">
            <a:xfrm>
              <a:off x="6935391" y="2638425"/>
              <a:ext cx="102394" cy="9525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45074" name="Line 18"/>
            <p:cNvSpPr>
              <a:spLocks noChangeShapeType="1"/>
            </p:cNvSpPr>
            <p:nvPr/>
          </p:nvSpPr>
          <p:spPr bwMode="auto">
            <a:xfrm flipV="1">
              <a:off x="1414463" y="2114550"/>
              <a:ext cx="0" cy="34290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5" name="Line 19"/>
            <p:cNvSpPr>
              <a:spLocks noChangeShapeType="1"/>
            </p:cNvSpPr>
            <p:nvPr/>
          </p:nvSpPr>
          <p:spPr bwMode="auto">
            <a:xfrm>
              <a:off x="1538288" y="22288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6" name="Line 20"/>
            <p:cNvSpPr>
              <a:spLocks noChangeShapeType="1"/>
            </p:cNvSpPr>
            <p:nvPr/>
          </p:nvSpPr>
          <p:spPr bwMode="auto">
            <a:xfrm>
              <a:off x="1538287" y="2343150"/>
              <a:ext cx="2166938"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7" name="Line 21"/>
            <p:cNvSpPr>
              <a:spLocks noChangeShapeType="1"/>
            </p:cNvSpPr>
            <p:nvPr/>
          </p:nvSpPr>
          <p:spPr bwMode="auto">
            <a:xfrm>
              <a:off x="3829050" y="22288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8" name="Line 22"/>
            <p:cNvSpPr>
              <a:spLocks noChangeShapeType="1"/>
            </p:cNvSpPr>
            <p:nvPr/>
          </p:nvSpPr>
          <p:spPr bwMode="auto">
            <a:xfrm>
              <a:off x="3829050" y="2343150"/>
              <a:ext cx="1485900"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9" name="Line 23"/>
            <p:cNvSpPr>
              <a:spLocks noChangeShapeType="1"/>
            </p:cNvSpPr>
            <p:nvPr/>
          </p:nvSpPr>
          <p:spPr bwMode="auto">
            <a:xfrm>
              <a:off x="5438775" y="22288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80" name="Line 24"/>
            <p:cNvSpPr>
              <a:spLocks noChangeShapeType="1"/>
            </p:cNvSpPr>
            <p:nvPr/>
          </p:nvSpPr>
          <p:spPr bwMode="auto">
            <a:xfrm>
              <a:off x="5438775" y="2343150"/>
              <a:ext cx="1547813"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81" name="Line 25"/>
            <p:cNvSpPr>
              <a:spLocks noChangeShapeType="1"/>
            </p:cNvSpPr>
            <p:nvPr/>
          </p:nvSpPr>
          <p:spPr bwMode="auto">
            <a:xfrm>
              <a:off x="7110413" y="22288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82" name="Rectangle 26"/>
            <p:cNvSpPr>
              <a:spLocks noChangeArrowheads="1"/>
            </p:cNvSpPr>
            <p:nvPr/>
          </p:nvSpPr>
          <p:spPr bwMode="auto">
            <a:xfrm>
              <a:off x="2082404" y="2122885"/>
              <a:ext cx="310181"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ID</a:t>
              </a:r>
            </a:p>
          </p:txBody>
        </p:sp>
        <p:sp>
          <p:nvSpPr>
            <p:cNvPr id="45083" name="Rectangle 27"/>
            <p:cNvSpPr>
              <a:spLocks noChangeArrowheads="1"/>
            </p:cNvSpPr>
            <p:nvPr/>
          </p:nvSpPr>
          <p:spPr bwMode="auto">
            <a:xfrm>
              <a:off x="4311254" y="2122885"/>
              <a:ext cx="352260"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EX</a:t>
              </a:r>
            </a:p>
          </p:txBody>
        </p:sp>
        <p:sp>
          <p:nvSpPr>
            <p:cNvPr id="45084" name="Rectangle 28"/>
            <p:cNvSpPr>
              <a:spLocks noChangeArrowheads="1"/>
            </p:cNvSpPr>
            <p:nvPr/>
          </p:nvSpPr>
          <p:spPr bwMode="auto">
            <a:xfrm>
              <a:off x="5982892" y="2122885"/>
              <a:ext cx="532598"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MEM</a:t>
              </a:r>
            </a:p>
          </p:txBody>
        </p:sp>
        <p:sp>
          <p:nvSpPr>
            <p:cNvPr id="45085" name="Rectangle 29"/>
            <p:cNvSpPr>
              <a:spLocks noChangeArrowheads="1"/>
            </p:cNvSpPr>
            <p:nvPr/>
          </p:nvSpPr>
          <p:spPr bwMode="auto">
            <a:xfrm>
              <a:off x="2649777" y="3322400"/>
              <a:ext cx="644408"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MemRd</a:t>
              </a:r>
            </a:p>
          </p:txBody>
        </p:sp>
        <p:sp>
          <p:nvSpPr>
            <p:cNvPr id="45086" name="Rectangle 30"/>
            <p:cNvSpPr>
              <a:spLocks noChangeArrowheads="1"/>
            </p:cNvSpPr>
            <p:nvPr/>
          </p:nvSpPr>
          <p:spPr bwMode="auto">
            <a:xfrm>
              <a:off x="2639617" y="3094435"/>
              <a:ext cx="642003"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ALUOp</a:t>
              </a:r>
            </a:p>
          </p:txBody>
        </p:sp>
        <p:sp>
          <p:nvSpPr>
            <p:cNvPr id="45087" name="Rectangle 31"/>
            <p:cNvSpPr>
              <a:spLocks noChangeArrowheads="1"/>
            </p:cNvSpPr>
            <p:nvPr/>
          </p:nvSpPr>
          <p:spPr bwMode="auto">
            <a:xfrm>
              <a:off x="2685257" y="4575977"/>
              <a:ext cx="601126"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dirty="0" err="1">
                  <a:latin typeface="Times New Roman" panose="02020503050405090304" pitchFamily="18" charset="0"/>
                  <a:ea typeface="新細明體" panose="02020500000000000000" pitchFamily="18" charset="-120"/>
                </a:rPr>
                <a:t>RegDst</a:t>
              </a:r>
              <a:endParaRPr kumimoji="1" lang="en-US" altLang="zh-TW" sz="1600" b="0" u="sng" dirty="0">
                <a:latin typeface="Times New Roman" panose="02020503050405090304" pitchFamily="18" charset="0"/>
                <a:ea typeface="新細明體" panose="02020500000000000000" pitchFamily="18" charset="-120"/>
              </a:endParaRPr>
            </a:p>
          </p:txBody>
        </p:sp>
        <p:sp>
          <p:nvSpPr>
            <p:cNvPr id="45088" name="Rectangle 32"/>
            <p:cNvSpPr>
              <a:spLocks noChangeArrowheads="1"/>
            </p:cNvSpPr>
            <p:nvPr/>
          </p:nvSpPr>
          <p:spPr bwMode="auto">
            <a:xfrm>
              <a:off x="2639616" y="2865835"/>
              <a:ext cx="660037"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ALUSrc</a:t>
              </a:r>
            </a:p>
          </p:txBody>
        </p:sp>
        <p:sp>
          <p:nvSpPr>
            <p:cNvPr id="45089" name="Rectangle 33"/>
            <p:cNvSpPr>
              <a:spLocks noChangeArrowheads="1"/>
            </p:cNvSpPr>
            <p:nvPr/>
          </p:nvSpPr>
          <p:spPr bwMode="auto">
            <a:xfrm flipH="1">
              <a:off x="2615804" y="3837385"/>
              <a:ext cx="584294"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Branch</a:t>
              </a:r>
            </a:p>
          </p:txBody>
        </p:sp>
        <p:sp>
          <p:nvSpPr>
            <p:cNvPr id="45090" name="Rectangle 34"/>
            <p:cNvSpPr>
              <a:spLocks noChangeArrowheads="1"/>
            </p:cNvSpPr>
            <p:nvPr/>
          </p:nvSpPr>
          <p:spPr bwMode="auto">
            <a:xfrm>
              <a:off x="2626519" y="3612357"/>
              <a:ext cx="709613"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MemWr</a:t>
              </a:r>
            </a:p>
          </p:txBody>
        </p:sp>
        <p:sp>
          <p:nvSpPr>
            <p:cNvPr id="45091" name="Rectangle 35"/>
            <p:cNvSpPr>
              <a:spLocks noChangeArrowheads="1"/>
            </p:cNvSpPr>
            <p:nvPr/>
          </p:nvSpPr>
          <p:spPr bwMode="auto">
            <a:xfrm>
              <a:off x="2564607" y="4136232"/>
              <a:ext cx="833162"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MemtoReg</a:t>
              </a:r>
            </a:p>
          </p:txBody>
        </p:sp>
        <p:sp>
          <p:nvSpPr>
            <p:cNvPr id="45092" name="Rectangle 36"/>
            <p:cNvSpPr>
              <a:spLocks noChangeArrowheads="1"/>
            </p:cNvSpPr>
            <p:nvPr/>
          </p:nvSpPr>
          <p:spPr bwMode="auto">
            <a:xfrm>
              <a:off x="2688431" y="4364832"/>
              <a:ext cx="578139"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RegWr</a:t>
              </a:r>
            </a:p>
          </p:txBody>
        </p:sp>
        <p:sp>
          <p:nvSpPr>
            <p:cNvPr id="45093" name="Line 37"/>
            <p:cNvSpPr>
              <a:spLocks noChangeShapeType="1"/>
            </p:cNvSpPr>
            <p:nvPr/>
          </p:nvSpPr>
          <p:spPr bwMode="auto">
            <a:xfrm flipH="1">
              <a:off x="2590800" y="434340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94" name="Line 38"/>
            <p:cNvSpPr>
              <a:spLocks noChangeShapeType="1"/>
            </p:cNvSpPr>
            <p:nvPr/>
          </p:nvSpPr>
          <p:spPr bwMode="auto">
            <a:xfrm flipH="1">
              <a:off x="2590800" y="285750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95" name="Line 39"/>
            <p:cNvSpPr>
              <a:spLocks noChangeShapeType="1"/>
            </p:cNvSpPr>
            <p:nvPr/>
          </p:nvSpPr>
          <p:spPr bwMode="auto">
            <a:xfrm flipH="1">
              <a:off x="2590800" y="308610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96" name="Line 40"/>
            <p:cNvSpPr>
              <a:spLocks noChangeShapeType="1"/>
            </p:cNvSpPr>
            <p:nvPr/>
          </p:nvSpPr>
          <p:spPr bwMode="auto">
            <a:xfrm flipH="1">
              <a:off x="2590800" y="331470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97" name="Line 41"/>
            <p:cNvSpPr>
              <a:spLocks noChangeShapeType="1"/>
            </p:cNvSpPr>
            <p:nvPr/>
          </p:nvSpPr>
          <p:spPr bwMode="auto">
            <a:xfrm flipH="1">
              <a:off x="2590800" y="354330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98" name="Line 42"/>
            <p:cNvSpPr>
              <a:spLocks noChangeShapeType="1"/>
            </p:cNvSpPr>
            <p:nvPr/>
          </p:nvSpPr>
          <p:spPr bwMode="auto">
            <a:xfrm flipH="1">
              <a:off x="2590800" y="382905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99" name="Line 43"/>
            <p:cNvSpPr>
              <a:spLocks noChangeShapeType="1"/>
            </p:cNvSpPr>
            <p:nvPr/>
          </p:nvSpPr>
          <p:spPr bwMode="auto">
            <a:xfrm flipH="1">
              <a:off x="2590800" y="405765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00" name="Line 44"/>
            <p:cNvSpPr>
              <a:spLocks noChangeShapeType="1"/>
            </p:cNvSpPr>
            <p:nvPr/>
          </p:nvSpPr>
          <p:spPr bwMode="auto">
            <a:xfrm flipH="1">
              <a:off x="2590800" y="457200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01" name="Rectangle 45"/>
            <p:cNvSpPr>
              <a:spLocks noChangeArrowheads="1"/>
            </p:cNvSpPr>
            <p:nvPr/>
          </p:nvSpPr>
          <p:spPr bwMode="auto">
            <a:xfrm>
              <a:off x="1858566" y="2752725"/>
              <a:ext cx="721519" cy="192405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45102" name="Rectangle 46"/>
            <p:cNvSpPr>
              <a:spLocks noChangeArrowheads="1"/>
            </p:cNvSpPr>
            <p:nvPr/>
          </p:nvSpPr>
          <p:spPr bwMode="auto">
            <a:xfrm>
              <a:off x="1921694" y="3265885"/>
              <a:ext cx="650033" cy="439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ct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Main</a:t>
              </a:r>
            </a:p>
            <a:p>
              <a:pPr algn="ct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Control</a:t>
              </a:r>
            </a:p>
          </p:txBody>
        </p:sp>
        <p:sp>
          <p:nvSpPr>
            <p:cNvPr id="45103" name="Line 47"/>
            <p:cNvSpPr>
              <a:spLocks noChangeShapeType="1"/>
            </p:cNvSpPr>
            <p:nvPr/>
          </p:nvSpPr>
          <p:spPr bwMode="auto">
            <a:xfrm>
              <a:off x="1538287" y="3657600"/>
              <a:ext cx="309563"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04" name="Rectangle 48"/>
            <p:cNvSpPr>
              <a:spLocks noChangeArrowheads="1"/>
            </p:cNvSpPr>
            <p:nvPr/>
          </p:nvSpPr>
          <p:spPr bwMode="auto">
            <a:xfrm>
              <a:off x="3877867" y="2637235"/>
              <a:ext cx="609542"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dirty="0" err="1">
                  <a:latin typeface="Times New Roman" panose="02020503050405090304" pitchFamily="18" charset="0"/>
                  <a:ea typeface="新細明體" panose="02020500000000000000" pitchFamily="18" charset="-120"/>
                </a:rPr>
                <a:t>ALUctl</a:t>
              </a:r>
              <a:endParaRPr kumimoji="1" lang="en-US" altLang="zh-TW" sz="1600" b="0" u="sng" dirty="0">
                <a:latin typeface="Times New Roman" panose="02020503050405090304" pitchFamily="18" charset="0"/>
                <a:ea typeface="新細明體" panose="02020500000000000000" pitchFamily="18" charset="-120"/>
              </a:endParaRPr>
            </a:p>
          </p:txBody>
        </p:sp>
        <p:sp>
          <p:nvSpPr>
            <p:cNvPr id="45105" name="Rectangle 49"/>
            <p:cNvSpPr>
              <a:spLocks noChangeArrowheads="1"/>
            </p:cNvSpPr>
            <p:nvPr/>
          </p:nvSpPr>
          <p:spPr bwMode="auto">
            <a:xfrm>
              <a:off x="3877867" y="3094435"/>
              <a:ext cx="642003"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ALUOp</a:t>
              </a:r>
            </a:p>
          </p:txBody>
        </p:sp>
        <p:sp>
          <p:nvSpPr>
            <p:cNvPr id="45106" name="Rectangle 50"/>
            <p:cNvSpPr>
              <a:spLocks noChangeArrowheads="1"/>
            </p:cNvSpPr>
            <p:nvPr/>
          </p:nvSpPr>
          <p:spPr bwMode="auto">
            <a:xfrm>
              <a:off x="3976529" y="3336132"/>
              <a:ext cx="644408"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MemRd</a:t>
              </a:r>
            </a:p>
          </p:txBody>
        </p:sp>
        <p:sp>
          <p:nvSpPr>
            <p:cNvPr id="45107" name="Rectangle 51"/>
            <p:cNvSpPr>
              <a:spLocks noChangeArrowheads="1"/>
            </p:cNvSpPr>
            <p:nvPr/>
          </p:nvSpPr>
          <p:spPr bwMode="auto">
            <a:xfrm>
              <a:off x="3877866" y="2865835"/>
              <a:ext cx="567463"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dirty="0">
                  <a:latin typeface="Times New Roman" panose="02020503050405090304" pitchFamily="18" charset="0"/>
                  <a:ea typeface="新細明體" panose="02020500000000000000" pitchFamily="18" charset="-120"/>
                </a:rPr>
                <a:t>A/</a:t>
              </a:r>
              <a:r>
                <a:rPr kumimoji="1" lang="en-US" altLang="zh-TW" sz="1600" b="0" u="sng" dirty="0" err="1">
                  <a:latin typeface="Times New Roman" panose="02020503050405090304" pitchFamily="18" charset="0"/>
                  <a:ea typeface="新細明體" panose="02020500000000000000" pitchFamily="18" charset="-120"/>
                </a:rPr>
                <a:t>Bsel</a:t>
              </a:r>
              <a:endParaRPr kumimoji="1" lang="en-US" altLang="zh-TW" sz="1600" b="0" u="sng" dirty="0">
                <a:latin typeface="Times New Roman" panose="02020503050405090304" pitchFamily="18" charset="0"/>
                <a:ea typeface="新細明體" panose="02020500000000000000" pitchFamily="18" charset="-120"/>
              </a:endParaRPr>
            </a:p>
          </p:txBody>
        </p:sp>
        <p:sp>
          <p:nvSpPr>
            <p:cNvPr id="45108" name="Line 52"/>
            <p:cNvSpPr>
              <a:spLocks noChangeShapeType="1"/>
            </p:cNvSpPr>
            <p:nvPr/>
          </p:nvSpPr>
          <p:spPr bwMode="auto">
            <a:xfrm flipH="1">
              <a:off x="3829050" y="2857500"/>
              <a:ext cx="990600"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09" name="Line 53"/>
            <p:cNvSpPr>
              <a:spLocks noChangeShapeType="1"/>
            </p:cNvSpPr>
            <p:nvPr/>
          </p:nvSpPr>
          <p:spPr bwMode="auto">
            <a:xfrm flipH="1">
              <a:off x="3829050" y="3086100"/>
              <a:ext cx="990600"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10" name="Line 54"/>
            <p:cNvSpPr>
              <a:spLocks noChangeShapeType="1"/>
            </p:cNvSpPr>
            <p:nvPr/>
          </p:nvSpPr>
          <p:spPr bwMode="auto">
            <a:xfrm flipH="1">
              <a:off x="3829050" y="3314700"/>
              <a:ext cx="990600"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11" name="Line 55"/>
            <p:cNvSpPr>
              <a:spLocks noChangeShapeType="1"/>
            </p:cNvSpPr>
            <p:nvPr/>
          </p:nvSpPr>
          <p:spPr bwMode="auto">
            <a:xfrm flipH="1">
              <a:off x="3829209" y="3543300"/>
              <a:ext cx="1362075" cy="635"/>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12" name="Rectangle 56"/>
            <p:cNvSpPr>
              <a:spLocks noChangeArrowheads="1"/>
            </p:cNvSpPr>
            <p:nvPr/>
          </p:nvSpPr>
          <p:spPr bwMode="auto">
            <a:xfrm>
              <a:off x="7084219" y="4136232"/>
              <a:ext cx="833162"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MemtoReg</a:t>
              </a:r>
            </a:p>
          </p:txBody>
        </p:sp>
        <p:sp>
          <p:nvSpPr>
            <p:cNvPr id="45113" name="Rectangle 57"/>
            <p:cNvSpPr>
              <a:spLocks noChangeArrowheads="1"/>
            </p:cNvSpPr>
            <p:nvPr/>
          </p:nvSpPr>
          <p:spPr bwMode="auto">
            <a:xfrm>
              <a:off x="7208044" y="4364832"/>
              <a:ext cx="578139"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dirty="0" err="1">
                  <a:latin typeface="Times New Roman" panose="02020503050405090304" pitchFamily="18" charset="0"/>
                  <a:ea typeface="新細明體" panose="02020500000000000000" pitchFamily="18" charset="-120"/>
                </a:rPr>
                <a:t>RegWr</a:t>
              </a:r>
              <a:endParaRPr kumimoji="1" lang="en-US" altLang="zh-TW" sz="1600" b="0" u="sng" dirty="0">
                <a:latin typeface="Times New Roman" panose="02020503050405090304" pitchFamily="18" charset="0"/>
                <a:ea typeface="新細明體" panose="02020500000000000000" pitchFamily="18" charset="-120"/>
              </a:endParaRPr>
            </a:p>
          </p:txBody>
        </p:sp>
        <p:sp>
          <p:nvSpPr>
            <p:cNvPr id="45114" name="Line 58"/>
            <p:cNvSpPr>
              <a:spLocks noChangeShapeType="1"/>
            </p:cNvSpPr>
            <p:nvPr/>
          </p:nvSpPr>
          <p:spPr bwMode="auto">
            <a:xfrm flipH="1">
              <a:off x="7110413" y="4343400"/>
              <a:ext cx="990600" cy="0"/>
            </a:xfrm>
            <a:prstGeom prst="line">
              <a:avLst/>
            </a:prstGeom>
            <a:noFill/>
            <a:ln w="25400">
              <a:solidFill>
                <a:schemeClr val="fo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15" name="Line 59"/>
            <p:cNvSpPr>
              <a:spLocks noChangeShapeType="1"/>
            </p:cNvSpPr>
            <p:nvPr/>
          </p:nvSpPr>
          <p:spPr bwMode="auto">
            <a:xfrm flipH="1">
              <a:off x="7110413" y="4572000"/>
              <a:ext cx="990600" cy="0"/>
            </a:xfrm>
            <a:prstGeom prst="line">
              <a:avLst/>
            </a:prstGeom>
            <a:noFill/>
            <a:ln w="25400">
              <a:solidFill>
                <a:schemeClr val="fo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16" name="Rectangle 60"/>
            <p:cNvSpPr>
              <a:spLocks noChangeArrowheads="1"/>
            </p:cNvSpPr>
            <p:nvPr/>
          </p:nvSpPr>
          <p:spPr bwMode="auto">
            <a:xfrm>
              <a:off x="3988594" y="4136232"/>
              <a:ext cx="833162"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MemtoReg</a:t>
              </a:r>
            </a:p>
          </p:txBody>
        </p:sp>
        <p:sp>
          <p:nvSpPr>
            <p:cNvPr id="45117" name="Rectangle 61"/>
            <p:cNvSpPr>
              <a:spLocks noChangeArrowheads="1"/>
            </p:cNvSpPr>
            <p:nvPr/>
          </p:nvSpPr>
          <p:spPr bwMode="auto">
            <a:xfrm>
              <a:off x="3988594" y="4364832"/>
              <a:ext cx="578139"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RegWr</a:t>
              </a:r>
            </a:p>
          </p:txBody>
        </p:sp>
        <p:sp>
          <p:nvSpPr>
            <p:cNvPr id="45118" name="Line 62"/>
            <p:cNvSpPr>
              <a:spLocks noChangeShapeType="1"/>
            </p:cNvSpPr>
            <p:nvPr/>
          </p:nvSpPr>
          <p:spPr bwMode="auto">
            <a:xfrm flipH="1">
              <a:off x="3829050" y="4343400"/>
              <a:ext cx="1362075"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19" name="Line 63"/>
            <p:cNvSpPr>
              <a:spLocks noChangeShapeType="1"/>
            </p:cNvSpPr>
            <p:nvPr/>
          </p:nvSpPr>
          <p:spPr bwMode="auto">
            <a:xfrm flipH="1">
              <a:off x="3829050" y="4572000"/>
              <a:ext cx="1362075"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20" name="Rectangle 64"/>
            <p:cNvSpPr>
              <a:spLocks noChangeArrowheads="1"/>
            </p:cNvSpPr>
            <p:nvPr/>
          </p:nvSpPr>
          <p:spPr bwMode="auto">
            <a:xfrm>
              <a:off x="5660232" y="4136232"/>
              <a:ext cx="833162"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MemtoReg</a:t>
              </a:r>
            </a:p>
          </p:txBody>
        </p:sp>
        <p:sp>
          <p:nvSpPr>
            <p:cNvPr id="45121" name="Rectangle 65"/>
            <p:cNvSpPr>
              <a:spLocks noChangeArrowheads="1"/>
            </p:cNvSpPr>
            <p:nvPr/>
          </p:nvSpPr>
          <p:spPr bwMode="auto">
            <a:xfrm>
              <a:off x="5722144" y="4364832"/>
              <a:ext cx="578139"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RegWr</a:t>
              </a:r>
            </a:p>
          </p:txBody>
        </p:sp>
        <p:sp>
          <p:nvSpPr>
            <p:cNvPr id="45122" name="Line 66"/>
            <p:cNvSpPr>
              <a:spLocks noChangeShapeType="1"/>
            </p:cNvSpPr>
            <p:nvPr/>
          </p:nvSpPr>
          <p:spPr bwMode="auto">
            <a:xfrm flipH="1">
              <a:off x="5438775" y="4343400"/>
              <a:ext cx="1423988" cy="0"/>
            </a:xfrm>
            <a:prstGeom prst="line">
              <a:avLst/>
            </a:prstGeom>
            <a:noFill/>
            <a:ln w="25400">
              <a:solidFill>
                <a:schemeClr va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23" name="Line 67"/>
            <p:cNvSpPr>
              <a:spLocks noChangeShapeType="1"/>
            </p:cNvSpPr>
            <p:nvPr/>
          </p:nvSpPr>
          <p:spPr bwMode="auto">
            <a:xfrm flipH="1">
              <a:off x="5438775" y="4572000"/>
              <a:ext cx="1423988" cy="0"/>
            </a:xfrm>
            <a:prstGeom prst="line">
              <a:avLst/>
            </a:prstGeom>
            <a:noFill/>
            <a:ln w="25400">
              <a:solidFill>
                <a:schemeClr va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24" name="Rectangle 68"/>
            <p:cNvSpPr>
              <a:spLocks noChangeArrowheads="1"/>
            </p:cNvSpPr>
            <p:nvPr/>
          </p:nvSpPr>
          <p:spPr bwMode="auto">
            <a:xfrm flipH="1">
              <a:off x="3977879" y="3837385"/>
              <a:ext cx="584294"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Branch</a:t>
              </a:r>
            </a:p>
          </p:txBody>
        </p:sp>
        <p:sp>
          <p:nvSpPr>
            <p:cNvPr id="45125" name="Rectangle 69"/>
            <p:cNvSpPr>
              <a:spLocks noChangeArrowheads="1"/>
            </p:cNvSpPr>
            <p:nvPr/>
          </p:nvSpPr>
          <p:spPr bwMode="auto">
            <a:xfrm>
              <a:off x="3988594" y="3612357"/>
              <a:ext cx="709613"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MemWr</a:t>
              </a:r>
            </a:p>
          </p:txBody>
        </p:sp>
        <p:sp>
          <p:nvSpPr>
            <p:cNvPr id="45126" name="Line 70"/>
            <p:cNvSpPr>
              <a:spLocks noChangeShapeType="1"/>
            </p:cNvSpPr>
            <p:nvPr/>
          </p:nvSpPr>
          <p:spPr bwMode="auto">
            <a:xfrm flipH="1">
              <a:off x="3829050" y="3829050"/>
              <a:ext cx="1362075"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27" name="Line 71"/>
            <p:cNvSpPr>
              <a:spLocks noChangeShapeType="1"/>
            </p:cNvSpPr>
            <p:nvPr/>
          </p:nvSpPr>
          <p:spPr bwMode="auto">
            <a:xfrm flipH="1">
              <a:off x="3829050" y="4057650"/>
              <a:ext cx="1362075"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28" name="Rectangle 72"/>
            <p:cNvSpPr>
              <a:spLocks noChangeArrowheads="1"/>
            </p:cNvSpPr>
            <p:nvPr/>
          </p:nvSpPr>
          <p:spPr bwMode="auto">
            <a:xfrm flipH="1">
              <a:off x="5525692" y="3837385"/>
              <a:ext cx="584294"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Branch</a:t>
              </a:r>
            </a:p>
          </p:txBody>
        </p:sp>
        <p:sp>
          <p:nvSpPr>
            <p:cNvPr id="45129" name="Rectangle 73"/>
            <p:cNvSpPr>
              <a:spLocks noChangeArrowheads="1"/>
            </p:cNvSpPr>
            <p:nvPr/>
          </p:nvSpPr>
          <p:spPr bwMode="auto">
            <a:xfrm>
              <a:off x="5474494" y="3612357"/>
              <a:ext cx="709613"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MemWr</a:t>
              </a:r>
            </a:p>
          </p:txBody>
        </p:sp>
        <p:sp>
          <p:nvSpPr>
            <p:cNvPr id="45130" name="Line 74"/>
            <p:cNvSpPr>
              <a:spLocks noChangeShapeType="1"/>
            </p:cNvSpPr>
            <p:nvPr/>
          </p:nvSpPr>
          <p:spPr bwMode="auto">
            <a:xfrm flipH="1">
              <a:off x="5438775" y="3829050"/>
              <a:ext cx="990600" cy="0"/>
            </a:xfrm>
            <a:prstGeom prst="line">
              <a:avLst/>
            </a:prstGeom>
            <a:noFill/>
            <a:ln w="25400">
              <a:solidFill>
                <a:schemeClr va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31" name="Line 75"/>
            <p:cNvSpPr>
              <a:spLocks noChangeShapeType="1"/>
            </p:cNvSpPr>
            <p:nvPr/>
          </p:nvSpPr>
          <p:spPr bwMode="auto">
            <a:xfrm flipH="1">
              <a:off x="5438775" y="4057650"/>
              <a:ext cx="990600" cy="0"/>
            </a:xfrm>
            <a:prstGeom prst="line">
              <a:avLst/>
            </a:prstGeom>
            <a:noFill/>
            <a:ln w="25400">
              <a:solidFill>
                <a:schemeClr va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32" name="Line 76"/>
            <p:cNvSpPr>
              <a:spLocks noChangeShapeType="1"/>
            </p:cNvSpPr>
            <p:nvPr/>
          </p:nvSpPr>
          <p:spPr bwMode="auto">
            <a:xfrm flipV="1">
              <a:off x="3705225" y="2114550"/>
              <a:ext cx="0" cy="34290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33" name="Line 77"/>
            <p:cNvSpPr>
              <a:spLocks noChangeShapeType="1"/>
            </p:cNvSpPr>
            <p:nvPr/>
          </p:nvSpPr>
          <p:spPr bwMode="auto">
            <a:xfrm flipV="1">
              <a:off x="5314950" y="2114550"/>
              <a:ext cx="0" cy="34290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34" name="Line 78"/>
            <p:cNvSpPr>
              <a:spLocks noChangeShapeType="1"/>
            </p:cNvSpPr>
            <p:nvPr/>
          </p:nvSpPr>
          <p:spPr bwMode="auto">
            <a:xfrm flipV="1">
              <a:off x="6986588" y="2114550"/>
              <a:ext cx="0" cy="34290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35" name="Rectangle 79"/>
            <p:cNvSpPr>
              <a:spLocks noChangeArrowheads="1"/>
            </p:cNvSpPr>
            <p:nvPr/>
          </p:nvSpPr>
          <p:spPr bwMode="auto">
            <a:xfrm>
              <a:off x="7283054" y="2122885"/>
              <a:ext cx="395541"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WB</a:t>
              </a:r>
            </a:p>
          </p:txBody>
        </p:sp>
        <p:sp>
          <p:nvSpPr>
            <p:cNvPr id="45136" name="Line 80"/>
            <p:cNvSpPr>
              <a:spLocks noChangeShapeType="1"/>
            </p:cNvSpPr>
            <p:nvPr/>
          </p:nvSpPr>
          <p:spPr bwMode="auto">
            <a:xfrm>
              <a:off x="7110412" y="2343150"/>
              <a:ext cx="681038"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 name="Rectangle 73"/>
            <p:cNvSpPr>
              <a:spLocks noChangeArrowheads="1"/>
            </p:cNvSpPr>
            <p:nvPr/>
          </p:nvSpPr>
          <p:spPr bwMode="auto">
            <a:xfrm>
              <a:off x="5484019" y="3393282"/>
              <a:ext cx="709613"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MemRd</a:t>
              </a:r>
            </a:p>
          </p:txBody>
        </p:sp>
        <p:sp>
          <p:nvSpPr>
            <p:cNvPr id="4" name="Line 74"/>
            <p:cNvSpPr>
              <a:spLocks noChangeShapeType="1"/>
            </p:cNvSpPr>
            <p:nvPr/>
          </p:nvSpPr>
          <p:spPr bwMode="auto">
            <a:xfrm flipH="1">
              <a:off x="5434330" y="3609975"/>
              <a:ext cx="990600" cy="0"/>
            </a:xfrm>
            <a:prstGeom prst="line">
              <a:avLst/>
            </a:prstGeom>
            <a:noFill/>
            <a:ln w="25400">
              <a:solidFill>
                <a:schemeClr va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5137" name="Rectangle 81"/>
          <p:cNvSpPr>
            <a:spLocks noGrp="1" noChangeArrowheads="1"/>
          </p:cNvSpPr>
          <p:nvPr>
            <p:ph type="title"/>
          </p:nvPr>
        </p:nvSpPr>
        <p:spPr/>
        <p:txBody>
          <a:bodyPr/>
          <a:lstStyle/>
          <a:p>
            <a:r>
              <a:rPr lang="en-US" altLang="zh-TW" dirty="0"/>
              <a:t>Control Signals at Each Stage</a:t>
            </a:r>
          </a:p>
        </p:txBody>
      </p:sp>
      <p:sp>
        <p:nvSpPr>
          <p:cNvPr id="45138" name="Rectangle 82"/>
          <p:cNvSpPr>
            <a:spLocks noGrp="1" noChangeArrowheads="1"/>
          </p:cNvSpPr>
          <p:nvPr>
            <p:ph idx="1"/>
          </p:nvPr>
        </p:nvSpPr>
        <p:spPr>
          <a:xfrm>
            <a:off x="1563689" y="990076"/>
            <a:ext cx="10532533" cy="1529172"/>
          </a:xfrm>
        </p:spPr>
        <p:txBody>
          <a:bodyPr/>
          <a:lstStyle/>
          <a:p>
            <a:r>
              <a:rPr lang="en-US" altLang="zh-TW" sz="2400" dirty="0"/>
              <a:t>Signals for EX (</a:t>
            </a:r>
            <a:r>
              <a:rPr lang="en-US" altLang="zh-TW" sz="2400" dirty="0" err="1"/>
              <a:t>ALUOp</a:t>
            </a:r>
            <a:r>
              <a:rPr lang="en-US" altLang="zh-TW" sz="2400" dirty="0"/>
              <a:t>, A/</a:t>
            </a:r>
            <a:r>
              <a:rPr lang="en-US" altLang="zh-TW" sz="2400" dirty="0" err="1"/>
              <a:t>Bsel</a:t>
            </a:r>
            <a:r>
              <a:rPr lang="en-US" altLang="zh-TW" sz="2400" dirty="0"/>
              <a:t>, </a:t>
            </a:r>
            <a:r>
              <a:rPr lang="en-US" altLang="zh-TW" sz="2400" dirty="0" err="1"/>
              <a:t>ALUctl</a:t>
            </a:r>
            <a:r>
              <a:rPr lang="en-US" altLang="zh-TW" sz="2400" dirty="0"/>
              <a:t>...) are used 1 cycle later</a:t>
            </a:r>
          </a:p>
          <a:p>
            <a:r>
              <a:rPr lang="en-US" altLang="zh-TW" sz="2400" dirty="0"/>
              <a:t>Signals for MEM (</a:t>
            </a:r>
            <a:r>
              <a:rPr lang="en-US" altLang="zh-TW" sz="2400" dirty="0" err="1"/>
              <a:t>MemWr</a:t>
            </a:r>
            <a:r>
              <a:rPr lang="en-US" altLang="zh-TW" sz="2400" dirty="0"/>
              <a:t>, Branch) are used 2 cycles later</a:t>
            </a:r>
          </a:p>
          <a:p>
            <a:r>
              <a:rPr lang="en-US" altLang="zh-TW" sz="2400" dirty="0"/>
              <a:t>Signals for WB (</a:t>
            </a:r>
            <a:r>
              <a:rPr lang="en-US" altLang="zh-TW" sz="2400" dirty="0" err="1"/>
              <a:t>MemtoReg</a:t>
            </a:r>
            <a:r>
              <a:rPr lang="en-US" altLang="zh-TW" sz="2400" dirty="0"/>
              <a:t>, </a:t>
            </a:r>
            <a:r>
              <a:rPr lang="en-US" altLang="zh-TW" sz="2400" dirty="0" err="1"/>
              <a:t>MemWr</a:t>
            </a:r>
            <a:r>
              <a:rPr lang="en-US" altLang="zh-TW" sz="2400" dirty="0"/>
              <a:t>) are used 3 cycles later</a:t>
            </a:r>
          </a:p>
          <a:p>
            <a:r>
              <a:rPr lang="en-US" altLang="zh-TW" sz="2400" dirty="0" err="1"/>
              <a:t>RedDst</a:t>
            </a:r>
            <a:r>
              <a:rPr lang="en-US" altLang="zh-TW" sz="2400" dirty="0"/>
              <a:t> (</a:t>
            </a:r>
            <a:r>
              <a:rPr lang="en-US" altLang="zh-TW" sz="2400" b="1" dirty="0" err="1"/>
              <a:t>rd</a:t>
            </a:r>
            <a:r>
              <a:rPr lang="en-US" altLang="zh-TW" sz="2400" dirty="0"/>
              <a:t>) will also be passed along to the WB stage</a:t>
            </a:r>
          </a:p>
        </p:txBody>
      </p:sp>
      <p:sp>
        <p:nvSpPr>
          <p:cNvPr id="45139"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0950D662-54AF-4930-A34B-4E643B478574}" type="slidenum">
              <a:rPr lang="zh-TW" altLang="en-US" sz="1400" b="0">
                <a:solidFill>
                  <a:schemeClr val="bg1"/>
                </a:solidFill>
                <a:latin typeface="Arial" panose="020B0604020202090204" pitchFamily="34" charset="0"/>
                <a:ea typeface="新細明體" panose="02020500000000000000" pitchFamily="18" charset="-120"/>
              </a:rPr>
              <a:t>40</a:t>
            </a:fld>
            <a:endParaRPr lang="en-US" altLang="zh-TW" sz="1400" b="0">
              <a:solidFill>
                <a:schemeClr val="bg1"/>
              </a:solidFill>
              <a:latin typeface="Arial" panose="020B0604020202090204" pitchFamily="34" charset="0"/>
              <a:ea typeface="新細明體" panose="02020500000000000000" pitchFamily="18" charset="-120"/>
            </a:endParaRPr>
          </a:p>
        </p:txBody>
      </p:sp>
      <p:sp>
        <p:nvSpPr>
          <p:cNvPr id="87" name="Line 63">
            <a:extLst>
              <a:ext uri="{FF2B5EF4-FFF2-40B4-BE49-F238E27FC236}">
                <a16:creationId xmlns:a16="http://schemas.microsoft.com/office/drawing/2014/main" id="{1E45DF3A-7306-4FD5-8884-61262154BA84}"/>
              </a:ext>
            </a:extLst>
          </p:cNvPr>
          <p:cNvSpPr>
            <a:spLocks noChangeShapeType="1"/>
          </p:cNvSpPr>
          <p:nvPr/>
        </p:nvSpPr>
        <p:spPr bwMode="auto">
          <a:xfrm flipH="1">
            <a:off x="4728622" y="6126672"/>
            <a:ext cx="1816100"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 name="Rectangle 31">
            <a:extLst>
              <a:ext uri="{FF2B5EF4-FFF2-40B4-BE49-F238E27FC236}">
                <a16:creationId xmlns:a16="http://schemas.microsoft.com/office/drawing/2014/main" id="{855B382F-8143-4BAB-823F-E09F62A16D3B}"/>
              </a:ext>
            </a:extLst>
          </p:cNvPr>
          <p:cNvSpPr>
            <a:spLocks noChangeArrowheads="1"/>
          </p:cNvSpPr>
          <p:nvPr/>
        </p:nvSpPr>
        <p:spPr bwMode="auto">
          <a:xfrm>
            <a:off x="4912746" y="5871257"/>
            <a:ext cx="801501" cy="339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dirty="0" err="1">
                <a:latin typeface="Times New Roman" panose="02020503050405090304" pitchFamily="18" charset="0"/>
                <a:ea typeface="新細明體" panose="02020500000000000000" pitchFamily="18" charset="-120"/>
              </a:rPr>
              <a:t>RegDst</a:t>
            </a:r>
            <a:endParaRPr kumimoji="1" lang="en-US" altLang="zh-TW" sz="1600" b="0" u="sng" dirty="0">
              <a:latin typeface="Times New Roman" panose="02020503050405090304" pitchFamily="18" charset="0"/>
              <a:ea typeface="新細明體" panose="02020500000000000000" pitchFamily="18" charset="-120"/>
            </a:endParaRPr>
          </a:p>
        </p:txBody>
      </p:sp>
      <p:sp>
        <p:nvSpPr>
          <p:cNvPr id="89" name="Rectangle 31">
            <a:extLst>
              <a:ext uri="{FF2B5EF4-FFF2-40B4-BE49-F238E27FC236}">
                <a16:creationId xmlns:a16="http://schemas.microsoft.com/office/drawing/2014/main" id="{98771BDE-898A-4BCB-B813-8020E8307D41}"/>
              </a:ext>
            </a:extLst>
          </p:cNvPr>
          <p:cNvSpPr>
            <a:spLocks noChangeArrowheads="1"/>
          </p:cNvSpPr>
          <p:nvPr/>
        </p:nvSpPr>
        <p:spPr bwMode="auto">
          <a:xfrm>
            <a:off x="7227834" y="5879951"/>
            <a:ext cx="801501" cy="339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dirty="0" err="1">
                <a:latin typeface="Times New Roman" panose="02020503050405090304" pitchFamily="18" charset="0"/>
                <a:ea typeface="新細明體" panose="02020500000000000000" pitchFamily="18" charset="-120"/>
              </a:rPr>
              <a:t>RegDst</a:t>
            </a:r>
            <a:endParaRPr kumimoji="1" lang="en-US" altLang="zh-TW" sz="1600" b="0" u="sng" dirty="0">
              <a:latin typeface="Times New Roman" panose="02020503050405090304" pitchFamily="18" charset="0"/>
              <a:ea typeface="新細明體" panose="02020500000000000000" pitchFamily="18" charset="-120"/>
            </a:endParaRPr>
          </a:p>
        </p:txBody>
      </p:sp>
      <p:sp>
        <p:nvSpPr>
          <p:cNvPr id="90" name="Rectangle 31">
            <a:extLst>
              <a:ext uri="{FF2B5EF4-FFF2-40B4-BE49-F238E27FC236}">
                <a16:creationId xmlns:a16="http://schemas.microsoft.com/office/drawing/2014/main" id="{54827743-682D-4384-B829-AED5DC46FF30}"/>
              </a:ext>
            </a:extLst>
          </p:cNvPr>
          <p:cNvSpPr>
            <a:spLocks noChangeArrowheads="1"/>
          </p:cNvSpPr>
          <p:nvPr/>
        </p:nvSpPr>
        <p:spPr bwMode="auto">
          <a:xfrm>
            <a:off x="9203093" y="5929255"/>
            <a:ext cx="801501" cy="339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dirty="0" err="1">
                <a:latin typeface="Times New Roman" panose="02020503050405090304" pitchFamily="18" charset="0"/>
                <a:ea typeface="新細明體" panose="02020500000000000000" pitchFamily="18" charset="-120"/>
              </a:rPr>
              <a:t>RegDst</a:t>
            </a:r>
            <a:endParaRPr kumimoji="1" lang="en-US" altLang="zh-TW" sz="1600" b="0" u="sng" dirty="0">
              <a:latin typeface="Times New Roman" panose="02020503050405090304" pitchFamily="18" charset="0"/>
              <a:ea typeface="新細明體" panose="02020500000000000000" pitchFamily="18" charset="-120"/>
            </a:endParaRPr>
          </a:p>
        </p:txBody>
      </p:sp>
      <p:sp>
        <p:nvSpPr>
          <p:cNvPr id="91" name="Line 63">
            <a:extLst>
              <a:ext uri="{FF2B5EF4-FFF2-40B4-BE49-F238E27FC236}">
                <a16:creationId xmlns:a16="http://schemas.microsoft.com/office/drawing/2014/main" id="{7B34FC82-44F4-4BAA-81A3-432FF1795FE1}"/>
              </a:ext>
            </a:extLst>
          </p:cNvPr>
          <p:cNvSpPr>
            <a:spLocks noChangeShapeType="1"/>
          </p:cNvSpPr>
          <p:nvPr/>
        </p:nvSpPr>
        <p:spPr bwMode="auto">
          <a:xfrm flipH="1">
            <a:off x="6920922" y="6128940"/>
            <a:ext cx="1816100"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Line 59">
            <a:extLst>
              <a:ext uri="{FF2B5EF4-FFF2-40B4-BE49-F238E27FC236}">
                <a16:creationId xmlns:a16="http://schemas.microsoft.com/office/drawing/2014/main" id="{D7959543-7E75-4077-993B-D3F417440EE0}"/>
              </a:ext>
            </a:extLst>
          </p:cNvPr>
          <p:cNvSpPr>
            <a:spLocks noChangeShapeType="1"/>
          </p:cNvSpPr>
          <p:nvPr/>
        </p:nvSpPr>
        <p:spPr bwMode="auto">
          <a:xfrm flipH="1">
            <a:off x="9073430" y="6124208"/>
            <a:ext cx="1320800" cy="0"/>
          </a:xfrm>
          <a:prstGeom prst="line">
            <a:avLst/>
          </a:prstGeom>
          <a:noFill/>
          <a:ln w="25400">
            <a:solidFill>
              <a:schemeClr val="fo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2308845073"/>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19585</TotalTime>
  <Words>3272</Words>
  <Application>Microsoft Office PowerPoint</Application>
  <PresentationFormat>Widescreen</PresentationFormat>
  <Paragraphs>470</Paragraphs>
  <Slides>40</Slides>
  <Notes>36</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40</vt:i4>
      </vt:variant>
    </vt:vector>
  </HeadingPairs>
  <TitlesOfParts>
    <vt:vector size="52" baseType="lpstr">
      <vt:lpstr>Google Sans</vt:lpstr>
      <vt:lpstr>MS Sans Serif</vt:lpstr>
      <vt:lpstr>华文楷体</vt:lpstr>
      <vt:lpstr>Arial</vt:lpstr>
      <vt:lpstr>Calibri</vt:lpstr>
      <vt:lpstr>Calibri Light</vt:lpstr>
      <vt:lpstr>Century Gothic</vt:lpstr>
      <vt:lpstr>Lucida Console</vt:lpstr>
      <vt:lpstr>Times New Roman</vt:lpstr>
      <vt:lpstr>Wingdings</vt:lpstr>
      <vt:lpstr>NTHU UniCloud</vt:lpstr>
      <vt:lpstr>自訂設計</vt:lpstr>
      <vt:lpstr>CSC3050 – Computer Architecture  Chapter 4 The Processor  Pipeline Hazards</vt:lpstr>
      <vt:lpstr>Hazards: Pipeline Challenges</vt:lpstr>
      <vt:lpstr>Fill and Drain of a Pipeline</vt:lpstr>
      <vt:lpstr>Structure Hazards</vt:lpstr>
      <vt:lpstr>Structure Hazards</vt:lpstr>
      <vt:lpstr>Avoiding Structure Hazards</vt:lpstr>
      <vt:lpstr> Related Example: R-type instruction </vt:lpstr>
      <vt:lpstr>Early WB Causes Structural Hazards</vt:lpstr>
      <vt:lpstr>Data Hazards</vt:lpstr>
      <vt:lpstr>Register Access Issues</vt:lpstr>
      <vt:lpstr>ALU Result Access Issue</vt:lpstr>
      <vt:lpstr>Solution 1: Pipeline Stall at ID stage</vt:lpstr>
      <vt:lpstr>Solution 2: Data Forwarding (Bypassing)</vt:lpstr>
      <vt:lpstr>Data Forwarding for Load Instructions</vt:lpstr>
      <vt:lpstr>Data Forwarding for Load Instructions</vt:lpstr>
      <vt:lpstr>Detect Data Hazards (1)</vt:lpstr>
      <vt:lpstr>Solution 3: Compiler Code Transformations</vt:lpstr>
      <vt:lpstr>Compiler Code Scheduling Example (1) </vt:lpstr>
      <vt:lpstr>Compiler Code Scheduling Example (2) </vt:lpstr>
      <vt:lpstr>Control Hazards</vt:lpstr>
      <vt:lpstr>Branch Outcome Available at MEM stage</vt:lpstr>
      <vt:lpstr>Branch Instruction in the Pipelined DataPath</vt:lpstr>
      <vt:lpstr>Flush All Incorrectly Executed Instructions</vt:lpstr>
      <vt:lpstr>Flush All Incorrectly Executed Instructions</vt:lpstr>
      <vt:lpstr>What If Branch Outcome Available at EXE stage</vt:lpstr>
      <vt:lpstr>Flush All Incorrectly Executed Instructions</vt:lpstr>
      <vt:lpstr>Simply Predict the Branch is Not Taken</vt:lpstr>
      <vt:lpstr>Static Branch Prediction</vt:lpstr>
      <vt:lpstr>Dynamic Branch Prediction</vt:lpstr>
      <vt:lpstr>A Simple Branch History Table</vt:lpstr>
      <vt:lpstr>Branch Prediction at IF Stage</vt:lpstr>
      <vt:lpstr>1-bit Predictor</vt:lpstr>
      <vt:lpstr>2-bit Predictor (FSM)</vt:lpstr>
      <vt:lpstr>Correlated Prediction </vt:lpstr>
      <vt:lpstr>2-level adaptive branch prediction</vt:lpstr>
      <vt:lpstr>Why Correlated Prediction Works</vt:lpstr>
      <vt:lpstr>Prediction: Whether and Where</vt:lpstr>
      <vt:lpstr>Branch Target Buffer</vt:lpstr>
      <vt:lpstr>Control Signals Used at Each Stage</vt:lpstr>
      <vt:lpstr>Control Signals at Each Stage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Prof. HSU Wei-Chung (SDS)</cp:lastModifiedBy>
  <cp:revision>329</cp:revision>
  <dcterms:created xsi:type="dcterms:W3CDTF">2020-07-15T11:13:39Z</dcterms:created>
  <dcterms:modified xsi:type="dcterms:W3CDTF">2025-03-26T06:18:51Z</dcterms:modified>
</cp:coreProperties>
</file>