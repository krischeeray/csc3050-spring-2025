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57"/>
  </p:notesMasterIdLst>
  <p:handoutMasterIdLst>
    <p:handoutMasterId r:id="rId58"/>
  </p:handoutMasterIdLst>
  <p:sldIdLst>
    <p:sldId id="771" r:id="rId3"/>
    <p:sldId id="280" r:id="rId4"/>
    <p:sldId id="812" r:id="rId5"/>
    <p:sldId id="279" r:id="rId6"/>
    <p:sldId id="799" r:id="rId7"/>
    <p:sldId id="800" r:id="rId8"/>
    <p:sldId id="810" r:id="rId9"/>
    <p:sldId id="806" r:id="rId10"/>
    <p:sldId id="809" r:id="rId11"/>
    <p:sldId id="291" r:id="rId12"/>
    <p:sldId id="801" r:id="rId13"/>
    <p:sldId id="802" r:id="rId14"/>
    <p:sldId id="811" r:id="rId15"/>
    <p:sldId id="295" r:id="rId16"/>
    <p:sldId id="296" r:id="rId17"/>
    <p:sldId id="399" r:id="rId18"/>
    <p:sldId id="412" r:id="rId19"/>
    <p:sldId id="818" r:id="rId20"/>
    <p:sldId id="298" r:id="rId21"/>
    <p:sldId id="817" r:id="rId22"/>
    <p:sldId id="814" r:id="rId23"/>
    <p:sldId id="815" r:id="rId24"/>
    <p:sldId id="305" r:id="rId25"/>
    <p:sldId id="816" r:id="rId26"/>
    <p:sldId id="808" r:id="rId27"/>
    <p:sldId id="807" r:id="rId28"/>
    <p:sldId id="304" r:id="rId29"/>
    <p:sldId id="413" r:id="rId30"/>
    <p:sldId id="307" r:id="rId31"/>
    <p:sldId id="309" r:id="rId32"/>
    <p:sldId id="310" r:id="rId33"/>
    <p:sldId id="481" r:id="rId34"/>
    <p:sldId id="803" r:id="rId35"/>
    <p:sldId id="804" r:id="rId36"/>
    <p:sldId id="292" r:id="rId37"/>
    <p:sldId id="486" r:id="rId38"/>
    <p:sldId id="478" r:id="rId39"/>
    <p:sldId id="570" r:id="rId40"/>
    <p:sldId id="484" r:id="rId41"/>
    <p:sldId id="485" r:id="rId42"/>
    <p:sldId id="409" r:id="rId43"/>
    <p:sldId id="410" r:id="rId44"/>
    <p:sldId id="411" r:id="rId45"/>
    <p:sldId id="499" r:id="rId46"/>
    <p:sldId id="500" r:id="rId47"/>
    <p:sldId id="501" r:id="rId48"/>
    <p:sldId id="426" r:id="rId49"/>
    <p:sldId id="429" r:id="rId50"/>
    <p:sldId id="430" r:id="rId51"/>
    <p:sldId id="805" r:id="rId52"/>
    <p:sldId id="431" r:id="rId53"/>
    <p:sldId id="482" r:id="rId54"/>
    <p:sldId id="432" r:id="rId55"/>
    <p:sldId id="435" r:id="rId5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0" autoAdjust="0"/>
    <p:restoredTop sz="94660"/>
  </p:normalViewPr>
  <p:slideViewPr>
    <p:cSldViewPr snapToGrid="0">
      <p:cViewPr varScale="1">
        <p:scale>
          <a:sx n="100" d="100"/>
          <a:sy n="100" d="100"/>
        </p:scale>
        <p:origin x="198" y="7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300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815C594-135F-4D15-8E4B-45F1BE861E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CDB0960-189E-46E1-8D29-6FB05B6F72F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43A5A2-ABA0-4772-A51C-C5F6F247E980}" type="datetimeFigureOut">
              <a:rPr lang="en-US" smtClean="0"/>
              <a:t>4/29/2025</a:t>
            </a:fld>
            <a:endParaRPr lang="en-US"/>
          </a:p>
        </p:txBody>
      </p:sp>
      <p:sp>
        <p:nvSpPr>
          <p:cNvPr id="4" name="Footer Placeholder 3">
            <a:extLst>
              <a:ext uri="{FF2B5EF4-FFF2-40B4-BE49-F238E27FC236}">
                <a16:creationId xmlns:a16="http://schemas.microsoft.com/office/drawing/2014/main" id="{66C1DB78-23CB-4BEF-89B3-77D711E9DAE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C9CDE08-0A77-4F04-A3CE-DB3F76D6147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243270-4340-4F2C-881F-076058FFD61F}" type="slidenum">
              <a:rPr lang="en-US" smtClean="0"/>
              <a:t>‹#›</a:t>
            </a:fld>
            <a:endParaRPr lang="en-US"/>
          </a:p>
        </p:txBody>
      </p:sp>
    </p:spTree>
    <p:extLst>
      <p:ext uri="{BB962C8B-B14F-4D97-AF65-F5344CB8AC3E}">
        <p14:creationId xmlns:p14="http://schemas.microsoft.com/office/powerpoint/2010/main" val="32635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2025/4/29</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A6F40AB4-3FDB-45D1-AA60-7F64D18B10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2D39863-9675-4EA0-865E-4A4A17093B8C}" type="slidenum">
              <a:rPr lang="en-US" altLang="zh-TW"/>
              <a:pPr/>
              <a:t>2</a:t>
            </a:fld>
            <a:endParaRPr lang="en-US" altLang="zh-TW"/>
          </a:p>
        </p:txBody>
      </p:sp>
      <p:sp>
        <p:nvSpPr>
          <p:cNvPr id="25603" name="Rectangle 2">
            <a:extLst>
              <a:ext uri="{FF2B5EF4-FFF2-40B4-BE49-F238E27FC236}">
                <a16:creationId xmlns:a16="http://schemas.microsoft.com/office/drawing/2014/main" id="{C62ABEF3-918C-4F9F-B425-276A97C814EB}"/>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39E9523B-DB42-4FF6-8811-775C709718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TW" dirty="0">
                <a:latin typeface="Arial" panose="020B0604020202020204" pitchFamily="34" charset="0"/>
              </a:rPr>
              <a:t>Better in terms of accessibility, flexibility, efficiency, and security, </a:t>
            </a:r>
          </a:p>
          <a:p>
            <a:pPr eaLnBrk="1" hangingPunct="1"/>
            <a:r>
              <a:rPr lang="en-US" altLang="zh-TW" dirty="0">
                <a:latin typeface="Arial" panose="020B0604020202020204" pitchFamily="34" charset="0"/>
              </a:rPr>
              <a:t>CS is built upon layers of abstraction</a:t>
            </a:r>
          </a:p>
          <a:p>
            <a:pPr eaLnBrk="1" hangingPunct="1"/>
            <a:r>
              <a:rPr lang="en-US" altLang="zh-TW" dirty="0">
                <a:latin typeface="Arial" panose="020B0604020202020204" pitchFamily="34" charset="0"/>
              </a:rPr>
              <a:t>Virtual means adding a layer of abstraction and decouple from physical constraints</a:t>
            </a:r>
          </a:p>
          <a:p>
            <a:pPr eaLnBrk="1" hangingPunct="1"/>
            <a:r>
              <a:rPr lang="en-US" altLang="zh-TW" dirty="0">
                <a:latin typeface="Arial" panose="020B0604020202020204" pitchFamily="34" charset="0"/>
              </a:rPr>
              <a:t>Two type of VM: Process VM and System VM. A process VM allows a process with a different ISA running on a machine with the same OS but different ISA.</a:t>
            </a:r>
          </a:p>
          <a:p>
            <a:pPr eaLnBrk="1" hangingPunct="1"/>
            <a:r>
              <a:rPr lang="en-US" altLang="zh-TW" dirty="0">
                <a:latin typeface="Arial" panose="020B0604020202020204" pitchFamily="34" charset="0"/>
              </a:rPr>
              <a:t>A system VM allows multiple OS, with the same ISA, running on the physical machine simultaneously.</a:t>
            </a:r>
          </a:p>
          <a:p>
            <a:pPr eaLnBrk="1" hangingPunct="1"/>
            <a:r>
              <a:rPr lang="en-US" altLang="zh-TW" dirty="0">
                <a:latin typeface="Arial" panose="020B0604020202020204" pitchFamily="34" charset="0"/>
              </a:rPr>
              <a:t>A system virtual machine allows multiple operating systems to run simultaneously on a single physical machine. </a:t>
            </a:r>
          </a:p>
          <a:p>
            <a:pPr eaLnBrk="1" hangingPunct="1"/>
            <a:r>
              <a:rPr lang="en-US" b="1" i="0" dirty="0">
                <a:solidFill>
                  <a:srgbClr val="E3E3E3"/>
                </a:solidFill>
                <a:effectLst/>
                <a:latin typeface="Google Sans"/>
              </a:rPr>
              <a:t>Flexibility and Customization</a:t>
            </a:r>
          </a:p>
          <a:p>
            <a:pPr eaLnBrk="1" hangingPunct="1"/>
            <a:r>
              <a:rPr lang="en-US" b="1" i="0" dirty="0">
                <a:solidFill>
                  <a:srgbClr val="E3E3E3"/>
                </a:solidFill>
                <a:effectLst/>
                <a:latin typeface="Google Sans"/>
              </a:rPr>
              <a:t>Innovation and pushing the boundaries</a:t>
            </a:r>
            <a:endParaRPr lang="en-US" b="0" i="0" dirty="0">
              <a:solidFill>
                <a:srgbClr val="E3E3E3"/>
              </a:solidFill>
              <a:effectLst/>
              <a:latin typeface="Google Sans"/>
            </a:endParaRPr>
          </a:p>
          <a:p>
            <a:pPr eaLnBrk="1" hangingPunct="1"/>
            <a:endParaRPr lang="zh-TW" altLang="zh-TW"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1C570288-2D62-4309-9CF5-DFD8906D62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F9C830A-A4E9-4737-B9C4-3CBF4135B78A}" type="slidenum">
              <a:rPr lang="en-US" altLang="zh-TW"/>
              <a:pPr/>
              <a:t>3</a:t>
            </a:fld>
            <a:endParaRPr lang="en-US" altLang="zh-TW"/>
          </a:p>
        </p:txBody>
      </p:sp>
      <p:sp>
        <p:nvSpPr>
          <p:cNvPr id="26627" name="Rectangle 2">
            <a:extLst>
              <a:ext uri="{FF2B5EF4-FFF2-40B4-BE49-F238E27FC236}">
                <a16:creationId xmlns:a16="http://schemas.microsoft.com/office/drawing/2014/main" id="{40F77FB7-702E-4F2C-8356-1422B9759D4F}"/>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F0E4D7AA-3727-4F07-BF31-0BD7539397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latin typeface="Arial" panose="020B0604020202020204" pitchFamily="34" charset="0"/>
            </a:endParaRPr>
          </a:p>
        </p:txBody>
      </p:sp>
    </p:spTree>
    <p:extLst>
      <p:ext uri="{BB962C8B-B14F-4D97-AF65-F5344CB8AC3E}">
        <p14:creationId xmlns:p14="http://schemas.microsoft.com/office/powerpoint/2010/main" val="3467599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memory of workstations: 32G-128G. Typical memory size for servers: 64G-1TB</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4</a:t>
            </a:fld>
            <a:endParaRPr lang="zh-TW" altLang="en-US"/>
          </a:p>
        </p:txBody>
      </p:sp>
    </p:spTree>
    <p:extLst>
      <p:ext uri="{BB962C8B-B14F-4D97-AF65-F5344CB8AC3E}">
        <p14:creationId xmlns:p14="http://schemas.microsoft.com/office/powerpoint/2010/main" val="3890444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Rot="1" noChangeAspect="1" noChangeArrowheads="1" noTextEdit="1"/>
          </p:cNvSpPr>
          <p:nvPr>
            <p:ph type="sldImg"/>
          </p:nvPr>
        </p:nvSpPr>
        <p:spPr>
          <a:xfrm>
            <a:off x="2687638" y="509588"/>
            <a:ext cx="4532312" cy="2549525"/>
          </a:xfrm>
        </p:spPr>
      </p:sp>
      <p:sp>
        <p:nvSpPr>
          <p:cNvPr id="178179"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用</a:t>
            </a:r>
            <a:r>
              <a:rPr lang="en-US" altLang="zh-CN" dirty="0"/>
              <a:t>virtual memory</a:t>
            </a:r>
            <a:r>
              <a:rPr lang="zh-CN" altLang="en-US" dirty="0"/>
              <a:t>主要有两个考量，一个是由于不同程序都会用到主存，我们需要给不同的程序</a:t>
            </a:r>
            <a:r>
              <a:rPr lang="en-US" altLang="zh-CN" dirty="0"/>
              <a:t>isolation</a:t>
            </a:r>
            <a:r>
              <a:rPr lang="zh-CN" altLang="en-US" dirty="0"/>
              <a:t>，同时这也是一种</a:t>
            </a:r>
            <a:r>
              <a:rPr lang="en-US" altLang="zh-CN" dirty="0"/>
              <a:t>protection</a:t>
            </a:r>
          </a:p>
          <a:p>
            <a:r>
              <a:rPr dirty="0"/>
              <a:t>The second motivation for virtual memory is to allow a single user program to exceed the size of primary memory. </a:t>
            </a:r>
          </a:p>
          <a:p>
            <a:r>
              <a:rPr dirty="0"/>
              <a:t>Formerly, if a program became too large</a:t>
            </a:r>
          </a:p>
          <a:p>
            <a:r>
              <a:rPr dirty="0"/>
              <a:t>for memory, it was up to the programmer to make it fi t. Programmers divided</a:t>
            </a:r>
          </a:p>
          <a:p>
            <a:r>
              <a:rPr dirty="0"/>
              <a:t>programs into pieces and then </a:t>
            </a:r>
            <a:r>
              <a:rPr dirty="0" err="1"/>
              <a:t>identifi</a:t>
            </a:r>
            <a:r>
              <a:rPr dirty="0"/>
              <a:t> ed the pieces that were mutually exclusive.</a:t>
            </a:r>
          </a:p>
          <a:p>
            <a:r>
              <a:rPr dirty="0"/>
              <a:t>Th ese overlays were loaded or unloaded under user program control during</a:t>
            </a:r>
          </a:p>
          <a:p>
            <a:r>
              <a:rPr dirty="0"/>
              <a:t>execution, with the programmer ensuring that the program never tried to access</a:t>
            </a:r>
          </a:p>
          <a:p>
            <a:r>
              <a:rPr dirty="0"/>
              <a:t>an overlay that was not loaded and that the overlays loaded never exceeded the</a:t>
            </a:r>
          </a:p>
          <a:p>
            <a:r>
              <a:rPr dirty="0"/>
              <a:t>total size of the memory.</a:t>
            </a:r>
          </a:p>
        </p:txBody>
      </p:sp>
    </p:spTree>
    <p:extLst>
      <p:ext uri="{BB962C8B-B14F-4D97-AF65-F5344CB8AC3E}">
        <p14:creationId xmlns:p14="http://schemas.microsoft.com/office/powerpoint/2010/main" val="1192596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Rot="1" noChangeAspect="1" noChangeArrowheads="1" noTextEdit="1"/>
          </p:cNvSpPr>
          <p:nvPr>
            <p:ph type="sldImg"/>
          </p:nvPr>
        </p:nvSpPr>
        <p:spPr>
          <a:xfrm>
            <a:off x="2687638" y="509588"/>
            <a:ext cx="4532312" cy="2549525"/>
          </a:xfrm>
        </p:spPr>
      </p:sp>
      <p:sp>
        <p:nvSpPr>
          <p:cNvPr id="200707" name="Rectangle 3"/>
          <p:cNvSpPr>
            <a:spLocks noGrp="1" noChangeArrowheads="1"/>
          </p:cNvSpPr>
          <p:nvPr>
            <p:ph type="body" idx="1"/>
          </p:nvPr>
        </p:nvSpPr>
        <p:spPr>
          <a:xfrm>
            <a:off x="1320800" y="3227388"/>
            <a:ext cx="7264400" cy="3057525"/>
          </a:xfrm>
          <a:noFill/>
        </p:spPr>
        <p:txBody>
          <a:bodyPr/>
          <a:lstStyle/>
          <a:p>
            <a:endParaRPr lang="zh-CN" altLang="zh-TW" dirty="0"/>
          </a:p>
        </p:txBody>
      </p:sp>
    </p:spTree>
    <p:extLst>
      <p:ext uri="{BB962C8B-B14F-4D97-AF65-F5344CB8AC3E}">
        <p14:creationId xmlns:p14="http://schemas.microsoft.com/office/powerpoint/2010/main" val="845296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Rot="1" noChangeAspect="1" noChangeArrowheads="1" noTextEdit="1"/>
          </p:cNvSpPr>
          <p:nvPr>
            <p:ph type="sldImg"/>
          </p:nvPr>
        </p:nvSpPr>
        <p:spPr>
          <a:xfrm>
            <a:off x="2687638" y="509588"/>
            <a:ext cx="4532312" cy="2549525"/>
          </a:xfrm>
        </p:spPr>
      </p:sp>
      <p:sp>
        <p:nvSpPr>
          <p:cNvPr id="200707" name="Rectangle 3"/>
          <p:cNvSpPr>
            <a:spLocks noGrp="1" noChangeArrowheads="1"/>
          </p:cNvSpPr>
          <p:nvPr>
            <p:ph type="body" idx="1"/>
          </p:nvPr>
        </p:nvSpPr>
        <p:spPr>
          <a:xfrm>
            <a:off x="1320800" y="3227388"/>
            <a:ext cx="7264400" cy="3057525"/>
          </a:xfrm>
          <a:noFill/>
        </p:spPr>
        <p:txBody>
          <a:bodyPr/>
          <a:lstStyle/>
          <a:p>
            <a:endParaRPr lang="zh-CN" altLang="zh-TW" dirty="0"/>
          </a:p>
        </p:txBody>
      </p:sp>
    </p:spTree>
    <p:extLst>
      <p:ext uri="{BB962C8B-B14F-4D97-AF65-F5344CB8AC3E}">
        <p14:creationId xmlns:p14="http://schemas.microsoft.com/office/powerpoint/2010/main" val="7655958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Rot="1" noChangeAspect="1" noChangeArrowheads="1" noTextEdit="1"/>
          </p:cNvSpPr>
          <p:nvPr>
            <p:ph type="sldImg"/>
          </p:nvPr>
        </p:nvSpPr>
        <p:spPr>
          <a:xfrm>
            <a:off x="2687638" y="509588"/>
            <a:ext cx="4532312" cy="2549525"/>
          </a:xfrm>
        </p:spPr>
      </p:sp>
      <p:sp>
        <p:nvSpPr>
          <p:cNvPr id="199683" name="Rectangle 3"/>
          <p:cNvSpPr>
            <a:spLocks noGrp="1" noChangeArrowheads="1"/>
          </p:cNvSpPr>
          <p:nvPr>
            <p:ph type="body" idx="1"/>
          </p:nvPr>
        </p:nvSpPr>
        <p:spPr>
          <a:xfrm>
            <a:off x="1320800" y="3227388"/>
            <a:ext cx="7264400" cy="3057525"/>
          </a:xfrm>
          <a:noFill/>
        </p:spPr>
        <p:txBody>
          <a:bodyPr/>
          <a:lstStyle/>
          <a:p>
            <a:r>
              <a:rPr lang="zh-CN" altLang="zh-TW"/>
              <a:t>在右边的这个例子中，虚拟地址支持</a:t>
            </a:r>
            <a:r>
              <a:rPr lang="en-US" altLang="zh-CN"/>
              <a:t>2^32</a:t>
            </a:r>
            <a:r>
              <a:rPr lang="zh-CN" altLang="en-US"/>
              <a:t>一共</a:t>
            </a:r>
            <a:r>
              <a:rPr lang="en-US" altLang="zh-CN"/>
              <a:t>4GB</a:t>
            </a:r>
            <a:r>
              <a:rPr lang="zh-CN" altLang="en-US"/>
              <a:t>，物理地址实际是</a:t>
            </a:r>
            <a:r>
              <a:rPr lang="en-US" altLang="zh-CN"/>
              <a:t>2^30</a:t>
            </a:r>
            <a:r>
              <a:rPr lang="zh-CN" altLang="en-US"/>
              <a:t>即</a:t>
            </a:r>
            <a:r>
              <a:rPr lang="en-US" altLang="zh-CN"/>
              <a:t>1GB</a:t>
            </a:r>
            <a:r>
              <a:rPr lang="zh-CN" altLang="en-US"/>
              <a:t>，</a:t>
            </a:r>
          </a:p>
        </p:txBody>
      </p:sp>
    </p:spTree>
    <p:extLst>
      <p:ext uri="{BB962C8B-B14F-4D97-AF65-F5344CB8AC3E}">
        <p14:creationId xmlns:p14="http://schemas.microsoft.com/office/powerpoint/2010/main" val="25127272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Rot="1" noChangeAspect="1" noChangeArrowheads="1" noTextEdit="1"/>
          </p:cNvSpPr>
          <p:nvPr>
            <p:ph type="sldImg"/>
          </p:nvPr>
        </p:nvSpPr>
        <p:spPr>
          <a:xfrm>
            <a:off x="2687638" y="509588"/>
            <a:ext cx="4532312" cy="2549525"/>
          </a:xfrm>
        </p:spPr>
      </p:sp>
      <p:sp>
        <p:nvSpPr>
          <p:cNvPr id="200707" name="Rectangle 3"/>
          <p:cNvSpPr>
            <a:spLocks noGrp="1" noChangeArrowheads="1"/>
          </p:cNvSpPr>
          <p:nvPr>
            <p:ph type="body" idx="1"/>
          </p:nvPr>
        </p:nvSpPr>
        <p:spPr>
          <a:xfrm>
            <a:off x="1320800" y="3227388"/>
            <a:ext cx="7264400" cy="3057525"/>
          </a:xfrm>
          <a:noFill/>
        </p:spPr>
        <p:txBody>
          <a:bodyPr/>
          <a:lstStyle/>
          <a:p>
            <a:r>
              <a:rPr lang="zh-CN" altLang="zh-TW"/>
              <a:t>由于无法知道主存中的某一页什么时候会被替换出去，操作系统会在进程创建的时候为进程中所有的页创建空间，这个空间成为交换区</a:t>
            </a:r>
          </a:p>
        </p:txBody>
      </p:sp>
    </p:spTree>
    <p:extLst>
      <p:ext uri="{BB962C8B-B14F-4D97-AF65-F5344CB8AC3E}">
        <p14:creationId xmlns:p14="http://schemas.microsoft.com/office/powerpoint/2010/main" val="19108897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1026"/>
          <p:cNvSpPr>
            <a:spLocks noGrp="1" noRot="1" noChangeAspect="1" noChangeArrowheads="1" noTextEdit="1"/>
          </p:cNvSpPr>
          <p:nvPr>
            <p:ph type="sldImg"/>
          </p:nvPr>
        </p:nvSpPr>
        <p:spPr>
          <a:xfrm>
            <a:off x="2722563" y="446088"/>
            <a:ext cx="4481512" cy="2522537"/>
          </a:xfrm>
          <a:noFill/>
          <a:ln cap="flat">
            <a:solidFill>
              <a:schemeClr val="tx1"/>
            </a:solidFill>
          </a:ln>
        </p:spPr>
      </p:sp>
      <p:sp>
        <p:nvSpPr>
          <p:cNvPr id="201731" name="Rectangle 1027"/>
          <p:cNvSpPr>
            <a:spLocks noGrp="1" noChangeArrowheads="1"/>
          </p:cNvSpPr>
          <p:nvPr>
            <p:ph type="body" idx="1"/>
          </p:nvPr>
        </p:nvSpPr>
        <p:spPr>
          <a:xfrm>
            <a:off x="746125" y="3227388"/>
            <a:ext cx="8535988" cy="3057525"/>
          </a:xfrm>
          <a:noFill/>
        </p:spPr>
        <p:txBody>
          <a:bodyPr lIns="92075" tIns="46038" rIns="92075" bIns="46038"/>
          <a:lstStyle/>
          <a:p>
            <a:endParaRPr lang="zh-TW" altLang="en-US"/>
          </a:p>
        </p:txBody>
      </p:sp>
    </p:spTree>
    <p:extLst>
      <p:ext uri="{BB962C8B-B14F-4D97-AF65-F5344CB8AC3E}">
        <p14:creationId xmlns:p14="http://schemas.microsoft.com/office/powerpoint/2010/main" val="33203243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Rot="1" noChangeAspect="1" noChangeArrowheads="1" noTextEdit="1"/>
          </p:cNvSpPr>
          <p:nvPr>
            <p:ph type="sldImg"/>
          </p:nvPr>
        </p:nvSpPr>
        <p:spPr>
          <a:xfrm>
            <a:off x="2687638" y="509588"/>
            <a:ext cx="4532312" cy="2549525"/>
          </a:xfrm>
        </p:spPr>
      </p:sp>
      <p:sp>
        <p:nvSpPr>
          <p:cNvPr id="202755" name="Rectangle 3"/>
          <p:cNvSpPr>
            <a:spLocks noGrp="1" noChangeArrowheads="1"/>
          </p:cNvSpPr>
          <p:nvPr>
            <p:ph type="body" idx="1"/>
          </p:nvPr>
        </p:nvSpPr>
        <p:spPr>
          <a:xfrm>
            <a:off x="1320800" y="3227388"/>
            <a:ext cx="7264400" cy="3057525"/>
          </a:xfrm>
          <a:noFill/>
        </p:spPr>
        <p:txBody>
          <a:bodyPr/>
          <a:lstStyle/>
          <a:p>
            <a:r>
              <a:rPr lang="en-US" altLang="zh-TW"/>
              <a:t>PTE</a:t>
            </a:r>
            <a:r>
              <a:rPr lang="zh-CN" altLang="en-US"/>
              <a:t>是</a:t>
            </a:r>
            <a:r>
              <a:rPr lang="en-US" altLang="zh-CN"/>
              <a:t>page table entry</a:t>
            </a:r>
          </a:p>
          <a:p>
            <a:endParaRPr lang="en-US" altLang="zh-CN"/>
          </a:p>
          <a:p>
            <a:r>
              <a:rPr lang="zh-CN" altLang="en-US"/>
              <a:t>写机制不可能用</a:t>
            </a:r>
            <a:r>
              <a:rPr lang="en-US" altLang="zh-CN"/>
              <a:t>write through</a:t>
            </a:r>
            <a:r>
              <a:rPr lang="zh-CN" altLang="en-US"/>
              <a:t>，只可能用</a:t>
            </a:r>
            <a:r>
              <a:rPr lang="en-US" altLang="zh-CN"/>
              <a:t>write-back</a:t>
            </a:r>
            <a:r>
              <a:rPr lang="zh-CN" altLang="en-US"/>
              <a:t>，因为写太耗时了</a:t>
            </a:r>
            <a:endParaRPr lang="en-US" altLang="zh-CN"/>
          </a:p>
          <a:p>
            <a:r>
              <a:rPr lang="en-US" altLang="zh-CN"/>
              <a:t>dirty bit</a:t>
            </a:r>
            <a:r>
              <a:rPr lang="zh-CN" altLang="en-US"/>
              <a:t>是为了追踪主存中的页是否被写过，如果一个页被写过，那么把该页占用的主存让给其他页之前，必须得把这一页写回到磁盘，如果这个</a:t>
            </a:r>
            <a:r>
              <a:rPr lang="en-US" altLang="zh-CN"/>
              <a:t>dirty bit</a:t>
            </a:r>
            <a:r>
              <a:rPr lang="zh-CN" altLang="en-US"/>
              <a:t>被置用了，那么需要写回，</a:t>
            </a:r>
          </a:p>
          <a:p>
            <a:r>
              <a:rPr lang="zh-CN" altLang="en-US"/>
              <a:t>形象的讲究类似于这一页是脏了的</a:t>
            </a:r>
          </a:p>
        </p:txBody>
      </p:sp>
    </p:spTree>
    <p:extLst>
      <p:ext uri="{BB962C8B-B14F-4D97-AF65-F5344CB8AC3E}">
        <p14:creationId xmlns:p14="http://schemas.microsoft.com/office/powerpoint/2010/main" val="37861591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2909707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8261841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1821386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chunk is 512*4K = 2MB </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20</a:t>
            </a:fld>
            <a:endParaRPr lang="zh-TW" altLang="en-US"/>
          </a:p>
        </p:txBody>
      </p:sp>
    </p:spTree>
    <p:extLst>
      <p:ext uri="{BB962C8B-B14F-4D97-AF65-F5344CB8AC3E}">
        <p14:creationId xmlns:p14="http://schemas.microsoft.com/office/powerpoint/2010/main" val="32224474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41017234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3083440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因为</a:t>
            </a:r>
            <a:r>
              <a:rPr lang="en-US" altLang="zh-CN"/>
              <a:t>TLB</a:t>
            </a:r>
            <a:r>
              <a:rPr lang="zh-CN" altLang="en-US"/>
              <a:t>不在主存中，所以相当于可以省了一次</a:t>
            </a:r>
            <a:r>
              <a:rPr lang="en-US" altLang="zh-CN"/>
              <a:t>memory access</a:t>
            </a:r>
          </a:p>
          <a:p>
            <a:r>
              <a:rPr lang="en-US" altLang="zh-CN"/>
              <a:t>TBL</a:t>
            </a:r>
            <a:r>
              <a:rPr lang="zh-CN" altLang="en-US"/>
              <a:t>本质上就是一个集成在</a:t>
            </a:r>
            <a:r>
              <a:rPr lang="en-US" altLang="zh-CN"/>
              <a:t>CPU</a:t>
            </a:r>
            <a:r>
              <a:rPr lang="zh-CN" altLang="en-US"/>
              <a:t>中的小型的</a:t>
            </a:r>
            <a:r>
              <a:rPr lang="en-US" altLang="zh-CN"/>
              <a:t>page table</a:t>
            </a:r>
            <a:r>
              <a:rPr lang="zh-CN" altLang="en-US"/>
              <a:t>，先查它，查到了就可以直接访问主存的物理</a:t>
            </a:r>
            <a:r>
              <a:rPr lang="en-US" altLang="zh-CN"/>
              <a:t>page</a:t>
            </a:r>
            <a:r>
              <a:rPr lang="zh-CN" altLang="en-US"/>
              <a:t>，如果没查到，再去找主存中的</a:t>
            </a:r>
            <a:r>
              <a:rPr lang="en-US" altLang="zh-CN"/>
              <a:t>page table</a:t>
            </a:r>
            <a:r>
              <a:rPr lang="zh-CN" altLang="en-US"/>
              <a:t>，</a:t>
            </a:r>
          </a:p>
          <a:p>
            <a:endParaRPr lang="zh-CN" altLang="en-US"/>
          </a:p>
          <a:p>
            <a:r>
              <a:rPr lang="zh-CN" altLang="en-US"/>
              <a:t>If a miss in the TLB occurs, we must determine whether it is a page fault</a:t>
            </a:r>
          </a:p>
          <a:p>
            <a:r>
              <a:rPr lang="zh-CN" altLang="en-US"/>
              <a:t>or merely a TLB miss</a:t>
            </a:r>
          </a:p>
        </p:txBody>
      </p:sp>
    </p:spTree>
    <p:extLst>
      <p:ext uri="{BB962C8B-B14F-4D97-AF65-F5344CB8AC3E}">
        <p14:creationId xmlns:p14="http://schemas.microsoft.com/office/powerpoint/2010/main" val="35437579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Rot="1" noChangeAspect="1" noChangeArrowheads="1" noTextEdit="1"/>
          </p:cNvSpPr>
          <p:nvPr>
            <p:ph type="sldImg"/>
          </p:nvPr>
        </p:nvSpPr>
        <p:spPr>
          <a:xfrm>
            <a:off x="2722563" y="446088"/>
            <a:ext cx="4481512" cy="2522537"/>
          </a:xfrm>
          <a:noFill/>
          <a:ln cap="flat">
            <a:solidFill>
              <a:schemeClr val="tx1"/>
            </a:solidFill>
          </a:ln>
        </p:spPr>
      </p:sp>
      <p:sp>
        <p:nvSpPr>
          <p:cNvPr id="205827" name="Rectangle 3"/>
          <p:cNvSpPr>
            <a:spLocks noGrp="1" noChangeArrowheads="1"/>
          </p:cNvSpPr>
          <p:nvPr>
            <p:ph type="body" idx="1"/>
          </p:nvPr>
        </p:nvSpPr>
        <p:spPr>
          <a:xfrm>
            <a:off x="746125" y="3227388"/>
            <a:ext cx="8535988" cy="3057525"/>
          </a:xfrm>
          <a:noFill/>
        </p:spPr>
        <p:txBody>
          <a:bodyPr lIns="92075" tIns="46038" rIns="92075" bIns="46038"/>
          <a:lstStyle/>
          <a:p>
            <a:r>
              <a:rPr lang="zh-CN" altLang="zh-TW"/>
              <a:t>这里</a:t>
            </a:r>
            <a:r>
              <a:rPr lang="en-US" altLang="zh-CN"/>
              <a:t>valid bit</a:t>
            </a:r>
            <a:r>
              <a:rPr lang="zh-CN" altLang="en-US"/>
              <a:t>是表示这一页是否在</a:t>
            </a:r>
            <a:r>
              <a:rPr lang="en-US" altLang="zh-CN"/>
              <a:t>main memory</a:t>
            </a:r>
            <a:r>
              <a:rPr lang="zh-CN" altLang="en-US"/>
              <a:t>中</a:t>
            </a:r>
          </a:p>
          <a:p>
            <a:r>
              <a:rPr lang="en-US" altLang="zh-CN"/>
              <a:t>dirty bit</a:t>
            </a:r>
            <a:r>
              <a:rPr lang="zh-CN" altLang="en-US"/>
              <a:t>表示这一页是否被写过，</a:t>
            </a:r>
          </a:p>
          <a:p>
            <a:r>
              <a:rPr lang="en-US" altLang="zh-CN"/>
              <a:t>reference bit</a:t>
            </a:r>
            <a:r>
              <a:rPr lang="zh-CN" altLang="en-US"/>
              <a:t>表示这一页是否最近被访问过，主要用于替换策略</a:t>
            </a:r>
          </a:p>
        </p:txBody>
      </p:sp>
    </p:spTree>
    <p:extLst>
      <p:ext uri="{BB962C8B-B14F-4D97-AF65-F5344CB8AC3E}">
        <p14:creationId xmlns:p14="http://schemas.microsoft.com/office/powerpoint/2010/main" val="27875820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Rot="1" noChangeAspect="1" noChangeArrowheads="1" noTextEdit="1"/>
          </p:cNvSpPr>
          <p:nvPr>
            <p:ph type="sldImg"/>
          </p:nvPr>
        </p:nvSpPr>
        <p:spPr>
          <a:xfrm>
            <a:off x="2687638" y="509588"/>
            <a:ext cx="4532312" cy="2549525"/>
          </a:xfrm>
        </p:spPr>
      </p:sp>
      <p:sp>
        <p:nvSpPr>
          <p:cNvPr id="206851"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17338507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Rot="1" noChangeAspect="1" noChangeArrowheads="1" noTextEdit="1"/>
          </p:cNvSpPr>
          <p:nvPr>
            <p:ph type="sldImg"/>
          </p:nvPr>
        </p:nvSpPr>
        <p:spPr>
          <a:xfrm>
            <a:off x="2687638" y="509588"/>
            <a:ext cx="4532312" cy="2549525"/>
          </a:xfrm>
        </p:spPr>
      </p:sp>
      <p:sp>
        <p:nvSpPr>
          <p:cNvPr id="206851"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24134352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Rot="1" noChangeAspect="1" noChangeArrowheads="1" noTextEdit="1"/>
          </p:cNvSpPr>
          <p:nvPr>
            <p:ph type="sldImg"/>
          </p:nvPr>
        </p:nvSpPr>
        <p:spPr>
          <a:xfrm>
            <a:off x="2722563" y="446088"/>
            <a:ext cx="4481512" cy="2522537"/>
          </a:xfrm>
          <a:ln cap="flat">
            <a:solidFill>
              <a:schemeClr val="tx1"/>
            </a:solidFill>
          </a:ln>
        </p:spPr>
      </p:sp>
      <p:sp>
        <p:nvSpPr>
          <p:cNvPr id="209923" name="Rectangle 3"/>
          <p:cNvSpPr>
            <a:spLocks noGrp="1" noChangeArrowheads="1"/>
          </p:cNvSpPr>
          <p:nvPr>
            <p:ph type="body" idx="1"/>
          </p:nvPr>
        </p:nvSpPr>
        <p:spPr>
          <a:xfrm>
            <a:off x="746125" y="3227388"/>
            <a:ext cx="8535988" cy="3057525"/>
          </a:xfrm>
          <a:noFill/>
        </p:spPr>
        <p:txBody>
          <a:bodyPr lIns="92075" tIns="46038" rIns="92075" bIns="46038"/>
          <a:lstStyle/>
          <a:p>
            <a:r>
              <a:rPr lang="en-US" altLang="zh-TW"/>
              <a:t>CPU</a:t>
            </a:r>
            <a:r>
              <a:rPr lang="zh-CN" altLang="en-US"/>
              <a:t>访问的顺序这么看分为很多级了，首先是</a:t>
            </a:r>
            <a:r>
              <a:rPr lang="en-US" altLang="zh-CN"/>
              <a:t>TLB</a:t>
            </a:r>
            <a:r>
              <a:rPr lang="zh-CN" altLang="en-US"/>
              <a:t>，然后是</a:t>
            </a:r>
            <a:r>
              <a:rPr lang="en-US" altLang="zh-CN"/>
              <a:t>cache</a:t>
            </a:r>
            <a:r>
              <a:rPr lang="zh-CN" altLang="en-US"/>
              <a:t>，然后是</a:t>
            </a:r>
            <a:r>
              <a:rPr lang="en-US" altLang="zh-CN"/>
              <a:t>main memory</a:t>
            </a:r>
          </a:p>
          <a:p>
            <a:r>
              <a:rPr lang="zh-CN" altLang="en-US"/>
              <a:t>注意</a:t>
            </a:r>
            <a:r>
              <a:rPr lang="en-US" altLang="zh-CN"/>
              <a:t>cache</a:t>
            </a:r>
            <a:r>
              <a:rPr lang="zh-CN" altLang="en-US"/>
              <a:t>里面是存</a:t>
            </a:r>
            <a:r>
              <a:rPr lang="en-US" altLang="zh-CN"/>
              <a:t>data </a:t>
            </a:r>
            <a:r>
              <a:rPr lang="zh-CN" altLang="en-US"/>
              <a:t>的，而</a:t>
            </a:r>
            <a:r>
              <a:rPr lang="en-US" altLang="zh-CN"/>
              <a:t>TLB</a:t>
            </a:r>
            <a:r>
              <a:rPr lang="zh-CN" altLang="en-US"/>
              <a:t>里面是存</a:t>
            </a:r>
            <a:r>
              <a:rPr lang="en-US" altLang="zh-CN"/>
              <a:t>page number</a:t>
            </a:r>
          </a:p>
          <a:p>
            <a:endParaRPr lang="en-US" altLang="zh-CN"/>
          </a:p>
          <a:p>
            <a:r>
              <a:rPr lang="zh-CN" altLang="en-US"/>
              <a:t>这里</a:t>
            </a:r>
            <a:r>
              <a:rPr lang="en-US" altLang="zh-CN"/>
              <a:t>VA</a:t>
            </a:r>
            <a:r>
              <a:rPr lang="zh-CN" altLang="en-US"/>
              <a:t>和</a:t>
            </a:r>
            <a:r>
              <a:rPr lang="en-US" altLang="zh-CN"/>
              <a:t>PA</a:t>
            </a:r>
            <a:r>
              <a:rPr lang="zh-CN" altLang="en-US"/>
              <a:t>应该是指代</a:t>
            </a:r>
            <a:r>
              <a:rPr lang="en-US" altLang="zh-CN"/>
              <a:t>virtual address</a:t>
            </a:r>
            <a:r>
              <a:rPr lang="zh-CN" altLang="en-US"/>
              <a:t>和</a:t>
            </a:r>
            <a:r>
              <a:rPr lang="en-US" altLang="zh-CN"/>
              <a:t>physical address</a:t>
            </a:r>
          </a:p>
        </p:txBody>
      </p:sp>
    </p:spTree>
    <p:extLst>
      <p:ext uri="{BB962C8B-B14F-4D97-AF65-F5344CB8AC3E}">
        <p14:creationId xmlns:p14="http://schemas.microsoft.com/office/powerpoint/2010/main" val="3211389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a:p>
            <a:endParaRPr lang="zh-CN" altLang="en-US" dirty="0"/>
          </a:p>
        </p:txBody>
      </p:sp>
    </p:spTree>
    <p:extLst>
      <p:ext uri="{BB962C8B-B14F-4D97-AF65-F5344CB8AC3E}">
        <p14:creationId xmlns:p14="http://schemas.microsoft.com/office/powerpoint/2010/main" val="39036964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FCCDA678-4D83-46D8-AEE7-8D4BA4C13E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新細明體" panose="02020500000000000000" pitchFamily="18" charset="-120"/>
              </a:defRPr>
            </a:lvl1pPr>
            <a:lvl2pPr marL="742950" indent="-285750">
              <a:spcBef>
                <a:spcPct val="30000"/>
              </a:spcBef>
              <a:defRPr kumimoji="1" sz="1200">
                <a:solidFill>
                  <a:schemeClr val="tx1"/>
                </a:solidFill>
                <a:latin typeface="Times New Roman" panose="02020603050405020304" pitchFamily="18" charset="0"/>
                <a:ea typeface="新細明體" panose="02020500000000000000" pitchFamily="18" charset="-120"/>
              </a:defRPr>
            </a:lvl2pPr>
            <a:lvl3pPr marL="1143000" indent="-228600">
              <a:spcBef>
                <a:spcPct val="30000"/>
              </a:spcBef>
              <a:defRPr kumimoji="1" sz="1200">
                <a:solidFill>
                  <a:schemeClr val="tx1"/>
                </a:solidFill>
                <a:latin typeface="Times New Roman" panose="02020603050405020304" pitchFamily="18" charset="0"/>
                <a:ea typeface="新細明體" panose="02020500000000000000" pitchFamily="18" charset="-120"/>
              </a:defRPr>
            </a:lvl3pPr>
            <a:lvl4pPr marL="1600200" indent="-228600">
              <a:spcBef>
                <a:spcPct val="30000"/>
              </a:spcBef>
              <a:defRPr kumimoji="1" sz="1200">
                <a:solidFill>
                  <a:schemeClr val="tx1"/>
                </a:solidFill>
                <a:latin typeface="Times New Roman" panose="02020603050405020304" pitchFamily="18" charset="0"/>
                <a:ea typeface="新細明體" panose="02020500000000000000" pitchFamily="18" charset="-120"/>
              </a:defRPr>
            </a:lvl4pPr>
            <a:lvl5pPr marL="2057400" indent="-228600">
              <a:spcBef>
                <a:spcPct val="30000"/>
              </a:spcBef>
              <a:defRPr kumimoji="1" sz="12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6D151AA5-9629-4E48-853D-51197BE0A04C}" type="slidenum">
              <a:rPr kumimoji="1" lang="zh-TW" altLang="en-US" sz="12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mn-cs"/>
              </a:rPr>
              <a:pPr marL="0" marR="0" lvl="0" indent="0" algn="r" defTabSz="914400" rtl="0" eaLnBrk="1" fontAlgn="auto" latinLnBrk="0" hangingPunct="1">
                <a:lnSpc>
                  <a:spcPct val="100000"/>
                </a:lnSpc>
                <a:spcBef>
                  <a:spcPct val="0"/>
                </a:spcBef>
                <a:spcAft>
                  <a:spcPts val="0"/>
                </a:spcAft>
                <a:buClrTx/>
                <a:buSzTx/>
                <a:buFontTx/>
                <a:buNone/>
                <a:tabLst/>
                <a:defRPr/>
              </a:pPr>
              <a:t>32</a:t>
            </a:fld>
            <a:endParaRPr kumimoji="1" lang="en-US" altLang="zh-TW" sz="12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mn-cs"/>
            </a:endParaRPr>
          </a:p>
        </p:txBody>
      </p:sp>
      <p:sp>
        <p:nvSpPr>
          <p:cNvPr id="22531" name="Rectangle 2">
            <a:extLst>
              <a:ext uri="{FF2B5EF4-FFF2-40B4-BE49-F238E27FC236}">
                <a16:creationId xmlns:a16="http://schemas.microsoft.com/office/drawing/2014/main" id="{EE6A5362-F56A-4290-9916-51D29B2531CE}"/>
              </a:ext>
            </a:extLst>
          </p:cNvPr>
          <p:cNvSpPr>
            <a:spLocks noGrp="1" noRot="1" noChangeAspect="1" noChangeArrowheads="1" noTextEdit="1"/>
          </p:cNvSpPr>
          <p:nvPr>
            <p:ph type="sldImg"/>
          </p:nvPr>
        </p:nvSpPr>
        <p:spPr>
          <a:xfrm>
            <a:off x="393700" y="692150"/>
            <a:ext cx="6070600" cy="3416300"/>
          </a:xfrm>
          <a:solidFill>
            <a:srgbClr val="FFFFFF"/>
          </a:solidFill>
          <a:ln/>
        </p:spPr>
      </p:sp>
      <p:sp>
        <p:nvSpPr>
          <p:cNvPr id="22532" name="Rectangle 3">
            <a:extLst>
              <a:ext uri="{FF2B5EF4-FFF2-40B4-BE49-F238E27FC236}">
                <a16:creationId xmlns:a16="http://schemas.microsoft.com/office/drawing/2014/main" id="{43C7D63D-CF60-443E-8264-40C41778FC9B}"/>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zh-TW" altLang="en-US"/>
          </a:p>
        </p:txBody>
      </p:sp>
    </p:spTree>
    <p:extLst>
      <p:ext uri="{BB962C8B-B14F-4D97-AF65-F5344CB8AC3E}">
        <p14:creationId xmlns:p14="http://schemas.microsoft.com/office/powerpoint/2010/main" val="21820127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FCCDA678-4D83-46D8-AEE7-8D4BA4C13E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新細明體" panose="02020500000000000000" pitchFamily="18" charset="-120"/>
              </a:defRPr>
            </a:lvl1pPr>
            <a:lvl2pPr marL="742950" indent="-285750">
              <a:spcBef>
                <a:spcPct val="30000"/>
              </a:spcBef>
              <a:defRPr kumimoji="1" sz="1200">
                <a:solidFill>
                  <a:schemeClr val="tx1"/>
                </a:solidFill>
                <a:latin typeface="Times New Roman" panose="02020603050405020304" pitchFamily="18" charset="0"/>
                <a:ea typeface="新細明體" panose="02020500000000000000" pitchFamily="18" charset="-120"/>
              </a:defRPr>
            </a:lvl2pPr>
            <a:lvl3pPr marL="1143000" indent="-228600">
              <a:spcBef>
                <a:spcPct val="30000"/>
              </a:spcBef>
              <a:defRPr kumimoji="1" sz="1200">
                <a:solidFill>
                  <a:schemeClr val="tx1"/>
                </a:solidFill>
                <a:latin typeface="Times New Roman" panose="02020603050405020304" pitchFamily="18" charset="0"/>
                <a:ea typeface="新細明體" panose="02020500000000000000" pitchFamily="18" charset="-120"/>
              </a:defRPr>
            </a:lvl3pPr>
            <a:lvl4pPr marL="1600200" indent="-228600">
              <a:spcBef>
                <a:spcPct val="30000"/>
              </a:spcBef>
              <a:defRPr kumimoji="1" sz="1200">
                <a:solidFill>
                  <a:schemeClr val="tx1"/>
                </a:solidFill>
                <a:latin typeface="Times New Roman" panose="02020603050405020304" pitchFamily="18" charset="0"/>
                <a:ea typeface="新細明體" panose="02020500000000000000" pitchFamily="18" charset="-120"/>
              </a:defRPr>
            </a:lvl4pPr>
            <a:lvl5pPr marL="2057400" indent="-228600">
              <a:spcBef>
                <a:spcPct val="30000"/>
              </a:spcBef>
              <a:defRPr kumimoji="1" sz="12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6D151AA5-9629-4E48-853D-51197BE0A04C}" type="slidenum">
              <a:rPr kumimoji="1" lang="zh-TW" altLang="en-US" sz="12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mn-cs"/>
              </a:rPr>
              <a:pPr marL="0" marR="0" lvl="0" indent="0" algn="r" defTabSz="914400" rtl="0" eaLnBrk="1" fontAlgn="auto" latinLnBrk="0" hangingPunct="1">
                <a:lnSpc>
                  <a:spcPct val="100000"/>
                </a:lnSpc>
                <a:spcBef>
                  <a:spcPct val="0"/>
                </a:spcBef>
                <a:spcAft>
                  <a:spcPts val="0"/>
                </a:spcAft>
                <a:buClrTx/>
                <a:buSzTx/>
                <a:buFontTx/>
                <a:buNone/>
                <a:tabLst/>
                <a:defRPr/>
              </a:pPr>
              <a:t>33</a:t>
            </a:fld>
            <a:endParaRPr kumimoji="1" lang="en-US" altLang="zh-TW" sz="12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mn-cs"/>
            </a:endParaRPr>
          </a:p>
        </p:txBody>
      </p:sp>
      <p:sp>
        <p:nvSpPr>
          <p:cNvPr id="22531" name="Rectangle 2">
            <a:extLst>
              <a:ext uri="{FF2B5EF4-FFF2-40B4-BE49-F238E27FC236}">
                <a16:creationId xmlns:a16="http://schemas.microsoft.com/office/drawing/2014/main" id="{EE6A5362-F56A-4290-9916-51D29B2531CE}"/>
              </a:ext>
            </a:extLst>
          </p:cNvPr>
          <p:cNvSpPr>
            <a:spLocks noGrp="1" noRot="1" noChangeAspect="1" noChangeArrowheads="1" noTextEdit="1"/>
          </p:cNvSpPr>
          <p:nvPr>
            <p:ph type="sldImg"/>
          </p:nvPr>
        </p:nvSpPr>
        <p:spPr>
          <a:xfrm>
            <a:off x="393700" y="692150"/>
            <a:ext cx="6070600" cy="3416300"/>
          </a:xfrm>
          <a:solidFill>
            <a:srgbClr val="FFFFFF"/>
          </a:solidFill>
          <a:ln/>
        </p:spPr>
      </p:sp>
      <p:sp>
        <p:nvSpPr>
          <p:cNvPr id="22532" name="Rectangle 3">
            <a:extLst>
              <a:ext uri="{FF2B5EF4-FFF2-40B4-BE49-F238E27FC236}">
                <a16:creationId xmlns:a16="http://schemas.microsoft.com/office/drawing/2014/main" id="{43C7D63D-CF60-443E-8264-40C41778FC9B}"/>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zh-TW" altLang="en-US"/>
          </a:p>
        </p:txBody>
      </p:sp>
    </p:spTree>
    <p:extLst>
      <p:ext uri="{BB962C8B-B14F-4D97-AF65-F5344CB8AC3E}">
        <p14:creationId xmlns:p14="http://schemas.microsoft.com/office/powerpoint/2010/main" val="14563795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FCCDA678-4D83-46D8-AEE7-8D4BA4C13E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新細明體" panose="02020500000000000000" pitchFamily="18" charset="-120"/>
              </a:defRPr>
            </a:lvl1pPr>
            <a:lvl2pPr marL="742950" indent="-285750">
              <a:spcBef>
                <a:spcPct val="30000"/>
              </a:spcBef>
              <a:defRPr kumimoji="1" sz="1200">
                <a:solidFill>
                  <a:schemeClr val="tx1"/>
                </a:solidFill>
                <a:latin typeface="Times New Roman" panose="02020603050405020304" pitchFamily="18" charset="0"/>
                <a:ea typeface="新細明體" panose="02020500000000000000" pitchFamily="18" charset="-120"/>
              </a:defRPr>
            </a:lvl2pPr>
            <a:lvl3pPr marL="1143000" indent="-228600">
              <a:spcBef>
                <a:spcPct val="30000"/>
              </a:spcBef>
              <a:defRPr kumimoji="1" sz="1200">
                <a:solidFill>
                  <a:schemeClr val="tx1"/>
                </a:solidFill>
                <a:latin typeface="Times New Roman" panose="02020603050405020304" pitchFamily="18" charset="0"/>
                <a:ea typeface="新細明體" panose="02020500000000000000" pitchFamily="18" charset="-120"/>
              </a:defRPr>
            </a:lvl3pPr>
            <a:lvl4pPr marL="1600200" indent="-228600">
              <a:spcBef>
                <a:spcPct val="30000"/>
              </a:spcBef>
              <a:defRPr kumimoji="1" sz="1200">
                <a:solidFill>
                  <a:schemeClr val="tx1"/>
                </a:solidFill>
                <a:latin typeface="Times New Roman" panose="02020603050405020304" pitchFamily="18" charset="0"/>
                <a:ea typeface="新細明體" panose="02020500000000000000" pitchFamily="18" charset="-120"/>
              </a:defRPr>
            </a:lvl4pPr>
            <a:lvl5pPr marL="2057400" indent="-228600">
              <a:spcBef>
                <a:spcPct val="30000"/>
              </a:spcBef>
              <a:defRPr kumimoji="1" sz="12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6D151AA5-9629-4E48-853D-51197BE0A04C}" type="slidenum">
              <a:rPr kumimoji="1" lang="zh-TW" altLang="en-US" sz="12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mn-cs"/>
              </a:rPr>
              <a:pPr marL="0" marR="0" lvl="0" indent="0" algn="r" defTabSz="914400" rtl="0" eaLnBrk="1" fontAlgn="auto" latinLnBrk="0" hangingPunct="1">
                <a:lnSpc>
                  <a:spcPct val="100000"/>
                </a:lnSpc>
                <a:spcBef>
                  <a:spcPct val="0"/>
                </a:spcBef>
                <a:spcAft>
                  <a:spcPts val="0"/>
                </a:spcAft>
                <a:buClrTx/>
                <a:buSzTx/>
                <a:buFontTx/>
                <a:buNone/>
                <a:tabLst/>
                <a:defRPr/>
              </a:pPr>
              <a:t>34</a:t>
            </a:fld>
            <a:endParaRPr kumimoji="1" lang="en-US" altLang="zh-TW" sz="12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mn-cs"/>
            </a:endParaRPr>
          </a:p>
        </p:txBody>
      </p:sp>
      <p:sp>
        <p:nvSpPr>
          <p:cNvPr id="22531" name="Rectangle 2">
            <a:extLst>
              <a:ext uri="{FF2B5EF4-FFF2-40B4-BE49-F238E27FC236}">
                <a16:creationId xmlns:a16="http://schemas.microsoft.com/office/drawing/2014/main" id="{EE6A5362-F56A-4290-9916-51D29B2531CE}"/>
              </a:ext>
            </a:extLst>
          </p:cNvPr>
          <p:cNvSpPr>
            <a:spLocks noGrp="1" noRot="1" noChangeAspect="1" noChangeArrowheads="1" noTextEdit="1"/>
          </p:cNvSpPr>
          <p:nvPr>
            <p:ph type="sldImg"/>
          </p:nvPr>
        </p:nvSpPr>
        <p:spPr>
          <a:xfrm>
            <a:off x="393700" y="692150"/>
            <a:ext cx="6070600" cy="3416300"/>
          </a:xfrm>
          <a:solidFill>
            <a:srgbClr val="FFFFFF"/>
          </a:solidFill>
          <a:ln/>
        </p:spPr>
      </p:sp>
      <p:sp>
        <p:nvSpPr>
          <p:cNvPr id="22532" name="Rectangle 3">
            <a:extLst>
              <a:ext uri="{FF2B5EF4-FFF2-40B4-BE49-F238E27FC236}">
                <a16:creationId xmlns:a16="http://schemas.microsoft.com/office/drawing/2014/main" id="{43C7D63D-CF60-443E-8264-40C41778FC9B}"/>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zh-TW" altLang="en-US"/>
          </a:p>
        </p:txBody>
      </p:sp>
    </p:spTree>
    <p:extLst>
      <p:ext uri="{BB962C8B-B14F-4D97-AF65-F5344CB8AC3E}">
        <p14:creationId xmlns:p14="http://schemas.microsoft.com/office/powerpoint/2010/main" val="30603746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010452C8-3340-4C92-8849-6F83D8DCF1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D22CD7F-6B65-4086-9051-FA85E2DEE561}" type="slidenum">
              <a:rPr lang="en-US" altLang="zh-TW"/>
              <a:pPr/>
              <a:t>35</a:t>
            </a:fld>
            <a:endParaRPr lang="en-US" altLang="zh-TW"/>
          </a:p>
        </p:txBody>
      </p:sp>
      <p:sp>
        <p:nvSpPr>
          <p:cNvPr id="38915" name="Rectangle 2">
            <a:extLst>
              <a:ext uri="{FF2B5EF4-FFF2-40B4-BE49-F238E27FC236}">
                <a16:creationId xmlns:a16="http://schemas.microsoft.com/office/drawing/2014/main" id="{B280C122-D70F-4A57-B5D4-12706699EC46}"/>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65440BAC-E54A-49F6-BC0F-107CE5ED1A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7B379EBA-9476-47A5-8345-2D2357B673D5}"/>
              </a:ext>
            </a:extLst>
          </p:cNvPr>
          <p:cNvSpPr>
            <a:spLocks noGrp="1" noRot="1" noChangeAspect="1" noTextEdit="1"/>
          </p:cNvSpPr>
          <p:nvPr>
            <p:ph type="sldImg"/>
          </p:nvPr>
        </p:nvSpPr>
        <p:spPr>
          <a:ln/>
        </p:spPr>
      </p:sp>
      <p:sp>
        <p:nvSpPr>
          <p:cNvPr id="15363" name="Notes Placeholder 2">
            <a:extLst>
              <a:ext uri="{FF2B5EF4-FFF2-40B4-BE49-F238E27FC236}">
                <a16:creationId xmlns:a16="http://schemas.microsoft.com/office/drawing/2014/main" id="{56401366-EB94-47DA-B682-85DA545FA72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Some historical, some relevant today, and some are likely to happen in the future</a:t>
            </a:r>
          </a:p>
        </p:txBody>
      </p:sp>
      <p:sp>
        <p:nvSpPr>
          <p:cNvPr id="15364" name="Slide Number Placeholder 3">
            <a:extLst>
              <a:ext uri="{FF2B5EF4-FFF2-40B4-BE49-F238E27FC236}">
                <a16:creationId xmlns:a16="http://schemas.microsoft.com/office/drawing/2014/main" id="{2AECE20D-4C44-4D53-9E82-97EBD44C78B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A39E5B3-0B3C-4519-896C-3244730E063A}" type="slidenum">
              <a:rPr lang="en-US" altLang="zh-TW"/>
              <a:pPr/>
              <a:t>36</a:t>
            </a:fld>
            <a:endParaRPr lang="en-US" altLang="zh-TW"/>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79110C74-AE3D-4EDB-ADC1-48016B2A96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Arial" panose="020B0604020202020204" pitchFamily="34" charset="0"/>
              </a:defRPr>
            </a:lvl1pPr>
            <a:lvl2pPr marL="742950" indent="-285750" defTabSz="927100">
              <a:spcBef>
                <a:spcPct val="30000"/>
              </a:spcBef>
              <a:defRPr sz="1200">
                <a:solidFill>
                  <a:schemeClr val="tx1"/>
                </a:solidFill>
                <a:latin typeface="Arial" panose="020B0604020202020204" pitchFamily="34" charset="0"/>
              </a:defRPr>
            </a:lvl2pPr>
            <a:lvl3pPr marL="1143000" indent="-228600" defTabSz="927100">
              <a:spcBef>
                <a:spcPct val="30000"/>
              </a:spcBef>
              <a:defRPr sz="1200">
                <a:solidFill>
                  <a:schemeClr val="tx1"/>
                </a:solidFill>
                <a:latin typeface="Arial" panose="020B0604020202020204" pitchFamily="34" charset="0"/>
              </a:defRPr>
            </a:lvl3pPr>
            <a:lvl4pPr marL="1600200" indent="-228600" defTabSz="927100">
              <a:spcBef>
                <a:spcPct val="30000"/>
              </a:spcBef>
              <a:defRPr sz="1200">
                <a:solidFill>
                  <a:schemeClr val="tx1"/>
                </a:solidFill>
                <a:latin typeface="Arial" panose="020B0604020202020204" pitchFamily="34" charset="0"/>
              </a:defRPr>
            </a:lvl4pPr>
            <a:lvl5pPr marL="2057400" indent="-228600" defTabSz="927100">
              <a:spcBef>
                <a:spcPct val="30000"/>
              </a:spcBef>
              <a:defRPr sz="1200">
                <a:solidFill>
                  <a:schemeClr val="tx1"/>
                </a:solidFill>
                <a:latin typeface="Arial" panose="020B0604020202020204" pitchFamily="34" charset="0"/>
              </a:defRPr>
            </a:lvl5pPr>
            <a:lvl6pPr marL="2514600" indent="-228600" defTabSz="927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27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27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2132A26-A759-42CF-8076-8230F1A41A7D}" type="slidenum">
              <a:rPr lang="en-US" altLang="zh-TW">
                <a:latin typeface="Times New Roman" panose="02020603050405020304" pitchFamily="18" charset="0"/>
              </a:rPr>
              <a:pPr>
                <a:spcBef>
                  <a:spcPct val="0"/>
                </a:spcBef>
              </a:pPr>
              <a:t>39</a:t>
            </a:fld>
            <a:endParaRPr lang="en-US" altLang="zh-TW">
              <a:latin typeface="Times New Roman" panose="02020603050405020304" pitchFamily="18" charset="0"/>
            </a:endParaRPr>
          </a:p>
        </p:txBody>
      </p:sp>
      <p:sp>
        <p:nvSpPr>
          <p:cNvPr id="11267" name="Rectangle 2">
            <a:extLst>
              <a:ext uri="{FF2B5EF4-FFF2-40B4-BE49-F238E27FC236}">
                <a16:creationId xmlns:a16="http://schemas.microsoft.com/office/drawing/2014/main" id="{3CCE339D-E41B-4458-BEEF-912E892CAAE5}"/>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B2D0CDDE-59C7-4E42-9C47-2F864F02E9B5}"/>
              </a:ext>
            </a:extLst>
          </p:cNvPr>
          <p:cNvSpPr>
            <a:spLocks noGrp="1" noChangeArrowheads="1"/>
          </p:cNvSpPr>
          <p:nvPr>
            <p:ph type="body" idx="1"/>
          </p:nvPr>
        </p:nvSpPr>
        <p:spPr>
          <a:xfrm>
            <a:off x="758825" y="4411663"/>
            <a:ext cx="5546725" cy="417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en-US" altLang="zh-TW" sz="1000">
                <a:latin typeface="Arial" panose="020B0604020202020204" pitchFamily="34" charset="0"/>
              </a:rPr>
              <a:t>In the server environment, virtualization increase utilization by making it possible to host mixed operating systems on a platform. By migrating workloads from dedicated smaller servers to high-reliability enterprise platforms, administrators can increase efficiency, reduce energy costs, maintain high reliability, and reduce administration overhead. </a:t>
            </a:r>
          </a:p>
          <a:p>
            <a:pPr>
              <a:lnSpc>
                <a:spcPct val="90000"/>
              </a:lnSpc>
            </a:pPr>
            <a:endParaRPr lang="en-US" altLang="zh-TW" sz="1000">
              <a:latin typeface="Arial" panose="020B0604020202020204" pitchFamily="34" charset="0"/>
            </a:endParaRPr>
          </a:p>
          <a:p>
            <a:pPr>
              <a:lnSpc>
                <a:spcPct val="90000"/>
              </a:lnSpc>
            </a:pPr>
            <a:r>
              <a:rPr lang="en-US" altLang="zh-TW" sz="1000">
                <a:latin typeface="Arial" panose="020B0604020202020204" pitchFamily="34" charset="0"/>
              </a:rPr>
              <a:t>By providing the ability to run development, test and production version of a software stack on the same machine, virtualization can reduce the number of machines need in the development environment. It can also speed deployment because the development and production platforms are guaranteed to be identical, the developer can plug into production workloads, and the promotion from test to production can be done in seconds. The isolation provided by the VMM ensures that test software cannot bring down the production applications.</a:t>
            </a:r>
          </a:p>
          <a:p>
            <a:pPr>
              <a:lnSpc>
                <a:spcPct val="90000"/>
              </a:lnSpc>
            </a:pPr>
            <a:endParaRPr lang="en-US" altLang="zh-TW" sz="1000">
              <a:latin typeface="Arial" panose="020B0604020202020204" pitchFamily="34" charset="0"/>
            </a:endParaRPr>
          </a:p>
          <a:p>
            <a:pPr>
              <a:lnSpc>
                <a:spcPct val="90000"/>
              </a:lnSpc>
            </a:pPr>
            <a:r>
              <a:rPr lang="en-US" altLang="zh-TW" sz="1000">
                <a:latin typeface="Arial" panose="020B0604020202020204" pitchFamily="34" charset="0"/>
              </a:rPr>
              <a:t>Disaster recover is aided by virtualization because production software can be encapsulated in a virtual machine and moved as a unit from a failing machine to an alternate platform before the application fails. Or if the hardware does fail, the application can be quickly restored as a single VM, eliminating the sometimes long and laborious process of restore backup files and reconfiguring the OS and applications before the system can be restarted.</a:t>
            </a:r>
          </a:p>
          <a:p>
            <a:pPr>
              <a:lnSpc>
                <a:spcPct val="90000"/>
              </a:lnSpc>
            </a:pPr>
            <a:endParaRPr lang="en-US" altLang="zh-TW" sz="1000">
              <a:latin typeface="Arial" panose="020B0604020202020204" pitchFamily="34" charset="0"/>
            </a:endParaRPr>
          </a:p>
          <a:p>
            <a:pPr>
              <a:lnSpc>
                <a:spcPct val="90000"/>
              </a:lnSpc>
            </a:pPr>
            <a:r>
              <a:rPr lang="en-US" altLang="zh-TW" sz="1000">
                <a:latin typeface="Arial" panose="020B0604020202020204" pitchFamily="34" charset="0"/>
              </a:rPr>
              <a:t>Extending the notion of VM migration, dynamic load balancing software monitors the performance of an application running in a VM and when the response falls below as target level the VM is given access to more resources on its current platform, or moved to a more powerful or less utilized platform. As a result, the average utilization of all the machines is higher and more consistent. </a:t>
            </a:r>
          </a:p>
          <a:p>
            <a:pPr>
              <a:lnSpc>
                <a:spcPct val="90000"/>
              </a:lnSpc>
            </a:pPr>
            <a:endParaRPr lang="en-US" altLang="zh-TW" sz="1000">
              <a:latin typeface="Arial" panose="020B0604020202020204" pitchFamily="34" charset="0"/>
            </a:endParaRPr>
          </a:p>
          <a:p>
            <a:pPr>
              <a:lnSpc>
                <a:spcPct val="90000"/>
              </a:lnSpc>
            </a:pPr>
            <a:endParaRPr lang="en-US" altLang="zh-TW" sz="1000">
              <a:latin typeface="Arial" panose="020B0604020202020204" pitchFamily="34" charset="0"/>
            </a:endParaRPr>
          </a:p>
          <a:p>
            <a:pPr>
              <a:lnSpc>
                <a:spcPct val="75000"/>
              </a:lnSpc>
            </a:pPr>
            <a:endParaRPr lang="en-US" altLang="zh-TW" sz="1000">
              <a:latin typeface="Arial" panose="020B0604020202020204" pitchFamily="34" charset="0"/>
            </a:endParaRPr>
          </a:p>
          <a:p>
            <a:pPr>
              <a:lnSpc>
                <a:spcPct val="90000"/>
              </a:lnSpc>
            </a:pPr>
            <a:endParaRPr lang="en-US" altLang="zh-TW" sz="1000">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64C465BB-8090-4213-B0A7-35EEDD191F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Arial" panose="020B0604020202020204" pitchFamily="34" charset="0"/>
              </a:defRPr>
            </a:lvl1pPr>
            <a:lvl2pPr marL="742950" indent="-285750" defTabSz="927100">
              <a:spcBef>
                <a:spcPct val="30000"/>
              </a:spcBef>
              <a:defRPr sz="1200">
                <a:solidFill>
                  <a:schemeClr val="tx1"/>
                </a:solidFill>
                <a:latin typeface="Arial" panose="020B0604020202020204" pitchFamily="34" charset="0"/>
              </a:defRPr>
            </a:lvl2pPr>
            <a:lvl3pPr marL="1143000" indent="-228600" defTabSz="927100">
              <a:spcBef>
                <a:spcPct val="30000"/>
              </a:spcBef>
              <a:defRPr sz="1200">
                <a:solidFill>
                  <a:schemeClr val="tx1"/>
                </a:solidFill>
                <a:latin typeface="Arial" panose="020B0604020202020204" pitchFamily="34" charset="0"/>
              </a:defRPr>
            </a:lvl3pPr>
            <a:lvl4pPr marL="1600200" indent="-228600" defTabSz="927100">
              <a:spcBef>
                <a:spcPct val="30000"/>
              </a:spcBef>
              <a:defRPr sz="1200">
                <a:solidFill>
                  <a:schemeClr val="tx1"/>
                </a:solidFill>
                <a:latin typeface="Arial" panose="020B0604020202020204" pitchFamily="34" charset="0"/>
              </a:defRPr>
            </a:lvl4pPr>
            <a:lvl5pPr marL="2057400" indent="-228600" defTabSz="927100">
              <a:spcBef>
                <a:spcPct val="30000"/>
              </a:spcBef>
              <a:defRPr sz="1200">
                <a:solidFill>
                  <a:schemeClr val="tx1"/>
                </a:solidFill>
                <a:latin typeface="Arial" panose="020B0604020202020204" pitchFamily="34" charset="0"/>
              </a:defRPr>
            </a:lvl5pPr>
            <a:lvl6pPr marL="2514600" indent="-228600" defTabSz="927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27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27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3709ABA-5D32-4311-9F78-FEAD0D457C3E}" type="slidenum">
              <a:rPr lang="en-US" altLang="zh-TW">
                <a:latin typeface="Times New Roman" panose="02020603050405020304" pitchFamily="18" charset="0"/>
              </a:rPr>
              <a:pPr>
                <a:spcBef>
                  <a:spcPct val="0"/>
                </a:spcBef>
              </a:pPr>
              <a:t>40</a:t>
            </a:fld>
            <a:endParaRPr lang="en-US" altLang="zh-TW">
              <a:latin typeface="Times New Roman" panose="02020603050405020304" pitchFamily="18" charset="0"/>
            </a:endParaRPr>
          </a:p>
        </p:txBody>
      </p:sp>
      <p:sp>
        <p:nvSpPr>
          <p:cNvPr id="13315" name="Rectangle 2">
            <a:extLst>
              <a:ext uri="{FF2B5EF4-FFF2-40B4-BE49-F238E27FC236}">
                <a16:creationId xmlns:a16="http://schemas.microsoft.com/office/drawing/2014/main" id="{290EC079-5787-4B3C-BC1C-85428B7D35CE}"/>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8F6B2F60-0984-4B99-8343-53B9BE2DE391}"/>
              </a:ext>
            </a:extLst>
          </p:cNvPr>
          <p:cNvSpPr>
            <a:spLocks noGrp="1" noChangeArrowheads="1"/>
          </p:cNvSpPr>
          <p:nvPr>
            <p:ph type="body" idx="1"/>
          </p:nvPr>
        </p:nvSpPr>
        <p:spPr>
          <a:xfrm>
            <a:off x="758825" y="4411663"/>
            <a:ext cx="5546725" cy="417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en-US" altLang="zh-TW" sz="1000">
                <a:latin typeface="Arial" panose="020B0604020202020204" pitchFamily="34" charset="0"/>
              </a:rPr>
              <a:t>In the server environment, virtualization increase utilization by making it possible to host mixed operating systems on a platform. By migrating workloads from dedicated smaller servers to high-reliability enterprise platforms, administrators can increase efficiency, reduce energy costs, maintain high reliability, and reduce administration overhead. </a:t>
            </a:r>
          </a:p>
          <a:p>
            <a:pPr>
              <a:lnSpc>
                <a:spcPct val="90000"/>
              </a:lnSpc>
            </a:pPr>
            <a:endParaRPr lang="en-US" altLang="zh-TW" sz="1000">
              <a:latin typeface="Arial" panose="020B0604020202020204" pitchFamily="34" charset="0"/>
            </a:endParaRPr>
          </a:p>
          <a:p>
            <a:pPr>
              <a:lnSpc>
                <a:spcPct val="90000"/>
              </a:lnSpc>
            </a:pPr>
            <a:r>
              <a:rPr lang="en-US" altLang="zh-TW" sz="1000">
                <a:latin typeface="Arial" panose="020B0604020202020204" pitchFamily="34" charset="0"/>
              </a:rPr>
              <a:t>By providing the ability to run development, test and production version of a software stack on the same machine, virtualization can reduce the number of machines need in the development environment. It can also speed deployment because the development and production platforms are guaranteed to be identical, the developer can plug into production workloads, and the promotion from test to production can be done in seconds. The isolation provided by the VMM ensures that test software cannot bring down the production applications.</a:t>
            </a:r>
          </a:p>
          <a:p>
            <a:pPr>
              <a:lnSpc>
                <a:spcPct val="90000"/>
              </a:lnSpc>
            </a:pPr>
            <a:endParaRPr lang="en-US" altLang="zh-TW" sz="1000">
              <a:latin typeface="Arial" panose="020B0604020202020204" pitchFamily="34" charset="0"/>
            </a:endParaRPr>
          </a:p>
          <a:p>
            <a:pPr>
              <a:lnSpc>
                <a:spcPct val="90000"/>
              </a:lnSpc>
            </a:pPr>
            <a:r>
              <a:rPr lang="en-US" altLang="zh-TW" sz="1000">
                <a:latin typeface="Arial" panose="020B0604020202020204" pitchFamily="34" charset="0"/>
              </a:rPr>
              <a:t>Disaster recover is aided by virtualization because production software can be encapsulated in a virtual machine and moved as a unit from a failing machine to an alternate platform before the application fails. Or if the hardware does fail, the application can be quickly restored as a single VM, eliminating the sometimes long and laborious process of restore backup files and reconfiguring the OS and applications before the system can be restarted.</a:t>
            </a:r>
          </a:p>
          <a:p>
            <a:pPr>
              <a:lnSpc>
                <a:spcPct val="90000"/>
              </a:lnSpc>
            </a:pPr>
            <a:endParaRPr lang="en-US" altLang="zh-TW" sz="1000">
              <a:latin typeface="Arial" panose="020B0604020202020204" pitchFamily="34" charset="0"/>
            </a:endParaRPr>
          </a:p>
          <a:p>
            <a:pPr>
              <a:lnSpc>
                <a:spcPct val="90000"/>
              </a:lnSpc>
            </a:pPr>
            <a:r>
              <a:rPr lang="en-US" altLang="zh-TW" sz="1000">
                <a:latin typeface="Arial" panose="020B0604020202020204" pitchFamily="34" charset="0"/>
              </a:rPr>
              <a:t>Extending the notion of VM migration, dynamic load balancing software monitors the performance of an application running in a VM and when the response falls below as target level the VM is given access to more resources on its current platform, or moved to a more powerful or less utilized platform. As a result, the average utilization of all the machines is higher and more consistent. </a:t>
            </a:r>
          </a:p>
          <a:p>
            <a:pPr>
              <a:lnSpc>
                <a:spcPct val="90000"/>
              </a:lnSpc>
            </a:pPr>
            <a:endParaRPr lang="en-US" altLang="zh-TW" sz="1000">
              <a:latin typeface="Arial" panose="020B0604020202020204" pitchFamily="34" charset="0"/>
            </a:endParaRPr>
          </a:p>
          <a:p>
            <a:pPr>
              <a:lnSpc>
                <a:spcPct val="90000"/>
              </a:lnSpc>
            </a:pPr>
            <a:endParaRPr lang="en-US" altLang="zh-TW" sz="1000">
              <a:latin typeface="Arial" panose="020B0604020202020204" pitchFamily="34" charset="0"/>
            </a:endParaRPr>
          </a:p>
          <a:p>
            <a:pPr>
              <a:lnSpc>
                <a:spcPct val="75000"/>
              </a:lnSpc>
            </a:pPr>
            <a:endParaRPr lang="en-US" altLang="zh-TW" sz="1000">
              <a:latin typeface="Arial" panose="020B0604020202020204" pitchFamily="34" charset="0"/>
            </a:endParaRPr>
          </a:p>
          <a:p>
            <a:pPr>
              <a:lnSpc>
                <a:spcPct val="90000"/>
              </a:lnSpc>
            </a:pPr>
            <a:endParaRPr lang="en-US" altLang="zh-TW" sz="1000">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8D1D67A1-C92A-45CF-884A-E3B8660F99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Arial" panose="020B0604020202020204" pitchFamily="34" charset="0"/>
              </a:defRPr>
            </a:lvl1pPr>
            <a:lvl2pPr marL="742950" indent="-285750" defTabSz="927100">
              <a:spcBef>
                <a:spcPct val="30000"/>
              </a:spcBef>
              <a:defRPr sz="1200">
                <a:solidFill>
                  <a:schemeClr val="tx1"/>
                </a:solidFill>
                <a:latin typeface="Arial" panose="020B0604020202020204" pitchFamily="34" charset="0"/>
              </a:defRPr>
            </a:lvl2pPr>
            <a:lvl3pPr marL="1143000" indent="-228600" defTabSz="927100">
              <a:spcBef>
                <a:spcPct val="30000"/>
              </a:spcBef>
              <a:defRPr sz="1200">
                <a:solidFill>
                  <a:schemeClr val="tx1"/>
                </a:solidFill>
                <a:latin typeface="Arial" panose="020B0604020202020204" pitchFamily="34" charset="0"/>
              </a:defRPr>
            </a:lvl3pPr>
            <a:lvl4pPr marL="1600200" indent="-228600" defTabSz="927100">
              <a:spcBef>
                <a:spcPct val="30000"/>
              </a:spcBef>
              <a:defRPr sz="1200">
                <a:solidFill>
                  <a:schemeClr val="tx1"/>
                </a:solidFill>
                <a:latin typeface="Arial" panose="020B0604020202020204" pitchFamily="34" charset="0"/>
              </a:defRPr>
            </a:lvl4pPr>
            <a:lvl5pPr marL="2057400" indent="-228600" defTabSz="927100">
              <a:spcBef>
                <a:spcPct val="30000"/>
              </a:spcBef>
              <a:defRPr sz="1200">
                <a:solidFill>
                  <a:schemeClr val="tx1"/>
                </a:solidFill>
                <a:latin typeface="Arial" panose="020B0604020202020204" pitchFamily="34" charset="0"/>
              </a:defRPr>
            </a:lvl5pPr>
            <a:lvl6pPr marL="2514600" indent="-228600" defTabSz="927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27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27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610EF65-C174-4898-9E31-69C0E5933E6B}" type="slidenum">
              <a:rPr lang="fr-FR" altLang="zh-TW">
                <a:latin typeface="Times New Roman" panose="02020603050405020304" pitchFamily="18" charset="0"/>
              </a:rPr>
              <a:pPr>
                <a:spcBef>
                  <a:spcPct val="0"/>
                </a:spcBef>
              </a:pPr>
              <a:t>41</a:t>
            </a:fld>
            <a:endParaRPr lang="fr-FR" altLang="zh-TW">
              <a:latin typeface="Times New Roman" panose="02020603050405020304" pitchFamily="18" charset="0"/>
            </a:endParaRPr>
          </a:p>
        </p:txBody>
      </p:sp>
      <p:sp>
        <p:nvSpPr>
          <p:cNvPr id="26627" name="Rectangle 2">
            <a:extLst>
              <a:ext uri="{FF2B5EF4-FFF2-40B4-BE49-F238E27FC236}">
                <a16:creationId xmlns:a16="http://schemas.microsoft.com/office/drawing/2014/main" id="{6C108E30-B001-481E-9587-B8945B9243DD}"/>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58059C1F-E1E3-4E99-9759-58DD724F32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Figs1/repvm</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11E5A0A5-2EA8-40AC-99D3-D692E0311F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Arial" panose="020B0604020202020204" pitchFamily="34" charset="0"/>
              </a:defRPr>
            </a:lvl1pPr>
            <a:lvl2pPr marL="742950" indent="-285750" defTabSz="927100">
              <a:spcBef>
                <a:spcPct val="30000"/>
              </a:spcBef>
              <a:defRPr sz="1200">
                <a:solidFill>
                  <a:schemeClr val="tx1"/>
                </a:solidFill>
                <a:latin typeface="Arial" panose="020B0604020202020204" pitchFamily="34" charset="0"/>
              </a:defRPr>
            </a:lvl2pPr>
            <a:lvl3pPr marL="1143000" indent="-228600" defTabSz="927100">
              <a:spcBef>
                <a:spcPct val="30000"/>
              </a:spcBef>
              <a:defRPr sz="1200">
                <a:solidFill>
                  <a:schemeClr val="tx1"/>
                </a:solidFill>
                <a:latin typeface="Arial" panose="020B0604020202020204" pitchFamily="34" charset="0"/>
              </a:defRPr>
            </a:lvl3pPr>
            <a:lvl4pPr marL="1600200" indent="-228600" defTabSz="927100">
              <a:spcBef>
                <a:spcPct val="30000"/>
              </a:spcBef>
              <a:defRPr sz="1200">
                <a:solidFill>
                  <a:schemeClr val="tx1"/>
                </a:solidFill>
                <a:latin typeface="Arial" panose="020B0604020202020204" pitchFamily="34" charset="0"/>
              </a:defRPr>
            </a:lvl4pPr>
            <a:lvl5pPr marL="2057400" indent="-228600" defTabSz="927100">
              <a:spcBef>
                <a:spcPct val="30000"/>
              </a:spcBef>
              <a:defRPr sz="1200">
                <a:solidFill>
                  <a:schemeClr val="tx1"/>
                </a:solidFill>
                <a:latin typeface="Arial" panose="020B0604020202020204" pitchFamily="34" charset="0"/>
              </a:defRPr>
            </a:lvl5pPr>
            <a:lvl6pPr marL="2514600" indent="-228600" defTabSz="927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27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27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5017F8A-B8C4-42C5-8667-26A2A55696AD}" type="slidenum">
              <a:rPr lang="fr-FR" altLang="zh-TW">
                <a:latin typeface="Times New Roman" panose="02020603050405020304" pitchFamily="18" charset="0"/>
              </a:rPr>
              <a:pPr>
                <a:spcBef>
                  <a:spcPct val="0"/>
                </a:spcBef>
              </a:pPr>
              <a:t>42</a:t>
            </a:fld>
            <a:endParaRPr lang="fr-FR" altLang="zh-TW">
              <a:latin typeface="Times New Roman" panose="02020603050405020304" pitchFamily="18" charset="0"/>
            </a:endParaRPr>
          </a:p>
        </p:txBody>
      </p:sp>
      <p:sp>
        <p:nvSpPr>
          <p:cNvPr id="28675" name="Rectangle 2">
            <a:extLst>
              <a:ext uri="{FF2B5EF4-FFF2-40B4-BE49-F238E27FC236}">
                <a16:creationId xmlns:a16="http://schemas.microsoft.com/office/drawing/2014/main" id="{74979471-0F0E-4EF8-90D3-3C8E27430A1D}"/>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8DAA7B7C-8CB7-40A5-AA9E-DBCF2223D7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Figs1/repvm</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19CBFA7B-5344-42E4-A28A-64D70905A5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sz="1200">
                <a:solidFill>
                  <a:schemeClr val="tx1"/>
                </a:solidFill>
                <a:latin typeface="Arial" panose="020B0604020202020204" pitchFamily="34" charset="0"/>
              </a:defRPr>
            </a:lvl1pPr>
            <a:lvl2pPr marL="742950" indent="-285750" defTabSz="927100">
              <a:spcBef>
                <a:spcPct val="30000"/>
              </a:spcBef>
              <a:defRPr sz="1200">
                <a:solidFill>
                  <a:schemeClr val="tx1"/>
                </a:solidFill>
                <a:latin typeface="Arial" panose="020B0604020202020204" pitchFamily="34" charset="0"/>
              </a:defRPr>
            </a:lvl2pPr>
            <a:lvl3pPr marL="1143000" indent="-228600" defTabSz="927100">
              <a:spcBef>
                <a:spcPct val="30000"/>
              </a:spcBef>
              <a:defRPr sz="1200">
                <a:solidFill>
                  <a:schemeClr val="tx1"/>
                </a:solidFill>
                <a:latin typeface="Arial" panose="020B0604020202020204" pitchFamily="34" charset="0"/>
              </a:defRPr>
            </a:lvl3pPr>
            <a:lvl4pPr marL="1600200" indent="-228600" defTabSz="927100">
              <a:spcBef>
                <a:spcPct val="30000"/>
              </a:spcBef>
              <a:defRPr sz="1200">
                <a:solidFill>
                  <a:schemeClr val="tx1"/>
                </a:solidFill>
                <a:latin typeface="Arial" panose="020B0604020202020204" pitchFamily="34" charset="0"/>
              </a:defRPr>
            </a:lvl4pPr>
            <a:lvl5pPr marL="2057400" indent="-228600" defTabSz="927100">
              <a:spcBef>
                <a:spcPct val="30000"/>
              </a:spcBef>
              <a:defRPr sz="1200">
                <a:solidFill>
                  <a:schemeClr val="tx1"/>
                </a:solidFill>
                <a:latin typeface="Arial" panose="020B0604020202020204" pitchFamily="34" charset="0"/>
              </a:defRPr>
            </a:lvl5pPr>
            <a:lvl6pPr marL="2514600" indent="-228600" defTabSz="927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27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27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0E12ACE-486E-4429-8CD4-0F8389F2F960}" type="slidenum">
              <a:rPr lang="fr-FR" altLang="zh-TW">
                <a:latin typeface="Times New Roman" panose="02020603050405020304" pitchFamily="18" charset="0"/>
              </a:rPr>
              <a:pPr>
                <a:spcBef>
                  <a:spcPct val="0"/>
                </a:spcBef>
              </a:pPr>
              <a:t>43</a:t>
            </a:fld>
            <a:endParaRPr lang="fr-FR" altLang="zh-TW">
              <a:latin typeface="Times New Roman" panose="02020603050405020304" pitchFamily="18" charset="0"/>
            </a:endParaRPr>
          </a:p>
        </p:txBody>
      </p:sp>
      <p:sp>
        <p:nvSpPr>
          <p:cNvPr id="36867" name="Rectangle 2">
            <a:extLst>
              <a:ext uri="{FF2B5EF4-FFF2-40B4-BE49-F238E27FC236}">
                <a16:creationId xmlns:a16="http://schemas.microsoft.com/office/drawing/2014/main" id="{D9C5D871-E674-4639-BC6C-A989C610DF38}"/>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1CD4CFDA-3F49-480E-A80A-6E657FDF1F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Runs in native non-privileged code, when system calls/IO are encountered, traps to the hypervisor</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8A845CC2-9F28-4C39-84BB-A64634036645}"/>
              </a:ext>
            </a:extLst>
          </p:cNvPr>
          <p:cNvSpPr>
            <a:spLocks noGrp="1" noRot="1" noChangeAspect="1" noTextEdit="1"/>
          </p:cNvSpPr>
          <p:nvPr>
            <p:ph type="sldImg"/>
          </p:nvPr>
        </p:nvSpPr>
        <p:spPr>
          <a:ln/>
        </p:spPr>
      </p:sp>
      <p:sp>
        <p:nvSpPr>
          <p:cNvPr id="40963" name="Notes Placeholder 2">
            <a:extLst>
              <a:ext uri="{FF2B5EF4-FFF2-40B4-BE49-F238E27FC236}">
                <a16:creationId xmlns:a16="http://schemas.microsoft.com/office/drawing/2014/main" id="{4374548C-2CA8-4124-B105-A2AB9849C25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Resource control, not transfer control</a:t>
            </a:r>
          </a:p>
          <a:p>
            <a:endParaRPr lang="en-US" altLang="en-US">
              <a:latin typeface="Arial" panose="020B0604020202020204" pitchFamily="34" charset="0"/>
            </a:endParaRPr>
          </a:p>
        </p:txBody>
      </p:sp>
      <p:sp>
        <p:nvSpPr>
          <p:cNvPr id="40964" name="Slide Number Placeholder 3">
            <a:extLst>
              <a:ext uri="{FF2B5EF4-FFF2-40B4-BE49-F238E27FC236}">
                <a16:creationId xmlns:a16="http://schemas.microsoft.com/office/drawing/2014/main" id="{8A247C3A-7357-46E6-9A1E-4015139F6AD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E8435E9-CE02-4DD2-9994-A3BA53A1E188}" type="slidenum">
              <a:rPr lang="en-US" altLang="zh-TW"/>
              <a:pPr/>
              <a:t>45</a:t>
            </a:fld>
            <a:endParaRPr lang="en-US" altLang="zh-TW"/>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58DFCB13-3D88-4616-A63E-8C90B0CB4CE6}"/>
              </a:ext>
            </a:extLst>
          </p:cNvPr>
          <p:cNvSpPr>
            <a:spLocks noGrp="1" noRot="1" noChangeAspect="1" noTextEdit="1"/>
          </p:cNvSpPr>
          <p:nvPr>
            <p:ph type="sldImg"/>
          </p:nvPr>
        </p:nvSpPr>
        <p:spPr>
          <a:ln/>
        </p:spPr>
      </p:sp>
      <p:sp>
        <p:nvSpPr>
          <p:cNvPr id="51203" name="Notes Placeholder 2">
            <a:extLst>
              <a:ext uri="{FF2B5EF4-FFF2-40B4-BE49-F238E27FC236}">
                <a16:creationId xmlns:a16="http://schemas.microsoft.com/office/drawing/2014/main" id="{4FED59C3-53AE-414B-8489-E8423BB47D9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rPr>
              <a:t>Denali: University of Washington, 2001, to support running untrusted apps…</a:t>
            </a:r>
          </a:p>
          <a:p>
            <a:r>
              <a:rPr lang="en-US" altLang="en-US" dirty="0">
                <a:latin typeface="Arial" panose="020B0604020202020204" pitchFamily="34" charset="0"/>
              </a:rPr>
              <a:t>What is the major challenges of para-virtualization? The Linux has 60-70 major releases, and may be 15 minor releases per major release. 900-1000 releases.</a:t>
            </a:r>
          </a:p>
        </p:txBody>
      </p:sp>
      <p:sp>
        <p:nvSpPr>
          <p:cNvPr id="51204" name="Slide Number Placeholder 3">
            <a:extLst>
              <a:ext uri="{FF2B5EF4-FFF2-40B4-BE49-F238E27FC236}">
                <a16:creationId xmlns:a16="http://schemas.microsoft.com/office/drawing/2014/main" id="{F12E82EA-5C7C-4F54-893D-A341015E388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44A87D3-A84C-4AEA-A162-1D50B218E20F}" type="slidenum">
              <a:rPr lang="en-US" altLang="zh-TW"/>
              <a:pPr/>
              <a:t>53</a:t>
            </a:fld>
            <a:endParaRPr lang="en-US" altLang="zh-TW"/>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35CA12E7-D7BD-4E61-9752-6D063883672B}"/>
              </a:ext>
            </a:extLst>
          </p:cNvPr>
          <p:cNvSpPr>
            <a:spLocks noGrp="1" noRot="1" noChangeAspect="1" noTextEdit="1"/>
          </p:cNvSpPr>
          <p:nvPr>
            <p:ph type="sldImg"/>
          </p:nvPr>
        </p:nvSpPr>
        <p:spPr>
          <a:ln/>
        </p:spPr>
      </p:sp>
      <p:sp>
        <p:nvSpPr>
          <p:cNvPr id="57347" name="Notes Placeholder 2">
            <a:extLst>
              <a:ext uri="{FF2B5EF4-FFF2-40B4-BE49-F238E27FC236}">
                <a16:creationId xmlns:a16="http://schemas.microsoft.com/office/drawing/2014/main" id="{CD01BE5E-399D-4376-8B0E-0C381B007E4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Pre-VT-x: OS is deprivileged, privileged instructions will trap</a:t>
            </a:r>
          </a:p>
          <a:p>
            <a:r>
              <a:rPr lang="en-US" altLang="en-US">
                <a:latin typeface="Arial" panose="020B0604020202020204" pitchFamily="34" charset="0"/>
              </a:rPr>
              <a:t>Problem: sensitive but unprivileged instructions do not trap</a:t>
            </a:r>
          </a:p>
          <a:p>
            <a:r>
              <a:rPr lang="en-US" altLang="en-US">
                <a:latin typeface="Arial" panose="020B0604020202020204" pitchFamily="34" charset="0"/>
              </a:rPr>
              <a:t>To discover those instructions – DBT or para-virtualization</a:t>
            </a:r>
          </a:p>
          <a:p>
            <a:r>
              <a:rPr lang="en-US" altLang="en-US">
                <a:latin typeface="Arial" panose="020B0604020202020204" pitchFamily="34" charset="0"/>
              </a:rPr>
              <a:t>DBT for full virtualization: transparent</a:t>
            </a:r>
          </a:p>
          <a:p>
            <a:r>
              <a:rPr lang="en-US" altLang="en-US">
                <a:latin typeface="Arial" panose="020B0604020202020204" pitchFamily="34" charset="0"/>
              </a:rPr>
              <a:t>Para-virtualization: better performance</a:t>
            </a:r>
          </a:p>
          <a:p>
            <a:endParaRPr lang="en-US" altLang="en-US">
              <a:latin typeface="Arial" panose="020B0604020202020204" pitchFamily="34" charset="0"/>
            </a:endParaRPr>
          </a:p>
          <a:p>
            <a:r>
              <a:rPr lang="en-US" altLang="en-US">
                <a:latin typeface="Arial" panose="020B0604020202020204" pitchFamily="34" charset="0"/>
              </a:rPr>
              <a:t>Check with students: what are the cases that para-virtualization works better than HW assisted virtualization.</a:t>
            </a:r>
          </a:p>
        </p:txBody>
      </p:sp>
      <p:sp>
        <p:nvSpPr>
          <p:cNvPr id="57348" name="Slide Number Placeholder 3">
            <a:extLst>
              <a:ext uri="{FF2B5EF4-FFF2-40B4-BE49-F238E27FC236}">
                <a16:creationId xmlns:a16="http://schemas.microsoft.com/office/drawing/2014/main" id="{2CB79DEB-0EB6-417F-9E92-8C5ADC42C83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4E7E43-3702-4ADE-8155-51A6D15B2A65}" type="slidenum">
              <a:rPr lang="en-US" altLang="zh-TW"/>
              <a:pPr/>
              <a:t>54</a:t>
            </a:fld>
            <a:endParaRPr lang="en-US" altLang="zh-TW"/>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406400" y="347664"/>
            <a:ext cx="11516784" cy="612775"/>
          </a:xfrm>
        </p:spPr>
        <p:txBody>
          <a:bodyPr/>
          <a:lstStyle/>
          <a:p>
            <a:r>
              <a:rPr lang="zh-TW" altLang="en-US"/>
              <a:t>按一下以編輯母片標題樣式</a:t>
            </a:r>
          </a:p>
        </p:txBody>
      </p:sp>
      <p:sp>
        <p:nvSpPr>
          <p:cNvPr id="3" name="文字版面配置區 2"/>
          <p:cNvSpPr>
            <a:spLocks noGrp="1"/>
          </p:cNvSpPr>
          <p:nvPr>
            <p:ph type="body" sz="half" idx="1"/>
          </p:nvPr>
        </p:nvSpPr>
        <p:spPr>
          <a:xfrm>
            <a:off x="440267" y="1941513"/>
            <a:ext cx="5369984" cy="41148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013451" y="1941513"/>
            <a:ext cx="5369983" cy="41148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Date Placeholder 4">
            <a:extLst>
              <a:ext uri="{FF2B5EF4-FFF2-40B4-BE49-F238E27FC236}">
                <a16:creationId xmlns:a16="http://schemas.microsoft.com/office/drawing/2014/main" id="{9C0EABD3-737B-4395-8FEB-CFFCA6FAF82F}"/>
              </a:ext>
            </a:extLst>
          </p:cNvPr>
          <p:cNvSpPr>
            <a:spLocks noGrp="1" noChangeArrowheads="1"/>
          </p:cNvSpPr>
          <p:nvPr>
            <p:ph type="dt" sz="half" idx="10"/>
          </p:nvPr>
        </p:nvSpPr>
        <p:spPr/>
        <p:txBody>
          <a:bodyPr/>
          <a:lstStyle>
            <a:lvl1pPr>
              <a:defRPr/>
            </a:lvl1pPr>
          </a:lstStyle>
          <a:p>
            <a:pPr>
              <a:defRPr/>
            </a:pPr>
            <a:r>
              <a:rPr lang="en-US" altLang="zh-TW"/>
              <a:t>System VMs</a:t>
            </a:r>
          </a:p>
        </p:txBody>
      </p:sp>
      <p:sp>
        <p:nvSpPr>
          <p:cNvPr id="6" name="Footer Placeholder 5">
            <a:extLst>
              <a:ext uri="{FF2B5EF4-FFF2-40B4-BE49-F238E27FC236}">
                <a16:creationId xmlns:a16="http://schemas.microsoft.com/office/drawing/2014/main" id="{65B46E99-D3E5-47BE-850C-B438AF448040}"/>
              </a:ext>
            </a:extLst>
          </p:cNvPr>
          <p:cNvSpPr>
            <a:spLocks noGrp="1" noChangeArrowheads="1"/>
          </p:cNvSpPr>
          <p:nvPr>
            <p:ph type="ftr" sz="quarter" idx="11"/>
          </p:nvPr>
        </p:nvSpPr>
        <p:spPr/>
        <p:txBody>
          <a:bodyPr/>
          <a:lstStyle>
            <a:lvl1pPr>
              <a:defRPr/>
            </a:lvl1pPr>
          </a:lstStyle>
          <a:p>
            <a:pPr>
              <a:defRPr/>
            </a:pPr>
            <a:endParaRPr lang="en-US" altLang="zh-TW"/>
          </a:p>
        </p:txBody>
      </p:sp>
      <p:sp>
        <p:nvSpPr>
          <p:cNvPr id="7" name="Slide Number Placeholder 6">
            <a:extLst>
              <a:ext uri="{FF2B5EF4-FFF2-40B4-BE49-F238E27FC236}">
                <a16:creationId xmlns:a16="http://schemas.microsoft.com/office/drawing/2014/main" id="{178C7FB2-2E57-4102-82FE-6A94C93918A4}"/>
              </a:ext>
            </a:extLst>
          </p:cNvPr>
          <p:cNvSpPr>
            <a:spLocks noGrp="1" noChangeArrowheads="1"/>
          </p:cNvSpPr>
          <p:nvPr>
            <p:ph type="sldNum" sz="quarter" idx="12"/>
          </p:nvPr>
        </p:nvSpPr>
        <p:spPr/>
        <p:txBody>
          <a:bodyPr/>
          <a:lstStyle>
            <a:lvl1pPr>
              <a:defRPr/>
            </a:lvl1pPr>
          </a:lstStyle>
          <a:p>
            <a:fld id="{B87360CE-9709-4F26-8154-9DE55468A2A3}" type="slidenum">
              <a:rPr lang="en-US" altLang="zh-TW"/>
              <a:pPr/>
              <a:t>‹#›</a:t>
            </a:fld>
            <a:endParaRPr lang="en-US" altLang="zh-TW"/>
          </a:p>
        </p:txBody>
      </p:sp>
    </p:spTree>
    <p:extLst>
      <p:ext uri="{BB962C8B-B14F-4D97-AF65-F5344CB8AC3E}">
        <p14:creationId xmlns:p14="http://schemas.microsoft.com/office/powerpoint/2010/main" val="34570766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6"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香港中文大学（深圳）数据科学院</a:t>
              </a:r>
              <a:endParaRPr lang="zh-TW"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1E74415-30E6-4BE5-9E20-77352570E8FC}"/>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
        <p:nvSpPr>
          <p:cNvPr id="7" name="Title 1">
            <a:extLst>
              <a:ext uri="{FF2B5EF4-FFF2-40B4-BE49-F238E27FC236}">
                <a16:creationId xmlns:a16="http://schemas.microsoft.com/office/drawing/2014/main" id="{6CCF4834-0539-4513-8D25-641B751175CF}"/>
              </a:ext>
            </a:extLst>
          </p:cNvPr>
          <p:cNvSpPr>
            <a:spLocks noGrp="1"/>
          </p:cNvSpPr>
          <p:nvPr>
            <p:ph type="ctrTitle"/>
          </p:nvPr>
        </p:nvSpPr>
        <p:spPr>
          <a:xfrm>
            <a:off x="1374843" y="1186774"/>
            <a:ext cx="8998189" cy="3003749"/>
          </a:xfrm>
        </p:spPr>
        <p:txBody>
          <a:bodyPr/>
          <a:lstStyle/>
          <a:p>
            <a:pPr algn="ctr"/>
            <a:r>
              <a:rPr lang="en-US" altLang="zh-TW" sz="4000" dirty="0">
                <a:effectLst>
                  <a:outerShdw blurRad="38100" dist="38100" dir="2700000" algn="tl">
                    <a:srgbClr val="000000">
                      <a:alpha val="43137"/>
                    </a:srgbClr>
                  </a:outerShdw>
                </a:effectLst>
              </a:rPr>
              <a:t>CSC3050 – Computer Architecture</a:t>
            </a:r>
            <a:br>
              <a:rPr lang="en-US" altLang="zh-TW" sz="4000" dirty="0">
                <a:effectLst>
                  <a:outerShdw blurRad="38100" dist="38100" dir="2700000" algn="tl">
                    <a:srgbClr val="000000">
                      <a:alpha val="43137"/>
                    </a:srgbClr>
                  </a:outerShdw>
                </a:effectLst>
              </a:rPr>
            </a:br>
            <a:r>
              <a:rPr lang="en-US" altLang="zh-TW" sz="4000" dirty="0">
                <a:effectLst>
                  <a:outerShdw blurRad="38100" dist="38100" dir="2700000" algn="tl">
                    <a:srgbClr val="000000">
                      <a:alpha val="43137"/>
                    </a:srgbClr>
                  </a:outerShdw>
                </a:effectLst>
              </a:rPr>
              <a:t>Section 5.6 and 5.7</a:t>
            </a:r>
            <a:br>
              <a:rPr lang="en-US" altLang="zh-TW" sz="4000" dirty="0">
                <a:effectLst>
                  <a:outerShdw blurRad="38100" dist="38100" dir="2700000" algn="tl">
                    <a:srgbClr val="000000">
                      <a:alpha val="43137"/>
                    </a:srgbClr>
                  </a:outerShdw>
                </a:effectLst>
              </a:rPr>
            </a:br>
            <a:r>
              <a:rPr lang="en-US" altLang="zh-TW" sz="4000" dirty="0">
                <a:effectLst>
                  <a:outerShdw blurRad="38100" dist="38100" dir="2700000" algn="tl">
                    <a:srgbClr val="000000">
                      <a:alpha val="43137"/>
                    </a:srgbClr>
                  </a:outerShdw>
                </a:effectLst>
              </a:rPr>
              <a:t>Virtual Machines and Virtual Memory</a:t>
            </a:r>
            <a:endParaRPr lang="zh-TW" altLang="en-US" sz="4800" dirty="0">
              <a:effectLst>
                <a:outerShdw blurRad="38100" dist="38100" dir="2700000" algn="tl">
                  <a:srgbClr val="000000">
                    <a:alpha val="43137"/>
                  </a:srgbClr>
                </a:outerShdw>
              </a:effectLst>
            </a:endParaRPr>
          </a:p>
        </p:txBody>
      </p:sp>
      <p:sp>
        <p:nvSpPr>
          <p:cNvPr id="10" name="Subtitle 2">
            <a:extLst>
              <a:ext uri="{FF2B5EF4-FFF2-40B4-BE49-F238E27FC236}">
                <a16:creationId xmlns:a16="http://schemas.microsoft.com/office/drawing/2014/main" id="{37EF043F-0047-4EC5-B297-23522E981511}"/>
              </a:ext>
            </a:extLst>
          </p:cNvPr>
          <p:cNvSpPr>
            <a:spLocks noGrp="1"/>
          </p:cNvSpPr>
          <p:nvPr>
            <p:ph type="subTitle" idx="1"/>
          </p:nvPr>
        </p:nvSpPr>
        <p:spPr>
          <a:xfrm>
            <a:off x="1818968" y="4017523"/>
            <a:ext cx="7908692" cy="2190250"/>
          </a:xfrm>
        </p:spPr>
        <p:txBody>
          <a:bodyPr/>
          <a:lstStyle/>
          <a:p>
            <a:r>
              <a:rPr lang="en-US" altLang="zh-TW" sz="2400" dirty="0"/>
              <a:t>Prof. Wei Chung Hsu</a:t>
            </a:r>
          </a:p>
          <a:p>
            <a:endParaRPr lang="en-US" altLang="zh-TW" sz="2400" dirty="0">
              <a:effectLst>
                <a:outerShdw blurRad="38100" dist="38100" dir="2700000" algn="tl">
                  <a:srgbClr val="000000">
                    <a:alpha val="43137"/>
                  </a:srgbClr>
                </a:outerShdw>
              </a:effectLst>
            </a:endParaRPr>
          </a:p>
          <a:p>
            <a:r>
              <a:rPr lang="en-US" altLang="zh-TW" sz="2400" dirty="0"/>
              <a:t>School of Data Science</a:t>
            </a:r>
          </a:p>
          <a:p>
            <a:r>
              <a:rPr lang="en-US" altLang="zh-TW" sz="2400" dirty="0"/>
              <a:t>Chinese University of Hong Kong, Shenzhen</a:t>
            </a:r>
          </a:p>
        </p:txBody>
      </p:sp>
    </p:spTree>
    <p:extLst>
      <p:ext uri="{BB962C8B-B14F-4D97-AF65-F5344CB8AC3E}">
        <p14:creationId xmlns:p14="http://schemas.microsoft.com/office/powerpoint/2010/main" val="126458385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7" name="Rectangle 3">
            <a:extLst>
              <a:ext uri="{FF2B5EF4-FFF2-40B4-BE49-F238E27FC236}">
                <a16:creationId xmlns:a16="http://schemas.microsoft.com/office/drawing/2014/main" id="{9F07FB3C-A472-4F31-A74F-32663FA6B42F}"/>
              </a:ext>
            </a:extLst>
          </p:cNvPr>
          <p:cNvSpPr>
            <a:spLocks noGrp="1" noRot="1" noChangeArrowheads="1"/>
          </p:cNvSpPr>
          <p:nvPr>
            <p:ph type="body" idx="1"/>
          </p:nvPr>
        </p:nvSpPr>
        <p:spPr>
          <a:xfrm>
            <a:off x="924128" y="1065212"/>
            <a:ext cx="10437778" cy="4727575"/>
          </a:xfrm>
        </p:spPr>
        <p:txBody>
          <a:bodyPr/>
          <a:lstStyle/>
          <a:p>
            <a:pPr eaLnBrk="1" hangingPunct="1">
              <a:defRPr/>
            </a:pPr>
            <a:r>
              <a:rPr lang="en-US" altLang="zh-TW" dirty="0">
                <a:effectLst/>
                <a:ea typeface="新細明體" pitchFamily="18" charset="-120"/>
              </a:rPr>
              <a:t>Why is “virtual” better than “real”?</a:t>
            </a:r>
          </a:p>
          <a:p>
            <a:pPr lvl="1" eaLnBrk="1" hangingPunct="1">
              <a:buFont typeface="Wingdings" pitchFamily="2" charset="2"/>
              <a:buChar char="Ø"/>
              <a:defRPr/>
            </a:pPr>
            <a:r>
              <a:rPr lang="en-US" altLang="zh-TW" dirty="0">
                <a:solidFill>
                  <a:srgbClr val="FFFF66"/>
                </a:solidFill>
                <a:ea typeface="新細明體" pitchFamily="18" charset="-120"/>
              </a:rPr>
              <a:t>	</a:t>
            </a:r>
            <a:r>
              <a:rPr lang="en-US" altLang="zh-TW" dirty="0">
                <a:solidFill>
                  <a:srgbClr val="FF0000"/>
                </a:solidFill>
                <a:ea typeface="新細明體" pitchFamily="18" charset="-120"/>
              </a:rPr>
              <a:t>Why Virtual memory?</a:t>
            </a:r>
          </a:p>
          <a:p>
            <a:pPr lvl="1" eaLnBrk="1" hangingPunct="1">
              <a:buFont typeface="Wingdings" pitchFamily="2" charset="2"/>
              <a:buChar char="Ø"/>
              <a:defRPr/>
            </a:pPr>
            <a:r>
              <a:rPr lang="en-US" altLang="zh-TW" dirty="0">
                <a:solidFill>
                  <a:srgbClr val="FF0000"/>
                </a:solidFill>
                <a:ea typeface="新細明體" pitchFamily="18" charset="-120"/>
              </a:rPr>
              <a:t>  Why Virtual machines?</a:t>
            </a:r>
          </a:p>
          <a:p>
            <a:pPr lvl="1" eaLnBrk="1" hangingPunct="1">
              <a:buFont typeface="Wingdings" pitchFamily="2" charset="2"/>
              <a:buChar char="Ø"/>
              <a:defRPr/>
            </a:pPr>
            <a:r>
              <a:rPr lang="en-US" altLang="zh-TW" dirty="0">
                <a:solidFill>
                  <a:srgbClr val="FF0000"/>
                </a:solidFill>
                <a:ea typeface="新細明體" pitchFamily="18" charset="-120"/>
              </a:rPr>
              <a:t>  Why Java Virtual Machine?</a:t>
            </a:r>
          </a:p>
          <a:p>
            <a:pPr lvl="1" eaLnBrk="1" hangingPunct="1">
              <a:buFont typeface="Wingdings" pitchFamily="2" charset="2"/>
              <a:buChar char="Ø"/>
              <a:defRPr/>
            </a:pPr>
            <a:r>
              <a:rPr lang="en-US" altLang="zh-TW" dirty="0">
                <a:solidFill>
                  <a:srgbClr val="FF0000"/>
                </a:solidFill>
                <a:ea typeface="新細明體" pitchFamily="18" charset="-120"/>
              </a:rPr>
              <a:t>  Why Virtual Private Network (VPN)?</a:t>
            </a:r>
          </a:p>
          <a:p>
            <a:pPr lvl="1" eaLnBrk="1" hangingPunct="1">
              <a:buFont typeface="Wingdings" pitchFamily="2" charset="2"/>
              <a:buChar char="Ø"/>
              <a:defRPr/>
            </a:pPr>
            <a:r>
              <a:rPr lang="en-US" altLang="zh-TW" dirty="0">
                <a:solidFill>
                  <a:srgbClr val="FF0000"/>
                </a:solidFill>
                <a:ea typeface="新細明體" pitchFamily="18" charset="-120"/>
              </a:rPr>
              <a:t>  Why Virtual PC?</a:t>
            </a:r>
          </a:p>
          <a:p>
            <a:pPr lvl="1" eaLnBrk="1" hangingPunct="1">
              <a:buFont typeface="Wingdings" pitchFamily="2" charset="2"/>
              <a:buChar char="Ø"/>
              <a:defRPr/>
            </a:pPr>
            <a:r>
              <a:rPr lang="en-US" altLang="zh-TW" dirty="0">
                <a:solidFill>
                  <a:srgbClr val="FF0000"/>
                </a:solidFill>
                <a:ea typeface="新細明體" pitchFamily="18" charset="-120"/>
              </a:rPr>
              <a:t>  Why </a:t>
            </a:r>
            <a:r>
              <a:rPr kumimoji="1" lang="en-US" altLang="zh-TW" b="0" i="0" u="none" strike="noStrike" kern="0" cap="none" spc="0" normalizeH="0" baseline="0" noProof="0" dirty="0">
                <a:ln>
                  <a:noFill/>
                </a:ln>
                <a:solidFill>
                  <a:srgbClr val="FF0000"/>
                </a:solidFill>
                <a:effectLst/>
                <a:uLnTx/>
                <a:uFillTx/>
                <a:latin typeface="Calibri" pitchFamily="34" charset="0"/>
                <a:ea typeface="新細明體" pitchFamily="18" charset="-120"/>
                <a:cs typeface="+mn-cs"/>
              </a:rPr>
              <a:t>Virtual reality?</a:t>
            </a:r>
          </a:p>
          <a:p>
            <a:pPr marL="457176" lvl="1" indent="0" eaLnBrk="1" hangingPunct="1">
              <a:buNone/>
              <a:defRPr/>
            </a:pPr>
            <a:r>
              <a:rPr lang="en-US" altLang="zh-TW" dirty="0">
                <a:solidFill>
                  <a:srgbClr val="FF0000"/>
                </a:solidFill>
                <a:ea typeface="新細明體" pitchFamily="18" charset="-120"/>
              </a:rPr>
              <a:t>and Virtual money, Virtual friends, Virtual assistant, …</a:t>
            </a:r>
          </a:p>
        </p:txBody>
      </p:sp>
      <p:sp>
        <p:nvSpPr>
          <p:cNvPr id="4" name="Rectangle 2">
            <a:extLst>
              <a:ext uri="{FF2B5EF4-FFF2-40B4-BE49-F238E27FC236}">
                <a16:creationId xmlns:a16="http://schemas.microsoft.com/office/drawing/2014/main" id="{0679D762-7D28-41B1-8339-40041D5C6677}"/>
              </a:ext>
            </a:extLst>
          </p:cNvPr>
          <p:cNvSpPr>
            <a:spLocks noGrp="1" noChangeArrowheads="1"/>
          </p:cNvSpPr>
          <p:nvPr>
            <p:ph type="title"/>
          </p:nvPr>
        </p:nvSpPr>
        <p:spPr>
          <a:xfrm>
            <a:off x="1049338" y="144463"/>
            <a:ext cx="10518775" cy="692150"/>
          </a:xfrm>
        </p:spPr>
        <p:txBody>
          <a:bodyPr/>
          <a:lstStyle/>
          <a:p>
            <a:pPr algn="ctr"/>
            <a:r>
              <a:rPr lang="en-US" altLang="zh-TW" dirty="0"/>
              <a:t>VM and VM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3" name="Rectangle 3">
            <a:extLst>
              <a:ext uri="{FF2B5EF4-FFF2-40B4-BE49-F238E27FC236}">
                <a16:creationId xmlns:a16="http://schemas.microsoft.com/office/drawing/2014/main" id="{168F0278-19F8-43E3-B818-F49F2BD09106}"/>
              </a:ext>
            </a:extLst>
          </p:cNvPr>
          <p:cNvSpPr>
            <a:spLocks noGrp="1" noRot="1" noChangeArrowheads="1"/>
          </p:cNvSpPr>
          <p:nvPr>
            <p:ph type="body" idx="1"/>
          </p:nvPr>
        </p:nvSpPr>
        <p:spPr>
          <a:xfrm>
            <a:off x="778213" y="990601"/>
            <a:ext cx="10789375" cy="5032375"/>
          </a:xfrm>
        </p:spPr>
        <p:txBody>
          <a:bodyPr/>
          <a:lstStyle/>
          <a:p>
            <a:pPr eaLnBrk="1" hangingPunct="1">
              <a:buFont typeface="Wingdings" panose="05000000000000000000" pitchFamily="2" charset="2"/>
              <a:buChar char="Ø"/>
              <a:defRPr/>
            </a:pPr>
            <a:r>
              <a:rPr lang="en-US" altLang="zh-TW" dirty="0">
                <a:solidFill>
                  <a:srgbClr val="FFFF66"/>
                </a:solidFill>
                <a:ea typeface="新細明體" pitchFamily="18" charset="-120"/>
              </a:rPr>
              <a:t> </a:t>
            </a:r>
            <a:r>
              <a:rPr lang="en-US" altLang="zh-TW" sz="2800" dirty="0">
                <a:solidFill>
                  <a:schemeClr val="tx2"/>
                </a:solidFill>
                <a:ea typeface="新細明體" pitchFamily="18" charset="-120"/>
              </a:rPr>
              <a:t>Why Virtual memory?</a:t>
            </a:r>
          </a:p>
          <a:p>
            <a:pPr lvl="1" eaLnBrk="1" hangingPunct="1">
              <a:buFont typeface="Wingdings" pitchFamily="2" charset="2"/>
              <a:buChar char="v"/>
              <a:defRPr/>
            </a:pPr>
            <a:r>
              <a:rPr lang="en-US" altLang="zh-TW" dirty="0">
                <a:solidFill>
                  <a:srgbClr val="FF0000"/>
                </a:solidFill>
                <a:ea typeface="新細明體" pitchFamily="18" charset="-120"/>
              </a:rPr>
              <a:t> </a:t>
            </a:r>
            <a:r>
              <a:rPr lang="en-US" altLang="zh-TW" sz="2400" dirty="0">
                <a:solidFill>
                  <a:srgbClr val="FF0000"/>
                </a:solidFill>
                <a:ea typeface="新細明體" pitchFamily="18" charset="-120"/>
              </a:rPr>
              <a:t>Larger address space, Memory sharing, Protection, Isolation</a:t>
            </a:r>
          </a:p>
          <a:p>
            <a:pPr>
              <a:buSzPct val="103000"/>
              <a:buFont typeface="Wingdings" panose="05000000000000000000" pitchFamily="2" charset="2"/>
              <a:buChar char="Ø"/>
              <a:defRPr/>
            </a:pPr>
            <a:r>
              <a:rPr lang="en-US" altLang="zh-TW" sz="2800" dirty="0">
                <a:solidFill>
                  <a:schemeClr val="tx2"/>
                </a:solidFill>
                <a:ea typeface="新細明體" pitchFamily="18" charset="-120"/>
              </a:rPr>
              <a:t> Why</a:t>
            </a:r>
            <a:r>
              <a:rPr lang="en-US" altLang="zh-TW" sz="2800" dirty="0">
                <a:solidFill>
                  <a:srgbClr val="FF0000"/>
                </a:solidFill>
                <a:ea typeface="新細明體" pitchFamily="18" charset="-120"/>
              </a:rPr>
              <a:t> </a:t>
            </a:r>
            <a:r>
              <a:rPr lang="en-US" altLang="zh-TW" sz="2800" dirty="0">
                <a:solidFill>
                  <a:schemeClr val="tx2"/>
                </a:solidFill>
                <a:ea typeface="新細明體" pitchFamily="18" charset="-120"/>
              </a:rPr>
              <a:t>Virtual Machines?</a:t>
            </a:r>
          </a:p>
          <a:p>
            <a:pPr lvl="1">
              <a:buSzPct val="103000"/>
              <a:buFont typeface="Wingdings" panose="05000000000000000000" pitchFamily="2" charset="2"/>
              <a:buChar char="v"/>
              <a:defRPr/>
            </a:pPr>
            <a:r>
              <a:rPr lang="en-US" altLang="zh-TW" sz="2267" dirty="0">
                <a:solidFill>
                  <a:schemeClr val="tx2"/>
                </a:solidFill>
                <a:ea typeface="新細明體" pitchFamily="18" charset="-120"/>
              </a:rPr>
              <a:t>  </a:t>
            </a:r>
            <a:r>
              <a:rPr lang="en-US" altLang="zh-TW" sz="2267" dirty="0">
                <a:solidFill>
                  <a:srgbClr val="FF0000"/>
                </a:solidFill>
                <a:ea typeface="新細明體" pitchFamily="18" charset="-120"/>
              </a:rPr>
              <a:t>Resource sharing, Protection, Migration, Isolation</a:t>
            </a:r>
          </a:p>
          <a:p>
            <a:pPr>
              <a:buFont typeface="Wingdings" panose="05000000000000000000" pitchFamily="2" charset="2"/>
              <a:buChar char="Ø"/>
              <a:defRPr/>
            </a:pPr>
            <a:r>
              <a:rPr lang="en-US" altLang="zh-TW" dirty="0">
                <a:solidFill>
                  <a:srgbClr val="FF0000"/>
                </a:solidFill>
                <a:ea typeface="新細明體" pitchFamily="18" charset="-120"/>
              </a:rPr>
              <a:t> </a:t>
            </a:r>
            <a:r>
              <a:rPr lang="en-US" altLang="zh-TW" sz="2800" dirty="0">
                <a:solidFill>
                  <a:schemeClr val="tx2"/>
                </a:solidFill>
                <a:ea typeface="新細明體" pitchFamily="18" charset="-120"/>
              </a:rPr>
              <a:t>Why Java virtual machine?</a:t>
            </a:r>
          </a:p>
          <a:p>
            <a:pPr lvl="1" eaLnBrk="1" hangingPunct="1">
              <a:buFont typeface="Wingdings" pitchFamily="2" charset="2"/>
              <a:buChar char="v"/>
              <a:defRPr/>
            </a:pPr>
            <a:r>
              <a:rPr lang="en-US" altLang="zh-TW" dirty="0">
                <a:solidFill>
                  <a:srgbClr val="FF0000"/>
                </a:solidFill>
                <a:ea typeface="新細明體" pitchFamily="18" charset="-120"/>
              </a:rPr>
              <a:t> </a:t>
            </a:r>
            <a:r>
              <a:rPr lang="en-US" altLang="zh-TW" sz="2400" dirty="0">
                <a:solidFill>
                  <a:srgbClr val="FF0000"/>
                </a:solidFill>
                <a:ea typeface="新細明體" pitchFamily="18" charset="-120"/>
              </a:rPr>
              <a:t>Interoperability, Application sharing, Protection, …</a:t>
            </a:r>
          </a:p>
          <a:p>
            <a:pPr eaLnBrk="1" hangingPunct="1">
              <a:buFont typeface="Wingdings" panose="05000000000000000000" pitchFamily="2" charset="2"/>
              <a:buChar char="Ø"/>
              <a:defRPr/>
            </a:pPr>
            <a:r>
              <a:rPr lang="en-US" altLang="zh-TW" dirty="0">
                <a:solidFill>
                  <a:srgbClr val="FF0000"/>
                </a:solidFill>
                <a:ea typeface="新細明體" pitchFamily="18" charset="-120"/>
              </a:rPr>
              <a:t> </a:t>
            </a:r>
            <a:r>
              <a:rPr lang="en-US" altLang="zh-TW" sz="2800" dirty="0">
                <a:solidFill>
                  <a:schemeClr val="tx2"/>
                </a:solidFill>
                <a:ea typeface="新細明體" pitchFamily="18" charset="-120"/>
              </a:rPr>
              <a:t>Why Virtual Private Network (VPN)?</a:t>
            </a:r>
          </a:p>
          <a:p>
            <a:pPr lvl="1" eaLnBrk="1" hangingPunct="1">
              <a:buClr>
                <a:srgbClr val="0070C0"/>
              </a:buClr>
              <a:buFont typeface="Wingdings" pitchFamily="2" charset="2"/>
              <a:buChar char="v"/>
              <a:defRPr/>
            </a:pPr>
            <a:r>
              <a:rPr lang="en-US" altLang="zh-TW" sz="2400" dirty="0">
                <a:solidFill>
                  <a:srgbClr val="FFFF66"/>
                </a:solidFill>
                <a:ea typeface="新細明體" pitchFamily="18" charset="-120"/>
              </a:rPr>
              <a:t> </a:t>
            </a:r>
            <a:r>
              <a:rPr lang="en-US" altLang="zh-TW" sz="2400" dirty="0">
                <a:solidFill>
                  <a:srgbClr val="FF0000"/>
                </a:solidFill>
                <a:ea typeface="新細明體" pitchFamily="18" charset="-120"/>
              </a:rPr>
              <a:t>Network sharing,</a:t>
            </a:r>
            <a:r>
              <a:rPr lang="en-US" altLang="zh-TW" sz="2400" dirty="0">
                <a:solidFill>
                  <a:srgbClr val="FFFF66"/>
                </a:solidFill>
                <a:ea typeface="新細明體" pitchFamily="18" charset="-120"/>
              </a:rPr>
              <a:t> </a:t>
            </a:r>
            <a:r>
              <a:rPr lang="en-US" altLang="zh-TW" sz="2400" dirty="0">
                <a:solidFill>
                  <a:srgbClr val="FF0000"/>
                </a:solidFill>
                <a:ea typeface="新細明體" pitchFamily="18" charset="-120"/>
              </a:rPr>
              <a:t>secure communication over unsecure (public) network</a:t>
            </a:r>
          </a:p>
          <a:p>
            <a:pPr lvl="1" eaLnBrk="1" hangingPunct="1">
              <a:buClr>
                <a:srgbClr val="0070C0"/>
              </a:buClr>
              <a:buFont typeface="Wingdings" pitchFamily="2" charset="2"/>
              <a:buChar char="v"/>
              <a:defRPr/>
            </a:pPr>
            <a:r>
              <a:rPr lang="en-US" altLang="zh-TW" sz="2400" dirty="0">
                <a:solidFill>
                  <a:srgbClr val="FF0000"/>
                </a:solidFill>
                <a:ea typeface="新細明體" pitchFamily="18" charset="-120"/>
              </a:rPr>
              <a:t>  </a:t>
            </a:r>
            <a:r>
              <a:rPr lang="en-US" altLang="zh-TW" sz="2400" dirty="0" err="1">
                <a:solidFill>
                  <a:srgbClr val="FF0000"/>
                </a:solidFill>
                <a:ea typeface="新細明體" pitchFamily="18" charset="-120"/>
              </a:rPr>
              <a:t>QoS</a:t>
            </a:r>
            <a:r>
              <a:rPr lang="en-US" altLang="zh-TW" sz="2400" dirty="0">
                <a:solidFill>
                  <a:srgbClr val="FF0000"/>
                </a:solidFill>
                <a:ea typeface="新細明體" pitchFamily="18" charset="-120"/>
              </a:rPr>
              <a:t> – bandwidth guarantee</a:t>
            </a:r>
          </a:p>
        </p:txBody>
      </p:sp>
      <p:sp>
        <p:nvSpPr>
          <p:cNvPr id="3" name="Title 2">
            <a:extLst>
              <a:ext uri="{FF2B5EF4-FFF2-40B4-BE49-F238E27FC236}">
                <a16:creationId xmlns:a16="http://schemas.microsoft.com/office/drawing/2014/main" id="{EFE52A09-37E3-45C9-A7F1-227F7967AB7D}"/>
              </a:ext>
            </a:extLst>
          </p:cNvPr>
          <p:cNvSpPr>
            <a:spLocks noGrp="1"/>
          </p:cNvSpPr>
          <p:nvPr>
            <p:ph type="title"/>
          </p:nvPr>
        </p:nvSpPr>
        <p:spPr/>
        <p:txBody>
          <a:bodyPr/>
          <a:lstStyle/>
          <a:p>
            <a:r>
              <a:rPr lang="en-US" dirty="0"/>
              <a:t>Mapping Virtual to Real</a:t>
            </a:r>
          </a:p>
        </p:txBody>
      </p:sp>
    </p:spTree>
    <p:extLst>
      <p:ext uri="{BB962C8B-B14F-4D97-AF65-F5344CB8AC3E}">
        <p14:creationId xmlns:p14="http://schemas.microsoft.com/office/powerpoint/2010/main" val="4246260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idx="4294967295"/>
          </p:nvPr>
        </p:nvSpPr>
        <p:spPr>
          <a:xfrm>
            <a:off x="1231770" y="173040"/>
            <a:ext cx="9074281" cy="679397"/>
          </a:xfrm>
        </p:spPr>
        <p:txBody>
          <a:bodyPr/>
          <a:lstStyle/>
          <a:p>
            <a:r>
              <a:rPr lang="en-US" altLang="zh-TW" sz="4267" dirty="0">
                <a:solidFill>
                  <a:srgbClr val="002060"/>
                </a:solidFill>
              </a:rPr>
              <a:t>Virtual Memory</a:t>
            </a:r>
          </a:p>
        </p:txBody>
      </p:sp>
      <p:sp>
        <p:nvSpPr>
          <p:cNvPr id="247827" name="投影片編號版面配置區 1"/>
          <p:cNvSpPr txBox="1">
            <a:spLocks noGrp="1"/>
          </p:cNvSpPr>
          <p:nvPr/>
        </p:nvSpPr>
        <p:spPr bwMode="auto">
          <a:xfrm>
            <a:off x="9791637" y="6397864"/>
            <a:ext cx="2063751"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nchor="ctr"/>
          <a:lstStyle>
            <a:lvl1pPr defTabSz="762000" eaLnBrk="0" hangingPunct="0">
              <a:defRPr kumimoji="1" sz="2400">
                <a:solidFill>
                  <a:schemeClr val="tx1"/>
                </a:solidFill>
                <a:latin typeface="Times New Roman" panose="02020503050405090304" pitchFamily="18" charset="0"/>
                <a:ea typeface="新細明體" panose="02020500000000000000" pitchFamily="18" charset="-120"/>
              </a:defRPr>
            </a:lvl1pPr>
            <a:lvl2pPr marL="742950" indent="-285750" defTabSz="762000" eaLnBrk="0" hangingPunct="0">
              <a:defRPr kumimoji="1" sz="2400">
                <a:solidFill>
                  <a:schemeClr val="tx1"/>
                </a:solidFill>
                <a:latin typeface="Times New Roman" panose="02020503050405090304" pitchFamily="18" charset="0"/>
                <a:ea typeface="新細明體" panose="02020500000000000000" pitchFamily="18" charset="-120"/>
              </a:defRPr>
            </a:lvl2pPr>
            <a:lvl3pPr marL="1143000" indent="-228600" defTabSz="762000" eaLnBrk="0" hangingPunct="0">
              <a:defRPr kumimoji="1" sz="2400">
                <a:solidFill>
                  <a:schemeClr val="tx1"/>
                </a:solidFill>
                <a:latin typeface="Times New Roman" panose="02020503050405090304" pitchFamily="18" charset="0"/>
                <a:ea typeface="新細明體" panose="02020500000000000000" pitchFamily="18" charset="-120"/>
              </a:defRPr>
            </a:lvl3pPr>
            <a:lvl4pPr marL="1600200" indent="-228600" defTabSz="762000" eaLnBrk="0" hangingPunct="0">
              <a:defRPr kumimoji="1" sz="2400">
                <a:solidFill>
                  <a:schemeClr val="tx1"/>
                </a:solidFill>
                <a:latin typeface="Times New Roman" panose="02020503050405090304" pitchFamily="18" charset="0"/>
                <a:ea typeface="新細明體" panose="02020500000000000000" pitchFamily="18" charset="-120"/>
              </a:defRPr>
            </a:lvl4pPr>
            <a:lvl5pPr marL="2057400" indent="-228600" defTabSz="762000" eaLnBrk="0" hangingPunct="0">
              <a:defRPr kumimoji="1" sz="2400">
                <a:solidFill>
                  <a:schemeClr val="tx1"/>
                </a:solidFill>
                <a:latin typeface="Times New Roman" panose="02020503050405090304" pitchFamily="18" charset="0"/>
                <a:ea typeface="新細明體" panose="02020500000000000000" pitchFamily="18" charset="-120"/>
              </a:defRPr>
            </a:lvl5pPr>
            <a:lvl6pPr marL="2514600" indent="-228600" defTabSz="762000" eaLnBrk="0" fontAlgn="base" hangingPunct="0">
              <a:spcBef>
                <a:spcPct val="0"/>
              </a:spcBef>
              <a:spcAft>
                <a:spcPct val="0"/>
              </a:spcAft>
              <a:defRPr kumimoji="1" sz="2400">
                <a:solidFill>
                  <a:schemeClr val="tx1"/>
                </a:solidFill>
                <a:latin typeface="Times New Roman" panose="02020503050405090304" pitchFamily="18" charset="0"/>
                <a:ea typeface="新細明體" panose="02020500000000000000" pitchFamily="18" charset="-120"/>
              </a:defRPr>
            </a:lvl6pPr>
            <a:lvl7pPr marL="2971800" indent="-228600" defTabSz="762000" eaLnBrk="0" fontAlgn="base" hangingPunct="0">
              <a:spcBef>
                <a:spcPct val="0"/>
              </a:spcBef>
              <a:spcAft>
                <a:spcPct val="0"/>
              </a:spcAft>
              <a:defRPr kumimoji="1" sz="2400">
                <a:solidFill>
                  <a:schemeClr val="tx1"/>
                </a:solidFill>
                <a:latin typeface="Times New Roman" panose="02020503050405090304" pitchFamily="18" charset="0"/>
                <a:ea typeface="新細明體" panose="02020500000000000000" pitchFamily="18" charset="-120"/>
              </a:defRPr>
            </a:lvl7pPr>
            <a:lvl8pPr marL="3429000" indent="-228600" defTabSz="762000" eaLnBrk="0" fontAlgn="base" hangingPunct="0">
              <a:spcBef>
                <a:spcPct val="0"/>
              </a:spcBef>
              <a:spcAft>
                <a:spcPct val="0"/>
              </a:spcAft>
              <a:defRPr kumimoji="1" sz="2400">
                <a:solidFill>
                  <a:schemeClr val="tx1"/>
                </a:solidFill>
                <a:latin typeface="Times New Roman" panose="02020503050405090304" pitchFamily="18" charset="0"/>
                <a:ea typeface="新細明體" panose="02020500000000000000" pitchFamily="18" charset="-120"/>
              </a:defRPr>
            </a:lvl8pPr>
            <a:lvl9pPr marL="3886200" indent="-228600" defTabSz="762000" eaLnBrk="0" fontAlgn="base" hangingPunct="0">
              <a:spcBef>
                <a:spcPct val="0"/>
              </a:spcBef>
              <a:spcAft>
                <a:spcPct val="0"/>
              </a:spcAft>
              <a:defRPr kumimoji="1" sz="2400">
                <a:solidFill>
                  <a:schemeClr val="tx1"/>
                </a:solidFill>
                <a:latin typeface="Times New Roman" panose="02020503050405090304" pitchFamily="18" charset="0"/>
                <a:ea typeface="新細明體" panose="02020500000000000000" pitchFamily="18" charset="-120"/>
              </a:defRPr>
            </a:lvl9pPr>
          </a:lstStyle>
          <a:p>
            <a:pPr algn="r"/>
            <a:fld id="{8CDBBF90-3FA8-495F-810F-5D24BEA52CF9}" type="slidenum">
              <a:rPr kumimoji="0" lang="zh-TW" altLang="en-US" sz="1400">
                <a:solidFill>
                  <a:schemeClr val="bg1"/>
                </a:solidFill>
                <a:latin typeface="Arial" panose="020B0604020202090204" pitchFamily="34" charset="0"/>
              </a:rPr>
              <a:t>4</a:t>
            </a:fld>
            <a:endParaRPr kumimoji="0" lang="en-US" altLang="zh-TW" sz="1400">
              <a:solidFill>
                <a:schemeClr val="bg1"/>
              </a:solidFill>
              <a:latin typeface="Arial" panose="020B0604020202090204" pitchFamily="34" charset="0"/>
            </a:endParaRPr>
          </a:p>
        </p:txBody>
      </p:sp>
      <p:pic>
        <p:nvPicPr>
          <p:cNvPr id="3" name="Picture 2">
            <a:extLst>
              <a:ext uri="{FF2B5EF4-FFF2-40B4-BE49-F238E27FC236}">
                <a16:creationId xmlns:a16="http://schemas.microsoft.com/office/drawing/2014/main" id="{51957C24-1D69-4EB2-9F78-947A784CB1F5}"/>
              </a:ext>
            </a:extLst>
          </p:cNvPr>
          <p:cNvPicPr>
            <a:picLocks noChangeAspect="1"/>
          </p:cNvPicPr>
          <p:nvPr/>
        </p:nvPicPr>
        <p:blipFill>
          <a:blip r:embed="rId3"/>
          <a:stretch>
            <a:fillRect/>
          </a:stretch>
        </p:blipFill>
        <p:spPr>
          <a:xfrm>
            <a:off x="7410302" y="1"/>
            <a:ext cx="4762668" cy="2218028"/>
          </a:xfrm>
          <a:prstGeom prst="rect">
            <a:avLst/>
          </a:prstGeom>
        </p:spPr>
      </p:pic>
      <p:sp>
        <p:nvSpPr>
          <p:cNvPr id="22" name="Rectangle 3">
            <a:extLst>
              <a:ext uri="{FF2B5EF4-FFF2-40B4-BE49-F238E27FC236}">
                <a16:creationId xmlns:a16="http://schemas.microsoft.com/office/drawing/2014/main" id="{9E1BD93B-6506-4D24-8907-C4F47BC45E6B}"/>
              </a:ext>
            </a:extLst>
          </p:cNvPr>
          <p:cNvSpPr txBox="1">
            <a:spLocks noChangeArrowheads="1"/>
          </p:cNvSpPr>
          <p:nvPr/>
        </p:nvSpPr>
        <p:spPr bwMode="auto">
          <a:xfrm>
            <a:off x="287563" y="1109014"/>
            <a:ext cx="11788323" cy="4944076"/>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en-US" altLang="zh-TW" kern="0" dirty="0"/>
              <a:t>In 1950’s, computers </a:t>
            </a:r>
            <a:r>
              <a:rPr lang="en-US" dirty="0">
                <a:latin typeface="Google Sans"/>
              </a:rPr>
              <a:t>had very limited main memory.</a:t>
            </a:r>
          </a:p>
          <a:p>
            <a:pPr marL="0" indent="0" defTabSz="1219170" fontAlgn="auto">
              <a:spcBef>
                <a:spcPts val="0"/>
              </a:spcBef>
              <a:spcAft>
                <a:spcPts val="0"/>
              </a:spcAft>
              <a:buClrTx/>
              <a:buSzTx/>
              <a:buNone/>
              <a:defRPr/>
            </a:pPr>
            <a:r>
              <a:rPr kumimoji="0" lang="en-US" dirty="0">
                <a:solidFill>
                  <a:prstClr val="black"/>
                </a:solidFill>
                <a:latin typeface="Google Sans"/>
                <a:ea typeface="新細明體"/>
              </a:rPr>
              <a:t> Programmers were burdened with complex techniques like overlays to try </a:t>
            </a:r>
          </a:p>
          <a:p>
            <a:pPr marL="0" indent="0" defTabSz="1219170" fontAlgn="auto">
              <a:spcBef>
                <a:spcPts val="0"/>
              </a:spcBef>
              <a:spcAft>
                <a:spcPts val="0"/>
              </a:spcAft>
              <a:buClrTx/>
              <a:buSzTx/>
              <a:buNone/>
              <a:defRPr/>
            </a:pPr>
            <a:r>
              <a:rPr kumimoji="0" lang="en-US" dirty="0">
                <a:solidFill>
                  <a:prstClr val="black"/>
                </a:solidFill>
                <a:latin typeface="Google Sans"/>
                <a:ea typeface="新細明體"/>
              </a:rPr>
              <a:t>and fit programs into this restricted space. Virtual memory was</a:t>
            </a:r>
            <a:r>
              <a:rPr kumimoji="0" lang="en-US" sz="1867" dirty="0">
                <a:solidFill>
                  <a:srgbClr val="E3E3E3"/>
                </a:solidFill>
                <a:latin typeface="Google Sans"/>
                <a:ea typeface="新細明體"/>
              </a:rPr>
              <a:t> </a:t>
            </a:r>
            <a:r>
              <a:rPr kumimoji="0" lang="en-US" dirty="0">
                <a:solidFill>
                  <a:prstClr val="black"/>
                </a:solidFill>
                <a:latin typeface="Google Sans"/>
                <a:ea typeface="新細明體"/>
              </a:rPr>
              <a:t>proposed</a:t>
            </a:r>
            <a:r>
              <a:rPr kumimoji="0" lang="en-US" sz="1867" dirty="0">
                <a:solidFill>
                  <a:srgbClr val="E3E3E3"/>
                </a:solidFill>
                <a:latin typeface="Google Sans"/>
                <a:ea typeface="新細明體"/>
              </a:rPr>
              <a:t> </a:t>
            </a:r>
            <a:r>
              <a:rPr kumimoji="0" lang="en-US" dirty="0">
                <a:solidFill>
                  <a:prstClr val="black"/>
                </a:solidFill>
                <a:latin typeface="Google Sans"/>
                <a:ea typeface="新細明體"/>
              </a:rPr>
              <a:t>as a way to </a:t>
            </a:r>
          </a:p>
          <a:p>
            <a:pPr marL="0" indent="0" defTabSz="1219170" fontAlgn="auto">
              <a:spcBef>
                <a:spcPts val="0"/>
              </a:spcBef>
              <a:spcAft>
                <a:spcPts val="0"/>
              </a:spcAft>
              <a:buClrTx/>
              <a:buSzTx/>
              <a:buNone/>
              <a:defRPr/>
            </a:pPr>
            <a:r>
              <a:rPr kumimoji="0" lang="en-US" dirty="0">
                <a:solidFill>
                  <a:prstClr val="black"/>
                </a:solidFill>
                <a:latin typeface="Google Sans"/>
                <a:ea typeface="新細明體"/>
              </a:rPr>
              <a:t>create an illusion of a much larger address space than the physical memory available.</a:t>
            </a:r>
            <a:r>
              <a:rPr lang="en-US" dirty="0">
                <a:latin typeface="Google Sans"/>
              </a:rPr>
              <a:t> </a:t>
            </a:r>
          </a:p>
          <a:p>
            <a:r>
              <a:rPr lang="en-US" dirty="0">
                <a:latin typeface="Google Sans"/>
              </a:rPr>
              <a:t>First implementation of the Virtual Memory was in the Atlas computer in 1962. It had only 16K words of memory.</a:t>
            </a:r>
          </a:p>
          <a:p>
            <a:r>
              <a:rPr lang="en-US" i="1" dirty="0">
                <a:latin typeface="Calibri" panose="020F0502020204030204" pitchFamily="34" charset="0"/>
                <a:ea typeface="PMingLiU" panose="02020500000000000000" pitchFamily="18" charset="-120"/>
                <a:cs typeface="Calibri" panose="020F0502020204030204" pitchFamily="34" charset="0"/>
              </a:rPr>
              <a:t>“</a:t>
            </a:r>
            <a:r>
              <a:rPr lang="en-US" i="1" dirty="0">
                <a:solidFill>
                  <a:srgbClr val="FF0000"/>
                </a:solidFill>
                <a:latin typeface="Calibri" panose="020F0502020204030204" pitchFamily="34" charset="0"/>
                <a:ea typeface="PMingLiU" panose="02020500000000000000" pitchFamily="18" charset="-120"/>
                <a:cs typeface="Calibri" panose="020F0502020204030204" pitchFamily="34" charset="0"/>
              </a:rPr>
              <a:t>Virtual memory was invented in a time of scarcity. Is it still a good idea?</a:t>
            </a:r>
            <a:r>
              <a:rPr lang="en-US" i="1" dirty="0">
                <a:latin typeface="Calibri" panose="020F0502020204030204" pitchFamily="34" charset="0"/>
                <a:ea typeface="PMingLiU" panose="02020500000000000000" pitchFamily="18" charset="-120"/>
                <a:cs typeface="Calibri" panose="020F0502020204030204" pitchFamily="34" charset="0"/>
              </a:rPr>
              <a:t>” – Charles Thacker, Turing Award Lecture.</a:t>
            </a:r>
            <a:r>
              <a:rPr lang="en-US" i="1" dirty="0">
                <a:latin typeface="Calibri" panose="020F0502020204030204" pitchFamily="34" charset="0"/>
                <a:ea typeface="PMingLiU" panose="02020500000000000000" pitchFamily="18" charset="-120"/>
                <a:cs typeface="Times New Roman" panose="02020603050405020304" pitchFamily="18" charset="0"/>
              </a:rPr>
              <a:t> </a:t>
            </a:r>
            <a:r>
              <a:rPr lang="en-US" dirty="0">
                <a:latin typeface="Calibri" panose="020F0502020204030204" pitchFamily="34" charset="0"/>
                <a:ea typeface="PMingLiU" panose="02020500000000000000" pitchFamily="18" charset="-120"/>
                <a:cs typeface="Calibri" panose="020F0502020204030204" pitchFamily="34" charset="0"/>
              </a:rPr>
              <a:t>Charles Thacker was the chief designer of the Xerox Alto, considered the first true personal computer. He questioned whether, in 2004, with the large main memory sizes, we still needed the feature of virtual memory.</a:t>
            </a:r>
          </a:p>
          <a:p>
            <a:r>
              <a:rPr lang="en-US" dirty="0">
                <a:latin typeface="Calibri" panose="020F0502020204030204" pitchFamily="34" charset="0"/>
                <a:ea typeface="PMingLiU" panose="02020500000000000000" pitchFamily="18" charset="-120"/>
                <a:cs typeface="Calibri" panose="020F0502020204030204" pitchFamily="34" charset="0"/>
              </a:rPr>
              <a:t>Today’s Virtual Memory is no longer your grandfather’s VM</a:t>
            </a:r>
          </a:p>
          <a:p>
            <a:pPr lvl="1"/>
            <a:r>
              <a:rPr lang="en-US" sz="2400" dirty="0">
                <a:latin typeface="Calibri" panose="020F0502020204030204" pitchFamily="34" charset="0"/>
                <a:ea typeface="PMingLiU" panose="02020500000000000000" pitchFamily="18" charset="-120"/>
                <a:cs typeface="Calibri" panose="020F0502020204030204" pitchFamily="34" charset="0"/>
              </a:rPr>
              <a:t>Enable memory sharing, memory protection, </a:t>
            </a:r>
            <a:r>
              <a:rPr lang="en-US" sz="2400" dirty="0" err="1">
                <a:latin typeface="Calibri" panose="020F0502020204030204" pitchFamily="34" charset="0"/>
                <a:ea typeface="PMingLiU" panose="02020500000000000000" pitchFamily="18" charset="-120"/>
                <a:cs typeface="Calibri" panose="020F0502020204030204" pitchFamily="34" charset="0"/>
              </a:rPr>
              <a:t>mmaped</a:t>
            </a:r>
            <a:r>
              <a:rPr lang="en-US" sz="2400" dirty="0">
                <a:latin typeface="Calibri" panose="020F0502020204030204" pitchFamily="34" charset="0"/>
                <a:ea typeface="PMingLiU" panose="02020500000000000000" pitchFamily="18" charset="-120"/>
                <a:cs typeface="Calibri" panose="020F0502020204030204" pitchFamily="34" charset="0"/>
              </a:rPr>
              <a:t> file, </a:t>
            </a:r>
            <a:r>
              <a:rPr lang="en-US" sz="2400" dirty="0" err="1">
                <a:latin typeface="Calibri" panose="020F0502020204030204" pitchFamily="34" charset="0"/>
                <a:ea typeface="PMingLiU" panose="02020500000000000000" pitchFamily="18" charset="-120"/>
                <a:cs typeface="Calibri" panose="020F0502020204030204" pitchFamily="34" charset="0"/>
              </a:rPr>
              <a:t>mmapped</a:t>
            </a:r>
            <a:r>
              <a:rPr lang="en-US" sz="2400" dirty="0">
                <a:latin typeface="Calibri" panose="020F0502020204030204" pitchFamily="34" charset="0"/>
                <a:ea typeface="PMingLiU" panose="02020500000000000000" pitchFamily="18" charset="-120"/>
                <a:cs typeface="Calibri" panose="020F0502020204030204" pitchFamily="34" charset="0"/>
              </a:rPr>
              <a:t> I/O, COW, DSM,… </a:t>
            </a:r>
            <a:endParaRPr lang="en-US" sz="2400" dirty="0">
              <a:latin typeface="Calibri" panose="020F0502020204030204" pitchFamily="34" charset="0"/>
              <a:ea typeface="PMingLiU" panose="02020500000000000000" pitchFamily="18" charset="-120"/>
              <a:cs typeface="Times New Roman" panose="02020603050405020304" pitchFamily="18" charset="0"/>
            </a:endParaRPr>
          </a:p>
          <a:p>
            <a:endParaRPr lang="en-US" dirty="0">
              <a:latin typeface="Google Sans"/>
            </a:endParaRPr>
          </a:p>
          <a:p>
            <a:pPr marL="0" indent="0">
              <a:buNone/>
            </a:pPr>
            <a:r>
              <a:rPr lang="en-US" dirty="0">
                <a:latin typeface="Google Sans"/>
              </a:rPr>
              <a:t> </a:t>
            </a:r>
            <a:endParaRPr lang="en-US" altLang="zh-TW" kern="0" dirty="0"/>
          </a:p>
        </p:txBody>
      </p:sp>
    </p:spTree>
    <p:extLst>
      <p:ext uri="{BB962C8B-B14F-4D97-AF65-F5344CB8AC3E}">
        <p14:creationId xmlns:p14="http://schemas.microsoft.com/office/powerpoint/2010/main" val="2662297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1231770" y="173039"/>
            <a:ext cx="9074281" cy="685796"/>
          </a:xfrm>
        </p:spPr>
        <p:txBody>
          <a:bodyPr/>
          <a:lstStyle/>
          <a:p>
            <a:r>
              <a:rPr lang="en-US" altLang="zh-TW" dirty="0"/>
              <a:t>Virtual Address Space </a:t>
            </a:r>
            <a:endParaRPr lang="en-AU" altLang="zh-TW" dirty="0">
              <a:ea typeface="新細明體" panose="02020500000000000000" pitchFamily="18" charset="-120"/>
            </a:endParaRPr>
          </a:p>
        </p:txBody>
      </p:sp>
      <p:sp>
        <p:nvSpPr>
          <p:cNvPr id="81923" name="Rectangle 3"/>
          <p:cNvSpPr>
            <a:spLocks noGrp="1" noChangeArrowheads="1"/>
          </p:cNvSpPr>
          <p:nvPr>
            <p:ph type="body" idx="1"/>
          </p:nvPr>
        </p:nvSpPr>
        <p:spPr>
          <a:xfrm>
            <a:off x="183848" y="1151924"/>
            <a:ext cx="9657987" cy="4847315"/>
          </a:xfrm>
        </p:spPr>
        <p:txBody>
          <a:bodyPr/>
          <a:lstStyle/>
          <a:p>
            <a:r>
              <a:rPr lang="en-US" altLang="zh-TW" sz="2667" dirty="0"/>
              <a:t>Programs share main memory (Multi-programming and I/O)</a:t>
            </a:r>
          </a:p>
          <a:p>
            <a:pPr lvl="1"/>
            <a:r>
              <a:rPr lang="en-US" altLang="zh-TW" sz="2400" dirty="0"/>
              <a:t>Program executed in a namespace (virtual address space) different from the memory space (physical address space)</a:t>
            </a:r>
          </a:p>
          <a:p>
            <a:pPr lvl="1"/>
            <a:r>
              <a:rPr lang="en-US" altLang="zh-TW" sz="2400" dirty="0"/>
              <a:t>Each gets a private virtual address space holding its code and data, starting at address 0, only accessible to itself</a:t>
            </a:r>
          </a:p>
          <a:p>
            <a:pPr lvl="2"/>
            <a:r>
              <a:rPr lang="en-US" altLang="zh-TW" sz="2133" dirty="0"/>
              <a:t>Yet, any program can run anywhere in physical memory</a:t>
            </a:r>
          </a:p>
          <a:p>
            <a:pPr lvl="2"/>
            <a:r>
              <a:rPr lang="en-US" altLang="zh-TW" sz="2133" dirty="0"/>
              <a:t>Virtual memory maps the virtual address space to the physical memory</a:t>
            </a:r>
          </a:p>
          <a:p>
            <a:pPr lvl="2"/>
            <a:r>
              <a:rPr lang="en-US" altLang="zh-TW" sz="2133" dirty="0">
                <a:solidFill>
                  <a:prstClr val="black"/>
                </a:solidFill>
              </a:rPr>
              <a:t>Mapping is managed jointly by </a:t>
            </a:r>
            <a:r>
              <a:rPr lang="en-US" altLang="zh-TW" sz="2133" dirty="0">
                <a:solidFill>
                  <a:srgbClr val="FF0000"/>
                </a:solidFill>
              </a:rPr>
              <a:t>CPU hardware (MMU) </a:t>
            </a:r>
            <a:r>
              <a:rPr lang="en-US" altLang="zh-TW" sz="2133" dirty="0">
                <a:solidFill>
                  <a:prstClr val="black"/>
                </a:solidFill>
              </a:rPr>
              <a:t>and the </a:t>
            </a:r>
            <a:r>
              <a:rPr lang="en-US" altLang="zh-TW" sz="2133" dirty="0">
                <a:solidFill>
                  <a:srgbClr val="FF0000"/>
                </a:solidFill>
              </a:rPr>
              <a:t>OS </a:t>
            </a:r>
          </a:p>
          <a:p>
            <a:pPr lvl="2"/>
            <a:r>
              <a:rPr lang="en-US" altLang="zh-TW" sz="2133" dirty="0"/>
              <a:t>OS provides a page table that translates Virtual Address (VA) to Physical Address (PA). Hardware (MMU) speeds up the translation.</a:t>
            </a:r>
          </a:p>
          <a:p>
            <a:pPr lvl="1"/>
            <a:r>
              <a:rPr lang="en-US" altLang="zh-TW" sz="2400" dirty="0"/>
              <a:t>Protected from other programs</a:t>
            </a:r>
          </a:p>
        </p:txBody>
      </p:sp>
      <p:sp>
        <p:nvSpPr>
          <p:cNvPr id="81924" name="投影片編號版面配置區 1"/>
          <p:cNvSpPr>
            <a:spLocks noGrp="1"/>
          </p:cNvSpPr>
          <p:nvPr>
            <p:ph type="sldNum" sz="quarter"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1981" eaLnBrk="0" hangingPunct="0">
              <a:defRPr kumimoji="1" sz="2400">
                <a:solidFill>
                  <a:schemeClr val="tx1"/>
                </a:solidFill>
                <a:latin typeface="Times New Roman" panose="02020503050405090304" pitchFamily="18" charset="0"/>
                <a:ea typeface="新細明體" panose="02020500000000000000" pitchFamily="18" charset="-120"/>
              </a:defRPr>
            </a:lvl1pPr>
            <a:lvl2pPr marL="743355" indent="-286166" defTabSz="761981" eaLnBrk="0" hangingPunct="0">
              <a:defRPr kumimoji="1" sz="2400">
                <a:solidFill>
                  <a:schemeClr val="tx1"/>
                </a:solidFill>
                <a:latin typeface="Times New Roman" panose="02020503050405090304" pitchFamily="18" charset="0"/>
                <a:ea typeface="新細明體" panose="02020500000000000000" pitchFamily="18" charset="-120"/>
              </a:defRPr>
            </a:lvl2pPr>
            <a:lvl3pPr marL="1142971" indent="-228594" defTabSz="761981" eaLnBrk="0" hangingPunct="0">
              <a:defRPr kumimoji="1" sz="2400">
                <a:solidFill>
                  <a:schemeClr val="tx1"/>
                </a:solidFill>
                <a:latin typeface="Times New Roman" panose="02020503050405090304" pitchFamily="18" charset="0"/>
                <a:ea typeface="新細明體" panose="02020500000000000000" pitchFamily="18" charset="-120"/>
              </a:defRPr>
            </a:lvl3pPr>
            <a:lvl4pPr marL="1600160" indent="-228594" defTabSz="761981" eaLnBrk="0" hangingPunct="0">
              <a:defRPr kumimoji="1" sz="2400">
                <a:solidFill>
                  <a:schemeClr val="tx1"/>
                </a:solidFill>
                <a:latin typeface="Times New Roman" panose="02020503050405090304" pitchFamily="18" charset="0"/>
                <a:ea typeface="新細明體" panose="02020500000000000000" pitchFamily="18" charset="-120"/>
              </a:defRPr>
            </a:lvl4pPr>
            <a:lvl5pPr marL="2057349" indent="-228594" defTabSz="761981" eaLnBrk="0" hangingPunct="0">
              <a:defRPr kumimoji="1" sz="2400">
                <a:solidFill>
                  <a:schemeClr val="tx1"/>
                </a:solidFill>
                <a:latin typeface="Times New Roman" panose="02020503050405090304" pitchFamily="18" charset="0"/>
                <a:ea typeface="新細明體" panose="02020500000000000000" pitchFamily="18" charset="-120"/>
              </a:defRPr>
            </a:lvl5pPr>
            <a:lvl6pPr marL="2514537" indent="-228594" defTabSz="761981" eaLnBrk="0" fontAlgn="base" hangingPunct="0">
              <a:spcBef>
                <a:spcPct val="0"/>
              </a:spcBef>
              <a:spcAft>
                <a:spcPct val="0"/>
              </a:spcAft>
              <a:defRPr kumimoji="1" sz="2400">
                <a:solidFill>
                  <a:schemeClr val="tx1"/>
                </a:solidFill>
                <a:latin typeface="Times New Roman" panose="02020503050405090304" pitchFamily="18" charset="0"/>
                <a:ea typeface="新細明體" panose="02020500000000000000" pitchFamily="18" charset="-120"/>
              </a:defRPr>
            </a:lvl6pPr>
            <a:lvl7pPr marL="2971726" indent="-228594" defTabSz="761981" eaLnBrk="0" fontAlgn="base" hangingPunct="0">
              <a:spcBef>
                <a:spcPct val="0"/>
              </a:spcBef>
              <a:spcAft>
                <a:spcPct val="0"/>
              </a:spcAft>
              <a:defRPr kumimoji="1" sz="2400">
                <a:solidFill>
                  <a:schemeClr val="tx1"/>
                </a:solidFill>
                <a:latin typeface="Times New Roman" panose="02020503050405090304" pitchFamily="18" charset="0"/>
                <a:ea typeface="新細明體" panose="02020500000000000000" pitchFamily="18" charset="-120"/>
              </a:defRPr>
            </a:lvl7pPr>
            <a:lvl8pPr marL="3428914" indent="-228594" defTabSz="761981" eaLnBrk="0" fontAlgn="base" hangingPunct="0">
              <a:spcBef>
                <a:spcPct val="0"/>
              </a:spcBef>
              <a:spcAft>
                <a:spcPct val="0"/>
              </a:spcAft>
              <a:defRPr kumimoji="1" sz="2400">
                <a:solidFill>
                  <a:schemeClr val="tx1"/>
                </a:solidFill>
                <a:latin typeface="Times New Roman" panose="02020503050405090304" pitchFamily="18" charset="0"/>
                <a:ea typeface="新細明體" panose="02020500000000000000" pitchFamily="18" charset="-120"/>
              </a:defRPr>
            </a:lvl8pPr>
            <a:lvl9pPr marL="3886103" indent="-228594" defTabSz="761981" eaLnBrk="0" fontAlgn="base" hangingPunct="0">
              <a:spcBef>
                <a:spcPct val="0"/>
              </a:spcBef>
              <a:spcAft>
                <a:spcPct val="0"/>
              </a:spcAft>
              <a:defRPr kumimoji="1" sz="2400">
                <a:solidFill>
                  <a:schemeClr val="tx1"/>
                </a:solidFill>
                <a:latin typeface="Times New Roman" panose="02020503050405090304" pitchFamily="18" charset="0"/>
                <a:ea typeface="新細明體" panose="02020500000000000000" pitchFamily="18" charset="-120"/>
              </a:defRPr>
            </a:lvl9pPr>
          </a:lstStyle>
          <a:p>
            <a:fld id="{2618A240-6168-4FAD-8420-A08F29D67A16}" type="slidenum">
              <a:rPr kumimoji="0" lang="zh-TW" altLang="en-US" sz="1400">
                <a:solidFill>
                  <a:schemeClr val="bg1"/>
                </a:solidFill>
                <a:latin typeface="Arial" panose="020B0604020202090204" pitchFamily="34" charset="0"/>
              </a:rPr>
              <a:t>5</a:t>
            </a:fld>
            <a:endParaRPr kumimoji="0" lang="en-US" altLang="zh-TW" sz="1400">
              <a:solidFill>
                <a:schemeClr val="bg1"/>
              </a:solidFill>
              <a:latin typeface="Arial" panose="020B0604020202090204" pitchFamily="34" charset="0"/>
            </a:endParaRPr>
          </a:p>
        </p:txBody>
      </p:sp>
      <p:grpSp>
        <p:nvGrpSpPr>
          <p:cNvPr id="3" name="组合 2"/>
          <p:cNvGrpSpPr/>
          <p:nvPr/>
        </p:nvGrpSpPr>
        <p:grpSpPr>
          <a:xfrm>
            <a:off x="9841835" y="1527562"/>
            <a:ext cx="2350165" cy="3087064"/>
            <a:chOff x="7201989" y="1010194"/>
            <a:chExt cx="1942011" cy="2447839"/>
          </a:xfrm>
        </p:grpSpPr>
        <p:pic>
          <p:nvPicPr>
            <p:cNvPr id="5" name="Picture 7"/>
            <p:cNvPicPr>
              <a:picLocks noChangeAspect="1"/>
            </p:cNvPicPr>
            <p:nvPr/>
          </p:nvPicPr>
          <p:blipFill rotWithShape="1">
            <a:blip r:embed="rId3"/>
            <a:srcRect l="48520" t="3188" r="2230" b="18446"/>
            <a:stretch>
              <a:fillRect/>
            </a:stretch>
          </p:blipFill>
          <p:spPr>
            <a:xfrm>
              <a:off x="7334561" y="1010194"/>
              <a:ext cx="1731062" cy="2159725"/>
            </a:xfrm>
            <a:prstGeom prst="rect">
              <a:avLst/>
            </a:prstGeom>
          </p:spPr>
        </p:pic>
        <p:sp>
          <p:nvSpPr>
            <p:cNvPr id="2" name="文本框 1"/>
            <p:cNvSpPr txBox="1"/>
            <p:nvPr/>
          </p:nvSpPr>
          <p:spPr>
            <a:xfrm>
              <a:off x="7201989" y="3189582"/>
              <a:ext cx="1942011" cy="268451"/>
            </a:xfrm>
            <a:prstGeom prst="rect">
              <a:avLst/>
            </a:prstGeom>
            <a:noFill/>
          </p:spPr>
          <p:txBody>
            <a:bodyPr wrap="square" rtlCol="0" anchor="ctr" anchorCtr="1">
              <a:spAutoFit/>
            </a:bodyPr>
            <a:lstStyle/>
            <a:p>
              <a:r>
                <a:rPr lang="en-US" altLang="zh-CN" sz="1600" dirty="0">
                  <a:ea typeface="標楷體" pitchFamily="65" charset="-120"/>
                  <a:cs typeface="Calibri" panose="020F07020304040A0204" pitchFamily="34" charset="0"/>
                </a:rPr>
                <a:t>Virtual Address Space</a:t>
              </a:r>
              <a:endParaRPr lang="zh-CN" altLang="en-US" sz="1600" dirty="0">
                <a:ea typeface="標楷體" pitchFamily="65" charset="-120"/>
                <a:cs typeface="Calibri" panose="020F07020304040A0204" pitchFamily="34" charset="0"/>
              </a:endParaRPr>
            </a:p>
          </p:txBody>
        </p:sp>
      </p:grpSp>
    </p:spTree>
    <p:extLst>
      <p:ext uri="{BB962C8B-B14F-4D97-AF65-F5344CB8AC3E}">
        <p14:creationId xmlns:p14="http://schemas.microsoft.com/office/powerpoint/2010/main" val="4088789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1231770" y="173039"/>
            <a:ext cx="9074281" cy="643951"/>
          </a:xfrm>
        </p:spPr>
        <p:txBody>
          <a:bodyPr/>
          <a:lstStyle/>
          <a:p>
            <a:r>
              <a:rPr lang="en-AU" altLang="zh-TW" dirty="0">
                <a:ea typeface="新細明體" panose="02020500000000000000" pitchFamily="18" charset="-120"/>
              </a:rPr>
              <a:t>Versatile Virtual Memory </a:t>
            </a:r>
          </a:p>
        </p:txBody>
      </p:sp>
      <p:sp>
        <p:nvSpPr>
          <p:cNvPr id="86019" name="Rectangle 3"/>
          <p:cNvSpPr>
            <a:spLocks noGrp="1" noChangeArrowheads="1"/>
          </p:cNvSpPr>
          <p:nvPr>
            <p:ph type="body" idx="1"/>
          </p:nvPr>
        </p:nvSpPr>
        <p:spPr>
          <a:xfrm>
            <a:off x="238126" y="1047399"/>
            <a:ext cx="11714692" cy="5129665"/>
          </a:xfrm>
        </p:spPr>
        <p:txBody>
          <a:bodyPr/>
          <a:lstStyle/>
          <a:p>
            <a:r>
              <a:rPr lang="en-US" altLang="zh-CN" sz="2800" dirty="0"/>
              <a:t>Allow VA space &gt;&gt; PA space</a:t>
            </a:r>
          </a:p>
          <a:p>
            <a:pPr lvl="1"/>
            <a:r>
              <a:rPr lang="en-US" altLang="zh-CN" sz="2400" dirty="0"/>
              <a:t>Demand paging</a:t>
            </a:r>
          </a:p>
          <a:p>
            <a:pPr lvl="1"/>
            <a:r>
              <a:rPr lang="en-US" altLang="zh-CN" sz="2400" dirty="0"/>
              <a:t>Exploiting locality</a:t>
            </a:r>
          </a:p>
          <a:p>
            <a:r>
              <a:rPr lang="en-US" altLang="zh-CN" sz="2933" dirty="0"/>
              <a:t>Enable multi-processing, multiprogramming</a:t>
            </a:r>
          </a:p>
          <a:p>
            <a:pPr lvl="1"/>
            <a:r>
              <a:rPr lang="en-US" altLang="zh-CN" sz="2400" dirty="0"/>
              <a:t>Isolation</a:t>
            </a:r>
          </a:p>
          <a:p>
            <a:pPr lvl="1"/>
            <a:r>
              <a:rPr lang="en-US" altLang="zh-CN" sz="2400" dirty="0"/>
              <a:t>Protection</a:t>
            </a:r>
          </a:p>
          <a:p>
            <a:r>
              <a:rPr lang="en-US" altLang="zh-CN" sz="2933" dirty="0"/>
              <a:t>Enable inter-process memory sharing</a:t>
            </a:r>
          </a:p>
          <a:p>
            <a:pPr lvl="1"/>
            <a:r>
              <a:rPr lang="en-US" altLang="zh-CN" sz="2400" dirty="0"/>
              <a:t>Efficient Inter-Process Communication</a:t>
            </a:r>
          </a:p>
          <a:p>
            <a:pPr lvl="1"/>
            <a:r>
              <a:rPr lang="en-US" altLang="zh-CN" sz="2400" dirty="0"/>
              <a:t>Data Sharing</a:t>
            </a:r>
          </a:p>
          <a:p>
            <a:r>
              <a:rPr lang="en-US" altLang="zh-CN" sz="2933" dirty="0"/>
              <a:t> Memory-mapped I/O</a:t>
            </a:r>
          </a:p>
          <a:p>
            <a:pPr lvl="1"/>
            <a:r>
              <a:rPr lang="en-US" altLang="zh-CN" sz="2400" dirty="0"/>
              <a:t>Memory mapped files</a:t>
            </a:r>
          </a:p>
          <a:p>
            <a:endParaRPr lang="en-US" altLang="zh-CN" sz="2933" dirty="0"/>
          </a:p>
          <a:p>
            <a:pPr lvl="1"/>
            <a:endParaRPr lang="en-US" altLang="zh-CN" sz="2400" dirty="0"/>
          </a:p>
        </p:txBody>
      </p:sp>
      <p:sp>
        <p:nvSpPr>
          <p:cNvPr id="86020" name="投影片編號版面配置區 1"/>
          <p:cNvSpPr>
            <a:spLocks noGrp="1"/>
          </p:cNvSpPr>
          <p:nvPr>
            <p:ph type="sldNum" sz="quarter" idx="4294967295"/>
          </p:nvPr>
        </p:nvSpPr>
        <p:spPr>
          <a:noFill/>
          <a:ln>
            <a:miter lim="800000"/>
          </a:ln>
        </p:spPr>
        <p:txBody>
          <a:bodyPr/>
          <a:lstStyle/>
          <a:p>
            <a:pPr defTabSz="761981"/>
            <a:fld id="{9D33B435-C646-406E-A06A-8D9BCE193AEC}" type="slidenum">
              <a:rPr lang="zh-TW" altLang="en-US"/>
              <a:pPr defTabSz="761981"/>
              <a:t>6</a:t>
            </a:fld>
            <a:endParaRPr lang="en-US" altLang="zh-TW"/>
          </a:p>
        </p:txBody>
      </p:sp>
      <p:pic>
        <p:nvPicPr>
          <p:cNvPr id="3" name="Picture 2">
            <a:extLst>
              <a:ext uri="{FF2B5EF4-FFF2-40B4-BE49-F238E27FC236}">
                <a16:creationId xmlns:a16="http://schemas.microsoft.com/office/drawing/2014/main" id="{5A6899AB-0AA9-4ED9-A9E2-185F491EBAA5}"/>
              </a:ext>
            </a:extLst>
          </p:cNvPr>
          <p:cNvPicPr>
            <a:picLocks noChangeAspect="1"/>
          </p:cNvPicPr>
          <p:nvPr/>
        </p:nvPicPr>
        <p:blipFill>
          <a:blip r:embed="rId3"/>
          <a:stretch>
            <a:fillRect/>
          </a:stretch>
        </p:blipFill>
        <p:spPr>
          <a:xfrm>
            <a:off x="6533744" y="1047399"/>
            <a:ext cx="1352739" cy="1579069"/>
          </a:xfrm>
          <a:prstGeom prst="rect">
            <a:avLst/>
          </a:prstGeom>
        </p:spPr>
      </p:pic>
      <p:pic>
        <p:nvPicPr>
          <p:cNvPr id="5" name="Picture 4">
            <a:extLst>
              <a:ext uri="{FF2B5EF4-FFF2-40B4-BE49-F238E27FC236}">
                <a16:creationId xmlns:a16="http://schemas.microsoft.com/office/drawing/2014/main" id="{674AF113-D28A-4B1A-BA43-434BE0570D29}"/>
              </a:ext>
            </a:extLst>
          </p:cNvPr>
          <p:cNvPicPr>
            <a:picLocks noChangeAspect="1"/>
          </p:cNvPicPr>
          <p:nvPr/>
        </p:nvPicPr>
        <p:blipFill>
          <a:blip r:embed="rId4"/>
          <a:stretch>
            <a:fillRect/>
          </a:stretch>
        </p:blipFill>
        <p:spPr>
          <a:xfrm>
            <a:off x="8272561" y="1571511"/>
            <a:ext cx="2257856" cy="2441636"/>
          </a:xfrm>
          <a:prstGeom prst="rect">
            <a:avLst/>
          </a:prstGeom>
        </p:spPr>
      </p:pic>
      <p:pic>
        <p:nvPicPr>
          <p:cNvPr id="7" name="Picture 6">
            <a:extLst>
              <a:ext uri="{FF2B5EF4-FFF2-40B4-BE49-F238E27FC236}">
                <a16:creationId xmlns:a16="http://schemas.microsoft.com/office/drawing/2014/main" id="{BD125990-8855-46BF-B6AB-D87C2B6DF790}"/>
              </a:ext>
            </a:extLst>
          </p:cNvPr>
          <p:cNvPicPr>
            <a:picLocks noChangeAspect="1"/>
          </p:cNvPicPr>
          <p:nvPr/>
        </p:nvPicPr>
        <p:blipFill>
          <a:blip r:embed="rId5"/>
          <a:stretch>
            <a:fillRect/>
          </a:stretch>
        </p:blipFill>
        <p:spPr>
          <a:xfrm>
            <a:off x="6533744" y="3233956"/>
            <a:ext cx="1984057" cy="2241728"/>
          </a:xfrm>
          <a:prstGeom prst="rect">
            <a:avLst/>
          </a:prstGeom>
        </p:spPr>
      </p:pic>
      <p:pic>
        <p:nvPicPr>
          <p:cNvPr id="9" name="Picture 8">
            <a:extLst>
              <a:ext uri="{FF2B5EF4-FFF2-40B4-BE49-F238E27FC236}">
                <a16:creationId xmlns:a16="http://schemas.microsoft.com/office/drawing/2014/main" id="{2B020DB5-2331-4725-A6F2-7AAC1BF4479A}"/>
              </a:ext>
            </a:extLst>
          </p:cNvPr>
          <p:cNvPicPr>
            <a:picLocks noChangeAspect="1"/>
          </p:cNvPicPr>
          <p:nvPr/>
        </p:nvPicPr>
        <p:blipFill>
          <a:blip r:embed="rId6"/>
          <a:stretch>
            <a:fillRect/>
          </a:stretch>
        </p:blipFill>
        <p:spPr>
          <a:xfrm>
            <a:off x="9017595" y="4420727"/>
            <a:ext cx="1984057" cy="1731524"/>
          </a:xfrm>
          <a:prstGeom prst="rect">
            <a:avLst/>
          </a:prstGeom>
        </p:spPr>
      </p:pic>
    </p:spTree>
    <p:extLst>
      <p:ext uri="{BB962C8B-B14F-4D97-AF65-F5344CB8AC3E}">
        <p14:creationId xmlns:p14="http://schemas.microsoft.com/office/powerpoint/2010/main" val="374734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1231770" y="173039"/>
            <a:ext cx="9074281" cy="643951"/>
          </a:xfrm>
        </p:spPr>
        <p:txBody>
          <a:bodyPr/>
          <a:lstStyle/>
          <a:p>
            <a:r>
              <a:rPr lang="en-AU" altLang="zh-TW" dirty="0">
                <a:ea typeface="新細明體" panose="02020500000000000000" pitchFamily="18" charset="-120"/>
              </a:rPr>
              <a:t>Demand Paging</a:t>
            </a:r>
          </a:p>
        </p:txBody>
      </p:sp>
      <p:sp>
        <p:nvSpPr>
          <p:cNvPr id="86019" name="Rectangle 3"/>
          <p:cNvSpPr>
            <a:spLocks noGrp="1" noChangeArrowheads="1"/>
          </p:cNvSpPr>
          <p:nvPr>
            <p:ph type="body" idx="1"/>
          </p:nvPr>
        </p:nvSpPr>
        <p:spPr>
          <a:xfrm>
            <a:off x="512839" y="1125221"/>
            <a:ext cx="11439979" cy="5002953"/>
          </a:xfrm>
        </p:spPr>
        <p:txBody>
          <a:bodyPr/>
          <a:lstStyle/>
          <a:p>
            <a:r>
              <a:rPr lang="en-US" sz="2800" dirty="0"/>
              <a:t>Demand paging:</a:t>
            </a:r>
          </a:p>
          <a:p>
            <a:pPr marL="0" marR="0" lvl="0" indent="0" algn="l" defTabSz="914400" rtl="0" eaLnBrk="1" fontAlgn="base" latinLnBrk="0" hangingPunct="1">
              <a:lnSpc>
                <a:spcPct val="100000"/>
              </a:lnSpc>
              <a:spcBef>
                <a:spcPct val="20000"/>
              </a:spcBef>
              <a:spcAft>
                <a:spcPct val="0"/>
              </a:spcAft>
              <a:buClr>
                <a:srgbClr val="0000FF"/>
              </a:buClr>
              <a:buSzPct val="80000"/>
              <a:buFont typeface="Wingdings" pitchFamily="2" charset="2"/>
              <a:buNone/>
              <a:tabLst/>
              <a:defRPr/>
            </a:pPr>
            <a:r>
              <a:rPr lang="en-US" sz="2800" dirty="0"/>
              <a:t>	</a:t>
            </a:r>
            <a:r>
              <a:rPr kumimoji="1" lang="en-US"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Instead of loading entire programs into memory at once, demand 	paging loads only the necessary parts of a program as they are needed 	during execution.</a:t>
            </a:r>
            <a:endParaRPr lang="en-US" sz="2800" dirty="0"/>
          </a:p>
          <a:p>
            <a:r>
              <a:rPr kumimoji="1" lang="en-US" altLang="zh-CN"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Advantages:</a:t>
            </a:r>
          </a:p>
          <a:p>
            <a:pPr lvl="1"/>
            <a:r>
              <a:rPr lang="en-US" altLang="zh-CN" sz="2267" dirty="0">
                <a:solidFill>
                  <a:prstClr val="black"/>
                </a:solidFill>
                <a:cs typeface="+mn-cs"/>
              </a:rPr>
              <a:t>Efficient use of memory</a:t>
            </a:r>
          </a:p>
          <a:p>
            <a:pPr lvl="2"/>
            <a:r>
              <a:rPr lang="en-US" altLang="zh-CN" sz="2000" dirty="0">
                <a:solidFill>
                  <a:prstClr val="black"/>
                </a:solidFill>
                <a:cs typeface="+mn-cs"/>
              </a:rPr>
              <a:t>More programs to reside in memory (higher multi-programming degree), enable higher throughput </a:t>
            </a:r>
          </a:p>
          <a:p>
            <a:pPr lvl="1"/>
            <a:r>
              <a:rPr kumimoji="1" lang="en-US" altLang="zh-CN" sz="2267"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Support larger virtual address space</a:t>
            </a:r>
          </a:p>
          <a:p>
            <a:pPr lvl="1"/>
            <a:r>
              <a:rPr lang="en-US" altLang="zh-CN" sz="2267" dirty="0">
                <a:solidFill>
                  <a:prstClr val="black"/>
                </a:solidFill>
                <a:cs typeface="+mn-cs"/>
              </a:rPr>
              <a:t>Fast start-up</a:t>
            </a:r>
          </a:p>
          <a:p>
            <a:pPr lvl="1"/>
            <a:r>
              <a:rPr kumimoji="1" lang="en-US" altLang="zh-CN" sz="2267"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Reduced I/O </a:t>
            </a:r>
          </a:p>
          <a:p>
            <a:pPr lvl="2"/>
            <a:r>
              <a:rPr lang="en-US" altLang="zh-CN" sz="2000" dirty="0">
                <a:solidFill>
                  <a:prstClr val="black"/>
                </a:solidFill>
                <a:cs typeface="+mn-cs"/>
              </a:rPr>
              <a:t>Avoid loading pages never used</a:t>
            </a:r>
            <a:endParaRPr kumimoji="1" lang="en-US" altLang="zh-CN" sz="20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endParaRPr>
          </a:p>
          <a:p>
            <a:endParaRPr lang="en-US" sz="2800" dirty="0"/>
          </a:p>
          <a:p>
            <a:pPr marL="0" indent="0">
              <a:buNone/>
            </a:pPr>
            <a:r>
              <a:rPr lang="en-US" sz="2800" dirty="0"/>
              <a:t>	</a:t>
            </a:r>
            <a:endParaRPr lang="en-US" altLang="zh-CN" sz="2800" dirty="0"/>
          </a:p>
          <a:p>
            <a:pPr lvl="1">
              <a:buFont typeface="Wingdings" panose="05000000000000000000" pitchFamily="2" charset="2"/>
              <a:buChar char="§"/>
            </a:pPr>
            <a:endParaRPr lang="en-US" altLang="zh-CN" sz="2267" dirty="0"/>
          </a:p>
        </p:txBody>
      </p:sp>
      <p:sp>
        <p:nvSpPr>
          <p:cNvPr id="86020" name="投影片編號版面配置區 1"/>
          <p:cNvSpPr>
            <a:spLocks noGrp="1"/>
          </p:cNvSpPr>
          <p:nvPr>
            <p:ph type="sldNum" sz="quarter" idx="4294967295"/>
          </p:nvPr>
        </p:nvSpPr>
        <p:spPr>
          <a:noFill/>
          <a:ln>
            <a:miter lim="800000"/>
          </a:ln>
        </p:spPr>
        <p:txBody>
          <a:bodyPr/>
          <a:lstStyle/>
          <a:p>
            <a:pPr defTabSz="761981"/>
            <a:fld id="{9D33B435-C646-406E-A06A-8D9BCE193AEC}" type="slidenum">
              <a:rPr lang="zh-TW" altLang="en-US"/>
              <a:pPr defTabSz="761981"/>
              <a:t>7</a:t>
            </a:fld>
            <a:endParaRPr lang="en-US" altLang="zh-TW"/>
          </a:p>
        </p:txBody>
      </p:sp>
      <p:sp>
        <p:nvSpPr>
          <p:cNvPr id="2" name="TextBox 1">
            <a:extLst>
              <a:ext uri="{FF2B5EF4-FFF2-40B4-BE49-F238E27FC236}">
                <a16:creationId xmlns:a16="http://schemas.microsoft.com/office/drawing/2014/main" id="{0A28D6DC-B12A-4F88-A9F9-7689E306B0CF}"/>
              </a:ext>
            </a:extLst>
          </p:cNvPr>
          <p:cNvSpPr txBox="1"/>
          <p:nvPr/>
        </p:nvSpPr>
        <p:spPr>
          <a:xfrm>
            <a:off x="6352161" y="2629100"/>
            <a:ext cx="2768707"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Similar to Caches!</a:t>
            </a:r>
          </a:p>
        </p:txBody>
      </p:sp>
    </p:spTree>
    <p:extLst>
      <p:ext uri="{BB962C8B-B14F-4D97-AF65-F5344CB8AC3E}">
        <p14:creationId xmlns:p14="http://schemas.microsoft.com/office/powerpoint/2010/main" val="3262747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1206631" y="173040"/>
            <a:ext cx="9099420" cy="593897"/>
          </a:xfrm>
        </p:spPr>
        <p:txBody>
          <a:bodyPr/>
          <a:lstStyle/>
          <a:p>
            <a:r>
              <a:rPr lang="en-US" altLang="zh-TW" dirty="0"/>
              <a:t>Address Translation</a:t>
            </a:r>
            <a:endParaRPr lang="en-AU" altLang="zh-TW" dirty="0">
              <a:ea typeface="新細明體" panose="02020500000000000000" pitchFamily="18" charset="-120"/>
            </a:endParaRPr>
          </a:p>
        </p:txBody>
      </p:sp>
      <p:sp>
        <p:nvSpPr>
          <p:cNvPr id="83971" name="Rectangle 3"/>
          <p:cNvSpPr>
            <a:spLocks noGrp="1" noChangeArrowheads="1"/>
          </p:cNvSpPr>
          <p:nvPr>
            <p:ph type="body" idx="1"/>
          </p:nvPr>
        </p:nvSpPr>
        <p:spPr>
          <a:xfrm>
            <a:off x="1216464" y="1076376"/>
            <a:ext cx="10375769" cy="569587"/>
          </a:xfrm>
        </p:spPr>
        <p:txBody>
          <a:bodyPr/>
          <a:lstStyle/>
          <a:p>
            <a:pPr>
              <a:spcBef>
                <a:spcPts val="0"/>
              </a:spcBef>
            </a:pPr>
            <a:r>
              <a:rPr lang="en-US" altLang="zh-TW" dirty="0"/>
              <a:t>Fixed-size pages (e.g., 4KB)</a:t>
            </a:r>
            <a:endParaRPr lang="en-AU" altLang="zh-TW" dirty="0">
              <a:ea typeface="新細明體" panose="02020500000000000000" pitchFamily="18" charset="-120"/>
            </a:endParaRPr>
          </a:p>
        </p:txBody>
      </p:sp>
      <p:grpSp>
        <p:nvGrpSpPr>
          <p:cNvPr id="2" name="组合 1"/>
          <p:cNvGrpSpPr/>
          <p:nvPr/>
        </p:nvGrpSpPr>
        <p:grpSpPr>
          <a:xfrm>
            <a:off x="779285" y="1661652"/>
            <a:ext cx="10673809" cy="4296696"/>
            <a:chOff x="584463" y="1485999"/>
            <a:chExt cx="8005357" cy="2711331"/>
          </a:xfrm>
        </p:grpSpPr>
        <p:pic>
          <p:nvPicPr>
            <p:cNvPr id="83972" name="Picture 4" descr="f05-20-P374493"/>
            <p:cNvPicPr>
              <a:picLocks noChangeAspect="1" noChangeArrowheads="1"/>
            </p:cNvPicPr>
            <p:nvPr/>
          </p:nvPicPr>
          <p:blipFill>
            <a:blip r:embed="rId3"/>
            <a:srcRect/>
            <a:stretch>
              <a:fillRect/>
            </a:stretch>
          </p:blipFill>
          <p:spPr bwMode="auto">
            <a:xfrm>
              <a:off x="4297193" y="1485999"/>
              <a:ext cx="4292627" cy="2711331"/>
            </a:xfrm>
            <a:prstGeom prst="rect">
              <a:avLst/>
            </a:prstGeom>
            <a:noFill/>
            <a:ln w="9525">
              <a:noFill/>
              <a:miter lim="800000"/>
              <a:headEnd/>
              <a:tailEnd/>
            </a:ln>
          </p:spPr>
        </p:pic>
        <p:pic>
          <p:nvPicPr>
            <p:cNvPr id="83973" name="Picture 5" descr="f05-19-P374493"/>
            <p:cNvPicPr>
              <a:picLocks noChangeAspect="1" noChangeArrowheads="1"/>
            </p:cNvPicPr>
            <p:nvPr/>
          </p:nvPicPr>
          <p:blipFill>
            <a:blip r:embed="rId4"/>
            <a:srcRect/>
            <a:stretch>
              <a:fillRect/>
            </a:stretch>
          </p:blipFill>
          <p:spPr bwMode="auto">
            <a:xfrm>
              <a:off x="584463" y="1853521"/>
              <a:ext cx="3505148" cy="2203194"/>
            </a:xfrm>
            <a:prstGeom prst="rect">
              <a:avLst/>
            </a:prstGeom>
            <a:noFill/>
            <a:ln w="9525">
              <a:noFill/>
              <a:miter lim="800000"/>
              <a:headEnd/>
              <a:tailEnd/>
            </a:ln>
          </p:spPr>
        </p:pic>
      </p:grpSp>
      <p:sp>
        <p:nvSpPr>
          <p:cNvPr id="83974" name="投影片編號版面配置區 1"/>
          <p:cNvSpPr>
            <a:spLocks noGrp="1"/>
          </p:cNvSpPr>
          <p:nvPr>
            <p:ph type="sldNum" sz="quarter" idx="4294967295"/>
          </p:nvPr>
        </p:nvSpPr>
        <p:spPr>
          <a:noFill/>
          <a:ln>
            <a:miter lim="800000"/>
          </a:ln>
        </p:spPr>
        <p:txBody>
          <a:bodyPr/>
          <a:lstStyle/>
          <a:p>
            <a:pPr defTabSz="761981"/>
            <a:fld id="{07BA0EF5-B479-4201-8F11-91C410133F84}" type="slidenum">
              <a:rPr lang="zh-TW" altLang="en-US"/>
              <a:pPr defTabSz="761981"/>
              <a:t>8</a:t>
            </a:fld>
            <a:endParaRPr lang="en-US" altLang="zh-TW"/>
          </a:p>
        </p:txBody>
      </p:sp>
      <p:sp>
        <p:nvSpPr>
          <p:cNvPr id="3" name="TextBox 2">
            <a:extLst>
              <a:ext uri="{FF2B5EF4-FFF2-40B4-BE49-F238E27FC236}">
                <a16:creationId xmlns:a16="http://schemas.microsoft.com/office/drawing/2014/main" id="{460A0446-35B8-4012-94D1-F85DE0A7DBC8}"/>
              </a:ext>
            </a:extLst>
          </p:cNvPr>
          <p:cNvSpPr txBox="1"/>
          <p:nvPr/>
        </p:nvSpPr>
        <p:spPr>
          <a:xfrm>
            <a:off x="8184206" y="3429000"/>
            <a:ext cx="1847622"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Via a page table</a:t>
            </a:r>
          </a:p>
        </p:txBody>
      </p:sp>
      <p:cxnSp>
        <p:nvCxnSpPr>
          <p:cNvPr id="5" name="Straight Arrow Connector 4">
            <a:extLst>
              <a:ext uri="{FF2B5EF4-FFF2-40B4-BE49-F238E27FC236}">
                <a16:creationId xmlns:a16="http://schemas.microsoft.com/office/drawing/2014/main" id="{3BF619A9-11BE-4C99-B40B-2F26E1691A4B}"/>
              </a:ext>
            </a:extLst>
          </p:cNvPr>
          <p:cNvCxnSpPr>
            <a:stCxn id="3" idx="1"/>
          </p:cNvCxnSpPr>
          <p:nvPr/>
        </p:nvCxnSpPr>
        <p:spPr bwMode="auto">
          <a:xfrm flipH="1">
            <a:off x="7548664" y="3613666"/>
            <a:ext cx="635542" cy="196334"/>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1537703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1231770" y="173039"/>
            <a:ext cx="9074281" cy="643951"/>
          </a:xfrm>
        </p:spPr>
        <p:txBody>
          <a:bodyPr/>
          <a:lstStyle/>
          <a:p>
            <a:r>
              <a:rPr lang="en-US" altLang="zh-TW" dirty="0"/>
              <a:t>Page Tables</a:t>
            </a:r>
            <a:endParaRPr lang="en-AU" altLang="zh-TW" dirty="0">
              <a:ea typeface="新細明體" panose="02020500000000000000" pitchFamily="18" charset="-120"/>
            </a:endParaRPr>
          </a:p>
        </p:txBody>
      </p:sp>
      <p:sp>
        <p:nvSpPr>
          <p:cNvPr id="86019" name="Rectangle 3"/>
          <p:cNvSpPr>
            <a:spLocks noGrp="1" noChangeArrowheads="1"/>
          </p:cNvSpPr>
          <p:nvPr>
            <p:ph type="body" idx="1"/>
          </p:nvPr>
        </p:nvSpPr>
        <p:spPr>
          <a:xfrm>
            <a:off x="512839" y="1125221"/>
            <a:ext cx="11439979" cy="5002953"/>
          </a:xfrm>
        </p:spPr>
        <p:txBody>
          <a:bodyPr/>
          <a:lstStyle/>
          <a:p>
            <a:r>
              <a:rPr lang="en-US" altLang="zh-TW" sz="2667" dirty="0"/>
              <a:t>Stores mapping information</a:t>
            </a:r>
          </a:p>
          <a:p>
            <a:pPr lvl="1"/>
            <a:r>
              <a:rPr lang="en-US" altLang="zh-TW" sz="2400" dirty="0"/>
              <a:t>Page table stored in main memory</a:t>
            </a:r>
          </a:p>
          <a:p>
            <a:pPr lvl="1"/>
            <a:r>
              <a:rPr lang="en-US" altLang="zh-TW" sz="2400" dirty="0"/>
              <a:t> An array of page table entries, </a:t>
            </a:r>
            <a:r>
              <a:rPr lang="en-US" altLang="zh-TW" sz="2400" dirty="0">
                <a:solidFill>
                  <a:srgbClr val="C00000"/>
                </a:solidFill>
              </a:rPr>
              <a:t>indexed by virtual page number, to find physical page</a:t>
            </a:r>
            <a:endParaRPr lang="en-US" altLang="zh-TW" sz="2400" dirty="0"/>
          </a:p>
          <a:p>
            <a:pPr lvl="1"/>
            <a:r>
              <a:rPr lang="en-US" altLang="zh-TW" sz="2400" dirty="0"/>
              <a:t>A page table register in the CPU points to the page table in physical memory (e.g. x86 CR3)</a:t>
            </a:r>
          </a:p>
          <a:p>
            <a:r>
              <a:rPr lang="en-US" altLang="zh-TW" sz="2667" dirty="0"/>
              <a:t>If the page is present in memory</a:t>
            </a:r>
          </a:p>
          <a:p>
            <a:pPr lvl="1"/>
            <a:r>
              <a:rPr lang="en-US" altLang="zh-TW" sz="2400" dirty="0"/>
              <a:t>Page Table Entry (PTE) stores the physical page number</a:t>
            </a:r>
          </a:p>
          <a:p>
            <a:pPr lvl="1"/>
            <a:r>
              <a:rPr lang="en-US" altLang="zh-TW" sz="2400" dirty="0"/>
              <a:t>Plus other status bits (referenced, dirty, …)</a:t>
            </a:r>
          </a:p>
          <a:p>
            <a:r>
              <a:rPr lang="en-US" altLang="zh-TW" sz="2667" dirty="0"/>
              <a:t>If the page is not present</a:t>
            </a:r>
          </a:p>
          <a:p>
            <a:pPr lvl="1"/>
            <a:r>
              <a:rPr lang="en-US" altLang="zh-TW" sz="2400" dirty="0"/>
              <a:t>PTE can refer to a location in the </a:t>
            </a:r>
            <a:r>
              <a:rPr lang="en-US" altLang="zh-TW" sz="2400" dirty="0">
                <a:solidFill>
                  <a:schemeClr val="accent1"/>
                </a:solidFill>
              </a:rPr>
              <a:t>swap space </a:t>
            </a:r>
            <a:r>
              <a:rPr lang="en-US" altLang="zh-TW" sz="2400" dirty="0"/>
              <a:t>on disk</a:t>
            </a:r>
          </a:p>
          <a:p>
            <a:pPr lvl="1"/>
            <a:r>
              <a:rPr lang="en-US" altLang="zh-TW" sz="2400" dirty="0"/>
              <a:t>swap space: the reserved disk space for all the virtual space of a process</a:t>
            </a:r>
            <a:endParaRPr lang="en-US" altLang="zh-CN" sz="2400" dirty="0"/>
          </a:p>
        </p:txBody>
      </p:sp>
      <p:sp>
        <p:nvSpPr>
          <p:cNvPr id="86020" name="投影片編號版面配置區 1"/>
          <p:cNvSpPr>
            <a:spLocks noGrp="1"/>
          </p:cNvSpPr>
          <p:nvPr>
            <p:ph type="sldNum" sz="quarter" idx="4294967295"/>
          </p:nvPr>
        </p:nvSpPr>
        <p:spPr>
          <a:noFill/>
          <a:ln>
            <a:miter lim="800000"/>
          </a:ln>
        </p:spPr>
        <p:txBody>
          <a:bodyPr/>
          <a:lstStyle/>
          <a:p>
            <a:pPr defTabSz="761981"/>
            <a:fld id="{9D33B435-C646-406E-A06A-8D9BCE193AEC}" type="slidenum">
              <a:rPr lang="zh-TW" altLang="en-US"/>
              <a:pPr defTabSz="761981"/>
              <a:t>9</a:t>
            </a:fld>
            <a:endParaRPr lang="en-US" altLang="zh-TW"/>
          </a:p>
        </p:txBody>
      </p:sp>
      <p:sp>
        <p:nvSpPr>
          <p:cNvPr id="2" name="TextBox 1">
            <a:extLst>
              <a:ext uri="{FF2B5EF4-FFF2-40B4-BE49-F238E27FC236}">
                <a16:creationId xmlns:a16="http://schemas.microsoft.com/office/drawing/2014/main" id="{6E65225C-AF96-493A-82A8-67F2B5E4C173}"/>
              </a:ext>
            </a:extLst>
          </p:cNvPr>
          <p:cNvSpPr txBox="1"/>
          <p:nvPr/>
        </p:nvSpPr>
        <p:spPr>
          <a:xfrm>
            <a:off x="4831599" y="1125221"/>
            <a:ext cx="7280391" cy="400110"/>
          </a:xfrm>
          <a:prstGeom prst="rect">
            <a:avLst/>
          </a:prstGeom>
          <a:solidFill>
            <a:srgbClr val="FFFF00"/>
          </a:solidFill>
          <a:ln>
            <a:solidFill>
              <a:srgbClr val="FF0000"/>
            </a:solidFill>
          </a:ln>
        </p:spPr>
        <p:txBody>
          <a:bodyPr wrap="none" rtlCol="0" anchor="ctr" anchorCtr="1">
            <a:spAutoFit/>
          </a:bodyPr>
          <a:lstStyle/>
          <a:p>
            <a:r>
              <a:rPr lang="en-US" sz="2000" dirty="0">
                <a:ea typeface="標楷體" pitchFamily="65" charset="-120"/>
                <a:cs typeface="Calibri" pitchFamily="34" charset="0"/>
              </a:rPr>
              <a:t>Page Table: Virtual Page Number </a:t>
            </a:r>
            <a:r>
              <a:rPr lang="en-US" sz="2000" dirty="0">
                <a:ea typeface="標楷體" pitchFamily="65" charset="-120"/>
                <a:cs typeface="Calibri" pitchFamily="34" charset="0"/>
                <a:sym typeface="Wingdings" panose="05000000000000000000" pitchFamily="2" charset="2"/>
              </a:rPr>
              <a:t> Physical Page Number</a:t>
            </a:r>
            <a:endParaRPr lang="en-US" sz="2000" dirty="0">
              <a:ea typeface="標楷體" pitchFamily="65" charset="-120"/>
              <a:cs typeface="Calibri" pitchFamily="34" charset="0"/>
            </a:endParaRPr>
          </a:p>
        </p:txBody>
      </p:sp>
    </p:spTree>
    <p:extLst>
      <p:ext uri="{BB962C8B-B14F-4D97-AF65-F5344CB8AC3E}">
        <p14:creationId xmlns:p14="http://schemas.microsoft.com/office/powerpoint/2010/main" val="2373677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2"/>
          <p:cNvPicPr>
            <a:picLocks noChangeArrowheads="1"/>
          </p:cNvPicPr>
          <p:nvPr/>
        </p:nvPicPr>
        <p:blipFill>
          <a:blip r:embed="rId2"/>
          <a:srcRect/>
          <a:stretch>
            <a:fillRect/>
          </a:stretch>
        </p:blipFill>
        <p:spPr bwMode="auto">
          <a:xfrm>
            <a:off x="1630363" y="1289051"/>
            <a:ext cx="8705851" cy="4995863"/>
          </a:xfrm>
          <a:prstGeom prst="rect">
            <a:avLst/>
          </a:prstGeom>
          <a:noFill/>
          <a:ln w="12700">
            <a:noFill/>
            <a:miter lim="800000"/>
            <a:headEnd/>
            <a:tailEnd/>
          </a:ln>
        </p:spPr>
      </p:pic>
      <p:sp>
        <p:nvSpPr>
          <p:cNvPr id="87043" name="Oval 3"/>
          <p:cNvSpPr>
            <a:spLocks noChangeArrowheads="1"/>
          </p:cNvSpPr>
          <p:nvPr/>
        </p:nvSpPr>
        <p:spPr bwMode="auto">
          <a:xfrm>
            <a:off x="4400550" y="2006600"/>
            <a:ext cx="2393951" cy="533400"/>
          </a:xfrm>
          <a:prstGeom prst="ellipse">
            <a:avLst/>
          </a:prstGeom>
          <a:noFill/>
          <a:ln w="38100">
            <a:solidFill>
              <a:schemeClr val="accent2"/>
            </a:solidFill>
            <a:round/>
            <a:headEnd type="none" w="sm" len="sm"/>
            <a:tailEnd type="none" w="sm" len="sm"/>
          </a:ln>
        </p:spPr>
        <p:txBody>
          <a:bodyPr wrap="none" anchor="ctr"/>
          <a:lstStyle/>
          <a:p>
            <a:endParaRPr lang="zh-TW" altLang="en-US"/>
          </a:p>
        </p:txBody>
      </p:sp>
      <p:sp>
        <p:nvSpPr>
          <p:cNvPr id="87044" name="Oval 4"/>
          <p:cNvSpPr>
            <a:spLocks noChangeArrowheads="1"/>
          </p:cNvSpPr>
          <p:nvPr/>
        </p:nvSpPr>
        <p:spPr bwMode="auto">
          <a:xfrm>
            <a:off x="3109914" y="2678113"/>
            <a:ext cx="825500" cy="381000"/>
          </a:xfrm>
          <a:prstGeom prst="ellipse">
            <a:avLst/>
          </a:prstGeom>
          <a:noFill/>
          <a:ln w="38100">
            <a:solidFill>
              <a:schemeClr val="accent2"/>
            </a:solidFill>
            <a:round/>
            <a:headEnd type="none" w="sm" len="sm"/>
            <a:tailEnd type="none" w="sm" len="sm"/>
          </a:ln>
        </p:spPr>
        <p:txBody>
          <a:bodyPr wrap="none" anchor="ctr"/>
          <a:lstStyle/>
          <a:p>
            <a:endParaRPr lang="zh-TW" altLang="en-US"/>
          </a:p>
        </p:txBody>
      </p:sp>
      <p:sp>
        <p:nvSpPr>
          <p:cNvPr id="87045" name="Text Box 5"/>
          <p:cNvSpPr txBox="1">
            <a:spLocks noChangeArrowheads="1"/>
          </p:cNvSpPr>
          <p:nvPr/>
        </p:nvSpPr>
        <p:spPr bwMode="auto">
          <a:xfrm>
            <a:off x="9413837" y="3019774"/>
            <a:ext cx="2502873" cy="1323439"/>
          </a:xfrm>
          <a:prstGeom prst="rect">
            <a:avLst/>
          </a:prstGeom>
          <a:noFill/>
          <a:ln w="12700">
            <a:noFill/>
            <a:prstDash val="sysDot"/>
            <a:miter lim="800000"/>
            <a:headEnd type="none" w="sm" len="sm"/>
            <a:tailEnd type="none" w="sm" len="sm"/>
          </a:ln>
        </p:spPr>
        <p:txBody>
          <a:bodyPr wrap="square">
            <a:spAutoFit/>
          </a:bodyPr>
          <a:lstStyle/>
          <a:p>
            <a:r>
              <a:rPr kumimoji="1" lang="en-US" altLang="zh-TW" sz="2000" b="1" dirty="0">
                <a:solidFill>
                  <a:srgbClr val="FF0000"/>
                </a:solidFill>
                <a:latin typeface="Arial" panose="020B0604020202090204" pitchFamily="34" charset="0"/>
              </a:rPr>
              <a:t>All addresses generated by the program are virtual addresses</a:t>
            </a:r>
          </a:p>
        </p:txBody>
      </p:sp>
      <p:sp>
        <p:nvSpPr>
          <p:cNvPr id="87046" name="Rectangle 6"/>
          <p:cNvSpPr>
            <a:spLocks noChangeArrowheads="1"/>
          </p:cNvSpPr>
          <p:nvPr/>
        </p:nvSpPr>
        <p:spPr bwMode="auto">
          <a:xfrm>
            <a:off x="5941962" y="5092599"/>
            <a:ext cx="4332748" cy="312906"/>
          </a:xfrm>
          <a:prstGeom prst="rect">
            <a:avLst/>
          </a:prstGeom>
          <a:noFill/>
          <a:ln w="9525">
            <a:noFill/>
            <a:miter lim="800000"/>
          </a:ln>
        </p:spPr>
        <p:txBody>
          <a:bodyPr wrap="square" lIns="63500" tIns="25400" rIns="63500" bIns="25400">
            <a:spAutoFit/>
          </a:bodyPr>
          <a:lstStyle/>
          <a:p>
            <a:pPr>
              <a:lnSpc>
                <a:spcPct val="85000"/>
              </a:lnSpc>
            </a:pPr>
            <a:r>
              <a:rPr kumimoji="1" lang="en-US" altLang="zh-TW" sz="2000" b="1" dirty="0">
                <a:latin typeface="Arial" panose="020B0604020202090204" pitchFamily="34" charset="0"/>
              </a:rPr>
              <a:t>Table located in physical memory</a:t>
            </a:r>
            <a:endParaRPr kumimoji="1" lang="en-US" altLang="zh-TW" b="1" dirty="0">
              <a:latin typeface="Arial" panose="020B0604020202090204" pitchFamily="34" charset="0"/>
            </a:endParaRPr>
          </a:p>
        </p:txBody>
      </p:sp>
      <p:sp>
        <p:nvSpPr>
          <p:cNvPr id="87047" name="Rectangle 7"/>
          <p:cNvSpPr>
            <a:spLocks noGrp="1" noChangeArrowheads="1"/>
          </p:cNvSpPr>
          <p:nvPr>
            <p:ph type="title"/>
          </p:nvPr>
        </p:nvSpPr>
        <p:spPr>
          <a:xfrm>
            <a:off x="1206632" y="228599"/>
            <a:ext cx="9264520" cy="541396"/>
          </a:xfrm>
        </p:spPr>
        <p:txBody>
          <a:bodyPr/>
          <a:lstStyle/>
          <a:p>
            <a:r>
              <a:rPr lang="en-US" altLang="zh-TW" sz="4267"/>
              <a:t>Page Tables</a:t>
            </a:r>
          </a:p>
        </p:txBody>
      </p:sp>
      <p:sp>
        <p:nvSpPr>
          <p:cNvPr id="87050" name="投影片編號版面配置區 1"/>
          <p:cNvSpPr>
            <a:spLocks noGrp="1"/>
          </p:cNvSpPr>
          <p:nvPr>
            <p:ph type="sldNum" sz="quarter" idx="4294967295"/>
          </p:nvPr>
        </p:nvSpPr>
        <p:spPr>
          <a:noFill/>
          <a:ln>
            <a:miter lim="800000"/>
          </a:ln>
        </p:spPr>
        <p:txBody>
          <a:bodyPr/>
          <a:lstStyle/>
          <a:p>
            <a:pPr defTabSz="761981"/>
            <a:fld id="{E58D0150-D4EC-4D11-A711-C0B9C54C2B01}" type="slidenum">
              <a:rPr lang="zh-TW" altLang="en-US"/>
              <a:pPr defTabSz="761981"/>
              <a:t>10</a:t>
            </a:fld>
            <a:endParaRPr lang="en-US" altLang="zh-TW"/>
          </a:p>
        </p:txBody>
      </p:sp>
      <p:graphicFrame>
        <p:nvGraphicFramePr>
          <p:cNvPr id="9" name="Table 2">
            <a:extLst>
              <a:ext uri="{FF2B5EF4-FFF2-40B4-BE49-F238E27FC236}">
                <a16:creationId xmlns:a16="http://schemas.microsoft.com/office/drawing/2014/main" id="{084C4B61-FA39-4DAF-A448-03552A1B32D8}"/>
              </a:ext>
            </a:extLst>
          </p:cNvPr>
          <p:cNvGraphicFramePr>
            <a:graphicFrameLocks noGrp="1"/>
          </p:cNvGraphicFramePr>
          <p:nvPr/>
        </p:nvGraphicFramePr>
        <p:xfrm>
          <a:off x="4593533" y="2911194"/>
          <a:ext cx="4401935" cy="822800"/>
        </p:xfrm>
        <a:graphic>
          <a:graphicData uri="http://schemas.openxmlformats.org/drawingml/2006/table">
            <a:tbl>
              <a:tblPr firstRow="1" bandRow="1">
                <a:tableStyleId>{5C22544A-7EE6-4342-B048-85BDC9FD1C3A}</a:tableStyleId>
              </a:tblPr>
              <a:tblGrid>
                <a:gridCol w="968072">
                  <a:extLst>
                    <a:ext uri="{9D8B030D-6E8A-4147-A177-3AD203B41FA5}">
                      <a16:colId xmlns:a16="http://schemas.microsoft.com/office/drawing/2014/main" val="20000"/>
                    </a:ext>
                  </a:extLst>
                </a:gridCol>
                <a:gridCol w="622571">
                  <a:extLst>
                    <a:ext uri="{9D8B030D-6E8A-4147-A177-3AD203B41FA5}">
                      <a16:colId xmlns:a16="http://schemas.microsoft.com/office/drawing/2014/main" val="20001"/>
                    </a:ext>
                  </a:extLst>
                </a:gridCol>
                <a:gridCol w="642025">
                  <a:extLst>
                    <a:ext uri="{9D8B030D-6E8A-4147-A177-3AD203B41FA5}">
                      <a16:colId xmlns:a16="http://schemas.microsoft.com/office/drawing/2014/main" val="20002"/>
                    </a:ext>
                  </a:extLst>
                </a:gridCol>
                <a:gridCol w="865762">
                  <a:extLst>
                    <a:ext uri="{9D8B030D-6E8A-4147-A177-3AD203B41FA5}">
                      <a16:colId xmlns:a16="http://schemas.microsoft.com/office/drawing/2014/main" val="20003"/>
                    </a:ext>
                  </a:extLst>
                </a:gridCol>
                <a:gridCol w="612842">
                  <a:extLst>
                    <a:ext uri="{9D8B030D-6E8A-4147-A177-3AD203B41FA5}">
                      <a16:colId xmlns:a16="http://schemas.microsoft.com/office/drawing/2014/main" val="20004"/>
                    </a:ext>
                  </a:extLst>
                </a:gridCol>
                <a:gridCol w="690663">
                  <a:extLst>
                    <a:ext uri="{9D8B030D-6E8A-4147-A177-3AD203B41FA5}">
                      <a16:colId xmlns:a16="http://schemas.microsoft.com/office/drawing/2014/main" val="20005"/>
                    </a:ext>
                  </a:extLst>
                </a:gridCol>
              </a:tblGrid>
              <a:tr h="216429">
                <a:tc>
                  <a:txBody>
                    <a:bodyPr/>
                    <a:lstStyle/>
                    <a:p>
                      <a:r>
                        <a:rPr lang="en-US" sz="1400" dirty="0"/>
                        <a:t>Physical </a:t>
                      </a:r>
                    </a:p>
                    <a:p>
                      <a:r>
                        <a:rPr lang="en-US" sz="1400" dirty="0"/>
                        <a:t>page#</a:t>
                      </a:r>
                    </a:p>
                  </a:txBody>
                  <a:tcPr marT="45680" marB="45680"/>
                </a:tc>
                <a:tc>
                  <a:txBody>
                    <a:bodyPr/>
                    <a:lstStyle/>
                    <a:p>
                      <a:r>
                        <a:rPr lang="en-US" sz="1400" dirty="0"/>
                        <a:t>Valid</a:t>
                      </a:r>
                    </a:p>
                  </a:txBody>
                  <a:tcPr marT="45680" marB="45680"/>
                </a:tc>
                <a:tc>
                  <a:txBody>
                    <a:bodyPr/>
                    <a:lstStyle/>
                    <a:p>
                      <a:r>
                        <a:rPr lang="en-US" sz="1400" dirty="0"/>
                        <a:t>Dirty</a:t>
                      </a:r>
                    </a:p>
                  </a:txBody>
                  <a:tcPr marT="45680" marB="45680"/>
                </a:tc>
                <a:tc>
                  <a:txBody>
                    <a:bodyPr/>
                    <a:lstStyle/>
                    <a:p>
                      <a:r>
                        <a:rPr lang="en-US" sz="1400" dirty="0"/>
                        <a:t>Access </a:t>
                      </a:r>
                    </a:p>
                    <a:p>
                      <a:r>
                        <a:rPr lang="en-US" sz="1400" dirty="0"/>
                        <a:t>rights</a:t>
                      </a:r>
                    </a:p>
                  </a:txBody>
                  <a:tcPr marT="45680" marB="45680"/>
                </a:tc>
                <a:tc>
                  <a:txBody>
                    <a:bodyPr/>
                    <a:lstStyle/>
                    <a:p>
                      <a:r>
                        <a:rPr lang="en-US" sz="1400" dirty="0"/>
                        <a:t>ref </a:t>
                      </a:r>
                    </a:p>
                  </a:txBody>
                  <a:tcPr marT="45680" marB="45680"/>
                </a:tc>
                <a:tc>
                  <a:txBody>
                    <a:bodyPr/>
                    <a:lstStyle/>
                    <a:p>
                      <a:r>
                        <a:rPr lang="en-US" sz="1400" dirty="0"/>
                        <a:t>flags</a:t>
                      </a:r>
                    </a:p>
                  </a:txBody>
                  <a:tcPr marT="45680" marB="45680"/>
                </a:tc>
                <a:extLst>
                  <a:ext uri="{0D108BD9-81ED-4DB2-BD59-A6C34878D82A}">
                    <a16:rowId xmlns:a16="http://schemas.microsoft.com/office/drawing/2014/main" val="10000"/>
                  </a:ext>
                </a:extLst>
              </a:tr>
              <a:tr h="216429">
                <a:tc>
                  <a:txBody>
                    <a:bodyPr/>
                    <a:lstStyle/>
                    <a:p>
                      <a:r>
                        <a:rPr lang="en-US" sz="1400" dirty="0"/>
                        <a:t>100</a:t>
                      </a:r>
                    </a:p>
                  </a:txBody>
                  <a:tcPr marT="45680" marB="45680"/>
                </a:tc>
                <a:tc>
                  <a:txBody>
                    <a:bodyPr/>
                    <a:lstStyle/>
                    <a:p>
                      <a:r>
                        <a:rPr lang="en-US" sz="1400" dirty="0"/>
                        <a:t>V</a:t>
                      </a:r>
                    </a:p>
                  </a:txBody>
                  <a:tcPr marT="45680" marB="45680"/>
                </a:tc>
                <a:tc>
                  <a:txBody>
                    <a:bodyPr/>
                    <a:lstStyle/>
                    <a:p>
                      <a:r>
                        <a:rPr lang="en-US" sz="1400" dirty="0"/>
                        <a:t>F</a:t>
                      </a:r>
                    </a:p>
                  </a:txBody>
                  <a:tcPr marT="45680" marB="45680"/>
                </a:tc>
                <a:tc>
                  <a:txBody>
                    <a:bodyPr/>
                    <a:lstStyle/>
                    <a:p>
                      <a:r>
                        <a:rPr lang="en-US" sz="1400" dirty="0"/>
                        <a:t>01110</a:t>
                      </a:r>
                    </a:p>
                  </a:txBody>
                  <a:tcPr marT="45680" marB="45680"/>
                </a:tc>
                <a:tc>
                  <a:txBody>
                    <a:bodyPr/>
                    <a:lstStyle/>
                    <a:p>
                      <a:r>
                        <a:rPr lang="en-US" sz="1400" dirty="0"/>
                        <a:t>1</a:t>
                      </a:r>
                    </a:p>
                  </a:txBody>
                  <a:tcPr marT="45680" marB="45680"/>
                </a:tc>
                <a:tc>
                  <a:txBody>
                    <a:bodyPr/>
                    <a:lstStyle/>
                    <a:p>
                      <a:r>
                        <a:rPr lang="en-US" sz="1400" dirty="0"/>
                        <a:t>01</a:t>
                      </a:r>
                    </a:p>
                  </a:txBody>
                  <a:tcPr marT="45680" marB="45680"/>
                </a:tc>
                <a:extLst>
                  <a:ext uri="{0D108BD9-81ED-4DB2-BD59-A6C34878D82A}">
                    <a16:rowId xmlns:a16="http://schemas.microsoft.com/office/drawing/2014/main" val="10001"/>
                  </a:ext>
                </a:extLst>
              </a:tr>
            </a:tbl>
          </a:graphicData>
        </a:graphic>
      </p:graphicFrame>
      <p:sp>
        <p:nvSpPr>
          <p:cNvPr id="2" name="TextBox 1">
            <a:extLst>
              <a:ext uri="{FF2B5EF4-FFF2-40B4-BE49-F238E27FC236}">
                <a16:creationId xmlns:a16="http://schemas.microsoft.com/office/drawing/2014/main" id="{E602EC87-9A8D-4298-98CC-82CA99DE2A0D}"/>
              </a:ext>
            </a:extLst>
          </p:cNvPr>
          <p:cNvSpPr txBox="1"/>
          <p:nvPr/>
        </p:nvSpPr>
        <p:spPr>
          <a:xfrm>
            <a:off x="984032" y="1203326"/>
            <a:ext cx="646331"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CR3</a:t>
            </a:r>
          </a:p>
        </p:txBody>
      </p:sp>
      <p:sp>
        <p:nvSpPr>
          <p:cNvPr id="3" name="Arrow: Curved Right 2">
            <a:extLst>
              <a:ext uri="{FF2B5EF4-FFF2-40B4-BE49-F238E27FC236}">
                <a16:creationId xmlns:a16="http://schemas.microsoft.com/office/drawing/2014/main" id="{C9986BE3-1CBB-41F9-BAF8-3ECAA986F2A4}"/>
              </a:ext>
            </a:extLst>
          </p:cNvPr>
          <p:cNvSpPr/>
          <p:nvPr/>
        </p:nvSpPr>
        <p:spPr bwMode="auto">
          <a:xfrm>
            <a:off x="1769168" y="2260536"/>
            <a:ext cx="862905" cy="1808543"/>
          </a:xfrm>
          <a:prstGeom prst="curvedRightArrow">
            <a:avLst>
              <a:gd name="adj1" fmla="val 25000"/>
              <a:gd name="adj2" fmla="val 50000"/>
              <a:gd name="adj3" fmla="val 25000"/>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236833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1282047" y="173040"/>
            <a:ext cx="10118101" cy="593675"/>
          </a:xfrm>
        </p:spPr>
        <p:txBody>
          <a:bodyPr/>
          <a:lstStyle/>
          <a:p>
            <a:r>
              <a:rPr lang="en-US" altLang="zh-TW" dirty="0"/>
              <a:t>Page Fault</a:t>
            </a:r>
          </a:p>
        </p:txBody>
      </p:sp>
      <p:sp>
        <p:nvSpPr>
          <p:cNvPr id="88067" name="Rectangle 3"/>
          <p:cNvSpPr>
            <a:spLocks noGrp="1" noChangeArrowheads="1"/>
          </p:cNvSpPr>
          <p:nvPr>
            <p:ph type="body" idx="1"/>
          </p:nvPr>
        </p:nvSpPr>
        <p:spPr>
          <a:xfrm>
            <a:off x="1022556" y="1091382"/>
            <a:ext cx="10530349" cy="4119717"/>
          </a:xfrm>
        </p:spPr>
        <p:txBody>
          <a:bodyPr/>
          <a:lstStyle/>
          <a:p>
            <a:r>
              <a:rPr lang="en-US" altLang="zh-TW" sz="2667" dirty="0"/>
              <a:t>Page hit, proceed normally</a:t>
            </a:r>
          </a:p>
          <a:p>
            <a:r>
              <a:rPr lang="en-US" altLang="zh-TW" sz="2667" dirty="0"/>
              <a:t>Page fault means that page is not in memory</a:t>
            </a:r>
          </a:p>
          <a:p>
            <a:r>
              <a:rPr lang="en-US" altLang="zh-TW" sz="2667" dirty="0"/>
              <a:t>Huge miss penalty</a:t>
            </a:r>
          </a:p>
          <a:p>
            <a:pPr lvl="1"/>
            <a:r>
              <a:rPr lang="en-US" altLang="zh-TW" sz="2133" dirty="0"/>
              <a:t>A page fault may take millions of cycles to process (disk I/O involved)</a:t>
            </a:r>
          </a:p>
          <a:p>
            <a:r>
              <a:rPr lang="en-US" altLang="zh-TW" sz="2667" dirty="0"/>
              <a:t>Hardware must detect situation but it cannot remedy the situation</a:t>
            </a:r>
          </a:p>
          <a:p>
            <a:r>
              <a:rPr lang="en-US" altLang="zh-TW" sz="2667" dirty="0"/>
              <a:t>Page faults are handled by OS. The faulting process can be context switched out so that the CPU can be dispatched to other processes. </a:t>
            </a:r>
            <a:endParaRPr lang="en-US" altLang="zh-TW" sz="2400" dirty="0"/>
          </a:p>
        </p:txBody>
      </p:sp>
      <p:sp>
        <p:nvSpPr>
          <p:cNvPr id="88068" name="投影片編號版面配置區 1"/>
          <p:cNvSpPr>
            <a:spLocks noGrp="1"/>
          </p:cNvSpPr>
          <p:nvPr>
            <p:ph type="sldNum" sz="quarter" idx="4294967295"/>
          </p:nvPr>
        </p:nvSpPr>
        <p:spPr>
          <a:noFill/>
          <a:ln>
            <a:miter lim="800000"/>
          </a:ln>
        </p:spPr>
        <p:txBody>
          <a:bodyPr/>
          <a:lstStyle/>
          <a:p>
            <a:pPr defTabSz="761981"/>
            <a:fld id="{5863FF40-C46C-4BA0-9FA1-CAA183A6590F}" type="slidenum">
              <a:rPr lang="zh-TW" altLang="en-US"/>
              <a:pPr defTabSz="761981"/>
              <a:t>11</a:t>
            </a:fld>
            <a:endParaRPr lang="en-US" altLang="zh-TW"/>
          </a:p>
        </p:txBody>
      </p:sp>
    </p:spTree>
    <p:extLst>
      <p:ext uri="{BB962C8B-B14F-4D97-AF65-F5344CB8AC3E}">
        <p14:creationId xmlns:p14="http://schemas.microsoft.com/office/powerpoint/2010/main" val="3142823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1244340" y="173040"/>
            <a:ext cx="9061712" cy="669089"/>
          </a:xfrm>
        </p:spPr>
        <p:txBody>
          <a:bodyPr/>
          <a:lstStyle/>
          <a:p>
            <a:r>
              <a:rPr lang="en-US" altLang="zh-TW" dirty="0"/>
              <a:t>OS Handling Page Faults</a:t>
            </a:r>
          </a:p>
        </p:txBody>
      </p:sp>
      <p:sp>
        <p:nvSpPr>
          <p:cNvPr id="581635" name="Rectangle 3"/>
          <p:cNvSpPr>
            <a:spLocks noGrp="1" noChangeArrowheads="1"/>
          </p:cNvSpPr>
          <p:nvPr>
            <p:ph type="body" idx="1"/>
          </p:nvPr>
        </p:nvSpPr>
        <p:spPr>
          <a:xfrm>
            <a:off x="1454271" y="1143378"/>
            <a:ext cx="9166595" cy="4914916"/>
          </a:xfrm>
        </p:spPr>
        <p:txBody>
          <a:bodyPr/>
          <a:lstStyle/>
          <a:p>
            <a:pPr>
              <a:lnSpc>
                <a:spcPct val="80000"/>
              </a:lnSpc>
            </a:pPr>
            <a:r>
              <a:rPr lang="en-US" altLang="zh-TW" sz="2667" dirty="0"/>
              <a:t>Hardware must trap to the operating system so that it can remedy the situation</a:t>
            </a:r>
          </a:p>
          <a:p>
            <a:pPr lvl="1">
              <a:lnSpc>
                <a:spcPct val="80000"/>
              </a:lnSpc>
            </a:pPr>
            <a:r>
              <a:rPr lang="en-US" altLang="zh-TW" sz="2400" dirty="0"/>
              <a:t>Pick a page to discard (may write it back to disk if dirty)</a:t>
            </a:r>
          </a:p>
          <a:p>
            <a:pPr lvl="1">
              <a:lnSpc>
                <a:spcPct val="80000"/>
              </a:lnSpc>
            </a:pPr>
            <a:r>
              <a:rPr lang="en-US" altLang="zh-TW" sz="2400" dirty="0"/>
              <a:t>Load the page in from disk</a:t>
            </a:r>
          </a:p>
          <a:p>
            <a:pPr lvl="1">
              <a:lnSpc>
                <a:spcPct val="80000"/>
              </a:lnSpc>
            </a:pPr>
            <a:r>
              <a:rPr lang="en-US" altLang="zh-TW" sz="2400" dirty="0"/>
              <a:t>Update the page table</a:t>
            </a:r>
          </a:p>
          <a:p>
            <a:pPr lvl="1">
              <a:lnSpc>
                <a:spcPct val="80000"/>
              </a:lnSpc>
            </a:pPr>
            <a:r>
              <a:rPr lang="en-US" altLang="zh-TW" sz="2400" dirty="0"/>
              <a:t>Resume to program so HW will retry and resume execution!</a:t>
            </a:r>
          </a:p>
          <a:p>
            <a:pPr lvl="1">
              <a:lnSpc>
                <a:spcPct val="80000"/>
              </a:lnSpc>
            </a:pPr>
            <a:endParaRPr lang="en-US" altLang="zh-TW" sz="2400" dirty="0"/>
          </a:p>
          <a:p>
            <a:pPr>
              <a:lnSpc>
                <a:spcPct val="80000"/>
              </a:lnSpc>
            </a:pPr>
            <a:r>
              <a:rPr lang="en-US" altLang="zh-TW" sz="2667" dirty="0"/>
              <a:t>In addition, OS must know where to find the page</a:t>
            </a:r>
          </a:p>
          <a:p>
            <a:pPr lvl="1">
              <a:lnSpc>
                <a:spcPct val="80000"/>
              </a:lnSpc>
            </a:pPr>
            <a:r>
              <a:rPr lang="en-US" altLang="zh-TW" sz="2400" dirty="0"/>
              <a:t>Create space on disk for all pages of process (</a:t>
            </a:r>
            <a:r>
              <a:rPr lang="en-US" altLang="zh-TW" sz="2400" dirty="0">
                <a:solidFill>
                  <a:srgbClr val="C00000"/>
                </a:solidFill>
              </a:rPr>
              <a:t>swap space</a:t>
            </a:r>
            <a:r>
              <a:rPr lang="en-US" altLang="zh-TW" sz="2400" dirty="0"/>
              <a:t>)	</a:t>
            </a:r>
          </a:p>
          <a:p>
            <a:pPr lvl="1">
              <a:lnSpc>
                <a:spcPct val="80000"/>
              </a:lnSpc>
            </a:pPr>
            <a:r>
              <a:rPr lang="en-US" altLang="zh-TW" sz="2400" dirty="0"/>
              <a:t>Use a data structure to record where each valid page is on disk (may be part of page table)</a:t>
            </a:r>
          </a:p>
          <a:p>
            <a:pPr lvl="1">
              <a:lnSpc>
                <a:spcPct val="80000"/>
              </a:lnSpc>
            </a:pPr>
            <a:r>
              <a:rPr lang="en-US" altLang="zh-TW" sz="2400" dirty="0"/>
              <a:t>Use another data structure to track which process and virtual addresses use each physical page =&gt; for replacement purpose</a:t>
            </a:r>
          </a:p>
        </p:txBody>
      </p:sp>
      <p:sp>
        <p:nvSpPr>
          <p:cNvPr id="89092" name="投影片編號版面配置區 1"/>
          <p:cNvSpPr>
            <a:spLocks noGrp="1"/>
          </p:cNvSpPr>
          <p:nvPr>
            <p:ph type="sldNum" sz="quarter" idx="4294967295"/>
          </p:nvPr>
        </p:nvSpPr>
        <p:spPr>
          <a:noFill/>
          <a:ln>
            <a:miter lim="800000"/>
          </a:ln>
        </p:spPr>
        <p:txBody>
          <a:bodyPr/>
          <a:lstStyle/>
          <a:p>
            <a:pPr defTabSz="761981"/>
            <a:fld id="{0E661FF7-3E64-4874-AAFA-EEF67A3F94BC}" type="slidenum">
              <a:rPr lang="zh-TW" altLang="en-US"/>
              <a:pPr defTabSz="761981"/>
              <a:t>12</a:t>
            </a:fld>
            <a:endParaRPr lang="en-US" altLang="zh-TW"/>
          </a:p>
        </p:txBody>
      </p:sp>
    </p:spTree>
    <p:extLst>
      <p:ext uri="{BB962C8B-B14F-4D97-AF65-F5344CB8AC3E}">
        <p14:creationId xmlns:p14="http://schemas.microsoft.com/office/powerpoint/2010/main" val="150599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81635">
                                            <p:txEl>
                                              <p:pRg st="6" end="6"/>
                                            </p:txEl>
                                          </p:spTgt>
                                        </p:tgtEl>
                                        <p:attrNameLst>
                                          <p:attrName>style.visibility</p:attrName>
                                        </p:attrNameLst>
                                      </p:cBhvr>
                                      <p:to>
                                        <p:strVal val="visible"/>
                                      </p:to>
                                    </p:set>
                                    <p:anim calcmode="lin" valueType="num">
                                      <p:cBhvr additive="base">
                                        <p:cTn id="7" dur="500" fill="hold"/>
                                        <p:tgtEl>
                                          <p:spTgt spid="581635">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81635">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81635">
                                            <p:txEl>
                                              <p:pRg st="7" end="7"/>
                                            </p:txEl>
                                          </p:spTgt>
                                        </p:tgtEl>
                                        <p:attrNameLst>
                                          <p:attrName>style.visibility</p:attrName>
                                        </p:attrNameLst>
                                      </p:cBhvr>
                                      <p:to>
                                        <p:strVal val="visible"/>
                                      </p:to>
                                    </p:set>
                                    <p:anim calcmode="lin" valueType="num">
                                      <p:cBhvr additive="base">
                                        <p:cTn id="11" dur="500" fill="hold"/>
                                        <p:tgtEl>
                                          <p:spTgt spid="581635">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81635">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81635">
                                            <p:txEl>
                                              <p:pRg st="8" end="8"/>
                                            </p:txEl>
                                          </p:spTgt>
                                        </p:tgtEl>
                                        <p:attrNameLst>
                                          <p:attrName>style.visibility</p:attrName>
                                        </p:attrNameLst>
                                      </p:cBhvr>
                                      <p:to>
                                        <p:strVal val="visible"/>
                                      </p:to>
                                    </p:set>
                                    <p:anim calcmode="lin" valueType="num">
                                      <p:cBhvr additive="base">
                                        <p:cTn id="15" dur="500" fill="hold"/>
                                        <p:tgtEl>
                                          <p:spTgt spid="581635">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81635">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81635">
                                            <p:txEl>
                                              <p:pRg st="9" end="9"/>
                                            </p:txEl>
                                          </p:spTgt>
                                        </p:tgtEl>
                                        <p:attrNameLst>
                                          <p:attrName>style.visibility</p:attrName>
                                        </p:attrNameLst>
                                      </p:cBhvr>
                                      <p:to>
                                        <p:strVal val="visible"/>
                                      </p:to>
                                    </p:set>
                                    <p:anim calcmode="lin" valueType="num">
                                      <p:cBhvr additive="base">
                                        <p:cTn id="19" dur="500" fill="hold"/>
                                        <p:tgtEl>
                                          <p:spTgt spid="581635">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8163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1244340" y="173040"/>
            <a:ext cx="9061712" cy="669089"/>
          </a:xfrm>
        </p:spPr>
        <p:txBody>
          <a:bodyPr/>
          <a:lstStyle/>
          <a:p>
            <a:r>
              <a:rPr lang="en-US" altLang="zh-TW" dirty="0"/>
              <a:t>OS Handling Page Faults</a:t>
            </a:r>
          </a:p>
        </p:txBody>
      </p:sp>
      <p:sp>
        <p:nvSpPr>
          <p:cNvPr id="581635" name="Rectangle 3"/>
          <p:cNvSpPr>
            <a:spLocks noGrp="1" noChangeArrowheads="1"/>
          </p:cNvSpPr>
          <p:nvPr>
            <p:ph type="body" idx="1"/>
          </p:nvPr>
        </p:nvSpPr>
        <p:spPr>
          <a:xfrm>
            <a:off x="1454271" y="1143378"/>
            <a:ext cx="9166595" cy="4914916"/>
          </a:xfrm>
        </p:spPr>
        <p:txBody>
          <a:bodyPr/>
          <a:lstStyle/>
          <a:p>
            <a:pPr>
              <a:lnSpc>
                <a:spcPct val="80000"/>
              </a:lnSpc>
            </a:pPr>
            <a:r>
              <a:rPr lang="en-US" altLang="zh-TW" sz="2667" dirty="0"/>
              <a:t>Hardware must trap to the operating system so that it can remedy the situation</a:t>
            </a:r>
          </a:p>
          <a:p>
            <a:pPr lvl="1">
              <a:lnSpc>
                <a:spcPct val="80000"/>
              </a:lnSpc>
            </a:pPr>
            <a:r>
              <a:rPr lang="en-US" altLang="zh-TW" sz="2400" dirty="0"/>
              <a:t>Pick a page to discard (may write it back to disk if dirty)</a:t>
            </a:r>
          </a:p>
          <a:p>
            <a:pPr lvl="1">
              <a:lnSpc>
                <a:spcPct val="80000"/>
              </a:lnSpc>
            </a:pPr>
            <a:r>
              <a:rPr lang="en-US" altLang="zh-TW" sz="2400" dirty="0"/>
              <a:t>Load the page in from disk</a:t>
            </a:r>
          </a:p>
          <a:p>
            <a:pPr lvl="1">
              <a:lnSpc>
                <a:spcPct val="80000"/>
              </a:lnSpc>
            </a:pPr>
            <a:r>
              <a:rPr lang="en-US" altLang="zh-TW" sz="2400" dirty="0"/>
              <a:t>Update the page table</a:t>
            </a:r>
          </a:p>
          <a:p>
            <a:pPr lvl="1">
              <a:lnSpc>
                <a:spcPct val="80000"/>
              </a:lnSpc>
            </a:pPr>
            <a:r>
              <a:rPr lang="en-US" altLang="zh-TW" sz="2400" dirty="0"/>
              <a:t>Resume to program so HW will retry and resume execution!</a:t>
            </a:r>
          </a:p>
          <a:p>
            <a:pPr lvl="1">
              <a:lnSpc>
                <a:spcPct val="80000"/>
              </a:lnSpc>
            </a:pPr>
            <a:endParaRPr lang="en-US" altLang="zh-TW" sz="2400" dirty="0"/>
          </a:p>
          <a:p>
            <a:pPr>
              <a:lnSpc>
                <a:spcPct val="80000"/>
              </a:lnSpc>
            </a:pPr>
            <a:r>
              <a:rPr lang="en-US" altLang="zh-TW" sz="2667" dirty="0"/>
              <a:t>In addition, OS must know where to find the page</a:t>
            </a:r>
          </a:p>
          <a:p>
            <a:pPr lvl="1">
              <a:lnSpc>
                <a:spcPct val="80000"/>
              </a:lnSpc>
            </a:pPr>
            <a:r>
              <a:rPr lang="en-US" altLang="zh-TW" sz="2400" dirty="0"/>
              <a:t>Create space on disk for all pages of process (</a:t>
            </a:r>
            <a:r>
              <a:rPr lang="en-US" altLang="zh-TW" sz="2400" dirty="0">
                <a:solidFill>
                  <a:srgbClr val="C00000"/>
                </a:solidFill>
              </a:rPr>
              <a:t>swap space</a:t>
            </a:r>
            <a:r>
              <a:rPr lang="en-US" altLang="zh-TW" sz="2400" dirty="0"/>
              <a:t>)	</a:t>
            </a:r>
          </a:p>
          <a:p>
            <a:pPr lvl="1">
              <a:lnSpc>
                <a:spcPct val="80000"/>
              </a:lnSpc>
            </a:pPr>
            <a:r>
              <a:rPr lang="en-US" altLang="zh-TW" sz="2400" dirty="0"/>
              <a:t>Use a data structure to record where each valid page is on disk (may be part of page table)</a:t>
            </a:r>
          </a:p>
          <a:p>
            <a:pPr lvl="1">
              <a:lnSpc>
                <a:spcPct val="80000"/>
              </a:lnSpc>
            </a:pPr>
            <a:r>
              <a:rPr lang="en-US" altLang="zh-TW" sz="2400" dirty="0"/>
              <a:t>Use another data structure to track which process and virtual addresses use each physical page =&gt; for replacement purpose</a:t>
            </a:r>
          </a:p>
        </p:txBody>
      </p:sp>
      <p:sp>
        <p:nvSpPr>
          <p:cNvPr id="89092" name="投影片編號版面配置區 1"/>
          <p:cNvSpPr>
            <a:spLocks noGrp="1"/>
          </p:cNvSpPr>
          <p:nvPr>
            <p:ph type="sldNum" sz="quarter" idx="4294967295"/>
          </p:nvPr>
        </p:nvSpPr>
        <p:spPr>
          <a:noFill/>
          <a:ln>
            <a:miter lim="800000"/>
          </a:ln>
        </p:spPr>
        <p:txBody>
          <a:bodyPr/>
          <a:lstStyle/>
          <a:p>
            <a:pPr defTabSz="761981"/>
            <a:fld id="{0E661FF7-3E64-4874-AAFA-EEF67A3F94BC}" type="slidenum">
              <a:rPr lang="zh-TW" altLang="en-US"/>
              <a:pPr defTabSz="761981"/>
              <a:t>13</a:t>
            </a:fld>
            <a:endParaRPr lang="en-US" altLang="zh-TW"/>
          </a:p>
        </p:txBody>
      </p:sp>
      <p:sp>
        <p:nvSpPr>
          <p:cNvPr id="2" name="TextBox 1">
            <a:extLst>
              <a:ext uri="{FF2B5EF4-FFF2-40B4-BE49-F238E27FC236}">
                <a16:creationId xmlns:a16="http://schemas.microsoft.com/office/drawing/2014/main" id="{43BA8D79-18B1-4501-B923-008F1D038D6F}"/>
              </a:ext>
            </a:extLst>
          </p:cNvPr>
          <p:cNvSpPr txBox="1"/>
          <p:nvPr/>
        </p:nvSpPr>
        <p:spPr>
          <a:xfrm>
            <a:off x="4710146" y="1365991"/>
            <a:ext cx="7103227" cy="1384995"/>
          </a:xfrm>
          <a:prstGeom prst="rect">
            <a:avLst/>
          </a:prstGeom>
          <a:solidFill>
            <a:srgbClr val="FFFF00"/>
          </a:solidFill>
        </p:spPr>
        <p:txBody>
          <a:bodyPr wrap="none" rtlCol="0" anchor="ctr" anchorCtr="1">
            <a:spAutoFit/>
          </a:bodyPr>
          <a:lstStyle/>
          <a:p>
            <a:r>
              <a:rPr lang="en-US" sz="2800" dirty="0">
                <a:solidFill>
                  <a:srgbClr val="FF0000"/>
                </a:solidFill>
                <a:ea typeface="標楷體" pitchFamily="65" charset="-120"/>
                <a:cs typeface="Calibri" pitchFamily="34" charset="0"/>
              </a:rPr>
              <a:t>Remember why we have to maintain </a:t>
            </a:r>
          </a:p>
          <a:p>
            <a:r>
              <a:rPr lang="en-US" sz="2800" dirty="0">
                <a:solidFill>
                  <a:srgbClr val="FF0000"/>
                </a:solidFill>
                <a:ea typeface="標楷體" pitchFamily="65" charset="-120"/>
                <a:cs typeface="Calibri" pitchFamily="34" charset="0"/>
              </a:rPr>
              <a:t>precise architecture states in the pipelined, </a:t>
            </a:r>
          </a:p>
          <a:p>
            <a:r>
              <a:rPr lang="en-US" sz="2800" dirty="0">
                <a:solidFill>
                  <a:srgbClr val="FF0000"/>
                </a:solidFill>
                <a:ea typeface="標楷體" pitchFamily="65" charset="-120"/>
                <a:cs typeface="Calibri" pitchFamily="34" charset="0"/>
              </a:rPr>
              <a:t>out-of-order execution processor?</a:t>
            </a:r>
          </a:p>
        </p:txBody>
      </p:sp>
      <p:sp>
        <p:nvSpPr>
          <p:cNvPr id="6" name="TextBox 5">
            <a:extLst>
              <a:ext uri="{FF2B5EF4-FFF2-40B4-BE49-F238E27FC236}">
                <a16:creationId xmlns:a16="http://schemas.microsoft.com/office/drawing/2014/main" id="{7A4B0704-CDD5-44D4-BD13-C37ED7A025D8}"/>
              </a:ext>
            </a:extLst>
          </p:cNvPr>
          <p:cNvSpPr txBox="1"/>
          <p:nvPr/>
        </p:nvSpPr>
        <p:spPr>
          <a:xfrm>
            <a:off x="4710146" y="3217320"/>
            <a:ext cx="6659195" cy="954107"/>
          </a:xfrm>
          <a:prstGeom prst="rect">
            <a:avLst/>
          </a:prstGeom>
          <a:solidFill>
            <a:srgbClr val="FFFF00"/>
          </a:solidFill>
        </p:spPr>
        <p:txBody>
          <a:bodyPr wrap="none" rtlCol="0" anchor="ctr" anchorCtr="1">
            <a:spAutoFit/>
          </a:bodyPr>
          <a:lstStyle/>
          <a:p>
            <a:r>
              <a:rPr lang="en-US" sz="2800" dirty="0">
                <a:solidFill>
                  <a:srgbClr val="FF0000"/>
                </a:solidFill>
                <a:ea typeface="標楷體" pitchFamily="65" charset="-120"/>
                <a:cs typeface="Calibri" pitchFamily="34" charset="0"/>
              </a:rPr>
              <a:t>To ensure the processor can correctly </a:t>
            </a:r>
          </a:p>
          <a:p>
            <a:r>
              <a:rPr lang="en-US" sz="2800" b="1" dirty="0">
                <a:solidFill>
                  <a:srgbClr val="FF0000"/>
                </a:solidFill>
                <a:ea typeface="標楷體" pitchFamily="65" charset="-120"/>
                <a:cs typeface="Calibri" pitchFamily="34" charset="0"/>
              </a:rPr>
              <a:t>RESUME</a:t>
            </a:r>
            <a:r>
              <a:rPr lang="en-US" sz="2800" dirty="0">
                <a:solidFill>
                  <a:srgbClr val="FF0000"/>
                </a:solidFill>
                <a:ea typeface="標楷體" pitchFamily="65" charset="-120"/>
                <a:cs typeface="Calibri" pitchFamily="34" charset="0"/>
              </a:rPr>
              <a:t> after the page fault is handled.</a:t>
            </a:r>
          </a:p>
        </p:txBody>
      </p:sp>
    </p:spTree>
    <p:extLst>
      <p:ext uri="{BB962C8B-B14F-4D97-AF65-F5344CB8AC3E}">
        <p14:creationId xmlns:p14="http://schemas.microsoft.com/office/powerpoint/2010/main" val="2839122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1231770" y="173040"/>
            <a:ext cx="9074281" cy="656520"/>
          </a:xfrm>
        </p:spPr>
        <p:txBody>
          <a:bodyPr/>
          <a:lstStyle/>
          <a:p>
            <a:r>
              <a:rPr lang="en-US" altLang="zh-TW" dirty="0"/>
              <a:t>Page Replacement and Writes</a:t>
            </a:r>
            <a:endParaRPr lang="en-AU" altLang="zh-TW" dirty="0">
              <a:ea typeface="新細明體" panose="02020500000000000000" pitchFamily="18" charset="-120"/>
            </a:endParaRPr>
          </a:p>
        </p:txBody>
      </p:sp>
      <p:sp>
        <p:nvSpPr>
          <p:cNvPr id="90115" name="Rectangle 3"/>
          <p:cNvSpPr>
            <a:spLocks noGrp="1" noChangeArrowheads="1"/>
          </p:cNvSpPr>
          <p:nvPr>
            <p:ph type="body" idx="1"/>
          </p:nvPr>
        </p:nvSpPr>
        <p:spPr>
          <a:xfrm>
            <a:off x="1378855" y="1123005"/>
            <a:ext cx="9480824" cy="4692385"/>
          </a:xfrm>
        </p:spPr>
        <p:txBody>
          <a:bodyPr/>
          <a:lstStyle/>
          <a:p>
            <a:pPr>
              <a:lnSpc>
                <a:spcPct val="80000"/>
              </a:lnSpc>
            </a:pPr>
            <a:r>
              <a:rPr lang="en-US" altLang="zh-TW" sz="2667" dirty="0"/>
              <a:t>To reduce page fault rate, prefer least-recently used (LRU) replacement</a:t>
            </a:r>
          </a:p>
          <a:p>
            <a:pPr lvl="1">
              <a:lnSpc>
                <a:spcPct val="80000"/>
              </a:lnSpc>
            </a:pPr>
            <a:r>
              <a:rPr lang="en-US" altLang="zh-TW" sz="2400" dirty="0">
                <a:solidFill>
                  <a:schemeClr val="accent1"/>
                </a:solidFill>
              </a:rPr>
              <a:t>Reference bit</a:t>
            </a:r>
            <a:r>
              <a:rPr lang="en-US" altLang="zh-TW" sz="2400" dirty="0"/>
              <a:t> (aka </a:t>
            </a:r>
            <a:r>
              <a:rPr lang="en-US" altLang="zh-TW" sz="2400" dirty="0">
                <a:solidFill>
                  <a:srgbClr val="FF0000"/>
                </a:solidFill>
              </a:rPr>
              <a:t>use bit</a:t>
            </a:r>
            <a:r>
              <a:rPr lang="en-US" altLang="zh-TW" sz="2400" dirty="0"/>
              <a:t>) in PTE set to 1 on access to page</a:t>
            </a:r>
          </a:p>
          <a:p>
            <a:pPr lvl="1">
              <a:lnSpc>
                <a:spcPct val="80000"/>
              </a:lnSpc>
            </a:pPr>
            <a:r>
              <a:rPr lang="en-US" altLang="zh-TW" sz="2400" dirty="0"/>
              <a:t>Periodically cleared to 0 by OS</a:t>
            </a:r>
          </a:p>
          <a:p>
            <a:pPr lvl="1">
              <a:lnSpc>
                <a:spcPct val="80000"/>
              </a:lnSpc>
            </a:pPr>
            <a:r>
              <a:rPr lang="en-US" altLang="zh-TW" sz="2400" dirty="0"/>
              <a:t>A page with reference bit = 0 has not been used recently</a:t>
            </a:r>
          </a:p>
          <a:p>
            <a:pPr lvl="1">
              <a:lnSpc>
                <a:spcPct val="80000"/>
              </a:lnSpc>
            </a:pPr>
            <a:r>
              <a:rPr lang="en-US" altLang="zh-TW" sz="2400" dirty="0"/>
              <a:t>Unlike the caches, which are managed by HW only, OS can afford more accurate page replacement algorithm</a:t>
            </a:r>
          </a:p>
          <a:p>
            <a:pPr>
              <a:lnSpc>
                <a:spcPct val="80000"/>
              </a:lnSpc>
            </a:pPr>
            <a:endParaRPr lang="en-US" altLang="zh-TW" sz="2667" dirty="0"/>
          </a:p>
          <a:p>
            <a:pPr>
              <a:lnSpc>
                <a:spcPct val="80000"/>
              </a:lnSpc>
            </a:pPr>
            <a:r>
              <a:rPr lang="en-US" altLang="zh-TW" sz="2667" dirty="0"/>
              <a:t>Disk writes take millions of cycles</a:t>
            </a:r>
          </a:p>
          <a:p>
            <a:pPr lvl="1">
              <a:lnSpc>
                <a:spcPct val="80000"/>
              </a:lnSpc>
            </a:pPr>
            <a:r>
              <a:rPr lang="en-US" altLang="zh-TW" sz="2400" dirty="0"/>
              <a:t>Block at once, not individual locations</a:t>
            </a:r>
          </a:p>
          <a:p>
            <a:pPr lvl="1">
              <a:lnSpc>
                <a:spcPct val="80000"/>
              </a:lnSpc>
            </a:pPr>
            <a:r>
              <a:rPr lang="en-US" altLang="zh-TW" sz="2400" dirty="0"/>
              <a:t>Write through is impractical</a:t>
            </a:r>
          </a:p>
          <a:p>
            <a:pPr lvl="1">
              <a:lnSpc>
                <a:spcPct val="80000"/>
              </a:lnSpc>
            </a:pPr>
            <a:r>
              <a:rPr lang="en-US" altLang="zh-TW" sz="2400" dirty="0"/>
              <a:t>Use write-back</a:t>
            </a:r>
          </a:p>
          <a:p>
            <a:pPr lvl="1">
              <a:lnSpc>
                <a:spcPct val="80000"/>
              </a:lnSpc>
            </a:pPr>
            <a:r>
              <a:rPr lang="en-US" altLang="zh-TW" sz="2400" dirty="0">
                <a:solidFill>
                  <a:schemeClr val="accent1"/>
                </a:solidFill>
              </a:rPr>
              <a:t>Dirty bit</a:t>
            </a:r>
            <a:r>
              <a:rPr lang="en-US" altLang="zh-TW" sz="2400" dirty="0"/>
              <a:t> in PTE set when a page is written</a:t>
            </a:r>
            <a:endParaRPr lang="en-AU" altLang="zh-TW" sz="2400" dirty="0">
              <a:ea typeface="新細明體" panose="02020500000000000000" pitchFamily="18" charset="-120"/>
            </a:endParaRPr>
          </a:p>
        </p:txBody>
      </p:sp>
      <p:sp>
        <p:nvSpPr>
          <p:cNvPr id="90116" name="投影片編號版面配置區 1"/>
          <p:cNvSpPr>
            <a:spLocks noGrp="1"/>
          </p:cNvSpPr>
          <p:nvPr>
            <p:ph type="sldNum" sz="quarter" idx="4294967295"/>
          </p:nvPr>
        </p:nvSpPr>
        <p:spPr>
          <a:noFill/>
          <a:ln>
            <a:miter lim="800000"/>
          </a:ln>
        </p:spPr>
        <p:txBody>
          <a:bodyPr/>
          <a:lstStyle/>
          <a:p>
            <a:pPr defTabSz="761981"/>
            <a:fld id="{6C0CFFAA-3026-47E2-9458-EE97BB1AADC2}" type="slidenum">
              <a:rPr lang="zh-TW" altLang="en-US"/>
              <a:pPr defTabSz="761981"/>
              <a:t>14</a:t>
            </a:fld>
            <a:endParaRPr lang="en-US" altLang="zh-TW"/>
          </a:p>
        </p:txBody>
      </p:sp>
    </p:spTree>
    <p:extLst>
      <p:ext uri="{BB962C8B-B14F-4D97-AF65-F5344CB8AC3E}">
        <p14:creationId xmlns:p14="http://schemas.microsoft.com/office/powerpoint/2010/main" val="1518408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Problems of Page Table</a:t>
            </a:r>
            <a:endParaRPr lang="zh-TW" altLang="en-US" dirty="0"/>
          </a:p>
        </p:txBody>
      </p:sp>
      <p:sp>
        <p:nvSpPr>
          <p:cNvPr id="3" name="內容版面配置區 2"/>
          <p:cNvSpPr>
            <a:spLocks noGrp="1"/>
          </p:cNvSpPr>
          <p:nvPr>
            <p:ph idx="1"/>
          </p:nvPr>
        </p:nvSpPr>
        <p:spPr>
          <a:xfrm>
            <a:off x="1296785" y="1125537"/>
            <a:ext cx="10285615" cy="4895851"/>
          </a:xfrm>
        </p:spPr>
        <p:txBody>
          <a:bodyPr/>
          <a:lstStyle/>
          <a:p>
            <a:r>
              <a:rPr lang="en-US" altLang="zh-TW" dirty="0"/>
              <a:t>Page table may be too big</a:t>
            </a:r>
          </a:p>
          <a:p>
            <a:pPr lvl="1"/>
            <a:r>
              <a:rPr lang="en-US" altLang="zh-TW" dirty="0"/>
              <a:t> A one-level page table would take too much memory when we deal with a 64-bit virtual address. (can you imagine a table with 2^52 entries of PTE?)</a:t>
            </a:r>
          </a:p>
          <a:p>
            <a:r>
              <a:rPr lang="en-US" altLang="zh-TW" dirty="0"/>
              <a:t>Access to the page table is too slow </a:t>
            </a:r>
          </a:p>
          <a:p>
            <a:pPr lvl="1"/>
            <a:r>
              <a:rPr lang="en-US" altLang="zh-TW" dirty="0"/>
              <a:t>one memory access to obtain the physical address</a:t>
            </a:r>
          </a:p>
          <a:p>
            <a:pPr lvl="1"/>
            <a:r>
              <a:rPr lang="en-US" altLang="zh-TW" dirty="0"/>
              <a:t>a second memory access to get the data</a:t>
            </a:r>
          </a:p>
          <a:p>
            <a:pPr marL="0" indent="0">
              <a:buNone/>
            </a:pPr>
            <a:endParaRPr lang="zh-TW" altLang="en-US" dirty="0"/>
          </a:p>
        </p:txBody>
      </p:sp>
      <p:sp>
        <p:nvSpPr>
          <p:cNvPr id="4" name="投影片編號版面配置區 3"/>
          <p:cNvSpPr>
            <a:spLocks noGrp="1"/>
          </p:cNvSpPr>
          <p:nvPr>
            <p:ph type="sldNum" sz="quarter" idx="4294967295"/>
          </p:nvPr>
        </p:nvSpPr>
        <p:spPr/>
        <p:txBody>
          <a:bodyPr/>
          <a:lstStyle/>
          <a:p>
            <a:fld id="{7D45A012-07B4-4F55-AE88-BDE7E89299BA}" type="slidenum">
              <a:rPr lang="zh-TW" altLang="en-US" smtClean="0"/>
              <a:t>15</a:t>
            </a:fld>
            <a:endParaRPr lang="en-US" altLang="zh-TW"/>
          </a:p>
        </p:txBody>
      </p:sp>
    </p:spTree>
    <p:extLst>
      <p:ext uri="{BB962C8B-B14F-4D97-AF65-F5344CB8AC3E}">
        <p14:creationId xmlns:p14="http://schemas.microsoft.com/office/powerpoint/2010/main" val="3286238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Solutions to Problems of Page Table </a:t>
            </a:r>
            <a:endParaRPr lang="zh-TW" altLang="en-US" dirty="0"/>
          </a:p>
        </p:txBody>
      </p:sp>
      <p:sp>
        <p:nvSpPr>
          <p:cNvPr id="3" name="內容版面配置區 2"/>
          <p:cNvSpPr>
            <a:spLocks noGrp="1"/>
          </p:cNvSpPr>
          <p:nvPr>
            <p:ph idx="1"/>
          </p:nvPr>
        </p:nvSpPr>
        <p:spPr>
          <a:xfrm>
            <a:off x="1296785" y="1038225"/>
            <a:ext cx="10285615" cy="4983163"/>
          </a:xfrm>
        </p:spPr>
        <p:txBody>
          <a:bodyPr/>
          <a:lstStyle/>
          <a:p>
            <a:r>
              <a:rPr lang="en-US" altLang="zh-TW" dirty="0"/>
              <a:t>Page table is too big</a:t>
            </a:r>
          </a:p>
          <a:p>
            <a:pPr lvl="1"/>
            <a:r>
              <a:rPr lang="en-US" altLang="zh-TW" dirty="0"/>
              <a:t>Multi-level indexing </a:t>
            </a:r>
          </a:p>
          <a:p>
            <a:pPr lvl="2"/>
            <a:r>
              <a:rPr lang="en-US" altLang="zh-TW" dirty="0"/>
              <a:t>Why does this work? Because virtual </a:t>
            </a:r>
            <a:r>
              <a:rPr lang="en-US" altLang="zh-TW" dirty="0">
                <a:solidFill>
                  <a:srgbClr val="FF0000"/>
                </a:solidFill>
              </a:rPr>
              <a:t>address space is very sparse</a:t>
            </a:r>
            <a:r>
              <a:rPr lang="en-US" altLang="zh-TW" dirty="0"/>
              <a:t>.</a:t>
            </a:r>
          </a:p>
          <a:p>
            <a:pPr marL="914354" lvl="2" indent="0">
              <a:buNone/>
            </a:pPr>
            <a:r>
              <a:rPr lang="en-US" altLang="zh-TW" dirty="0"/>
              <a:t>    so the directories have lots of entries not used.</a:t>
            </a:r>
          </a:p>
          <a:p>
            <a:pPr lvl="1"/>
            <a:r>
              <a:rPr lang="en-US" altLang="zh-TW" dirty="0"/>
              <a:t>Hash table approach (need to find the PTE with VA)</a:t>
            </a:r>
          </a:p>
          <a:p>
            <a:pPr lvl="2"/>
            <a:r>
              <a:rPr lang="en-US" altLang="zh-TW" dirty="0"/>
              <a:t>How to handle collisions?</a:t>
            </a:r>
          </a:p>
          <a:p>
            <a:pPr lvl="1"/>
            <a:r>
              <a:rPr lang="en-US" altLang="zh-TW" dirty="0"/>
              <a:t>Inverted tables</a:t>
            </a:r>
          </a:p>
          <a:p>
            <a:r>
              <a:rPr lang="en-US" altLang="zh-TW" dirty="0"/>
              <a:t>Access to the page table is too slow </a:t>
            </a:r>
          </a:p>
          <a:p>
            <a:pPr lvl="1"/>
            <a:r>
              <a:rPr lang="en-US" altLang="zh-TW" dirty="0"/>
              <a:t>TLB (Translation Lookaside Buffer)</a:t>
            </a:r>
          </a:p>
        </p:txBody>
      </p:sp>
      <p:sp>
        <p:nvSpPr>
          <p:cNvPr id="4" name="投影片編號版面配置區 3"/>
          <p:cNvSpPr>
            <a:spLocks noGrp="1"/>
          </p:cNvSpPr>
          <p:nvPr>
            <p:ph type="sldNum" sz="quarter" idx="4294967295"/>
          </p:nvPr>
        </p:nvSpPr>
        <p:spPr/>
        <p:txBody>
          <a:bodyPr/>
          <a:lstStyle/>
          <a:p>
            <a:fld id="{7D45A012-07B4-4F55-AE88-BDE7E89299BA}" type="slidenum">
              <a:rPr lang="zh-TW" altLang="en-US" smtClean="0"/>
              <a:t>16</a:t>
            </a:fld>
            <a:endParaRPr lang="en-US" altLang="zh-TW"/>
          </a:p>
        </p:txBody>
      </p:sp>
    </p:spTree>
    <p:extLst>
      <p:ext uri="{BB962C8B-B14F-4D97-AF65-F5344CB8AC3E}">
        <p14:creationId xmlns:p14="http://schemas.microsoft.com/office/powerpoint/2010/main" val="1757736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1206631" y="173039"/>
            <a:ext cx="9099420" cy="643951"/>
          </a:xfrm>
        </p:spPr>
        <p:txBody>
          <a:bodyPr/>
          <a:lstStyle/>
          <a:p>
            <a:r>
              <a:rPr lang="en-US" altLang="zh-TW" dirty="0"/>
              <a:t>Quick Review </a:t>
            </a:r>
          </a:p>
        </p:txBody>
      </p:sp>
      <p:sp>
        <p:nvSpPr>
          <p:cNvPr id="93187" name="Rectangle 3"/>
          <p:cNvSpPr>
            <a:spLocks noGrp="1" noChangeArrowheads="1"/>
          </p:cNvSpPr>
          <p:nvPr>
            <p:ph type="body" idx="1"/>
          </p:nvPr>
        </p:nvSpPr>
        <p:spPr>
          <a:xfrm>
            <a:off x="807396" y="1045029"/>
            <a:ext cx="10223461" cy="4770363"/>
          </a:xfrm>
        </p:spPr>
        <p:txBody>
          <a:bodyPr/>
          <a:lstStyle/>
          <a:p>
            <a:r>
              <a:rPr lang="en-US" altLang="zh-TW" sz="2400" dirty="0"/>
              <a:t>Virtual address space gives you the illusion that your program owns all the memory</a:t>
            </a:r>
          </a:p>
          <a:p>
            <a:r>
              <a:rPr lang="en-US" altLang="zh-TW" sz="2400" dirty="0"/>
              <a:t>The OS maps your VA (Virtual Address) space to the PA (Physical Address) via a page table</a:t>
            </a:r>
          </a:p>
          <a:p>
            <a:r>
              <a:rPr lang="en-US" altLang="zh-TW" sz="2400" dirty="0"/>
              <a:t>The page table is pointed to by a page table register (e.g., x86 CR3)</a:t>
            </a:r>
          </a:p>
          <a:p>
            <a:r>
              <a:rPr lang="en-US" altLang="zh-TW" sz="2400" dirty="0"/>
              <a:t>When a page is accessed but not in memory, the OS moves it from the disk (swap space) to the main memory. This is called demand paging.</a:t>
            </a:r>
          </a:p>
          <a:p>
            <a:r>
              <a:rPr lang="en-US" altLang="zh-TW" sz="2400" dirty="0"/>
              <a:t>If a reference to a page has not yet been mapped, this triggers a page fault. To bring a new page into the main memory, the OS must find a victim page to replace. Page replacement is similar to cache line replacement.</a:t>
            </a:r>
          </a:p>
          <a:p>
            <a:r>
              <a:rPr lang="en-US" altLang="zh-TW" sz="2400" dirty="0"/>
              <a:t> A one-level page table is often used for 32-bit addressing, but it does not work for 64-bit addressing. </a:t>
            </a:r>
          </a:p>
          <a:p>
            <a:endParaRPr lang="en-US" altLang="zh-TW" sz="2400" dirty="0"/>
          </a:p>
          <a:p>
            <a:endParaRPr lang="en-US" altLang="zh-TW" sz="2400" dirty="0"/>
          </a:p>
        </p:txBody>
      </p:sp>
      <p:sp>
        <p:nvSpPr>
          <p:cNvPr id="93188" name="投影片編號版面配置區 1"/>
          <p:cNvSpPr>
            <a:spLocks noGrp="1"/>
          </p:cNvSpPr>
          <p:nvPr>
            <p:ph type="sldNum" sz="quarter" idx="4294967295"/>
          </p:nvPr>
        </p:nvSpPr>
        <p:spPr>
          <a:noFill/>
          <a:ln>
            <a:miter lim="800000"/>
          </a:ln>
        </p:spPr>
        <p:txBody>
          <a:bodyPr/>
          <a:lstStyle/>
          <a:p>
            <a:pPr defTabSz="761981"/>
            <a:fld id="{0CDB792D-FB33-413D-99DB-E32812FE13D9}" type="slidenum">
              <a:rPr lang="zh-TW" altLang="en-US"/>
              <a:pPr defTabSz="761981"/>
              <a:t>17</a:t>
            </a:fld>
            <a:endParaRPr lang="en-US" altLang="zh-TW"/>
          </a:p>
        </p:txBody>
      </p:sp>
    </p:spTree>
    <p:extLst>
      <p:ext uri="{BB962C8B-B14F-4D97-AF65-F5344CB8AC3E}">
        <p14:creationId xmlns:p14="http://schemas.microsoft.com/office/powerpoint/2010/main" val="1232288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1206631" y="173039"/>
            <a:ext cx="9099420" cy="643951"/>
          </a:xfrm>
        </p:spPr>
        <p:txBody>
          <a:bodyPr/>
          <a:lstStyle/>
          <a:p>
            <a:r>
              <a:rPr lang="en-US" altLang="zh-TW" dirty="0"/>
              <a:t>Impact of Paging - Huge Page Table</a:t>
            </a:r>
          </a:p>
        </p:txBody>
      </p:sp>
      <p:sp>
        <p:nvSpPr>
          <p:cNvPr id="93187" name="Rectangle 3"/>
          <p:cNvSpPr>
            <a:spLocks noGrp="1" noChangeArrowheads="1"/>
          </p:cNvSpPr>
          <p:nvPr>
            <p:ph type="body" idx="1"/>
          </p:nvPr>
        </p:nvSpPr>
        <p:spPr>
          <a:xfrm>
            <a:off x="807396" y="1045029"/>
            <a:ext cx="10223461" cy="4770363"/>
          </a:xfrm>
        </p:spPr>
        <p:txBody>
          <a:bodyPr/>
          <a:lstStyle/>
          <a:p>
            <a:r>
              <a:rPr lang="en-US" altLang="zh-TW" sz="2667" dirty="0"/>
              <a:t>Page table occupies storage</a:t>
            </a:r>
          </a:p>
          <a:p>
            <a:pPr marL="0" indent="0" defTabSz="1219170">
              <a:buClr>
                <a:srgbClr val="8064A2"/>
              </a:buClr>
              <a:buNone/>
              <a:defRPr/>
            </a:pPr>
            <a:r>
              <a:rPr lang="en-US" altLang="zh-TW" sz="2667" dirty="0">
                <a:solidFill>
                  <a:prstClr val="black"/>
                </a:solidFill>
              </a:rPr>
              <a:t>     32-bit VA, 4KB page, 4bytes/entry =&gt; 2</a:t>
            </a:r>
            <a:r>
              <a:rPr lang="en-US" altLang="zh-TW" sz="2667" baseline="30000" dirty="0">
                <a:solidFill>
                  <a:prstClr val="black"/>
                </a:solidFill>
              </a:rPr>
              <a:t>20</a:t>
            </a:r>
            <a:r>
              <a:rPr lang="en-US" altLang="zh-TW" sz="2667" dirty="0">
                <a:solidFill>
                  <a:prstClr val="black"/>
                </a:solidFill>
              </a:rPr>
              <a:t> PTE, 4MB table</a:t>
            </a:r>
          </a:p>
          <a:p>
            <a:pPr marL="0" indent="0" defTabSz="1219170">
              <a:buClr>
                <a:srgbClr val="8064A2"/>
              </a:buClr>
              <a:buNone/>
              <a:defRPr/>
            </a:pPr>
            <a:r>
              <a:rPr lang="en-US" altLang="zh-TW" sz="2667" dirty="0">
                <a:solidFill>
                  <a:prstClr val="black"/>
                </a:solidFill>
              </a:rPr>
              <a:t>     64-bit VA, 4KB page, 4bytes/entry =&gt; 2</a:t>
            </a:r>
            <a:r>
              <a:rPr lang="en-US" altLang="zh-TW" sz="2667" baseline="30000" dirty="0">
                <a:solidFill>
                  <a:prstClr val="black"/>
                </a:solidFill>
              </a:rPr>
              <a:t>52</a:t>
            </a:r>
            <a:r>
              <a:rPr lang="en-US" altLang="zh-TW" sz="2667" dirty="0">
                <a:solidFill>
                  <a:prstClr val="black"/>
                </a:solidFill>
              </a:rPr>
              <a:t> PTE, 16EB (</a:t>
            </a:r>
            <a:r>
              <a:rPr lang="en-US" altLang="zh-TW" sz="2667" dirty="0" err="1">
                <a:solidFill>
                  <a:prstClr val="black"/>
                </a:solidFill>
              </a:rPr>
              <a:t>ExaByte</a:t>
            </a:r>
            <a:r>
              <a:rPr lang="en-US" altLang="zh-TW" sz="2667" dirty="0">
                <a:solidFill>
                  <a:prstClr val="black"/>
                </a:solidFill>
              </a:rPr>
              <a:t>)</a:t>
            </a:r>
          </a:p>
          <a:p>
            <a:pPr marL="0" indent="0" defTabSz="1219170">
              <a:buClr>
                <a:srgbClr val="8064A2"/>
              </a:buClr>
              <a:buNone/>
              <a:defRPr/>
            </a:pPr>
            <a:r>
              <a:rPr lang="en-US" altLang="zh-TW" sz="2667" dirty="0">
                <a:solidFill>
                  <a:prstClr val="black"/>
                </a:solidFill>
              </a:rPr>
              <a:t>     Reality: we only need to use 48b of VA so far, =&gt; 2</a:t>
            </a:r>
            <a:r>
              <a:rPr lang="en-US" altLang="zh-TW" sz="2667" baseline="30000" dirty="0">
                <a:solidFill>
                  <a:prstClr val="black"/>
                </a:solidFill>
              </a:rPr>
              <a:t>36</a:t>
            </a:r>
            <a:r>
              <a:rPr lang="en-US" altLang="zh-TW" sz="2667" dirty="0">
                <a:solidFill>
                  <a:prstClr val="black"/>
                </a:solidFill>
              </a:rPr>
              <a:t> PTE, 256GB table</a:t>
            </a:r>
          </a:p>
          <a:p>
            <a:pPr marL="0" indent="0" defTabSz="1219170">
              <a:buClr>
                <a:srgbClr val="8064A2"/>
              </a:buClr>
              <a:buNone/>
              <a:defRPr/>
            </a:pPr>
            <a:r>
              <a:rPr lang="en-US" altLang="zh-TW" sz="2667" dirty="0">
                <a:solidFill>
                  <a:prstClr val="black"/>
                </a:solidFill>
              </a:rPr>
              <a:t>     It is still too expensive to implement a single-level page table.</a:t>
            </a:r>
            <a:endParaRPr lang="en-US" altLang="zh-TW" sz="2667" dirty="0"/>
          </a:p>
          <a:p>
            <a:r>
              <a:rPr lang="en-US" altLang="zh-TW" sz="2667" dirty="0"/>
              <a:t> A 4-level page table is used for 48-bit VA</a:t>
            </a:r>
          </a:p>
          <a:p>
            <a:pPr lvl="1"/>
            <a:r>
              <a:rPr lang="en-US" altLang="zh-TW" sz="2133" dirty="0"/>
              <a:t> Three levels of page directory Indexing, leading to the final level of PTE, and PTE points to a physical memory frame. So the page table is no longer a large, consecutive table, but a collection of non-consecutive small tables.</a:t>
            </a:r>
          </a:p>
          <a:p>
            <a:pPr lvl="1"/>
            <a:r>
              <a:rPr lang="en-US" altLang="zh-TW" sz="2133" dirty="0"/>
              <a:t>The virtual address space is very sparse, so many PDPT (Page Directory Pointer Table) are not required, so the last level PTE requires only a small number of pages.</a:t>
            </a:r>
            <a:br>
              <a:rPr lang="en-US" altLang="zh-TW" sz="2133" dirty="0"/>
            </a:br>
            <a:endParaRPr lang="en-US" altLang="zh-TW" sz="2133" dirty="0"/>
          </a:p>
        </p:txBody>
      </p:sp>
      <p:sp>
        <p:nvSpPr>
          <p:cNvPr id="93188" name="投影片編號版面配置區 1"/>
          <p:cNvSpPr>
            <a:spLocks noGrp="1"/>
          </p:cNvSpPr>
          <p:nvPr>
            <p:ph type="sldNum" sz="quarter" idx="4294967295"/>
          </p:nvPr>
        </p:nvSpPr>
        <p:spPr>
          <a:noFill/>
          <a:ln>
            <a:miter lim="800000"/>
          </a:ln>
        </p:spPr>
        <p:txBody>
          <a:bodyPr/>
          <a:lstStyle/>
          <a:p>
            <a:pPr defTabSz="761981"/>
            <a:fld id="{0CDB792D-FB33-413D-99DB-E32812FE13D9}" type="slidenum">
              <a:rPr lang="zh-TW" altLang="en-US"/>
              <a:pPr defTabSz="761981"/>
              <a:t>18</a:t>
            </a:fld>
            <a:endParaRPr lang="en-US" altLang="zh-TW"/>
          </a:p>
        </p:txBody>
      </p:sp>
    </p:spTree>
    <p:extLst>
      <p:ext uri="{BB962C8B-B14F-4D97-AF65-F5344CB8AC3E}">
        <p14:creationId xmlns:p14="http://schemas.microsoft.com/office/powerpoint/2010/main" val="4238461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1206631" y="173039"/>
            <a:ext cx="9099420" cy="643951"/>
          </a:xfrm>
        </p:spPr>
        <p:txBody>
          <a:bodyPr/>
          <a:lstStyle/>
          <a:p>
            <a:pPr algn="ctr"/>
            <a:r>
              <a:rPr lang="en-US" altLang="en-US" dirty="0"/>
              <a:t>4-level page tables</a:t>
            </a:r>
            <a:endParaRPr lang="en-US" altLang="zh-TW" dirty="0"/>
          </a:p>
        </p:txBody>
      </p:sp>
      <p:sp>
        <p:nvSpPr>
          <p:cNvPr id="93188" name="投影片編號版面配置區 1"/>
          <p:cNvSpPr>
            <a:spLocks noGrp="1"/>
          </p:cNvSpPr>
          <p:nvPr>
            <p:ph type="sldNum" sz="quarter" idx="4294967295"/>
          </p:nvPr>
        </p:nvSpPr>
        <p:spPr>
          <a:noFill/>
          <a:ln>
            <a:miter lim="800000"/>
          </a:ln>
        </p:spPr>
        <p:txBody>
          <a:bodyPr/>
          <a:lstStyle/>
          <a:p>
            <a:pPr defTabSz="761981"/>
            <a:fld id="{0CDB792D-FB33-413D-99DB-E32812FE13D9}" type="slidenum">
              <a:rPr lang="zh-TW" altLang="en-US"/>
              <a:pPr defTabSz="761981"/>
              <a:t>19</a:t>
            </a:fld>
            <a:endParaRPr lang="en-US" altLang="zh-TW"/>
          </a:p>
        </p:txBody>
      </p:sp>
      <p:pic>
        <p:nvPicPr>
          <p:cNvPr id="7" name="Picture 3">
            <a:extLst>
              <a:ext uri="{FF2B5EF4-FFF2-40B4-BE49-F238E27FC236}">
                <a16:creationId xmlns:a16="http://schemas.microsoft.com/office/drawing/2014/main" id="{3C440E19-C68A-4F23-A7A5-0EC0F3533D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6900" y="2114551"/>
            <a:ext cx="8458200"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4">
            <a:extLst>
              <a:ext uri="{FF2B5EF4-FFF2-40B4-BE49-F238E27FC236}">
                <a16:creationId xmlns:a16="http://schemas.microsoft.com/office/drawing/2014/main" id="{962DEB84-E096-452B-942F-39F942619CDF}"/>
              </a:ext>
            </a:extLst>
          </p:cNvPr>
          <p:cNvSpPr txBox="1">
            <a:spLocks noChangeArrowheads="1"/>
          </p:cNvSpPr>
          <p:nvPr/>
        </p:nvSpPr>
        <p:spPr bwMode="auto">
          <a:xfrm>
            <a:off x="1671837" y="1160443"/>
            <a:ext cx="8810874"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defTabSz="914377" eaLnBrk="0" fontAlgn="base" hangingPunct="0">
              <a:spcBef>
                <a:spcPct val="0"/>
              </a:spcBef>
              <a:spcAft>
                <a:spcPct val="0"/>
              </a:spcAft>
              <a:buClrTx/>
              <a:buSzTx/>
              <a:buNone/>
            </a:pPr>
            <a:r>
              <a:rPr kumimoji="0" lang="en-US" altLang="en-US" dirty="0">
                <a:solidFill>
                  <a:srgbClr val="000000"/>
                </a:solidFill>
                <a:latin typeface="Verdana" panose="020B0604030504040204" pitchFamily="34" charset="0"/>
              </a:rPr>
              <a:t>Modern 64bit x86 based systems (including AMD64 and Intel64) typically </a:t>
            </a:r>
          </a:p>
          <a:p>
            <a:pPr defTabSz="914377" eaLnBrk="0" fontAlgn="base" hangingPunct="0">
              <a:spcBef>
                <a:spcPct val="0"/>
              </a:spcBef>
              <a:spcAft>
                <a:spcPct val="0"/>
              </a:spcAft>
              <a:buClrTx/>
              <a:buSzTx/>
              <a:buNone/>
            </a:pPr>
            <a:r>
              <a:rPr kumimoji="0" lang="en-US" altLang="en-US" dirty="0">
                <a:solidFill>
                  <a:srgbClr val="000000"/>
                </a:solidFill>
                <a:latin typeface="Verdana" panose="020B0604030504040204" pitchFamily="34" charset="0"/>
              </a:rPr>
              <a:t>use 4-level page table structures. This has three levels of directory </a:t>
            </a:r>
          </a:p>
          <a:p>
            <a:pPr defTabSz="914377" eaLnBrk="0" fontAlgn="base" hangingPunct="0">
              <a:spcBef>
                <a:spcPct val="0"/>
              </a:spcBef>
              <a:spcAft>
                <a:spcPct val="0"/>
              </a:spcAft>
              <a:buClrTx/>
              <a:buSzTx/>
              <a:buNone/>
            </a:pPr>
            <a:r>
              <a:rPr kumimoji="0" lang="en-US" altLang="en-US" dirty="0">
                <a:solidFill>
                  <a:srgbClr val="000000"/>
                </a:solidFill>
                <a:latin typeface="Verdana" panose="020B0604030504040204" pitchFamily="34" charset="0"/>
              </a:rPr>
              <a:t>and one level of PTE</a:t>
            </a:r>
          </a:p>
        </p:txBody>
      </p:sp>
    </p:spTree>
    <p:extLst>
      <p:ext uri="{BB962C8B-B14F-4D97-AF65-F5344CB8AC3E}">
        <p14:creationId xmlns:p14="http://schemas.microsoft.com/office/powerpoint/2010/main" val="41318384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3B8F74C-8D66-48CC-BD38-2A20BF055332}"/>
              </a:ext>
            </a:extLst>
          </p:cNvPr>
          <p:cNvSpPr>
            <a:spLocks noGrp="1"/>
          </p:cNvSpPr>
          <p:nvPr>
            <p:ph type="sldNum" sz="quarter" idx="10"/>
          </p:nvPr>
        </p:nvSpPr>
        <p:spPr/>
        <p:txBody>
          <a:bodyPr/>
          <a:lstStyle/>
          <a:p>
            <a:fld id="{D9B6BDF2-6896-4B98-8776-C18582F63BA5}" type="slidenum">
              <a:rPr lang="zh-TW" altLang="en-US" smtClean="0"/>
              <a:pPr/>
              <a:t>20</a:t>
            </a:fld>
            <a:endParaRPr lang="zh-TW" altLang="en-US"/>
          </a:p>
        </p:txBody>
      </p:sp>
      <p:sp>
        <p:nvSpPr>
          <p:cNvPr id="5" name="TextBox 4">
            <a:extLst>
              <a:ext uri="{FF2B5EF4-FFF2-40B4-BE49-F238E27FC236}">
                <a16:creationId xmlns:a16="http://schemas.microsoft.com/office/drawing/2014/main" id="{D5BABDF7-66D4-4E6D-9FB2-E631C879FCE2}"/>
              </a:ext>
            </a:extLst>
          </p:cNvPr>
          <p:cNvSpPr txBox="1"/>
          <p:nvPr/>
        </p:nvSpPr>
        <p:spPr>
          <a:xfrm>
            <a:off x="1037853" y="154041"/>
            <a:ext cx="10820956" cy="584775"/>
          </a:xfrm>
          <a:prstGeom prst="rect">
            <a:avLst/>
          </a:prstGeom>
          <a:noFill/>
        </p:spPr>
        <p:txBody>
          <a:bodyPr wrap="square">
            <a:spAutoFit/>
          </a:bodyPr>
          <a:lstStyle/>
          <a:p>
            <a:pPr defTabSz="914377" eaLnBrk="0" fontAlgn="base" hangingPunct="0">
              <a:spcBef>
                <a:spcPct val="0"/>
              </a:spcBef>
              <a:spcAft>
                <a:spcPct val="0"/>
              </a:spcAft>
              <a:buClrTx/>
              <a:buSzTx/>
              <a:buNone/>
            </a:pPr>
            <a:r>
              <a:rPr kumimoji="0" lang="en-US" altLang="en-US" sz="3200" dirty="0">
                <a:solidFill>
                  <a:srgbClr val="000000"/>
                </a:solidFill>
                <a:latin typeface="Verdana" panose="020B0604030504040204" pitchFamily="34" charset="0"/>
              </a:rPr>
              <a:t>Multi-</a:t>
            </a:r>
            <a:r>
              <a:rPr lang="en-US" altLang="en-US" sz="3200" dirty="0">
                <a:solidFill>
                  <a:srgbClr val="000000"/>
                </a:solidFill>
                <a:latin typeface="Verdana" panose="020B0604030504040204" pitchFamily="34" charset="0"/>
              </a:rPr>
              <a:t>Level Indexing Slices VA into Smaller Chunks</a:t>
            </a:r>
            <a:endParaRPr kumimoji="0" lang="en-US" altLang="en-US" sz="3200" dirty="0">
              <a:solidFill>
                <a:srgbClr val="000000"/>
              </a:solidFill>
              <a:latin typeface="Verdana" panose="020B0604030504040204" pitchFamily="34" charset="0"/>
            </a:endParaRPr>
          </a:p>
        </p:txBody>
      </p:sp>
      <p:sp>
        <p:nvSpPr>
          <p:cNvPr id="7" name="TextBox 6">
            <a:extLst>
              <a:ext uri="{FF2B5EF4-FFF2-40B4-BE49-F238E27FC236}">
                <a16:creationId xmlns:a16="http://schemas.microsoft.com/office/drawing/2014/main" id="{2CF657EB-7400-462D-8E15-1F31BBE88F00}"/>
              </a:ext>
            </a:extLst>
          </p:cNvPr>
          <p:cNvSpPr txBox="1"/>
          <p:nvPr/>
        </p:nvSpPr>
        <p:spPr>
          <a:xfrm>
            <a:off x="542925" y="1110734"/>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8" name="TextBox 7">
            <a:extLst>
              <a:ext uri="{FF2B5EF4-FFF2-40B4-BE49-F238E27FC236}">
                <a16:creationId xmlns:a16="http://schemas.microsoft.com/office/drawing/2014/main" id="{38BC1FB4-5AF7-495A-A429-B6F16F5AB2AE}"/>
              </a:ext>
            </a:extLst>
          </p:cNvPr>
          <p:cNvSpPr txBox="1"/>
          <p:nvPr/>
        </p:nvSpPr>
        <p:spPr>
          <a:xfrm>
            <a:off x="542925" y="1485900"/>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9" name="TextBox 8">
            <a:extLst>
              <a:ext uri="{FF2B5EF4-FFF2-40B4-BE49-F238E27FC236}">
                <a16:creationId xmlns:a16="http://schemas.microsoft.com/office/drawing/2014/main" id="{C22CD657-6C66-414A-98A6-F58250CC4CDB}"/>
              </a:ext>
            </a:extLst>
          </p:cNvPr>
          <p:cNvSpPr txBox="1"/>
          <p:nvPr/>
        </p:nvSpPr>
        <p:spPr>
          <a:xfrm>
            <a:off x="542925" y="1855232"/>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10" name="TextBox 9">
            <a:extLst>
              <a:ext uri="{FF2B5EF4-FFF2-40B4-BE49-F238E27FC236}">
                <a16:creationId xmlns:a16="http://schemas.microsoft.com/office/drawing/2014/main" id="{EE71FDE7-E38C-4FBE-9CEC-265275C7445A}"/>
              </a:ext>
            </a:extLst>
          </p:cNvPr>
          <p:cNvSpPr txBox="1"/>
          <p:nvPr/>
        </p:nvSpPr>
        <p:spPr>
          <a:xfrm>
            <a:off x="542925" y="2230398"/>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11" name="TextBox 10">
            <a:extLst>
              <a:ext uri="{FF2B5EF4-FFF2-40B4-BE49-F238E27FC236}">
                <a16:creationId xmlns:a16="http://schemas.microsoft.com/office/drawing/2014/main" id="{C6E3736B-FBF2-4A8B-BC01-6CBE2E4A07D3}"/>
              </a:ext>
            </a:extLst>
          </p:cNvPr>
          <p:cNvSpPr txBox="1"/>
          <p:nvPr/>
        </p:nvSpPr>
        <p:spPr>
          <a:xfrm>
            <a:off x="542925" y="2593896"/>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12" name="TextBox 11">
            <a:extLst>
              <a:ext uri="{FF2B5EF4-FFF2-40B4-BE49-F238E27FC236}">
                <a16:creationId xmlns:a16="http://schemas.microsoft.com/office/drawing/2014/main" id="{E320817D-0EB0-43AF-8AF5-A09D66F44E64}"/>
              </a:ext>
            </a:extLst>
          </p:cNvPr>
          <p:cNvSpPr txBox="1"/>
          <p:nvPr/>
        </p:nvSpPr>
        <p:spPr>
          <a:xfrm>
            <a:off x="542925" y="2969062"/>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13" name="TextBox 12">
            <a:extLst>
              <a:ext uri="{FF2B5EF4-FFF2-40B4-BE49-F238E27FC236}">
                <a16:creationId xmlns:a16="http://schemas.microsoft.com/office/drawing/2014/main" id="{724829C6-71DB-428B-88F9-C7017F2BE8CE}"/>
              </a:ext>
            </a:extLst>
          </p:cNvPr>
          <p:cNvSpPr txBox="1"/>
          <p:nvPr/>
        </p:nvSpPr>
        <p:spPr>
          <a:xfrm>
            <a:off x="542925" y="3338394"/>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14" name="TextBox 13">
            <a:extLst>
              <a:ext uri="{FF2B5EF4-FFF2-40B4-BE49-F238E27FC236}">
                <a16:creationId xmlns:a16="http://schemas.microsoft.com/office/drawing/2014/main" id="{11FCE9DF-E585-48E6-AC6A-4CDC79CA7ACE}"/>
              </a:ext>
            </a:extLst>
          </p:cNvPr>
          <p:cNvSpPr txBox="1"/>
          <p:nvPr/>
        </p:nvSpPr>
        <p:spPr>
          <a:xfrm>
            <a:off x="542925" y="3713560"/>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15" name="TextBox 14">
            <a:extLst>
              <a:ext uri="{FF2B5EF4-FFF2-40B4-BE49-F238E27FC236}">
                <a16:creationId xmlns:a16="http://schemas.microsoft.com/office/drawing/2014/main" id="{448FE000-ABB6-4AB6-82AF-49CD5B2BF621}"/>
              </a:ext>
            </a:extLst>
          </p:cNvPr>
          <p:cNvSpPr txBox="1"/>
          <p:nvPr/>
        </p:nvSpPr>
        <p:spPr>
          <a:xfrm>
            <a:off x="542925" y="4088726"/>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16" name="TextBox 15">
            <a:extLst>
              <a:ext uri="{FF2B5EF4-FFF2-40B4-BE49-F238E27FC236}">
                <a16:creationId xmlns:a16="http://schemas.microsoft.com/office/drawing/2014/main" id="{4CEC96F7-FD9F-45E4-822F-40A8FE9F263C}"/>
              </a:ext>
            </a:extLst>
          </p:cNvPr>
          <p:cNvSpPr txBox="1"/>
          <p:nvPr/>
        </p:nvSpPr>
        <p:spPr>
          <a:xfrm>
            <a:off x="542925" y="4463892"/>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17" name="TextBox 16">
            <a:extLst>
              <a:ext uri="{FF2B5EF4-FFF2-40B4-BE49-F238E27FC236}">
                <a16:creationId xmlns:a16="http://schemas.microsoft.com/office/drawing/2014/main" id="{A3210725-AFDC-4498-B04D-6AD5E8289FF7}"/>
              </a:ext>
            </a:extLst>
          </p:cNvPr>
          <p:cNvSpPr txBox="1"/>
          <p:nvPr/>
        </p:nvSpPr>
        <p:spPr>
          <a:xfrm>
            <a:off x="542925" y="4833224"/>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18" name="TextBox 17">
            <a:extLst>
              <a:ext uri="{FF2B5EF4-FFF2-40B4-BE49-F238E27FC236}">
                <a16:creationId xmlns:a16="http://schemas.microsoft.com/office/drawing/2014/main" id="{7AC80B1D-BACA-4FDE-AD19-89658B563D43}"/>
              </a:ext>
            </a:extLst>
          </p:cNvPr>
          <p:cNvSpPr txBox="1"/>
          <p:nvPr/>
        </p:nvSpPr>
        <p:spPr>
          <a:xfrm>
            <a:off x="542925" y="5208390"/>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19" name="TextBox 18">
            <a:extLst>
              <a:ext uri="{FF2B5EF4-FFF2-40B4-BE49-F238E27FC236}">
                <a16:creationId xmlns:a16="http://schemas.microsoft.com/office/drawing/2014/main" id="{B78CD91F-DC2D-4E4E-AD79-F4746FB153C1}"/>
              </a:ext>
            </a:extLst>
          </p:cNvPr>
          <p:cNvSpPr txBox="1"/>
          <p:nvPr/>
        </p:nvSpPr>
        <p:spPr>
          <a:xfrm>
            <a:off x="144018" y="5583556"/>
            <a:ext cx="2095445" cy="646331"/>
          </a:xfrm>
          <a:prstGeom prst="rect">
            <a:avLst/>
          </a:prstGeom>
          <a:noFill/>
        </p:spPr>
        <p:txBody>
          <a:bodyPr wrap="none" rtlCol="0" anchor="ctr" anchorCtr="1">
            <a:spAutoFit/>
          </a:bodyPr>
          <a:lstStyle/>
          <a:p>
            <a:r>
              <a:rPr lang="en-US" dirty="0">
                <a:ea typeface="標楷體" pitchFamily="65" charset="-120"/>
                <a:cs typeface="Calibri" pitchFamily="34" charset="0"/>
              </a:rPr>
              <a:t>One level Indexing</a:t>
            </a:r>
          </a:p>
          <a:p>
            <a:endParaRPr lang="en-US" dirty="0">
              <a:ea typeface="標楷體" pitchFamily="65" charset="-120"/>
              <a:cs typeface="Calibri" pitchFamily="34" charset="0"/>
            </a:endParaRPr>
          </a:p>
        </p:txBody>
      </p:sp>
      <p:cxnSp>
        <p:nvCxnSpPr>
          <p:cNvPr id="21" name="Straight Arrow Connector 20">
            <a:extLst>
              <a:ext uri="{FF2B5EF4-FFF2-40B4-BE49-F238E27FC236}">
                <a16:creationId xmlns:a16="http://schemas.microsoft.com/office/drawing/2014/main" id="{2A7D1BF1-EE9F-4EC1-967C-5D57511E48F9}"/>
              </a:ext>
            </a:extLst>
          </p:cNvPr>
          <p:cNvCxnSpPr/>
          <p:nvPr/>
        </p:nvCxnSpPr>
        <p:spPr bwMode="auto">
          <a:xfrm flipV="1">
            <a:off x="847725" y="1159818"/>
            <a:ext cx="1095375" cy="120460"/>
          </a:xfrm>
          <a:prstGeom prst="straightConnector1">
            <a:avLst/>
          </a:prstGeom>
          <a:noFill/>
          <a:ln w="15875" cap="flat" cmpd="sng" algn="ctr">
            <a:solidFill>
              <a:srgbClr val="FF0000"/>
            </a:solidFill>
            <a:prstDash val="solid"/>
            <a:round/>
            <a:headEnd type="none" w="med" len="med"/>
            <a:tailEnd type="triangle"/>
          </a:ln>
          <a:effectLst/>
        </p:spPr>
      </p:cxnSp>
      <p:cxnSp>
        <p:nvCxnSpPr>
          <p:cNvPr id="22" name="Straight Arrow Connector 21">
            <a:extLst>
              <a:ext uri="{FF2B5EF4-FFF2-40B4-BE49-F238E27FC236}">
                <a16:creationId xmlns:a16="http://schemas.microsoft.com/office/drawing/2014/main" id="{6B739455-0ECA-4CA3-868A-B3F7D0697917}"/>
              </a:ext>
            </a:extLst>
          </p:cNvPr>
          <p:cNvCxnSpPr>
            <a:cxnSpLocks/>
          </p:cNvCxnSpPr>
          <p:nvPr/>
        </p:nvCxnSpPr>
        <p:spPr bwMode="auto">
          <a:xfrm>
            <a:off x="812499" y="4580098"/>
            <a:ext cx="1095375" cy="178832"/>
          </a:xfrm>
          <a:prstGeom prst="straightConnector1">
            <a:avLst/>
          </a:prstGeom>
          <a:noFill/>
          <a:ln w="15875" cap="flat" cmpd="sng" algn="ctr">
            <a:solidFill>
              <a:srgbClr val="FF0000"/>
            </a:solidFill>
            <a:prstDash val="solid"/>
            <a:round/>
            <a:headEnd type="none" w="med" len="med"/>
            <a:tailEnd type="triangle"/>
          </a:ln>
          <a:effectLst/>
        </p:spPr>
      </p:cxnSp>
      <p:cxnSp>
        <p:nvCxnSpPr>
          <p:cNvPr id="24" name="Straight Arrow Connector 23">
            <a:extLst>
              <a:ext uri="{FF2B5EF4-FFF2-40B4-BE49-F238E27FC236}">
                <a16:creationId xmlns:a16="http://schemas.microsoft.com/office/drawing/2014/main" id="{C70019D9-E76E-47CD-8A52-93986B185B46}"/>
              </a:ext>
            </a:extLst>
          </p:cNvPr>
          <p:cNvCxnSpPr/>
          <p:nvPr/>
        </p:nvCxnSpPr>
        <p:spPr bwMode="auto">
          <a:xfrm flipV="1">
            <a:off x="847725" y="5251640"/>
            <a:ext cx="1095375" cy="120460"/>
          </a:xfrm>
          <a:prstGeom prst="straightConnector1">
            <a:avLst/>
          </a:prstGeom>
          <a:noFill/>
          <a:ln w="15875" cap="flat" cmpd="sng" algn="ctr">
            <a:solidFill>
              <a:srgbClr val="FF0000"/>
            </a:solidFill>
            <a:prstDash val="solid"/>
            <a:round/>
            <a:headEnd type="none" w="med" len="med"/>
            <a:tailEnd type="triangle"/>
          </a:ln>
          <a:effectLst/>
        </p:spPr>
      </p:cxnSp>
      <p:cxnSp>
        <p:nvCxnSpPr>
          <p:cNvPr id="25" name="Straight Arrow Connector 24">
            <a:extLst>
              <a:ext uri="{FF2B5EF4-FFF2-40B4-BE49-F238E27FC236}">
                <a16:creationId xmlns:a16="http://schemas.microsoft.com/office/drawing/2014/main" id="{2BBFAA70-CDAB-4811-A46F-68DF948DE094}"/>
              </a:ext>
            </a:extLst>
          </p:cNvPr>
          <p:cNvCxnSpPr/>
          <p:nvPr/>
        </p:nvCxnSpPr>
        <p:spPr bwMode="auto">
          <a:xfrm flipV="1">
            <a:off x="836312" y="1540268"/>
            <a:ext cx="1095375" cy="120460"/>
          </a:xfrm>
          <a:prstGeom prst="straightConnector1">
            <a:avLst/>
          </a:prstGeom>
          <a:noFill/>
          <a:ln w="15875" cap="flat" cmpd="sng" algn="ctr">
            <a:solidFill>
              <a:srgbClr val="FF0000"/>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9DD445CF-1071-4D97-A4ED-3C1A6156EA56}"/>
              </a:ext>
            </a:extLst>
          </p:cNvPr>
          <p:cNvCxnSpPr>
            <a:cxnSpLocks/>
          </p:cNvCxnSpPr>
          <p:nvPr/>
        </p:nvCxnSpPr>
        <p:spPr bwMode="auto">
          <a:xfrm flipV="1">
            <a:off x="836312" y="4414140"/>
            <a:ext cx="1071562" cy="645704"/>
          </a:xfrm>
          <a:prstGeom prst="straightConnector1">
            <a:avLst/>
          </a:prstGeom>
          <a:noFill/>
          <a:ln w="15875" cap="flat" cmpd="sng" algn="ctr">
            <a:solidFill>
              <a:srgbClr val="FF0000"/>
            </a:solidFill>
            <a:prstDash val="solid"/>
            <a:round/>
            <a:headEnd type="none" w="med" len="med"/>
            <a:tailEnd type="triangle"/>
          </a:ln>
          <a:effectLst/>
        </p:spPr>
      </p:cxnSp>
      <p:sp>
        <p:nvSpPr>
          <p:cNvPr id="28" name="TextBox 27">
            <a:extLst>
              <a:ext uri="{FF2B5EF4-FFF2-40B4-BE49-F238E27FC236}">
                <a16:creationId xmlns:a16="http://schemas.microsoft.com/office/drawing/2014/main" id="{506C4C04-9EEB-441B-AA78-59521469BD33}"/>
              </a:ext>
            </a:extLst>
          </p:cNvPr>
          <p:cNvSpPr txBox="1"/>
          <p:nvPr/>
        </p:nvSpPr>
        <p:spPr>
          <a:xfrm>
            <a:off x="8536517" y="1399002"/>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29" name="TextBox 28">
            <a:extLst>
              <a:ext uri="{FF2B5EF4-FFF2-40B4-BE49-F238E27FC236}">
                <a16:creationId xmlns:a16="http://schemas.microsoft.com/office/drawing/2014/main" id="{AA1E5787-BC90-4953-A672-8C4D8A86D27E}"/>
              </a:ext>
            </a:extLst>
          </p:cNvPr>
          <p:cNvSpPr txBox="1"/>
          <p:nvPr/>
        </p:nvSpPr>
        <p:spPr>
          <a:xfrm>
            <a:off x="8536517" y="1774168"/>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30" name="TextBox 29">
            <a:extLst>
              <a:ext uri="{FF2B5EF4-FFF2-40B4-BE49-F238E27FC236}">
                <a16:creationId xmlns:a16="http://schemas.microsoft.com/office/drawing/2014/main" id="{410C6C2B-5E9B-4D6B-9A99-198C25DF8549}"/>
              </a:ext>
            </a:extLst>
          </p:cNvPr>
          <p:cNvSpPr txBox="1"/>
          <p:nvPr/>
        </p:nvSpPr>
        <p:spPr>
          <a:xfrm>
            <a:off x="8536517" y="2143500"/>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31" name="TextBox 30">
            <a:extLst>
              <a:ext uri="{FF2B5EF4-FFF2-40B4-BE49-F238E27FC236}">
                <a16:creationId xmlns:a16="http://schemas.microsoft.com/office/drawing/2014/main" id="{42AF4A0A-4DFE-4581-881B-378E79C5A0D4}"/>
              </a:ext>
            </a:extLst>
          </p:cNvPr>
          <p:cNvSpPr txBox="1"/>
          <p:nvPr/>
        </p:nvSpPr>
        <p:spPr>
          <a:xfrm>
            <a:off x="8536517" y="2518666"/>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32" name="TextBox 31">
            <a:extLst>
              <a:ext uri="{FF2B5EF4-FFF2-40B4-BE49-F238E27FC236}">
                <a16:creationId xmlns:a16="http://schemas.microsoft.com/office/drawing/2014/main" id="{6CBEF5D1-2765-465A-8648-4B19BBAA932B}"/>
              </a:ext>
            </a:extLst>
          </p:cNvPr>
          <p:cNvSpPr txBox="1"/>
          <p:nvPr/>
        </p:nvSpPr>
        <p:spPr>
          <a:xfrm>
            <a:off x="8536517" y="1108148"/>
            <a:ext cx="633507" cy="369332"/>
          </a:xfrm>
          <a:prstGeom prst="rect">
            <a:avLst/>
          </a:prstGeom>
          <a:noFill/>
        </p:spPr>
        <p:txBody>
          <a:bodyPr wrap="none" rtlCol="0" anchor="ctr" anchorCtr="1">
            <a:spAutoFit/>
          </a:bodyPr>
          <a:lstStyle/>
          <a:p>
            <a:r>
              <a:rPr lang="en-US" dirty="0">
                <a:ea typeface="標楷體" pitchFamily="65" charset="-120"/>
                <a:cs typeface="Calibri" pitchFamily="34" charset="0"/>
              </a:rPr>
              <a:t>PTE</a:t>
            </a:r>
          </a:p>
        </p:txBody>
      </p:sp>
      <p:sp>
        <p:nvSpPr>
          <p:cNvPr id="33" name="TextBox 32">
            <a:extLst>
              <a:ext uri="{FF2B5EF4-FFF2-40B4-BE49-F238E27FC236}">
                <a16:creationId xmlns:a16="http://schemas.microsoft.com/office/drawing/2014/main" id="{05438BB9-EF01-4906-B83F-47A5FD80CA29}"/>
              </a:ext>
            </a:extLst>
          </p:cNvPr>
          <p:cNvSpPr txBox="1"/>
          <p:nvPr/>
        </p:nvSpPr>
        <p:spPr>
          <a:xfrm>
            <a:off x="7818581" y="1841390"/>
            <a:ext cx="902811" cy="646331"/>
          </a:xfrm>
          <a:prstGeom prst="rect">
            <a:avLst/>
          </a:prstGeom>
          <a:noFill/>
        </p:spPr>
        <p:txBody>
          <a:bodyPr wrap="none" rtlCol="0" anchor="ctr" anchorCtr="1">
            <a:spAutoFit/>
          </a:bodyPr>
          <a:lstStyle/>
          <a:p>
            <a:r>
              <a:rPr lang="en-US" dirty="0">
                <a:ea typeface="標楷體" pitchFamily="65" charset="-120"/>
                <a:cs typeface="Calibri" pitchFamily="34" charset="0"/>
              </a:rPr>
              <a:t>512</a:t>
            </a:r>
          </a:p>
          <a:p>
            <a:r>
              <a:rPr lang="en-US" dirty="0">
                <a:ea typeface="標楷體" pitchFamily="65" charset="-120"/>
                <a:cs typeface="Calibri" pitchFamily="34" charset="0"/>
              </a:rPr>
              <a:t>Entries</a:t>
            </a:r>
          </a:p>
        </p:txBody>
      </p:sp>
      <p:sp>
        <p:nvSpPr>
          <p:cNvPr id="34" name="TextBox 33">
            <a:extLst>
              <a:ext uri="{FF2B5EF4-FFF2-40B4-BE49-F238E27FC236}">
                <a16:creationId xmlns:a16="http://schemas.microsoft.com/office/drawing/2014/main" id="{F061F410-6355-4B8B-B601-DAA23B5B71FC}"/>
              </a:ext>
            </a:extLst>
          </p:cNvPr>
          <p:cNvSpPr txBox="1"/>
          <p:nvPr/>
        </p:nvSpPr>
        <p:spPr>
          <a:xfrm>
            <a:off x="8536517" y="2969062"/>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35" name="TextBox 34">
            <a:extLst>
              <a:ext uri="{FF2B5EF4-FFF2-40B4-BE49-F238E27FC236}">
                <a16:creationId xmlns:a16="http://schemas.microsoft.com/office/drawing/2014/main" id="{EF3F458A-8025-4EBF-8C5D-10DE98AEA2AD}"/>
              </a:ext>
            </a:extLst>
          </p:cNvPr>
          <p:cNvSpPr txBox="1"/>
          <p:nvPr/>
        </p:nvSpPr>
        <p:spPr>
          <a:xfrm>
            <a:off x="8536517" y="3344228"/>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36" name="TextBox 35">
            <a:extLst>
              <a:ext uri="{FF2B5EF4-FFF2-40B4-BE49-F238E27FC236}">
                <a16:creationId xmlns:a16="http://schemas.microsoft.com/office/drawing/2014/main" id="{A968DA0B-B62D-4061-AC89-82A625477C4B}"/>
              </a:ext>
            </a:extLst>
          </p:cNvPr>
          <p:cNvSpPr txBox="1"/>
          <p:nvPr/>
        </p:nvSpPr>
        <p:spPr>
          <a:xfrm>
            <a:off x="8536517" y="3713560"/>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37" name="TextBox 36">
            <a:extLst>
              <a:ext uri="{FF2B5EF4-FFF2-40B4-BE49-F238E27FC236}">
                <a16:creationId xmlns:a16="http://schemas.microsoft.com/office/drawing/2014/main" id="{1469EE8F-4544-4046-98F3-9DB4A36B6D08}"/>
              </a:ext>
            </a:extLst>
          </p:cNvPr>
          <p:cNvSpPr txBox="1"/>
          <p:nvPr/>
        </p:nvSpPr>
        <p:spPr>
          <a:xfrm>
            <a:off x="8536517" y="4088726"/>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38" name="TextBox 37">
            <a:extLst>
              <a:ext uri="{FF2B5EF4-FFF2-40B4-BE49-F238E27FC236}">
                <a16:creationId xmlns:a16="http://schemas.microsoft.com/office/drawing/2014/main" id="{9AB4C295-EC66-423F-A501-C3149D41696E}"/>
              </a:ext>
            </a:extLst>
          </p:cNvPr>
          <p:cNvSpPr txBox="1"/>
          <p:nvPr/>
        </p:nvSpPr>
        <p:spPr>
          <a:xfrm>
            <a:off x="8517467" y="4592928"/>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39" name="TextBox 38">
            <a:extLst>
              <a:ext uri="{FF2B5EF4-FFF2-40B4-BE49-F238E27FC236}">
                <a16:creationId xmlns:a16="http://schemas.microsoft.com/office/drawing/2014/main" id="{26A0F7E9-2AE6-4B37-9979-3B56800E8D36}"/>
              </a:ext>
            </a:extLst>
          </p:cNvPr>
          <p:cNvSpPr txBox="1"/>
          <p:nvPr/>
        </p:nvSpPr>
        <p:spPr>
          <a:xfrm>
            <a:off x="8517467" y="4968094"/>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40" name="TextBox 39">
            <a:extLst>
              <a:ext uri="{FF2B5EF4-FFF2-40B4-BE49-F238E27FC236}">
                <a16:creationId xmlns:a16="http://schemas.microsoft.com/office/drawing/2014/main" id="{E28032EA-46E6-4578-A633-A9872584AD08}"/>
              </a:ext>
            </a:extLst>
          </p:cNvPr>
          <p:cNvSpPr txBox="1"/>
          <p:nvPr/>
        </p:nvSpPr>
        <p:spPr>
          <a:xfrm>
            <a:off x="8517467" y="5337426"/>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41" name="TextBox 40">
            <a:extLst>
              <a:ext uri="{FF2B5EF4-FFF2-40B4-BE49-F238E27FC236}">
                <a16:creationId xmlns:a16="http://schemas.microsoft.com/office/drawing/2014/main" id="{E99D0EEE-6692-4A59-AD09-21440D83BEA4}"/>
              </a:ext>
            </a:extLst>
          </p:cNvPr>
          <p:cNvSpPr txBox="1"/>
          <p:nvPr/>
        </p:nvSpPr>
        <p:spPr>
          <a:xfrm>
            <a:off x="8517467" y="5712592"/>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42" name="TextBox 41">
            <a:extLst>
              <a:ext uri="{FF2B5EF4-FFF2-40B4-BE49-F238E27FC236}">
                <a16:creationId xmlns:a16="http://schemas.microsoft.com/office/drawing/2014/main" id="{45F52E3B-3F2C-4D9A-984F-A3E209590D8B}"/>
              </a:ext>
            </a:extLst>
          </p:cNvPr>
          <p:cNvSpPr txBox="1"/>
          <p:nvPr/>
        </p:nvSpPr>
        <p:spPr>
          <a:xfrm>
            <a:off x="6657975" y="2039898"/>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43" name="TextBox 42">
            <a:extLst>
              <a:ext uri="{FF2B5EF4-FFF2-40B4-BE49-F238E27FC236}">
                <a16:creationId xmlns:a16="http://schemas.microsoft.com/office/drawing/2014/main" id="{E70887CE-2A70-49EE-AD5D-F250A9E202AD}"/>
              </a:ext>
            </a:extLst>
          </p:cNvPr>
          <p:cNvSpPr txBox="1"/>
          <p:nvPr/>
        </p:nvSpPr>
        <p:spPr>
          <a:xfrm>
            <a:off x="6657975" y="2415064"/>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44" name="TextBox 43">
            <a:extLst>
              <a:ext uri="{FF2B5EF4-FFF2-40B4-BE49-F238E27FC236}">
                <a16:creationId xmlns:a16="http://schemas.microsoft.com/office/drawing/2014/main" id="{8AF217CA-10AF-4169-902E-10196C139BEB}"/>
              </a:ext>
            </a:extLst>
          </p:cNvPr>
          <p:cNvSpPr txBox="1"/>
          <p:nvPr/>
        </p:nvSpPr>
        <p:spPr>
          <a:xfrm>
            <a:off x="6657975" y="2784396"/>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45" name="TextBox 44">
            <a:extLst>
              <a:ext uri="{FF2B5EF4-FFF2-40B4-BE49-F238E27FC236}">
                <a16:creationId xmlns:a16="http://schemas.microsoft.com/office/drawing/2014/main" id="{6E6CBD6B-5369-437F-A47E-82D8A4285554}"/>
              </a:ext>
            </a:extLst>
          </p:cNvPr>
          <p:cNvSpPr txBox="1"/>
          <p:nvPr/>
        </p:nvSpPr>
        <p:spPr>
          <a:xfrm>
            <a:off x="6657975" y="3159562"/>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46" name="TextBox 45">
            <a:extLst>
              <a:ext uri="{FF2B5EF4-FFF2-40B4-BE49-F238E27FC236}">
                <a16:creationId xmlns:a16="http://schemas.microsoft.com/office/drawing/2014/main" id="{350226BB-0B89-4DB3-A46E-AC4C42F7D7C5}"/>
              </a:ext>
            </a:extLst>
          </p:cNvPr>
          <p:cNvSpPr txBox="1"/>
          <p:nvPr/>
        </p:nvSpPr>
        <p:spPr>
          <a:xfrm>
            <a:off x="6657975" y="1670566"/>
            <a:ext cx="659155" cy="369332"/>
          </a:xfrm>
          <a:prstGeom prst="rect">
            <a:avLst/>
          </a:prstGeom>
          <a:noFill/>
        </p:spPr>
        <p:txBody>
          <a:bodyPr wrap="none" rtlCol="0" anchor="ctr" anchorCtr="1">
            <a:spAutoFit/>
          </a:bodyPr>
          <a:lstStyle/>
          <a:p>
            <a:r>
              <a:rPr lang="en-US" dirty="0">
                <a:ea typeface="標楷體" pitchFamily="65" charset="-120"/>
                <a:cs typeface="Calibri" pitchFamily="34" charset="0"/>
              </a:rPr>
              <a:t>PDE</a:t>
            </a:r>
          </a:p>
        </p:txBody>
      </p:sp>
      <p:cxnSp>
        <p:nvCxnSpPr>
          <p:cNvPr id="47" name="Straight Arrow Connector 46">
            <a:extLst>
              <a:ext uri="{FF2B5EF4-FFF2-40B4-BE49-F238E27FC236}">
                <a16:creationId xmlns:a16="http://schemas.microsoft.com/office/drawing/2014/main" id="{657AACDE-7A8D-4531-87BD-7FC0CFB75971}"/>
              </a:ext>
            </a:extLst>
          </p:cNvPr>
          <p:cNvCxnSpPr>
            <a:cxnSpLocks/>
          </p:cNvCxnSpPr>
          <p:nvPr/>
        </p:nvCxnSpPr>
        <p:spPr bwMode="auto">
          <a:xfrm flipV="1">
            <a:off x="6942237" y="1425670"/>
            <a:ext cx="1575230" cy="797476"/>
          </a:xfrm>
          <a:prstGeom prst="straightConnector1">
            <a:avLst/>
          </a:prstGeom>
          <a:noFill/>
          <a:ln w="15875" cap="flat" cmpd="sng" algn="ctr">
            <a:solidFill>
              <a:srgbClr val="FF0000"/>
            </a:solidFill>
            <a:prstDash val="solid"/>
            <a:round/>
            <a:headEnd type="none" w="med" len="med"/>
            <a:tailEnd type="triangle"/>
          </a:ln>
          <a:effectLst/>
        </p:spPr>
      </p:cxnSp>
      <p:cxnSp>
        <p:nvCxnSpPr>
          <p:cNvPr id="50" name="Straight Connector 49">
            <a:extLst>
              <a:ext uri="{FF2B5EF4-FFF2-40B4-BE49-F238E27FC236}">
                <a16:creationId xmlns:a16="http://schemas.microsoft.com/office/drawing/2014/main" id="{5415782F-8DD5-4861-8555-442EC5F9F807}"/>
              </a:ext>
            </a:extLst>
          </p:cNvPr>
          <p:cNvCxnSpPr/>
          <p:nvPr/>
        </p:nvCxnSpPr>
        <p:spPr bwMode="auto">
          <a:xfrm flipH="1">
            <a:off x="6702310" y="2441929"/>
            <a:ext cx="565265" cy="1081131"/>
          </a:xfrm>
          <a:prstGeom prst="line">
            <a:avLst/>
          </a:prstGeom>
          <a:noFill/>
          <a:ln w="15875" cap="flat" cmpd="sng" algn="ctr">
            <a:solidFill>
              <a:srgbClr val="FF0000"/>
            </a:solidFill>
            <a:prstDash val="solid"/>
            <a:round/>
            <a:headEnd type="none" w="med" len="med"/>
            <a:tailEnd type="none" w="med" len="med"/>
          </a:ln>
          <a:effectLst/>
        </p:spPr>
      </p:cxnSp>
      <p:cxnSp>
        <p:nvCxnSpPr>
          <p:cNvPr id="51" name="Straight Connector 50">
            <a:extLst>
              <a:ext uri="{FF2B5EF4-FFF2-40B4-BE49-F238E27FC236}">
                <a16:creationId xmlns:a16="http://schemas.microsoft.com/office/drawing/2014/main" id="{577E7413-EBE4-46E2-8E62-ED4D1F95EB65}"/>
              </a:ext>
            </a:extLst>
          </p:cNvPr>
          <p:cNvCxnSpPr>
            <a:cxnSpLocks/>
          </p:cNvCxnSpPr>
          <p:nvPr/>
        </p:nvCxnSpPr>
        <p:spPr bwMode="auto">
          <a:xfrm>
            <a:off x="6702310" y="2436095"/>
            <a:ext cx="565265" cy="1086965"/>
          </a:xfrm>
          <a:prstGeom prst="line">
            <a:avLst/>
          </a:prstGeom>
          <a:noFill/>
          <a:ln w="15875" cap="flat" cmpd="sng" algn="ctr">
            <a:solidFill>
              <a:srgbClr val="FF0000"/>
            </a:solidFill>
            <a:prstDash val="solid"/>
            <a:round/>
            <a:headEnd type="none" w="med" len="med"/>
            <a:tailEnd type="none" w="med" len="med"/>
          </a:ln>
          <a:effectLst/>
        </p:spPr>
      </p:cxnSp>
      <p:sp>
        <p:nvSpPr>
          <p:cNvPr id="54" name="TextBox 53">
            <a:extLst>
              <a:ext uri="{FF2B5EF4-FFF2-40B4-BE49-F238E27FC236}">
                <a16:creationId xmlns:a16="http://schemas.microsoft.com/office/drawing/2014/main" id="{EADF2177-3286-4FBC-A2C3-B8BD5DADF937}"/>
              </a:ext>
            </a:extLst>
          </p:cNvPr>
          <p:cNvSpPr txBox="1"/>
          <p:nvPr/>
        </p:nvSpPr>
        <p:spPr>
          <a:xfrm>
            <a:off x="3469683" y="2621118"/>
            <a:ext cx="1107996" cy="369332"/>
          </a:xfrm>
          <a:prstGeom prst="rect">
            <a:avLst/>
          </a:prstGeom>
          <a:noFill/>
        </p:spPr>
        <p:txBody>
          <a:bodyPr wrap="none" rtlCol="0" anchor="ctr" anchorCtr="1">
            <a:spAutoFit/>
          </a:bodyPr>
          <a:lstStyle/>
          <a:p>
            <a:r>
              <a:rPr lang="en-US" dirty="0">
                <a:ea typeface="標楷體" pitchFamily="65" charset="-120"/>
                <a:cs typeface="Calibri" pitchFamily="34" charset="0"/>
              </a:rPr>
              <a:t>Not used</a:t>
            </a:r>
          </a:p>
        </p:txBody>
      </p:sp>
      <p:cxnSp>
        <p:nvCxnSpPr>
          <p:cNvPr id="55" name="Straight Connector 54">
            <a:extLst>
              <a:ext uri="{FF2B5EF4-FFF2-40B4-BE49-F238E27FC236}">
                <a16:creationId xmlns:a16="http://schemas.microsoft.com/office/drawing/2014/main" id="{D04BD72B-B270-46F6-BF0F-0BD5599B59DC}"/>
              </a:ext>
            </a:extLst>
          </p:cNvPr>
          <p:cNvCxnSpPr>
            <a:cxnSpLocks/>
          </p:cNvCxnSpPr>
          <p:nvPr/>
        </p:nvCxnSpPr>
        <p:spPr bwMode="auto">
          <a:xfrm flipH="1">
            <a:off x="8536517" y="2968315"/>
            <a:ext cx="609601" cy="3105917"/>
          </a:xfrm>
          <a:prstGeom prst="line">
            <a:avLst/>
          </a:prstGeom>
          <a:noFill/>
          <a:ln w="15875" cap="flat" cmpd="sng" algn="ctr">
            <a:solidFill>
              <a:srgbClr val="FF0000"/>
            </a:solidFill>
            <a:prstDash val="solid"/>
            <a:round/>
            <a:headEnd type="none" w="med" len="med"/>
            <a:tailEnd type="none" w="med" len="med"/>
          </a:ln>
          <a:effectLst/>
        </p:spPr>
      </p:cxnSp>
      <p:cxnSp>
        <p:nvCxnSpPr>
          <p:cNvPr id="57" name="Straight Connector 56">
            <a:extLst>
              <a:ext uri="{FF2B5EF4-FFF2-40B4-BE49-F238E27FC236}">
                <a16:creationId xmlns:a16="http://schemas.microsoft.com/office/drawing/2014/main" id="{6DA4AAD3-E7DE-4837-9D33-64608D77DE85}"/>
              </a:ext>
            </a:extLst>
          </p:cNvPr>
          <p:cNvCxnSpPr>
            <a:cxnSpLocks/>
          </p:cNvCxnSpPr>
          <p:nvPr/>
        </p:nvCxnSpPr>
        <p:spPr bwMode="auto">
          <a:xfrm>
            <a:off x="8517467" y="2985411"/>
            <a:ext cx="628650" cy="3088821"/>
          </a:xfrm>
          <a:prstGeom prst="line">
            <a:avLst/>
          </a:prstGeom>
          <a:noFill/>
          <a:ln w="15875" cap="flat" cmpd="sng" algn="ctr">
            <a:solidFill>
              <a:srgbClr val="FF0000"/>
            </a:solidFill>
            <a:prstDash val="solid"/>
            <a:round/>
            <a:headEnd type="none" w="med" len="med"/>
            <a:tailEnd type="none" w="med" len="med"/>
          </a:ln>
          <a:effectLst/>
        </p:spPr>
      </p:cxnSp>
      <p:sp>
        <p:nvSpPr>
          <p:cNvPr id="59" name="TextBox 58">
            <a:extLst>
              <a:ext uri="{FF2B5EF4-FFF2-40B4-BE49-F238E27FC236}">
                <a16:creationId xmlns:a16="http://schemas.microsoft.com/office/drawing/2014/main" id="{D194F5FF-D131-4ECA-8076-84B044B0771F}"/>
              </a:ext>
            </a:extLst>
          </p:cNvPr>
          <p:cNvSpPr txBox="1"/>
          <p:nvPr/>
        </p:nvSpPr>
        <p:spPr>
          <a:xfrm>
            <a:off x="5057850" y="2031127"/>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60" name="TextBox 59">
            <a:extLst>
              <a:ext uri="{FF2B5EF4-FFF2-40B4-BE49-F238E27FC236}">
                <a16:creationId xmlns:a16="http://schemas.microsoft.com/office/drawing/2014/main" id="{7B15827F-D66E-44D3-8BA4-243E81C947B7}"/>
              </a:ext>
            </a:extLst>
          </p:cNvPr>
          <p:cNvSpPr txBox="1"/>
          <p:nvPr/>
        </p:nvSpPr>
        <p:spPr>
          <a:xfrm>
            <a:off x="5057850" y="2406293"/>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61" name="TextBox 60">
            <a:extLst>
              <a:ext uri="{FF2B5EF4-FFF2-40B4-BE49-F238E27FC236}">
                <a16:creationId xmlns:a16="http://schemas.microsoft.com/office/drawing/2014/main" id="{119438C8-B53E-4BBB-96A3-2B806F1F4067}"/>
              </a:ext>
            </a:extLst>
          </p:cNvPr>
          <p:cNvSpPr txBox="1"/>
          <p:nvPr/>
        </p:nvSpPr>
        <p:spPr>
          <a:xfrm>
            <a:off x="5057850" y="2775625"/>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62" name="TextBox 61">
            <a:extLst>
              <a:ext uri="{FF2B5EF4-FFF2-40B4-BE49-F238E27FC236}">
                <a16:creationId xmlns:a16="http://schemas.microsoft.com/office/drawing/2014/main" id="{45580966-0DC5-42BE-B9A4-CFC27EB09650}"/>
              </a:ext>
            </a:extLst>
          </p:cNvPr>
          <p:cNvSpPr txBox="1"/>
          <p:nvPr/>
        </p:nvSpPr>
        <p:spPr>
          <a:xfrm>
            <a:off x="5057850" y="3150791"/>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63" name="TextBox 62">
            <a:extLst>
              <a:ext uri="{FF2B5EF4-FFF2-40B4-BE49-F238E27FC236}">
                <a16:creationId xmlns:a16="http://schemas.microsoft.com/office/drawing/2014/main" id="{544BF711-474F-44F3-843D-18991C7C2A25}"/>
              </a:ext>
            </a:extLst>
          </p:cNvPr>
          <p:cNvSpPr txBox="1"/>
          <p:nvPr/>
        </p:nvSpPr>
        <p:spPr>
          <a:xfrm>
            <a:off x="5057850" y="1661795"/>
            <a:ext cx="813043" cy="369332"/>
          </a:xfrm>
          <a:prstGeom prst="rect">
            <a:avLst/>
          </a:prstGeom>
          <a:noFill/>
        </p:spPr>
        <p:txBody>
          <a:bodyPr wrap="none" rtlCol="0" anchor="ctr" anchorCtr="1">
            <a:spAutoFit/>
          </a:bodyPr>
          <a:lstStyle/>
          <a:p>
            <a:r>
              <a:rPr lang="en-US" dirty="0">
                <a:ea typeface="標楷體" pitchFamily="65" charset="-120"/>
                <a:cs typeface="Calibri" pitchFamily="34" charset="0"/>
              </a:rPr>
              <a:t>PDPE</a:t>
            </a:r>
          </a:p>
        </p:txBody>
      </p:sp>
      <p:cxnSp>
        <p:nvCxnSpPr>
          <p:cNvPr id="64" name="Straight Connector 63">
            <a:extLst>
              <a:ext uri="{FF2B5EF4-FFF2-40B4-BE49-F238E27FC236}">
                <a16:creationId xmlns:a16="http://schemas.microsoft.com/office/drawing/2014/main" id="{F7A5FEA1-12E0-4A80-810B-420395D9B8B4}"/>
              </a:ext>
            </a:extLst>
          </p:cNvPr>
          <p:cNvCxnSpPr/>
          <p:nvPr/>
        </p:nvCxnSpPr>
        <p:spPr bwMode="auto">
          <a:xfrm flipH="1">
            <a:off x="5102185" y="2433158"/>
            <a:ext cx="565265" cy="1081131"/>
          </a:xfrm>
          <a:prstGeom prst="line">
            <a:avLst/>
          </a:prstGeom>
          <a:noFill/>
          <a:ln w="15875" cap="flat" cmpd="sng" algn="ctr">
            <a:solidFill>
              <a:srgbClr val="FF0000"/>
            </a:solidFill>
            <a:prstDash val="solid"/>
            <a:round/>
            <a:headEnd type="none" w="med" len="med"/>
            <a:tailEnd type="none" w="med" len="med"/>
          </a:ln>
          <a:effectLst/>
        </p:spPr>
      </p:cxnSp>
      <p:cxnSp>
        <p:nvCxnSpPr>
          <p:cNvPr id="65" name="Straight Connector 64">
            <a:extLst>
              <a:ext uri="{FF2B5EF4-FFF2-40B4-BE49-F238E27FC236}">
                <a16:creationId xmlns:a16="http://schemas.microsoft.com/office/drawing/2014/main" id="{75876CB1-54AE-4C38-9847-7F2D9C4CB89D}"/>
              </a:ext>
            </a:extLst>
          </p:cNvPr>
          <p:cNvCxnSpPr>
            <a:cxnSpLocks/>
          </p:cNvCxnSpPr>
          <p:nvPr/>
        </p:nvCxnSpPr>
        <p:spPr bwMode="auto">
          <a:xfrm>
            <a:off x="5102185" y="2427324"/>
            <a:ext cx="565265" cy="1086965"/>
          </a:xfrm>
          <a:prstGeom prst="line">
            <a:avLst/>
          </a:prstGeom>
          <a:noFill/>
          <a:ln w="15875" cap="flat" cmpd="sng" algn="ctr">
            <a:solidFill>
              <a:srgbClr val="FF0000"/>
            </a:solidFill>
            <a:prstDash val="solid"/>
            <a:round/>
            <a:headEnd type="none" w="med" len="med"/>
            <a:tailEnd type="none" w="med" len="med"/>
          </a:ln>
          <a:effectLst/>
        </p:spPr>
      </p:cxnSp>
      <p:cxnSp>
        <p:nvCxnSpPr>
          <p:cNvPr id="66" name="Straight Arrow Connector 65">
            <a:extLst>
              <a:ext uri="{FF2B5EF4-FFF2-40B4-BE49-F238E27FC236}">
                <a16:creationId xmlns:a16="http://schemas.microsoft.com/office/drawing/2014/main" id="{1F4EBF9C-66AF-42BC-A7A2-362951BD452F}"/>
              </a:ext>
            </a:extLst>
          </p:cNvPr>
          <p:cNvCxnSpPr>
            <a:cxnSpLocks/>
          </p:cNvCxnSpPr>
          <p:nvPr/>
        </p:nvCxnSpPr>
        <p:spPr bwMode="auto">
          <a:xfrm flipV="1">
            <a:off x="5352956" y="2052158"/>
            <a:ext cx="1305019" cy="141308"/>
          </a:xfrm>
          <a:prstGeom prst="straightConnector1">
            <a:avLst/>
          </a:prstGeom>
          <a:noFill/>
          <a:ln w="15875" cap="flat" cmpd="sng" algn="ctr">
            <a:solidFill>
              <a:srgbClr val="FF0000"/>
            </a:solidFill>
            <a:prstDash val="solid"/>
            <a:round/>
            <a:headEnd type="none" w="med" len="med"/>
            <a:tailEnd type="triangle"/>
          </a:ln>
          <a:effectLst/>
        </p:spPr>
      </p:cxnSp>
      <p:cxnSp>
        <p:nvCxnSpPr>
          <p:cNvPr id="68" name="Straight Connector 67">
            <a:extLst>
              <a:ext uri="{FF2B5EF4-FFF2-40B4-BE49-F238E27FC236}">
                <a16:creationId xmlns:a16="http://schemas.microsoft.com/office/drawing/2014/main" id="{0D202867-7ECD-4D94-ADC5-AA40B62AAEB9}"/>
              </a:ext>
            </a:extLst>
          </p:cNvPr>
          <p:cNvCxnSpPr>
            <a:cxnSpLocks/>
          </p:cNvCxnSpPr>
          <p:nvPr/>
        </p:nvCxnSpPr>
        <p:spPr bwMode="auto">
          <a:xfrm>
            <a:off x="542925" y="2985411"/>
            <a:ext cx="585835" cy="1119665"/>
          </a:xfrm>
          <a:prstGeom prst="line">
            <a:avLst/>
          </a:prstGeom>
          <a:noFill/>
          <a:ln w="15875" cap="flat" cmpd="sng" algn="ctr">
            <a:solidFill>
              <a:srgbClr val="FF0000"/>
            </a:solidFill>
            <a:prstDash val="solid"/>
            <a:round/>
            <a:headEnd type="none" w="med" len="med"/>
            <a:tailEnd type="none" w="med" len="med"/>
          </a:ln>
          <a:effectLst/>
        </p:spPr>
      </p:cxnSp>
      <p:cxnSp>
        <p:nvCxnSpPr>
          <p:cNvPr id="70" name="Straight Connector 69">
            <a:extLst>
              <a:ext uri="{FF2B5EF4-FFF2-40B4-BE49-F238E27FC236}">
                <a16:creationId xmlns:a16="http://schemas.microsoft.com/office/drawing/2014/main" id="{14E7B54C-2197-4811-B744-28ABD37EA713}"/>
              </a:ext>
            </a:extLst>
          </p:cNvPr>
          <p:cNvCxnSpPr>
            <a:cxnSpLocks/>
          </p:cNvCxnSpPr>
          <p:nvPr/>
        </p:nvCxnSpPr>
        <p:spPr bwMode="auto">
          <a:xfrm flipH="1">
            <a:off x="542926" y="2985411"/>
            <a:ext cx="585834" cy="1103315"/>
          </a:xfrm>
          <a:prstGeom prst="line">
            <a:avLst/>
          </a:prstGeom>
          <a:noFill/>
          <a:ln w="15875" cap="flat" cmpd="sng" algn="ctr">
            <a:solidFill>
              <a:srgbClr val="FF0000"/>
            </a:solidFill>
            <a:prstDash val="solid"/>
            <a:round/>
            <a:headEnd type="none" w="med" len="med"/>
            <a:tailEnd type="none" w="med" len="med"/>
          </a:ln>
          <a:effectLst/>
        </p:spPr>
      </p:cxnSp>
      <p:sp>
        <p:nvSpPr>
          <p:cNvPr id="72" name="TextBox 71">
            <a:extLst>
              <a:ext uri="{FF2B5EF4-FFF2-40B4-BE49-F238E27FC236}">
                <a16:creationId xmlns:a16="http://schemas.microsoft.com/office/drawing/2014/main" id="{B325CF04-335C-4917-B548-82FA3B07EA91}"/>
              </a:ext>
            </a:extLst>
          </p:cNvPr>
          <p:cNvSpPr txBox="1"/>
          <p:nvPr/>
        </p:nvSpPr>
        <p:spPr>
          <a:xfrm>
            <a:off x="9070146" y="1769249"/>
            <a:ext cx="697627" cy="646331"/>
          </a:xfrm>
          <a:prstGeom prst="rect">
            <a:avLst/>
          </a:prstGeom>
          <a:noFill/>
        </p:spPr>
        <p:txBody>
          <a:bodyPr wrap="none" rtlCol="0" anchor="ctr" anchorCtr="1">
            <a:spAutoFit/>
          </a:bodyPr>
          <a:lstStyle/>
          <a:p>
            <a:r>
              <a:rPr lang="en-US" dirty="0">
                <a:ea typeface="標楷體" pitchFamily="65" charset="-120"/>
                <a:cs typeface="Calibri" pitchFamily="34" charset="0"/>
              </a:rPr>
              <a:t>one </a:t>
            </a:r>
          </a:p>
          <a:p>
            <a:r>
              <a:rPr lang="en-US" dirty="0">
                <a:ea typeface="標楷體" pitchFamily="65" charset="-120"/>
                <a:cs typeface="Calibri" pitchFamily="34" charset="0"/>
              </a:rPr>
              <a:t>page</a:t>
            </a:r>
          </a:p>
        </p:txBody>
      </p:sp>
      <p:sp>
        <p:nvSpPr>
          <p:cNvPr id="73" name="TextBox 72">
            <a:extLst>
              <a:ext uri="{FF2B5EF4-FFF2-40B4-BE49-F238E27FC236}">
                <a16:creationId xmlns:a16="http://schemas.microsoft.com/office/drawing/2014/main" id="{66F45BEC-9A94-41A3-9EEB-409CE2D10EC7}"/>
              </a:ext>
            </a:extLst>
          </p:cNvPr>
          <p:cNvSpPr txBox="1"/>
          <p:nvPr/>
        </p:nvSpPr>
        <p:spPr>
          <a:xfrm>
            <a:off x="3688127" y="2030060"/>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74" name="TextBox 73">
            <a:extLst>
              <a:ext uri="{FF2B5EF4-FFF2-40B4-BE49-F238E27FC236}">
                <a16:creationId xmlns:a16="http://schemas.microsoft.com/office/drawing/2014/main" id="{32E88CF6-90A7-425A-84FE-8D9D68C51A83}"/>
              </a:ext>
            </a:extLst>
          </p:cNvPr>
          <p:cNvSpPr txBox="1"/>
          <p:nvPr/>
        </p:nvSpPr>
        <p:spPr>
          <a:xfrm>
            <a:off x="3688127" y="2405226"/>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75" name="TextBox 74">
            <a:extLst>
              <a:ext uri="{FF2B5EF4-FFF2-40B4-BE49-F238E27FC236}">
                <a16:creationId xmlns:a16="http://schemas.microsoft.com/office/drawing/2014/main" id="{AB2BC7DF-3405-4F8E-9C7D-0DF3BFABC199}"/>
              </a:ext>
            </a:extLst>
          </p:cNvPr>
          <p:cNvSpPr txBox="1"/>
          <p:nvPr/>
        </p:nvSpPr>
        <p:spPr>
          <a:xfrm>
            <a:off x="3688127" y="2774558"/>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76" name="TextBox 75">
            <a:extLst>
              <a:ext uri="{FF2B5EF4-FFF2-40B4-BE49-F238E27FC236}">
                <a16:creationId xmlns:a16="http://schemas.microsoft.com/office/drawing/2014/main" id="{B3145DE3-8F0A-4136-A53C-664744867F35}"/>
              </a:ext>
            </a:extLst>
          </p:cNvPr>
          <p:cNvSpPr txBox="1"/>
          <p:nvPr/>
        </p:nvSpPr>
        <p:spPr>
          <a:xfrm>
            <a:off x="3688127" y="3149724"/>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77" name="TextBox 76">
            <a:extLst>
              <a:ext uri="{FF2B5EF4-FFF2-40B4-BE49-F238E27FC236}">
                <a16:creationId xmlns:a16="http://schemas.microsoft.com/office/drawing/2014/main" id="{18A024E2-A0E9-4EB1-9A1E-91836EA6EC68}"/>
              </a:ext>
            </a:extLst>
          </p:cNvPr>
          <p:cNvSpPr txBox="1"/>
          <p:nvPr/>
        </p:nvSpPr>
        <p:spPr>
          <a:xfrm>
            <a:off x="3688127" y="1660728"/>
            <a:ext cx="941283" cy="369332"/>
          </a:xfrm>
          <a:prstGeom prst="rect">
            <a:avLst/>
          </a:prstGeom>
          <a:noFill/>
        </p:spPr>
        <p:txBody>
          <a:bodyPr wrap="none" rtlCol="0" anchor="ctr" anchorCtr="1">
            <a:spAutoFit/>
          </a:bodyPr>
          <a:lstStyle/>
          <a:p>
            <a:r>
              <a:rPr lang="en-US" dirty="0">
                <a:ea typeface="標楷體" pitchFamily="65" charset="-120"/>
                <a:cs typeface="Calibri" pitchFamily="34" charset="0"/>
              </a:rPr>
              <a:t>PML4E</a:t>
            </a:r>
          </a:p>
        </p:txBody>
      </p:sp>
      <p:cxnSp>
        <p:nvCxnSpPr>
          <p:cNvPr id="80" name="Straight Arrow Connector 79">
            <a:extLst>
              <a:ext uri="{FF2B5EF4-FFF2-40B4-BE49-F238E27FC236}">
                <a16:creationId xmlns:a16="http://schemas.microsoft.com/office/drawing/2014/main" id="{603864EF-DAF3-402A-B55B-263C1C7E9778}"/>
              </a:ext>
            </a:extLst>
          </p:cNvPr>
          <p:cNvCxnSpPr>
            <a:cxnSpLocks/>
          </p:cNvCxnSpPr>
          <p:nvPr/>
        </p:nvCxnSpPr>
        <p:spPr bwMode="auto">
          <a:xfrm flipV="1">
            <a:off x="3811059" y="2032776"/>
            <a:ext cx="1305019" cy="141308"/>
          </a:xfrm>
          <a:prstGeom prst="straightConnector1">
            <a:avLst/>
          </a:prstGeom>
          <a:noFill/>
          <a:ln w="15875" cap="flat" cmpd="sng" algn="ctr">
            <a:solidFill>
              <a:srgbClr val="FF0000"/>
            </a:solidFill>
            <a:prstDash val="solid"/>
            <a:round/>
            <a:headEnd type="none" w="med" len="med"/>
            <a:tailEnd type="triangle"/>
          </a:ln>
          <a:effectLst/>
        </p:spPr>
      </p:cxnSp>
      <p:cxnSp>
        <p:nvCxnSpPr>
          <p:cNvPr id="81" name="Straight Arrow Connector 80">
            <a:extLst>
              <a:ext uri="{FF2B5EF4-FFF2-40B4-BE49-F238E27FC236}">
                <a16:creationId xmlns:a16="http://schemas.microsoft.com/office/drawing/2014/main" id="{6CDF13C5-F78C-463A-8D40-1B50B2EA1C71}"/>
              </a:ext>
            </a:extLst>
          </p:cNvPr>
          <p:cNvCxnSpPr>
            <a:cxnSpLocks/>
          </p:cNvCxnSpPr>
          <p:nvPr/>
        </p:nvCxnSpPr>
        <p:spPr bwMode="auto">
          <a:xfrm>
            <a:off x="3919558" y="3336921"/>
            <a:ext cx="1172755" cy="952821"/>
          </a:xfrm>
          <a:prstGeom prst="straightConnector1">
            <a:avLst/>
          </a:prstGeom>
          <a:noFill/>
          <a:ln w="15875" cap="flat" cmpd="sng" algn="ctr">
            <a:solidFill>
              <a:srgbClr val="FF0000"/>
            </a:solidFill>
            <a:prstDash val="solid"/>
            <a:round/>
            <a:headEnd type="none" w="med" len="med"/>
            <a:tailEnd type="triangle"/>
          </a:ln>
          <a:effectLst/>
        </p:spPr>
      </p:cxnSp>
      <p:sp>
        <p:nvSpPr>
          <p:cNvPr id="83" name="TextBox 82">
            <a:extLst>
              <a:ext uri="{FF2B5EF4-FFF2-40B4-BE49-F238E27FC236}">
                <a16:creationId xmlns:a16="http://schemas.microsoft.com/office/drawing/2014/main" id="{23E71D70-0E3A-4EB0-9ACD-C3143692EFBF}"/>
              </a:ext>
            </a:extLst>
          </p:cNvPr>
          <p:cNvSpPr txBox="1"/>
          <p:nvPr/>
        </p:nvSpPr>
        <p:spPr>
          <a:xfrm>
            <a:off x="5116078" y="4289742"/>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84" name="TextBox 83">
            <a:extLst>
              <a:ext uri="{FF2B5EF4-FFF2-40B4-BE49-F238E27FC236}">
                <a16:creationId xmlns:a16="http://schemas.microsoft.com/office/drawing/2014/main" id="{72083D08-69EF-4FE4-BEA9-E66354AF2B7D}"/>
              </a:ext>
            </a:extLst>
          </p:cNvPr>
          <p:cNvSpPr txBox="1"/>
          <p:nvPr/>
        </p:nvSpPr>
        <p:spPr>
          <a:xfrm>
            <a:off x="5116078" y="4664908"/>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85" name="TextBox 84">
            <a:extLst>
              <a:ext uri="{FF2B5EF4-FFF2-40B4-BE49-F238E27FC236}">
                <a16:creationId xmlns:a16="http://schemas.microsoft.com/office/drawing/2014/main" id="{D53833AC-81B4-481C-8473-68E2838A0516}"/>
              </a:ext>
            </a:extLst>
          </p:cNvPr>
          <p:cNvSpPr txBox="1"/>
          <p:nvPr/>
        </p:nvSpPr>
        <p:spPr>
          <a:xfrm>
            <a:off x="5116078" y="5034240"/>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86" name="TextBox 85">
            <a:extLst>
              <a:ext uri="{FF2B5EF4-FFF2-40B4-BE49-F238E27FC236}">
                <a16:creationId xmlns:a16="http://schemas.microsoft.com/office/drawing/2014/main" id="{1851AAD9-5D95-496E-B156-E43C36B75D07}"/>
              </a:ext>
            </a:extLst>
          </p:cNvPr>
          <p:cNvSpPr txBox="1"/>
          <p:nvPr/>
        </p:nvSpPr>
        <p:spPr>
          <a:xfrm>
            <a:off x="5116078" y="5409406"/>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87" name="TextBox 86">
            <a:extLst>
              <a:ext uri="{FF2B5EF4-FFF2-40B4-BE49-F238E27FC236}">
                <a16:creationId xmlns:a16="http://schemas.microsoft.com/office/drawing/2014/main" id="{A0441DAD-5019-4AD8-BF2A-8643E1B2F3DE}"/>
              </a:ext>
            </a:extLst>
          </p:cNvPr>
          <p:cNvSpPr txBox="1"/>
          <p:nvPr/>
        </p:nvSpPr>
        <p:spPr>
          <a:xfrm>
            <a:off x="5116078" y="3920410"/>
            <a:ext cx="813043" cy="369332"/>
          </a:xfrm>
          <a:prstGeom prst="rect">
            <a:avLst/>
          </a:prstGeom>
          <a:noFill/>
        </p:spPr>
        <p:txBody>
          <a:bodyPr wrap="none" rtlCol="0" anchor="ctr" anchorCtr="1">
            <a:spAutoFit/>
          </a:bodyPr>
          <a:lstStyle/>
          <a:p>
            <a:r>
              <a:rPr lang="en-US" dirty="0">
                <a:ea typeface="標楷體" pitchFamily="65" charset="-120"/>
                <a:cs typeface="Calibri" pitchFamily="34" charset="0"/>
              </a:rPr>
              <a:t>PDPE</a:t>
            </a:r>
          </a:p>
        </p:txBody>
      </p:sp>
      <p:cxnSp>
        <p:nvCxnSpPr>
          <p:cNvPr id="91" name="Straight Arrow Connector 90">
            <a:extLst>
              <a:ext uri="{FF2B5EF4-FFF2-40B4-BE49-F238E27FC236}">
                <a16:creationId xmlns:a16="http://schemas.microsoft.com/office/drawing/2014/main" id="{FC812911-0A79-4E13-8AE2-D41819160A46}"/>
              </a:ext>
            </a:extLst>
          </p:cNvPr>
          <p:cNvCxnSpPr>
            <a:cxnSpLocks/>
          </p:cNvCxnSpPr>
          <p:nvPr/>
        </p:nvCxnSpPr>
        <p:spPr bwMode="auto">
          <a:xfrm flipV="1">
            <a:off x="5443490" y="4289742"/>
            <a:ext cx="1199340" cy="1358635"/>
          </a:xfrm>
          <a:prstGeom prst="straightConnector1">
            <a:avLst/>
          </a:prstGeom>
          <a:noFill/>
          <a:ln w="15875" cap="flat" cmpd="sng" algn="ctr">
            <a:solidFill>
              <a:srgbClr val="FF0000"/>
            </a:solidFill>
            <a:prstDash val="solid"/>
            <a:round/>
            <a:headEnd type="none" w="med" len="med"/>
            <a:tailEnd type="triangle"/>
          </a:ln>
          <a:effectLst/>
        </p:spPr>
      </p:cxnSp>
      <p:sp>
        <p:nvSpPr>
          <p:cNvPr id="93" name="TextBox 92">
            <a:extLst>
              <a:ext uri="{FF2B5EF4-FFF2-40B4-BE49-F238E27FC236}">
                <a16:creationId xmlns:a16="http://schemas.microsoft.com/office/drawing/2014/main" id="{D2733225-9E25-412C-9A38-F2BAC09154E4}"/>
              </a:ext>
            </a:extLst>
          </p:cNvPr>
          <p:cNvSpPr txBox="1"/>
          <p:nvPr/>
        </p:nvSpPr>
        <p:spPr>
          <a:xfrm>
            <a:off x="10009716" y="4574264"/>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94" name="TextBox 93">
            <a:extLst>
              <a:ext uri="{FF2B5EF4-FFF2-40B4-BE49-F238E27FC236}">
                <a16:creationId xmlns:a16="http://schemas.microsoft.com/office/drawing/2014/main" id="{AE1842AB-E31C-4ED8-BC76-00F485501844}"/>
              </a:ext>
            </a:extLst>
          </p:cNvPr>
          <p:cNvSpPr txBox="1"/>
          <p:nvPr/>
        </p:nvSpPr>
        <p:spPr>
          <a:xfrm>
            <a:off x="10009716" y="4949430"/>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95" name="TextBox 94">
            <a:extLst>
              <a:ext uri="{FF2B5EF4-FFF2-40B4-BE49-F238E27FC236}">
                <a16:creationId xmlns:a16="http://schemas.microsoft.com/office/drawing/2014/main" id="{287AB1D5-AA04-4B72-B3FD-43DE1B15F666}"/>
              </a:ext>
            </a:extLst>
          </p:cNvPr>
          <p:cNvSpPr txBox="1"/>
          <p:nvPr/>
        </p:nvSpPr>
        <p:spPr>
          <a:xfrm>
            <a:off x="10009716" y="5318762"/>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96" name="TextBox 95">
            <a:extLst>
              <a:ext uri="{FF2B5EF4-FFF2-40B4-BE49-F238E27FC236}">
                <a16:creationId xmlns:a16="http://schemas.microsoft.com/office/drawing/2014/main" id="{22580241-D15F-4078-A993-D54AF6154039}"/>
              </a:ext>
            </a:extLst>
          </p:cNvPr>
          <p:cNvSpPr txBox="1"/>
          <p:nvPr/>
        </p:nvSpPr>
        <p:spPr>
          <a:xfrm>
            <a:off x="10009716" y="5693928"/>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cxnSp>
        <p:nvCxnSpPr>
          <p:cNvPr id="98" name="Straight Connector 97">
            <a:extLst>
              <a:ext uri="{FF2B5EF4-FFF2-40B4-BE49-F238E27FC236}">
                <a16:creationId xmlns:a16="http://schemas.microsoft.com/office/drawing/2014/main" id="{DA21D26E-2FE7-477E-9A2B-F11B060DAB9C}"/>
              </a:ext>
            </a:extLst>
          </p:cNvPr>
          <p:cNvCxnSpPr>
            <a:cxnSpLocks/>
          </p:cNvCxnSpPr>
          <p:nvPr/>
        </p:nvCxnSpPr>
        <p:spPr bwMode="auto">
          <a:xfrm>
            <a:off x="3692523" y="2415741"/>
            <a:ext cx="546064" cy="705288"/>
          </a:xfrm>
          <a:prstGeom prst="line">
            <a:avLst/>
          </a:prstGeom>
          <a:noFill/>
          <a:ln w="15875" cap="flat" cmpd="sng" algn="ctr">
            <a:solidFill>
              <a:srgbClr val="FF0000"/>
            </a:solidFill>
            <a:prstDash val="solid"/>
            <a:round/>
            <a:headEnd type="none" w="med" len="med"/>
            <a:tailEnd type="none" w="med" len="med"/>
          </a:ln>
          <a:effectLst/>
        </p:spPr>
      </p:cxnSp>
      <p:cxnSp>
        <p:nvCxnSpPr>
          <p:cNvPr id="100" name="Straight Connector 99">
            <a:extLst>
              <a:ext uri="{FF2B5EF4-FFF2-40B4-BE49-F238E27FC236}">
                <a16:creationId xmlns:a16="http://schemas.microsoft.com/office/drawing/2014/main" id="{90519997-FCC3-4DA2-8BAD-DA373501106E}"/>
              </a:ext>
            </a:extLst>
          </p:cNvPr>
          <p:cNvCxnSpPr>
            <a:cxnSpLocks/>
          </p:cNvCxnSpPr>
          <p:nvPr/>
        </p:nvCxnSpPr>
        <p:spPr bwMode="auto">
          <a:xfrm flipH="1">
            <a:off x="3717106" y="2425241"/>
            <a:ext cx="580622" cy="695788"/>
          </a:xfrm>
          <a:prstGeom prst="line">
            <a:avLst/>
          </a:prstGeom>
          <a:noFill/>
          <a:ln w="15875" cap="flat" cmpd="sng" algn="ctr">
            <a:solidFill>
              <a:srgbClr val="FF0000"/>
            </a:solidFill>
            <a:prstDash val="solid"/>
            <a:round/>
            <a:headEnd type="none" w="med" len="med"/>
            <a:tailEnd type="none" w="med" len="med"/>
          </a:ln>
          <a:effectLst/>
        </p:spPr>
      </p:cxnSp>
      <p:cxnSp>
        <p:nvCxnSpPr>
          <p:cNvPr id="106" name="Straight Arrow Connector 105">
            <a:extLst>
              <a:ext uri="{FF2B5EF4-FFF2-40B4-BE49-F238E27FC236}">
                <a16:creationId xmlns:a16="http://schemas.microsoft.com/office/drawing/2014/main" id="{47499B85-FA65-49C5-9940-0D2A93DFEB54}"/>
              </a:ext>
            </a:extLst>
          </p:cNvPr>
          <p:cNvCxnSpPr>
            <a:cxnSpLocks/>
          </p:cNvCxnSpPr>
          <p:nvPr/>
        </p:nvCxnSpPr>
        <p:spPr bwMode="auto">
          <a:xfrm>
            <a:off x="836312" y="2080212"/>
            <a:ext cx="1095375" cy="212770"/>
          </a:xfrm>
          <a:prstGeom prst="straightConnector1">
            <a:avLst/>
          </a:prstGeom>
          <a:noFill/>
          <a:ln w="15875" cap="flat" cmpd="sng" algn="ctr">
            <a:solidFill>
              <a:srgbClr val="FF0000"/>
            </a:solidFill>
            <a:prstDash val="solid"/>
            <a:round/>
            <a:headEnd type="none" w="med" len="med"/>
            <a:tailEnd type="triangle"/>
          </a:ln>
          <a:effectLst/>
        </p:spPr>
      </p:cxnSp>
      <p:sp>
        <p:nvSpPr>
          <p:cNvPr id="108" name="TextBox 107">
            <a:extLst>
              <a:ext uri="{FF2B5EF4-FFF2-40B4-BE49-F238E27FC236}">
                <a16:creationId xmlns:a16="http://schemas.microsoft.com/office/drawing/2014/main" id="{1304A6EB-5D86-4EDE-9239-002950830D17}"/>
              </a:ext>
            </a:extLst>
          </p:cNvPr>
          <p:cNvSpPr txBox="1"/>
          <p:nvPr/>
        </p:nvSpPr>
        <p:spPr>
          <a:xfrm>
            <a:off x="1055624" y="3380196"/>
            <a:ext cx="1107996" cy="369332"/>
          </a:xfrm>
          <a:prstGeom prst="rect">
            <a:avLst/>
          </a:prstGeom>
          <a:noFill/>
        </p:spPr>
        <p:txBody>
          <a:bodyPr wrap="none" rtlCol="0" anchor="ctr" anchorCtr="1">
            <a:spAutoFit/>
          </a:bodyPr>
          <a:lstStyle/>
          <a:p>
            <a:r>
              <a:rPr lang="en-US" dirty="0">
                <a:ea typeface="標楷體" pitchFamily="65" charset="-120"/>
                <a:cs typeface="Calibri" pitchFamily="34" charset="0"/>
              </a:rPr>
              <a:t>Not used</a:t>
            </a:r>
          </a:p>
        </p:txBody>
      </p:sp>
      <p:sp>
        <p:nvSpPr>
          <p:cNvPr id="109" name="TextBox 108">
            <a:extLst>
              <a:ext uri="{FF2B5EF4-FFF2-40B4-BE49-F238E27FC236}">
                <a16:creationId xmlns:a16="http://schemas.microsoft.com/office/drawing/2014/main" id="{D80DAB6B-70B8-48C2-A3C5-3EA505BA5CF0}"/>
              </a:ext>
            </a:extLst>
          </p:cNvPr>
          <p:cNvSpPr txBox="1"/>
          <p:nvPr/>
        </p:nvSpPr>
        <p:spPr>
          <a:xfrm>
            <a:off x="5951333" y="5679852"/>
            <a:ext cx="2159566" cy="646331"/>
          </a:xfrm>
          <a:prstGeom prst="rect">
            <a:avLst/>
          </a:prstGeom>
          <a:noFill/>
        </p:spPr>
        <p:txBody>
          <a:bodyPr wrap="none" rtlCol="0" anchor="ctr" anchorCtr="1">
            <a:spAutoFit/>
          </a:bodyPr>
          <a:lstStyle/>
          <a:p>
            <a:r>
              <a:rPr lang="en-US" dirty="0">
                <a:ea typeface="標楷體" pitchFamily="65" charset="-120"/>
                <a:cs typeface="Calibri" pitchFamily="34" charset="0"/>
              </a:rPr>
              <a:t>Multi-level Indexing</a:t>
            </a:r>
          </a:p>
          <a:p>
            <a:endParaRPr lang="en-US" dirty="0">
              <a:ea typeface="標楷體" pitchFamily="65" charset="-120"/>
              <a:cs typeface="Calibri" pitchFamily="34" charset="0"/>
            </a:endParaRPr>
          </a:p>
        </p:txBody>
      </p:sp>
      <p:sp>
        <p:nvSpPr>
          <p:cNvPr id="111" name="TextBox 110">
            <a:extLst>
              <a:ext uri="{FF2B5EF4-FFF2-40B4-BE49-F238E27FC236}">
                <a16:creationId xmlns:a16="http://schemas.microsoft.com/office/drawing/2014/main" id="{3DC8B6F3-7250-4C02-84D7-6F57FE68BB85}"/>
              </a:ext>
            </a:extLst>
          </p:cNvPr>
          <p:cNvSpPr txBox="1"/>
          <p:nvPr/>
        </p:nvSpPr>
        <p:spPr>
          <a:xfrm>
            <a:off x="6665042" y="4267558"/>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112" name="TextBox 111">
            <a:extLst>
              <a:ext uri="{FF2B5EF4-FFF2-40B4-BE49-F238E27FC236}">
                <a16:creationId xmlns:a16="http://schemas.microsoft.com/office/drawing/2014/main" id="{F2D0A914-1AEB-4FFE-8F8C-C465C704703E}"/>
              </a:ext>
            </a:extLst>
          </p:cNvPr>
          <p:cNvSpPr txBox="1"/>
          <p:nvPr/>
        </p:nvSpPr>
        <p:spPr>
          <a:xfrm>
            <a:off x="6665042" y="4642724"/>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113" name="TextBox 112">
            <a:extLst>
              <a:ext uri="{FF2B5EF4-FFF2-40B4-BE49-F238E27FC236}">
                <a16:creationId xmlns:a16="http://schemas.microsoft.com/office/drawing/2014/main" id="{87A64682-3A58-4A7F-A362-580E6BFE239C}"/>
              </a:ext>
            </a:extLst>
          </p:cNvPr>
          <p:cNvSpPr txBox="1"/>
          <p:nvPr/>
        </p:nvSpPr>
        <p:spPr>
          <a:xfrm>
            <a:off x="6665042" y="5012056"/>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114" name="TextBox 113">
            <a:extLst>
              <a:ext uri="{FF2B5EF4-FFF2-40B4-BE49-F238E27FC236}">
                <a16:creationId xmlns:a16="http://schemas.microsoft.com/office/drawing/2014/main" id="{E7A29E95-4751-48CE-9F63-57937E52B535}"/>
              </a:ext>
            </a:extLst>
          </p:cNvPr>
          <p:cNvSpPr txBox="1"/>
          <p:nvPr/>
        </p:nvSpPr>
        <p:spPr>
          <a:xfrm>
            <a:off x="6665042" y="5387222"/>
            <a:ext cx="609600" cy="369332"/>
          </a:xfrm>
          <a:prstGeom prst="rect">
            <a:avLst/>
          </a:prstGeom>
          <a:noFill/>
          <a:ln w="19050">
            <a:solidFill>
              <a:schemeClr val="tx1"/>
            </a:solidFill>
          </a:ln>
        </p:spPr>
        <p:txBody>
          <a:bodyPr wrap="square" rtlCol="0" anchor="ctr" anchorCtr="1">
            <a:spAutoFit/>
          </a:bodyPr>
          <a:lstStyle/>
          <a:p>
            <a:endParaRPr lang="en-US" dirty="0">
              <a:ea typeface="標楷體" pitchFamily="65" charset="-120"/>
              <a:cs typeface="Calibri" pitchFamily="34" charset="0"/>
            </a:endParaRPr>
          </a:p>
        </p:txBody>
      </p:sp>
      <p:sp>
        <p:nvSpPr>
          <p:cNvPr id="115" name="TextBox 114">
            <a:extLst>
              <a:ext uri="{FF2B5EF4-FFF2-40B4-BE49-F238E27FC236}">
                <a16:creationId xmlns:a16="http://schemas.microsoft.com/office/drawing/2014/main" id="{8D771692-09A9-444D-9A62-61CA33D0EAA8}"/>
              </a:ext>
            </a:extLst>
          </p:cNvPr>
          <p:cNvSpPr txBox="1"/>
          <p:nvPr/>
        </p:nvSpPr>
        <p:spPr>
          <a:xfrm>
            <a:off x="6665042" y="3898226"/>
            <a:ext cx="659155" cy="369332"/>
          </a:xfrm>
          <a:prstGeom prst="rect">
            <a:avLst/>
          </a:prstGeom>
          <a:noFill/>
        </p:spPr>
        <p:txBody>
          <a:bodyPr wrap="none" rtlCol="0" anchor="ctr" anchorCtr="1">
            <a:spAutoFit/>
          </a:bodyPr>
          <a:lstStyle/>
          <a:p>
            <a:r>
              <a:rPr lang="en-US" dirty="0">
                <a:ea typeface="標楷體" pitchFamily="65" charset="-120"/>
                <a:cs typeface="Calibri" pitchFamily="34" charset="0"/>
              </a:rPr>
              <a:t>PDE</a:t>
            </a:r>
          </a:p>
        </p:txBody>
      </p:sp>
      <p:cxnSp>
        <p:nvCxnSpPr>
          <p:cNvPr id="116" name="Straight Connector 115">
            <a:extLst>
              <a:ext uri="{FF2B5EF4-FFF2-40B4-BE49-F238E27FC236}">
                <a16:creationId xmlns:a16="http://schemas.microsoft.com/office/drawing/2014/main" id="{72C91D70-6558-4B0E-9A46-03BBADD816E8}"/>
              </a:ext>
            </a:extLst>
          </p:cNvPr>
          <p:cNvCxnSpPr/>
          <p:nvPr/>
        </p:nvCxnSpPr>
        <p:spPr bwMode="auto">
          <a:xfrm flipH="1">
            <a:off x="6709377" y="4669589"/>
            <a:ext cx="565265" cy="1081131"/>
          </a:xfrm>
          <a:prstGeom prst="line">
            <a:avLst/>
          </a:prstGeom>
          <a:noFill/>
          <a:ln w="15875" cap="flat" cmpd="sng" algn="ctr">
            <a:solidFill>
              <a:srgbClr val="FF0000"/>
            </a:solidFill>
            <a:prstDash val="solid"/>
            <a:round/>
            <a:headEnd type="none" w="med" len="med"/>
            <a:tailEnd type="none" w="med" len="med"/>
          </a:ln>
          <a:effectLst/>
        </p:spPr>
      </p:cxnSp>
      <p:cxnSp>
        <p:nvCxnSpPr>
          <p:cNvPr id="117" name="Straight Connector 116">
            <a:extLst>
              <a:ext uri="{FF2B5EF4-FFF2-40B4-BE49-F238E27FC236}">
                <a16:creationId xmlns:a16="http://schemas.microsoft.com/office/drawing/2014/main" id="{8BC2D716-A047-4B2F-888F-B85158C2EF00}"/>
              </a:ext>
            </a:extLst>
          </p:cNvPr>
          <p:cNvCxnSpPr>
            <a:cxnSpLocks/>
          </p:cNvCxnSpPr>
          <p:nvPr/>
        </p:nvCxnSpPr>
        <p:spPr bwMode="auto">
          <a:xfrm>
            <a:off x="6709377" y="4663755"/>
            <a:ext cx="565265" cy="1086965"/>
          </a:xfrm>
          <a:prstGeom prst="line">
            <a:avLst/>
          </a:prstGeom>
          <a:noFill/>
          <a:ln w="15875" cap="flat" cmpd="sng" algn="ctr">
            <a:solidFill>
              <a:srgbClr val="FF0000"/>
            </a:solidFill>
            <a:prstDash val="solid"/>
            <a:round/>
            <a:headEnd type="none" w="med" len="med"/>
            <a:tailEnd type="none" w="med" len="med"/>
          </a:ln>
          <a:effectLst/>
        </p:spPr>
      </p:cxnSp>
      <p:cxnSp>
        <p:nvCxnSpPr>
          <p:cNvPr id="119" name="Straight Arrow Connector 118">
            <a:extLst>
              <a:ext uri="{FF2B5EF4-FFF2-40B4-BE49-F238E27FC236}">
                <a16:creationId xmlns:a16="http://schemas.microsoft.com/office/drawing/2014/main" id="{00AC41DC-168A-441C-9A60-25C5DBDDF868}"/>
              </a:ext>
            </a:extLst>
          </p:cNvPr>
          <p:cNvCxnSpPr>
            <a:cxnSpLocks/>
          </p:cNvCxnSpPr>
          <p:nvPr/>
        </p:nvCxnSpPr>
        <p:spPr bwMode="auto">
          <a:xfrm>
            <a:off x="7043856" y="4458059"/>
            <a:ext cx="2914559" cy="134869"/>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343284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10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F578E0-478D-4B90-9A50-72F9F7BD2093}"/>
              </a:ext>
            </a:extLst>
          </p:cNvPr>
          <p:cNvSpPr>
            <a:spLocks noGrp="1"/>
          </p:cNvSpPr>
          <p:nvPr>
            <p:ph type="sldNum" sz="quarter" idx="10"/>
          </p:nvPr>
        </p:nvSpPr>
        <p:spPr/>
        <p:txBody>
          <a:bodyPr/>
          <a:lstStyle/>
          <a:p>
            <a:fld id="{D9B6BDF2-6896-4B98-8776-C18582F63BA5}" type="slidenum">
              <a:rPr lang="zh-TW" altLang="en-US" smtClean="0"/>
              <a:pPr/>
              <a:t>21</a:t>
            </a:fld>
            <a:endParaRPr lang="zh-TW" altLang="en-US"/>
          </a:p>
        </p:txBody>
      </p:sp>
      <p:sp>
        <p:nvSpPr>
          <p:cNvPr id="5" name="TextBox 4">
            <a:extLst>
              <a:ext uri="{FF2B5EF4-FFF2-40B4-BE49-F238E27FC236}">
                <a16:creationId xmlns:a16="http://schemas.microsoft.com/office/drawing/2014/main" id="{CC1E63A5-0CC3-4AED-B819-3ED5EB44BCAB}"/>
              </a:ext>
            </a:extLst>
          </p:cNvPr>
          <p:cNvSpPr txBox="1"/>
          <p:nvPr/>
        </p:nvSpPr>
        <p:spPr>
          <a:xfrm>
            <a:off x="3695700" y="119062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6" name="TextBox 5">
            <a:extLst>
              <a:ext uri="{FF2B5EF4-FFF2-40B4-BE49-F238E27FC236}">
                <a16:creationId xmlns:a16="http://schemas.microsoft.com/office/drawing/2014/main" id="{12973B1B-768B-4D13-98BE-EECB6E3CBFDE}"/>
              </a:ext>
            </a:extLst>
          </p:cNvPr>
          <p:cNvSpPr txBox="1"/>
          <p:nvPr/>
        </p:nvSpPr>
        <p:spPr>
          <a:xfrm>
            <a:off x="4010025" y="119062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7" name="TextBox 6">
            <a:extLst>
              <a:ext uri="{FF2B5EF4-FFF2-40B4-BE49-F238E27FC236}">
                <a16:creationId xmlns:a16="http://schemas.microsoft.com/office/drawing/2014/main" id="{AE6FABF0-CEFE-40C4-A6D8-E7D8D3CDC4C2}"/>
              </a:ext>
            </a:extLst>
          </p:cNvPr>
          <p:cNvSpPr txBox="1"/>
          <p:nvPr/>
        </p:nvSpPr>
        <p:spPr>
          <a:xfrm>
            <a:off x="4324350" y="119062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8" name="TextBox 7">
            <a:extLst>
              <a:ext uri="{FF2B5EF4-FFF2-40B4-BE49-F238E27FC236}">
                <a16:creationId xmlns:a16="http://schemas.microsoft.com/office/drawing/2014/main" id="{60E8F025-6C1B-4FD9-B2B0-C0BDE511452A}"/>
              </a:ext>
            </a:extLst>
          </p:cNvPr>
          <p:cNvSpPr txBox="1"/>
          <p:nvPr/>
        </p:nvSpPr>
        <p:spPr>
          <a:xfrm>
            <a:off x="4638675" y="119062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17" name="TextBox 16">
            <a:extLst>
              <a:ext uri="{FF2B5EF4-FFF2-40B4-BE49-F238E27FC236}">
                <a16:creationId xmlns:a16="http://schemas.microsoft.com/office/drawing/2014/main" id="{919B0771-D4AB-4AD3-9AB3-CB17EFC47E4B}"/>
              </a:ext>
            </a:extLst>
          </p:cNvPr>
          <p:cNvSpPr txBox="1"/>
          <p:nvPr/>
        </p:nvSpPr>
        <p:spPr>
          <a:xfrm>
            <a:off x="7467600" y="119062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18" name="TextBox 17">
            <a:extLst>
              <a:ext uri="{FF2B5EF4-FFF2-40B4-BE49-F238E27FC236}">
                <a16:creationId xmlns:a16="http://schemas.microsoft.com/office/drawing/2014/main" id="{DE4AEF2B-5CF9-43FE-8269-9FC38F1A6BA6}"/>
              </a:ext>
            </a:extLst>
          </p:cNvPr>
          <p:cNvSpPr txBox="1"/>
          <p:nvPr/>
        </p:nvSpPr>
        <p:spPr>
          <a:xfrm>
            <a:off x="7781925" y="119062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19" name="TextBox 18">
            <a:extLst>
              <a:ext uri="{FF2B5EF4-FFF2-40B4-BE49-F238E27FC236}">
                <a16:creationId xmlns:a16="http://schemas.microsoft.com/office/drawing/2014/main" id="{C96389C8-155E-49B0-B8BD-0142FE22A931}"/>
              </a:ext>
            </a:extLst>
          </p:cNvPr>
          <p:cNvSpPr txBox="1"/>
          <p:nvPr/>
        </p:nvSpPr>
        <p:spPr>
          <a:xfrm>
            <a:off x="8096250" y="119062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20" name="TextBox 19">
            <a:extLst>
              <a:ext uri="{FF2B5EF4-FFF2-40B4-BE49-F238E27FC236}">
                <a16:creationId xmlns:a16="http://schemas.microsoft.com/office/drawing/2014/main" id="{6B4512B0-D01C-46BC-9E1B-CF044F485E87}"/>
              </a:ext>
            </a:extLst>
          </p:cNvPr>
          <p:cNvSpPr txBox="1"/>
          <p:nvPr/>
        </p:nvSpPr>
        <p:spPr>
          <a:xfrm>
            <a:off x="8410575" y="119062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33" name="TextBox 32">
            <a:extLst>
              <a:ext uri="{FF2B5EF4-FFF2-40B4-BE49-F238E27FC236}">
                <a16:creationId xmlns:a16="http://schemas.microsoft.com/office/drawing/2014/main" id="{0205E606-3679-4DDC-89BC-15F0A61A1086}"/>
              </a:ext>
            </a:extLst>
          </p:cNvPr>
          <p:cNvSpPr txBox="1"/>
          <p:nvPr/>
        </p:nvSpPr>
        <p:spPr>
          <a:xfrm>
            <a:off x="114300"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34" name="TextBox 33">
            <a:extLst>
              <a:ext uri="{FF2B5EF4-FFF2-40B4-BE49-F238E27FC236}">
                <a16:creationId xmlns:a16="http://schemas.microsoft.com/office/drawing/2014/main" id="{E569F619-8E8B-430B-A202-3DE23D507E96}"/>
              </a:ext>
            </a:extLst>
          </p:cNvPr>
          <p:cNvSpPr txBox="1"/>
          <p:nvPr/>
        </p:nvSpPr>
        <p:spPr>
          <a:xfrm>
            <a:off x="428625"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35" name="TextBox 34">
            <a:extLst>
              <a:ext uri="{FF2B5EF4-FFF2-40B4-BE49-F238E27FC236}">
                <a16:creationId xmlns:a16="http://schemas.microsoft.com/office/drawing/2014/main" id="{E2C5C983-A2E1-4135-AB65-6B7FE3EBA7C9}"/>
              </a:ext>
            </a:extLst>
          </p:cNvPr>
          <p:cNvSpPr txBox="1"/>
          <p:nvPr/>
        </p:nvSpPr>
        <p:spPr>
          <a:xfrm>
            <a:off x="742950"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36" name="TextBox 35">
            <a:extLst>
              <a:ext uri="{FF2B5EF4-FFF2-40B4-BE49-F238E27FC236}">
                <a16:creationId xmlns:a16="http://schemas.microsoft.com/office/drawing/2014/main" id="{57EBD86B-4979-447A-A32C-2C5057716B21}"/>
              </a:ext>
            </a:extLst>
          </p:cNvPr>
          <p:cNvSpPr txBox="1"/>
          <p:nvPr/>
        </p:nvSpPr>
        <p:spPr>
          <a:xfrm>
            <a:off x="1057275"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37" name="TextBox 36">
            <a:extLst>
              <a:ext uri="{FF2B5EF4-FFF2-40B4-BE49-F238E27FC236}">
                <a16:creationId xmlns:a16="http://schemas.microsoft.com/office/drawing/2014/main" id="{00CD5722-A1F3-4C62-A447-A4328BFBACD7}"/>
              </a:ext>
            </a:extLst>
          </p:cNvPr>
          <p:cNvSpPr txBox="1"/>
          <p:nvPr/>
        </p:nvSpPr>
        <p:spPr>
          <a:xfrm>
            <a:off x="1371600"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38" name="TextBox 37">
            <a:extLst>
              <a:ext uri="{FF2B5EF4-FFF2-40B4-BE49-F238E27FC236}">
                <a16:creationId xmlns:a16="http://schemas.microsoft.com/office/drawing/2014/main" id="{F03F234F-8FA8-4B47-8AF4-88F8C9993C97}"/>
              </a:ext>
            </a:extLst>
          </p:cNvPr>
          <p:cNvSpPr txBox="1"/>
          <p:nvPr/>
        </p:nvSpPr>
        <p:spPr>
          <a:xfrm>
            <a:off x="1685925"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39" name="TextBox 38">
            <a:extLst>
              <a:ext uri="{FF2B5EF4-FFF2-40B4-BE49-F238E27FC236}">
                <a16:creationId xmlns:a16="http://schemas.microsoft.com/office/drawing/2014/main" id="{B5D8B828-360B-43B4-B218-E42F298096A3}"/>
              </a:ext>
            </a:extLst>
          </p:cNvPr>
          <p:cNvSpPr txBox="1"/>
          <p:nvPr/>
        </p:nvSpPr>
        <p:spPr>
          <a:xfrm>
            <a:off x="2000250"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40" name="TextBox 39">
            <a:extLst>
              <a:ext uri="{FF2B5EF4-FFF2-40B4-BE49-F238E27FC236}">
                <a16:creationId xmlns:a16="http://schemas.microsoft.com/office/drawing/2014/main" id="{84883592-DC8C-436A-813D-24B1FF78C173}"/>
              </a:ext>
            </a:extLst>
          </p:cNvPr>
          <p:cNvSpPr txBox="1"/>
          <p:nvPr/>
        </p:nvSpPr>
        <p:spPr>
          <a:xfrm>
            <a:off x="2314575"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41" name="TextBox 40">
            <a:extLst>
              <a:ext uri="{FF2B5EF4-FFF2-40B4-BE49-F238E27FC236}">
                <a16:creationId xmlns:a16="http://schemas.microsoft.com/office/drawing/2014/main" id="{796856D0-3530-4795-AE57-0BF4B3D34A01}"/>
              </a:ext>
            </a:extLst>
          </p:cNvPr>
          <p:cNvSpPr txBox="1"/>
          <p:nvPr/>
        </p:nvSpPr>
        <p:spPr>
          <a:xfrm>
            <a:off x="3886200"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42" name="TextBox 41">
            <a:extLst>
              <a:ext uri="{FF2B5EF4-FFF2-40B4-BE49-F238E27FC236}">
                <a16:creationId xmlns:a16="http://schemas.microsoft.com/office/drawing/2014/main" id="{B57C44E7-CBB9-4F37-A1B4-2D78B955A287}"/>
              </a:ext>
            </a:extLst>
          </p:cNvPr>
          <p:cNvSpPr txBox="1"/>
          <p:nvPr/>
        </p:nvSpPr>
        <p:spPr>
          <a:xfrm>
            <a:off x="4200525"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43" name="TextBox 42">
            <a:extLst>
              <a:ext uri="{FF2B5EF4-FFF2-40B4-BE49-F238E27FC236}">
                <a16:creationId xmlns:a16="http://schemas.microsoft.com/office/drawing/2014/main" id="{77853112-65E1-4E8C-A982-EF90D2B57CF7}"/>
              </a:ext>
            </a:extLst>
          </p:cNvPr>
          <p:cNvSpPr txBox="1"/>
          <p:nvPr/>
        </p:nvSpPr>
        <p:spPr>
          <a:xfrm>
            <a:off x="4514850"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44" name="TextBox 43">
            <a:extLst>
              <a:ext uri="{FF2B5EF4-FFF2-40B4-BE49-F238E27FC236}">
                <a16:creationId xmlns:a16="http://schemas.microsoft.com/office/drawing/2014/main" id="{9EF9D6DB-FB40-4B9E-BF23-F3B8722C52B2}"/>
              </a:ext>
            </a:extLst>
          </p:cNvPr>
          <p:cNvSpPr txBox="1"/>
          <p:nvPr/>
        </p:nvSpPr>
        <p:spPr>
          <a:xfrm>
            <a:off x="4829175"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45" name="TextBox 44">
            <a:extLst>
              <a:ext uri="{FF2B5EF4-FFF2-40B4-BE49-F238E27FC236}">
                <a16:creationId xmlns:a16="http://schemas.microsoft.com/office/drawing/2014/main" id="{699FBBD7-AE80-4049-9175-C378FA39A755}"/>
              </a:ext>
            </a:extLst>
          </p:cNvPr>
          <p:cNvSpPr txBox="1"/>
          <p:nvPr/>
        </p:nvSpPr>
        <p:spPr>
          <a:xfrm>
            <a:off x="2628900" y="2533977"/>
            <a:ext cx="1257300" cy="523220"/>
          </a:xfrm>
          <a:prstGeom prst="rect">
            <a:avLst/>
          </a:prstGeom>
          <a:noFill/>
          <a:ln w="19050">
            <a:solidFill>
              <a:srgbClr val="002060"/>
            </a:solidFill>
          </a:ln>
        </p:spPr>
        <p:txBody>
          <a:bodyPr wrap="square" rtlCol="0" anchor="ctr" anchorCtr="1">
            <a:spAutoFit/>
          </a:bodyPr>
          <a:lstStyle/>
          <a:p>
            <a:r>
              <a:rPr lang="en-US" sz="2800" dirty="0">
                <a:ea typeface="標楷體" pitchFamily="65" charset="-120"/>
                <a:cs typeface="Calibri" pitchFamily="34" charset="0"/>
              </a:rPr>
              <a:t>…..</a:t>
            </a:r>
          </a:p>
        </p:txBody>
      </p:sp>
      <p:sp>
        <p:nvSpPr>
          <p:cNvPr id="46" name="TextBox 45">
            <a:extLst>
              <a:ext uri="{FF2B5EF4-FFF2-40B4-BE49-F238E27FC236}">
                <a16:creationId xmlns:a16="http://schemas.microsoft.com/office/drawing/2014/main" id="{DBDD03B0-D19D-48B0-96BC-B2B8F0CEF51B}"/>
              </a:ext>
            </a:extLst>
          </p:cNvPr>
          <p:cNvSpPr txBox="1"/>
          <p:nvPr/>
        </p:nvSpPr>
        <p:spPr>
          <a:xfrm>
            <a:off x="7048500"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47" name="TextBox 46">
            <a:extLst>
              <a:ext uri="{FF2B5EF4-FFF2-40B4-BE49-F238E27FC236}">
                <a16:creationId xmlns:a16="http://schemas.microsoft.com/office/drawing/2014/main" id="{FF3FAF62-FD6D-4B30-94E0-0912BDDE2E5D}"/>
              </a:ext>
            </a:extLst>
          </p:cNvPr>
          <p:cNvSpPr txBox="1"/>
          <p:nvPr/>
        </p:nvSpPr>
        <p:spPr>
          <a:xfrm>
            <a:off x="7362825"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48" name="TextBox 47">
            <a:extLst>
              <a:ext uri="{FF2B5EF4-FFF2-40B4-BE49-F238E27FC236}">
                <a16:creationId xmlns:a16="http://schemas.microsoft.com/office/drawing/2014/main" id="{616AECD3-6A49-40BC-9E8A-4E1A1C48E81E}"/>
              </a:ext>
            </a:extLst>
          </p:cNvPr>
          <p:cNvSpPr txBox="1"/>
          <p:nvPr/>
        </p:nvSpPr>
        <p:spPr>
          <a:xfrm>
            <a:off x="7677150"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49" name="TextBox 48">
            <a:extLst>
              <a:ext uri="{FF2B5EF4-FFF2-40B4-BE49-F238E27FC236}">
                <a16:creationId xmlns:a16="http://schemas.microsoft.com/office/drawing/2014/main" id="{F042D368-37F2-4073-8326-4A67037C0907}"/>
              </a:ext>
            </a:extLst>
          </p:cNvPr>
          <p:cNvSpPr txBox="1"/>
          <p:nvPr/>
        </p:nvSpPr>
        <p:spPr>
          <a:xfrm>
            <a:off x="7991475"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50" name="TextBox 49">
            <a:extLst>
              <a:ext uri="{FF2B5EF4-FFF2-40B4-BE49-F238E27FC236}">
                <a16:creationId xmlns:a16="http://schemas.microsoft.com/office/drawing/2014/main" id="{ECC968E1-1BA5-465D-9ADC-8572A3EC8922}"/>
              </a:ext>
            </a:extLst>
          </p:cNvPr>
          <p:cNvSpPr txBox="1"/>
          <p:nvPr/>
        </p:nvSpPr>
        <p:spPr>
          <a:xfrm>
            <a:off x="8305800"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51" name="TextBox 50">
            <a:extLst>
              <a:ext uri="{FF2B5EF4-FFF2-40B4-BE49-F238E27FC236}">
                <a16:creationId xmlns:a16="http://schemas.microsoft.com/office/drawing/2014/main" id="{84C6F4EB-92C6-461F-9A9E-E9E48337FBAC}"/>
              </a:ext>
            </a:extLst>
          </p:cNvPr>
          <p:cNvSpPr txBox="1"/>
          <p:nvPr/>
        </p:nvSpPr>
        <p:spPr>
          <a:xfrm>
            <a:off x="8620125"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52" name="TextBox 51">
            <a:extLst>
              <a:ext uri="{FF2B5EF4-FFF2-40B4-BE49-F238E27FC236}">
                <a16:creationId xmlns:a16="http://schemas.microsoft.com/office/drawing/2014/main" id="{023D52BA-B623-445E-8F02-BEFD077386E0}"/>
              </a:ext>
            </a:extLst>
          </p:cNvPr>
          <p:cNvSpPr txBox="1"/>
          <p:nvPr/>
        </p:nvSpPr>
        <p:spPr>
          <a:xfrm>
            <a:off x="8934450"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53" name="TextBox 52">
            <a:extLst>
              <a:ext uri="{FF2B5EF4-FFF2-40B4-BE49-F238E27FC236}">
                <a16:creationId xmlns:a16="http://schemas.microsoft.com/office/drawing/2014/main" id="{7BF5A31D-6861-4791-B677-89339D6A27EE}"/>
              </a:ext>
            </a:extLst>
          </p:cNvPr>
          <p:cNvSpPr txBox="1"/>
          <p:nvPr/>
        </p:nvSpPr>
        <p:spPr>
          <a:xfrm>
            <a:off x="9248775"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54" name="TextBox 53">
            <a:extLst>
              <a:ext uri="{FF2B5EF4-FFF2-40B4-BE49-F238E27FC236}">
                <a16:creationId xmlns:a16="http://schemas.microsoft.com/office/drawing/2014/main" id="{3DC6012D-D717-46F6-BE1D-60CE3554B9DA}"/>
              </a:ext>
            </a:extLst>
          </p:cNvPr>
          <p:cNvSpPr txBox="1"/>
          <p:nvPr/>
        </p:nvSpPr>
        <p:spPr>
          <a:xfrm>
            <a:off x="10820400"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55" name="TextBox 54">
            <a:extLst>
              <a:ext uri="{FF2B5EF4-FFF2-40B4-BE49-F238E27FC236}">
                <a16:creationId xmlns:a16="http://schemas.microsoft.com/office/drawing/2014/main" id="{D53239A4-4EF0-46A6-830C-CECD19E9CF2F}"/>
              </a:ext>
            </a:extLst>
          </p:cNvPr>
          <p:cNvSpPr txBox="1"/>
          <p:nvPr/>
        </p:nvSpPr>
        <p:spPr>
          <a:xfrm>
            <a:off x="11134725"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56" name="TextBox 55">
            <a:extLst>
              <a:ext uri="{FF2B5EF4-FFF2-40B4-BE49-F238E27FC236}">
                <a16:creationId xmlns:a16="http://schemas.microsoft.com/office/drawing/2014/main" id="{48EA83E4-BC10-4CB8-8AC8-ACEEE922D3D4}"/>
              </a:ext>
            </a:extLst>
          </p:cNvPr>
          <p:cNvSpPr txBox="1"/>
          <p:nvPr/>
        </p:nvSpPr>
        <p:spPr>
          <a:xfrm>
            <a:off x="11449050"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57" name="TextBox 56">
            <a:extLst>
              <a:ext uri="{FF2B5EF4-FFF2-40B4-BE49-F238E27FC236}">
                <a16:creationId xmlns:a16="http://schemas.microsoft.com/office/drawing/2014/main" id="{FE1C1507-C279-4D73-93FA-F02907B96C12}"/>
              </a:ext>
            </a:extLst>
          </p:cNvPr>
          <p:cNvSpPr txBox="1"/>
          <p:nvPr/>
        </p:nvSpPr>
        <p:spPr>
          <a:xfrm>
            <a:off x="11763375"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58" name="TextBox 57">
            <a:extLst>
              <a:ext uri="{FF2B5EF4-FFF2-40B4-BE49-F238E27FC236}">
                <a16:creationId xmlns:a16="http://schemas.microsoft.com/office/drawing/2014/main" id="{8B31D224-20CB-4FB8-A112-C296B61B6962}"/>
              </a:ext>
            </a:extLst>
          </p:cNvPr>
          <p:cNvSpPr txBox="1"/>
          <p:nvPr/>
        </p:nvSpPr>
        <p:spPr>
          <a:xfrm>
            <a:off x="9563100" y="2524780"/>
            <a:ext cx="1257300" cy="523220"/>
          </a:xfrm>
          <a:prstGeom prst="rect">
            <a:avLst/>
          </a:prstGeom>
          <a:noFill/>
          <a:ln w="19050">
            <a:solidFill>
              <a:srgbClr val="002060"/>
            </a:solidFill>
          </a:ln>
        </p:spPr>
        <p:txBody>
          <a:bodyPr wrap="square" rtlCol="0" anchor="ctr" anchorCtr="1">
            <a:spAutoFit/>
          </a:bodyPr>
          <a:lstStyle/>
          <a:p>
            <a:r>
              <a:rPr lang="en-US" sz="2800" dirty="0">
                <a:ea typeface="標楷體" pitchFamily="65" charset="-120"/>
                <a:cs typeface="Calibri" pitchFamily="34" charset="0"/>
              </a:rPr>
              <a:t>…..</a:t>
            </a:r>
          </a:p>
        </p:txBody>
      </p:sp>
      <p:cxnSp>
        <p:nvCxnSpPr>
          <p:cNvPr id="60" name="Straight Arrow Connector 59">
            <a:extLst>
              <a:ext uri="{FF2B5EF4-FFF2-40B4-BE49-F238E27FC236}">
                <a16:creationId xmlns:a16="http://schemas.microsoft.com/office/drawing/2014/main" id="{F4B6DEC0-DB70-4FDB-ACE5-C7EC81F04F24}"/>
              </a:ext>
            </a:extLst>
          </p:cNvPr>
          <p:cNvCxnSpPr>
            <a:cxnSpLocks/>
          </p:cNvCxnSpPr>
          <p:nvPr/>
        </p:nvCxnSpPr>
        <p:spPr bwMode="auto">
          <a:xfrm flipH="1">
            <a:off x="114300" y="1438275"/>
            <a:ext cx="3771900" cy="1086505"/>
          </a:xfrm>
          <a:prstGeom prst="straightConnector1">
            <a:avLst/>
          </a:prstGeom>
          <a:noFill/>
          <a:ln w="15875" cap="flat" cmpd="sng" algn="ctr">
            <a:solidFill>
              <a:srgbClr val="FF0000"/>
            </a:solidFill>
            <a:prstDash val="solid"/>
            <a:round/>
            <a:headEnd type="none" w="med" len="med"/>
            <a:tailEnd type="triangle"/>
          </a:ln>
          <a:effectLst/>
        </p:spPr>
      </p:cxnSp>
      <p:cxnSp>
        <p:nvCxnSpPr>
          <p:cNvPr id="62" name="Straight Arrow Connector 61">
            <a:extLst>
              <a:ext uri="{FF2B5EF4-FFF2-40B4-BE49-F238E27FC236}">
                <a16:creationId xmlns:a16="http://schemas.microsoft.com/office/drawing/2014/main" id="{2E183036-13A4-4C03-83C0-981BB2CBCAE2}"/>
              </a:ext>
            </a:extLst>
          </p:cNvPr>
          <p:cNvCxnSpPr>
            <a:cxnSpLocks/>
            <a:endCxn id="46" idx="0"/>
          </p:cNvCxnSpPr>
          <p:nvPr/>
        </p:nvCxnSpPr>
        <p:spPr bwMode="auto">
          <a:xfrm flipH="1">
            <a:off x="7205663" y="1484917"/>
            <a:ext cx="1395412" cy="1049061"/>
          </a:xfrm>
          <a:prstGeom prst="straightConnector1">
            <a:avLst/>
          </a:prstGeom>
          <a:noFill/>
          <a:ln w="15875" cap="flat" cmpd="sng" algn="ctr">
            <a:solidFill>
              <a:srgbClr val="FF0000"/>
            </a:solidFill>
            <a:prstDash val="solid"/>
            <a:round/>
            <a:headEnd type="none" w="med" len="med"/>
            <a:tailEnd type="triangle"/>
          </a:ln>
          <a:effectLst/>
        </p:spPr>
      </p:cxnSp>
      <p:pic>
        <p:nvPicPr>
          <p:cNvPr id="65" name="Picture 64">
            <a:extLst>
              <a:ext uri="{FF2B5EF4-FFF2-40B4-BE49-F238E27FC236}">
                <a16:creationId xmlns:a16="http://schemas.microsoft.com/office/drawing/2014/main" id="{511AA886-826E-4D51-A8B5-434E96E6D457}"/>
              </a:ext>
            </a:extLst>
          </p:cNvPr>
          <p:cNvPicPr>
            <a:picLocks noChangeAspect="1"/>
          </p:cNvPicPr>
          <p:nvPr/>
        </p:nvPicPr>
        <p:blipFill>
          <a:blip r:embed="rId2"/>
          <a:stretch>
            <a:fillRect/>
          </a:stretch>
        </p:blipFill>
        <p:spPr>
          <a:xfrm>
            <a:off x="128216" y="3810001"/>
            <a:ext cx="3286497" cy="440156"/>
          </a:xfrm>
          <a:prstGeom prst="rect">
            <a:avLst/>
          </a:prstGeom>
        </p:spPr>
      </p:pic>
      <p:pic>
        <p:nvPicPr>
          <p:cNvPr id="66" name="Picture 65">
            <a:extLst>
              <a:ext uri="{FF2B5EF4-FFF2-40B4-BE49-F238E27FC236}">
                <a16:creationId xmlns:a16="http://schemas.microsoft.com/office/drawing/2014/main" id="{56DD731A-A315-413C-BE29-5F9196CD245B}"/>
              </a:ext>
            </a:extLst>
          </p:cNvPr>
          <p:cNvPicPr>
            <a:picLocks noChangeAspect="1"/>
          </p:cNvPicPr>
          <p:nvPr/>
        </p:nvPicPr>
        <p:blipFill>
          <a:blip r:embed="rId2"/>
          <a:stretch>
            <a:fillRect/>
          </a:stretch>
        </p:blipFill>
        <p:spPr>
          <a:xfrm>
            <a:off x="666378" y="4062463"/>
            <a:ext cx="3286497" cy="440156"/>
          </a:xfrm>
          <a:prstGeom prst="rect">
            <a:avLst/>
          </a:prstGeom>
        </p:spPr>
      </p:pic>
      <p:pic>
        <p:nvPicPr>
          <p:cNvPr id="67" name="Picture 66">
            <a:extLst>
              <a:ext uri="{FF2B5EF4-FFF2-40B4-BE49-F238E27FC236}">
                <a16:creationId xmlns:a16="http://schemas.microsoft.com/office/drawing/2014/main" id="{D35D42A6-981F-4C19-87CC-64114287473E}"/>
              </a:ext>
            </a:extLst>
          </p:cNvPr>
          <p:cNvPicPr>
            <a:picLocks noChangeAspect="1"/>
          </p:cNvPicPr>
          <p:nvPr/>
        </p:nvPicPr>
        <p:blipFill>
          <a:blip r:embed="rId2"/>
          <a:stretch>
            <a:fillRect/>
          </a:stretch>
        </p:blipFill>
        <p:spPr>
          <a:xfrm>
            <a:off x="1037853" y="4292066"/>
            <a:ext cx="3286497" cy="440156"/>
          </a:xfrm>
          <a:prstGeom prst="rect">
            <a:avLst/>
          </a:prstGeom>
        </p:spPr>
      </p:pic>
      <p:pic>
        <p:nvPicPr>
          <p:cNvPr id="68" name="Picture 67">
            <a:extLst>
              <a:ext uri="{FF2B5EF4-FFF2-40B4-BE49-F238E27FC236}">
                <a16:creationId xmlns:a16="http://schemas.microsoft.com/office/drawing/2014/main" id="{D93BBEAA-A272-4191-A5C1-50F0F2011FBD}"/>
              </a:ext>
            </a:extLst>
          </p:cNvPr>
          <p:cNvPicPr>
            <a:picLocks noChangeAspect="1"/>
          </p:cNvPicPr>
          <p:nvPr/>
        </p:nvPicPr>
        <p:blipFill>
          <a:blip r:embed="rId2"/>
          <a:stretch>
            <a:fillRect/>
          </a:stretch>
        </p:blipFill>
        <p:spPr>
          <a:xfrm>
            <a:off x="7605526" y="3773968"/>
            <a:ext cx="3286497" cy="440156"/>
          </a:xfrm>
          <a:prstGeom prst="rect">
            <a:avLst/>
          </a:prstGeom>
        </p:spPr>
      </p:pic>
      <p:pic>
        <p:nvPicPr>
          <p:cNvPr id="69" name="Picture 68">
            <a:extLst>
              <a:ext uri="{FF2B5EF4-FFF2-40B4-BE49-F238E27FC236}">
                <a16:creationId xmlns:a16="http://schemas.microsoft.com/office/drawing/2014/main" id="{31ECAB5A-4506-45CD-ADC9-0BB0CEBA941F}"/>
              </a:ext>
            </a:extLst>
          </p:cNvPr>
          <p:cNvPicPr>
            <a:picLocks noChangeAspect="1"/>
          </p:cNvPicPr>
          <p:nvPr/>
        </p:nvPicPr>
        <p:blipFill>
          <a:blip r:embed="rId2"/>
          <a:stretch>
            <a:fillRect/>
          </a:stretch>
        </p:blipFill>
        <p:spPr>
          <a:xfrm>
            <a:off x="7977001" y="3972289"/>
            <a:ext cx="3286497" cy="440156"/>
          </a:xfrm>
          <a:prstGeom prst="rect">
            <a:avLst/>
          </a:prstGeom>
        </p:spPr>
      </p:pic>
      <p:sp>
        <p:nvSpPr>
          <p:cNvPr id="70" name="TextBox 69">
            <a:extLst>
              <a:ext uri="{FF2B5EF4-FFF2-40B4-BE49-F238E27FC236}">
                <a16:creationId xmlns:a16="http://schemas.microsoft.com/office/drawing/2014/main" id="{07A5603E-0655-43B9-81E0-C173826925BF}"/>
              </a:ext>
            </a:extLst>
          </p:cNvPr>
          <p:cNvSpPr txBox="1"/>
          <p:nvPr/>
        </p:nvSpPr>
        <p:spPr>
          <a:xfrm>
            <a:off x="2786908" y="1190625"/>
            <a:ext cx="941283" cy="369332"/>
          </a:xfrm>
          <a:prstGeom prst="rect">
            <a:avLst/>
          </a:prstGeom>
          <a:noFill/>
        </p:spPr>
        <p:txBody>
          <a:bodyPr wrap="none" rtlCol="0" anchor="ctr" anchorCtr="1">
            <a:spAutoFit/>
          </a:bodyPr>
          <a:lstStyle/>
          <a:p>
            <a:r>
              <a:rPr lang="en-US" dirty="0">
                <a:ea typeface="標楷體" pitchFamily="65" charset="-120"/>
                <a:cs typeface="Calibri" pitchFamily="34" charset="0"/>
              </a:rPr>
              <a:t>PML4E</a:t>
            </a:r>
          </a:p>
        </p:txBody>
      </p:sp>
      <p:sp>
        <p:nvSpPr>
          <p:cNvPr id="71" name="TextBox 70">
            <a:extLst>
              <a:ext uri="{FF2B5EF4-FFF2-40B4-BE49-F238E27FC236}">
                <a16:creationId xmlns:a16="http://schemas.microsoft.com/office/drawing/2014/main" id="{82DE242C-EFC4-4BEB-A0A9-ED4F9F23173B}"/>
              </a:ext>
            </a:extLst>
          </p:cNvPr>
          <p:cNvSpPr txBox="1"/>
          <p:nvPr/>
        </p:nvSpPr>
        <p:spPr>
          <a:xfrm>
            <a:off x="5693726" y="2610921"/>
            <a:ext cx="813043" cy="369332"/>
          </a:xfrm>
          <a:prstGeom prst="rect">
            <a:avLst/>
          </a:prstGeom>
          <a:noFill/>
        </p:spPr>
        <p:txBody>
          <a:bodyPr wrap="none" rtlCol="0" anchor="ctr" anchorCtr="1">
            <a:spAutoFit/>
          </a:bodyPr>
          <a:lstStyle/>
          <a:p>
            <a:r>
              <a:rPr lang="en-US" dirty="0">
                <a:ea typeface="標楷體" pitchFamily="65" charset="-120"/>
                <a:cs typeface="Calibri" pitchFamily="34" charset="0"/>
              </a:rPr>
              <a:t>PDPE</a:t>
            </a:r>
          </a:p>
        </p:txBody>
      </p:sp>
      <p:pic>
        <p:nvPicPr>
          <p:cNvPr id="72" name="Picture 71">
            <a:extLst>
              <a:ext uri="{FF2B5EF4-FFF2-40B4-BE49-F238E27FC236}">
                <a16:creationId xmlns:a16="http://schemas.microsoft.com/office/drawing/2014/main" id="{C20E2609-41F2-4B34-9379-834BD46EE5C2}"/>
              </a:ext>
            </a:extLst>
          </p:cNvPr>
          <p:cNvPicPr>
            <a:picLocks noChangeAspect="1"/>
          </p:cNvPicPr>
          <p:nvPr/>
        </p:nvPicPr>
        <p:blipFill>
          <a:blip r:embed="rId2"/>
          <a:stretch>
            <a:fillRect/>
          </a:stretch>
        </p:blipFill>
        <p:spPr>
          <a:xfrm>
            <a:off x="1385516" y="5199647"/>
            <a:ext cx="3286497" cy="440156"/>
          </a:xfrm>
          <a:prstGeom prst="rect">
            <a:avLst/>
          </a:prstGeom>
        </p:spPr>
      </p:pic>
      <p:pic>
        <p:nvPicPr>
          <p:cNvPr id="73" name="Picture 72">
            <a:extLst>
              <a:ext uri="{FF2B5EF4-FFF2-40B4-BE49-F238E27FC236}">
                <a16:creationId xmlns:a16="http://schemas.microsoft.com/office/drawing/2014/main" id="{4D22565A-124B-49F2-AB6A-8222FE903F6D}"/>
              </a:ext>
            </a:extLst>
          </p:cNvPr>
          <p:cNvPicPr>
            <a:picLocks noChangeAspect="1"/>
          </p:cNvPicPr>
          <p:nvPr/>
        </p:nvPicPr>
        <p:blipFill>
          <a:blip r:embed="rId2"/>
          <a:stretch>
            <a:fillRect/>
          </a:stretch>
        </p:blipFill>
        <p:spPr>
          <a:xfrm>
            <a:off x="1923678" y="5452109"/>
            <a:ext cx="3286497" cy="440156"/>
          </a:xfrm>
          <a:prstGeom prst="rect">
            <a:avLst/>
          </a:prstGeom>
        </p:spPr>
      </p:pic>
      <p:pic>
        <p:nvPicPr>
          <p:cNvPr id="74" name="Picture 73">
            <a:extLst>
              <a:ext uri="{FF2B5EF4-FFF2-40B4-BE49-F238E27FC236}">
                <a16:creationId xmlns:a16="http://schemas.microsoft.com/office/drawing/2014/main" id="{44A2FFEE-E8B7-4EE1-A7F5-1491A7D2638D}"/>
              </a:ext>
            </a:extLst>
          </p:cNvPr>
          <p:cNvPicPr>
            <a:picLocks noChangeAspect="1"/>
          </p:cNvPicPr>
          <p:nvPr/>
        </p:nvPicPr>
        <p:blipFill>
          <a:blip r:embed="rId2"/>
          <a:stretch>
            <a:fillRect/>
          </a:stretch>
        </p:blipFill>
        <p:spPr>
          <a:xfrm>
            <a:off x="2295153" y="5681712"/>
            <a:ext cx="3286497" cy="440156"/>
          </a:xfrm>
          <a:prstGeom prst="rect">
            <a:avLst/>
          </a:prstGeom>
        </p:spPr>
      </p:pic>
      <p:pic>
        <p:nvPicPr>
          <p:cNvPr id="75" name="Picture 74">
            <a:extLst>
              <a:ext uri="{FF2B5EF4-FFF2-40B4-BE49-F238E27FC236}">
                <a16:creationId xmlns:a16="http://schemas.microsoft.com/office/drawing/2014/main" id="{B070AF93-F476-4629-B853-DC25542314BC}"/>
              </a:ext>
            </a:extLst>
          </p:cNvPr>
          <p:cNvPicPr>
            <a:picLocks noChangeAspect="1"/>
          </p:cNvPicPr>
          <p:nvPr/>
        </p:nvPicPr>
        <p:blipFill>
          <a:blip r:embed="rId2"/>
          <a:stretch>
            <a:fillRect/>
          </a:stretch>
        </p:blipFill>
        <p:spPr>
          <a:xfrm>
            <a:off x="7677150" y="5227219"/>
            <a:ext cx="3286497" cy="440156"/>
          </a:xfrm>
          <a:prstGeom prst="rect">
            <a:avLst/>
          </a:prstGeom>
        </p:spPr>
      </p:pic>
      <p:pic>
        <p:nvPicPr>
          <p:cNvPr id="76" name="Picture 75">
            <a:extLst>
              <a:ext uri="{FF2B5EF4-FFF2-40B4-BE49-F238E27FC236}">
                <a16:creationId xmlns:a16="http://schemas.microsoft.com/office/drawing/2014/main" id="{CF9617B6-A198-4444-8182-616CE95D917F}"/>
              </a:ext>
            </a:extLst>
          </p:cNvPr>
          <p:cNvPicPr>
            <a:picLocks noChangeAspect="1"/>
          </p:cNvPicPr>
          <p:nvPr/>
        </p:nvPicPr>
        <p:blipFill>
          <a:blip r:embed="rId2"/>
          <a:stretch>
            <a:fillRect/>
          </a:stretch>
        </p:blipFill>
        <p:spPr>
          <a:xfrm>
            <a:off x="8215312" y="5479681"/>
            <a:ext cx="3286497" cy="440156"/>
          </a:xfrm>
          <a:prstGeom prst="rect">
            <a:avLst/>
          </a:prstGeom>
        </p:spPr>
      </p:pic>
      <p:pic>
        <p:nvPicPr>
          <p:cNvPr id="77" name="Picture 76">
            <a:extLst>
              <a:ext uri="{FF2B5EF4-FFF2-40B4-BE49-F238E27FC236}">
                <a16:creationId xmlns:a16="http://schemas.microsoft.com/office/drawing/2014/main" id="{52FEC533-8026-4674-A7A9-004D6B6623BB}"/>
              </a:ext>
            </a:extLst>
          </p:cNvPr>
          <p:cNvPicPr>
            <a:picLocks noChangeAspect="1"/>
          </p:cNvPicPr>
          <p:nvPr/>
        </p:nvPicPr>
        <p:blipFill>
          <a:blip r:embed="rId2"/>
          <a:stretch>
            <a:fillRect/>
          </a:stretch>
        </p:blipFill>
        <p:spPr>
          <a:xfrm>
            <a:off x="8586787" y="5709284"/>
            <a:ext cx="3286497" cy="440156"/>
          </a:xfrm>
          <a:prstGeom prst="rect">
            <a:avLst/>
          </a:prstGeom>
        </p:spPr>
      </p:pic>
      <p:cxnSp>
        <p:nvCxnSpPr>
          <p:cNvPr id="78" name="Straight Arrow Connector 77">
            <a:extLst>
              <a:ext uri="{FF2B5EF4-FFF2-40B4-BE49-F238E27FC236}">
                <a16:creationId xmlns:a16="http://schemas.microsoft.com/office/drawing/2014/main" id="{A2875852-0682-4A45-8F9D-1413C485D2B2}"/>
              </a:ext>
            </a:extLst>
          </p:cNvPr>
          <p:cNvCxnSpPr>
            <a:cxnSpLocks/>
          </p:cNvCxnSpPr>
          <p:nvPr/>
        </p:nvCxnSpPr>
        <p:spPr bwMode="auto">
          <a:xfrm>
            <a:off x="352425" y="2926012"/>
            <a:ext cx="57151" cy="883989"/>
          </a:xfrm>
          <a:prstGeom prst="straightConnector1">
            <a:avLst/>
          </a:prstGeom>
          <a:noFill/>
          <a:ln w="15875" cap="flat" cmpd="sng" algn="ctr">
            <a:solidFill>
              <a:srgbClr val="FF0000"/>
            </a:solidFill>
            <a:prstDash val="solid"/>
            <a:round/>
            <a:headEnd type="none" w="med" len="med"/>
            <a:tailEnd type="triangle"/>
          </a:ln>
          <a:effectLst/>
        </p:spPr>
      </p:cxnSp>
      <p:cxnSp>
        <p:nvCxnSpPr>
          <p:cNvPr id="82" name="Straight Arrow Connector 81">
            <a:extLst>
              <a:ext uri="{FF2B5EF4-FFF2-40B4-BE49-F238E27FC236}">
                <a16:creationId xmlns:a16="http://schemas.microsoft.com/office/drawing/2014/main" id="{17ED1913-68F8-4539-A96F-B37D66A6464B}"/>
              </a:ext>
            </a:extLst>
          </p:cNvPr>
          <p:cNvCxnSpPr>
            <a:cxnSpLocks/>
          </p:cNvCxnSpPr>
          <p:nvPr/>
        </p:nvCxnSpPr>
        <p:spPr bwMode="auto">
          <a:xfrm>
            <a:off x="590550" y="2916815"/>
            <a:ext cx="266700" cy="1145648"/>
          </a:xfrm>
          <a:prstGeom prst="straightConnector1">
            <a:avLst/>
          </a:prstGeom>
          <a:noFill/>
          <a:ln w="15875" cap="flat" cmpd="sng" algn="ctr">
            <a:solidFill>
              <a:srgbClr val="FF0000"/>
            </a:solidFill>
            <a:prstDash val="solid"/>
            <a:round/>
            <a:headEnd type="none" w="med" len="med"/>
            <a:tailEnd type="triangle"/>
          </a:ln>
          <a:effectLst/>
        </p:spPr>
      </p:cxnSp>
      <p:cxnSp>
        <p:nvCxnSpPr>
          <p:cNvPr id="84" name="Straight Arrow Connector 83">
            <a:extLst>
              <a:ext uri="{FF2B5EF4-FFF2-40B4-BE49-F238E27FC236}">
                <a16:creationId xmlns:a16="http://schemas.microsoft.com/office/drawing/2014/main" id="{177EDF15-70E6-49B0-9B17-C6B2DB425624}"/>
              </a:ext>
            </a:extLst>
          </p:cNvPr>
          <p:cNvCxnSpPr>
            <a:cxnSpLocks/>
          </p:cNvCxnSpPr>
          <p:nvPr/>
        </p:nvCxnSpPr>
        <p:spPr bwMode="auto">
          <a:xfrm>
            <a:off x="885824" y="2941546"/>
            <a:ext cx="357188" cy="1470899"/>
          </a:xfrm>
          <a:prstGeom prst="straightConnector1">
            <a:avLst/>
          </a:prstGeom>
          <a:noFill/>
          <a:ln w="15875" cap="flat" cmpd="sng" algn="ctr">
            <a:solidFill>
              <a:srgbClr val="FF0000"/>
            </a:solidFill>
            <a:prstDash val="solid"/>
            <a:round/>
            <a:headEnd type="none" w="med" len="med"/>
            <a:tailEnd type="triangle"/>
          </a:ln>
          <a:effectLst/>
        </p:spPr>
      </p:cxnSp>
      <p:cxnSp>
        <p:nvCxnSpPr>
          <p:cNvPr id="86" name="Straight Arrow Connector 85">
            <a:extLst>
              <a:ext uri="{FF2B5EF4-FFF2-40B4-BE49-F238E27FC236}">
                <a16:creationId xmlns:a16="http://schemas.microsoft.com/office/drawing/2014/main" id="{7C4E0685-2B4A-4ED2-91B6-B325964CBDC5}"/>
              </a:ext>
            </a:extLst>
          </p:cNvPr>
          <p:cNvCxnSpPr>
            <a:cxnSpLocks/>
          </p:cNvCxnSpPr>
          <p:nvPr/>
        </p:nvCxnSpPr>
        <p:spPr bwMode="auto">
          <a:xfrm flipH="1">
            <a:off x="7734114" y="2786390"/>
            <a:ext cx="4124695" cy="1023611"/>
          </a:xfrm>
          <a:prstGeom prst="straightConnector1">
            <a:avLst/>
          </a:prstGeom>
          <a:noFill/>
          <a:ln w="15875" cap="flat" cmpd="sng" algn="ctr">
            <a:solidFill>
              <a:srgbClr val="FF0000"/>
            </a:solidFill>
            <a:prstDash val="solid"/>
            <a:round/>
            <a:headEnd type="none" w="med" len="med"/>
            <a:tailEnd type="triangle"/>
          </a:ln>
          <a:effectLst/>
        </p:spPr>
      </p:cxnSp>
      <p:cxnSp>
        <p:nvCxnSpPr>
          <p:cNvPr id="88" name="Straight Arrow Connector 87">
            <a:extLst>
              <a:ext uri="{FF2B5EF4-FFF2-40B4-BE49-F238E27FC236}">
                <a16:creationId xmlns:a16="http://schemas.microsoft.com/office/drawing/2014/main" id="{0A704BF4-6C1A-4D79-8725-EC6294B26096}"/>
              </a:ext>
            </a:extLst>
          </p:cNvPr>
          <p:cNvCxnSpPr>
            <a:cxnSpLocks/>
          </p:cNvCxnSpPr>
          <p:nvPr/>
        </p:nvCxnSpPr>
        <p:spPr bwMode="auto">
          <a:xfrm flipH="1">
            <a:off x="8143688" y="2795587"/>
            <a:ext cx="3419662" cy="1228606"/>
          </a:xfrm>
          <a:prstGeom prst="straightConnector1">
            <a:avLst/>
          </a:prstGeom>
          <a:noFill/>
          <a:ln w="15875" cap="flat" cmpd="sng" algn="ctr">
            <a:solidFill>
              <a:srgbClr val="FF0000"/>
            </a:solidFill>
            <a:prstDash val="solid"/>
            <a:round/>
            <a:headEnd type="none" w="med" len="med"/>
            <a:tailEnd type="triangle"/>
          </a:ln>
          <a:effectLst/>
        </p:spPr>
      </p:cxnSp>
      <p:sp>
        <p:nvSpPr>
          <p:cNvPr id="90" name="TextBox 89">
            <a:extLst>
              <a:ext uri="{FF2B5EF4-FFF2-40B4-BE49-F238E27FC236}">
                <a16:creationId xmlns:a16="http://schemas.microsoft.com/office/drawing/2014/main" id="{518C0EB7-88C9-447D-8AF8-55E9D6A8516C}"/>
              </a:ext>
            </a:extLst>
          </p:cNvPr>
          <p:cNvSpPr txBox="1"/>
          <p:nvPr/>
        </p:nvSpPr>
        <p:spPr>
          <a:xfrm>
            <a:off x="5782926" y="3946874"/>
            <a:ext cx="659155" cy="369332"/>
          </a:xfrm>
          <a:prstGeom prst="rect">
            <a:avLst/>
          </a:prstGeom>
          <a:noFill/>
        </p:spPr>
        <p:txBody>
          <a:bodyPr wrap="none" rtlCol="0" anchor="ctr" anchorCtr="1">
            <a:spAutoFit/>
          </a:bodyPr>
          <a:lstStyle/>
          <a:p>
            <a:r>
              <a:rPr lang="en-US" dirty="0">
                <a:ea typeface="標楷體" pitchFamily="65" charset="-120"/>
                <a:cs typeface="Calibri" pitchFamily="34" charset="0"/>
              </a:rPr>
              <a:t>PDE</a:t>
            </a:r>
          </a:p>
        </p:txBody>
      </p:sp>
      <p:sp>
        <p:nvSpPr>
          <p:cNvPr id="91" name="TextBox 90">
            <a:extLst>
              <a:ext uri="{FF2B5EF4-FFF2-40B4-BE49-F238E27FC236}">
                <a16:creationId xmlns:a16="http://schemas.microsoft.com/office/drawing/2014/main" id="{51B27EBB-3F99-40BF-BA9D-2D212F470477}"/>
              </a:ext>
            </a:extLst>
          </p:cNvPr>
          <p:cNvSpPr txBox="1"/>
          <p:nvPr/>
        </p:nvSpPr>
        <p:spPr>
          <a:xfrm>
            <a:off x="5918206" y="5515093"/>
            <a:ext cx="633507" cy="369332"/>
          </a:xfrm>
          <a:prstGeom prst="rect">
            <a:avLst/>
          </a:prstGeom>
          <a:noFill/>
        </p:spPr>
        <p:txBody>
          <a:bodyPr wrap="none" rtlCol="0" anchor="ctr" anchorCtr="1">
            <a:spAutoFit/>
          </a:bodyPr>
          <a:lstStyle/>
          <a:p>
            <a:r>
              <a:rPr lang="en-US" dirty="0">
                <a:ea typeface="標楷體" pitchFamily="65" charset="-120"/>
                <a:cs typeface="Calibri" pitchFamily="34" charset="0"/>
              </a:rPr>
              <a:t>PTE</a:t>
            </a:r>
          </a:p>
        </p:txBody>
      </p:sp>
      <p:cxnSp>
        <p:nvCxnSpPr>
          <p:cNvPr id="92" name="Straight Arrow Connector 91">
            <a:extLst>
              <a:ext uri="{FF2B5EF4-FFF2-40B4-BE49-F238E27FC236}">
                <a16:creationId xmlns:a16="http://schemas.microsoft.com/office/drawing/2014/main" id="{9818F3C7-A1AD-48B4-9CA4-D5812533D868}"/>
              </a:ext>
            </a:extLst>
          </p:cNvPr>
          <p:cNvCxnSpPr>
            <a:cxnSpLocks/>
          </p:cNvCxnSpPr>
          <p:nvPr/>
        </p:nvCxnSpPr>
        <p:spPr bwMode="auto">
          <a:xfrm>
            <a:off x="1476003" y="4502619"/>
            <a:ext cx="995734" cy="1244066"/>
          </a:xfrm>
          <a:prstGeom prst="straightConnector1">
            <a:avLst/>
          </a:prstGeom>
          <a:noFill/>
          <a:ln w="15875" cap="flat" cmpd="sng" algn="ctr">
            <a:solidFill>
              <a:srgbClr val="FF0000"/>
            </a:solidFill>
            <a:prstDash val="solid"/>
            <a:round/>
            <a:headEnd type="none" w="med" len="med"/>
            <a:tailEnd type="triangle"/>
          </a:ln>
          <a:effectLst/>
        </p:spPr>
      </p:cxnSp>
      <p:cxnSp>
        <p:nvCxnSpPr>
          <p:cNvPr id="94" name="Straight Arrow Connector 93">
            <a:extLst>
              <a:ext uri="{FF2B5EF4-FFF2-40B4-BE49-F238E27FC236}">
                <a16:creationId xmlns:a16="http://schemas.microsoft.com/office/drawing/2014/main" id="{8B037B20-3715-4F51-9378-4408F5489B79}"/>
              </a:ext>
            </a:extLst>
          </p:cNvPr>
          <p:cNvCxnSpPr>
            <a:cxnSpLocks/>
          </p:cNvCxnSpPr>
          <p:nvPr/>
        </p:nvCxnSpPr>
        <p:spPr bwMode="auto">
          <a:xfrm>
            <a:off x="1314262" y="4535736"/>
            <a:ext cx="214500" cy="691483"/>
          </a:xfrm>
          <a:prstGeom prst="straightConnector1">
            <a:avLst/>
          </a:prstGeom>
          <a:noFill/>
          <a:ln w="15875" cap="flat" cmpd="sng" algn="ctr">
            <a:solidFill>
              <a:srgbClr val="FF0000"/>
            </a:solidFill>
            <a:prstDash val="solid"/>
            <a:round/>
            <a:headEnd type="none" w="med" len="med"/>
            <a:tailEnd type="triangle"/>
          </a:ln>
          <a:effectLst/>
        </p:spPr>
      </p:cxnSp>
      <p:cxnSp>
        <p:nvCxnSpPr>
          <p:cNvPr id="96" name="Straight Arrow Connector 95">
            <a:extLst>
              <a:ext uri="{FF2B5EF4-FFF2-40B4-BE49-F238E27FC236}">
                <a16:creationId xmlns:a16="http://schemas.microsoft.com/office/drawing/2014/main" id="{5B6119FD-0CB3-4FA6-9690-0F5A872E1B73}"/>
              </a:ext>
            </a:extLst>
          </p:cNvPr>
          <p:cNvCxnSpPr>
            <a:cxnSpLocks/>
          </p:cNvCxnSpPr>
          <p:nvPr/>
        </p:nvCxnSpPr>
        <p:spPr bwMode="auto">
          <a:xfrm>
            <a:off x="7834125" y="4000977"/>
            <a:ext cx="104962" cy="1350635"/>
          </a:xfrm>
          <a:prstGeom prst="straightConnector1">
            <a:avLst/>
          </a:prstGeom>
          <a:noFill/>
          <a:ln w="15875" cap="flat" cmpd="sng" algn="ctr">
            <a:solidFill>
              <a:srgbClr val="FF0000"/>
            </a:solidFill>
            <a:prstDash val="solid"/>
            <a:round/>
            <a:headEnd type="none" w="med" len="med"/>
            <a:tailEnd type="triangle"/>
          </a:ln>
          <a:effectLst/>
        </p:spPr>
      </p:cxnSp>
      <p:cxnSp>
        <p:nvCxnSpPr>
          <p:cNvPr id="98" name="Straight Arrow Connector 97">
            <a:extLst>
              <a:ext uri="{FF2B5EF4-FFF2-40B4-BE49-F238E27FC236}">
                <a16:creationId xmlns:a16="http://schemas.microsoft.com/office/drawing/2014/main" id="{C3195785-CD5A-44DD-8690-76C94790CCBE}"/>
              </a:ext>
            </a:extLst>
          </p:cNvPr>
          <p:cNvCxnSpPr>
            <a:cxnSpLocks/>
          </p:cNvCxnSpPr>
          <p:nvPr/>
        </p:nvCxnSpPr>
        <p:spPr bwMode="auto">
          <a:xfrm>
            <a:off x="8196261" y="4308166"/>
            <a:ext cx="266701" cy="1331637"/>
          </a:xfrm>
          <a:prstGeom prst="straightConnector1">
            <a:avLst/>
          </a:prstGeom>
          <a:noFill/>
          <a:ln w="15875" cap="flat" cmpd="sng" algn="ctr">
            <a:solidFill>
              <a:srgbClr val="FF0000"/>
            </a:solidFill>
            <a:prstDash val="solid"/>
            <a:round/>
            <a:headEnd type="none" w="med" len="med"/>
            <a:tailEnd type="triangle"/>
          </a:ln>
          <a:effectLst/>
        </p:spPr>
      </p:cxnSp>
      <p:sp>
        <p:nvSpPr>
          <p:cNvPr id="100" name="TextBox 99">
            <a:extLst>
              <a:ext uri="{FF2B5EF4-FFF2-40B4-BE49-F238E27FC236}">
                <a16:creationId xmlns:a16="http://schemas.microsoft.com/office/drawing/2014/main" id="{436C0C79-1D93-433A-9E10-7654E731A3F7}"/>
              </a:ext>
            </a:extLst>
          </p:cNvPr>
          <p:cNvSpPr txBox="1"/>
          <p:nvPr/>
        </p:nvSpPr>
        <p:spPr>
          <a:xfrm>
            <a:off x="4961679" y="1190625"/>
            <a:ext cx="2505921" cy="523220"/>
          </a:xfrm>
          <a:prstGeom prst="rect">
            <a:avLst/>
          </a:prstGeom>
          <a:noFill/>
          <a:ln w="19050">
            <a:solidFill>
              <a:srgbClr val="002060"/>
            </a:solidFill>
          </a:ln>
        </p:spPr>
        <p:txBody>
          <a:bodyPr wrap="square" rtlCol="0" anchor="ctr" anchorCtr="1">
            <a:spAutoFit/>
          </a:bodyPr>
          <a:lstStyle/>
          <a:p>
            <a:r>
              <a:rPr lang="en-US" sz="2800" dirty="0">
                <a:ea typeface="標楷體" pitchFamily="65" charset="-120"/>
                <a:cs typeface="Calibri" pitchFamily="34" charset="0"/>
              </a:rPr>
              <a:t>Rarely Used</a:t>
            </a:r>
          </a:p>
        </p:txBody>
      </p:sp>
      <p:sp>
        <p:nvSpPr>
          <p:cNvPr id="102" name="TextBox 101">
            <a:extLst>
              <a:ext uri="{FF2B5EF4-FFF2-40B4-BE49-F238E27FC236}">
                <a16:creationId xmlns:a16="http://schemas.microsoft.com/office/drawing/2014/main" id="{CDF38FA9-6A44-4457-895D-1846AE5D8ADD}"/>
              </a:ext>
            </a:extLst>
          </p:cNvPr>
          <p:cNvSpPr txBox="1"/>
          <p:nvPr/>
        </p:nvSpPr>
        <p:spPr>
          <a:xfrm>
            <a:off x="1037853" y="154041"/>
            <a:ext cx="10820956" cy="646331"/>
          </a:xfrm>
          <a:prstGeom prst="rect">
            <a:avLst/>
          </a:prstGeom>
          <a:noFill/>
        </p:spPr>
        <p:txBody>
          <a:bodyPr wrap="square">
            <a:spAutoFit/>
          </a:bodyPr>
          <a:lstStyle/>
          <a:p>
            <a:pPr defTabSz="914377" eaLnBrk="0" fontAlgn="base" hangingPunct="0">
              <a:spcBef>
                <a:spcPct val="0"/>
              </a:spcBef>
              <a:spcAft>
                <a:spcPct val="0"/>
              </a:spcAft>
              <a:buClrTx/>
              <a:buSzTx/>
              <a:buNone/>
            </a:pPr>
            <a:r>
              <a:rPr lang="en-US" altLang="en-US" sz="3600" dirty="0">
                <a:solidFill>
                  <a:srgbClr val="000000"/>
                </a:solidFill>
                <a:latin typeface="Verdana" panose="020B0604030504040204" pitchFamily="34" charset="0"/>
              </a:rPr>
              <a:t>T</a:t>
            </a:r>
            <a:r>
              <a:rPr kumimoji="0" lang="en-US" altLang="en-US" sz="3600" dirty="0">
                <a:solidFill>
                  <a:srgbClr val="000000"/>
                </a:solidFill>
                <a:latin typeface="Verdana" panose="020B0604030504040204" pitchFamily="34" charset="0"/>
              </a:rPr>
              <a:t>hree </a:t>
            </a:r>
            <a:r>
              <a:rPr lang="en-US" altLang="en-US" sz="3600" dirty="0">
                <a:solidFill>
                  <a:srgbClr val="000000"/>
                </a:solidFill>
                <a:latin typeface="Verdana" panose="020B0604030504040204" pitchFamily="34" charset="0"/>
              </a:rPr>
              <a:t>L</a:t>
            </a:r>
            <a:r>
              <a:rPr kumimoji="0" lang="en-US" altLang="en-US" sz="3600" dirty="0">
                <a:solidFill>
                  <a:srgbClr val="000000"/>
                </a:solidFill>
                <a:latin typeface="Verdana" panose="020B0604030504040204" pitchFamily="34" charset="0"/>
              </a:rPr>
              <a:t>evels of Directory &amp; </a:t>
            </a:r>
            <a:r>
              <a:rPr lang="en-US" altLang="en-US" sz="3600" dirty="0">
                <a:solidFill>
                  <a:srgbClr val="000000"/>
                </a:solidFill>
                <a:latin typeface="Verdana" panose="020B0604030504040204" pitchFamily="34" charset="0"/>
              </a:rPr>
              <a:t>O</a:t>
            </a:r>
            <a:r>
              <a:rPr kumimoji="0" lang="en-US" altLang="en-US" sz="3600" dirty="0">
                <a:solidFill>
                  <a:srgbClr val="000000"/>
                </a:solidFill>
                <a:latin typeface="Verdana" panose="020B0604030504040204" pitchFamily="34" charset="0"/>
              </a:rPr>
              <a:t>ne </a:t>
            </a:r>
            <a:r>
              <a:rPr lang="en-US" altLang="en-US" sz="3600" dirty="0">
                <a:solidFill>
                  <a:srgbClr val="000000"/>
                </a:solidFill>
                <a:latin typeface="Verdana" panose="020B0604030504040204" pitchFamily="34" charset="0"/>
              </a:rPr>
              <a:t>L</a:t>
            </a:r>
            <a:r>
              <a:rPr kumimoji="0" lang="en-US" altLang="en-US" sz="3600" dirty="0">
                <a:solidFill>
                  <a:srgbClr val="000000"/>
                </a:solidFill>
                <a:latin typeface="Verdana" panose="020B0604030504040204" pitchFamily="34" charset="0"/>
              </a:rPr>
              <a:t>evel of PTE</a:t>
            </a:r>
          </a:p>
        </p:txBody>
      </p:sp>
    </p:spTree>
    <p:extLst>
      <p:ext uri="{BB962C8B-B14F-4D97-AF65-F5344CB8AC3E}">
        <p14:creationId xmlns:p14="http://schemas.microsoft.com/office/powerpoint/2010/main" val="32443298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F578E0-478D-4B90-9A50-72F9F7BD2093}"/>
              </a:ext>
            </a:extLst>
          </p:cNvPr>
          <p:cNvSpPr>
            <a:spLocks noGrp="1"/>
          </p:cNvSpPr>
          <p:nvPr>
            <p:ph type="sldNum" sz="quarter" idx="10"/>
          </p:nvPr>
        </p:nvSpPr>
        <p:spPr/>
        <p:txBody>
          <a:bodyPr/>
          <a:lstStyle/>
          <a:p>
            <a:fld id="{D9B6BDF2-6896-4B98-8776-C18582F63BA5}" type="slidenum">
              <a:rPr lang="zh-TW" altLang="en-US" smtClean="0"/>
              <a:pPr/>
              <a:t>22</a:t>
            </a:fld>
            <a:endParaRPr lang="zh-TW" altLang="en-US"/>
          </a:p>
        </p:txBody>
      </p:sp>
      <p:sp>
        <p:nvSpPr>
          <p:cNvPr id="5" name="TextBox 4">
            <a:extLst>
              <a:ext uri="{FF2B5EF4-FFF2-40B4-BE49-F238E27FC236}">
                <a16:creationId xmlns:a16="http://schemas.microsoft.com/office/drawing/2014/main" id="{CC1E63A5-0CC3-4AED-B819-3ED5EB44BCAB}"/>
              </a:ext>
            </a:extLst>
          </p:cNvPr>
          <p:cNvSpPr txBox="1"/>
          <p:nvPr/>
        </p:nvSpPr>
        <p:spPr>
          <a:xfrm>
            <a:off x="3695700" y="119062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6" name="TextBox 5">
            <a:extLst>
              <a:ext uri="{FF2B5EF4-FFF2-40B4-BE49-F238E27FC236}">
                <a16:creationId xmlns:a16="http://schemas.microsoft.com/office/drawing/2014/main" id="{12973B1B-768B-4D13-98BE-EECB6E3CBFDE}"/>
              </a:ext>
            </a:extLst>
          </p:cNvPr>
          <p:cNvSpPr txBox="1"/>
          <p:nvPr/>
        </p:nvSpPr>
        <p:spPr>
          <a:xfrm>
            <a:off x="4010025" y="119062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7" name="TextBox 6">
            <a:extLst>
              <a:ext uri="{FF2B5EF4-FFF2-40B4-BE49-F238E27FC236}">
                <a16:creationId xmlns:a16="http://schemas.microsoft.com/office/drawing/2014/main" id="{AE6FABF0-CEFE-40C4-A6D8-E7D8D3CDC4C2}"/>
              </a:ext>
            </a:extLst>
          </p:cNvPr>
          <p:cNvSpPr txBox="1"/>
          <p:nvPr/>
        </p:nvSpPr>
        <p:spPr>
          <a:xfrm>
            <a:off x="4324350" y="119062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8" name="TextBox 7">
            <a:extLst>
              <a:ext uri="{FF2B5EF4-FFF2-40B4-BE49-F238E27FC236}">
                <a16:creationId xmlns:a16="http://schemas.microsoft.com/office/drawing/2014/main" id="{60E8F025-6C1B-4FD9-B2B0-C0BDE511452A}"/>
              </a:ext>
            </a:extLst>
          </p:cNvPr>
          <p:cNvSpPr txBox="1"/>
          <p:nvPr/>
        </p:nvSpPr>
        <p:spPr>
          <a:xfrm>
            <a:off x="4638675" y="119062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17" name="TextBox 16">
            <a:extLst>
              <a:ext uri="{FF2B5EF4-FFF2-40B4-BE49-F238E27FC236}">
                <a16:creationId xmlns:a16="http://schemas.microsoft.com/office/drawing/2014/main" id="{919B0771-D4AB-4AD3-9AB3-CB17EFC47E4B}"/>
              </a:ext>
            </a:extLst>
          </p:cNvPr>
          <p:cNvSpPr txBox="1"/>
          <p:nvPr/>
        </p:nvSpPr>
        <p:spPr>
          <a:xfrm>
            <a:off x="7467600" y="119062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18" name="TextBox 17">
            <a:extLst>
              <a:ext uri="{FF2B5EF4-FFF2-40B4-BE49-F238E27FC236}">
                <a16:creationId xmlns:a16="http://schemas.microsoft.com/office/drawing/2014/main" id="{DE4AEF2B-5CF9-43FE-8269-9FC38F1A6BA6}"/>
              </a:ext>
            </a:extLst>
          </p:cNvPr>
          <p:cNvSpPr txBox="1"/>
          <p:nvPr/>
        </p:nvSpPr>
        <p:spPr>
          <a:xfrm>
            <a:off x="7781925" y="119062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19" name="TextBox 18">
            <a:extLst>
              <a:ext uri="{FF2B5EF4-FFF2-40B4-BE49-F238E27FC236}">
                <a16:creationId xmlns:a16="http://schemas.microsoft.com/office/drawing/2014/main" id="{C96389C8-155E-49B0-B8BD-0142FE22A931}"/>
              </a:ext>
            </a:extLst>
          </p:cNvPr>
          <p:cNvSpPr txBox="1"/>
          <p:nvPr/>
        </p:nvSpPr>
        <p:spPr>
          <a:xfrm>
            <a:off x="8096250" y="119062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20" name="TextBox 19">
            <a:extLst>
              <a:ext uri="{FF2B5EF4-FFF2-40B4-BE49-F238E27FC236}">
                <a16:creationId xmlns:a16="http://schemas.microsoft.com/office/drawing/2014/main" id="{6B4512B0-D01C-46BC-9E1B-CF044F485E87}"/>
              </a:ext>
            </a:extLst>
          </p:cNvPr>
          <p:cNvSpPr txBox="1"/>
          <p:nvPr/>
        </p:nvSpPr>
        <p:spPr>
          <a:xfrm>
            <a:off x="8410575" y="119062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33" name="TextBox 32">
            <a:extLst>
              <a:ext uri="{FF2B5EF4-FFF2-40B4-BE49-F238E27FC236}">
                <a16:creationId xmlns:a16="http://schemas.microsoft.com/office/drawing/2014/main" id="{0205E606-3679-4DDC-89BC-15F0A61A1086}"/>
              </a:ext>
            </a:extLst>
          </p:cNvPr>
          <p:cNvSpPr txBox="1"/>
          <p:nvPr/>
        </p:nvSpPr>
        <p:spPr>
          <a:xfrm>
            <a:off x="114300"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34" name="TextBox 33">
            <a:extLst>
              <a:ext uri="{FF2B5EF4-FFF2-40B4-BE49-F238E27FC236}">
                <a16:creationId xmlns:a16="http://schemas.microsoft.com/office/drawing/2014/main" id="{E569F619-8E8B-430B-A202-3DE23D507E96}"/>
              </a:ext>
            </a:extLst>
          </p:cNvPr>
          <p:cNvSpPr txBox="1"/>
          <p:nvPr/>
        </p:nvSpPr>
        <p:spPr>
          <a:xfrm>
            <a:off x="428625"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35" name="TextBox 34">
            <a:extLst>
              <a:ext uri="{FF2B5EF4-FFF2-40B4-BE49-F238E27FC236}">
                <a16:creationId xmlns:a16="http://schemas.microsoft.com/office/drawing/2014/main" id="{E2C5C983-A2E1-4135-AB65-6B7FE3EBA7C9}"/>
              </a:ext>
            </a:extLst>
          </p:cNvPr>
          <p:cNvSpPr txBox="1"/>
          <p:nvPr/>
        </p:nvSpPr>
        <p:spPr>
          <a:xfrm>
            <a:off x="742950"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36" name="TextBox 35">
            <a:extLst>
              <a:ext uri="{FF2B5EF4-FFF2-40B4-BE49-F238E27FC236}">
                <a16:creationId xmlns:a16="http://schemas.microsoft.com/office/drawing/2014/main" id="{57EBD86B-4979-447A-A32C-2C5057716B21}"/>
              </a:ext>
            </a:extLst>
          </p:cNvPr>
          <p:cNvSpPr txBox="1"/>
          <p:nvPr/>
        </p:nvSpPr>
        <p:spPr>
          <a:xfrm>
            <a:off x="1057275"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37" name="TextBox 36">
            <a:extLst>
              <a:ext uri="{FF2B5EF4-FFF2-40B4-BE49-F238E27FC236}">
                <a16:creationId xmlns:a16="http://schemas.microsoft.com/office/drawing/2014/main" id="{00CD5722-A1F3-4C62-A447-A4328BFBACD7}"/>
              </a:ext>
            </a:extLst>
          </p:cNvPr>
          <p:cNvSpPr txBox="1"/>
          <p:nvPr/>
        </p:nvSpPr>
        <p:spPr>
          <a:xfrm>
            <a:off x="1371600"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38" name="TextBox 37">
            <a:extLst>
              <a:ext uri="{FF2B5EF4-FFF2-40B4-BE49-F238E27FC236}">
                <a16:creationId xmlns:a16="http://schemas.microsoft.com/office/drawing/2014/main" id="{F03F234F-8FA8-4B47-8AF4-88F8C9993C97}"/>
              </a:ext>
            </a:extLst>
          </p:cNvPr>
          <p:cNvSpPr txBox="1"/>
          <p:nvPr/>
        </p:nvSpPr>
        <p:spPr>
          <a:xfrm>
            <a:off x="1685925"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39" name="TextBox 38">
            <a:extLst>
              <a:ext uri="{FF2B5EF4-FFF2-40B4-BE49-F238E27FC236}">
                <a16:creationId xmlns:a16="http://schemas.microsoft.com/office/drawing/2014/main" id="{B5D8B828-360B-43B4-B218-E42F298096A3}"/>
              </a:ext>
            </a:extLst>
          </p:cNvPr>
          <p:cNvSpPr txBox="1"/>
          <p:nvPr/>
        </p:nvSpPr>
        <p:spPr>
          <a:xfrm>
            <a:off x="2000250"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40" name="TextBox 39">
            <a:extLst>
              <a:ext uri="{FF2B5EF4-FFF2-40B4-BE49-F238E27FC236}">
                <a16:creationId xmlns:a16="http://schemas.microsoft.com/office/drawing/2014/main" id="{84883592-DC8C-436A-813D-24B1FF78C173}"/>
              </a:ext>
            </a:extLst>
          </p:cNvPr>
          <p:cNvSpPr txBox="1"/>
          <p:nvPr/>
        </p:nvSpPr>
        <p:spPr>
          <a:xfrm>
            <a:off x="2314575"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41" name="TextBox 40">
            <a:extLst>
              <a:ext uri="{FF2B5EF4-FFF2-40B4-BE49-F238E27FC236}">
                <a16:creationId xmlns:a16="http://schemas.microsoft.com/office/drawing/2014/main" id="{796856D0-3530-4795-AE57-0BF4B3D34A01}"/>
              </a:ext>
            </a:extLst>
          </p:cNvPr>
          <p:cNvSpPr txBox="1"/>
          <p:nvPr/>
        </p:nvSpPr>
        <p:spPr>
          <a:xfrm>
            <a:off x="3886200"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42" name="TextBox 41">
            <a:extLst>
              <a:ext uri="{FF2B5EF4-FFF2-40B4-BE49-F238E27FC236}">
                <a16:creationId xmlns:a16="http://schemas.microsoft.com/office/drawing/2014/main" id="{B57C44E7-CBB9-4F37-A1B4-2D78B955A287}"/>
              </a:ext>
            </a:extLst>
          </p:cNvPr>
          <p:cNvSpPr txBox="1"/>
          <p:nvPr/>
        </p:nvSpPr>
        <p:spPr>
          <a:xfrm>
            <a:off x="4200525"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43" name="TextBox 42">
            <a:extLst>
              <a:ext uri="{FF2B5EF4-FFF2-40B4-BE49-F238E27FC236}">
                <a16:creationId xmlns:a16="http://schemas.microsoft.com/office/drawing/2014/main" id="{77853112-65E1-4E8C-A982-EF90D2B57CF7}"/>
              </a:ext>
            </a:extLst>
          </p:cNvPr>
          <p:cNvSpPr txBox="1"/>
          <p:nvPr/>
        </p:nvSpPr>
        <p:spPr>
          <a:xfrm>
            <a:off x="4514850"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44" name="TextBox 43">
            <a:extLst>
              <a:ext uri="{FF2B5EF4-FFF2-40B4-BE49-F238E27FC236}">
                <a16:creationId xmlns:a16="http://schemas.microsoft.com/office/drawing/2014/main" id="{9EF9D6DB-FB40-4B9E-BF23-F3B8722C52B2}"/>
              </a:ext>
            </a:extLst>
          </p:cNvPr>
          <p:cNvSpPr txBox="1"/>
          <p:nvPr/>
        </p:nvSpPr>
        <p:spPr>
          <a:xfrm>
            <a:off x="4829175" y="2543175"/>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45" name="TextBox 44">
            <a:extLst>
              <a:ext uri="{FF2B5EF4-FFF2-40B4-BE49-F238E27FC236}">
                <a16:creationId xmlns:a16="http://schemas.microsoft.com/office/drawing/2014/main" id="{699FBBD7-AE80-4049-9175-C378FA39A755}"/>
              </a:ext>
            </a:extLst>
          </p:cNvPr>
          <p:cNvSpPr txBox="1"/>
          <p:nvPr/>
        </p:nvSpPr>
        <p:spPr>
          <a:xfrm>
            <a:off x="2628900" y="2533977"/>
            <a:ext cx="1257300" cy="523220"/>
          </a:xfrm>
          <a:prstGeom prst="rect">
            <a:avLst/>
          </a:prstGeom>
          <a:noFill/>
          <a:ln w="19050">
            <a:solidFill>
              <a:srgbClr val="002060"/>
            </a:solidFill>
          </a:ln>
        </p:spPr>
        <p:txBody>
          <a:bodyPr wrap="square" rtlCol="0" anchor="ctr" anchorCtr="1">
            <a:spAutoFit/>
          </a:bodyPr>
          <a:lstStyle/>
          <a:p>
            <a:r>
              <a:rPr lang="en-US" sz="2800" dirty="0">
                <a:ea typeface="標楷體" pitchFamily="65" charset="-120"/>
                <a:cs typeface="Calibri" pitchFamily="34" charset="0"/>
              </a:rPr>
              <a:t>…..</a:t>
            </a:r>
          </a:p>
        </p:txBody>
      </p:sp>
      <p:sp>
        <p:nvSpPr>
          <p:cNvPr id="46" name="TextBox 45">
            <a:extLst>
              <a:ext uri="{FF2B5EF4-FFF2-40B4-BE49-F238E27FC236}">
                <a16:creationId xmlns:a16="http://schemas.microsoft.com/office/drawing/2014/main" id="{DBDD03B0-D19D-48B0-96BC-B2B8F0CEF51B}"/>
              </a:ext>
            </a:extLst>
          </p:cNvPr>
          <p:cNvSpPr txBox="1"/>
          <p:nvPr/>
        </p:nvSpPr>
        <p:spPr>
          <a:xfrm>
            <a:off x="7048500"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47" name="TextBox 46">
            <a:extLst>
              <a:ext uri="{FF2B5EF4-FFF2-40B4-BE49-F238E27FC236}">
                <a16:creationId xmlns:a16="http://schemas.microsoft.com/office/drawing/2014/main" id="{FF3FAF62-FD6D-4B30-94E0-0912BDDE2E5D}"/>
              </a:ext>
            </a:extLst>
          </p:cNvPr>
          <p:cNvSpPr txBox="1"/>
          <p:nvPr/>
        </p:nvSpPr>
        <p:spPr>
          <a:xfrm>
            <a:off x="7362825"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48" name="TextBox 47">
            <a:extLst>
              <a:ext uri="{FF2B5EF4-FFF2-40B4-BE49-F238E27FC236}">
                <a16:creationId xmlns:a16="http://schemas.microsoft.com/office/drawing/2014/main" id="{616AECD3-6A49-40BC-9E8A-4E1A1C48E81E}"/>
              </a:ext>
            </a:extLst>
          </p:cNvPr>
          <p:cNvSpPr txBox="1"/>
          <p:nvPr/>
        </p:nvSpPr>
        <p:spPr>
          <a:xfrm>
            <a:off x="7677150"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49" name="TextBox 48">
            <a:extLst>
              <a:ext uri="{FF2B5EF4-FFF2-40B4-BE49-F238E27FC236}">
                <a16:creationId xmlns:a16="http://schemas.microsoft.com/office/drawing/2014/main" id="{F042D368-37F2-4073-8326-4A67037C0907}"/>
              </a:ext>
            </a:extLst>
          </p:cNvPr>
          <p:cNvSpPr txBox="1"/>
          <p:nvPr/>
        </p:nvSpPr>
        <p:spPr>
          <a:xfrm>
            <a:off x="7991475"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50" name="TextBox 49">
            <a:extLst>
              <a:ext uri="{FF2B5EF4-FFF2-40B4-BE49-F238E27FC236}">
                <a16:creationId xmlns:a16="http://schemas.microsoft.com/office/drawing/2014/main" id="{ECC968E1-1BA5-465D-9ADC-8572A3EC8922}"/>
              </a:ext>
            </a:extLst>
          </p:cNvPr>
          <p:cNvSpPr txBox="1"/>
          <p:nvPr/>
        </p:nvSpPr>
        <p:spPr>
          <a:xfrm>
            <a:off x="8305800"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51" name="TextBox 50">
            <a:extLst>
              <a:ext uri="{FF2B5EF4-FFF2-40B4-BE49-F238E27FC236}">
                <a16:creationId xmlns:a16="http://schemas.microsoft.com/office/drawing/2014/main" id="{84C6F4EB-92C6-461F-9A9E-E9E48337FBAC}"/>
              </a:ext>
            </a:extLst>
          </p:cNvPr>
          <p:cNvSpPr txBox="1"/>
          <p:nvPr/>
        </p:nvSpPr>
        <p:spPr>
          <a:xfrm>
            <a:off x="8620125"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52" name="TextBox 51">
            <a:extLst>
              <a:ext uri="{FF2B5EF4-FFF2-40B4-BE49-F238E27FC236}">
                <a16:creationId xmlns:a16="http://schemas.microsoft.com/office/drawing/2014/main" id="{023D52BA-B623-445E-8F02-BEFD077386E0}"/>
              </a:ext>
            </a:extLst>
          </p:cNvPr>
          <p:cNvSpPr txBox="1"/>
          <p:nvPr/>
        </p:nvSpPr>
        <p:spPr>
          <a:xfrm>
            <a:off x="8934450"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53" name="TextBox 52">
            <a:extLst>
              <a:ext uri="{FF2B5EF4-FFF2-40B4-BE49-F238E27FC236}">
                <a16:creationId xmlns:a16="http://schemas.microsoft.com/office/drawing/2014/main" id="{7BF5A31D-6861-4791-B677-89339D6A27EE}"/>
              </a:ext>
            </a:extLst>
          </p:cNvPr>
          <p:cNvSpPr txBox="1"/>
          <p:nvPr/>
        </p:nvSpPr>
        <p:spPr>
          <a:xfrm>
            <a:off x="9248775"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54" name="TextBox 53">
            <a:extLst>
              <a:ext uri="{FF2B5EF4-FFF2-40B4-BE49-F238E27FC236}">
                <a16:creationId xmlns:a16="http://schemas.microsoft.com/office/drawing/2014/main" id="{3DC6012D-D717-46F6-BE1D-60CE3554B9DA}"/>
              </a:ext>
            </a:extLst>
          </p:cNvPr>
          <p:cNvSpPr txBox="1"/>
          <p:nvPr/>
        </p:nvSpPr>
        <p:spPr>
          <a:xfrm>
            <a:off x="10820400"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55" name="TextBox 54">
            <a:extLst>
              <a:ext uri="{FF2B5EF4-FFF2-40B4-BE49-F238E27FC236}">
                <a16:creationId xmlns:a16="http://schemas.microsoft.com/office/drawing/2014/main" id="{D53239A4-4EF0-46A6-830C-CECD19E9CF2F}"/>
              </a:ext>
            </a:extLst>
          </p:cNvPr>
          <p:cNvSpPr txBox="1"/>
          <p:nvPr/>
        </p:nvSpPr>
        <p:spPr>
          <a:xfrm>
            <a:off x="11134725"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56" name="TextBox 55">
            <a:extLst>
              <a:ext uri="{FF2B5EF4-FFF2-40B4-BE49-F238E27FC236}">
                <a16:creationId xmlns:a16="http://schemas.microsoft.com/office/drawing/2014/main" id="{48EA83E4-BC10-4CB8-8AC8-ACEEE922D3D4}"/>
              </a:ext>
            </a:extLst>
          </p:cNvPr>
          <p:cNvSpPr txBox="1"/>
          <p:nvPr/>
        </p:nvSpPr>
        <p:spPr>
          <a:xfrm>
            <a:off x="11449050"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57" name="TextBox 56">
            <a:extLst>
              <a:ext uri="{FF2B5EF4-FFF2-40B4-BE49-F238E27FC236}">
                <a16:creationId xmlns:a16="http://schemas.microsoft.com/office/drawing/2014/main" id="{FE1C1507-C279-4D73-93FA-F02907B96C12}"/>
              </a:ext>
            </a:extLst>
          </p:cNvPr>
          <p:cNvSpPr txBox="1"/>
          <p:nvPr/>
        </p:nvSpPr>
        <p:spPr>
          <a:xfrm>
            <a:off x="11763375" y="2533978"/>
            <a:ext cx="314325" cy="504825"/>
          </a:xfrm>
          <a:prstGeom prst="rect">
            <a:avLst/>
          </a:prstGeom>
          <a:noFill/>
          <a:ln w="19050">
            <a:solidFill>
              <a:srgbClr val="002060"/>
            </a:solidFill>
          </a:ln>
        </p:spPr>
        <p:txBody>
          <a:bodyPr wrap="square" rtlCol="0" anchor="ctr" anchorCtr="1">
            <a:spAutoFit/>
          </a:bodyPr>
          <a:lstStyle/>
          <a:p>
            <a:endParaRPr lang="en-US" dirty="0">
              <a:ea typeface="標楷體" pitchFamily="65" charset="-120"/>
              <a:cs typeface="Calibri" pitchFamily="34" charset="0"/>
            </a:endParaRPr>
          </a:p>
        </p:txBody>
      </p:sp>
      <p:sp>
        <p:nvSpPr>
          <p:cNvPr id="58" name="TextBox 57">
            <a:extLst>
              <a:ext uri="{FF2B5EF4-FFF2-40B4-BE49-F238E27FC236}">
                <a16:creationId xmlns:a16="http://schemas.microsoft.com/office/drawing/2014/main" id="{8B31D224-20CB-4FB8-A112-C296B61B6962}"/>
              </a:ext>
            </a:extLst>
          </p:cNvPr>
          <p:cNvSpPr txBox="1"/>
          <p:nvPr/>
        </p:nvSpPr>
        <p:spPr>
          <a:xfrm>
            <a:off x="9563100" y="2524780"/>
            <a:ext cx="1257300" cy="523220"/>
          </a:xfrm>
          <a:prstGeom prst="rect">
            <a:avLst/>
          </a:prstGeom>
          <a:noFill/>
          <a:ln w="19050">
            <a:solidFill>
              <a:srgbClr val="002060"/>
            </a:solidFill>
          </a:ln>
        </p:spPr>
        <p:txBody>
          <a:bodyPr wrap="square" rtlCol="0" anchor="ctr" anchorCtr="1">
            <a:spAutoFit/>
          </a:bodyPr>
          <a:lstStyle/>
          <a:p>
            <a:r>
              <a:rPr lang="en-US" sz="2800" dirty="0">
                <a:ea typeface="標楷體" pitchFamily="65" charset="-120"/>
                <a:cs typeface="Calibri" pitchFamily="34" charset="0"/>
              </a:rPr>
              <a:t>…..</a:t>
            </a:r>
          </a:p>
        </p:txBody>
      </p:sp>
      <p:cxnSp>
        <p:nvCxnSpPr>
          <p:cNvPr id="60" name="Straight Arrow Connector 59">
            <a:extLst>
              <a:ext uri="{FF2B5EF4-FFF2-40B4-BE49-F238E27FC236}">
                <a16:creationId xmlns:a16="http://schemas.microsoft.com/office/drawing/2014/main" id="{F4B6DEC0-DB70-4FDB-ACE5-C7EC81F04F24}"/>
              </a:ext>
            </a:extLst>
          </p:cNvPr>
          <p:cNvCxnSpPr>
            <a:cxnSpLocks/>
          </p:cNvCxnSpPr>
          <p:nvPr/>
        </p:nvCxnSpPr>
        <p:spPr bwMode="auto">
          <a:xfrm flipH="1">
            <a:off x="114300" y="1438275"/>
            <a:ext cx="3771900" cy="1086505"/>
          </a:xfrm>
          <a:prstGeom prst="straightConnector1">
            <a:avLst/>
          </a:prstGeom>
          <a:noFill/>
          <a:ln w="15875" cap="flat" cmpd="sng" algn="ctr">
            <a:solidFill>
              <a:srgbClr val="FF0000"/>
            </a:solidFill>
            <a:prstDash val="solid"/>
            <a:round/>
            <a:headEnd type="none" w="med" len="med"/>
            <a:tailEnd type="triangle"/>
          </a:ln>
          <a:effectLst/>
        </p:spPr>
      </p:cxnSp>
      <p:cxnSp>
        <p:nvCxnSpPr>
          <p:cNvPr id="62" name="Straight Arrow Connector 61">
            <a:extLst>
              <a:ext uri="{FF2B5EF4-FFF2-40B4-BE49-F238E27FC236}">
                <a16:creationId xmlns:a16="http://schemas.microsoft.com/office/drawing/2014/main" id="{2E183036-13A4-4C03-83C0-981BB2CBCAE2}"/>
              </a:ext>
            </a:extLst>
          </p:cNvPr>
          <p:cNvCxnSpPr>
            <a:cxnSpLocks/>
          </p:cNvCxnSpPr>
          <p:nvPr/>
        </p:nvCxnSpPr>
        <p:spPr bwMode="auto">
          <a:xfrm>
            <a:off x="8601075" y="1484917"/>
            <a:ext cx="1066800" cy="1039863"/>
          </a:xfrm>
          <a:prstGeom prst="straightConnector1">
            <a:avLst/>
          </a:prstGeom>
          <a:noFill/>
          <a:ln w="15875" cap="flat" cmpd="sng" algn="ctr">
            <a:solidFill>
              <a:srgbClr val="FF0000"/>
            </a:solidFill>
            <a:prstDash val="solid"/>
            <a:round/>
            <a:headEnd type="none" w="med" len="med"/>
            <a:tailEnd type="triangle"/>
          </a:ln>
          <a:effectLst/>
        </p:spPr>
      </p:cxnSp>
      <p:pic>
        <p:nvPicPr>
          <p:cNvPr id="65" name="Picture 64">
            <a:extLst>
              <a:ext uri="{FF2B5EF4-FFF2-40B4-BE49-F238E27FC236}">
                <a16:creationId xmlns:a16="http://schemas.microsoft.com/office/drawing/2014/main" id="{511AA886-826E-4D51-A8B5-434E96E6D457}"/>
              </a:ext>
            </a:extLst>
          </p:cNvPr>
          <p:cNvPicPr>
            <a:picLocks noChangeAspect="1"/>
          </p:cNvPicPr>
          <p:nvPr/>
        </p:nvPicPr>
        <p:blipFill>
          <a:blip r:embed="rId2"/>
          <a:stretch>
            <a:fillRect/>
          </a:stretch>
        </p:blipFill>
        <p:spPr>
          <a:xfrm>
            <a:off x="128216" y="3810001"/>
            <a:ext cx="3286497" cy="440156"/>
          </a:xfrm>
          <a:prstGeom prst="rect">
            <a:avLst/>
          </a:prstGeom>
        </p:spPr>
      </p:pic>
      <p:pic>
        <p:nvPicPr>
          <p:cNvPr id="66" name="Picture 65">
            <a:extLst>
              <a:ext uri="{FF2B5EF4-FFF2-40B4-BE49-F238E27FC236}">
                <a16:creationId xmlns:a16="http://schemas.microsoft.com/office/drawing/2014/main" id="{56DD731A-A315-413C-BE29-5F9196CD245B}"/>
              </a:ext>
            </a:extLst>
          </p:cNvPr>
          <p:cNvPicPr>
            <a:picLocks noChangeAspect="1"/>
          </p:cNvPicPr>
          <p:nvPr/>
        </p:nvPicPr>
        <p:blipFill>
          <a:blip r:embed="rId2"/>
          <a:stretch>
            <a:fillRect/>
          </a:stretch>
        </p:blipFill>
        <p:spPr>
          <a:xfrm>
            <a:off x="666378" y="4062463"/>
            <a:ext cx="3286497" cy="440156"/>
          </a:xfrm>
          <a:prstGeom prst="rect">
            <a:avLst/>
          </a:prstGeom>
        </p:spPr>
      </p:pic>
      <p:pic>
        <p:nvPicPr>
          <p:cNvPr id="67" name="Picture 66">
            <a:extLst>
              <a:ext uri="{FF2B5EF4-FFF2-40B4-BE49-F238E27FC236}">
                <a16:creationId xmlns:a16="http://schemas.microsoft.com/office/drawing/2014/main" id="{D35D42A6-981F-4C19-87CC-64114287473E}"/>
              </a:ext>
            </a:extLst>
          </p:cNvPr>
          <p:cNvPicPr>
            <a:picLocks noChangeAspect="1"/>
          </p:cNvPicPr>
          <p:nvPr/>
        </p:nvPicPr>
        <p:blipFill>
          <a:blip r:embed="rId2"/>
          <a:stretch>
            <a:fillRect/>
          </a:stretch>
        </p:blipFill>
        <p:spPr>
          <a:xfrm>
            <a:off x="1037853" y="4292066"/>
            <a:ext cx="3286497" cy="440156"/>
          </a:xfrm>
          <a:prstGeom prst="rect">
            <a:avLst/>
          </a:prstGeom>
        </p:spPr>
      </p:pic>
      <p:pic>
        <p:nvPicPr>
          <p:cNvPr id="68" name="Picture 67">
            <a:extLst>
              <a:ext uri="{FF2B5EF4-FFF2-40B4-BE49-F238E27FC236}">
                <a16:creationId xmlns:a16="http://schemas.microsoft.com/office/drawing/2014/main" id="{D93BBEAA-A272-4191-A5C1-50F0F2011FBD}"/>
              </a:ext>
            </a:extLst>
          </p:cNvPr>
          <p:cNvPicPr>
            <a:picLocks noChangeAspect="1"/>
          </p:cNvPicPr>
          <p:nvPr/>
        </p:nvPicPr>
        <p:blipFill>
          <a:blip r:embed="rId2"/>
          <a:stretch>
            <a:fillRect/>
          </a:stretch>
        </p:blipFill>
        <p:spPr>
          <a:xfrm>
            <a:off x="7605526" y="3773968"/>
            <a:ext cx="3286497" cy="440156"/>
          </a:xfrm>
          <a:prstGeom prst="rect">
            <a:avLst/>
          </a:prstGeom>
        </p:spPr>
      </p:pic>
      <p:pic>
        <p:nvPicPr>
          <p:cNvPr id="69" name="Picture 68">
            <a:extLst>
              <a:ext uri="{FF2B5EF4-FFF2-40B4-BE49-F238E27FC236}">
                <a16:creationId xmlns:a16="http://schemas.microsoft.com/office/drawing/2014/main" id="{31ECAB5A-4506-45CD-ADC9-0BB0CEBA941F}"/>
              </a:ext>
            </a:extLst>
          </p:cNvPr>
          <p:cNvPicPr>
            <a:picLocks noChangeAspect="1"/>
          </p:cNvPicPr>
          <p:nvPr/>
        </p:nvPicPr>
        <p:blipFill>
          <a:blip r:embed="rId2"/>
          <a:stretch>
            <a:fillRect/>
          </a:stretch>
        </p:blipFill>
        <p:spPr>
          <a:xfrm>
            <a:off x="7977001" y="3972289"/>
            <a:ext cx="3286497" cy="440156"/>
          </a:xfrm>
          <a:prstGeom prst="rect">
            <a:avLst/>
          </a:prstGeom>
        </p:spPr>
      </p:pic>
      <p:sp>
        <p:nvSpPr>
          <p:cNvPr id="70" name="TextBox 69">
            <a:extLst>
              <a:ext uri="{FF2B5EF4-FFF2-40B4-BE49-F238E27FC236}">
                <a16:creationId xmlns:a16="http://schemas.microsoft.com/office/drawing/2014/main" id="{07A5603E-0655-43B9-81E0-C173826925BF}"/>
              </a:ext>
            </a:extLst>
          </p:cNvPr>
          <p:cNvSpPr txBox="1"/>
          <p:nvPr/>
        </p:nvSpPr>
        <p:spPr>
          <a:xfrm>
            <a:off x="2786908" y="1190625"/>
            <a:ext cx="941283" cy="369332"/>
          </a:xfrm>
          <a:prstGeom prst="rect">
            <a:avLst/>
          </a:prstGeom>
          <a:noFill/>
        </p:spPr>
        <p:txBody>
          <a:bodyPr wrap="none" rtlCol="0" anchor="ctr" anchorCtr="1">
            <a:spAutoFit/>
          </a:bodyPr>
          <a:lstStyle/>
          <a:p>
            <a:r>
              <a:rPr lang="en-US" dirty="0">
                <a:ea typeface="標楷體" pitchFamily="65" charset="-120"/>
                <a:cs typeface="Calibri" pitchFamily="34" charset="0"/>
              </a:rPr>
              <a:t>PML4E</a:t>
            </a:r>
          </a:p>
        </p:txBody>
      </p:sp>
      <p:sp>
        <p:nvSpPr>
          <p:cNvPr id="71" name="TextBox 70">
            <a:extLst>
              <a:ext uri="{FF2B5EF4-FFF2-40B4-BE49-F238E27FC236}">
                <a16:creationId xmlns:a16="http://schemas.microsoft.com/office/drawing/2014/main" id="{82DE242C-EFC4-4BEB-A0A9-ED4F9F23173B}"/>
              </a:ext>
            </a:extLst>
          </p:cNvPr>
          <p:cNvSpPr txBox="1"/>
          <p:nvPr/>
        </p:nvSpPr>
        <p:spPr>
          <a:xfrm>
            <a:off x="5693726" y="2610921"/>
            <a:ext cx="813043" cy="369332"/>
          </a:xfrm>
          <a:prstGeom prst="rect">
            <a:avLst/>
          </a:prstGeom>
          <a:noFill/>
        </p:spPr>
        <p:txBody>
          <a:bodyPr wrap="none" rtlCol="0" anchor="ctr" anchorCtr="1">
            <a:spAutoFit/>
          </a:bodyPr>
          <a:lstStyle/>
          <a:p>
            <a:r>
              <a:rPr lang="en-US" dirty="0">
                <a:ea typeface="標楷體" pitchFamily="65" charset="-120"/>
                <a:cs typeface="Calibri" pitchFamily="34" charset="0"/>
              </a:rPr>
              <a:t>PDPE</a:t>
            </a:r>
          </a:p>
        </p:txBody>
      </p:sp>
      <p:pic>
        <p:nvPicPr>
          <p:cNvPr id="72" name="Picture 71">
            <a:extLst>
              <a:ext uri="{FF2B5EF4-FFF2-40B4-BE49-F238E27FC236}">
                <a16:creationId xmlns:a16="http://schemas.microsoft.com/office/drawing/2014/main" id="{C20E2609-41F2-4B34-9379-834BD46EE5C2}"/>
              </a:ext>
            </a:extLst>
          </p:cNvPr>
          <p:cNvPicPr>
            <a:picLocks noChangeAspect="1"/>
          </p:cNvPicPr>
          <p:nvPr/>
        </p:nvPicPr>
        <p:blipFill>
          <a:blip r:embed="rId2"/>
          <a:stretch>
            <a:fillRect/>
          </a:stretch>
        </p:blipFill>
        <p:spPr>
          <a:xfrm>
            <a:off x="1385516" y="5199647"/>
            <a:ext cx="3286497" cy="440156"/>
          </a:xfrm>
          <a:prstGeom prst="rect">
            <a:avLst/>
          </a:prstGeom>
        </p:spPr>
      </p:pic>
      <p:pic>
        <p:nvPicPr>
          <p:cNvPr id="73" name="Picture 72">
            <a:extLst>
              <a:ext uri="{FF2B5EF4-FFF2-40B4-BE49-F238E27FC236}">
                <a16:creationId xmlns:a16="http://schemas.microsoft.com/office/drawing/2014/main" id="{4D22565A-124B-49F2-AB6A-8222FE903F6D}"/>
              </a:ext>
            </a:extLst>
          </p:cNvPr>
          <p:cNvPicPr>
            <a:picLocks noChangeAspect="1"/>
          </p:cNvPicPr>
          <p:nvPr/>
        </p:nvPicPr>
        <p:blipFill>
          <a:blip r:embed="rId2"/>
          <a:stretch>
            <a:fillRect/>
          </a:stretch>
        </p:blipFill>
        <p:spPr>
          <a:xfrm>
            <a:off x="1923678" y="5452109"/>
            <a:ext cx="3286497" cy="440156"/>
          </a:xfrm>
          <a:prstGeom prst="rect">
            <a:avLst/>
          </a:prstGeom>
        </p:spPr>
      </p:pic>
      <p:pic>
        <p:nvPicPr>
          <p:cNvPr id="74" name="Picture 73">
            <a:extLst>
              <a:ext uri="{FF2B5EF4-FFF2-40B4-BE49-F238E27FC236}">
                <a16:creationId xmlns:a16="http://schemas.microsoft.com/office/drawing/2014/main" id="{44A2FFEE-E8B7-4EE1-A7F5-1491A7D2638D}"/>
              </a:ext>
            </a:extLst>
          </p:cNvPr>
          <p:cNvPicPr>
            <a:picLocks noChangeAspect="1"/>
          </p:cNvPicPr>
          <p:nvPr/>
        </p:nvPicPr>
        <p:blipFill>
          <a:blip r:embed="rId2"/>
          <a:stretch>
            <a:fillRect/>
          </a:stretch>
        </p:blipFill>
        <p:spPr>
          <a:xfrm>
            <a:off x="2295153" y="5681712"/>
            <a:ext cx="3286497" cy="440156"/>
          </a:xfrm>
          <a:prstGeom prst="rect">
            <a:avLst/>
          </a:prstGeom>
        </p:spPr>
      </p:pic>
      <p:pic>
        <p:nvPicPr>
          <p:cNvPr id="75" name="Picture 74">
            <a:extLst>
              <a:ext uri="{FF2B5EF4-FFF2-40B4-BE49-F238E27FC236}">
                <a16:creationId xmlns:a16="http://schemas.microsoft.com/office/drawing/2014/main" id="{B070AF93-F476-4629-B853-DC25542314BC}"/>
              </a:ext>
            </a:extLst>
          </p:cNvPr>
          <p:cNvPicPr>
            <a:picLocks noChangeAspect="1"/>
          </p:cNvPicPr>
          <p:nvPr/>
        </p:nvPicPr>
        <p:blipFill>
          <a:blip r:embed="rId2"/>
          <a:stretch>
            <a:fillRect/>
          </a:stretch>
        </p:blipFill>
        <p:spPr>
          <a:xfrm>
            <a:off x="7677150" y="5227219"/>
            <a:ext cx="3286497" cy="440156"/>
          </a:xfrm>
          <a:prstGeom prst="rect">
            <a:avLst/>
          </a:prstGeom>
        </p:spPr>
      </p:pic>
      <p:pic>
        <p:nvPicPr>
          <p:cNvPr id="76" name="Picture 75">
            <a:extLst>
              <a:ext uri="{FF2B5EF4-FFF2-40B4-BE49-F238E27FC236}">
                <a16:creationId xmlns:a16="http://schemas.microsoft.com/office/drawing/2014/main" id="{CF9617B6-A198-4444-8182-616CE95D917F}"/>
              </a:ext>
            </a:extLst>
          </p:cNvPr>
          <p:cNvPicPr>
            <a:picLocks noChangeAspect="1"/>
          </p:cNvPicPr>
          <p:nvPr/>
        </p:nvPicPr>
        <p:blipFill>
          <a:blip r:embed="rId2"/>
          <a:stretch>
            <a:fillRect/>
          </a:stretch>
        </p:blipFill>
        <p:spPr>
          <a:xfrm>
            <a:off x="8215312" y="5479681"/>
            <a:ext cx="3286497" cy="440156"/>
          </a:xfrm>
          <a:prstGeom prst="rect">
            <a:avLst/>
          </a:prstGeom>
        </p:spPr>
      </p:pic>
      <p:pic>
        <p:nvPicPr>
          <p:cNvPr id="77" name="Picture 76">
            <a:extLst>
              <a:ext uri="{FF2B5EF4-FFF2-40B4-BE49-F238E27FC236}">
                <a16:creationId xmlns:a16="http://schemas.microsoft.com/office/drawing/2014/main" id="{52FEC533-8026-4674-A7A9-004D6B6623BB}"/>
              </a:ext>
            </a:extLst>
          </p:cNvPr>
          <p:cNvPicPr>
            <a:picLocks noChangeAspect="1"/>
          </p:cNvPicPr>
          <p:nvPr/>
        </p:nvPicPr>
        <p:blipFill>
          <a:blip r:embed="rId2"/>
          <a:stretch>
            <a:fillRect/>
          </a:stretch>
        </p:blipFill>
        <p:spPr>
          <a:xfrm>
            <a:off x="8586787" y="5709284"/>
            <a:ext cx="3286497" cy="440156"/>
          </a:xfrm>
          <a:prstGeom prst="rect">
            <a:avLst/>
          </a:prstGeom>
        </p:spPr>
      </p:pic>
      <p:cxnSp>
        <p:nvCxnSpPr>
          <p:cNvPr id="78" name="Straight Arrow Connector 77">
            <a:extLst>
              <a:ext uri="{FF2B5EF4-FFF2-40B4-BE49-F238E27FC236}">
                <a16:creationId xmlns:a16="http://schemas.microsoft.com/office/drawing/2014/main" id="{A2875852-0682-4A45-8F9D-1413C485D2B2}"/>
              </a:ext>
            </a:extLst>
          </p:cNvPr>
          <p:cNvCxnSpPr>
            <a:cxnSpLocks/>
          </p:cNvCxnSpPr>
          <p:nvPr/>
        </p:nvCxnSpPr>
        <p:spPr bwMode="auto">
          <a:xfrm>
            <a:off x="352425" y="2926012"/>
            <a:ext cx="57151" cy="883989"/>
          </a:xfrm>
          <a:prstGeom prst="straightConnector1">
            <a:avLst/>
          </a:prstGeom>
          <a:noFill/>
          <a:ln w="15875" cap="flat" cmpd="sng" algn="ctr">
            <a:solidFill>
              <a:srgbClr val="FF0000"/>
            </a:solidFill>
            <a:prstDash val="solid"/>
            <a:round/>
            <a:headEnd type="none" w="med" len="med"/>
            <a:tailEnd type="triangle"/>
          </a:ln>
          <a:effectLst/>
        </p:spPr>
      </p:cxnSp>
      <p:cxnSp>
        <p:nvCxnSpPr>
          <p:cNvPr id="82" name="Straight Arrow Connector 81">
            <a:extLst>
              <a:ext uri="{FF2B5EF4-FFF2-40B4-BE49-F238E27FC236}">
                <a16:creationId xmlns:a16="http://schemas.microsoft.com/office/drawing/2014/main" id="{17ED1913-68F8-4539-A96F-B37D66A6464B}"/>
              </a:ext>
            </a:extLst>
          </p:cNvPr>
          <p:cNvCxnSpPr>
            <a:cxnSpLocks/>
          </p:cNvCxnSpPr>
          <p:nvPr/>
        </p:nvCxnSpPr>
        <p:spPr bwMode="auto">
          <a:xfrm>
            <a:off x="590550" y="2916815"/>
            <a:ext cx="266700" cy="1145648"/>
          </a:xfrm>
          <a:prstGeom prst="straightConnector1">
            <a:avLst/>
          </a:prstGeom>
          <a:noFill/>
          <a:ln w="15875" cap="flat" cmpd="sng" algn="ctr">
            <a:solidFill>
              <a:srgbClr val="FF0000"/>
            </a:solidFill>
            <a:prstDash val="solid"/>
            <a:round/>
            <a:headEnd type="none" w="med" len="med"/>
            <a:tailEnd type="triangle"/>
          </a:ln>
          <a:effectLst/>
        </p:spPr>
      </p:cxnSp>
      <p:cxnSp>
        <p:nvCxnSpPr>
          <p:cNvPr id="84" name="Straight Arrow Connector 83">
            <a:extLst>
              <a:ext uri="{FF2B5EF4-FFF2-40B4-BE49-F238E27FC236}">
                <a16:creationId xmlns:a16="http://schemas.microsoft.com/office/drawing/2014/main" id="{177EDF15-70E6-49B0-9B17-C6B2DB425624}"/>
              </a:ext>
            </a:extLst>
          </p:cNvPr>
          <p:cNvCxnSpPr>
            <a:cxnSpLocks/>
          </p:cNvCxnSpPr>
          <p:nvPr/>
        </p:nvCxnSpPr>
        <p:spPr bwMode="auto">
          <a:xfrm>
            <a:off x="885824" y="2941546"/>
            <a:ext cx="357188" cy="1470899"/>
          </a:xfrm>
          <a:prstGeom prst="straightConnector1">
            <a:avLst/>
          </a:prstGeom>
          <a:noFill/>
          <a:ln w="15875" cap="flat" cmpd="sng" algn="ctr">
            <a:solidFill>
              <a:srgbClr val="FF0000"/>
            </a:solidFill>
            <a:prstDash val="solid"/>
            <a:round/>
            <a:headEnd type="none" w="med" len="med"/>
            <a:tailEnd type="triangle"/>
          </a:ln>
          <a:effectLst/>
        </p:spPr>
      </p:cxnSp>
      <p:cxnSp>
        <p:nvCxnSpPr>
          <p:cNvPr id="86" name="Straight Arrow Connector 85">
            <a:extLst>
              <a:ext uri="{FF2B5EF4-FFF2-40B4-BE49-F238E27FC236}">
                <a16:creationId xmlns:a16="http://schemas.microsoft.com/office/drawing/2014/main" id="{7C4E0685-2B4A-4ED2-91B6-B325964CBDC5}"/>
              </a:ext>
            </a:extLst>
          </p:cNvPr>
          <p:cNvCxnSpPr>
            <a:cxnSpLocks/>
          </p:cNvCxnSpPr>
          <p:nvPr/>
        </p:nvCxnSpPr>
        <p:spPr bwMode="auto">
          <a:xfrm flipH="1">
            <a:off x="7734114" y="2786390"/>
            <a:ext cx="4124695" cy="1023611"/>
          </a:xfrm>
          <a:prstGeom prst="straightConnector1">
            <a:avLst/>
          </a:prstGeom>
          <a:noFill/>
          <a:ln w="15875" cap="flat" cmpd="sng" algn="ctr">
            <a:solidFill>
              <a:srgbClr val="FF0000"/>
            </a:solidFill>
            <a:prstDash val="solid"/>
            <a:round/>
            <a:headEnd type="none" w="med" len="med"/>
            <a:tailEnd type="triangle"/>
          </a:ln>
          <a:effectLst/>
        </p:spPr>
      </p:cxnSp>
      <p:cxnSp>
        <p:nvCxnSpPr>
          <p:cNvPr id="88" name="Straight Arrow Connector 87">
            <a:extLst>
              <a:ext uri="{FF2B5EF4-FFF2-40B4-BE49-F238E27FC236}">
                <a16:creationId xmlns:a16="http://schemas.microsoft.com/office/drawing/2014/main" id="{0A704BF4-6C1A-4D79-8725-EC6294B26096}"/>
              </a:ext>
            </a:extLst>
          </p:cNvPr>
          <p:cNvCxnSpPr>
            <a:cxnSpLocks/>
          </p:cNvCxnSpPr>
          <p:nvPr/>
        </p:nvCxnSpPr>
        <p:spPr bwMode="auto">
          <a:xfrm flipH="1">
            <a:off x="8143688" y="2795587"/>
            <a:ext cx="3419662" cy="1228606"/>
          </a:xfrm>
          <a:prstGeom prst="straightConnector1">
            <a:avLst/>
          </a:prstGeom>
          <a:noFill/>
          <a:ln w="15875" cap="flat" cmpd="sng" algn="ctr">
            <a:solidFill>
              <a:srgbClr val="FF0000"/>
            </a:solidFill>
            <a:prstDash val="solid"/>
            <a:round/>
            <a:headEnd type="none" w="med" len="med"/>
            <a:tailEnd type="triangle"/>
          </a:ln>
          <a:effectLst/>
        </p:spPr>
      </p:cxnSp>
      <p:sp>
        <p:nvSpPr>
          <p:cNvPr id="90" name="TextBox 89">
            <a:extLst>
              <a:ext uri="{FF2B5EF4-FFF2-40B4-BE49-F238E27FC236}">
                <a16:creationId xmlns:a16="http://schemas.microsoft.com/office/drawing/2014/main" id="{518C0EB7-88C9-447D-8AF8-55E9D6A8516C}"/>
              </a:ext>
            </a:extLst>
          </p:cNvPr>
          <p:cNvSpPr txBox="1"/>
          <p:nvPr/>
        </p:nvSpPr>
        <p:spPr>
          <a:xfrm>
            <a:off x="5782926" y="3946874"/>
            <a:ext cx="659155" cy="369332"/>
          </a:xfrm>
          <a:prstGeom prst="rect">
            <a:avLst/>
          </a:prstGeom>
          <a:noFill/>
        </p:spPr>
        <p:txBody>
          <a:bodyPr wrap="none" rtlCol="0" anchor="ctr" anchorCtr="1">
            <a:spAutoFit/>
          </a:bodyPr>
          <a:lstStyle/>
          <a:p>
            <a:r>
              <a:rPr lang="en-US" dirty="0">
                <a:ea typeface="標楷體" pitchFamily="65" charset="-120"/>
                <a:cs typeface="Calibri" pitchFamily="34" charset="0"/>
              </a:rPr>
              <a:t>PDE</a:t>
            </a:r>
          </a:p>
        </p:txBody>
      </p:sp>
      <p:sp>
        <p:nvSpPr>
          <p:cNvPr id="91" name="TextBox 90">
            <a:extLst>
              <a:ext uri="{FF2B5EF4-FFF2-40B4-BE49-F238E27FC236}">
                <a16:creationId xmlns:a16="http://schemas.microsoft.com/office/drawing/2014/main" id="{51B27EBB-3F99-40BF-BA9D-2D212F470477}"/>
              </a:ext>
            </a:extLst>
          </p:cNvPr>
          <p:cNvSpPr txBox="1"/>
          <p:nvPr/>
        </p:nvSpPr>
        <p:spPr>
          <a:xfrm>
            <a:off x="5918206" y="5515093"/>
            <a:ext cx="633507" cy="369332"/>
          </a:xfrm>
          <a:prstGeom prst="rect">
            <a:avLst/>
          </a:prstGeom>
          <a:noFill/>
        </p:spPr>
        <p:txBody>
          <a:bodyPr wrap="none" rtlCol="0" anchor="ctr" anchorCtr="1">
            <a:spAutoFit/>
          </a:bodyPr>
          <a:lstStyle/>
          <a:p>
            <a:r>
              <a:rPr lang="en-US" dirty="0">
                <a:ea typeface="標楷體" pitchFamily="65" charset="-120"/>
                <a:cs typeface="Calibri" pitchFamily="34" charset="0"/>
              </a:rPr>
              <a:t>PTE</a:t>
            </a:r>
          </a:p>
        </p:txBody>
      </p:sp>
      <p:cxnSp>
        <p:nvCxnSpPr>
          <p:cNvPr id="92" name="Straight Arrow Connector 91">
            <a:extLst>
              <a:ext uri="{FF2B5EF4-FFF2-40B4-BE49-F238E27FC236}">
                <a16:creationId xmlns:a16="http://schemas.microsoft.com/office/drawing/2014/main" id="{9818F3C7-A1AD-48B4-9CA4-D5812533D868}"/>
              </a:ext>
            </a:extLst>
          </p:cNvPr>
          <p:cNvCxnSpPr>
            <a:cxnSpLocks/>
          </p:cNvCxnSpPr>
          <p:nvPr/>
        </p:nvCxnSpPr>
        <p:spPr bwMode="auto">
          <a:xfrm>
            <a:off x="1476003" y="4502619"/>
            <a:ext cx="995734" cy="1244066"/>
          </a:xfrm>
          <a:prstGeom prst="straightConnector1">
            <a:avLst/>
          </a:prstGeom>
          <a:noFill/>
          <a:ln w="15875" cap="flat" cmpd="sng" algn="ctr">
            <a:solidFill>
              <a:srgbClr val="FF0000"/>
            </a:solidFill>
            <a:prstDash val="solid"/>
            <a:round/>
            <a:headEnd type="none" w="med" len="med"/>
            <a:tailEnd type="triangle"/>
          </a:ln>
          <a:effectLst/>
        </p:spPr>
      </p:cxnSp>
      <p:cxnSp>
        <p:nvCxnSpPr>
          <p:cNvPr id="94" name="Straight Arrow Connector 93">
            <a:extLst>
              <a:ext uri="{FF2B5EF4-FFF2-40B4-BE49-F238E27FC236}">
                <a16:creationId xmlns:a16="http://schemas.microsoft.com/office/drawing/2014/main" id="{8B037B20-3715-4F51-9378-4408F5489B79}"/>
              </a:ext>
            </a:extLst>
          </p:cNvPr>
          <p:cNvCxnSpPr>
            <a:cxnSpLocks/>
          </p:cNvCxnSpPr>
          <p:nvPr/>
        </p:nvCxnSpPr>
        <p:spPr bwMode="auto">
          <a:xfrm>
            <a:off x="1314262" y="4535736"/>
            <a:ext cx="214500" cy="691483"/>
          </a:xfrm>
          <a:prstGeom prst="straightConnector1">
            <a:avLst/>
          </a:prstGeom>
          <a:noFill/>
          <a:ln w="15875" cap="flat" cmpd="sng" algn="ctr">
            <a:solidFill>
              <a:srgbClr val="FF0000"/>
            </a:solidFill>
            <a:prstDash val="solid"/>
            <a:round/>
            <a:headEnd type="none" w="med" len="med"/>
            <a:tailEnd type="triangle"/>
          </a:ln>
          <a:effectLst/>
        </p:spPr>
      </p:cxnSp>
      <p:cxnSp>
        <p:nvCxnSpPr>
          <p:cNvPr id="96" name="Straight Arrow Connector 95">
            <a:extLst>
              <a:ext uri="{FF2B5EF4-FFF2-40B4-BE49-F238E27FC236}">
                <a16:creationId xmlns:a16="http://schemas.microsoft.com/office/drawing/2014/main" id="{5B6119FD-0CB3-4FA6-9690-0F5A872E1B73}"/>
              </a:ext>
            </a:extLst>
          </p:cNvPr>
          <p:cNvCxnSpPr>
            <a:cxnSpLocks/>
          </p:cNvCxnSpPr>
          <p:nvPr/>
        </p:nvCxnSpPr>
        <p:spPr bwMode="auto">
          <a:xfrm>
            <a:off x="7834125" y="4000977"/>
            <a:ext cx="104962" cy="1350635"/>
          </a:xfrm>
          <a:prstGeom prst="straightConnector1">
            <a:avLst/>
          </a:prstGeom>
          <a:noFill/>
          <a:ln w="15875" cap="flat" cmpd="sng" algn="ctr">
            <a:solidFill>
              <a:srgbClr val="FF0000"/>
            </a:solidFill>
            <a:prstDash val="solid"/>
            <a:round/>
            <a:headEnd type="none" w="med" len="med"/>
            <a:tailEnd type="triangle"/>
          </a:ln>
          <a:effectLst/>
        </p:spPr>
      </p:cxnSp>
      <p:cxnSp>
        <p:nvCxnSpPr>
          <p:cNvPr id="98" name="Straight Arrow Connector 97">
            <a:extLst>
              <a:ext uri="{FF2B5EF4-FFF2-40B4-BE49-F238E27FC236}">
                <a16:creationId xmlns:a16="http://schemas.microsoft.com/office/drawing/2014/main" id="{C3195785-CD5A-44DD-8690-76C94790CCBE}"/>
              </a:ext>
            </a:extLst>
          </p:cNvPr>
          <p:cNvCxnSpPr>
            <a:cxnSpLocks/>
          </p:cNvCxnSpPr>
          <p:nvPr/>
        </p:nvCxnSpPr>
        <p:spPr bwMode="auto">
          <a:xfrm>
            <a:off x="8196261" y="4308166"/>
            <a:ext cx="266701" cy="1331637"/>
          </a:xfrm>
          <a:prstGeom prst="straightConnector1">
            <a:avLst/>
          </a:prstGeom>
          <a:noFill/>
          <a:ln w="15875" cap="flat" cmpd="sng" algn="ctr">
            <a:solidFill>
              <a:srgbClr val="FF0000"/>
            </a:solidFill>
            <a:prstDash val="solid"/>
            <a:round/>
            <a:headEnd type="none" w="med" len="med"/>
            <a:tailEnd type="triangle"/>
          </a:ln>
          <a:effectLst/>
        </p:spPr>
      </p:cxnSp>
      <p:sp>
        <p:nvSpPr>
          <p:cNvPr id="100" name="TextBox 99">
            <a:extLst>
              <a:ext uri="{FF2B5EF4-FFF2-40B4-BE49-F238E27FC236}">
                <a16:creationId xmlns:a16="http://schemas.microsoft.com/office/drawing/2014/main" id="{436C0C79-1D93-433A-9E10-7654E731A3F7}"/>
              </a:ext>
            </a:extLst>
          </p:cNvPr>
          <p:cNvSpPr txBox="1"/>
          <p:nvPr/>
        </p:nvSpPr>
        <p:spPr>
          <a:xfrm>
            <a:off x="4961679" y="1190625"/>
            <a:ext cx="2505921" cy="523220"/>
          </a:xfrm>
          <a:prstGeom prst="rect">
            <a:avLst/>
          </a:prstGeom>
          <a:noFill/>
          <a:ln w="19050">
            <a:solidFill>
              <a:srgbClr val="002060"/>
            </a:solidFill>
          </a:ln>
        </p:spPr>
        <p:txBody>
          <a:bodyPr wrap="square" rtlCol="0" anchor="ctr" anchorCtr="1">
            <a:spAutoFit/>
          </a:bodyPr>
          <a:lstStyle/>
          <a:p>
            <a:r>
              <a:rPr lang="en-US" sz="2800" dirty="0">
                <a:ea typeface="標楷體" pitchFamily="65" charset="-120"/>
                <a:cs typeface="Calibri" pitchFamily="34" charset="0"/>
              </a:rPr>
              <a:t>Rarely Used</a:t>
            </a:r>
          </a:p>
        </p:txBody>
      </p:sp>
      <p:sp>
        <p:nvSpPr>
          <p:cNvPr id="102" name="TextBox 101">
            <a:extLst>
              <a:ext uri="{FF2B5EF4-FFF2-40B4-BE49-F238E27FC236}">
                <a16:creationId xmlns:a16="http://schemas.microsoft.com/office/drawing/2014/main" id="{CDF38FA9-6A44-4457-895D-1846AE5D8ADD}"/>
              </a:ext>
            </a:extLst>
          </p:cNvPr>
          <p:cNvSpPr txBox="1"/>
          <p:nvPr/>
        </p:nvSpPr>
        <p:spPr>
          <a:xfrm>
            <a:off x="1037853" y="154041"/>
            <a:ext cx="10820956" cy="646331"/>
          </a:xfrm>
          <a:prstGeom prst="rect">
            <a:avLst/>
          </a:prstGeom>
          <a:noFill/>
        </p:spPr>
        <p:txBody>
          <a:bodyPr wrap="square">
            <a:spAutoFit/>
          </a:bodyPr>
          <a:lstStyle/>
          <a:p>
            <a:pPr defTabSz="914377" eaLnBrk="0" fontAlgn="base" hangingPunct="0">
              <a:spcBef>
                <a:spcPct val="0"/>
              </a:spcBef>
              <a:spcAft>
                <a:spcPct val="0"/>
              </a:spcAft>
              <a:buClrTx/>
              <a:buSzTx/>
              <a:buNone/>
            </a:pPr>
            <a:r>
              <a:rPr lang="en-US" altLang="en-US" sz="3600" dirty="0">
                <a:solidFill>
                  <a:srgbClr val="000000"/>
                </a:solidFill>
                <a:latin typeface="Verdana" panose="020B0604030504040204" pitchFamily="34" charset="0"/>
              </a:rPr>
              <a:t>T</a:t>
            </a:r>
            <a:r>
              <a:rPr kumimoji="0" lang="en-US" altLang="en-US" sz="3600" dirty="0">
                <a:solidFill>
                  <a:srgbClr val="000000"/>
                </a:solidFill>
                <a:latin typeface="Verdana" panose="020B0604030504040204" pitchFamily="34" charset="0"/>
              </a:rPr>
              <a:t>hree </a:t>
            </a:r>
            <a:r>
              <a:rPr lang="en-US" altLang="en-US" sz="3600" dirty="0">
                <a:solidFill>
                  <a:srgbClr val="000000"/>
                </a:solidFill>
                <a:latin typeface="Verdana" panose="020B0604030504040204" pitchFamily="34" charset="0"/>
              </a:rPr>
              <a:t>L</a:t>
            </a:r>
            <a:r>
              <a:rPr kumimoji="0" lang="en-US" altLang="en-US" sz="3600" dirty="0">
                <a:solidFill>
                  <a:srgbClr val="000000"/>
                </a:solidFill>
                <a:latin typeface="Verdana" panose="020B0604030504040204" pitchFamily="34" charset="0"/>
              </a:rPr>
              <a:t>evels of Directory &amp; </a:t>
            </a:r>
            <a:r>
              <a:rPr lang="en-US" altLang="en-US" sz="3600" dirty="0">
                <a:solidFill>
                  <a:srgbClr val="000000"/>
                </a:solidFill>
                <a:latin typeface="Verdana" panose="020B0604030504040204" pitchFamily="34" charset="0"/>
              </a:rPr>
              <a:t>O</a:t>
            </a:r>
            <a:r>
              <a:rPr kumimoji="0" lang="en-US" altLang="en-US" sz="3600" dirty="0">
                <a:solidFill>
                  <a:srgbClr val="000000"/>
                </a:solidFill>
                <a:latin typeface="Verdana" panose="020B0604030504040204" pitchFamily="34" charset="0"/>
              </a:rPr>
              <a:t>ne </a:t>
            </a:r>
            <a:r>
              <a:rPr lang="en-US" altLang="en-US" sz="3600" dirty="0">
                <a:solidFill>
                  <a:srgbClr val="000000"/>
                </a:solidFill>
                <a:latin typeface="Verdana" panose="020B0604030504040204" pitchFamily="34" charset="0"/>
              </a:rPr>
              <a:t>L</a:t>
            </a:r>
            <a:r>
              <a:rPr kumimoji="0" lang="en-US" altLang="en-US" sz="3600" dirty="0">
                <a:solidFill>
                  <a:srgbClr val="000000"/>
                </a:solidFill>
                <a:latin typeface="Verdana" panose="020B0604030504040204" pitchFamily="34" charset="0"/>
              </a:rPr>
              <a:t>evel of PTE</a:t>
            </a:r>
          </a:p>
        </p:txBody>
      </p:sp>
      <p:sp>
        <p:nvSpPr>
          <p:cNvPr id="2" name="TextBox 1">
            <a:extLst>
              <a:ext uri="{FF2B5EF4-FFF2-40B4-BE49-F238E27FC236}">
                <a16:creationId xmlns:a16="http://schemas.microsoft.com/office/drawing/2014/main" id="{E1B4D5F2-DBD5-41A5-904C-66DD04330360}"/>
              </a:ext>
            </a:extLst>
          </p:cNvPr>
          <p:cNvSpPr txBox="1"/>
          <p:nvPr/>
        </p:nvSpPr>
        <p:spPr>
          <a:xfrm>
            <a:off x="2786908" y="2606632"/>
            <a:ext cx="7441461" cy="1815882"/>
          </a:xfrm>
          <a:prstGeom prst="rect">
            <a:avLst/>
          </a:prstGeom>
          <a:solidFill>
            <a:srgbClr val="FFFF00"/>
          </a:solidFill>
          <a:ln>
            <a:solidFill>
              <a:srgbClr val="FF0000"/>
            </a:solidFill>
          </a:ln>
        </p:spPr>
        <p:txBody>
          <a:bodyPr wrap="none" rtlCol="0" anchor="ctr" anchorCtr="1">
            <a:spAutoFit/>
          </a:bodyPr>
          <a:lstStyle/>
          <a:p>
            <a:r>
              <a:rPr lang="en-US" sz="2800" dirty="0">
                <a:ea typeface="標楷體" pitchFamily="65" charset="-120"/>
                <a:cs typeface="Calibri" pitchFamily="34" charset="0"/>
              </a:rPr>
              <a:t>Since most of the Virtual Address Space is</a:t>
            </a:r>
          </a:p>
          <a:p>
            <a:r>
              <a:rPr lang="en-US" sz="2800" dirty="0">
                <a:ea typeface="標楷體" pitchFamily="65" charset="-120"/>
                <a:cs typeface="Calibri" pitchFamily="34" charset="0"/>
              </a:rPr>
              <a:t>unused, each directory level is sparsely</a:t>
            </a:r>
          </a:p>
          <a:p>
            <a:r>
              <a:rPr lang="en-US" sz="2800" dirty="0">
                <a:ea typeface="標楷體" pitchFamily="65" charset="-120"/>
                <a:cs typeface="Calibri" pitchFamily="34" charset="0"/>
              </a:rPr>
              <a:t>populated. So, the PTE level does not require</a:t>
            </a:r>
          </a:p>
          <a:p>
            <a:r>
              <a:rPr lang="en-US" sz="2800" dirty="0">
                <a:ea typeface="標楷體" pitchFamily="65" charset="-120"/>
                <a:cs typeface="Calibri" pitchFamily="34" charset="0"/>
              </a:rPr>
              <a:t>a huge number of consecutive entries.</a:t>
            </a:r>
          </a:p>
        </p:txBody>
      </p:sp>
    </p:spTree>
    <p:extLst>
      <p:ext uri="{BB962C8B-B14F-4D97-AF65-F5344CB8AC3E}">
        <p14:creationId xmlns:p14="http://schemas.microsoft.com/office/powerpoint/2010/main" val="3565370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1256908" y="173040"/>
            <a:ext cx="9049144" cy="656520"/>
          </a:xfrm>
        </p:spPr>
        <p:txBody>
          <a:bodyPr/>
          <a:lstStyle/>
          <a:p>
            <a:r>
              <a:rPr lang="en-US" altLang="zh-TW" b="0" dirty="0"/>
              <a:t>Inverted Page Table </a:t>
            </a:r>
          </a:p>
        </p:txBody>
      </p:sp>
      <p:sp>
        <p:nvSpPr>
          <p:cNvPr id="100356" name="投影片編號版面配置區 1"/>
          <p:cNvSpPr>
            <a:spLocks noGrp="1"/>
          </p:cNvSpPr>
          <p:nvPr>
            <p:ph type="sldNum" sz="quarter" idx="4294967295"/>
          </p:nvPr>
        </p:nvSpPr>
        <p:spPr>
          <a:noFill/>
          <a:ln>
            <a:miter lim="800000"/>
          </a:ln>
        </p:spPr>
        <p:txBody>
          <a:bodyPr/>
          <a:lstStyle/>
          <a:p>
            <a:pPr defTabSz="761981"/>
            <a:fld id="{D1BAE5FF-9D6D-431A-8B78-1E85B141FCA5}" type="slidenum">
              <a:rPr lang="zh-TW" altLang="en-US"/>
              <a:pPr defTabSz="761981"/>
              <a:t>23</a:t>
            </a:fld>
            <a:endParaRPr lang="en-US" altLang="zh-TW"/>
          </a:p>
        </p:txBody>
      </p:sp>
      <p:sp>
        <p:nvSpPr>
          <p:cNvPr id="5" name="Rectangle 3">
            <a:extLst>
              <a:ext uri="{FF2B5EF4-FFF2-40B4-BE49-F238E27FC236}">
                <a16:creationId xmlns:a16="http://schemas.microsoft.com/office/drawing/2014/main" id="{416D82DA-2CD3-41FF-9B45-9A40DE546962}"/>
              </a:ext>
            </a:extLst>
          </p:cNvPr>
          <p:cNvSpPr>
            <a:spLocks noGrp="1" noChangeArrowheads="1"/>
          </p:cNvSpPr>
          <p:nvPr>
            <p:ph type="body" idx="1"/>
          </p:nvPr>
        </p:nvSpPr>
        <p:spPr>
          <a:xfrm>
            <a:off x="184826" y="984217"/>
            <a:ext cx="11767991" cy="5222030"/>
          </a:xfrm>
        </p:spPr>
        <p:txBody>
          <a:bodyPr/>
          <a:lstStyle/>
          <a:p>
            <a:r>
              <a:rPr lang="en-US" altLang="en-US" sz="2400" dirty="0"/>
              <a:t>Rather than each process having a page table and keeping track of all possible logical pages, we may track all physical pages</a:t>
            </a:r>
          </a:p>
          <a:p>
            <a:r>
              <a:rPr lang="en-US" altLang="en-US" sz="2400" dirty="0"/>
              <a:t>One entry for each real page of memory</a:t>
            </a:r>
          </a:p>
          <a:p>
            <a:r>
              <a:rPr lang="en-US" altLang="en-US" sz="2400" dirty="0"/>
              <a:t>Entry consists of the virtual address of the page stored in that real memory location, with information about the process that owns that page</a:t>
            </a:r>
          </a:p>
          <a:p>
            <a:r>
              <a:rPr lang="en-US" altLang="en-US" sz="2400" dirty="0"/>
              <a:t>Decreases memory needed to store each page table, but increases time needed to search the table when a page reference occurs</a:t>
            </a:r>
          </a:p>
          <a:p>
            <a:r>
              <a:rPr lang="en-US" altLang="en-US" sz="2400" dirty="0"/>
              <a:t>Use hash table to limit the search to one — or at most a few — page-table entries</a:t>
            </a:r>
          </a:p>
          <a:p>
            <a:pPr lvl="1"/>
            <a:r>
              <a:rPr lang="en-US" altLang="en-US" sz="2400" dirty="0"/>
              <a:t>TLB can accelerate access</a:t>
            </a:r>
          </a:p>
          <a:p>
            <a:r>
              <a:rPr lang="en-US" altLang="en-US" sz="2400" dirty="0"/>
              <a:t>But how to implement shared memory?</a:t>
            </a:r>
          </a:p>
          <a:p>
            <a:pPr lvl="1"/>
            <a:r>
              <a:rPr lang="en-US" altLang="en-US" sz="2400" dirty="0"/>
              <a:t>If a physical page is mapped to by multiple virtual pages, the reference will trigger a trap, the OS will handle it (in different ways).</a:t>
            </a:r>
          </a:p>
        </p:txBody>
      </p:sp>
    </p:spTree>
    <p:extLst>
      <p:ext uri="{BB962C8B-B14F-4D97-AF65-F5344CB8AC3E}">
        <p14:creationId xmlns:p14="http://schemas.microsoft.com/office/powerpoint/2010/main" val="8041755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16013E-F57D-447C-A9BC-039D783E502C}"/>
              </a:ext>
            </a:extLst>
          </p:cNvPr>
          <p:cNvSpPr>
            <a:spLocks noGrp="1"/>
          </p:cNvSpPr>
          <p:nvPr>
            <p:ph type="sldNum" sz="quarter" idx="10"/>
          </p:nvPr>
        </p:nvSpPr>
        <p:spPr/>
        <p:txBody>
          <a:bodyPr/>
          <a:lstStyle/>
          <a:p>
            <a:fld id="{D9B6BDF2-6896-4B98-8776-C18582F63BA5}" type="slidenum">
              <a:rPr lang="zh-TW" altLang="en-US" smtClean="0"/>
              <a:pPr/>
              <a:t>24</a:t>
            </a:fld>
            <a:endParaRPr lang="zh-TW" altLang="en-US"/>
          </a:p>
        </p:txBody>
      </p:sp>
      <p:sp>
        <p:nvSpPr>
          <p:cNvPr id="6" name="Rectangle 3">
            <a:extLst>
              <a:ext uri="{FF2B5EF4-FFF2-40B4-BE49-F238E27FC236}">
                <a16:creationId xmlns:a16="http://schemas.microsoft.com/office/drawing/2014/main" id="{DD6161A9-2EC2-42D4-BDC0-8DE7AE389955}"/>
              </a:ext>
            </a:extLst>
          </p:cNvPr>
          <p:cNvSpPr>
            <a:spLocks noGrp="1" noChangeArrowheads="1"/>
          </p:cNvSpPr>
          <p:nvPr>
            <p:ph type="body" idx="1"/>
          </p:nvPr>
        </p:nvSpPr>
        <p:spPr>
          <a:xfrm>
            <a:off x="80051" y="1104900"/>
            <a:ext cx="11767991" cy="3529722"/>
          </a:xfrm>
        </p:spPr>
        <p:txBody>
          <a:bodyPr/>
          <a:lstStyle/>
          <a:p>
            <a:endParaRPr lang="en-US" altLang="en-US" sz="2800" dirty="0"/>
          </a:p>
          <a:p>
            <a:pPr marL="342900" indent="-342900">
              <a:buFont typeface="Wingdings" panose="05000000000000000000" pitchFamily="2" charset="2"/>
              <a:buChar char="§"/>
            </a:pPr>
            <a:endParaRPr lang="en-US" altLang="en-US" sz="2800" dirty="0"/>
          </a:p>
          <a:p>
            <a:pPr marL="342900" indent="-342900">
              <a:buFont typeface="Wingdings" panose="05000000000000000000" pitchFamily="2" charset="2"/>
              <a:buChar char="§"/>
            </a:pPr>
            <a:r>
              <a:rPr lang="en-US" altLang="en-US" sz="2800" dirty="0"/>
              <a:t>Traditional page table (per process): each virtual page number has an entry</a:t>
            </a:r>
          </a:p>
          <a:p>
            <a:pPr marL="342900" indent="-342900">
              <a:buFont typeface="Wingdings" panose="05000000000000000000" pitchFamily="2" charset="2"/>
              <a:buChar char="§"/>
            </a:pPr>
            <a:endParaRPr lang="en-US" altLang="en-US" sz="2800" dirty="0"/>
          </a:p>
          <a:p>
            <a:pPr marL="342900" indent="-342900">
              <a:buFont typeface="Wingdings" panose="05000000000000000000" pitchFamily="2" charset="2"/>
              <a:buChar char="§"/>
            </a:pPr>
            <a:endParaRPr lang="en-US" altLang="en-US" sz="2800" dirty="0"/>
          </a:p>
          <a:p>
            <a:endParaRPr lang="en-US" altLang="en-US" sz="2800" dirty="0"/>
          </a:p>
          <a:p>
            <a:endParaRPr lang="en-US" altLang="en-US" sz="2800" dirty="0"/>
          </a:p>
          <a:p>
            <a:pPr marL="457200" indent="-457200">
              <a:buFont typeface="Wingdings" panose="05000000000000000000" pitchFamily="2" charset="2"/>
              <a:buChar char="§"/>
            </a:pPr>
            <a:r>
              <a:rPr lang="en-US" altLang="en-US" sz="2800" dirty="0"/>
              <a:t>Inverted page table: each physical page number has an entry</a:t>
            </a:r>
            <a:endParaRPr lang="en-US" altLang="en-US" sz="2400" dirty="0"/>
          </a:p>
          <a:p>
            <a:endParaRPr lang="en-US" altLang="en-US" sz="2400" dirty="0"/>
          </a:p>
        </p:txBody>
      </p:sp>
      <p:sp>
        <p:nvSpPr>
          <p:cNvPr id="8" name="TextBox 7">
            <a:extLst>
              <a:ext uri="{FF2B5EF4-FFF2-40B4-BE49-F238E27FC236}">
                <a16:creationId xmlns:a16="http://schemas.microsoft.com/office/drawing/2014/main" id="{5BA07D09-6027-4C8B-ADF4-D55767D59BDB}"/>
              </a:ext>
            </a:extLst>
          </p:cNvPr>
          <p:cNvSpPr txBox="1"/>
          <p:nvPr/>
        </p:nvSpPr>
        <p:spPr>
          <a:xfrm>
            <a:off x="1914525" y="-5971"/>
            <a:ext cx="7533216" cy="830997"/>
          </a:xfrm>
          <a:prstGeom prst="rect">
            <a:avLst/>
          </a:prstGeom>
          <a:noFill/>
        </p:spPr>
        <p:txBody>
          <a:bodyPr wrap="none" rtlCol="0" anchor="ctr" anchorCtr="1">
            <a:spAutoFit/>
          </a:bodyPr>
          <a:lstStyle/>
          <a:p>
            <a:r>
              <a:rPr lang="en-US" sz="4800" dirty="0">
                <a:latin typeface="Calibri" panose="020F0502020204030204" pitchFamily="34" charset="0"/>
                <a:ea typeface="Calibri" panose="020F0502020204030204" pitchFamily="34" charset="0"/>
                <a:cs typeface="Calibri" panose="020F0502020204030204" pitchFamily="34" charset="0"/>
              </a:rPr>
              <a:t>Inverted Page Table Structure</a:t>
            </a:r>
          </a:p>
        </p:txBody>
      </p:sp>
      <p:graphicFrame>
        <p:nvGraphicFramePr>
          <p:cNvPr id="10" name="Table 10">
            <a:extLst>
              <a:ext uri="{FF2B5EF4-FFF2-40B4-BE49-F238E27FC236}">
                <a16:creationId xmlns:a16="http://schemas.microsoft.com/office/drawing/2014/main" id="{08369B32-5996-469D-83C0-91D681CA018A}"/>
              </a:ext>
            </a:extLst>
          </p:cNvPr>
          <p:cNvGraphicFramePr>
            <a:graphicFrameLocks noGrp="1"/>
          </p:cNvGraphicFramePr>
          <p:nvPr>
            <p:extLst>
              <p:ext uri="{D42A27DB-BD31-4B8C-83A1-F6EECF244321}">
                <p14:modId xmlns:p14="http://schemas.microsoft.com/office/powerpoint/2010/main" val="2664816857"/>
              </p:ext>
            </p:extLst>
          </p:nvPr>
        </p:nvGraphicFramePr>
        <p:xfrm>
          <a:off x="4524375" y="1757241"/>
          <a:ext cx="4583642" cy="1112520"/>
        </p:xfrm>
        <a:graphic>
          <a:graphicData uri="http://schemas.openxmlformats.org/drawingml/2006/table">
            <a:tbl>
              <a:tblPr firstRow="1" bandRow="1">
                <a:tableStyleId>{5C22544A-7EE6-4342-B048-85BDC9FD1C3A}</a:tableStyleId>
              </a:tblPr>
              <a:tblGrid>
                <a:gridCol w="4583642">
                  <a:extLst>
                    <a:ext uri="{9D8B030D-6E8A-4147-A177-3AD203B41FA5}">
                      <a16:colId xmlns:a16="http://schemas.microsoft.com/office/drawing/2014/main" val="639354689"/>
                    </a:ext>
                  </a:extLst>
                </a:gridCol>
              </a:tblGrid>
              <a:tr h="370840">
                <a:tc>
                  <a:txBody>
                    <a:bodyPr/>
                    <a:lstStyle/>
                    <a:p>
                      <a:r>
                        <a:rPr lang="en-US" dirty="0"/>
                        <a:t>Physical page number</a:t>
                      </a:r>
                    </a:p>
                  </a:txBody>
                  <a:tcPr/>
                </a:tc>
                <a:extLst>
                  <a:ext uri="{0D108BD9-81ED-4DB2-BD59-A6C34878D82A}">
                    <a16:rowId xmlns:a16="http://schemas.microsoft.com/office/drawing/2014/main" val="1545936465"/>
                  </a:ext>
                </a:extLst>
              </a:tr>
              <a:tr h="370840">
                <a:tc>
                  <a:txBody>
                    <a:bodyPr/>
                    <a:lstStyle/>
                    <a:p>
                      <a:r>
                        <a:rPr lang="en-US" dirty="0"/>
                        <a:t>Physical page number</a:t>
                      </a:r>
                    </a:p>
                  </a:txBody>
                  <a:tcPr/>
                </a:tc>
                <a:extLst>
                  <a:ext uri="{0D108BD9-81ED-4DB2-BD59-A6C34878D82A}">
                    <a16:rowId xmlns:a16="http://schemas.microsoft.com/office/drawing/2014/main" val="2358226580"/>
                  </a:ext>
                </a:extLst>
              </a:tr>
              <a:tr h="370840">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dirty="0"/>
                        <a:t>Physical page number</a:t>
                      </a:r>
                    </a:p>
                  </a:txBody>
                  <a:tcPr/>
                </a:tc>
                <a:extLst>
                  <a:ext uri="{0D108BD9-81ED-4DB2-BD59-A6C34878D82A}">
                    <a16:rowId xmlns:a16="http://schemas.microsoft.com/office/drawing/2014/main" val="2699130845"/>
                  </a:ext>
                </a:extLst>
              </a:tr>
            </a:tbl>
          </a:graphicData>
        </a:graphic>
      </p:graphicFrame>
      <p:cxnSp>
        <p:nvCxnSpPr>
          <p:cNvPr id="12" name="Straight Arrow Connector 11">
            <a:extLst>
              <a:ext uri="{FF2B5EF4-FFF2-40B4-BE49-F238E27FC236}">
                <a16:creationId xmlns:a16="http://schemas.microsoft.com/office/drawing/2014/main" id="{BAD750C9-57B6-4333-8620-2872DD4D4305}"/>
              </a:ext>
            </a:extLst>
          </p:cNvPr>
          <p:cNvCxnSpPr>
            <a:cxnSpLocks/>
            <a:endCxn id="10" idx="1"/>
          </p:cNvCxnSpPr>
          <p:nvPr/>
        </p:nvCxnSpPr>
        <p:spPr bwMode="auto">
          <a:xfrm>
            <a:off x="1390650" y="2305050"/>
            <a:ext cx="3133725" cy="8451"/>
          </a:xfrm>
          <a:prstGeom prst="straightConnector1">
            <a:avLst/>
          </a:prstGeom>
          <a:noFill/>
          <a:ln w="15875" cap="flat" cmpd="sng" algn="ctr">
            <a:solidFill>
              <a:srgbClr val="FF0000"/>
            </a:solidFill>
            <a:prstDash val="solid"/>
            <a:round/>
            <a:headEnd type="none" w="med" len="med"/>
            <a:tailEnd type="triangle"/>
          </a:ln>
          <a:effectLst/>
        </p:spPr>
      </p:cxnSp>
      <p:sp>
        <p:nvSpPr>
          <p:cNvPr id="13" name="TextBox 12">
            <a:extLst>
              <a:ext uri="{FF2B5EF4-FFF2-40B4-BE49-F238E27FC236}">
                <a16:creationId xmlns:a16="http://schemas.microsoft.com/office/drawing/2014/main" id="{EC93C3D0-1D0C-4B4F-BA30-2BE7302220A2}"/>
              </a:ext>
            </a:extLst>
          </p:cNvPr>
          <p:cNvSpPr txBox="1"/>
          <p:nvPr/>
        </p:nvSpPr>
        <p:spPr>
          <a:xfrm>
            <a:off x="891626" y="2499764"/>
            <a:ext cx="3514745" cy="369332"/>
          </a:xfrm>
          <a:prstGeom prst="rect">
            <a:avLst/>
          </a:prstGeom>
          <a:noFill/>
        </p:spPr>
        <p:txBody>
          <a:bodyPr wrap="none" rtlCol="0" anchor="ctr" anchorCtr="1">
            <a:spAutoFit/>
          </a:bodyPr>
          <a:lstStyle/>
          <a:p>
            <a:r>
              <a:rPr lang="en-US" dirty="0">
                <a:ea typeface="標楷體" pitchFamily="65" charset="-120"/>
                <a:cs typeface="Calibri" pitchFamily="34" charset="0"/>
              </a:rPr>
              <a:t>Indexed by Virtual Page Number</a:t>
            </a:r>
          </a:p>
        </p:txBody>
      </p:sp>
      <p:graphicFrame>
        <p:nvGraphicFramePr>
          <p:cNvPr id="14" name="Table 14">
            <a:extLst>
              <a:ext uri="{FF2B5EF4-FFF2-40B4-BE49-F238E27FC236}">
                <a16:creationId xmlns:a16="http://schemas.microsoft.com/office/drawing/2014/main" id="{4F522BE3-667E-4E48-BBC5-846D4FDDC094}"/>
              </a:ext>
            </a:extLst>
          </p:cNvPr>
          <p:cNvGraphicFramePr>
            <a:graphicFrameLocks noGrp="1"/>
          </p:cNvGraphicFramePr>
          <p:nvPr>
            <p:extLst>
              <p:ext uri="{D42A27DB-BD31-4B8C-83A1-F6EECF244321}">
                <p14:modId xmlns:p14="http://schemas.microsoft.com/office/powerpoint/2010/main" val="2020973237"/>
              </p:ext>
            </p:extLst>
          </p:nvPr>
        </p:nvGraphicFramePr>
        <p:xfrm>
          <a:off x="4603750" y="4356492"/>
          <a:ext cx="4064000" cy="11125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41005095"/>
                    </a:ext>
                  </a:extLst>
                </a:gridCol>
              </a:tblGrid>
              <a:tr h="370840">
                <a:tc>
                  <a:txBody>
                    <a:bodyPr/>
                    <a:lstStyle/>
                    <a:p>
                      <a:r>
                        <a:rPr lang="en-US" dirty="0"/>
                        <a:t>Virtual page number</a:t>
                      </a:r>
                    </a:p>
                  </a:txBody>
                  <a:tcPr/>
                </a:tc>
                <a:extLst>
                  <a:ext uri="{0D108BD9-81ED-4DB2-BD59-A6C34878D82A}">
                    <a16:rowId xmlns:a16="http://schemas.microsoft.com/office/drawing/2014/main" val="3533284327"/>
                  </a:ext>
                </a:extLst>
              </a:tr>
              <a:tr h="370840">
                <a:tc>
                  <a:txBody>
                    <a:bodyPr/>
                    <a:lstStyle/>
                    <a:p>
                      <a:r>
                        <a:rPr lang="en-US" dirty="0"/>
                        <a:t>(</a:t>
                      </a:r>
                      <a:r>
                        <a:rPr lang="en-US" dirty="0" err="1"/>
                        <a:t>Pid</a:t>
                      </a:r>
                      <a:r>
                        <a:rPr lang="en-US" dirty="0"/>
                        <a:t>, Virtual page number)</a:t>
                      </a:r>
                    </a:p>
                  </a:txBody>
                  <a:tcPr/>
                </a:tc>
                <a:extLst>
                  <a:ext uri="{0D108BD9-81ED-4DB2-BD59-A6C34878D82A}">
                    <a16:rowId xmlns:a16="http://schemas.microsoft.com/office/drawing/2014/main" val="6078934"/>
                  </a:ext>
                </a:extLst>
              </a:tr>
              <a:tr h="370840">
                <a:tc>
                  <a:txBody>
                    <a:bodyPr/>
                    <a:lstStyle/>
                    <a:p>
                      <a:r>
                        <a:rPr lang="en-US" dirty="0"/>
                        <a:t>(</a:t>
                      </a:r>
                      <a:r>
                        <a:rPr lang="en-US" dirty="0" err="1"/>
                        <a:t>Pid</a:t>
                      </a:r>
                      <a:r>
                        <a:rPr lang="en-US" dirty="0"/>
                        <a:t>, Virtual page number)</a:t>
                      </a:r>
                    </a:p>
                  </a:txBody>
                  <a:tcPr/>
                </a:tc>
                <a:extLst>
                  <a:ext uri="{0D108BD9-81ED-4DB2-BD59-A6C34878D82A}">
                    <a16:rowId xmlns:a16="http://schemas.microsoft.com/office/drawing/2014/main" val="1207331462"/>
                  </a:ext>
                </a:extLst>
              </a:tr>
            </a:tbl>
          </a:graphicData>
        </a:graphic>
      </p:graphicFrame>
      <p:cxnSp>
        <p:nvCxnSpPr>
          <p:cNvPr id="16" name="Straight Arrow Connector 15">
            <a:extLst>
              <a:ext uri="{FF2B5EF4-FFF2-40B4-BE49-F238E27FC236}">
                <a16:creationId xmlns:a16="http://schemas.microsoft.com/office/drawing/2014/main" id="{BE7D473B-B1C1-45D7-B57D-24E3B70AC785}"/>
              </a:ext>
            </a:extLst>
          </p:cNvPr>
          <p:cNvCxnSpPr>
            <a:cxnSpLocks/>
            <a:endCxn id="14" idx="1"/>
          </p:cNvCxnSpPr>
          <p:nvPr/>
        </p:nvCxnSpPr>
        <p:spPr bwMode="auto">
          <a:xfrm flipV="1">
            <a:off x="2743200" y="4912752"/>
            <a:ext cx="1860550" cy="6554"/>
          </a:xfrm>
          <a:prstGeom prst="straightConnector1">
            <a:avLst/>
          </a:prstGeom>
          <a:noFill/>
          <a:ln w="15875" cap="flat" cmpd="sng" algn="ctr">
            <a:solidFill>
              <a:srgbClr val="FF0000"/>
            </a:solidFill>
            <a:prstDash val="solid"/>
            <a:round/>
            <a:headEnd type="none" w="med" len="med"/>
            <a:tailEnd type="triangle"/>
          </a:ln>
          <a:effectLst/>
        </p:spPr>
      </p:cxnSp>
      <p:sp>
        <p:nvSpPr>
          <p:cNvPr id="18" name="TextBox 17">
            <a:extLst>
              <a:ext uri="{FF2B5EF4-FFF2-40B4-BE49-F238E27FC236}">
                <a16:creationId xmlns:a16="http://schemas.microsoft.com/office/drawing/2014/main" id="{954907F9-63A3-4D62-A051-F97450208073}"/>
              </a:ext>
            </a:extLst>
          </p:cNvPr>
          <p:cNvSpPr txBox="1"/>
          <p:nvPr/>
        </p:nvSpPr>
        <p:spPr>
          <a:xfrm>
            <a:off x="334879" y="4966672"/>
            <a:ext cx="3647152" cy="1200329"/>
          </a:xfrm>
          <a:prstGeom prst="rect">
            <a:avLst/>
          </a:prstGeom>
          <a:noFill/>
        </p:spPr>
        <p:txBody>
          <a:bodyPr wrap="none" rtlCol="0" anchor="ctr" anchorCtr="1">
            <a:spAutoFit/>
          </a:bodyPr>
          <a:lstStyle/>
          <a:p>
            <a:r>
              <a:rPr lang="en-US" dirty="0">
                <a:ea typeface="標楷體" pitchFamily="65" charset="-120"/>
                <a:cs typeface="Calibri" pitchFamily="34" charset="0"/>
              </a:rPr>
              <a:t>Use </a:t>
            </a:r>
            <a:r>
              <a:rPr lang="en-US" dirty="0">
                <a:solidFill>
                  <a:srgbClr val="FF0000"/>
                </a:solidFill>
                <a:ea typeface="標楷體" pitchFamily="65" charset="-120"/>
                <a:cs typeface="Calibri" pitchFamily="34" charset="0"/>
              </a:rPr>
              <a:t>(</a:t>
            </a:r>
            <a:r>
              <a:rPr lang="en-US" dirty="0" err="1">
                <a:solidFill>
                  <a:srgbClr val="FF0000"/>
                </a:solidFill>
                <a:ea typeface="標楷體" pitchFamily="65" charset="-120"/>
                <a:cs typeface="Calibri" pitchFamily="34" charset="0"/>
              </a:rPr>
              <a:t>pid</a:t>
            </a:r>
            <a:r>
              <a:rPr lang="en-US" dirty="0">
                <a:solidFill>
                  <a:srgbClr val="FF0000"/>
                </a:solidFill>
                <a:ea typeface="標楷體" pitchFamily="65" charset="-120"/>
                <a:cs typeface="Calibri" pitchFamily="34" charset="0"/>
              </a:rPr>
              <a:t>, VA) </a:t>
            </a:r>
            <a:r>
              <a:rPr lang="en-US" dirty="0">
                <a:ea typeface="標楷體" pitchFamily="65" charset="-120"/>
                <a:cs typeface="Calibri" pitchFamily="34" charset="0"/>
              </a:rPr>
              <a:t>as a key to </a:t>
            </a:r>
          </a:p>
          <a:p>
            <a:r>
              <a:rPr lang="en-US" dirty="0">
                <a:ea typeface="標楷體" pitchFamily="65" charset="-120"/>
                <a:cs typeface="Calibri" pitchFamily="34" charset="0"/>
              </a:rPr>
              <a:t>search the table.</a:t>
            </a:r>
          </a:p>
          <a:p>
            <a:r>
              <a:rPr lang="en-US" dirty="0">
                <a:ea typeface="標楷體" pitchFamily="65" charset="-120"/>
                <a:cs typeface="Calibri" pitchFamily="34" charset="0"/>
              </a:rPr>
              <a:t>This table size is limited by</a:t>
            </a:r>
          </a:p>
          <a:p>
            <a:r>
              <a:rPr lang="en-US" dirty="0">
                <a:ea typeface="標楷體" pitchFamily="65" charset="-120"/>
                <a:cs typeface="Calibri" pitchFamily="34" charset="0"/>
              </a:rPr>
              <a:t>the number of real memory pages</a:t>
            </a:r>
          </a:p>
        </p:txBody>
      </p:sp>
      <p:sp>
        <p:nvSpPr>
          <p:cNvPr id="20" name="TextBox 19">
            <a:extLst>
              <a:ext uri="{FF2B5EF4-FFF2-40B4-BE49-F238E27FC236}">
                <a16:creationId xmlns:a16="http://schemas.microsoft.com/office/drawing/2014/main" id="{73D92066-5F52-4069-B778-FBFFAEAEAA9B}"/>
              </a:ext>
            </a:extLst>
          </p:cNvPr>
          <p:cNvSpPr txBox="1"/>
          <p:nvPr/>
        </p:nvSpPr>
        <p:spPr>
          <a:xfrm>
            <a:off x="8660724" y="4682485"/>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21" name="TextBox 20">
            <a:extLst>
              <a:ext uri="{FF2B5EF4-FFF2-40B4-BE49-F238E27FC236}">
                <a16:creationId xmlns:a16="http://schemas.microsoft.com/office/drawing/2014/main" id="{B047CB05-F7CF-48C7-A843-CABA11554440}"/>
              </a:ext>
            </a:extLst>
          </p:cNvPr>
          <p:cNvSpPr txBox="1"/>
          <p:nvPr/>
        </p:nvSpPr>
        <p:spPr>
          <a:xfrm>
            <a:off x="8660724" y="5075748"/>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1</a:t>
            </a:r>
          </a:p>
        </p:txBody>
      </p:sp>
      <p:sp>
        <p:nvSpPr>
          <p:cNvPr id="22" name="TextBox 21">
            <a:extLst>
              <a:ext uri="{FF2B5EF4-FFF2-40B4-BE49-F238E27FC236}">
                <a16:creationId xmlns:a16="http://schemas.microsoft.com/office/drawing/2014/main" id="{7345FB97-241D-4876-AE92-C07741BBD835}"/>
              </a:ext>
            </a:extLst>
          </p:cNvPr>
          <p:cNvSpPr txBox="1"/>
          <p:nvPr/>
        </p:nvSpPr>
        <p:spPr>
          <a:xfrm>
            <a:off x="9254544" y="4171826"/>
            <a:ext cx="2467342" cy="369332"/>
          </a:xfrm>
          <a:prstGeom prst="rect">
            <a:avLst/>
          </a:prstGeom>
          <a:noFill/>
        </p:spPr>
        <p:txBody>
          <a:bodyPr wrap="none" rtlCol="0" anchor="ctr" anchorCtr="1">
            <a:spAutoFit/>
          </a:bodyPr>
          <a:lstStyle/>
          <a:p>
            <a:r>
              <a:rPr lang="en-US" dirty="0">
                <a:ea typeface="標楷體" pitchFamily="65" charset="-120"/>
                <a:cs typeface="Calibri" pitchFamily="34" charset="0"/>
              </a:rPr>
              <a:t>Physical page number</a:t>
            </a:r>
          </a:p>
        </p:txBody>
      </p:sp>
      <p:cxnSp>
        <p:nvCxnSpPr>
          <p:cNvPr id="24" name="Straight Arrow Connector 23">
            <a:extLst>
              <a:ext uri="{FF2B5EF4-FFF2-40B4-BE49-F238E27FC236}">
                <a16:creationId xmlns:a16="http://schemas.microsoft.com/office/drawing/2014/main" id="{397C6CA8-4BF3-43FB-B058-B92FE05880A3}"/>
              </a:ext>
            </a:extLst>
          </p:cNvPr>
          <p:cNvCxnSpPr>
            <a:stCxn id="22" idx="1"/>
            <a:endCxn id="21" idx="0"/>
          </p:cNvCxnSpPr>
          <p:nvPr/>
        </p:nvCxnSpPr>
        <p:spPr bwMode="auto">
          <a:xfrm flipH="1">
            <a:off x="8817177" y="4356492"/>
            <a:ext cx="437367" cy="719256"/>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19966169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1256908" y="173040"/>
            <a:ext cx="9049144" cy="656520"/>
          </a:xfrm>
        </p:spPr>
        <p:txBody>
          <a:bodyPr/>
          <a:lstStyle/>
          <a:p>
            <a:r>
              <a:rPr lang="en-US" altLang="zh-TW" b="0" dirty="0"/>
              <a:t>Inverted Page Table Structure</a:t>
            </a:r>
          </a:p>
        </p:txBody>
      </p:sp>
      <p:sp>
        <p:nvSpPr>
          <p:cNvPr id="100356" name="投影片編號版面配置區 1"/>
          <p:cNvSpPr>
            <a:spLocks noGrp="1"/>
          </p:cNvSpPr>
          <p:nvPr>
            <p:ph type="sldNum" sz="quarter" idx="4294967295"/>
          </p:nvPr>
        </p:nvSpPr>
        <p:spPr>
          <a:noFill/>
          <a:ln>
            <a:miter lim="800000"/>
          </a:ln>
        </p:spPr>
        <p:txBody>
          <a:bodyPr/>
          <a:lstStyle/>
          <a:p>
            <a:pPr defTabSz="761981"/>
            <a:fld id="{D1BAE5FF-9D6D-431A-8B78-1E85B141FCA5}" type="slidenum">
              <a:rPr lang="zh-TW" altLang="en-US"/>
              <a:pPr defTabSz="761981"/>
              <a:t>25</a:t>
            </a:fld>
            <a:endParaRPr lang="en-US" altLang="zh-TW"/>
          </a:p>
        </p:txBody>
      </p:sp>
      <p:pic>
        <p:nvPicPr>
          <p:cNvPr id="7" name="Picture 6">
            <a:extLst>
              <a:ext uri="{FF2B5EF4-FFF2-40B4-BE49-F238E27FC236}">
                <a16:creationId xmlns:a16="http://schemas.microsoft.com/office/drawing/2014/main" id="{9E8BBA66-CC3B-489E-9765-FE2283803D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802" y="1334294"/>
            <a:ext cx="6969125" cy="418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3">
            <a:extLst>
              <a:ext uri="{FF2B5EF4-FFF2-40B4-BE49-F238E27FC236}">
                <a16:creationId xmlns:a16="http://schemas.microsoft.com/office/drawing/2014/main" id="{FB6D3726-A9AD-4A74-9BCB-25E5F2D7C6AE}"/>
              </a:ext>
            </a:extLst>
          </p:cNvPr>
          <p:cNvSpPr txBox="1">
            <a:spLocks noChangeArrowheads="1"/>
          </p:cNvSpPr>
          <p:nvPr/>
        </p:nvSpPr>
        <p:spPr bwMode="auto">
          <a:xfrm>
            <a:off x="7509753" y="1334294"/>
            <a:ext cx="4443064" cy="467739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buFont typeface="Arial" panose="020B0604020202020204" pitchFamily="34" charset="0"/>
              <a:buChar char="•"/>
            </a:pPr>
            <a:r>
              <a:rPr lang="en-US" altLang="en-US" sz="2000" kern="0" dirty="0"/>
              <a:t>Assuming the real memory size is 4GB. Each page size is 4KB. So the inverted page table has 1M entries.</a:t>
            </a:r>
          </a:p>
          <a:p>
            <a:pPr>
              <a:buFont typeface="Arial" panose="020B0604020202020204" pitchFamily="34" charset="0"/>
              <a:buChar char="•"/>
            </a:pPr>
            <a:r>
              <a:rPr lang="en-US" altLang="en-US" sz="2000" kern="0" dirty="0"/>
              <a:t>This table is shared by all processes.</a:t>
            </a:r>
          </a:p>
          <a:p>
            <a:pPr>
              <a:buFont typeface="Arial" panose="020B0604020202020204" pitchFamily="34" charset="0"/>
              <a:buChar char="•"/>
            </a:pPr>
            <a:r>
              <a:rPr lang="en-US" altLang="en-US" sz="2000" kern="0" dirty="0"/>
              <a:t>Now process 1, with </a:t>
            </a:r>
            <a:r>
              <a:rPr lang="en-US" altLang="en-US" sz="2000" kern="0" dirty="0" err="1"/>
              <a:t>pid</a:t>
            </a:r>
            <a:r>
              <a:rPr lang="en-US" altLang="en-US" sz="2000" kern="0" dirty="0"/>
              <a:t>=1, wants to reference address 0x000000A8, the virtual page number is 0. </a:t>
            </a:r>
          </a:p>
          <a:p>
            <a:pPr>
              <a:buFont typeface="Arial" panose="020B0604020202020204" pitchFamily="34" charset="0"/>
              <a:buChar char="•"/>
            </a:pPr>
            <a:r>
              <a:rPr lang="en-US" altLang="en-US" sz="2000" kern="0" dirty="0"/>
              <a:t>We search the inverted page table for the key with 0+0 (</a:t>
            </a:r>
            <a:r>
              <a:rPr lang="en-US" altLang="en-US" sz="2000" kern="0" dirty="0" err="1"/>
              <a:t>pid</a:t>
            </a:r>
            <a:r>
              <a:rPr lang="en-US" altLang="en-US" sz="2000" kern="0" dirty="0"/>
              <a:t> + virtual page number). If this entry is found in the 100</a:t>
            </a:r>
            <a:r>
              <a:rPr lang="en-US" altLang="en-US" sz="2000" kern="0" baseline="30000" dirty="0"/>
              <a:t>th</a:t>
            </a:r>
            <a:r>
              <a:rPr lang="en-US" altLang="en-US" sz="2000" kern="0" dirty="0"/>
              <a:t> entry of the table. Then the mapping of virtual page 0 is physical memory page 100.</a:t>
            </a:r>
          </a:p>
          <a:p>
            <a:pPr>
              <a:buFont typeface="Arial" panose="020B0604020202020204" pitchFamily="34" charset="0"/>
              <a:buChar char="•"/>
            </a:pPr>
            <a:r>
              <a:rPr lang="en-US" altLang="en-US" sz="2000" kern="0" dirty="0"/>
              <a:t>The search can be based on hashing.</a:t>
            </a:r>
          </a:p>
          <a:p>
            <a:pPr marL="0" indent="0">
              <a:buNone/>
            </a:pPr>
            <a:endParaRPr lang="en-US" altLang="en-US" sz="2400" kern="0" dirty="0"/>
          </a:p>
        </p:txBody>
      </p:sp>
    </p:spTree>
    <p:extLst>
      <p:ext uri="{BB962C8B-B14F-4D97-AF65-F5344CB8AC3E}">
        <p14:creationId xmlns:p14="http://schemas.microsoft.com/office/powerpoint/2010/main" val="23245598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1256908" y="173040"/>
            <a:ext cx="9049144" cy="656520"/>
          </a:xfrm>
        </p:spPr>
        <p:txBody>
          <a:bodyPr/>
          <a:lstStyle/>
          <a:p>
            <a:r>
              <a:rPr lang="en-US" altLang="zh-TW" dirty="0"/>
              <a:t>Translation Lookaside Buffer (TLB)</a:t>
            </a:r>
          </a:p>
        </p:txBody>
      </p:sp>
      <p:sp>
        <p:nvSpPr>
          <p:cNvPr id="100355" name="Rectangle 3"/>
          <p:cNvSpPr>
            <a:spLocks noGrp="1" noChangeArrowheads="1"/>
          </p:cNvSpPr>
          <p:nvPr>
            <p:ph type="body" idx="1"/>
          </p:nvPr>
        </p:nvSpPr>
        <p:spPr>
          <a:xfrm>
            <a:off x="464457" y="1062618"/>
            <a:ext cx="10849732" cy="4732765"/>
          </a:xfrm>
        </p:spPr>
        <p:txBody>
          <a:bodyPr/>
          <a:lstStyle/>
          <a:p>
            <a:r>
              <a:rPr lang="en-US" altLang="zh-TW" sz="2667" dirty="0"/>
              <a:t>Access to page tables has good locality</a:t>
            </a:r>
          </a:p>
          <a:p>
            <a:pPr lvl="1"/>
            <a:r>
              <a:rPr lang="en-US" altLang="zh-TW" sz="2400" dirty="0"/>
              <a:t>Fast cache of PTEs within the CPU, </a:t>
            </a:r>
            <a:r>
              <a:rPr lang="en-US" altLang="zh-TW" sz="2400" dirty="0">
                <a:solidFill>
                  <a:srgbClr val="C00000"/>
                </a:solidFill>
              </a:rPr>
              <a:t>the cache of the page table </a:t>
            </a:r>
          </a:p>
          <a:p>
            <a:pPr lvl="1"/>
            <a:r>
              <a:rPr lang="en-US" altLang="zh-TW" sz="2400" dirty="0"/>
              <a:t>Called a </a:t>
            </a:r>
            <a:r>
              <a:rPr lang="en-US" altLang="zh-TW" sz="2400" b="1" dirty="0">
                <a:solidFill>
                  <a:schemeClr val="accent1"/>
                </a:solidFill>
              </a:rPr>
              <a:t>Translation Look-aside Buffer (TLB)</a:t>
            </a:r>
            <a:r>
              <a:rPr lang="en-US" altLang="zh-TW" sz="2400" dirty="0"/>
              <a:t>: a special cache that keeps track of recently used PTE entries</a:t>
            </a:r>
            <a:endParaRPr lang="en-US" altLang="zh-TW" dirty="0"/>
          </a:p>
          <a:p>
            <a:r>
              <a:rPr lang="en-US" altLang="zh-TW" sz="2667" dirty="0"/>
              <a:t>Typical RISC processors have a memory management unit (MMU), which includes a TLB that does page table lookup</a:t>
            </a:r>
            <a:endParaRPr lang="en-US" altLang="zh-TW" dirty="0"/>
          </a:p>
          <a:p>
            <a:pPr lvl="1"/>
            <a:r>
              <a:rPr lang="en-US" altLang="zh-TW" sz="2400" dirty="0"/>
              <a:t>TLB can be organized as fully associative, set associative, or direct mapped, but most TLBs are fully associative.</a:t>
            </a:r>
          </a:p>
          <a:p>
            <a:pPr lvl="1"/>
            <a:r>
              <a:rPr lang="en-US" altLang="zh-TW" sz="2400" dirty="0"/>
              <a:t>TLBs are small, typically 16–512 PTEs, 0.5–1 cycle for hit, 10–500 cycles for miss, </a:t>
            </a:r>
            <a:r>
              <a:rPr lang="en-US" altLang="zh-TW" sz="2800" dirty="0">
                <a:solidFill>
                  <a:srgbClr val="FF0000"/>
                </a:solidFill>
              </a:rPr>
              <a:t>0.01%–1% </a:t>
            </a:r>
            <a:r>
              <a:rPr lang="en-US" altLang="zh-TW" sz="2400" dirty="0"/>
              <a:t>miss rate</a:t>
            </a:r>
          </a:p>
          <a:p>
            <a:pPr lvl="1"/>
            <a:r>
              <a:rPr lang="en-US" altLang="zh-TW" sz="2400" dirty="0"/>
              <a:t>Misses could be handled by hardware or software</a:t>
            </a:r>
          </a:p>
        </p:txBody>
      </p:sp>
      <p:sp>
        <p:nvSpPr>
          <p:cNvPr id="100356" name="投影片編號版面配置區 1"/>
          <p:cNvSpPr>
            <a:spLocks noGrp="1"/>
          </p:cNvSpPr>
          <p:nvPr>
            <p:ph type="sldNum" sz="quarter" idx="4294967295"/>
          </p:nvPr>
        </p:nvSpPr>
        <p:spPr>
          <a:noFill/>
          <a:ln>
            <a:miter lim="800000"/>
          </a:ln>
        </p:spPr>
        <p:txBody>
          <a:bodyPr/>
          <a:lstStyle/>
          <a:p>
            <a:pPr defTabSz="761981"/>
            <a:fld id="{D1BAE5FF-9D6D-431A-8B78-1E85B141FCA5}" type="slidenum">
              <a:rPr lang="zh-TW" altLang="en-US"/>
              <a:pPr defTabSz="761981"/>
              <a:t>26</a:t>
            </a:fld>
            <a:endParaRPr lang="en-US" altLang="zh-TW"/>
          </a:p>
        </p:txBody>
      </p:sp>
    </p:spTree>
    <p:extLst>
      <p:ext uri="{BB962C8B-B14F-4D97-AF65-F5344CB8AC3E}">
        <p14:creationId xmlns:p14="http://schemas.microsoft.com/office/powerpoint/2010/main" val="42204384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3"/>
          <p:cNvSpPr>
            <a:spLocks noGrp="1" noChangeArrowheads="1"/>
          </p:cNvSpPr>
          <p:nvPr>
            <p:ph type="title"/>
          </p:nvPr>
        </p:nvSpPr>
        <p:spPr>
          <a:xfrm>
            <a:off x="1206631" y="173040"/>
            <a:ext cx="10545452" cy="646109"/>
          </a:xfrm>
        </p:spPr>
        <p:txBody>
          <a:bodyPr/>
          <a:lstStyle/>
          <a:p>
            <a:r>
              <a:rPr lang="en-US" altLang="zh-TW" dirty="0"/>
              <a:t>Fast VA-&gt;PA Translation Using TLB</a:t>
            </a:r>
          </a:p>
        </p:txBody>
      </p:sp>
      <p:sp>
        <p:nvSpPr>
          <p:cNvPr id="99333" name="投影片編號版面配置區 1"/>
          <p:cNvSpPr>
            <a:spLocks noGrp="1"/>
          </p:cNvSpPr>
          <p:nvPr>
            <p:ph type="sldNum" sz="quarter" idx="4294967295"/>
          </p:nvPr>
        </p:nvSpPr>
        <p:spPr>
          <a:noFill/>
          <a:ln>
            <a:miter lim="800000"/>
          </a:ln>
        </p:spPr>
        <p:txBody>
          <a:bodyPr/>
          <a:lstStyle/>
          <a:p>
            <a:pPr defTabSz="761981"/>
            <a:fld id="{FE633AB7-0984-4842-95AA-E01BE06CB513}" type="slidenum">
              <a:rPr lang="zh-TW" altLang="en-US"/>
              <a:pPr defTabSz="761981"/>
              <a:t>27</a:t>
            </a:fld>
            <a:endParaRPr lang="en-US" altLang="zh-TW"/>
          </a:p>
        </p:txBody>
      </p:sp>
      <p:pic>
        <p:nvPicPr>
          <p:cNvPr id="2" name="图片 1"/>
          <p:cNvPicPr>
            <a:picLocks noChangeAspect="1"/>
          </p:cNvPicPr>
          <p:nvPr/>
        </p:nvPicPr>
        <p:blipFill>
          <a:blip r:embed="rId3"/>
          <a:stretch>
            <a:fillRect/>
          </a:stretch>
        </p:blipFill>
        <p:spPr>
          <a:xfrm>
            <a:off x="2497668" y="1082887"/>
            <a:ext cx="7197513" cy="5052060"/>
          </a:xfrm>
          <a:prstGeom prst="rect">
            <a:avLst/>
          </a:prstGeom>
        </p:spPr>
      </p:pic>
      <p:sp>
        <p:nvSpPr>
          <p:cNvPr id="3" name="Oval 2">
            <a:extLst>
              <a:ext uri="{FF2B5EF4-FFF2-40B4-BE49-F238E27FC236}">
                <a16:creationId xmlns:a16="http://schemas.microsoft.com/office/drawing/2014/main" id="{0CB42FA8-82D6-4143-9E33-63BAADCAB4B4}"/>
              </a:ext>
            </a:extLst>
          </p:cNvPr>
          <p:cNvSpPr/>
          <p:nvPr/>
        </p:nvSpPr>
        <p:spPr bwMode="auto">
          <a:xfrm>
            <a:off x="2952750" y="1276350"/>
            <a:ext cx="4876800" cy="1885950"/>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3332741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1206631" y="173040"/>
            <a:ext cx="9099420" cy="618813"/>
          </a:xfrm>
        </p:spPr>
        <p:txBody>
          <a:bodyPr/>
          <a:lstStyle/>
          <a:p>
            <a:r>
              <a:rPr lang="en-US" altLang="zh-TW" dirty="0"/>
              <a:t>TLB Miss Handling</a:t>
            </a:r>
            <a:endParaRPr lang="en-AU" altLang="zh-TW" dirty="0">
              <a:ea typeface="新細明體" panose="02020500000000000000" pitchFamily="18" charset="-120"/>
            </a:endParaRPr>
          </a:p>
        </p:txBody>
      </p:sp>
      <p:sp>
        <p:nvSpPr>
          <p:cNvPr id="102403" name="Rectangle 3"/>
          <p:cNvSpPr>
            <a:spLocks noGrp="1" noChangeArrowheads="1"/>
          </p:cNvSpPr>
          <p:nvPr>
            <p:ph type="body" idx="1"/>
          </p:nvPr>
        </p:nvSpPr>
        <p:spPr>
          <a:xfrm>
            <a:off x="419101" y="1049337"/>
            <a:ext cx="11430000" cy="4895851"/>
          </a:xfrm>
        </p:spPr>
        <p:txBody>
          <a:bodyPr/>
          <a:lstStyle/>
          <a:p>
            <a:r>
              <a:rPr lang="en-AU" altLang="zh-TW" sz="3200" dirty="0">
                <a:ea typeface="新細明體" panose="02020500000000000000" pitchFamily="18" charset="-120"/>
              </a:rPr>
              <a:t>Hardware Walker</a:t>
            </a:r>
          </a:p>
          <a:p>
            <a:pPr lvl="1"/>
            <a:r>
              <a:rPr lang="en-AU" altLang="zh-TW" sz="2800" dirty="0">
                <a:ea typeface="新細明體" panose="02020500000000000000" pitchFamily="18" charset="-120"/>
              </a:rPr>
              <a:t>Called hardware table walker. The hardware walks the page table (starting from the page table pointer, usually the CR3 in x86) to find the PTE to be inserted into the TLB.</a:t>
            </a:r>
          </a:p>
          <a:p>
            <a:pPr lvl="1"/>
            <a:r>
              <a:rPr lang="en-AU" altLang="zh-TW" sz="2800" dirty="0">
                <a:ea typeface="新細明體" panose="02020500000000000000" pitchFamily="18" charset="-120"/>
              </a:rPr>
              <a:t>This walking may find the PTE entry in L1/L2/L3 caches so that the latency could be short. The walking is slower for the 4-level page table.</a:t>
            </a:r>
          </a:p>
          <a:p>
            <a:r>
              <a:rPr lang="en-AU" altLang="zh-TW" sz="3200" dirty="0">
                <a:ea typeface="新細明體" panose="02020500000000000000" pitchFamily="18" charset="-120"/>
              </a:rPr>
              <a:t>Software Miss Handler</a:t>
            </a:r>
          </a:p>
          <a:p>
            <a:pPr lvl="1"/>
            <a:r>
              <a:rPr lang="en-AU" altLang="zh-TW" sz="2800" dirty="0">
                <a:ea typeface="新細明體" panose="02020500000000000000" pitchFamily="18" charset="-120"/>
              </a:rPr>
              <a:t>This is using a TLB miss handler. Resolving TLB misses in software could be more flexible because the page table structure can be changed. However, a software solution is considered slower than the HW walker.</a:t>
            </a:r>
          </a:p>
        </p:txBody>
      </p:sp>
      <p:sp>
        <p:nvSpPr>
          <p:cNvPr id="102404" name="投影片編號版面配置區 1"/>
          <p:cNvSpPr>
            <a:spLocks noGrp="1"/>
          </p:cNvSpPr>
          <p:nvPr>
            <p:ph type="sldNum" sz="quarter" idx="4294967295"/>
          </p:nvPr>
        </p:nvSpPr>
        <p:spPr>
          <a:noFill/>
          <a:ln>
            <a:miter lim="800000"/>
          </a:ln>
        </p:spPr>
        <p:txBody>
          <a:bodyPr/>
          <a:lstStyle/>
          <a:p>
            <a:pPr defTabSz="761981"/>
            <a:fld id="{499F827B-45A0-4BFD-A8AF-39B394D3E373}" type="slidenum">
              <a:rPr lang="zh-TW" altLang="en-US"/>
              <a:pPr defTabSz="761981"/>
              <a:t>28</a:t>
            </a:fld>
            <a:endParaRPr lang="en-US" altLang="zh-TW"/>
          </a:p>
        </p:txBody>
      </p:sp>
    </p:spTree>
    <p:extLst>
      <p:ext uri="{BB962C8B-B14F-4D97-AF65-F5344CB8AC3E}">
        <p14:creationId xmlns:p14="http://schemas.microsoft.com/office/powerpoint/2010/main" val="4143533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1206631" y="173040"/>
            <a:ext cx="9099420" cy="618813"/>
          </a:xfrm>
        </p:spPr>
        <p:txBody>
          <a:bodyPr/>
          <a:lstStyle/>
          <a:p>
            <a:r>
              <a:rPr lang="en-US" altLang="zh-TW" dirty="0"/>
              <a:t>TLB Misses and Page Faults</a:t>
            </a:r>
            <a:endParaRPr lang="en-AU" altLang="zh-TW" dirty="0">
              <a:ea typeface="新細明體" panose="02020500000000000000" pitchFamily="18" charset="-120"/>
            </a:endParaRPr>
          </a:p>
        </p:txBody>
      </p:sp>
      <p:sp>
        <p:nvSpPr>
          <p:cNvPr id="102403" name="Rectangle 3"/>
          <p:cNvSpPr>
            <a:spLocks noGrp="1" noChangeArrowheads="1"/>
          </p:cNvSpPr>
          <p:nvPr>
            <p:ph type="body" idx="1"/>
          </p:nvPr>
        </p:nvSpPr>
        <p:spPr>
          <a:xfrm>
            <a:off x="690664" y="1057444"/>
            <a:ext cx="11129861" cy="5168258"/>
          </a:xfrm>
        </p:spPr>
        <p:txBody>
          <a:bodyPr/>
          <a:lstStyle/>
          <a:p>
            <a:r>
              <a:rPr lang="en-US" altLang="zh-TW" dirty="0"/>
              <a:t>If the page is in memory</a:t>
            </a:r>
          </a:p>
          <a:p>
            <a:pPr lvl="1"/>
            <a:r>
              <a:rPr lang="en-US" altLang="zh-TW" dirty="0"/>
              <a:t>Load the PTE from the page table and retry</a:t>
            </a:r>
          </a:p>
          <a:p>
            <a:pPr lvl="1"/>
            <a:r>
              <a:rPr lang="en-US" altLang="zh-TW" dirty="0"/>
              <a:t>Could be handled in hardware</a:t>
            </a:r>
          </a:p>
          <a:p>
            <a:pPr lvl="1"/>
            <a:r>
              <a:rPr lang="en-US" altLang="zh-TW" dirty="0"/>
              <a:t>Or in software</a:t>
            </a:r>
          </a:p>
          <a:p>
            <a:pPr lvl="2"/>
            <a:r>
              <a:rPr lang="en-US" altLang="zh-TW" dirty="0"/>
              <a:t>Raise a special exception, with an optimized handler</a:t>
            </a:r>
          </a:p>
          <a:p>
            <a:r>
              <a:rPr lang="en-US" altLang="zh-TW" dirty="0"/>
              <a:t>If the page is not in memory (page fault)</a:t>
            </a:r>
          </a:p>
          <a:p>
            <a:pPr lvl="1"/>
            <a:r>
              <a:rPr lang="en-US" altLang="zh-TW" dirty="0"/>
              <a:t>OS fetches the page and updates the page table (in software)</a:t>
            </a:r>
          </a:p>
          <a:p>
            <a:pPr lvl="1"/>
            <a:r>
              <a:rPr lang="en-US" altLang="zh-TW" dirty="0"/>
              <a:t>Then resume the faulting instruction</a:t>
            </a:r>
            <a:endParaRPr lang="en-AU" altLang="zh-TW" dirty="0">
              <a:ea typeface="新細明體" panose="02020500000000000000" pitchFamily="18" charset="-120"/>
            </a:endParaRPr>
          </a:p>
        </p:txBody>
      </p:sp>
      <p:sp>
        <p:nvSpPr>
          <p:cNvPr id="102404" name="投影片編號版面配置區 1"/>
          <p:cNvSpPr>
            <a:spLocks noGrp="1"/>
          </p:cNvSpPr>
          <p:nvPr>
            <p:ph type="sldNum" sz="quarter" idx="4294967295"/>
          </p:nvPr>
        </p:nvSpPr>
        <p:spPr>
          <a:noFill/>
          <a:ln>
            <a:miter lim="800000"/>
          </a:ln>
        </p:spPr>
        <p:txBody>
          <a:bodyPr/>
          <a:lstStyle/>
          <a:p>
            <a:pPr defTabSz="761981"/>
            <a:fld id="{499F827B-45A0-4BFD-A8AF-39B394D3E373}" type="slidenum">
              <a:rPr lang="zh-TW" altLang="en-US"/>
              <a:pPr defTabSz="761981"/>
              <a:t>29</a:t>
            </a:fld>
            <a:endParaRPr lang="en-US" altLang="zh-TW"/>
          </a:p>
        </p:txBody>
      </p:sp>
    </p:spTree>
    <p:extLst>
      <p:ext uri="{BB962C8B-B14F-4D97-AF65-F5344CB8AC3E}">
        <p14:creationId xmlns:p14="http://schemas.microsoft.com/office/powerpoint/2010/main" val="22650370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1231770" y="173039"/>
            <a:ext cx="10105533" cy="650876"/>
          </a:xfrm>
        </p:spPr>
        <p:txBody>
          <a:bodyPr/>
          <a:lstStyle/>
          <a:p>
            <a:r>
              <a:rPr lang="en-US" altLang="zh-TW" dirty="0"/>
              <a:t>Making Address Translation Practical</a:t>
            </a:r>
          </a:p>
        </p:txBody>
      </p:sp>
      <p:sp>
        <p:nvSpPr>
          <p:cNvPr id="106499" name="Rectangle 3"/>
          <p:cNvSpPr>
            <a:spLocks noGrp="1" noChangeArrowheads="1"/>
          </p:cNvSpPr>
          <p:nvPr>
            <p:ph type="body" idx="1"/>
          </p:nvPr>
        </p:nvSpPr>
        <p:spPr>
          <a:xfrm>
            <a:off x="1231770" y="1063040"/>
            <a:ext cx="10350631" cy="1698993"/>
          </a:xfrm>
        </p:spPr>
        <p:txBody>
          <a:bodyPr/>
          <a:lstStyle/>
          <a:p>
            <a:r>
              <a:rPr lang="en-US" altLang="zh-TW" sz="2667" dirty="0"/>
              <a:t>In VM, memory acts like a cache for disk</a:t>
            </a:r>
          </a:p>
          <a:p>
            <a:pPr lvl="1"/>
            <a:r>
              <a:rPr lang="en-US" altLang="zh-TW" sz="2400" dirty="0"/>
              <a:t>Page table maps virtual page numbers to physical frames</a:t>
            </a:r>
          </a:p>
          <a:p>
            <a:pPr lvl="1"/>
            <a:r>
              <a:rPr lang="en-US" altLang="zh-TW" sz="2400" dirty="0"/>
              <a:t>Use a page table cache for recent translations</a:t>
            </a:r>
            <a:br>
              <a:rPr lang="en-US" altLang="zh-TW" sz="2400" dirty="0"/>
            </a:br>
            <a:r>
              <a:rPr lang="en-US" altLang="zh-TW" sz="2400" dirty="0"/>
              <a:t>=&gt; </a:t>
            </a:r>
            <a:r>
              <a:rPr lang="en-US" altLang="zh-TW" sz="2400" dirty="0">
                <a:solidFill>
                  <a:srgbClr val="FF0000"/>
                </a:solidFill>
              </a:rPr>
              <a:t>Translation Lookaside Buffer (TLB)</a:t>
            </a:r>
          </a:p>
        </p:txBody>
      </p:sp>
      <p:grpSp>
        <p:nvGrpSpPr>
          <p:cNvPr id="2" name="组合 1"/>
          <p:cNvGrpSpPr/>
          <p:nvPr/>
        </p:nvGrpSpPr>
        <p:grpSpPr>
          <a:xfrm>
            <a:off x="1897624" y="3126658"/>
            <a:ext cx="7875640" cy="2900199"/>
            <a:chOff x="1156098" y="2152930"/>
            <a:chExt cx="6604396" cy="2501210"/>
          </a:xfrm>
        </p:grpSpPr>
        <p:sp>
          <p:nvSpPr>
            <p:cNvPr id="106500" name="Line 4"/>
            <p:cNvSpPr>
              <a:spLocks noChangeShapeType="1"/>
            </p:cNvSpPr>
            <p:nvPr/>
          </p:nvSpPr>
          <p:spPr bwMode="auto">
            <a:xfrm>
              <a:off x="2456260" y="2382720"/>
              <a:ext cx="815578" cy="0"/>
            </a:xfrm>
            <a:prstGeom prst="line">
              <a:avLst/>
            </a:prstGeom>
            <a:noFill/>
            <a:ln w="25400">
              <a:solidFill>
                <a:schemeClr val="tx1"/>
              </a:solidFill>
              <a:round/>
              <a:headEnd type="none" w="sm" len="sm"/>
              <a:tailEnd type="none" w="sm" len="sm"/>
            </a:ln>
          </p:spPr>
          <p:txBody>
            <a:bodyPr wrap="none" anchor="ctr"/>
            <a:lstStyle/>
            <a:p>
              <a:endParaRPr lang="zh-TW" altLang="en-US" sz="1600"/>
            </a:p>
          </p:txBody>
        </p:sp>
        <p:sp>
          <p:nvSpPr>
            <p:cNvPr id="106501" name="Line 5"/>
            <p:cNvSpPr>
              <a:spLocks noChangeShapeType="1"/>
            </p:cNvSpPr>
            <p:nvPr/>
          </p:nvSpPr>
          <p:spPr bwMode="auto">
            <a:xfrm>
              <a:off x="3271838" y="2382720"/>
              <a:ext cx="0" cy="714375"/>
            </a:xfrm>
            <a:prstGeom prst="line">
              <a:avLst/>
            </a:prstGeom>
            <a:noFill/>
            <a:ln w="25400">
              <a:solidFill>
                <a:schemeClr val="tx1"/>
              </a:solidFill>
              <a:round/>
              <a:headEnd type="none" w="sm" len="sm"/>
              <a:tailEnd type="none" w="sm" len="sm"/>
            </a:ln>
          </p:spPr>
          <p:txBody>
            <a:bodyPr wrap="none" anchor="ctr"/>
            <a:lstStyle/>
            <a:p>
              <a:endParaRPr lang="zh-TW" altLang="en-US" sz="1600"/>
            </a:p>
          </p:txBody>
        </p:sp>
        <p:sp>
          <p:nvSpPr>
            <p:cNvPr id="106502" name="Line 6"/>
            <p:cNvSpPr>
              <a:spLocks noChangeShapeType="1"/>
            </p:cNvSpPr>
            <p:nvPr/>
          </p:nvSpPr>
          <p:spPr bwMode="auto">
            <a:xfrm flipH="1">
              <a:off x="2436019" y="3116145"/>
              <a:ext cx="835819" cy="0"/>
            </a:xfrm>
            <a:prstGeom prst="line">
              <a:avLst/>
            </a:prstGeom>
            <a:noFill/>
            <a:ln w="25400">
              <a:solidFill>
                <a:schemeClr val="tx1"/>
              </a:solidFill>
              <a:round/>
              <a:headEnd type="none" w="sm" len="sm"/>
              <a:tailEnd type="none" w="sm" len="sm"/>
            </a:ln>
          </p:spPr>
          <p:txBody>
            <a:bodyPr wrap="none" anchor="ctr"/>
            <a:lstStyle/>
            <a:p>
              <a:endParaRPr lang="zh-TW" altLang="en-US" sz="1600"/>
            </a:p>
          </p:txBody>
        </p:sp>
        <p:sp>
          <p:nvSpPr>
            <p:cNvPr id="106503" name="Rectangle 7"/>
            <p:cNvSpPr>
              <a:spLocks noChangeArrowheads="1"/>
            </p:cNvSpPr>
            <p:nvPr/>
          </p:nvSpPr>
          <p:spPr bwMode="auto">
            <a:xfrm>
              <a:off x="2508648" y="2667280"/>
              <a:ext cx="469146" cy="224735"/>
            </a:xfrm>
            <a:prstGeom prst="rect">
              <a:avLst/>
            </a:prstGeom>
            <a:noFill/>
            <a:ln w="9525">
              <a:noFill/>
              <a:miter lim="800000"/>
            </a:ln>
          </p:spPr>
          <p:txBody>
            <a:bodyPr wrap="none" lIns="63500" tIns="25400" rIns="63500" bIns="25400">
              <a:spAutoFit/>
            </a:bodyPr>
            <a:lstStyle/>
            <a:p>
              <a:pPr>
                <a:lnSpc>
                  <a:spcPct val="85000"/>
                </a:lnSpc>
              </a:pPr>
              <a:r>
                <a:rPr kumimoji="1" lang="en-US" altLang="zh-TW" sz="1600" b="1">
                  <a:latin typeface="Arial" panose="020B0604020202090204" pitchFamily="34" charset="0"/>
                </a:rPr>
                <a:t>CPU</a:t>
              </a:r>
            </a:p>
          </p:txBody>
        </p:sp>
        <p:sp>
          <p:nvSpPr>
            <p:cNvPr id="106504" name="Rectangle 8"/>
            <p:cNvSpPr>
              <a:spLocks noChangeArrowheads="1"/>
            </p:cNvSpPr>
            <p:nvPr/>
          </p:nvSpPr>
          <p:spPr bwMode="auto">
            <a:xfrm>
              <a:off x="3808810" y="2411295"/>
              <a:ext cx="866775" cy="676275"/>
            </a:xfrm>
            <a:prstGeom prst="rect">
              <a:avLst/>
            </a:prstGeom>
            <a:noFill/>
            <a:ln w="25400">
              <a:solidFill>
                <a:schemeClr val="tx1"/>
              </a:solidFill>
              <a:miter lim="800000"/>
            </a:ln>
          </p:spPr>
          <p:txBody>
            <a:bodyPr wrap="none" lIns="92075" tIns="46039" rIns="92075" bIns="46039" anchor="ctr"/>
            <a:lstStyle/>
            <a:p>
              <a:pPr algn="ctr"/>
              <a:r>
                <a:rPr kumimoji="1" lang="en-US" altLang="zh-TW" sz="1600" b="1" dirty="0">
                  <a:latin typeface="Arial" panose="020B0604020202090204" pitchFamily="34" charset="0"/>
                </a:rPr>
                <a:t>TLB</a:t>
              </a:r>
            </a:p>
            <a:p>
              <a:pPr algn="ctr"/>
              <a:r>
                <a:rPr kumimoji="1" lang="en-US" altLang="zh-TW" sz="1600" b="1" dirty="0">
                  <a:latin typeface="Arial" panose="020B0604020202090204" pitchFamily="34" charset="0"/>
                </a:rPr>
                <a:t>Lookup</a:t>
              </a:r>
            </a:p>
          </p:txBody>
        </p:sp>
        <p:sp>
          <p:nvSpPr>
            <p:cNvPr id="106505" name="Rectangle 9"/>
            <p:cNvSpPr>
              <a:spLocks noChangeArrowheads="1"/>
            </p:cNvSpPr>
            <p:nvPr/>
          </p:nvSpPr>
          <p:spPr bwMode="auto">
            <a:xfrm>
              <a:off x="5294710" y="2411295"/>
              <a:ext cx="866775" cy="676275"/>
            </a:xfrm>
            <a:prstGeom prst="rect">
              <a:avLst/>
            </a:prstGeom>
            <a:noFill/>
            <a:ln w="25400">
              <a:solidFill>
                <a:schemeClr val="tx1"/>
              </a:solidFill>
              <a:miter lim="800000"/>
            </a:ln>
          </p:spPr>
          <p:txBody>
            <a:bodyPr wrap="none" lIns="92075" tIns="46039" rIns="92075" bIns="46039" anchor="ctr"/>
            <a:lstStyle/>
            <a:p>
              <a:pPr algn="ctr"/>
              <a:r>
                <a:rPr kumimoji="1" lang="en-US" altLang="zh-TW" sz="1600" b="1">
                  <a:latin typeface="Arial" panose="020B0604020202090204" pitchFamily="34" charset="0"/>
                </a:rPr>
                <a:t>Cache</a:t>
              </a:r>
            </a:p>
          </p:txBody>
        </p:sp>
        <p:sp>
          <p:nvSpPr>
            <p:cNvPr id="106506" name="Rectangle 10"/>
            <p:cNvSpPr>
              <a:spLocks noChangeArrowheads="1"/>
            </p:cNvSpPr>
            <p:nvPr/>
          </p:nvSpPr>
          <p:spPr bwMode="auto">
            <a:xfrm>
              <a:off x="6893719" y="2420820"/>
              <a:ext cx="866775" cy="676275"/>
            </a:xfrm>
            <a:prstGeom prst="rect">
              <a:avLst/>
            </a:prstGeom>
            <a:noFill/>
            <a:ln w="25400">
              <a:solidFill>
                <a:schemeClr val="tx1"/>
              </a:solidFill>
              <a:miter lim="800000"/>
            </a:ln>
          </p:spPr>
          <p:txBody>
            <a:bodyPr wrap="none" lIns="92075" tIns="46039" rIns="92075" bIns="46039" anchor="ctr"/>
            <a:lstStyle/>
            <a:p>
              <a:pPr algn="ctr"/>
              <a:r>
                <a:rPr kumimoji="1" lang="en-US" altLang="zh-TW" sz="1600" b="1">
                  <a:latin typeface="Arial" panose="020B0604020202090204" pitchFamily="34" charset="0"/>
                </a:rPr>
                <a:t>Main</a:t>
              </a:r>
            </a:p>
            <a:p>
              <a:pPr algn="ctr"/>
              <a:r>
                <a:rPr kumimoji="1" lang="en-US" altLang="zh-TW" sz="1600" b="1">
                  <a:latin typeface="Arial" panose="020B0604020202090204" pitchFamily="34" charset="0"/>
                </a:rPr>
                <a:t>Memory</a:t>
              </a:r>
            </a:p>
          </p:txBody>
        </p:sp>
        <p:sp>
          <p:nvSpPr>
            <p:cNvPr id="106507" name="Line 11"/>
            <p:cNvSpPr>
              <a:spLocks noChangeShapeType="1"/>
            </p:cNvSpPr>
            <p:nvPr/>
          </p:nvSpPr>
          <p:spPr bwMode="auto">
            <a:xfrm>
              <a:off x="3271838" y="2516070"/>
              <a:ext cx="526256" cy="0"/>
            </a:xfrm>
            <a:prstGeom prst="line">
              <a:avLst/>
            </a:prstGeom>
            <a:noFill/>
            <a:ln w="25400">
              <a:solidFill>
                <a:schemeClr val="tx1"/>
              </a:solidFill>
              <a:round/>
              <a:headEnd type="none" w="sm" len="sm"/>
              <a:tailEnd type="stealth" w="med" len="lg"/>
            </a:ln>
          </p:spPr>
          <p:txBody>
            <a:bodyPr wrap="none" anchor="ctr"/>
            <a:lstStyle/>
            <a:p>
              <a:endParaRPr lang="zh-TW" altLang="en-US" sz="1600"/>
            </a:p>
          </p:txBody>
        </p:sp>
        <p:sp>
          <p:nvSpPr>
            <p:cNvPr id="106508" name="Line 12"/>
            <p:cNvSpPr>
              <a:spLocks noChangeShapeType="1"/>
            </p:cNvSpPr>
            <p:nvPr/>
          </p:nvSpPr>
          <p:spPr bwMode="auto">
            <a:xfrm>
              <a:off x="4664869" y="2516070"/>
              <a:ext cx="619125" cy="0"/>
            </a:xfrm>
            <a:prstGeom prst="line">
              <a:avLst/>
            </a:prstGeom>
            <a:noFill/>
            <a:ln w="25400">
              <a:solidFill>
                <a:schemeClr val="tx1"/>
              </a:solidFill>
              <a:round/>
              <a:headEnd type="none" w="sm" len="sm"/>
              <a:tailEnd type="stealth" w="med" len="lg"/>
            </a:ln>
          </p:spPr>
          <p:txBody>
            <a:bodyPr wrap="none" anchor="ctr"/>
            <a:lstStyle/>
            <a:p>
              <a:endParaRPr lang="zh-TW" altLang="en-US" sz="1600"/>
            </a:p>
          </p:txBody>
        </p:sp>
        <p:sp>
          <p:nvSpPr>
            <p:cNvPr id="106509" name="Line 13"/>
            <p:cNvSpPr>
              <a:spLocks noChangeShapeType="1"/>
            </p:cNvSpPr>
            <p:nvPr/>
          </p:nvSpPr>
          <p:spPr bwMode="auto">
            <a:xfrm>
              <a:off x="6161485" y="2497020"/>
              <a:ext cx="721519" cy="0"/>
            </a:xfrm>
            <a:prstGeom prst="line">
              <a:avLst/>
            </a:prstGeom>
            <a:noFill/>
            <a:ln w="25400">
              <a:solidFill>
                <a:schemeClr val="tx1"/>
              </a:solidFill>
              <a:round/>
              <a:headEnd type="none" w="sm" len="sm"/>
              <a:tailEnd type="stealth" w="med" len="lg"/>
            </a:ln>
          </p:spPr>
          <p:txBody>
            <a:bodyPr wrap="none" anchor="ctr"/>
            <a:lstStyle/>
            <a:p>
              <a:endParaRPr lang="zh-TW" altLang="en-US" sz="1600"/>
            </a:p>
          </p:txBody>
        </p:sp>
        <p:sp>
          <p:nvSpPr>
            <p:cNvPr id="106510" name="Line 14"/>
            <p:cNvSpPr>
              <a:spLocks noChangeShapeType="1"/>
            </p:cNvSpPr>
            <p:nvPr/>
          </p:nvSpPr>
          <p:spPr bwMode="auto">
            <a:xfrm flipH="1">
              <a:off x="6718698" y="2982795"/>
              <a:ext cx="164306" cy="0"/>
            </a:xfrm>
            <a:prstGeom prst="line">
              <a:avLst/>
            </a:prstGeom>
            <a:noFill/>
            <a:ln w="25400">
              <a:solidFill>
                <a:schemeClr val="tx1"/>
              </a:solidFill>
              <a:round/>
              <a:headEnd type="none" w="sm" len="sm"/>
              <a:tailEnd type="none" w="sm" len="sm"/>
            </a:ln>
          </p:spPr>
          <p:txBody>
            <a:bodyPr wrap="none" anchor="ctr"/>
            <a:lstStyle/>
            <a:p>
              <a:endParaRPr lang="zh-TW" altLang="en-US" sz="1600"/>
            </a:p>
          </p:txBody>
        </p:sp>
        <p:sp>
          <p:nvSpPr>
            <p:cNvPr id="106511" name="Line 15"/>
            <p:cNvSpPr>
              <a:spLocks noChangeShapeType="1"/>
            </p:cNvSpPr>
            <p:nvPr/>
          </p:nvSpPr>
          <p:spPr bwMode="auto">
            <a:xfrm flipH="1">
              <a:off x="6707981" y="2982795"/>
              <a:ext cx="10716" cy="1343025"/>
            </a:xfrm>
            <a:prstGeom prst="line">
              <a:avLst/>
            </a:prstGeom>
            <a:noFill/>
            <a:ln w="25400">
              <a:solidFill>
                <a:schemeClr val="tx1"/>
              </a:solidFill>
              <a:round/>
              <a:headEnd type="none" w="sm" len="sm"/>
              <a:tailEnd type="none" w="sm" len="sm"/>
            </a:ln>
          </p:spPr>
          <p:txBody>
            <a:bodyPr wrap="none" anchor="ctr"/>
            <a:lstStyle/>
            <a:p>
              <a:endParaRPr lang="zh-TW" altLang="en-US" sz="1600"/>
            </a:p>
          </p:txBody>
        </p:sp>
        <p:sp>
          <p:nvSpPr>
            <p:cNvPr id="106512" name="Line 16"/>
            <p:cNvSpPr>
              <a:spLocks noChangeShapeType="1"/>
            </p:cNvSpPr>
            <p:nvPr/>
          </p:nvSpPr>
          <p:spPr bwMode="auto">
            <a:xfrm flipH="1">
              <a:off x="3488532" y="4325820"/>
              <a:ext cx="1589485" cy="9525"/>
            </a:xfrm>
            <a:prstGeom prst="line">
              <a:avLst/>
            </a:prstGeom>
            <a:noFill/>
            <a:ln w="25400">
              <a:solidFill>
                <a:schemeClr val="tx1"/>
              </a:solidFill>
              <a:round/>
              <a:headEnd type="none" w="sm" len="sm"/>
              <a:tailEnd type="none" w="sm" len="sm"/>
            </a:ln>
          </p:spPr>
          <p:txBody>
            <a:bodyPr wrap="none" anchor="ctr"/>
            <a:lstStyle/>
            <a:p>
              <a:endParaRPr lang="zh-TW" altLang="en-US" sz="1600"/>
            </a:p>
          </p:txBody>
        </p:sp>
        <p:sp>
          <p:nvSpPr>
            <p:cNvPr id="106513" name="Line 17"/>
            <p:cNvSpPr>
              <a:spLocks noChangeShapeType="1"/>
            </p:cNvSpPr>
            <p:nvPr/>
          </p:nvSpPr>
          <p:spPr bwMode="auto">
            <a:xfrm flipV="1">
              <a:off x="3468291" y="3030420"/>
              <a:ext cx="9525" cy="1285875"/>
            </a:xfrm>
            <a:prstGeom prst="line">
              <a:avLst/>
            </a:prstGeom>
            <a:noFill/>
            <a:ln w="25400">
              <a:solidFill>
                <a:schemeClr val="tx1"/>
              </a:solidFill>
              <a:round/>
              <a:headEnd type="none" w="sm" len="sm"/>
              <a:tailEnd type="none" w="sm" len="sm"/>
            </a:ln>
          </p:spPr>
          <p:txBody>
            <a:bodyPr wrap="none" anchor="ctr"/>
            <a:lstStyle/>
            <a:p>
              <a:endParaRPr lang="zh-TW" altLang="en-US" sz="1600"/>
            </a:p>
          </p:txBody>
        </p:sp>
        <p:sp>
          <p:nvSpPr>
            <p:cNvPr id="106514" name="Line 18"/>
            <p:cNvSpPr>
              <a:spLocks noChangeShapeType="1"/>
            </p:cNvSpPr>
            <p:nvPr/>
          </p:nvSpPr>
          <p:spPr bwMode="auto">
            <a:xfrm flipH="1">
              <a:off x="3271837" y="3030420"/>
              <a:ext cx="205979" cy="0"/>
            </a:xfrm>
            <a:prstGeom prst="line">
              <a:avLst/>
            </a:prstGeom>
            <a:noFill/>
            <a:ln w="25400">
              <a:solidFill>
                <a:schemeClr val="tx1"/>
              </a:solidFill>
              <a:round/>
              <a:headEnd type="none" w="sm" len="sm"/>
              <a:tailEnd type="stealth" w="med" len="lg"/>
            </a:ln>
          </p:spPr>
          <p:txBody>
            <a:bodyPr wrap="none" anchor="ctr"/>
            <a:lstStyle/>
            <a:p>
              <a:endParaRPr lang="zh-TW" altLang="en-US" sz="1600"/>
            </a:p>
          </p:txBody>
        </p:sp>
        <p:sp>
          <p:nvSpPr>
            <p:cNvPr id="106515" name="Line 19"/>
            <p:cNvSpPr>
              <a:spLocks noChangeShapeType="1"/>
            </p:cNvSpPr>
            <p:nvPr/>
          </p:nvSpPr>
          <p:spPr bwMode="auto">
            <a:xfrm flipV="1">
              <a:off x="6367463" y="3001845"/>
              <a:ext cx="10716" cy="1295400"/>
            </a:xfrm>
            <a:prstGeom prst="line">
              <a:avLst/>
            </a:prstGeom>
            <a:noFill/>
            <a:ln w="25400">
              <a:solidFill>
                <a:schemeClr val="tx1"/>
              </a:solidFill>
              <a:round/>
              <a:headEnd type="none" w="sm" len="sm"/>
              <a:tailEnd type="none" w="sm" len="sm"/>
            </a:ln>
          </p:spPr>
          <p:txBody>
            <a:bodyPr wrap="none" anchor="ctr"/>
            <a:lstStyle/>
            <a:p>
              <a:endParaRPr lang="zh-TW" altLang="en-US" sz="1600"/>
            </a:p>
          </p:txBody>
        </p:sp>
        <p:sp>
          <p:nvSpPr>
            <p:cNvPr id="106516" name="Line 20"/>
            <p:cNvSpPr>
              <a:spLocks noChangeShapeType="1"/>
            </p:cNvSpPr>
            <p:nvPr/>
          </p:nvSpPr>
          <p:spPr bwMode="auto">
            <a:xfrm flipH="1">
              <a:off x="6171010" y="3001845"/>
              <a:ext cx="207169" cy="0"/>
            </a:xfrm>
            <a:prstGeom prst="line">
              <a:avLst/>
            </a:prstGeom>
            <a:noFill/>
            <a:ln w="25400">
              <a:solidFill>
                <a:schemeClr val="tx1"/>
              </a:solidFill>
              <a:round/>
              <a:headEnd type="none" w="sm" len="sm"/>
              <a:tailEnd type="stealth" w="med" len="lg"/>
            </a:ln>
          </p:spPr>
          <p:txBody>
            <a:bodyPr wrap="none" anchor="ctr"/>
            <a:lstStyle/>
            <a:p>
              <a:endParaRPr lang="zh-TW" altLang="en-US" sz="1600"/>
            </a:p>
          </p:txBody>
        </p:sp>
        <p:sp>
          <p:nvSpPr>
            <p:cNvPr id="106517" name="Line 21"/>
            <p:cNvSpPr>
              <a:spLocks noChangeShapeType="1"/>
            </p:cNvSpPr>
            <p:nvPr/>
          </p:nvSpPr>
          <p:spPr bwMode="auto">
            <a:xfrm flipH="1">
              <a:off x="5087541" y="2982795"/>
              <a:ext cx="196453" cy="0"/>
            </a:xfrm>
            <a:prstGeom prst="line">
              <a:avLst/>
            </a:prstGeom>
            <a:noFill/>
            <a:ln w="25400">
              <a:solidFill>
                <a:schemeClr val="tx1"/>
              </a:solidFill>
              <a:round/>
              <a:headEnd type="none" w="sm" len="sm"/>
              <a:tailEnd type="none" w="sm" len="sm"/>
            </a:ln>
          </p:spPr>
          <p:txBody>
            <a:bodyPr wrap="none" anchor="ctr"/>
            <a:lstStyle/>
            <a:p>
              <a:endParaRPr lang="zh-TW" altLang="en-US" sz="1600"/>
            </a:p>
          </p:txBody>
        </p:sp>
        <p:sp>
          <p:nvSpPr>
            <p:cNvPr id="106518" name="Line 22"/>
            <p:cNvSpPr>
              <a:spLocks noChangeShapeType="1"/>
            </p:cNvSpPr>
            <p:nvPr/>
          </p:nvSpPr>
          <p:spPr bwMode="auto">
            <a:xfrm flipH="1">
              <a:off x="5078016" y="2982795"/>
              <a:ext cx="9525" cy="1333500"/>
            </a:xfrm>
            <a:prstGeom prst="line">
              <a:avLst/>
            </a:prstGeom>
            <a:noFill/>
            <a:ln w="25400">
              <a:solidFill>
                <a:schemeClr val="tx1"/>
              </a:solidFill>
              <a:round/>
              <a:headEnd type="none" w="sm" len="sm"/>
              <a:tailEnd type="stealth" w="med" len="lg"/>
            </a:ln>
          </p:spPr>
          <p:txBody>
            <a:bodyPr wrap="none" anchor="ctr"/>
            <a:lstStyle/>
            <a:p>
              <a:endParaRPr lang="zh-TW" altLang="en-US" sz="1600"/>
            </a:p>
          </p:txBody>
        </p:sp>
        <p:sp>
          <p:nvSpPr>
            <p:cNvPr id="106519" name="Oval 23"/>
            <p:cNvSpPr>
              <a:spLocks noChangeArrowheads="1"/>
            </p:cNvSpPr>
            <p:nvPr/>
          </p:nvSpPr>
          <p:spPr bwMode="auto">
            <a:xfrm>
              <a:off x="6356748" y="4316295"/>
              <a:ext cx="21431" cy="28575"/>
            </a:xfrm>
            <a:prstGeom prst="ellipse">
              <a:avLst/>
            </a:prstGeom>
            <a:solidFill>
              <a:schemeClr val="accent1"/>
            </a:solidFill>
            <a:ln w="25400">
              <a:solidFill>
                <a:schemeClr val="tx1"/>
              </a:solidFill>
              <a:round/>
            </a:ln>
          </p:spPr>
          <p:txBody>
            <a:bodyPr wrap="none" anchor="ctr"/>
            <a:lstStyle/>
            <a:p>
              <a:endParaRPr lang="zh-TW" altLang="en-US" sz="1600"/>
            </a:p>
          </p:txBody>
        </p:sp>
        <p:sp>
          <p:nvSpPr>
            <p:cNvPr id="106520" name="Rectangle 24"/>
            <p:cNvSpPr>
              <a:spLocks noChangeArrowheads="1"/>
            </p:cNvSpPr>
            <p:nvPr/>
          </p:nvSpPr>
          <p:spPr bwMode="auto">
            <a:xfrm>
              <a:off x="3302794" y="2324381"/>
              <a:ext cx="332677" cy="224735"/>
            </a:xfrm>
            <a:prstGeom prst="rect">
              <a:avLst/>
            </a:prstGeom>
            <a:noFill/>
            <a:ln w="9525">
              <a:noFill/>
              <a:miter lim="800000"/>
            </a:ln>
          </p:spPr>
          <p:txBody>
            <a:bodyPr wrap="none" lIns="63500" tIns="25400" rIns="63500" bIns="25400">
              <a:spAutoFit/>
            </a:bodyPr>
            <a:lstStyle/>
            <a:p>
              <a:pPr>
                <a:lnSpc>
                  <a:spcPct val="85000"/>
                </a:lnSpc>
              </a:pPr>
              <a:r>
                <a:rPr kumimoji="1" lang="en-US" altLang="zh-TW" sz="1600" b="1">
                  <a:latin typeface="Arial" panose="020B0604020202090204" pitchFamily="34" charset="0"/>
                </a:rPr>
                <a:t>VA</a:t>
              </a:r>
            </a:p>
          </p:txBody>
        </p:sp>
        <p:sp>
          <p:nvSpPr>
            <p:cNvPr id="106521" name="Rectangle 25"/>
            <p:cNvSpPr>
              <a:spLocks noChangeArrowheads="1"/>
            </p:cNvSpPr>
            <p:nvPr/>
          </p:nvSpPr>
          <p:spPr bwMode="auto">
            <a:xfrm>
              <a:off x="4695826" y="2324381"/>
              <a:ext cx="332677" cy="224735"/>
            </a:xfrm>
            <a:prstGeom prst="rect">
              <a:avLst/>
            </a:prstGeom>
            <a:noFill/>
            <a:ln w="9525">
              <a:noFill/>
              <a:miter lim="800000"/>
            </a:ln>
          </p:spPr>
          <p:txBody>
            <a:bodyPr wrap="none" lIns="63500" tIns="25400" rIns="63500" bIns="25400">
              <a:spAutoFit/>
            </a:bodyPr>
            <a:lstStyle/>
            <a:p>
              <a:pPr>
                <a:lnSpc>
                  <a:spcPct val="85000"/>
                </a:lnSpc>
              </a:pPr>
              <a:r>
                <a:rPr kumimoji="1" lang="en-US" altLang="zh-TW" sz="1600" b="1">
                  <a:latin typeface="Arial" panose="020B0604020202090204" pitchFamily="34" charset="0"/>
                </a:rPr>
                <a:t>PA</a:t>
              </a:r>
            </a:p>
          </p:txBody>
        </p:sp>
        <p:sp>
          <p:nvSpPr>
            <p:cNvPr id="106522" name="Rectangle 26"/>
            <p:cNvSpPr>
              <a:spLocks noChangeArrowheads="1"/>
            </p:cNvSpPr>
            <p:nvPr/>
          </p:nvSpPr>
          <p:spPr bwMode="auto">
            <a:xfrm>
              <a:off x="6212682" y="2305330"/>
              <a:ext cx="500063" cy="224735"/>
            </a:xfrm>
            <a:prstGeom prst="rect">
              <a:avLst/>
            </a:prstGeom>
            <a:noFill/>
            <a:ln w="9525">
              <a:noFill/>
              <a:miter lim="800000"/>
            </a:ln>
          </p:spPr>
          <p:txBody>
            <a:bodyPr wrap="none" lIns="63500" tIns="25400" rIns="63500" bIns="25400">
              <a:spAutoFit/>
            </a:bodyPr>
            <a:lstStyle/>
            <a:p>
              <a:pPr>
                <a:lnSpc>
                  <a:spcPct val="85000"/>
                </a:lnSpc>
              </a:pPr>
              <a:r>
                <a:rPr kumimoji="1" lang="en-US" altLang="zh-TW" sz="1600" b="1">
                  <a:latin typeface="Arial" panose="020B0604020202090204" pitchFamily="34" charset="0"/>
                </a:rPr>
                <a:t>miss</a:t>
              </a:r>
            </a:p>
          </p:txBody>
        </p:sp>
        <p:sp>
          <p:nvSpPr>
            <p:cNvPr id="106523" name="Rectangle 27"/>
            <p:cNvSpPr>
              <a:spLocks noChangeArrowheads="1"/>
            </p:cNvSpPr>
            <p:nvPr/>
          </p:nvSpPr>
          <p:spPr bwMode="auto">
            <a:xfrm>
              <a:off x="5211366" y="3153055"/>
              <a:ext cx="318589" cy="224735"/>
            </a:xfrm>
            <a:prstGeom prst="rect">
              <a:avLst/>
            </a:prstGeom>
            <a:noFill/>
            <a:ln w="9525">
              <a:noFill/>
              <a:miter lim="800000"/>
            </a:ln>
          </p:spPr>
          <p:txBody>
            <a:bodyPr wrap="none" lIns="63500" tIns="25400" rIns="63500" bIns="25400">
              <a:spAutoFit/>
            </a:bodyPr>
            <a:lstStyle/>
            <a:p>
              <a:pPr>
                <a:lnSpc>
                  <a:spcPct val="85000"/>
                </a:lnSpc>
              </a:pPr>
              <a:r>
                <a:rPr kumimoji="1" lang="en-US" altLang="zh-TW" sz="1600" b="1">
                  <a:latin typeface="Arial" panose="020B0604020202090204" pitchFamily="34" charset="0"/>
                </a:rPr>
                <a:t>hit</a:t>
              </a:r>
            </a:p>
          </p:txBody>
        </p:sp>
        <p:sp>
          <p:nvSpPr>
            <p:cNvPr id="106524" name="Rectangle 28"/>
            <p:cNvSpPr>
              <a:spLocks noChangeArrowheads="1"/>
            </p:cNvSpPr>
            <p:nvPr/>
          </p:nvSpPr>
          <p:spPr bwMode="auto">
            <a:xfrm>
              <a:off x="5520929" y="4115081"/>
              <a:ext cx="461080" cy="224735"/>
            </a:xfrm>
            <a:prstGeom prst="rect">
              <a:avLst/>
            </a:prstGeom>
            <a:noFill/>
            <a:ln w="9525">
              <a:noFill/>
              <a:miter lim="800000"/>
            </a:ln>
          </p:spPr>
          <p:txBody>
            <a:bodyPr wrap="none" lIns="63500" tIns="25400" rIns="63500" bIns="25400">
              <a:spAutoFit/>
            </a:bodyPr>
            <a:lstStyle/>
            <a:p>
              <a:pPr>
                <a:lnSpc>
                  <a:spcPct val="85000"/>
                </a:lnSpc>
              </a:pPr>
              <a:r>
                <a:rPr kumimoji="1" lang="en-US" altLang="zh-TW" sz="1600" b="1">
                  <a:latin typeface="Arial" panose="020B0604020202090204" pitchFamily="34" charset="0"/>
                </a:rPr>
                <a:t>data</a:t>
              </a:r>
            </a:p>
          </p:txBody>
        </p:sp>
        <p:sp>
          <p:nvSpPr>
            <p:cNvPr id="106525" name="Rectangle 29"/>
            <p:cNvSpPr>
              <a:spLocks noChangeArrowheads="1"/>
            </p:cNvSpPr>
            <p:nvPr/>
          </p:nvSpPr>
          <p:spPr bwMode="auto">
            <a:xfrm>
              <a:off x="3808809" y="3439996"/>
              <a:ext cx="866775" cy="676275"/>
            </a:xfrm>
            <a:prstGeom prst="rect">
              <a:avLst/>
            </a:prstGeom>
            <a:noFill/>
            <a:ln w="25400">
              <a:solidFill>
                <a:schemeClr val="tx1"/>
              </a:solidFill>
              <a:miter lim="800000"/>
            </a:ln>
          </p:spPr>
          <p:txBody>
            <a:bodyPr wrap="none" lIns="92075" tIns="46039" rIns="92075" bIns="46039" anchor="ctr"/>
            <a:lstStyle/>
            <a:p>
              <a:pPr algn="ctr"/>
              <a:r>
                <a:rPr kumimoji="1" lang="en-US" altLang="zh-TW" sz="1600" b="1" dirty="0">
                  <a:latin typeface="Arial" panose="020B0604020202090204" pitchFamily="34" charset="0"/>
                </a:rPr>
                <a:t>Trans-</a:t>
              </a:r>
            </a:p>
            <a:p>
              <a:pPr algn="ctr"/>
              <a:r>
                <a:rPr kumimoji="1" lang="en-US" altLang="zh-TW" sz="1600" b="1" dirty="0" err="1">
                  <a:latin typeface="Arial" panose="020B0604020202090204" pitchFamily="34" charset="0"/>
                </a:rPr>
                <a:t>lation</a:t>
              </a:r>
              <a:endParaRPr kumimoji="1" lang="en-US" altLang="zh-TW" sz="1600" b="1" dirty="0">
                <a:latin typeface="Arial" panose="020B0604020202090204" pitchFamily="34" charset="0"/>
              </a:endParaRPr>
            </a:p>
          </p:txBody>
        </p:sp>
        <p:sp>
          <p:nvSpPr>
            <p:cNvPr id="106526" name="Rectangle 30"/>
            <p:cNvSpPr>
              <a:spLocks noChangeArrowheads="1"/>
            </p:cNvSpPr>
            <p:nvPr/>
          </p:nvSpPr>
          <p:spPr bwMode="auto">
            <a:xfrm>
              <a:off x="4695825" y="2152930"/>
              <a:ext cx="318589" cy="224735"/>
            </a:xfrm>
            <a:prstGeom prst="rect">
              <a:avLst/>
            </a:prstGeom>
            <a:noFill/>
            <a:ln w="9525">
              <a:noFill/>
              <a:miter lim="800000"/>
            </a:ln>
          </p:spPr>
          <p:txBody>
            <a:bodyPr wrap="none" lIns="63500" tIns="25400" rIns="63500" bIns="25400">
              <a:spAutoFit/>
            </a:bodyPr>
            <a:lstStyle/>
            <a:p>
              <a:pPr>
                <a:lnSpc>
                  <a:spcPct val="85000"/>
                </a:lnSpc>
              </a:pPr>
              <a:r>
                <a:rPr kumimoji="1" lang="en-US" altLang="zh-TW" sz="1600" b="1">
                  <a:latin typeface="Arial" panose="020B0604020202090204" pitchFamily="34" charset="0"/>
                </a:rPr>
                <a:t>hit</a:t>
              </a:r>
            </a:p>
          </p:txBody>
        </p:sp>
        <p:sp>
          <p:nvSpPr>
            <p:cNvPr id="106527" name="Line 31"/>
            <p:cNvSpPr>
              <a:spLocks noChangeShapeType="1"/>
            </p:cNvSpPr>
            <p:nvPr/>
          </p:nvSpPr>
          <p:spPr bwMode="auto">
            <a:xfrm>
              <a:off x="4231481" y="3097095"/>
              <a:ext cx="0" cy="333375"/>
            </a:xfrm>
            <a:prstGeom prst="line">
              <a:avLst/>
            </a:prstGeom>
            <a:noFill/>
            <a:ln w="25400">
              <a:solidFill>
                <a:schemeClr val="tx1"/>
              </a:solidFill>
              <a:round/>
              <a:headEnd type="none" w="sm" len="sm"/>
              <a:tailEnd type="stealth" w="med" len="lg"/>
            </a:ln>
          </p:spPr>
          <p:txBody>
            <a:bodyPr wrap="none" anchor="ctr"/>
            <a:lstStyle/>
            <a:p>
              <a:endParaRPr lang="zh-TW" altLang="en-US" sz="1600"/>
            </a:p>
          </p:txBody>
        </p:sp>
        <p:sp>
          <p:nvSpPr>
            <p:cNvPr id="106528" name="Rectangle 32"/>
            <p:cNvSpPr>
              <a:spLocks noChangeArrowheads="1"/>
            </p:cNvSpPr>
            <p:nvPr/>
          </p:nvSpPr>
          <p:spPr bwMode="auto">
            <a:xfrm>
              <a:off x="3694510" y="3153055"/>
              <a:ext cx="500063" cy="224735"/>
            </a:xfrm>
            <a:prstGeom prst="rect">
              <a:avLst/>
            </a:prstGeom>
            <a:noFill/>
            <a:ln w="9525">
              <a:noFill/>
              <a:miter lim="800000"/>
            </a:ln>
          </p:spPr>
          <p:txBody>
            <a:bodyPr wrap="none" lIns="63500" tIns="25400" rIns="63500" bIns="25400">
              <a:spAutoFit/>
            </a:bodyPr>
            <a:lstStyle/>
            <a:p>
              <a:pPr>
                <a:lnSpc>
                  <a:spcPct val="85000"/>
                </a:lnSpc>
              </a:pPr>
              <a:r>
                <a:rPr kumimoji="1" lang="en-US" altLang="zh-TW" sz="1600" b="1">
                  <a:latin typeface="Arial" panose="020B0604020202090204" pitchFamily="34" charset="0"/>
                </a:rPr>
                <a:t>miss</a:t>
              </a:r>
            </a:p>
          </p:txBody>
        </p:sp>
        <p:sp>
          <p:nvSpPr>
            <p:cNvPr id="106529" name="Line 33"/>
            <p:cNvSpPr>
              <a:spLocks noChangeShapeType="1"/>
            </p:cNvSpPr>
            <p:nvPr/>
          </p:nvSpPr>
          <p:spPr bwMode="auto">
            <a:xfrm>
              <a:off x="4242197" y="4144845"/>
              <a:ext cx="0" cy="85725"/>
            </a:xfrm>
            <a:prstGeom prst="line">
              <a:avLst/>
            </a:prstGeom>
            <a:noFill/>
            <a:ln w="25400">
              <a:solidFill>
                <a:schemeClr val="tx1"/>
              </a:solidFill>
              <a:round/>
              <a:headEnd type="none" w="sm" len="sm"/>
              <a:tailEnd type="none" w="sm" len="sm"/>
            </a:ln>
          </p:spPr>
          <p:txBody>
            <a:bodyPr wrap="none" anchor="ctr"/>
            <a:lstStyle/>
            <a:p>
              <a:endParaRPr lang="zh-TW" altLang="en-US" sz="1600"/>
            </a:p>
          </p:txBody>
        </p:sp>
        <p:sp>
          <p:nvSpPr>
            <p:cNvPr id="106530" name="Line 34"/>
            <p:cNvSpPr>
              <a:spLocks noChangeShapeType="1"/>
            </p:cNvSpPr>
            <p:nvPr/>
          </p:nvSpPr>
          <p:spPr bwMode="auto">
            <a:xfrm>
              <a:off x="4242197" y="4230570"/>
              <a:ext cx="557213" cy="0"/>
            </a:xfrm>
            <a:prstGeom prst="line">
              <a:avLst/>
            </a:prstGeom>
            <a:noFill/>
            <a:ln w="25400">
              <a:solidFill>
                <a:schemeClr val="tx1"/>
              </a:solidFill>
              <a:round/>
              <a:headEnd type="none" w="sm" len="sm"/>
              <a:tailEnd type="none" w="sm" len="sm"/>
            </a:ln>
          </p:spPr>
          <p:txBody>
            <a:bodyPr wrap="none" anchor="ctr"/>
            <a:lstStyle/>
            <a:p>
              <a:endParaRPr lang="zh-TW" altLang="en-US" sz="1600"/>
            </a:p>
          </p:txBody>
        </p:sp>
        <p:sp>
          <p:nvSpPr>
            <p:cNvPr id="106531" name="Line 35"/>
            <p:cNvSpPr>
              <a:spLocks noChangeShapeType="1"/>
            </p:cNvSpPr>
            <p:nvPr/>
          </p:nvSpPr>
          <p:spPr bwMode="auto">
            <a:xfrm flipV="1">
              <a:off x="4799410" y="2516070"/>
              <a:ext cx="0" cy="1714500"/>
            </a:xfrm>
            <a:prstGeom prst="line">
              <a:avLst/>
            </a:prstGeom>
            <a:noFill/>
            <a:ln w="25400">
              <a:solidFill>
                <a:schemeClr val="tx1"/>
              </a:solidFill>
              <a:round/>
              <a:headEnd type="none" w="sm" len="sm"/>
              <a:tailEnd type="stealth" w="med" len="lg"/>
            </a:ln>
          </p:spPr>
          <p:txBody>
            <a:bodyPr wrap="none" anchor="ctr"/>
            <a:lstStyle/>
            <a:p>
              <a:endParaRPr lang="zh-TW" altLang="en-US" sz="1600"/>
            </a:p>
          </p:txBody>
        </p:sp>
        <p:sp>
          <p:nvSpPr>
            <p:cNvPr id="106532" name="Line 36"/>
            <p:cNvSpPr>
              <a:spLocks noChangeShapeType="1"/>
            </p:cNvSpPr>
            <p:nvPr/>
          </p:nvSpPr>
          <p:spPr bwMode="auto">
            <a:xfrm flipH="1">
              <a:off x="5078017" y="4325820"/>
              <a:ext cx="1629965" cy="0"/>
            </a:xfrm>
            <a:prstGeom prst="line">
              <a:avLst/>
            </a:prstGeom>
            <a:noFill/>
            <a:ln w="25400">
              <a:solidFill>
                <a:schemeClr val="tx1"/>
              </a:solidFill>
              <a:round/>
              <a:headEnd type="none" w="sm" len="sm"/>
              <a:tailEnd type="stealth" w="med" len="lg"/>
            </a:ln>
          </p:spPr>
          <p:txBody>
            <a:bodyPr wrap="none" anchor="ctr"/>
            <a:lstStyle/>
            <a:p>
              <a:endParaRPr lang="zh-TW" altLang="en-US" sz="1600"/>
            </a:p>
          </p:txBody>
        </p:sp>
        <p:sp>
          <p:nvSpPr>
            <p:cNvPr id="106533" name="Rectangle 37"/>
            <p:cNvSpPr>
              <a:spLocks noChangeArrowheads="1"/>
            </p:cNvSpPr>
            <p:nvPr/>
          </p:nvSpPr>
          <p:spPr bwMode="auto">
            <a:xfrm>
              <a:off x="7141369" y="4429405"/>
              <a:ext cx="404621" cy="224735"/>
            </a:xfrm>
            <a:prstGeom prst="rect">
              <a:avLst/>
            </a:prstGeom>
            <a:noFill/>
            <a:ln w="9525">
              <a:noFill/>
              <a:miter lim="800000"/>
            </a:ln>
          </p:spPr>
          <p:txBody>
            <a:bodyPr wrap="none" lIns="63500" tIns="25400" rIns="63500" bIns="25400">
              <a:spAutoFit/>
            </a:bodyPr>
            <a:lstStyle/>
            <a:p>
              <a:pPr>
                <a:lnSpc>
                  <a:spcPct val="85000"/>
                </a:lnSpc>
              </a:pPr>
              <a:r>
                <a:rPr kumimoji="1" lang="zh-TW" altLang="en-US" sz="1600" b="1">
                  <a:latin typeface="Arial" panose="020B0604020202090204" pitchFamily="34" charset="0"/>
                </a:rPr>
                <a:t>20 </a:t>
              </a:r>
              <a:r>
                <a:rPr kumimoji="1" lang="en-US" altLang="zh-TW" sz="1600" b="1">
                  <a:latin typeface="Arial" panose="020B0604020202090204" pitchFamily="34" charset="0"/>
                </a:rPr>
                <a:t>t</a:t>
              </a:r>
            </a:p>
          </p:txBody>
        </p:sp>
        <p:sp>
          <p:nvSpPr>
            <p:cNvPr id="106534" name="Rectangle 38"/>
            <p:cNvSpPr>
              <a:spLocks noChangeArrowheads="1"/>
            </p:cNvSpPr>
            <p:nvPr/>
          </p:nvSpPr>
          <p:spPr bwMode="auto">
            <a:xfrm>
              <a:off x="5686425" y="4419879"/>
              <a:ext cx="165344" cy="224735"/>
            </a:xfrm>
            <a:prstGeom prst="rect">
              <a:avLst/>
            </a:prstGeom>
            <a:noFill/>
            <a:ln w="9525">
              <a:noFill/>
              <a:miter lim="800000"/>
            </a:ln>
          </p:spPr>
          <p:txBody>
            <a:bodyPr wrap="none" lIns="63500" tIns="25400" rIns="63500" bIns="25400">
              <a:spAutoFit/>
            </a:bodyPr>
            <a:lstStyle/>
            <a:p>
              <a:pPr>
                <a:lnSpc>
                  <a:spcPct val="85000"/>
                </a:lnSpc>
              </a:pPr>
              <a:r>
                <a:rPr kumimoji="1" lang="en-US" altLang="zh-TW" sz="1600" b="1">
                  <a:latin typeface="Arial" panose="020B0604020202090204" pitchFamily="34" charset="0"/>
                </a:rPr>
                <a:t>t</a:t>
              </a:r>
            </a:p>
          </p:txBody>
        </p:sp>
        <p:sp>
          <p:nvSpPr>
            <p:cNvPr id="106535" name="Rectangle 39"/>
            <p:cNvSpPr>
              <a:spLocks noChangeArrowheads="1"/>
            </p:cNvSpPr>
            <p:nvPr/>
          </p:nvSpPr>
          <p:spPr bwMode="auto">
            <a:xfrm>
              <a:off x="3994548" y="4429405"/>
              <a:ext cx="453014" cy="224735"/>
            </a:xfrm>
            <a:prstGeom prst="rect">
              <a:avLst/>
            </a:prstGeom>
            <a:noFill/>
            <a:ln w="9525">
              <a:noFill/>
              <a:miter lim="800000"/>
            </a:ln>
          </p:spPr>
          <p:txBody>
            <a:bodyPr wrap="none" lIns="63500" tIns="25400" rIns="63500" bIns="25400">
              <a:spAutoFit/>
            </a:bodyPr>
            <a:lstStyle/>
            <a:p>
              <a:pPr>
                <a:lnSpc>
                  <a:spcPct val="85000"/>
                </a:lnSpc>
              </a:pPr>
              <a:r>
                <a:rPr kumimoji="1" lang="zh-TW" altLang="en-US" sz="1600" b="1">
                  <a:latin typeface="Arial" panose="020B0604020202090204" pitchFamily="34" charset="0"/>
                </a:rPr>
                <a:t>1/2 </a:t>
              </a:r>
              <a:r>
                <a:rPr kumimoji="1" lang="en-US" altLang="zh-TW" sz="1600" b="1">
                  <a:latin typeface="Arial" panose="020B0604020202090204" pitchFamily="34" charset="0"/>
                </a:rPr>
                <a:t>t</a:t>
              </a:r>
            </a:p>
          </p:txBody>
        </p:sp>
        <p:sp>
          <p:nvSpPr>
            <p:cNvPr id="106536" name="Rectangle 40"/>
            <p:cNvSpPr>
              <a:spLocks noChangeArrowheads="1"/>
            </p:cNvSpPr>
            <p:nvPr/>
          </p:nvSpPr>
          <p:spPr bwMode="auto">
            <a:xfrm>
              <a:off x="1156098" y="3114955"/>
              <a:ext cx="1031957" cy="405230"/>
            </a:xfrm>
            <a:prstGeom prst="rect">
              <a:avLst/>
            </a:prstGeom>
            <a:noFill/>
            <a:ln w="9525">
              <a:noFill/>
              <a:miter lim="800000"/>
            </a:ln>
          </p:spPr>
          <p:txBody>
            <a:bodyPr wrap="none" lIns="63500" tIns="25400" rIns="63500" bIns="25400">
              <a:spAutoFit/>
            </a:bodyPr>
            <a:lstStyle/>
            <a:p>
              <a:pPr>
                <a:lnSpc>
                  <a:spcPct val="85000"/>
                </a:lnSpc>
              </a:pPr>
              <a:r>
                <a:rPr kumimoji="1" lang="en-US" altLang="zh-TW" sz="1600" b="1" i="1">
                  <a:latin typeface="Arial" panose="020B0604020202090204" pitchFamily="34" charset="0"/>
                </a:rPr>
                <a:t>Translation</a:t>
              </a:r>
            </a:p>
            <a:p>
              <a:pPr>
                <a:lnSpc>
                  <a:spcPct val="85000"/>
                </a:lnSpc>
              </a:pPr>
              <a:r>
                <a:rPr kumimoji="1" lang="en-US" altLang="zh-TW" sz="1600" b="1" i="1">
                  <a:latin typeface="Arial" panose="020B0604020202090204" pitchFamily="34" charset="0"/>
                </a:rPr>
                <a:t>with a TLB</a:t>
              </a:r>
            </a:p>
          </p:txBody>
        </p:sp>
      </p:grpSp>
      <p:sp>
        <p:nvSpPr>
          <p:cNvPr id="106537" name="投影片編號版面配置區 1"/>
          <p:cNvSpPr>
            <a:spLocks noGrp="1"/>
          </p:cNvSpPr>
          <p:nvPr>
            <p:ph type="sldNum" sz="quarter" idx="4294967295"/>
          </p:nvPr>
        </p:nvSpPr>
        <p:spPr>
          <a:noFill/>
          <a:ln>
            <a:miter lim="800000"/>
          </a:ln>
        </p:spPr>
        <p:txBody>
          <a:bodyPr/>
          <a:lstStyle/>
          <a:p>
            <a:pPr defTabSz="761981"/>
            <a:fld id="{77323895-777D-4B43-9EBA-45AA5AA6F225}" type="slidenum">
              <a:rPr lang="zh-TW" altLang="en-US"/>
              <a:pPr defTabSz="761981"/>
              <a:t>30</a:t>
            </a:fld>
            <a:endParaRPr lang="en-US" altLang="zh-TW"/>
          </a:p>
        </p:txBody>
      </p:sp>
    </p:spTree>
    <p:extLst>
      <p:ext uri="{BB962C8B-B14F-4D97-AF65-F5344CB8AC3E}">
        <p14:creationId xmlns:p14="http://schemas.microsoft.com/office/powerpoint/2010/main" val="42153379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投影片編號版面配置區 1"/>
          <p:cNvSpPr>
            <a:spLocks noGrp="1"/>
          </p:cNvSpPr>
          <p:nvPr>
            <p:ph type="sldNum" sz="quarter" idx="4294967295"/>
          </p:nvPr>
        </p:nvSpPr>
        <p:spPr>
          <a:noFill/>
          <a:ln>
            <a:miter lim="800000"/>
          </a:ln>
        </p:spPr>
        <p:txBody>
          <a:bodyPr/>
          <a:lstStyle/>
          <a:p>
            <a:pPr defTabSz="761981"/>
            <a:fld id="{438FA50B-92B7-47DA-94ED-512321015D11}" type="slidenum">
              <a:rPr lang="zh-TW" altLang="en-US"/>
              <a:pPr defTabSz="761981"/>
              <a:t>31</a:t>
            </a:fld>
            <a:endParaRPr lang="en-US" altLang="zh-TW"/>
          </a:p>
        </p:txBody>
      </p:sp>
      <p:sp>
        <p:nvSpPr>
          <p:cNvPr id="107523" name="Rectangle 2"/>
          <p:cNvSpPr>
            <a:spLocks noGrp="1" noChangeArrowheads="1"/>
          </p:cNvSpPr>
          <p:nvPr>
            <p:ph type="title" idx="4294967295"/>
          </p:nvPr>
        </p:nvSpPr>
        <p:spPr>
          <a:xfrm>
            <a:off x="1231769" y="179110"/>
            <a:ext cx="9652129" cy="625311"/>
          </a:xfrm>
        </p:spPr>
        <p:txBody>
          <a:bodyPr/>
          <a:lstStyle/>
          <a:p>
            <a:r>
              <a:rPr lang="en-US" altLang="zh-TW" sz="4267" dirty="0"/>
              <a:t>Integrate TLB and Cache</a:t>
            </a:r>
          </a:p>
        </p:txBody>
      </p:sp>
      <p:pic>
        <p:nvPicPr>
          <p:cNvPr id="107524" name="Picture 3" descr="f0725"/>
          <p:cNvPicPr>
            <a:picLocks noChangeAspect="1" noChangeArrowheads="1"/>
          </p:cNvPicPr>
          <p:nvPr/>
        </p:nvPicPr>
        <p:blipFill>
          <a:blip r:embed="rId3"/>
          <a:srcRect t="1601"/>
          <a:stretch>
            <a:fillRect/>
          </a:stretch>
        </p:blipFill>
        <p:spPr bwMode="auto">
          <a:xfrm>
            <a:off x="1231769" y="1162541"/>
            <a:ext cx="9790193" cy="4909020"/>
          </a:xfrm>
          <a:prstGeom prst="rect">
            <a:avLst/>
          </a:prstGeom>
          <a:noFill/>
          <a:ln w="9525">
            <a:noFill/>
            <a:miter lim="800000"/>
            <a:headEnd/>
            <a:tailEnd/>
          </a:ln>
        </p:spPr>
      </p:pic>
      <p:sp>
        <p:nvSpPr>
          <p:cNvPr id="2" name="TextBox 1">
            <a:extLst>
              <a:ext uri="{FF2B5EF4-FFF2-40B4-BE49-F238E27FC236}">
                <a16:creationId xmlns:a16="http://schemas.microsoft.com/office/drawing/2014/main" id="{94ECCC59-F4E7-434F-922C-1C13EFFC7308}"/>
              </a:ext>
            </a:extLst>
          </p:cNvPr>
          <p:cNvSpPr txBox="1"/>
          <p:nvPr/>
        </p:nvSpPr>
        <p:spPr>
          <a:xfrm>
            <a:off x="685800" y="2198043"/>
            <a:ext cx="748923"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TLB</a:t>
            </a:r>
          </a:p>
        </p:txBody>
      </p:sp>
      <p:sp>
        <p:nvSpPr>
          <p:cNvPr id="6" name="TextBox 5">
            <a:extLst>
              <a:ext uri="{FF2B5EF4-FFF2-40B4-BE49-F238E27FC236}">
                <a16:creationId xmlns:a16="http://schemas.microsoft.com/office/drawing/2014/main" id="{2FDFC2C4-F813-4B86-9DAC-D23040BD1845}"/>
              </a:ext>
            </a:extLst>
          </p:cNvPr>
          <p:cNvSpPr txBox="1"/>
          <p:nvPr/>
        </p:nvSpPr>
        <p:spPr>
          <a:xfrm>
            <a:off x="1060261" y="4798368"/>
            <a:ext cx="1075936"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Cache</a:t>
            </a:r>
          </a:p>
        </p:txBody>
      </p:sp>
      <p:sp>
        <p:nvSpPr>
          <p:cNvPr id="7" name="TextBox 6">
            <a:extLst>
              <a:ext uri="{FF2B5EF4-FFF2-40B4-BE49-F238E27FC236}">
                <a16:creationId xmlns:a16="http://schemas.microsoft.com/office/drawing/2014/main" id="{CB9D6DB9-011C-490B-BB65-10E004D9CE08}"/>
              </a:ext>
            </a:extLst>
          </p:cNvPr>
          <p:cNvSpPr txBox="1"/>
          <p:nvPr/>
        </p:nvSpPr>
        <p:spPr>
          <a:xfrm>
            <a:off x="1962150" y="3386218"/>
            <a:ext cx="2513830"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Physical address</a:t>
            </a:r>
          </a:p>
        </p:txBody>
      </p:sp>
    </p:spTree>
    <p:extLst>
      <p:ext uri="{BB962C8B-B14F-4D97-AF65-F5344CB8AC3E}">
        <p14:creationId xmlns:p14="http://schemas.microsoft.com/office/powerpoint/2010/main" val="13688476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投影片編號版面配置區 5">
            <a:extLst>
              <a:ext uri="{FF2B5EF4-FFF2-40B4-BE49-F238E27FC236}">
                <a16:creationId xmlns:a16="http://schemas.microsoft.com/office/drawing/2014/main" id="{58DE18AD-05B8-449F-8976-0C91A6FC7236}"/>
              </a:ext>
            </a:extLst>
          </p:cNvPr>
          <p:cNvSpPr>
            <a:spLocks noGrp="1"/>
          </p:cNvSpPr>
          <p:nvPr>
            <p:ph type="sldNum" sz="quarter" idx="12"/>
          </p:nvPr>
        </p:nvSpPr>
        <p:spPr bwMode="auto">
          <a:xfrm>
            <a:off x="6781800" y="6324600"/>
            <a:ext cx="19050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latin typeface="Tahoma" panose="020B0604030504040204" pitchFamily="34" charset="0"/>
                <a:ea typeface="新細明體" panose="02020500000000000000" pitchFamily="18" charset="-120"/>
                <a:cs typeface="+mn-cs"/>
              </a:defRPr>
            </a:lvl1pPr>
            <a:lvl2pPr marL="457200" algn="l" rtl="0" eaLnBrk="0" fontAlgn="base" hangingPunct="0">
              <a:spcBef>
                <a:spcPct val="0"/>
              </a:spcBef>
              <a:spcAft>
                <a:spcPct val="0"/>
              </a:spcAft>
              <a:defRPr sz="2400" kern="1200">
                <a:solidFill>
                  <a:schemeClr val="tx1"/>
                </a:solidFill>
                <a:latin typeface="Tahoma" panose="020B0604030504040204" pitchFamily="34" charset="0"/>
                <a:ea typeface="新細明體" panose="02020500000000000000" pitchFamily="18" charset="-120"/>
                <a:cs typeface="+mn-cs"/>
              </a:defRPr>
            </a:lvl2pPr>
            <a:lvl3pPr marL="914400" algn="l" rtl="0" eaLnBrk="0" fontAlgn="base" hangingPunct="0">
              <a:spcBef>
                <a:spcPct val="0"/>
              </a:spcBef>
              <a:spcAft>
                <a:spcPct val="0"/>
              </a:spcAft>
              <a:defRPr sz="2400" kern="1200">
                <a:solidFill>
                  <a:schemeClr val="tx1"/>
                </a:solidFill>
                <a:latin typeface="Tahoma" panose="020B0604030504040204" pitchFamily="34" charset="0"/>
                <a:ea typeface="新細明體" panose="02020500000000000000" pitchFamily="18" charset="-120"/>
                <a:cs typeface="+mn-cs"/>
              </a:defRPr>
            </a:lvl3pPr>
            <a:lvl4pPr marL="1371600" algn="l" rtl="0" eaLnBrk="0" fontAlgn="base" hangingPunct="0">
              <a:spcBef>
                <a:spcPct val="0"/>
              </a:spcBef>
              <a:spcAft>
                <a:spcPct val="0"/>
              </a:spcAft>
              <a:defRPr sz="2400" kern="1200">
                <a:solidFill>
                  <a:schemeClr val="tx1"/>
                </a:solidFill>
                <a:latin typeface="Tahoma" panose="020B0604030504040204" pitchFamily="34" charset="0"/>
                <a:ea typeface="新細明體" panose="02020500000000000000" pitchFamily="18" charset="-120"/>
                <a:cs typeface="+mn-cs"/>
              </a:defRPr>
            </a:lvl4pPr>
            <a:lvl5pPr marL="1828800" algn="l" rtl="0" eaLnBrk="0" fontAlgn="base" hangingPunct="0">
              <a:spcBef>
                <a:spcPct val="0"/>
              </a:spcBef>
              <a:spcAft>
                <a:spcPct val="0"/>
              </a:spcAft>
              <a:defRPr sz="2400" kern="1200">
                <a:solidFill>
                  <a:schemeClr val="tx1"/>
                </a:solidFill>
                <a:latin typeface="Tahoma" panose="020B0604030504040204" pitchFamily="34" charset="0"/>
                <a:ea typeface="新細明體" panose="02020500000000000000" pitchFamily="18" charset="-120"/>
                <a:cs typeface="+mn-cs"/>
              </a:defRPr>
            </a:lvl5pPr>
            <a:lvl6pPr marL="2286000" algn="l" defTabSz="914400" rtl="0" eaLnBrk="1" latinLnBrk="0" hangingPunct="1">
              <a:defRPr sz="2400" kern="1200">
                <a:solidFill>
                  <a:schemeClr val="tx1"/>
                </a:solidFill>
                <a:latin typeface="Tahoma" panose="020B0604030504040204" pitchFamily="34" charset="0"/>
                <a:ea typeface="新細明體" panose="02020500000000000000" pitchFamily="18" charset="-120"/>
                <a:cs typeface="+mn-cs"/>
              </a:defRPr>
            </a:lvl6pPr>
            <a:lvl7pPr marL="2743200" algn="l" defTabSz="914400" rtl="0" eaLnBrk="1" latinLnBrk="0" hangingPunct="1">
              <a:defRPr sz="2400" kern="1200">
                <a:solidFill>
                  <a:schemeClr val="tx1"/>
                </a:solidFill>
                <a:latin typeface="Tahoma" panose="020B0604030504040204" pitchFamily="34" charset="0"/>
                <a:ea typeface="新細明體" panose="02020500000000000000" pitchFamily="18" charset="-120"/>
                <a:cs typeface="+mn-cs"/>
              </a:defRPr>
            </a:lvl7pPr>
            <a:lvl8pPr marL="3200400" algn="l" defTabSz="914400" rtl="0" eaLnBrk="1" latinLnBrk="0" hangingPunct="1">
              <a:defRPr sz="2400" kern="1200">
                <a:solidFill>
                  <a:schemeClr val="tx1"/>
                </a:solidFill>
                <a:latin typeface="Tahoma" panose="020B0604030504040204" pitchFamily="34" charset="0"/>
                <a:ea typeface="新細明體" panose="02020500000000000000" pitchFamily="18" charset="-120"/>
                <a:cs typeface="+mn-cs"/>
              </a:defRPr>
            </a:lvl8pPr>
            <a:lvl9pPr marL="3657600" algn="l" defTabSz="914400" rtl="0" eaLnBrk="1" latinLnBrk="0" hangingPunct="1">
              <a:defRPr sz="2400" kern="1200">
                <a:solidFill>
                  <a:schemeClr val="tx1"/>
                </a:solidFill>
                <a:latin typeface="Tahoma" panose="020B0604030504040204" pitchFamily="34" charset="0"/>
                <a:ea typeface="新細明體" panose="02020500000000000000" pitchFamily="18" charset="-120"/>
                <a:cs typeface="+mn-cs"/>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E50FCB1-A802-4F25-8CB0-F2ABD5A2894A}" type="slidenum">
              <a:rPr kumimoji="0" lang="zh-TW" altLang="en-US" sz="1400" b="0" i="0" u="none" strike="noStrike" kern="1200" cap="none" spc="0" normalizeH="0" baseline="0" noProof="0" smtClean="0">
                <a:ln>
                  <a:noFill/>
                </a:ln>
                <a:solidFill>
                  <a:prstClr val="black"/>
                </a:solidFill>
                <a:effectLst/>
                <a:uLnTx/>
                <a:uFillTx/>
                <a:latin typeface="Tahoma" panose="020B0604030504040204" pitchFamily="34" charset="0"/>
                <a:ea typeface="新細明體" panose="02020500000000000000"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zh-TW" sz="1400" b="0" i="0" u="none" strike="noStrike" kern="1200" cap="none" spc="0" normalizeH="0" baseline="0" noProof="0">
              <a:ln>
                <a:noFill/>
              </a:ln>
              <a:solidFill>
                <a:prstClr val="black"/>
              </a:solidFill>
              <a:effectLst/>
              <a:uLnTx/>
              <a:uFillTx/>
              <a:latin typeface="Tahoma" panose="020B0604030504040204" pitchFamily="34" charset="0"/>
              <a:ea typeface="新細明體" panose="02020500000000000000" pitchFamily="18" charset="-120"/>
              <a:cs typeface="+mn-cs"/>
            </a:endParaRPr>
          </a:p>
        </p:txBody>
      </p:sp>
      <p:pic>
        <p:nvPicPr>
          <p:cNvPr id="21507" name="Picture 4" descr="magic">
            <a:extLst>
              <a:ext uri="{FF2B5EF4-FFF2-40B4-BE49-F238E27FC236}">
                <a16:creationId xmlns:a16="http://schemas.microsoft.com/office/drawing/2014/main" id="{4D4E0687-5B6A-49DC-ABE6-7D6C27BBC1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0" y="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Rectangle 2">
            <a:extLst>
              <a:ext uri="{FF2B5EF4-FFF2-40B4-BE49-F238E27FC236}">
                <a16:creationId xmlns:a16="http://schemas.microsoft.com/office/drawing/2014/main" id="{A8323748-5DFF-4E5C-88D8-DB539A92801A}"/>
              </a:ext>
            </a:extLst>
          </p:cNvPr>
          <p:cNvSpPr>
            <a:spLocks noGrp="1" noChangeArrowheads="1"/>
          </p:cNvSpPr>
          <p:nvPr>
            <p:ph type="title"/>
          </p:nvPr>
        </p:nvSpPr>
        <p:spPr/>
        <p:txBody>
          <a:bodyPr/>
          <a:lstStyle/>
          <a:p>
            <a:pPr eaLnBrk="1" hangingPunct="1"/>
            <a:r>
              <a:rPr lang="en-US" altLang="zh-TW" sz="3600" dirty="0">
                <a:ea typeface="新細明體" panose="02020500000000000000" pitchFamily="18" charset="-120"/>
              </a:rPr>
              <a:t>PIPT (Physically Indexed, Physically Tagged) Cache</a:t>
            </a:r>
          </a:p>
        </p:txBody>
      </p:sp>
      <p:pic>
        <p:nvPicPr>
          <p:cNvPr id="3" name="Picture 2">
            <a:extLst>
              <a:ext uri="{FF2B5EF4-FFF2-40B4-BE49-F238E27FC236}">
                <a16:creationId xmlns:a16="http://schemas.microsoft.com/office/drawing/2014/main" id="{6E19FE0B-188E-41A3-8B5A-022BEB9E4BDD}"/>
              </a:ext>
            </a:extLst>
          </p:cNvPr>
          <p:cNvPicPr>
            <a:picLocks noChangeAspect="1"/>
          </p:cNvPicPr>
          <p:nvPr/>
        </p:nvPicPr>
        <p:blipFill>
          <a:blip r:embed="rId4"/>
          <a:stretch>
            <a:fillRect/>
          </a:stretch>
        </p:blipFill>
        <p:spPr>
          <a:xfrm>
            <a:off x="135467" y="1071036"/>
            <a:ext cx="9232955" cy="4715928"/>
          </a:xfrm>
          <a:prstGeom prst="rect">
            <a:avLst/>
          </a:prstGeom>
        </p:spPr>
      </p:pic>
      <p:sp>
        <p:nvSpPr>
          <p:cNvPr id="8" name="Rectangle 3">
            <a:extLst>
              <a:ext uri="{FF2B5EF4-FFF2-40B4-BE49-F238E27FC236}">
                <a16:creationId xmlns:a16="http://schemas.microsoft.com/office/drawing/2014/main" id="{53A8F9EA-8B62-4A18-ACD1-935F5827B87C}"/>
              </a:ext>
            </a:extLst>
          </p:cNvPr>
          <p:cNvSpPr txBox="1">
            <a:spLocks noChangeArrowheads="1"/>
          </p:cNvSpPr>
          <p:nvPr/>
        </p:nvSpPr>
        <p:spPr bwMode="auto">
          <a:xfrm>
            <a:off x="8686800" y="1219200"/>
            <a:ext cx="3094814" cy="510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marL="342882" marR="0" lvl="0" indent="-342882" algn="l" defTabSz="914400" rtl="0" eaLnBrk="1" fontAlgn="base" latinLnBrk="0" hangingPunct="1">
              <a:lnSpc>
                <a:spcPct val="100000"/>
              </a:lnSpc>
              <a:spcBef>
                <a:spcPct val="20000"/>
              </a:spcBef>
              <a:spcAft>
                <a:spcPct val="0"/>
              </a:spcAft>
              <a:buClr>
                <a:srgbClr val="0000FF"/>
              </a:buClr>
              <a:buSzPct val="80000"/>
              <a:buFont typeface="Wingdings" pitchFamily="2" charset="2"/>
              <a:buChar char="l"/>
              <a:tabLst/>
              <a:defRPr/>
            </a:pPr>
            <a:r>
              <a:rPr kumimoji="1" lang="en-US" altLang="zh-TW" sz="2400" b="0" i="0" u="none" strike="noStrike" kern="0" cap="none" spc="0" normalizeH="0" baseline="0" noProof="0" dirty="0">
                <a:ln>
                  <a:noFill/>
                </a:ln>
                <a:solidFill>
                  <a:srgbClr val="1F497D"/>
                </a:solidFill>
                <a:effectLst/>
                <a:uLnTx/>
                <a:uFillTx/>
                <a:latin typeface="Calibri" pitchFamily="34" charset="0"/>
                <a:ea typeface="新細明體" pitchFamily="18" charset="-120"/>
                <a:cs typeface="+mn-cs"/>
              </a:rPr>
              <a:t>Slow hit time</a:t>
            </a:r>
          </a:p>
          <a:p>
            <a:pPr marL="0" marR="0" lvl="0" indent="0" algn="l" defTabSz="914400" rtl="0" eaLnBrk="1" fontAlgn="base" latinLnBrk="0" hangingPunct="1">
              <a:lnSpc>
                <a:spcPct val="100000"/>
              </a:lnSpc>
              <a:spcBef>
                <a:spcPct val="20000"/>
              </a:spcBef>
              <a:spcAft>
                <a:spcPct val="0"/>
              </a:spcAft>
              <a:buClr>
                <a:srgbClr val="0000FF"/>
              </a:buClr>
              <a:buSzPct val="80000"/>
              <a:buFont typeface="Wingdings" pitchFamily="2" charset="2"/>
              <a:buNone/>
              <a:tabLst/>
              <a:defRPr/>
            </a:pPr>
            <a:endParaRPr kumimoji="1" lang="en-US" altLang="zh-TW" sz="2400" b="0" i="0" u="none" strike="noStrike" kern="0" cap="none" spc="0" normalizeH="0" baseline="0" noProof="0" dirty="0">
              <a:ln>
                <a:noFill/>
              </a:ln>
              <a:solidFill>
                <a:srgbClr val="1F497D"/>
              </a:solidFill>
              <a:effectLst/>
              <a:uLnTx/>
              <a:uFillTx/>
              <a:latin typeface="Calibri" pitchFamily="34" charset="0"/>
              <a:ea typeface="新細明體" pitchFamily="18" charset="-120"/>
              <a:cs typeface="+mn-cs"/>
            </a:endParaRPr>
          </a:p>
          <a:p>
            <a:pPr marL="0" marR="0" lvl="0" indent="0" algn="l" defTabSz="914400" rtl="0" eaLnBrk="1" fontAlgn="base" latinLnBrk="0" hangingPunct="1">
              <a:lnSpc>
                <a:spcPct val="100000"/>
              </a:lnSpc>
              <a:spcBef>
                <a:spcPct val="20000"/>
              </a:spcBef>
              <a:spcAft>
                <a:spcPct val="0"/>
              </a:spcAft>
              <a:buClr>
                <a:srgbClr val="0000FF"/>
              </a:buClr>
              <a:buSzPct val="80000"/>
              <a:buFont typeface="Wingdings" pitchFamily="2" charset="2"/>
              <a:buNone/>
              <a:tabLst/>
              <a:defRPr/>
            </a:pPr>
            <a:r>
              <a:rPr kumimoji="1" lang="en-US" altLang="zh-TW" sz="2400" b="0" i="0" u="none" strike="noStrike" kern="0" cap="none" spc="0" normalizeH="0" baseline="0" noProof="0" dirty="0">
                <a:ln>
                  <a:noFill/>
                </a:ln>
                <a:solidFill>
                  <a:srgbClr val="1F497D"/>
                </a:solidFill>
                <a:effectLst/>
                <a:uLnTx/>
                <a:uFillTx/>
                <a:latin typeface="Calibri" pitchFamily="34" charset="0"/>
                <a:ea typeface="新細明體" pitchFamily="18" charset="-120"/>
                <a:cs typeface="+mn-cs"/>
              </a:rPr>
              <a:t>(TLB hit + Cache access)</a:t>
            </a:r>
          </a:p>
        </p:txBody>
      </p:sp>
    </p:spTree>
    <p:extLst>
      <p:ext uri="{BB962C8B-B14F-4D97-AF65-F5344CB8AC3E}">
        <p14:creationId xmlns:p14="http://schemas.microsoft.com/office/powerpoint/2010/main" val="24463607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投影片編號版面配置區 5">
            <a:extLst>
              <a:ext uri="{FF2B5EF4-FFF2-40B4-BE49-F238E27FC236}">
                <a16:creationId xmlns:a16="http://schemas.microsoft.com/office/drawing/2014/main" id="{58DE18AD-05B8-449F-8976-0C91A6FC7236}"/>
              </a:ext>
            </a:extLst>
          </p:cNvPr>
          <p:cNvSpPr>
            <a:spLocks noGrp="1"/>
          </p:cNvSpPr>
          <p:nvPr>
            <p:ph type="sldNum" sz="quarter" idx="12"/>
          </p:nvPr>
        </p:nvSpPr>
        <p:spPr bwMode="auto">
          <a:xfrm>
            <a:off x="6781800" y="6324600"/>
            <a:ext cx="19050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latin typeface="Tahoma" panose="020B0604030504040204" pitchFamily="34" charset="0"/>
                <a:ea typeface="新細明體" panose="02020500000000000000" pitchFamily="18" charset="-120"/>
                <a:cs typeface="+mn-cs"/>
              </a:defRPr>
            </a:lvl1pPr>
            <a:lvl2pPr marL="457200" algn="l" rtl="0" eaLnBrk="0" fontAlgn="base" hangingPunct="0">
              <a:spcBef>
                <a:spcPct val="0"/>
              </a:spcBef>
              <a:spcAft>
                <a:spcPct val="0"/>
              </a:spcAft>
              <a:defRPr sz="2400" kern="1200">
                <a:solidFill>
                  <a:schemeClr val="tx1"/>
                </a:solidFill>
                <a:latin typeface="Tahoma" panose="020B0604030504040204" pitchFamily="34" charset="0"/>
                <a:ea typeface="新細明體" panose="02020500000000000000" pitchFamily="18" charset="-120"/>
                <a:cs typeface="+mn-cs"/>
              </a:defRPr>
            </a:lvl2pPr>
            <a:lvl3pPr marL="914400" algn="l" rtl="0" eaLnBrk="0" fontAlgn="base" hangingPunct="0">
              <a:spcBef>
                <a:spcPct val="0"/>
              </a:spcBef>
              <a:spcAft>
                <a:spcPct val="0"/>
              </a:spcAft>
              <a:defRPr sz="2400" kern="1200">
                <a:solidFill>
                  <a:schemeClr val="tx1"/>
                </a:solidFill>
                <a:latin typeface="Tahoma" panose="020B0604030504040204" pitchFamily="34" charset="0"/>
                <a:ea typeface="新細明體" panose="02020500000000000000" pitchFamily="18" charset="-120"/>
                <a:cs typeface="+mn-cs"/>
              </a:defRPr>
            </a:lvl3pPr>
            <a:lvl4pPr marL="1371600" algn="l" rtl="0" eaLnBrk="0" fontAlgn="base" hangingPunct="0">
              <a:spcBef>
                <a:spcPct val="0"/>
              </a:spcBef>
              <a:spcAft>
                <a:spcPct val="0"/>
              </a:spcAft>
              <a:defRPr sz="2400" kern="1200">
                <a:solidFill>
                  <a:schemeClr val="tx1"/>
                </a:solidFill>
                <a:latin typeface="Tahoma" panose="020B0604030504040204" pitchFamily="34" charset="0"/>
                <a:ea typeface="新細明體" panose="02020500000000000000" pitchFamily="18" charset="-120"/>
                <a:cs typeface="+mn-cs"/>
              </a:defRPr>
            </a:lvl4pPr>
            <a:lvl5pPr marL="1828800" algn="l" rtl="0" eaLnBrk="0" fontAlgn="base" hangingPunct="0">
              <a:spcBef>
                <a:spcPct val="0"/>
              </a:spcBef>
              <a:spcAft>
                <a:spcPct val="0"/>
              </a:spcAft>
              <a:defRPr sz="2400" kern="1200">
                <a:solidFill>
                  <a:schemeClr val="tx1"/>
                </a:solidFill>
                <a:latin typeface="Tahoma" panose="020B0604030504040204" pitchFamily="34" charset="0"/>
                <a:ea typeface="新細明體" panose="02020500000000000000" pitchFamily="18" charset="-120"/>
                <a:cs typeface="+mn-cs"/>
              </a:defRPr>
            </a:lvl5pPr>
            <a:lvl6pPr marL="2286000" algn="l" defTabSz="914400" rtl="0" eaLnBrk="1" latinLnBrk="0" hangingPunct="1">
              <a:defRPr sz="2400" kern="1200">
                <a:solidFill>
                  <a:schemeClr val="tx1"/>
                </a:solidFill>
                <a:latin typeface="Tahoma" panose="020B0604030504040204" pitchFamily="34" charset="0"/>
                <a:ea typeface="新細明體" panose="02020500000000000000" pitchFamily="18" charset="-120"/>
                <a:cs typeface="+mn-cs"/>
              </a:defRPr>
            </a:lvl6pPr>
            <a:lvl7pPr marL="2743200" algn="l" defTabSz="914400" rtl="0" eaLnBrk="1" latinLnBrk="0" hangingPunct="1">
              <a:defRPr sz="2400" kern="1200">
                <a:solidFill>
                  <a:schemeClr val="tx1"/>
                </a:solidFill>
                <a:latin typeface="Tahoma" panose="020B0604030504040204" pitchFamily="34" charset="0"/>
                <a:ea typeface="新細明體" panose="02020500000000000000" pitchFamily="18" charset="-120"/>
                <a:cs typeface="+mn-cs"/>
              </a:defRPr>
            </a:lvl7pPr>
            <a:lvl8pPr marL="3200400" algn="l" defTabSz="914400" rtl="0" eaLnBrk="1" latinLnBrk="0" hangingPunct="1">
              <a:defRPr sz="2400" kern="1200">
                <a:solidFill>
                  <a:schemeClr val="tx1"/>
                </a:solidFill>
                <a:latin typeface="Tahoma" panose="020B0604030504040204" pitchFamily="34" charset="0"/>
                <a:ea typeface="新細明體" panose="02020500000000000000" pitchFamily="18" charset="-120"/>
                <a:cs typeface="+mn-cs"/>
              </a:defRPr>
            </a:lvl8pPr>
            <a:lvl9pPr marL="3657600" algn="l" defTabSz="914400" rtl="0" eaLnBrk="1" latinLnBrk="0" hangingPunct="1">
              <a:defRPr sz="2400" kern="1200">
                <a:solidFill>
                  <a:schemeClr val="tx1"/>
                </a:solidFill>
                <a:latin typeface="Tahoma" panose="020B0604030504040204" pitchFamily="34" charset="0"/>
                <a:ea typeface="新細明體" panose="02020500000000000000" pitchFamily="18" charset="-120"/>
                <a:cs typeface="+mn-cs"/>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E50FCB1-A802-4F25-8CB0-F2ABD5A2894A}" type="slidenum">
              <a:rPr kumimoji="0" lang="zh-TW" altLang="en-US" sz="1400" b="0" i="0" u="none" strike="noStrike" kern="1200" cap="none" spc="0" normalizeH="0" baseline="0" noProof="0" smtClean="0">
                <a:ln>
                  <a:noFill/>
                </a:ln>
                <a:solidFill>
                  <a:prstClr val="black"/>
                </a:solidFill>
                <a:effectLst/>
                <a:uLnTx/>
                <a:uFillTx/>
                <a:latin typeface="Tahoma" panose="020B0604030504040204" pitchFamily="34" charset="0"/>
                <a:ea typeface="新細明體" panose="02020500000000000000"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zh-TW" sz="1400" b="0" i="0" u="none" strike="noStrike" kern="1200" cap="none" spc="0" normalizeH="0" baseline="0" noProof="0">
              <a:ln>
                <a:noFill/>
              </a:ln>
              <a:solidFill>
                <a:prstClr val="black"/>
              </a:solidFill>
              <a:effectLst/>
              <a:uLnTx/>
              <a:uFillTx/>
              <a:latin typeface="Tahoma" panose="020B0604030504040204" pitchFamily="34" charset="0"/>
              <a:ea typeface="新細明體" panose="02020500000000000000" pitchFamily="18" charset="-120"/>
              <a:cs typeface="+mn-cs"/>
            </a:endParaRPr>
          </a:p>
        </p:txBody>
      </p:sp>
      <p:pic>
        <p:nvPicPr>
          <p:cNvPr id="21507" name="Picture 4" descr="magic">
            <a:extLst>
              <a:ext uri="{FF2B5EF4-FFF2-40B4-BE49-F238E27FC236}">
                <a16:creationId xmlns:a16="http://schemas.microsoft.com/office/drawing/2014/main" id="{4D4E0687-5B6A-49DC-ABE6-7D6C27BBC1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0" y="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Rectangle 2">
            <a:extLst>
              <a:ext uri="{FF2B5EF4-FFF2-40B4-BE49-F238E27FC236}">
                <a16:creationId xmlns:a16="http://schemas.microsoft.com/office/drawing/2014/main" id="{A8323748-5DFF-4E5C-88D8-DB539A92801A}"/>
              </a:ext>
            </a:extLst>
          </p:cNvPr>
          <p:cNvSpPr>
            <a:spLocks noGrp="1" noChangeArrowheads="1"/>
          </p:cNvSpPr>
          <p:nvPr>
            <p:ph type="title"/>
          </p:nvPr>
        </p:nvSpPr>
        <p:spPr/>
        <p:txBody>
          <a:bodyPr/>
          <a:lstStyle/>
          <a:p>
            <a:pPr eaLnBrk="1" hangingPunct="1"/>
            <a:r>
              <a:rPr lang="en-US" altLang="zh-TW" sz="3600" dirty="0">
                <a:ea typeface="新細明體" panose="02020500000000000000" pitchFamily="18" charset="-120"/>
              </a:rPr>
              <a:t>VIVT (Virtually Indexed, Virtually Tagged) Cache</a:t>
            </a:r>
          </a:p>
        </p:txBody>
      </p:sp>
      <p:pic>
        <p:nvPicPr>
          <p:cNvPr id="4" name="Picture 3">
            <a:extLst>
              <a:ext uri="{FF2B5EF4-FFF2-40B4-BE49-F238E27FC236}">
                <a16:creationId xmlns:a16="http://schemas.microsoft.com/office/drawing/2014/main" id="{EB53B5BB-AE68-4049-AC4B-E3F915CD6C16}"/>
              </a:ext>
            </a:extLst>
          </p:cNvPr>
          <p:cNvPicPr>
            <a:picLocks noChangeAspect="1"/>
          </p:cNvPicPr>
          <p:nvPr/>
        </p:nvPicPr>
        <p:blipFill>
          <a:blip r:embed="rId4"/>
          <a:stretch>
            <a:fillRect/>
          </a:stretch>
        </p:blipFill>
        <p:spPr>
          <a:xfrm>
            <a:off x="934274" y="1162703"/>
            <a:ext cx="7240010" cy="4686954"/>
          </a:xfrm>
          <a:prstGeom prst="rect">
            <a:avLst/>
          </a:prstGeom>
        </p:spPr>
      </p:pic>
      <p:sp>
        <p:nvSpPr>
          <p:cNvPr id="8" name="Rectangle 3">
            <a:extLst>
              <a:ext uri="{FF2B5EF4-FFF2-40B4-BE49-F238E27FC236}">
                <a16:creationId xmlns:a16="http://schemas.microsoft.com/office/drawing/2014/main" id="{A83E444B-02D9-4DEC-99CA-C3373D2619E9}"/>
              </a:ext>
            </a:extLst>
          </p:cNvPr>
          <p:cNvSpPr txBox="1">
            <a:spLocks noChangeArrowheads="1"/>
          </p:cNvSpPr>
          <p:nvPr/>
        </p:nvSpPr>
        <p:spPr bwMode="auto">
          <a:xfrm>
            <a:off x="7410451" y="953479"/>
            <a:ext cx="4429124" cy="515204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marL="342882" marR="0" lvl="0" indent="-342882" algn="l" defTabSz="914400" rtl="0" eaLnBrk="1" fontAlgn="base" latinLnBrk="0" hangingPunct="1">
              <a:lnSpc>
                <a:spcPct val="100000"/>
              </a:lnSpc>
              <a:spcBef>
                <a:spcPct val="20000"/>
              </a:spcBef>
              <a:spcAft>
                <a:spcPct val="0"/>
              </a:spcAft>
              <a:buClr>
                <a:srgbClr val="0000FF"/>
              </a:buClr>
              <a:buSzPct val="80000"/>
              <a:buFont typeface="Wingdings" pitchFamily="2" charset="2"/>
              <a:buChar char="l"/>
              <a:tabLst/>
              <a:defRPr/>
            </a:pPr>
            <a:r>
              <a:rPr kumimoji="1" lang="en-US" altLang="zh-TW" sz="2400" b="0" i="0" u="none" strike="noStrike" kern="0" cap="none" spc="0" normalizeH="0" baseline="0" noProof="0" dirty="0">
                <a:ln>
                  <a:noFill/>
                </a:ln>
                <a:solidFill>
                  <a:srgbClr val="1F497D"/>
                </a:solidFill>
                <a:effectLst/>
                <a:uLnTx/>
                <a:uFillTx/>
                <a:latin typeface="Calibri" pitchFamily="34" charset="0"/>
                <a:ea typeface="新細明體" pitchFamily="18" charset="-120"/>
                <a:cs typeface="+mn-cs"/>
              </a:rPr>
              <a:t>Fast</a:t>
            </a:r>
          </a:p>
          <a:p>
            <a:pPr marL="742913" marR="0" lvl="1" indent="-285737" algn="l" defTabSz="914400" rtl="0" eaLnBrk="1" fontAlgn="base" latinLnBrk="0" hangingPunct="1">
              <a:lnSpc>
                <a:spcPct val="100000"/>
              </a:lnSpc>
              <a:spcBef>
                <a:spcPct val="20000"/>
              </a:spcBef>
              <a:spcAft>
                <a:spcPct val="0"/>
              </a:spcAft>
              <a:buClr>
                <a:srgbClr val="0000FF"/>
              </a:buClr>
              <a:buSzPct val="90000"/>
              <a:buFont typeface="Arial" charset="0"/>
              <a:buChar char="–"/>
              <a:tabLst/>
              <a:defRPr/>
            </a:pPr>
            <a:r>
              <a:rPr kumimoji="1" lang="en-US" altLang="zh-TW" sz="2000" b="0" i="0" u="none" strike="noStrike" kern="0" cap="none" spc="0" normalizeH="0" baseline="0" noProof="0" dirty="0">
                <a:ln>
                  <a:noFill/>
                </a:ln>
                <a:solidFill>
                  <a:srgbClr val="1F497D"/>
                </a:solidFill>
                <a:effectLst/>
                <a:uLnTx/>
                <a:uFillTx/>
                <a:latin typeface="Calibri" pitchFamily="34" charset="0"/>
                <a:ea typeface="新細明體" pitchFamily="18" charset="-120"/>
                <a:cs typeface="+mn-cs"/>
              </a:rPr>
              <a:t>If hit, no need to go through TLB</a:t>
            </a:r>
          </a:p>
          <a:p>
            <a:pPr marL="342882" marR="0" lvl="0" indent="-342882" algn="l" defTabSz="914400" rtl="0" eaLnBrk="1" fontAlgn="base" latinLnBrk="0" hangingPunct="1">
              <a:lnSpc>
                <a:spcPct val="100000"/>
              </a:lnSpc>
              <a:spcBef>
                <a:spcPct val="20000"/>
              </a:spcBef>
              <a:spcAft>
                <a:spcPct val="0"/>
              </a:spcAft>
              <a:buClr>
                <a:srgbClr val="0000FF"/>
              </a:buClr>
              <a:buSzPct val="80000"/>
              <a:buFont typeface="Wingdings" pitchFamily="2" charset="2"/>
              <a:buChar char="l"/>
              <a:tabLst/>
              <a:defRPr/>
            </a:pPr>
            <a:r>
              <a:rPr kumimoji="1" lang="en-US" altLang="zh-TW" sz="2400" b="0" i="0" u="none" strike="noStrike" kern="0" cap="none" spc="0" normalizeH="0" baseline="0" noProof="0" dirty="0">
                <a:ln>
                  <a:noFill/>
                </a:ln>
                <a:solidFill>
                  <a:srgbClr val="1F497D"/>
                </a:solidFill>
                <a:effectLst/>
                <a:uLnTx/>
                <a:uFillTx/>
                <a:latin typeface="Calibri" pitchFamily="34" charset="0"/>
                <a:ea typeface="新細明體" pitchFamily="18" charset="-120"/>
                <a:cs typeface="+mn-cs"/>
              </a:rPr>
              <a:t>Two issues need to be addressed.</a:t>
            </a:r>
          </a:p>
          <a:p>
            <a:pPr lvl="1" indent="-342882">
              <a:buSzPct val="80000"/>
              <a:buFont typeface="Wingdings" pitchFamily="2" charset="2"/>
              <a:buChar char="l"/>
              <a:defRPr/>
            </a:pPr>
            <a:r>
              <a:rPr kumimoji="0" lang="en-US" sz="2000" b="0" i="0" u="none" strike="noStrike" kern="1200" cap="none" spc="0" normalizeH="0" baseline="0" noProof="0" dirty="0">
                <a:ln>
                  <a:noFill/>
                </a:ln>
                <a:solidFill>
                  <a:prstClr val="black"/>
                </a:solidFill>
                <a:effectLst/>
                <a:uLnTx/>
                <a:uFillTx/>
                <a:ea typeface="Calibri" panose="020F0502020204030204" pitchFamily="34" charset="0"/>
                <a:cs typeface="Calibri" panose="020F0502020204030204" pitchFamily="34" charset="0"/>
              </a:rPr>
              <a:t>Synonym is also called aliasing, which means multiple VAs are mapped to the same PA. Synonyms can be created by using </a:t>
            </a:r>
            <a:r>
              <a:rPr kumimoji="0" lang="en-US" sz="2000" b="0" i="0" u="none" strike="noStrike" kern="1200" cap="none" spc="0" normalizeH="0" baseline="0" noProof="0" dirty="0" err="1">
                <a:ln>
                  <a:noFill/>
                </a:ln>
                <a:solidFill>
                  <a:prstClr val="black"/>
                </a:solidFill>
                <a:effectLst/>
                <a:uLnTx/>
                <a:uFillTx/>
                <a:ea typeface="Calibri" panose="020F0502020204030204" pitchFamily="34" charset="0"/>
                <a:cs typeface="Calibri" panose="020F0502020204030204" pitchFamily="34" charset="0"/>
              </a:rPr>
              <a:t>mmap</a:t>
            </a:r>
            <a:r>
              <a:rPr kumimoji="0" lang="en-US" sz="2000" b="0" i="0" u="none" strike="noStrike" kern="1200" cap="none" spc="0" normalizeH="0" baseline="0" noProof="0" dirty="0">
                <a:ln>
                  <a:noFill/>
                </a:ln>
                <a:solidFill>
                  <a:prstClr val="black"/>
                </a:solidFill>
                <a:effectLst/>
                <a:uLnTx/>
                <a:uFillTx/>
                <a:ea typeface="Calibri" panose="020F0502020204030204" pitchFamily="34" charset="0"/>
                <a:cs typeface="Calibri" panose="020F0502020204030204" pitchFamily="34" charset="0"/>
              </a:rPr>
              <a:t>()</a:t>
            </a:r>
          </a:p>
          <a:p>
            <a:pPr lvl="1" indent="-342882">
              <a:buSzPct val="80000"/>
              <a:buFont typeface="Wingdings" pitchFamily="2" charset="2"/>
              <a:buChar char="l"/>
              <a:defRPr/>
            </a:pPr>
            <a:r>
              <a:rPr kumimoji="0" lang="en-US" sz="2000" b="0" i="0" u="none" strike="noStrike" kern="1200" cap="none" spc="0" normalizeH="0" baseline="0" noProof="0" dirty="0">
                <a:ln>
                  <a:noFill/>
                </a:ln>
                <a:solidFill>
                  <a:prstClr val="black"/>
                </a:solidFill>
                <a:effectLst/>
                <a:uLnTx/>
                <a:uFillTx/>
                <a:ea typeface="Calibri" panose="020F0502020204030204" pitchFamily="34" charset="0"/>
                <a:cs typeface="Calibri" panose="020F0502020204030204" pitchFamily="34" charset="0"/>
              </a:rPr>
              <a:t>Homonym means the same VA maps to multiple PAs. This happens with multitasking.</a:t>
            </a:r>
          </a:p>
          <a:p>
            <a:pPr lvl="1" indent="-342882">
              <a:buSzPct val="80000"/>
              <a:buFont typeface="Wingdings" pitchFamily="2" charset="2"/>
              <a:buChar char="l"/>
              <a:defRPr/>
            </a:pPr>
            <a:r>
              <a:rPr kumimoji="0" lang="en-US" sz="2000" b="0" i="0" u="none" strike="noStrike" kern="1200" cap="none" spc="0" normalizeH="0" baseline="0" noProof="0" dirty="0">
                <a:ln>
                  <a:noFill/>
                </a:ln>
                <a:solidFill>
                  <a:prstClr val="black"/>
                </a:solidFill>
                <a:effectLst/>
                <a:uLnTx/>
                <a:uFillTx/>
                <a:ea typeface="Calibri" panose="020F0502020204030204" pitchFamily="34" charset="0"/>
                <a:cs typeface="Calibri" panose="020F0502020204030204" pitchFamily="34" charset="0"/>
              </a:rPr>
              <a:t>To solve homonyms, flush the cache at context switching or add PID/AID to the tag.</a:t>
            </a:r>
          </a:p>
          <a:p>
            <a:pPr lvl="1" indent="-342882">
              <a:buSzPct val="80000"/>
              <a:buFont typeface="Wingdings" pitchFamily="2" charset="2"/>
              <a:buChar char="l"/>
              <a:defRPr/>
            </a:pPr>
            <a:endParaRPr kumimoji="0" lang="en-US" sz="2000" b="0" i="0" u="none" strike="noStrike" kern="1200" cap="none" spc="0" normalizeH="0" baseline="0" noProof="0" dirty="0">
              <a:ln>
                <a:noFill/>
              </a:ln>
              <a:solidFill>
                <a:prstClr val="black"/>
              </a:solidFill>
              <a:effectLst/>
              <a:uLnTx/>
              <a:uFillTx/>
              <a:ea typeface="Calibri" panose="020F0502020204030204" pitchFamily="34" charset="0"/>
              <a:cs typeface="Calibri" panose="020F0502020204030204" pitchFamily="34" charset="0"/>
            </a:endParaRPr>
          </a:p>
          <a:p>
            <a:pPr marL="742913" marR="0" lvl="1" indent="-285737" algn="l" defTabSz="914400" rtl="0" eaLnBrk="1" fontAlgn="base" latinLnBrk="0" hangingPunct="1">
              <a:lnSpc>
                <a:spcPct val="100000"/>
              </a:lnSpc>
              <a:spcBef>
                <a:spcPct val="20000"/>
              </a:spcBef>
              <a:spcAft>
                <a:spcPct val="0"/>
              </a:spcAft>
              <a:buClr>
                <a:srgbClr val="0000FF"/>
              </a:buClr>
              <a:buSzPct val="90000"/>
              <a:buFont typeface="Arial" charset="0"/>
              <a:buChar char="–"/>
              <a:tabLst/>
              <a:defRPr/>
            </a:pPr>
            <a:endParaRPr kumimoji="1" lang="en-US" altLang="zh-TW" sz="1867" b="0" i="0" u="none" strike="noStrike" kern="0" cap="none" spc="0" normalizeH="0" baseline="0" noProof="0" dirty="0">
              <a:ln>
                <a:noFill/>
              </a:ln>
              <a:solidFill>
                <a:srgbClr val="1F497D"/>
              </a:solidFill>
              <a:effectLst/>
              <a:uLnTx/>
              <a:uFillTx/>
              <a:latin typeface="Calibri" pitchFamily="34" charset="0"/>
              <a:ea typeface="新細明體" pitchFamily="18" charset="-120"/>
              <a:cs typeface="+mn-cs"/>
            </a:endParaRPr>
          </a:p>
        </p:txBody>
      </p:sp>
    </p:spTree>
    <p:extLst>
      <p:ext uri="{BB962C8B-B14F-4D97-AF65-F5344CB8AC3E}">
        <p14:creationId xmlns:p14="http://schemas.microsoft.com/office/powerpoint/2010/main" val="5675260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投影片編號版面配置區 5">
            <a:extLst>
              <a:ext uri="{FF2B5EF4-FFF2-40B4-BE49-F238E27FC236}">
                <a16:creationId xmlns:a16="http://schemas.microsoft.com/office/drawing/2014/main" id="{58DE18AD-05B8-449F-8976-0C91A6FC7236}"/>
              </a:ext>
            </a:extLst>
          </p:cNvPr>
          <p:cNvSpPr>
            <a:spLocks noGrp="1"/>
          </p:cNvSpPr>
          <p:nvPr>
            <p:ph type="sldNum" sz="quarter" idx="12"/>
          </p:nvPr>
        </p:nvSpPr>
        <p:spPr bwMode="auto">
          <a:xfrm>
            <a:off x="6781800" y="6324600"/>
            <a:ext cx="19050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latin typeface="Tahoma" panose="020B0604030504040204" pitchFamily="34" charset="0"/>
                <a:ea typeface="新細明體" panose="02020500000000000000" pitchFamily="18" charset="-120"/>
                <a:cs typeface="+mn-cs"/>
              </a:defRPr>
            </a:lvl1pPr>
            <a:lvl2pPr marL="457200" algn="l" rtl="0" eaLnBrk="0" fontAlgn="base" hangingPunct="0">
              <a:spcBef>
                <a:spcPct val="0"/>
              </a:spcBef>
              <a:spcAft>
                <a:spcPct val="0"/>
              </a:spcAft>
              <a:defRPr sz="2400" kern="1200">
                <a:solidFill>
                  <a:schemeClr val="tx1"/>
                </a:solidFill>
                <a:latin typeface="Tahoma" panose="020B0604030504040204" pitchFamily="34" charset="0"/>
                <a:ea typeface="新細明體" panose="02020500000000000000" pitchFamily="18" charset="-120"/>
                <a:cs typeface="+mn-cs"/>
              </a:defRPr>
            </a:lvl2pPr>
            <a:lvl3pPr marL="914400" algn="l" rtl="0" eaLnBrk="0" fontAlgn="base" hangingPunct="0">
              <a:spcBef>
                <a:spcPct val="0"/>
              </a:spcBef>
              <a:spcAft>
                <a:spcPct val="0"/>
              </a:spcAft>
              <a:defRPr sz="2400" kern="1200">
                <a:solidFill>
                  <a:schemeClr val="tx1"/>
                </a:solidFill>
                <a:latin typeface="Tahoma" panose="020B0604030504040204" pitchFamily="34" charset="0"/>
                <a:ea typeface="新細明體" panose="02020500000000000000" pitchFamily="18" charset="-120"/>
                <a:cs typeface="+mn-cs"/>
              </a:defRPr>
            </a:lvl3pPr>
            <a:lvl4pPr marL="1371600" algn="l" rtl="0" eaLnBrk="0" fontAlgn="base" hangingPunct="0">
              <a:spcBef>
                <a:spcPct val="0"/>
              </a:spcBef>
              <a:spcAft>
                <a:spcPct val="0"/>
              </a:spcAft>
              <a:defRPr sz="2400" kern="1200">
                <a:solidFill>
                  <a:schemeClr val="tx1"/>
                </a:solidFill>
                <a:latin typeface="Tahoma" panose="020B0604030504040204" pitchFamily="34" charset="0"/>
                <a:ea typeface="新細明體" panose="02020500000000000000" pitchFamily="18" charset="-120"/>
                <a:cs typeface="+mn-cs"/>
              </a:defRPr>
            </a:lvl4pPr>
            <a:lvl5pPr marL="1828800" algn="l" rtl="0" eaLnBrk="0" fontAlgn="base" hangingPunct="0">
              <a:spcBef>
                <a:spcPct val="0"/>
              </a:spcBef>
              <a:spcAft>
                <a:spcPct val="0"/>
              </a:spcAft>
              <a:defRPr sz="2400" kern="1200">
                <a:solidFill>
                  <a:schemeClr val="tx1"/>
                </a:solidFill>
                <a:latin typeface="Tahoma" panose="020B0604030504040204" pitchFamily="34" charset="0"/>
                <a:ea typeface="新細明體" panose="02020500000000000000" pitchFamily="18" charset="-120"/>
                <a:cs typeface="+mn-cs"/>
              </a:defRPr>
            </a:lvl5pPr>
            <a:lvl6pPr marL="2286000" algn="l" defTabSz="914400" rtl="0" eaLnBrk="1" latinLnBrk="0" hangingPunct="1">
              <a:defRPr sz="2400" kern="1200">
                <a:solidFill>
                  <a:schemeClr val="tx1"/>
                </a:solidFill>
                <a:latin typeface="Tahoma" panose="020B0604030504040204" pitchFamily="34" charset="0"/>
                <a:ea typeface="新細明體" panose="02020500000000000000" pitchFamily="18" charset="-120"/>
                <a:cs typeface="+mn-cs"/>
              </a:defRPr>
            </a:lvl6pPr>
            <a:lvl7pPr marL="2743200" algn="l" defTabSz="914400" rtl="0" eaLnBrk="1" latinLnBrk="0" hangingPunct="1">
              <a:defRPr sz="2400" kern="1200">
                <a:solidFill>
                  <a:schemeClr val="tx1"/>
                </a:solidFill>
                <a:latin typeface="Tahoma" panose="020B0604030504040204" pitchFamily="34" charset="0"/>
                <a:ea typeface="新細明體" panose="02020500000000000000" pitchFamily="18" charset="-120"/>
                <a:cs typeface="+mn-cs"/>
              </a:defRPr>
            </a:lvl7pPr>
            <a:lvl8pPr marL="3200400" algn="l" defTabSz="914400" rtl="0" eaLnBrk="1" latinLnBrk="0" hangingPunct="1">
              <a:defRPr sz="2400" kern="1200">
                <a:solidFill>
                  <a:schemeClr val="tx1"/>
                </a:solidFill>
                <a:latin typeface="Tahoma" panose="020B0604030504040204" pitchFamily="34" charset="0"/>
                <a:ea typeface="新細明體" panose="02020500000000000000" pitchFamily="18" charset="-120"/>
                <a:cs typeface="+mn-cs"/>
              </a:defRPr>
            </a:lvl8pPr>
            <a:lvl9pPr marL="3657600" algn="l" defTabSz="914400" rtl="0" eaLnBrk="1" latinLnBrk="0" hangingPunct="1">
              <a:defRPr sz="2400" kern="1200">
                <a:solidFill>
                  <a:schemeClr val="tx1"/>
                </a:solidFill>
                <a:latin typeface="Tahoma" panose="020B0604030504040204" pitchFamily="34" charset="0"/>
                <a:ea typeface="新細明體" panose="02020500000000000000" pitchFamily="18" charset="-120"/>
                <a:cs typeface="+mn-cs"/>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E50FCB1-A802-4F25-8CB0-F2ABD5A2894A}" type="slidenum">
              <a:rPr kumimoji="0" lang="zh-TW" altLang="en-US" sz="1400" b="0" i="0" u="none" strike="noStrike" kern="1200" cap="none" spc="0" normalizeH="0" baseline="0" noProof="0" smtClean="0">
                <a:ln>
                  <a:noFill/>
                </a:ln>
                <a:solidFill>
                  <a:prstClr val="black"/>
                </a:solidFill>
                <a:effectLst/>
                <a:uLnTx/>
                <a:uFillTx/>
                <a:latin typeface="Tahoma" panose="020B0604030504040204" pitchFamily="34" charset="0"/>
                <a:ea typeface="新細明體" panose="02020500000000000000"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zh-TW" sz="1400" b="0" i="0" u="none" strike="noStrike" kern="1200" cap="none" spc="0" normalizeH="0" baseline="0" noProof="0">
              <a:ln>
                <a:noFill/>
              </a:ln>
              <a:solidFill>
                <a:prstClr val="black"/>
              </a:solidFill>
              <a:effectLst/>
              <a:uLnTx/>
              <a:uFillTx/>
              <a:latin typeface="Tahoma" panose="020B0604030504040204" pitchFamily="34" charset="0"/>
              <a:ea typeface="新細明體" panose="02020500000000000000" pitchFamily="18" charset="-120"/>
              <a:cs typeface="+mn-cs"/>
            </a:endParaRPr>
          </a:p>
        </p:txBody>
      </p:sp>
      <p:pic>
        <p:nvPicPr>
          <p:cNvPr id="21507" name="Picture 4" descr="magic">
            <a:extLst>
              <a:ext uri="{FF2B5EF4-FFF2-40B4-BE49-F238E27FC236}">
                <a16:creationId xmlns:a16="http://schemas.microsoft.com/office/drawing/2014/main" id="{4D4E0687-5B6A-49DC-ABE6-7D6C27BBC1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0" y="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Rectangle 2">
            <a:extLst>
              <a:ext uri="{FF2B5EF4-FFF2-40B4-BE49-F238E27FC236}">
                <a16:creationId xmlns:a16="http://schemas.microsoft.com/office/drawing/2014/main" id="{A8323748-5DFF-4E5C-88D8-DB539A92801A}"/>
              </a:ext>
            </a:extLst>
          </p:cNvPr>
          <p:cNvSpPr>
            <a:spLocks noGrp="1" noChangeArrowheads="1"/>
          </p:cNvSpPr>
          <p:nvPr>
            <p:ph type="title"/>
          </p:nvPr>
        </p:nvSpPr>
        <p:spPr/>
        <p:txBody>
          <a:bodyPr/>
          <a:lstStyle/>
          <a:p>
            <a:pPr eaLnBrk="1" hangingPunct="1"/>
            <a:r>
              <a:rPr lang="en-US" altLang="zh-TW" sz="3600" dirty="0">
                <a:ea typeface="新細明體" panose="02020500000000000000" pitchFamily="18" charset="-120"/>
              </a:rPr>
              <a:t>VIPT (Virtually Indexed, Physically Tagged) Cache</a:t>
            </a:r>
          </a:p>
        </p:txBody>
      </p:sp>
      <p:pic>
        <p:nvPicPr>
          <p:cNvPr id="3" name="Picture 2">
            <a:extLst>
              <a:ext uri="{FF2B5EF4-FFF2-40B4-BE49-F238E27FC236}">
                <a16:creationId xmlns:a16="http://schemas.microsoft.com/office/drawing/2014/main" id="{152DA784-0D00-4A38-A6C5-F126C3269C87}"/>
              </a:ext>
            </a:extLst>
          </p:cNvPr>
          <p:cNvPicPr>
            <a:picLocks noChangeAspect="1"/>
          </p:cNvPicPr>
          <p:nvPr/>
        </p:nvPicPr>
        <p:blipFill>
          <a:blip r:embed="rId4"/>
          <a:stretch>
            <a:fillRect/>
          </a:stretch>
        </p:blipFill>
        <p:spPr>
          <a:xfrm>
            <a:off x="574824" y="1051368"/>
            <a:ext cx="7916380" cy="5058481"/>
          </a:xfrm>
          <a:prstGeom prst="rect">
            <a:avLst/>
          </a:prstGeom>
        </p:spPr>
      </p:pic>
      <p:sp>
        <p:nvSpPr>
          <p:cNvPr id="8" name="Rectangle 3">
            <a:extLst>
              <a:ext uri="{FF2B5EF4-FFF2-40B4-BE49-F238E27FC236}">
                <a16:creationId xmlns:a16="http://schemas.microsoft.com/office/drawing/2014/main" id="{FD9A9969-16A2-4C11-89CC-6E16D148CF81}"/>
              </a:ext>
            </a:extLst>
          </p:cNvPr>
          <p:cNvSpPr txBox="1">
            <a:spLocks noChangeArrowheads="1"/>
          </p:cNvSpPr>
          <p:nvPr/>
        </p:nvSpPr>
        <p:spPr bwMode="auto">
          <a:xfrm>
            <a:off x="8240233" y="1219200"/>
            <a:ext cx="3541381" cy="510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marL="342882" marR="0" lvl="0" indent="-342882" algn="l" defTabSz="914400" rtl="0" eaLnBrk="1" fontAlgn="base" latinLnBrk="0" hangingPunct="1">
              <a:lnSpc>
                <a:spcPct val="100000"/>
              </a:lnSpc>
              <a:spcBef>
                <a:spcPct val="20000"/>
              </a:spcBef>
              <a:spcAft>
                <a:spcPct val="0"/>
              </a:spcAft>
              <a:buClr>
                <a:srgbClr val="0000FF"/>
              </a:buClr>
              <a:buSzPct val="80000"/>
              <a:buFont typeface="Wingdings" pitchFamily="2" charset="2"/>
              <a:buChar char="l"/>
              <a:tabLst/>
              <a:defRPr/>
            </a:pPr>
            <a:r>
              <a:rPr kumimoji="1" lang="en-US" altLang="zh-TW" sz="2400" b="0" i="0" u="none" strike="noStrike" kern="0" cap="none" spc="0" normalizeH="0" baseline="0" noProof="0" dirty="0">
                <a:ln>
                  <a:noFill/>
                </a:ln>
                <a:solidFill>
                  <a:srgbClr val="1F497D"/>
                </a:solidFill>
                <a:effectLst/>
                <a:uLnTx/>
                <a:uFillTx/>
                <a:latin typeface="Calibri" pitchFamily="34" charset="0"/>
                <a:ea typeface="新細明體" pitchFamily="18" charset="-120"/>
                <a:cs typeface="+mn-cs"/>
              </a:rPr>
              <a:t>Cache size will be limited to multiple of page sizes, because the number of entries in a set is limited by the page size. </a:t>
            </a:r>
          </a:p>
          <a:p>
            <a:pPr marL="342882" marR="0" lvl="0" indent="-342882" algn="l" defTabSz="914400" rtl="0" eaLnBrk="1" fontAlgn="base" latinLnBrk="0" hangingPunct="1">
              <a:lnSpc>
                <a:spcPct val="100000"/>
              </a:lnSpc>
              <a:spcBef>
                <a:spcPct val="20000"/>
              </a:spcBef>
              <a:spcAft>
                <a:spcPct val="0"/>
              </a:spcAft>
              <a:buClr>
                <a:srgbClr val="0000FF"/>
              </a:buClr>
              <a:buSzPct val="80000"/>
              <a:buFont typeface="Wingdings" pitchFamily="2" charset="2"/>
              <a:buChar char="l"/>
              <a:tabLst/>
              <a:defRPr/>
            </a:pPr>
            <a:r>
              <a:rPr kumimoji="1" lang="en-US" altLang="zh-TW" sz="2400" b="0" i="0" u="none" strike="noStrike" kern="0" cap="none" spc="0" normalizeH="0" baseline="0" noProof="0" dirty="0">
                <a:ln>
                  <a:noFill/>
                </a:ln>
                <a:solidFill>
                  <a:srgbClr val="1F497D"/>
                </a:solidFill>
                <a:effectLst/>
                <a:uLnTx/>
                <a:uFillTx/>
                <a:latin typeface="Calibri" pitchFamily="34" charset="0"/>
                <a:ea typeface="新細明體" pitchFamily="18" charset="-120"/>
                <a:cs typeface="+mn-cs"/>
              </a:rPr>
              <a:t>For example, 4-way set associative cache will have a size limitations of 4 pages (16KB), 8-way will have a size 8 pages (32KB).</a:t>
            </a:r>
          </a:p>
        </p:txBody>
      </p:sp>
    </p:spTree>
    <p:extLst>
      <p:ext uri="{BB962C8B-B14F-4D97-AF65-F5344CB8AC3E}">
        <p14:creationId xmlns:p14="http://schemas.microsoft.com/office/powerpoint/2010/main" val="7044364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A8F79EBA-7F32-4E34-9727-34797F4E9F22}"/>
              </a:ext>
            </a:extLst>
          </p:cNvPr>
          <p:cNvSpPr>
            <a:spLocks noGrp="1" noRot="1" noChangeArrowheads="1"/>
          </p:cNvSpPr>
          <p:nvPr>
            <p:ph type="title"/>
          </p:nvPr>
        </p:nvSpPr>
        <p:spPr>
          <a:xfrm>
            <a:off x="1840706" y="-111868"/>
            <a:ext cx="8510588" cy="1143000"/>
          </a:xfrm>
        </p:spPr>
        <p:txBody>
          <a:bodyPr/>
          <a:lstStyle/>
          <a:p>
            <a:pPr eaLnBrk="1" hangingPunct="1">
              <a:defRPr/>
            </a:pPr>
            <a:r>
              <a:rPr lang="en-US" dirty="0">
                <a:latin typeface="Times New Roman" pitchFamily="18" charset="0"/>
                <a:cs typeface="Times New Roman" pitchFamily="18" charset="0"/>
              </a:rPr>
              <a:t>System Virtual Machines</a:t>
            </a:r>
          </a:p>
        </p:txBody>
      </p:sp>
      <p:sp>
        <p:nvSpPr>
          <p:cNvPr id="18435" name="Rounded Rectangle 1">
            <a:extLst>
              <a:ext uri="{FF2B5EF4-FFF2-40B4-BE49-F238E27FC236}">
                <a16:creationId xmlns:a16="http://schemas.microsoft.com/office/drawing/2014/main" id="{C3AFA43C-EB62-4325-BF02-7CF0090E4841}"/>
              </a:ext>
            </a:extLst>
          </p:cNvPr>
          <p:cNvSpPr>
            <a:spLocks noChangeArrowheads="1"/>
          </p:cNvSpPr>
          <p:nvPr/>
        </p:nvSpPr>
        <p:spPr bwMode="auto">
          <a:xfrm>
            <a:off x="6707221" y="4505732"/>
            <a:ext cx="5137825" cy="762000"/>
          </a:xfrm>
          <a:prstGeom prst="roundRect">
            <a:avLst>
              <a:gd name="adj" fmla="val 16667"/>
            </a:avLst>
          </a:prstGeom>
          <a:solidFill>
            <a:schemeClr val="accent1"/>
          </a:solidFill>
          <a:ln w="9525" algn="ctr">
            <a:solidFill>
              <a:schemeClr val="tx1"/>
            </a:solidFill>
            <a:round/>
            <a:headEnd/>
            <a:tailEnd/>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TW" sz="2800" dirty="0">
                <a:ea typeface="新細明體" panose="02020500000000000000" pitchFamily="18" charset="-120"/>
              </a:rPr>
              <a:t>IA-32/IA-64 Physical Machine</a:t>
            </a:r>
            <a:endParaRPr lang="zh-TW" altLang="en-US" sz="2800" dirty="0">
              <a:ea typeface="新細明體" panose="02020500000000000000" pitchFamily="18" charset="-120"/>
            </a:endParaRPr>
          </a:p>
        </p:txBody>
      </p:sp>
      <p:sp>
        <p:nvSpPr>
          <p:cNvPr id="4" name="Trapezoid 3">
            <a:extLst>
              <a:ext uri="{FF2B5EF4-FFF2-40B4-BE49-F238E27FC236}">
                <a16:creationId xmlns:a16="http://schemas.microsoft.com/office/drawing/2014/main" id="{41B53987-A125-4875-86B4-B0351947D392}"/>
              </a:ext>
            </a:extLst>
          </p:cNvPr>
          <p:cNvSpPr/>
          <p:nvPr/>
        </p:nvSpPr>
        <p:spPr bwMode="auto">
          <a:xfrm rot="10800000">
            <a:off x="6859621" y="3829456"/>
            <a:ext cx="4648200" cy="625475"/>
          </a:xfrm>
          <a:prstGeom prst="trapezoid">
            <a:avLst/>
          </a:prstGeom>
          <a:solidFill>
            <a:srgbClr val="FF0000"/>
          </a:solidFill>
          <a:ln w="9525" cap="flat" cmpd="sng" algn="ctr">
            <a:solidFill>
              <a:schemeClr val="tx1"/>
            </a:solidFill>
            <a:prstDash val="solid"/>
            <a:round/>
            <a:headEnd type="none" w="med" len="med"/>
            <a:tailEnd type="none" w="med" len="me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TW" altLang="en-US">
              <a:ea typeface="新細明體" panose="02020500000000000000" pitchFamily="18" charset="-120"/>
            </a:endParaRPr>
          </a:p>
        </p:txBody>
      </p:sp>
      <p:sp>
        <p:nvSpPr>
          <p:cNvPr id="18437" name="TextBox 4">
            <a:extLst>
              <a:ext uri="{FF2B5EF4-FFF2-40B4-BE49-F238E27FC236}">
                <a16:creationId xmlns:a16="http://schemas.microsoft.com/office/drawing/2014/main" id="{8F6C0BD0-D590-452D-83D1-9B9DF9EA3BD3}"/>
              </a:ext>
            </a:extLst>
          </p:cNvPr>
          <p:cNvSpPr txBox="1">
            <a:spLocks noChangeArrowheads="1"/>
          </p:cNvSpPr>
          <p:nvPr/>
        </p:nvSpPr>
        <p:spPr bwMode="auto">
          <a:xfrm>
            <a:off x="7469222" y="3880256"/>
            <a:ext cx="3262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TW" sz="2800">
                <a:ea typeface="新細明體" panose="02020500000000000000" pitchFamily="18" charset="-120"/>
              </a:rPr>
              <a:t>VMM or Hypervisor</a:t>
            </a:r>
            <a:endParaRPr lang="zh-TW" altLang="en-US" sz="2800">
              <a:ea typeface="新細明體" panose="02020500000000000000" pitchFamily="18" charset="-120"/>
            </a:endParaRPr>
          </a:p>
        </p:txBody>
      </p:sp>
      <p:sp>
        <p:nvSpPr>
          <p:cNvPr id="6" name="Rounded Rectangle 5">
            <a:extLst>
              <a:ext uri="{FF2B5EF4-FFF2-40B4-BE49-F238E27FC236}">
                <a16:creationId xmlns:a16="http://schemas.microsoft.com/office/drawing/2014/main" id="{15529758-AF89-4109-A06F-38C28EE1EAB1}"/>
              </a:ext>
            </a:extLst>
          </p:cNvPr>
          <p:cNvSpPr/>
          <p:nvPr/>
        </p:nvSpPr>
        <p:spPr bwMode="auto">
          <a:xfrm>
            <a:off x="6554821" y="1695855"/>
            <a:ext cx="2546350" cy="2133600"/>
          </a:xfrm>
          <a:prstGeom prst="roundRect">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a:lstStyle/>
          <a:p>
            <a:pPr>
              <a:defRPr/>
            </a:pPr>
            <a:r>
              <a:rPr lang="en-US" altLang="zh-TW" sz="2400" dirty="0">
                <a:solidFill>
                  <a:schemeClr val="bg1"/>
                </a:solidFill>
                <a:latin typeface="Arial" charset="0"/>
                <a:ea typeface="新細明體" charset="-120"/>
              </a:rPr>
              <a:t>Windows Apps</a:t>
            </a:r>
            <a:endParaRPr lang="zh-TW" altLang="en-US" sz="2400" dirty="0">
              <a:solidFill>
                <a:schemeClr val="bg1"/>
              </a:solidFill>
              <a:latin typeface="Arial" charset="0"/>
              <a:ea typeface="新細明體" charset="-120"/>
            </a:endParaRPr>
          </a:p>
        </p:txBody>
      </p:sp>
      <p:sp>
        <p:nvSpPr>
          <p:cNvPr id="7" name="Rounded Rectangle 6">
            <a:extLst>
              <a:ext uri="{FF2B5EF4-FFF2-40B4-BE49-F238E27FC236}">
                <a16:creationId xmlns:a16="http://schemas.microsoft.com/office/drawing/2014/main" id="{5B700114-B60F-4EAC-BE49-D6C4A1609152}"/>
              </a:ext>
            </a:extLst>
          </p:cNvPr>
          <p:cNvSpPr/>
          <p:nvPr/>
        </p:nvSpPr>
        <p:spPr bwMode="auto">
          <a:xfrm>
            <a:off x="6707221" y="2915055"/>
            <a:ext cx="1447800" cy="914400"/>
          </a:xfrm>
          <a:prstGeom prst="roundRect">
            <a:avLst/>
          </a:prstGeom>
          <a:solidFill>
            <a:schemeClr val="bg1">
              <a:lumMod val="60000"/>
              <a:lumOff val="40000"/>
            </a:schemeClr>
          </a:solidFill>
          <a:ln w="9525" cap="flat" cmpd="sng" algn="ctr">
            <a:solidFill>
              <a:srgbClr val="FF0000"/>
            </a:solidFill>
            <a:prstDash val="solid"/>
            <a:round/>
            <a:headEnd type="none" w="med" len="med"/>
            <a:tailEnd type="none" w="med" len="med"/>
          </a:ln>
          <a:effectLst/>
        </p:spPr>
        <p:txBody>
          <a:bodyPr/>
          <a:lstStyle/>
          <a:p>
            <a:pPr algn="ctr">
              <a:defRPr/>
            </a:pPr>
            <a:r>
              <a:rPr lang="en-US" altLang="zh-TW">
                <a:latin typeface="Arial" charset="0"/>
                <a:ea typeface="新細明體" charset="-120"/>
              </a:rPr>
              <a:t>MS Windows</a:t>
            </a:r>
            <a:endParaRPr lang="zh-TW" altLang="en-US">
              <a:latin typeface="Arial" charset="0"/>
              <a:ea typeface="新細明體" charset="-120"/>
            </a:endParaRPr>
          </a:p>
        </p:txBody>
      </p:sp>
      <p:sp>
        <p:nvSpPr>
          <p:cNvPr id="18440" name="Rounded Rectangle 11">
            <a:extLst>
              <a:ext uri="{FF2B5EF4-FFF2-40B4-BE49-F238E27FC236}">
                <a16:creationId xmlns:a16="http://schemas.microsoft.com/office/drawing/2014/main" id="{ECFD1D6D-575A-43C2-8E84-D3CAA7522EB3}"/>
              </a:ext>
            </a:extLst>
          </p:cNvPr>
          <p:cNvSpPr>
            <a:spLocks noChangeArrowheads="1"/>
          </p:cNvSpPr>
          <p:nvPr/>
        </p:nvSpPr>
        <p:spPr bwMode="auto">
          <a:xfrm>
            <a:off x="9253572" y="1686330"/>
            <a:ext cx="2544763" cy="2133600"/>
          </a:xfrm>
          <a:prstGeom prst="roundRect">
            <a:avLst>
              <a:gd name="adj" fmla="val 16667"/>
            </a:avLst>
          </a:prstGeom>
          <a:solidFill>
            <a:srgbClr val="FFFF00"/>
          </a:solidFill>
          <a:ln w="9525" algn="ctr">
            <a:solidFill>
              <a:schemeClr val="tx1"/>
            </a:solidFill>
            <a:round/>
            <a:headEnd/>
            <a:tailEnd/>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TW" sz="2400" dirty="0">
                <a:solidFill>
                  <a:srgbClr val="FF0000"/>
                </a:solidFill>
                <a:ea typeface="新細明體" panose="02020500000000000000" pitchFamily="18" charset="-120"/>
              </a:rPr>
              <a:t>Linux Apps</a:t>
            </a:r>
            <a:endParaRPr lang="zh-TW" altLang="en-US" sz="2400" dirty="0">
              <a:solidFill>
                <a:srgbClr val="FF0000"/>
              </a:solidFill>
              <a:ea typeface="新細明體" panose="02020500000000000000" pitchFamily="18" charset="-120"/>
            </a:endParaRPr>
          </a:p>
        </p:txBody>
      </p:sp>
      <p:sp>
        <p:nvSpPr>
          <p:cNvPr id="13" name="Rounded Rectangle 12">
            <a:extLst>
              <a:ext uri="{FF2B5EF4-FFF2-40B4-BE49-F238E27FC236}">
                <a16:creationId xmlns:a16="http://schemas.microsoft.com/office/drawing/2014/main" id="{DE02B8D7-4D00-44E2-A4CB-1A1B119446A8}"/>
              </a:ext>
            </a:extLst>
          </p:cNvPr>
          <p:cNvSpPr/>
          <p:nvPr/>
        </p:nvSpPr>
        <p:spPr bwMode="auto">
          <a:xfrm>
            <a:off x="10212421" y="2905530"/>
            <a:ext cx="1447800" cy="914400"/>
          </a:xfrm>
          <a:prstGeom prst="roundRect">
            <a:avLst/>
          </a:prstGeom>
          <a:solidFill>
            <a:schemeClr val="bg1">
              <a:lumMod val="60000"/>
              <a:lumOff val="40000"/>
            </a:schemeClr>
          </a:solidFill>
          <a:ln w="9525" cap="flat" cmpd="sng" algn="ctr">
            <a:solidFill>
              <a:srgbClr val="FF0000"/>
            </a:solidFill>
            <a:prstDash val="solid"/>
            <a:round/>
            <a:headEnd type="none" w="med" len="med"/>
            <a:tailEnd type="none" w="med" len="med"/>
          </a:ln>
          <a:effectLst/>
        </p:spPr>
        <p:txBody>
          <a:bodyPr/>
          <a:lstStyle/>
          <a:p>
            <a:pPr algn="ctr">
              <a:defRPr/>
            </a:pPr>
            <a:r>
              <a:rPr lang="en-US" altLang="zh-TW">
                <a:latin typeface="Arial" charset="0"/>
                <a:ea typeface="新細明體" charset="-120"/>
              </a:rPr>
              <a:t>Linux </a:t>
            </a:r>
            <a:endParaRPr lang="zh-TW" altLang="en-US">
              <a:latin typeface="Arial" charset="0"/>
              <a:ea typeface="新細明體" charset="-120"/>
            </a:endParaRPr>
          </a:p>
        </p:txBody>
      </p:sp>
      <p:sp>
        <p:nvSpPr>
          <p:cNvPr id="10" name="Rectangle 1027">
            <a:extLst>
              <a:ext uri="{FF2B5EF4-FFF2-40B4-BE49-F238E27FC236}">
                <a16:creationId xmlns:a16="http://schemas.microsoft.com/office/drawing/2014/main" id="{9F322FDE-B1A5-43A7-9708-2C6F7457763C}"/>
              </a:ext>
            </a:extLst>
          </p:cNvPr>
          <p:cNvSpPr txBox="1">
            <a:spLocks noChangeArrowheads="1"/>
          </p:cNvSpPr>
          <p:nvPr/>
        </p:nvSpPr>
        <p:spPr bwMode="auto">
          <a:xfrm>
            <a:off x="154110" y="1809344"/>
            <a:ext cx="6342060" cy="374514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defRPr/>
            </a:pPr>
            <a:r>
              <a:rPr lang="en-US" altLang="zh-TW" sz="3200" kern="0" dirty="0">
                <a:ea typeface="新細明體" panose="02020500000000000000" pitchFamily="18" charset="-120"/>
              </a:rPr>
              <a:t>Virtual Machines</a:t>
            </a:r>
          </a:p>
          <a:p>
            <a:pPr marL="0" indent="0">
              <a:buNone/>
              <a:defRPr/>
            </a:pPr>
            <a:r>
              <a:rPr lang="en-US" altLang="zh-TW" sz="2400" kern="0" dirty="0">
                <a:ea typeface="新細明體" panose="02020500000000000000" pitchFamily="18" charset="-120"/>
              </a:rPr>
              <a:t>Prior to Virtual Machines, a computer system runs one OS at a time (for example, Unix or Windows, or Solaris). After adding a layer of software such as the VMM (Virtual Machine Monitor) or the hypervisor, a computer system can run multiple guest OS (called guest machines) at the same time.  </a:t>
            </a:r>
          </a:p>
          <a:p>
            <a:pPr marL="0" indent="0">
              <a:buNone/>
              <a:defRPr/>
            </a:pPr>
            <a:r>
              <a:rPr lang="en-US" altLang="zh-TW" sz="2400" kern="0" dirty="0">
                <a:ea typeface="新細明體" panose="02020500000000000000" pitchFamily="18" charset="-120"/>
              </a:rPr>
              <a:t> </a:t>
            </a:r>
          </a:p>
          <a:p>
            <a:pPr>
              <a:defRPr/>
            </a:pPr>
            <a:endParaRPr lang="en-US" altLang="zh-TW" sz="2400" kern="0" dirty="0">
              <a:ea typeface="新細明體" panose="02020500000000000000" pitchFamily="18" charset="-12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日期版面配置區 3">
            <a:extLst>
              <a:ext uri="{FF2B5EF4-FFF2-40B4-BE49-F238E27FC236}">
                <a16:creationId xmlns:a16="http://schemas.microsoft.com/office/drawing/2014/main" id="{A2CC6F48-DD21-408D-8EF2-88C8E00D6424}"/>
              </a:ext>
            </a:extLst>
          </p:cNvPr>
          <p:cNvSpPr>
            <a:spLocks noGrp="1"/>
          </p:cNvSpPr>
          <p:nvPr>
            <p:ph type="dt" sz="quarter" idx="10"/>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spcBef>
                <a:spcPct val="20000"/>
              </a:spcBef>
              <a:buClr>
                <a:schemeClr val="tx1"/>
              </a:buClr>
              <a:buSzPct val="70000"/>
              <a:buFont typeface="Wingdings" panose="05000000000000000000" pitchFamily="2" charset="2"/>
              <a:buChar char="q"/>
              <a:defRPr sz="2800" b="1">
                <a:solidFill>
                  <a:schemeClr val="tx1"/>
                </a:solidFill>
                <a:latin typeface="Arial" panose="020B0604020202020204" pitchFamily="34" charset="0"/>
              </a:defRPr>
            </a:lvl1pPr>
            <a:lvl2pPr marL="742950" indent="-285750" defTabSz="958850">
              <a:spcBef>
                <a:spcPct val="20000"/>
              </a:spcBef>
              <a:buClr>
                <a:schemeClr val="tx1"/>
              </a:buClr>
              <a:buSzPct val="65000"/>
              <a:buChar char="•"/>
              <a:defRPr sz="2500">
                <a:solidFill>
                  <a:schemeClr val="tx1"/>
                </a:solidFill>
                <a:latin typeface="Arial" panose="020B0604020202020204" pitchFamily="34" charset="0"/>
              </a:defRPr>
            </a:lvl2pPr>
            <a:lvl3pPr marL="1143000" indent="-228600" defTabSz="958850">
              <a:spcBef>
                <a:spcPct val="20000"/>
              </a:spcBef>
              <a:buClr>
                <a:schemeClr val="tx1"/>
              </a:buClr>
              <a:buSzPct val="65000"/>
              <a:buFont typeface="Wingdings" panose="05000000000000000000" pitchFamily="2" charset="2"/>
              <a:buChar char="•"/>
              <a:defRPr sz="2500">
                <a:solidFill>
                  <a:schemeClr val="tx1"/>
                </a:solidFill>
                <a:latin typeface="Arial" panose="020B0604020202020204" pitchFamily="34" charset="0"/>
              </a:defRPr>
            </a:lvl3pPr>
            <a:lvl4pPr marL="1600200" indent="-228600" defTabSz="958850">
              <a:spcBef>
                <a:spcPct val="20000"/>
              </a:spcBef>
              <a:buClr>
                <a:schemeClr val="tx2"/>
              </a:buClr>
              <a:buSzPct val="75000"/>
              <a:buFont typeface="Wingdings" panose="05000000000000000000" pitchFamily="2" charset="2"/>
              <a:buChar char="–"/>
              <a:defRPr sz="2100">
                <a:solidFill>
                  <a:schemeClr val="tx1"/>
                </a:solidFill>
                <a:latin typeface="Arial" panose="020B0604020202020204" pitchFamily="34" charset="0"/>
              </a:defRPr>
            </a:lvl4pPr>
            <a:lvl5pPr marL="2057400" indent="-228600" defTabSz="958850">
              <a:spcBef>
                <a:spcPct val="20000"/>
              </a:spcBef>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9pPr>
          </a:lstStyle>
          <a:p>
            <a:pPr>
              <a:spcBef>
                <a:spcPct val="0"/>
              </a:spcBef>
              <a:buClrTx/>
              <a:buSzTx/>
              <a:buFontTx/>
              <a:buNone/>
              <a:defRPr/>
            </a:pPr>
            <a:r>
              <a:rPr lang="en-US" altLang="zh-TW" sz="1500" b="0"/>
              <a:t>System VMs</a:t>
            </a:r>
          </a:p>
        </p:txBody>
      </p:sp>
      <p:sp>
        <p:nvSpPr>
          <p:cNvPr id="21507" name="投影片編號版面配置區 5">
            <a:extLst>
              <a:ext uri="{FF2B5EF4-FFF2-40B4-BE49-F238E27FC236}">
                <a16:creationId xmlns:a16="http://schemas.microsoft.com/office/drawing/2014/main" id="{E8E09DB6-E923-4F8E-85E6-C6E03C3908A3}"/>
              </a:ext>
            </a:extLst>
          </p:cNvPr>
          <p:cNvSpPr>
            <a:spLocks noGrp="1"/>
          </p:cNvSpPr>
          <p:nvPr>
            <p:ph type="sldNum" sz="quarter" idx="12"/>
          </p:nvPr>
        </p:nvSpPr>
        <p:spPr bwMode="auto">
          <a:xfrm>
            <a:off x="6553200" y="6245225"/>
            <a:ext cx="22860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ClrTx/>
              <a:buFontTx/>
              <a:buNone/>
            </a:pPr>
            <a:fld id="{12D1D4BD-4255-4DDC-B1F1-D70870340338}" type="slidenum">
              <a:rPr lang="en-US" altLang="zh-TW" smtClean="0"/>
              <a:pPr>
                <a:spcBef>
                  <a:spcPct val="0"/>
                </a:spcBef>
                <a:buClrTx/>
                <a:buFontTx/>
                <a:buNone/>
              </a:pPr>
              <a:t>36</a:t>
            </a:fld>
            <a:endParaRPr lang="en-US" altLang="zh-TW" sz="1200"/>
          </a:p>
        </p:txBody>
      </p:sp>
      <p:sp>
        <p:nvSpPr>
          <p:cNvPr id="525314" name="Rectangle 2">
            <a:extLst>
              <a:ext uri="{FF2B5EF4-FFF2-40B4-BE49-F238E27FC236}">
                <a16:creationId xmlns:a16="http://schemas.microsoft.com/office/drawing/2014/main" id="{3596ACBC-3E92-44C3-B492-18B01F15C84D}"/>
              </a:ext>
            </a:extLst>
          </p:cNvPr>
          <p:cNvSpPr>
            <a:spLocks noGrp="1" noChangeArrowheads="1"/>
          </p:cNvSpPr>
          <p:nvPr>
            <p:ph type="title"/>
          </p:nvPr>
        </p:nvSpPr>
        <p:spPr>
          <a:xfrm>
            <a:off x="1293779" y="201612"/>
            <a:ext cx="8637588" cy="620713"/>
          </a:xfrm>
        </p:spPr>
        <p:txBody>
          <a:bodyPr/>
          <a:lstStyle/>
          <a:p>
            <a:pPr marL="342882" marR="0" lvl="0" indent="-342882" defTabSz="914400" rtl="0" eaLnBrk="1" fontAlgn="base" latinLnBrk="0" hangingPunct="1">
              <a:lnSpc>
                <a:spcPct val="100000"/>
              </a:lnSpc>
              <a:spcBef>
                <a:spcPct val="20000"/>
              </a:spcBef>
              <a:spcAft>
                <a:spcPct val="0"/>
              </a:spcAft>
              <a:tabLst/>
              <a:defRPr/>
            </a:pPr>
            <a:r>
              <a:rPr kumimoji="1" lang="en-US" altLang="zh-TW" sz="4000" i="0" u="none" strike="noStrike" kern="0" cap="none" spc="0" normalizeH="0" baseline="0" noProof="0" dirty="0">
                <a:ln>
                  <a:noFill/>
                </a:ln>
                <a:solidFill>
                  <a:prstClr val="black"/>
                </a:solidFill>
                <a:effectLst/>
                <a:uLnTx/>
                <a:uFillTx/>
                <a:latin typeface="Calibri" pitchFamily="34" charset="0"/>
                <a:ea typeface="新細明體" panose="02020500000000000000" pitchFamily="18" charset="-120"/>
                <a:cs typeface="+mn-cs"/>
              </a:rPr>
              <a:t>Resource Consolidation</a:t>
            </a:r>
            <a:endParaRPr lang="en-US" altLang="zh-TW" sz="4000" dirty="0">
              <a:ea typeface="新細明體" charset="-120"/>
            </a:endParaRPr>
          </a:p>
        </p:txBody>
      </p:sp>
      <p:sp>
        <p:nvSpPr>
          <p:cNvPr id="21509" name="Rectangle 3">
            <a:extLst>
              <a:ext uri="{FF2B5EF4-FFF2-40B4-BE49-F238E27FC236}">
                <a16:creationId xmlns:a16="http://schemas.microsoft.com/office/drawing/2014/main" id="{6CF9D29B-79E4-4443-812D-E55046139776}"/>
              </a:ext>
            </a:extLst>
          </p:cNvPr>
          <p:cNvSpPr>
            <a:spLocks noGrp="1" noChangeArrowheads="1"/>
          </p:cNvSpPr>
          <p:nvPr>
            <p:ph type="body" idx="1"/>
          </p:nvPr>
        </p:nvSpPr>
        <p:spPr>
          <a:xfrm>
            <a:off x="1435912" y="1196502"/>
            <a:ext cx="8207375" cy="4426085"/>
          </a:xfrm>
        </p:spPr>
        <p:txBody>
          <a:bodyPr/>
          <a:lstStyle/>
          <a:p>
            <a:pPr marL="457176" lvl="1" indent="0" eaLnBrk="1" hangingPunct="1">
              <a:buNone/>
              <a:defRPr/>
            </a:pPr>
            <a:r>
              <a:rPr lang="en-US" altLang="zh-TW" b="1" dirty="0">
                <a:solidFill>
                  <a:schemeClr val="tx2"/>
                </a:solidFill>
                <a:ea typeface="新細明體" panose="02020500000000000000" pitchFamily="18" charset="-120"/>
              </a:rPr>
              <a:t>Server consolidation</a:t>
            </a:r>
          </a:p>
          <a:p>
            <a:pPr lvl="2" eaLnBrk="1" hangingPunct="1">
              <a:buFont typeface="Wingdings" panose="05000000000000000000" pitchFamily="2" charset="2"/>
              <a:buChar char="Ø"/>
              <a:defRPr/>
            </a:pPr>
            <a:r>
              <a:rPr lang="en-US" altLang="zh-TW" sz="2100" dirty="0">
                <a:solidFill>
                  <a:schemeClr val="tx2"/>
                </a:solidFill>
                <a:ea typeface="新細明體" panose="02020500000000000000" pitchFamily="18" charset="-120"/>
              </a:rPr>
              <a:t>Reduce number of servers</a:t>
            </a:r>
          </a:p>
          <a:p>
            <a:pPr lvl="2" eaLnBrk="1" hangingPunct="1">
              <a:buFont typeface="Wingdings" panose="05000000000000000000" pitchFamily="2" charset="2"/>
              <a:buChar char="Ø"/>
              <a:defRPr/>
            </a:pPr>
            <a:r>
              <a:rPr lang="en-US" altLang="zh-TW" sz="2100" dirty="0">
                <a:solidFill>
                  <a:schemeClr val="tx2"/>
                </a:solidFill>
                <a:ea typeface="新細明體" panose="02020500000000000000" pitchFamily="18" charset="-120"/>
              </a:rPr>
              <a:t>Reduce space, power and cooling</a:t>
            </a:r>
          </a:p>
          <a:p>
            <a:pPr lvl="2" eaLnBrk="1" hangingPunct="1">
              <a:buFont typeface="Wingdings" panose="05000000000000000000" pitchFamily="2" charset="2"/>
              <a:buChar char="Ø"/>
              <a:defRPr/>
            </a:pPr>
            <a:r>
              <a:rPr lang="en-US" altLang="zh-TW" sz="2100" dirty="0">
                <a:solidFill>
                  <a:schemeClr val="tx2"/>
                </a:solidFill>
                <a:ea typeface="新細明體" panose="02020500000000000000" pitchFamily="18" charset="-120"/>
              </a:rPr>
              <a:t>70-80% reduction numbers cited in industry</a:t>
            </a:r>
          </a:p>
          <a:p>
            <a:pPr marL="457176" lvl="1" indent="0" eaLnBrk="1" hangingPunct="1">
              <a:buNone/>
              <a:defRPr/>
            </a:pPr>
            <a:r>
              <a:rPr lang="en-US" altLang="zh-TW" b="1" dirty="0">
                <a:solidFill>
                  <a:schemeClr val="tx2"/>
                </a:solidFill>
                <a:ea typeface="新細明體" panose="02020500000000000000" pitchFamily="18" charset="-120"/>
              </a:rPr>
              <a:t>Client consolidation</a:t>
            </a:r>
          </a:p>
          <a:p>
            <a:pPr lvl="2" eaLnBrk="1" hangingPunct="1">
              <a:buFont typeface="Wingdings" panose="05000000000000000000" pitchFamily="2" charset="2"/>
              <a:buChar char="Ø"/>
              <a:defRPr/>
            </a:pPr>
            <a:r>
              <a:rPr lang="en-US" altLang="zh-TW" sz="2100" dirty="0">
                <a:solidFill>
                  <a:schemeClr val="tx2"/>
                </a:solidFill>
                <a:ea typeface="新細明體" panose="02020500000000000000" pitchFamily="18" charset="-120"/>
              </a:rPr>
              <a:t>Developers: test multiple OS versions, distributed application configurations on a single machine</a:t>
            </a:r>
          </a:p>
          <a:p>
            <a:pPr lvl="2" eaLnBrk="1" hangingPunct="1">
              <a:buFont typeface="Wingdings" panose="05000000000000000000" pitchFamily="2" charset="2"/>
              <a:buChar char="Ø"/>
              <a:defRPr/>
            </a:pPr>
            <a:r>
              <a:rPr lang="en-US" altLang="zh-TW" sz="2100" dirty="0">
                <a:solidFill>
                  <a:schemeClr val="tx2"/>
                </a:solidFill>
                <a:ea typeface="新細明體" panose="02020500000000000000" pitchFamily="18" charset="-120"/>
              </a:rPr>
              <a:t>End user: Windows on Linux, Windows on Mac</a:t>
            </a:r>
          </a:p>
          <a:p>
            <a:pPr lvl="2" eaLnBrk="1" hangingPunct="1">
              <a:buFont typeface="Wingdings" panose="05000000000000000000" pitchFamily="2" charset="2"/>
              <a:buChar char="Ø"/>
              <a:defRPr/>
            </a:pPr>
            <a:r>
              <a:rPr lang="en-US" altLang="zh-TW" sz="2100" dirty="0">
                <a:solidFill>
                  <a:schemeClr val="tx2"/>
                </a:solidFill>
                <a:ea typeface="新細明體" panose="02020500000000000000" pitchFamily="18" charset="-120"/>
              </a:rPr>
              <a:t>Reduce physical desktop space, avoid managing multiple physical computers</a:t>
            </a:r>
          </a:p>
          <a:p>
            <a:pPr lvl="2" eaLnBrk="1" hangingPunct="1">
              <a:defRPr/>
            </a:pPr>
            <a:endParaRPr lang="en-US" altLang="zh-TW" sz="2100" dirty="0">
              <a:solidFill>
                <a:srgbClr val="002060"/>
              </a:solidFill>
              <a:ea typeface="新細明體" panose="02020500000000000000" pitchFamily="18" charset="-12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日期版面配置區 3">
            <a:extLst>
              <a:ext uri="{FF2B5EF4-FFF2-40B4-BE49-F238E27FC236}">
                <a16:creationId xmlns:a16="http://schemas.microsoft.com/office/drawing/2014/main" id="{8D1347C7-9D1D-4199-ABAF-A6AEC5DC80FE}"/>
              </a:ext>
            </a:extLst>
          </p:cNvPr>
          <p:cNvSpPr>
            <a:spLocks noGrp="1"/>
          </p:cNvSpPr>
          <p:nvPr>
            <p:ph type="dt" sz="quarter" idx="10"/>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spcBef>
                <a:spcPct val="20000"/>
              </a:spcBef>
              <a:buClr>
                <a:schemeClr val="tx1"/>
              </a:buClr>
              <a:buSzPct val="70000"/>
              <a:buFont typeface="Wingdings" panose="05000000000000000000" pitchFamily="2" charset="2"/>
              <a:buChar char="q"/>
              <a:defRPr sz="2800" b="1">
                <a:solidFill>
                  <a:schemeClr val="tx1"/>
                </a:solidFill>
                <a:latin typeface="Arial" panose="020B0604020202020204" pitchFamily="34" charset="0"/>
              </a:defRPr>
            </a:lvl1pPr>
            <a:lvl2pPr marL="742950" indent="-285750" defTabSz="958850">
              <a:spcBef>
                <a:spcPct val="20000"/>
              </a:spcBef>
              <a:buClr>
                <a:schemeClr val="tx1"/>
              </a:buClr>
              <a:buSzPct val="65000"/>
              <a:buChar char="•"/>
              <a:defRPr sz="2500">
                <a:solidFill>
                  <a:schemeClr val="tx1"/>
                </a:solidFill>
                <a:latin typeface="Arial" panose="020B0604020202020204" pitchFamily="34" charset="0"/>
              </a:defRPr>
            </a:lvl2pPr>
            <a:lvl3pPr marL="1143000" indent="-228600" defTabSz="958850">
              <a:spcBef>
                <a:spcPct val="20000"/>
              </a:spcBef>
              <a:buClr>
                <a:schemeClr val="tx1"/>
              </a:buClr>
              <a:buSzPct val="65000"/>
              <a:buFont typeface="Wingdings" panose="05000000000000000000" pitchFamily="2" charset="2"/>
              <a:buChar char="•"/>
              <a:defRPr sz="2500">
                <a:solidFill>
                  <a:schemeClr val="tx1"/>
                </a:solidFill>
                <a:latin typeface="Arial" panose="020B0604020202020204" pitchFamily="34" charset="0"/>
              </a:defRPr>
            </a:lvl3pPr>
            <a:lvl4pPr marL="1600200" indent="-228600" defTabSz="958850">
              <a:spcBef>
                <a:spcPct val="20000"/>
              </a:spcBef>
              <a:buClr>
                <a:schemeClr val="tx2"/>
              </a:buClr>
              <a:buSzPct val="75000"/>
              <a:buFont typeface="Wingdings" panose="05000000000000000000" pitchFamily="2" charset="2"/>
              <a:buChar char="–"/>
              <a:defRPr sz="2100">
                <a:solidFill>
                  <a:schemeClr val="tx1"/>
                </a:solidFill>
                <a:latin typeface="Arial" panose="020B0604020202020204" pitchFamily="34" charset="0"/>
              </a:defRPr>
            </a:lvl4pPr>
            <a:lvl5pPr marL="2057400" indent="-228600" defTabSz="958850">
              <a:spcBef>
                <a:spcPct val="20000"/>
              </a:spcBef>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9pPr>
          </a:lstStyle>
          <a:p>
            <a:pPr>
              <a:spcBef>
                <a:spcPct val="0"/>
              </a:spcBef>
              <a:buClrTx/>
              <a:buSzTx/>
              <a:buFontTx/>
              <a:buNone/>
              <a:defRPr/>
            </a:pPr>
            <a:r>
              <a:rPr lang="en-US" altLang="zh-TW" sz="1500" b="0"/>
              <a:t>System VMs</a:t>
            </a:r>
          </a:p>
        </p:txBody>
      </p:sp>
      <p:sp>
        <p:nvSpPr>
          <p:cNvPr id="12291" name="投影片編號版面配置區 5">
            <a:extLst>
              <a:ext uri="{FF2B5EF4-FFF2-40B4-BE49-F238E27FC236}">
                <a16:creationId xmlns:a16="http://schemas.microsoft.com/office/drawing/2014/main" id="{0D85EE54-E07C-4284-9030-1D9B85B0A546}"/>
              </a:ext>
            </a:extLst>
          </p:cNvPr>
          <p:cNvSpPr>
            <a:spLocks noGrp="1"/>
          </p:cNvSpPr>
          <p:nvPr>
            <p:ph type="sldNum" sz="quarter" idx="12"/>
          </p:nvPr>
        </p:nvSpPr>
        <p:spPr bwMode="auto">
          <a:xfrm>
            <a:off x="6553200" y="6245225"/>
            <a:ext cx="22860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ClrTx/>
              <a:buFontTx/>
              <a:buNone/>
            </a:pPr>
            <a:fld id="{12D1D4BD-4255-4DDC-B1F1-D70870340338}" type="slidenum">
              <a:rPr lang="en-US" altLang="zh-TW" smtClean="0"/>
              <a:pPr>
                <a:spcBef>
                  <a:spcPct val="0"/>
                </a:spcBef>
                <a:buClrTx/>
                <a:buFontTx/>
                <a:buNone/>
              </a:pPr>
              <a:t>37</a:t>
            </a:fld>
            <a:endParaRPr lang="en-US" altLang="zh-TW" sz="1200"/>
          </a:p>
        </p:txBody>
      </p:sp>
      <p:sp>
        <p:nvSpPr>
          <p:cNvPr id="459778" name="Rectangle 1026">
            <a:extLst>
              <a:ext uri="{FF2B5EF4-FFF2-40B4-BE49-F238E27FC236}">
                <a16:creationId xmlns:a16="http://schemas.microsoft.com/office/drawing/2014/main" id="{AF7D3A80-6DD0-4200-90DB-77D6F8C857B7}"/>
              </a:ext>
            </a:extLst>
          </p:cNvPr>
          <p:cNvSpPr>
            <a:spLocks noGrp="1" noChangeArrowheads="1"/>
          </p:cNvSpPr>
          <p:nvPr>
            <p:ph type="title"/>
          </p:nvPr>
        </p:nvSpPr>
        <p:spPr>
          <a:xfrm>
            <a:off x="1777206" y="134937"/>
            <a:ext cx="8637588" cy="620713"/>
          </a:xfrm>
        </p:spPr>
        <p:txBody>
          <a:bodyPr/>
          <a:lstStyle/>
          <a:p>
            <a:pPr eaLnBrk="1" hangingPunct="1">
              <a:defRPr/>
            </a:pPr>
            <a:r>
              <a:rPr lang="en-US" altLang="zh-TW" dirty="0">
                <a:ea typeface="新細明體" charset="-120"/>
              </a:rPr>
              <a:t>Virtualization Properties</a:t>
            </a:r>
          </a:p>
        </p:txBody>
      </p:sp>
      <p:sp>
        <p:nvSpPr>
          <p:cNvPr id="12293" name="Rectangle 1027">
            <a:extLst>
              <a:ext uri="{FF2B5EF4-FFF2-40B4-BE49-F238E27FC236}">
                <a16:creationId xmlns:a16="http://schemas.microsoft.com/office/drawing/2014/main" id="{A2B51D76-7569-4C15-978D-2D534D3D918C}"/>
              </a:ext>
            </a:extLst>
          </p:cNvPr>
          <p:cNvSpPr>
            <a:spLocks noGrp="1" noChangeArrowheads="1"/>
          </p:cNvSpPr>
          <p:nvPr>
            <p:ph type="body" idx="1"/>
          </p:nvPr>
        </p:nvSpPr>
        <p:spPr>
          <a:xfrm>
            <a:off x="1593858" y="995365"/>
            <a:ext cx="9918683" cy="5699125"/>
          </a:xfrm>
        </p:spPr>
        <p:txBody>
          <a:bodyPr/>
          <a:lstStyle/>
          <a:p>
            <a:pPr eaLnBrk="1" hangingPunct="1">
              <a:defRPr/>
            </a:pPr>
            <a:r>
              <a:rPr lang="en-US" altLang="zh-TW" sz="2400" dirty="0">
                <a:solidFill>
                  <a:srgbClr val="FF0000"/>
                </a:solidFill>
                <a:ea typeface="新細明體" panose="02020500000000000000" pitchFamily="18" charset="-120"/>
              </a:rPr>
              <a:t>Isolation</a:t>
            </a:r>
          </a:p>
          <a:p>
            <a:pPr lvl="1" eaLnBrk="1" hangingPunct="1">
              <a:defRPr/>
            </a:pPr>
            <a:r>
              <a:rPr lang="en-US" altLang="zh-TW" sz="2000" dirty="0">
                <a:ea typeface="新細明體" panose="02020500000000000000" pitchFamily="18" charset="-120"/>
              </a:rPr>
              <a:t>Fault isolation</a:t>
            </a:r>
          </a:p>
          <a:p>
            <a:pPr lvl="1" eaLnBrk="1" hangingPunct="1">
              <a:defRPr/>
            </a:pPr>
            <a:r>
              <a:rPr lang="en-US" altLang="zh-TW" sz="2000" dirty="0">
                <a:ea typeface="新細明體" panose="02020500000000000000" pitchFamily="18" charset="-120"/>
              </a:rPr>
              <a:t>Performance isolation</a:t>
            </a:r>
          </a:p>
          <a:p>
            <a:pPr eaLnBrk="1" hangingPunct="1">
              <a:defRPr/>
            </a:pPr>
            <a:r>
              <a:rPr lang="en-US" altLang="zh-TW" sz="2400" dirty="0">
                <a:solidFill>
                  <a:srgbClr val="FF0000"/>
                </a:solidFill>
                <a:ea typeface="新細明體" panose="02020500000000000000" pitchFamily="18" charset="-120"/>
              </a:rPr>
              <a:t>Encapsulation</a:t>
            </a:r>
          </a:p>
          <a:p>
            <a:pPr lvl="1" eaLnBrk="1" hangingPunct="1">
              <a:defRPr/>
            </a:pPr>
            <a:r>
              <a:rPr lang="en-US" altLang="zh-TW" sz="2000" dirty="0">
                <a:ea typeface="新細明體" panose="02020500000000000000" pitchFamily="18" charset="-120"/>
              </a:rPr>
              <a:t>Cleanly capture all VM states</a:t>
            </a:r>
          </a:p>
          <a:p>
            <a:pPr lvl="1" eaLnBrk="1" hangingPunct="1">
              <a:defRPr/>
            </a:pPr>
            <a:r>
              <a:rPr lang="en-US" altLang="zh-TW" sz="2000" dirty="0">
                <a:ea typeface="新細明體" panose="02020500000000000000" pitchFamily="18" charset="-120"/>
              </a:rPr>
              <a:t>Enables VM snapshots, clones</a:t>
            </a:r>
          </a:p>
          <a:p>
            <a:pPr eaLnBrk="1" hangingPunct="1">
              <a:defRPr/>
            </a:pPr>
            <a:r>
              <a:rPr lang="en-US" altLang="zh-TW" sz="2400" dirty="0">
                <a:solidFill>
                  <a:srgbClr val="FF0000"/>
                </a:solidFill>
                <a:ea typeface="新細明體" panose="02020500000000000000" pitchFamily="18" charset="-120"/>
              </a:rPr>
              <a:t>Migration</a:t>
            </a:r>
          </a:p>
          <a:p>
            <a:pPr lvl="1" eaLnBrk="1" hangingPunct="1">
              <a:defRPr/>
            </a:pPr>
            <a:r>
              <a:rPr lang="en-US" altLang="zh-TW" sz="2000" dirty="0">
                <a:ea typeface="新細明體" panose="02020500000000000000" pitchFamily="18" charset="-120"/>
              </a:rPr>
              <a:t>Independent of physical hardware</a:t>
            </a:r>
          </a:p>
          <a:p>
            <a:pPr lvl="1" eaLnBrk="1" hangingPunct="1">
              <a:defRPr/>
            </a:pPr>
            <a:r>
              <a:rPr lang="en-US" altLang="zh-TW" sz="2000" dirty="0">
                <a:ea typeface="新細明體" panose="02020500000000000000" pitchFamily="18" charset="-120"/>
              </a:rPr>
              <a:t>Enables migration of live VMs</a:t>
            </a:r>
          </a:p>
          <a:p>
            <a:pPr eaLnBrk="1" hangingPunct="1">
              <a:defRPr/>
            </a:pPr>
            <a:r>
              <a:rPr lang="en-US" altLang="zh-TW" sz="2400" dirty="0">
                <a:solidFill>
                  <a:srgbClr val="FF0000"/>
                </a:solidFill>
                <a:ea typeface="新細明體" panose="02020500000000000000" pitchFamily="18" charset="-120"/>
              </a:rPr>
              <a:t>Interposition</a:t>
            </a:r>
          </a:p>
          <a:p>
            <a:pPr lvl="1" eaLnBrk="1" hangingPunct="1">
              <a:defRPr/>
            </a:pPr>
            <a:r>
              <a:rPr lang="en-US" sz="2000" b="0" i="0" dirty="0">
                <a:solidFill>
                  <a:srgbClr val="424242"/>
                </a:solidFill>
                <a:effectLst/>
                <a:latin typeface="Segoe UI" panose="020B0502040204020203" pitchFamily="34" charset="0"/>
              </a:rPr>
              <a:t>The hypervisor has </a:t>
            </a:r>
            <a:r>
              <a:rPr lang="en-US" sz="2000" b="1" i="0" dirty="0">
                <a:solidFill>
                  <a:srgbClr val="424242"/>
                </a:solidFill>
                <a:effectLst/>
                <a:latin typeface="Segoe UI" panose="020B0502040204020203" pitchFamily="34" charset="0"/>
              </a:rPr>
              <a:t>control and visibility</a:t>
            </a:r>
            <a:r>
              <a:rPr lang="en-US" sz="2000" b="0" i="0" dirty="0">
                <a:solidFill>
                  <a:srgbClr val="424242"/>
                </a:solidFill>
                <a:effectLst/>
                <a:latin typeface="Segoe UI" panose="020B0502040204020203" pitchFamily="34" charset="0"/>
              </a:rPr>
              <a:t> over the operations performed by the guest OS.</a:t>
            </a:r>
          </a:p>
          <a:p>
            <a:pPr lvl="1" eaLnBrk="1" hangingPunct="1">
              <a:defRPr/>
            </a:pPr>
            <a:r>
              <a:rPr lang="en-US" altLang="zh-TW" sz="2000" dirty="0">
                <a:ea typeface="新細明體" panose="02020500000000000000" pitchFamily="18" charset="-120"/>
              </a:rPr>
              <a:t>Enables transparent resource over-commitment, encryption, … </a:t>
            </a:r>
            <a:r>
              <a:rPr lang="en-US" altLang="zh-TW" sz="2000" dirty="0" err="1">
                <a:ea typeface="新細明體" panose="02020500000000000000" pitchFamily="18" charset="-120"/>
              </a:rPr>
              <a:t>etc</a:t>
            </a:r>
            <a:endParaRPr lang="en-US" altLang="zh-TW" sz="2000" dirty="0">
              <a:ea typeface="新細明體" panose="02020500000000000000" pitchFamily="18" charset="-120"/>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日期版面配置區 3">
            <a:extLst>
              <a:ext uri="{FF2B5EF4-FFF2-40B4-BE49-F238E27FC236}">
                <a16:creationId xmlns:a16="http://schemas.microsoft.com/office/drawing/2014/main" id="{C2BF5E40-AC4C-4817-BA17-9A4187F6BC99}"/>
              </a:ext>
            </a:extLst>
          </p:cNvPr>
          <p:cNvSpPr>
            <a:spLocks noGrp="1"/>
          </p:cNvSpPr>
          <p:nvPr>
            <p:ph type="dt" sz="quarter" idx="10"/>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spcBef>
                <a:spcPct val="20000"/>
              </a:spcBef>
              <a:buClr>
                <a:schemeClr val="tx1"/>
              </a:buClr>
              <a:buSzPct val="70000"/>
              <a:buFont typeface="Wingdings" panose="05000000000000000000" pitchFamily="2" charset="2"/>
              <a:buChar char="q"/>
              <a:defRPr sz="2800" b="1">
                <a:solidFill>
                  <a:schemeClr val="tx1"/>
                </a:solidFill>
                <a:latin typeface="Arial" panose="020B0604020202020204" pitchFamily="34" charset="0"/>
              </a:defRPr>
            </a:lvl1pPr>
            <a:lvl2pPr marL="742950" indent="-285750" defTabSz="958850">
              <a:spcBef>
                <a:spcPct val="20000"/>
              </a:spcBef>
              <a:buClr>
                <a:schemeClr val="tx1"/>
              </a:buClr>
              <a:buSzPct val="65000"/>
              <a:buChar char="•"/>
              <a:defRPr sz="2500">
                <a:solidFill>
                  <a:schemeClr val="tx1"/>
                </a:solidFill>
                <a:latin typeface="Arial" panose="020B0604020202020204" pitchFamily="34" charset="0"/>
              </a:defRPr>
            </a:lvl2pPr>
            <a:lvl3pPr marL="1143000" indent="-228600" defTabSz="958850">
              <a:spcBef>
                <a:spcPct val="20000"/>
              </a:spcBef>
              <a:buClr>
                <a:schemeClr val="tx1"/>
              </a:buClr>
              <a:buSzPct val="65000"/>
              <a:buFont typeface="Wingdings" panose="05000000000000000000" pitchFamily="2" charset="2"/>
              <a:buChar char="•"/>
              <a:defRPr sz="2500">
                <a:solidFill>
                  <a:schemeClr val="tx1"/>
                </a:solidFill>
                <a:latin typeface="Arial" panose="020B0604020202020204" pitchFamily="34" charset="0"/>
              </a:defRPr>
            </a:lvl3pPr>
            <a:lvl4pPr marL="1600200" indent="-228600" defTabSz="958850">
              <a:spcBef>
                <a:spcPct val="20000"/>
              </a:spcBef>
              <a:buClr>
                <a:schemeClr val="tx2"/>
              </a:buClr>
              <a:buSzPct val="75000"/>
              <a:buFont typeface="Wingdings" panose="05000000000000000000" pitchFamily="2" charset="2"/>
              <a:buChar char="–"/>
              <a:defRPr sz="2100">
                <a:solidFill>
                  <a:schemeClr val="tx1"/>
                </a:solidFill>
                <a:latin typeface="Arial" panose="020B0604020202020204" pitchFamily="34" charset="0"/>
              </a:defRPr>
            </a:lvl4pPr>
            <a:lvl5pPr marL="2057400" indent="-228600" defTabSz="958850">
              <a:spcBef>
                <a:spcPct val="20000"/>
              </a:spcBef>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9pPr>
          </a:lstStyle>
          <a:p>
            <a:pPr>
              <a:spcBef>
                <a:spcPct val="0"/>
              </a:spcBef>
              <a:buClrTx/>
              <a:buSzTx/>
              <a:buFontTx/>
              <a:buNone/>
              <a:defRPr/>
            </a:pPr>
            <a:r>
              <a:rPr lang="en-US" altLang="zh-TW" sz="1500" b="0"/>
              <a:t>System VMs</a:t>
            </a:r>
          </a:p>
        </p:txBody>
      </p:sp>
      <p:sp>
        <p:nvSpPr>
          <p:cNvPr id="12291" name="投影片編號版面配置區 5">
            <a:extLst>
              <a:ext uri="{FF2B5EF4-FFF2-40B4-BE49-F238E27FC236}">
                <a16:creationId xmlns:a16="http://schemas.microsoft.com/office/drawing/2014/main" id="{B7593F17-F7F0-4E11-B65B-8241B1648693}"/>
              </a:ext>
            </a:extLst>
          </p:cNvPr>
          <p:cNvSpPr>
            <a:spLocks noGrp="1"/>
          </p:cNvSpPr>
          <p:nvPr>
            <p:ph type="sldNum" sz="quarter" idx="12"/>
          </p:nvPr>
        </p:nvSpPr>
        <p:spPr bwMode="auto">
          <a:xfrm>
            <a:off x="6553200" y="6245225"/>
            <a:ext cx="22860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ClrTx/>
              <a:buFontTx/>
              <a:buNone/>
            </a:pPr>
            <a:fld id="{12D1D4BD-4255-4DDC-B1F1-D70870340338}" type="slidenum">
              <a:rPr lang="en-US" altLang="zh-TW" smtClean="0"/>
              <a:pPr>
                <a:spcBef>
                  <a:spcPct val="0"/>
                </a:spcBef>
                <a:buClrTx/>
                <a:buFontTx/>
                <a:buNone/>
              </a:pPr>
              <a:t>38</a:t>
            </a:fld>
            <a:endParaRPr lang="en-US" altLang="zh-TW" sz="1200"/>
          </a:p>
        </p:txBody>
      </p:sp>
      <p:sp>
        <p:nvSpPr>
          <p:cNvPr id="459778" name="Rectangle 1026">
            <a:extLst>
              <a:ext uri="{FF2B5EF4-FFF2-40B4-BE49-F238E27FC236}">
                <a16:creationId xmlns:a16="http://schemas.microsoft.com/office/drawing/2014/main" id="{C162137F-DF39-4EF6-8A52-E6AB3DEB2AAD}"/>
              </a:ext>
            </a:extLst>
          </p:cNvPr>
          <p:cNvSpPr>
            <a:spLocks noGrp="1" noChangeArrowheads="1"/>
          </p:cNvSpPr>
          <p:nvPr>
            <p:ph type="title"/>
          </p:nvPr>
        </p:nvSpPr>
        <p:spPr>
          <a:xfrm>
            <a:off x="1624519" y="134937"/>
            <a:ext cx="8637588" cy="620713"/>
          </a:xfrm>
        </p:spPr>
        <p:txBody>
          <a:bodyPr/>
          <a:lstStyle/>
          <a:p>
            <a:pPr eaLnBrk="1" hangingPunct="1">
              <a:defRPr/>
            </a:pPr>
            <a:r>
              <a:rPr lang="en-US" altLang="zh-TW" sz="4000" dirty="0">
                <a:ea typeface="新細明體" charset="-120"/>
              </a:rPr>
              <a:t>Virtualization and Cloud Computing</a:t>
            </a:r>
          </a:p>
        </p:txBody>
      </p:sp>
      <p:sp>
        <p:nvSpPr>
          <p:cNvPr id="12293" name="Rectangle 1027">
            <a:extLst>
              <a:ext uri="{FF2B5EF4-FFF2-40B4-BE49-F238E27FC236}">
                <a16:creationId xmlns:a16="http://schemas.microsoft.com/office/drawing/2014/main" id="{89592232-DBC0-4FA0-BB15-D473EC10DA22}"/>
              </a:ext>
            </a:extLst>
          </p:cNvPr>
          <p:cNvSpPr>
            <a:spLocks noGrp="1" noChangeArrowheads="1"/>
          </p:cNvSpPr>
          <p:nvPr>
            <p:ph type="body" idx="1"/>
          </p:nvPr>
        </p:nvSpPr>
        <p:spPr>
          <a:xfrm>
            <a:off x="1021404" y="1147864"/>
            <a:ext cx="9444984" cy="5511700"/>
          </a:xfrm>
        </p:spPr>
        <p:txBody>
          <a:bodyPr/>
          <a:lstStyle/>
          <a:p>
            <a:pPr eaLnBrk="1" hangingPunct="1">
              <a:defRPr/>
            </a:pPr>
            <a:r>
              <a:rPr lang="en-US" altLang="zh-TW" sz="2400" dirty="0">
                <a:ea typeface="新細明體" panose="02020500000000000000" pitchFamily="18" charset="-120"/>
              </a:rPr>
              <a:t>Cloud Computing</a:t>
            </a:r>
          </a:p>
          <a:p>
            <a:pPr lvl="1" eaLnBrk="1" hangingPunct="1">
              <a:defRPr/>
            </a:pPr>
            <a:r>
              <a:rPr lang="en-US" altLang="zh-TW" sz="2400" dirty="0">
                <a:ea typeface="新細明體" panose="02020500000000000000" pitchFamily="18" charset="-120"/>
              </a:rPr>
              <a:t>IT environments that abstract, pool, and share scalable resources across a network.</a:t>
            </a:r>
          </a:p>
          <a:p>
            <a:pPr lvl="1" eaLnBrk="1" hangingPunct="1">
              <a:defRPr/>
            </a:pPr>
            <a:r>
              <a:rPr lang="en-US" altLang="zh-TW" sz="2400" dirty="0">
                <a:ea typeface="新細明體" panose="02020500000000000000" pitchFamily="18" charset="-120"/>
              </a:rPr>
              <a:t>Let different companies/users access a single pool of automatically provisioned resources.</a:t>
            </a:r>
          </a:p>
          <a:p>
            <a:pPr eaLnBrk="1" hangingPunct="1">
              <a:defRPr/>
            </a:pPr>
            <a:r>
              <a:rPr lang="en-US" altLang="zh-TW" sz="2400" dirty="0">
                <a:ea typeface="新細明體" panose="02020500000000000000" pitchFamily="18" charset="-120"/>
              </a:rPr>
              <a:t>Virtualization has many benefits, such as </a:t>
            </a:r>
            <a:r>
              <a:rPr lang="en-US" altLang="zh-TW" sz="2400" dirty="0">
                <a:solidFill>
                  <a:schemeClr val="tx2"/>
                </a:solidFill>
                <a:ea typeface="新細明體" panose="02020500000000000000" pitchFamily="18" charset="-120"/>
              </a:rPr>
              <a:t>server consolidation </a:t>
            </a:r>
            <a:r>
              <a:rPr lang="en-US" altLang="zh-TW" sz="2400" dirty="0">
                <a:ea typeface="新細明體" panose="02020500000000000000" pitchFamily="18" charset="-120"/>
              </a:rPr>
              <a:t>and </a:t>
            </a:r>
            <a:r>
              <a:rPr lang="en-US" altLang="zh-TW" sz="2400" dirty="0">
                <a:solidFill>
                  <a:schemeClr val="tx2"/>
                </a:solidFill>
                <a:ea typeface="新細明體" panose="02020500000000000000" pitchFamily="18" charset="-120"/>
              </a:rPr>
              <a:t>improved hardware utilization, reduces the need for power, space, and cooling </a:t>
            </a:r>
            <a:r>
              <a:rPr lang="en-US" altLang="zh-TW" sz="2400" dirty="0">
                <a:ea typeface="新細明體" panose="02020500000000000000" pitchFamily="18" charset="-120"/>
              </a:rPr>
              <a:t>in a datacenter. Virtual machines are </a:t>
            </a:r>
            <a:r>
              <a:rPr lang="en-US" altLang="zh-TW" sz="2400" dirty="0">
                <a:solidFill>
                  <a:schemeClr val="tx2"/>
                </a:solidFill>
                <a:ea typeface="新細明體" panose="02020500000000000000" pitchFamily="18" charset="-120"/>
              </a:rPr>
              <a:t>isolated environments, </a:t>
            </a:r>
            <a:r>
              <a:rPr lang="en-US" altLang="zh-TW" sz="2400" dirty="0">
                <a:ea typeface="新細明體" panose="02020500000000000000" pitchFamily="18" charset="-120"/>
              </a:rPr>
              <a:t>a good option for testing new applications or setting up a production environment. </a:t>
            </a:r>
            <a:r>
              <a:rPr lang="en-US" altLang="zh-TW" sz="2400" dirty="0">
                <a:solidFill>
                  <a:srgbClr val="FF0000"/>
                </a:solidFill>
                <a:ea typeface="新細明體" panose="02020500000000000000" pitchFamily="18" charset="-120"/>
              </a:rPr>
              <a:t>Virtualization technology </a:t>
            </a:r>
            <a:r>
              <a:rPr lang="en-US" altLang="zh-TW" sz="2400" dirty="0">
                <a:ea typeface="新細明體" panose="02020500000000000000" pitchFamily="18" charset="-120"/>
              </a:rPr>
              <a:t>is an </a:t>
            </a:r>
            <a:r>
              <a:rPr lang="en-US" altLang="zh-TW" sz="2400" dirty="0">
                <a:solidFill>
                  <a:srgbClr val="FF0000"/>
                </a:solidFill>
                <a:ea typeface="新細明體" panose="02020500000000000000" pitchFamily="18" charset="-120"/>
              </a:rPr>
              <a:t>enabler </a:t>
            </a:r>
            <a:r>
              <a:rPr lang="en-US" altLang="zh-TW" sz="2400" dirty="0">
                <a:ea typeface="新細明體" panose="02020500000000000000" pitchFamily="18" charset="-120"/>
              </a:rPr>
              <a:t>for efficient and effective cloud computing.</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7">
            <a:extLst>
              <a:ext uri="{FF2B5EF4-FFF2-40B4-BE49-F238E27FC236}">
                <a16:creationId xmlns:a16="http://schemas.microsoft.com/office/drawing/2014/main" id="{E630C885-76D8-4EF3-820E-B059A4E7B36A}"/>
              </a:ext>
            </a:extLst>
          </p:cNvPr>
          <p:cNvSpPr txBox="1">
            <a:spLocks noChangeArrowheads="1"/>
          </p:cNvSpPr>
          <p:nvPr/>
        </p:nvSpPr>
        <p:spPr bwMode="auto">
          <a:xfrm>
            <a:off x="1555749" y="933826"/>
            <a:ext cx="3878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ja-JP" sz="2400" b="1" dirty="0">
                <a:solidFill>
                  <a:srgbClr val="FF0000"/>
                </a:solidFill>
                <a:latin typeface="Verdana" panose="020B0604030504040204" pitchFamily="34" charset="0"/>
                <a:ea typeface="MS PGothic" panose="020B0600070205080204" pitchFamily="34" charset="-128"/>
                <a:cs typeface="Arial" panose="020B0604020202020204" pitchFamily="34" charset="0"/>
              </a:rPr>
              <a:t>Server Consolidation</a:t>
            </a:r>
          </a:p>
        </p:txBody>
      </p:sp>
      <p:sp>
        <p:nvSpPr>
          <p:cNvPr id="10243" name="Text Box 8">
            <a:extLst>
              <a:ext uri="{FF2B5EF4-FFF2-40B4-BE49-F238E27FC236}">
                <a16:creationId xmlns:a16="http://schemas.microsoft.com/office/drawing/2014/main" id="{0289B509-8BDD-4154-BD88-4BD4058B512B}"/>
              </a:ext>
            </a:extLst>
          </p:cNvPr>
          <p:cNvSpPr txBox="1">
            <a:spLocks noChangeArrowheads="1"/>
          </p:cNvSpPr>
          <p:nvPr/>
        </p:nvSpPr>
        <p:spPr bwMode="auto">
          <a:xfrm>
            <a:off x="1455736" y="3323850"/>
            <a:ext cx="3894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2000" b="1" dirty="0">
                <a:solidFill>
                  <a:schemeClr val="tx2"/>
                </a:solidFill>
                <a:latin typeface="Verdana" panose="020B0604030504040204" pitchFamily="34" charset="0"/>
                <a:ea typeface="新細明體" panose="02020500000000000000" pitchFamily="18" charset="-120"/>
              </a:rPr>
              <a:t>Benefit: Cost Savings </a:t>
            </a:r>
          </a:p>
        </p:txBody>
      </p:sp>
      <p:sp>
        <p:nvSpPr>
          <p:cNvPr id="752649" name="Rectangle 9">
            <a:extLst>
              <a:ext uri="{FF2B5EF4-FFF2-40B4-BE49-F238E27FC236}">
                <a16:creationId xmlns:a16="http://schemas.microsoft.com/office/drawing/2014/main" id="{E1B6C817-A053-4CFB-851A-AF65B2E6D300}"/>
              </a:ext>
            </a:extLst>
          </p:cNvPr>
          <p:cNvSpPr>
            <a:spLocks noChangeArrowheads="1"/>
          </p:cNvSpPr>
          <p:nvPr/>
        </p:nvSpPr>
        <p:spPr bwMode="auto">
          <a:xfrm>
            <a:off x="2720975" y="2912686"/>
            <a:ext cx="547687" cy="166688"/>
          </a:xfrm>
          <a:prstGeom prst="rect">
            <a:avLst/>
          </a:prstGeom>
          <a:solidFill>
            <a:srgbClr val="33CC33"/>
          </a:solidFill>
          <a:ln w="28575">
            <a:miter lim="800000"/>
            <a:headEnd/>
            <a:tailEnd/>
          </a:ln>
          <a:effectLst/>
          <a:scene3d>
            <a:camera prst="legacyObliqueTopRight"/>
            <a:lightRig rig="legacyFlat3" dir="b"/>
          </a:scene3d>
          <a:sp3d extrusionH="887400" prstMaterial="legacyMatte">
            <a:bevelT w="13500" h="13500" prst="angle"/>
            <a:bevelB w="13500" h="13500" prst="angle"/>
            <a:extrusionClr>
              <a:srgbClr val="33CC33"/>
            </a:extrusionClr>
          </a:sp3d>
        </p:spPr>
        <p:txBody>
          <a:bodyPr wrap="none" anchor="ctr">
            <a:flatTx/>
          </a:bodyPr>
          <a:lstStyle/>
          <a:p>
            <a:pPr algn="ctr" eaLnBrk="1" hangingPunct="1">
              <a:spcBef>
                <a:spcPct val="50000"/>
              </a:spcBef>
              <a:defRPr/>
            </a:pPr>
            <a:r>
              <a:rPr lang="en-US" altLang="ja-JP" sz="1000">
                <a:solidFill>
                  <a:schemeClr val="bg1"/>
                </a:solidFill>
                <a:effectLst>
                  <a:outerShdw blurRad="38100" dist="38100" dir="2700000" algn="tl">
                    <a:srgbClr val="000000"/>
                  </a:outerShdw>
                </a:effectLst>
                <a:latin typeface="Arial" charset="0"/>
                <a:ea typeface="MS PGothic" pitchFamily="34" charset="-128"/>
                <a:cs typeface="Arial" charset="0"/>
              </a:rPr>
              <a:t>HW</a:t>
            </a:r>
          </a:p>
        </p:txBody>
      </p:sp>
      <p:sp>
        <p:nvSpPr>
          <p:cNvPr id="752650" name="Rectangle 10">
            <a:extLst>
              <a:ext uri="{FF2B5EF4-FFF2-40B4-BE49-F238E27FC236}">
                <a16:creationId xmlns:a16="http://schemas.microsoft.com/office/drawing/2014/main" id="{DD754F51-7D7E-4400-90E6-BF065BD52FD9}"/>
              </a:ext>
            </a:extLst>
          </p:cNvPr>
          <p:cNvSpPr>
            <a:spLocks noChangeArrowheads="1"/>
          </p:cNvSpPr>
          <p:nvPr/>
        </p:nvSpPr>
        <p:spPr bwMode="auto">
          <a:xfrm>
            <a:off x="1639886" y="2928561"/>
            <a:ext cx="547688" cy="166688"/>
          </a:xfrm>
          <a:prstGeom prst="rect">
            <a:avLst/>
          </a:prstGeom>
          <a:solidFill>
            <a:srgbClr val="33CC33"/>
          </a:solidFill>
          <a:ln w="28575">
            <a:miter lim="800000"/>
            <a:headEnd/>
            <a:tailEnd/>
          </a:ln>
          <a:effectLst/>
          <a:scene3d>
            <a:camera prst="legacyObliqueTopRight"/>
            <a:lightRig rig="legacyFlat3" dir="b"/>
          </a:scene3d>
          <a:sp3d extrusionH="887400" prstMaterial="legacyMatte">
            <a:bevelT w="13500" h="13500" prst="angle"/>
            <a:bevelB w="13500" h="13500" prst="angle"/>
            <a:extrusionClr>
              <a:srgbClr val="33CC33"/>
            </a:extrusionClr>
          </a:sp3d>
        </p:spPr>
        <p:txBody>
          <a:bodyPr wrap="none" anchor="ctr">
            <a:flatTx/>
          </a:bodyPr>
          <a:lstStyle/>
          <a:p>
            <a:pPr algn="ctr" eaLnBrk="1" hangingPunct="1">
              <a:spcBef>
                <a:spcPct val="50000"/>
              </a:spcBef>
              <a:defRPr/>
            </a:pPr>
            <a:r>
              <a:rPr lang="en-US" altLang="ja-JP" sz="1000">
                <a:solidFill>
                  <a:schemeClr val="bg1"/>
                </a:solidFill>
                <a:effectLst>
                  <a:outerShdw blurRad="38100" dist="38100" dir="2700000" algn="tl">
                    <a:srgbClr val="000000"/>
                  </a:outerShdw>
                </a:effectLst>
                <a:latin typeface="Arial" charset="0"/>
                <a:ea typeface="MS PGothic" pitchFamily="34" charset="-128"/>
                <a:cs typeface="Arial" charset="0"/>
              </a:rPr>
              <a:t>HW</a:t>
            </a:r>
          </a:p>
        </p:txBody>
      </p:sp>
      <p:sp>
        <p:nvSpPr>
          <p:cNvPr id="752651" name="Rectangle 11">
            <a:extLst>
              <a:ext uri="{FF2B5EF4-FFF2-40B4-BE49-F238E27FC236}">
                <a16:creationId xmlns:a16="http://schemas.microsoft.com/office/drawing/2014/main" id="{DAAB91F0-4B45-4966-A360-FBEDA0F03CE6}"/>
              </a:ext>
            </a:extLst>
          </p:cNvPr>
          <p:cNvSpPr>
            <a:spLocks noChangeArrowheads="1"/>
          </p:cNvSpPr>
          <p:nvPr/>
        </p:nvSpPr>
        <p:spPr bwMode="auto">
          <a:xfrm>
            <a:off x="4070056" y="3064444"/>
            <a:ext cx="1857375" cy="190500"/>
          </a:xfrm>
          <a:prstGeom prst="rect">
            <a:avLst/>
          </a:prstGeom>
          <a:solidFill>
            <a:srgbClr val="33CC33"/>
          </a:solidFill>
          <a:ln w="28575">
            <a:miter lim="800000"/>
            <a:headEnd/>
            <a:tailEnd/>
          </a:ln>
          <a:effectLst/>
          <a:scene3d>
            <a:camera prst="legacyObliqueTopRight"/>
            <a:lightRig rig="legacyFlat3" dir="b"/>
          </a:scene3d>
          <a:sp3d extrusionH="887400" prstMaterial="legacyMatte">
            <a:bevelT w="13500" h="13500" prst="angle"/>
            <a:bevelB w="13500" h="13500" prst="angle"/>
            <a:extrusionClr>
              <a:srgbClr val="33CC33"/>
            </a:extrusionClr>
          </a:sp3d>
        </p:spPr>
        <p:txBody>
          <a:bodyPr wrap="none" anchor="ctr">
            <a:flatTx/>
          </a:bodyPr>
          <a:lstStyle/>
          <a:p>
            <a:pPr algn="ctr" eaLnBrk="1" hangingPunct="1">
              <a:spcBef>
                <a:spcPct val="50000"/>
              </a:spcBef>
              <a:defRPr/>
            </a:pPr>
            <a:r>
              <a:rPr lang="en-US" altLang="ja-JP" sz="1000">
                <a:solidFill>
                  <a:schemeClr val="bg1"/>
                </a:solidFill>
                <a:effectLst>
                  <a:outerShdw blurRad="38100" dist="38100" dir="2700000" algn="tl">
                    <a:srgbClr val="000000"/>
                  </a:outerShdw>
                </a:effectLst>
                <a:latin typeface="Arial" charset="0"/>
                <a:ea typeface="MS PGothic" pitchFamily="34" charset="-128"/>
                <a:cs typeface="Arial" charset="0"/>
              </a:rPr>
              <a:t>HW</a:t>
            </a:r>
          </a:p>
        </p:txBody>
      </p:sp>
      <p:sp>
        <p:nvSpPr>
          <p:cNvPr id="752652" name="Rectangle 12">
            <a:extLst>
              <a:ext uri="{FF2B5EF4-FFF2-40B4-BE49-F238E27FC236}">
                <a16:creationId xmlns:a16="http://schemas.microsoft.com/office/drawing/2014/main" id="{6D1254C0-4D0E-42D2-A7CF-75337E7E4DF3}"/>
              </a:ext>
            </a:extLst>
          </p:cNvPr>
          <p:cNvSpPr>
            <a:spLocks noChangeArrowheads="1"/>
          </p:cNvSpPr>
          <p:nvPr/>
        </p:nvSpPr>
        <p:spPr bwMode="auto">
          <a:xfrm>
            <a:off x="4070056" y="2796004"/>
            <a:ext cx="1828800" cy="265113"/>
          </a:xfrm>
          <a:prstGeom prst="rect">
            <a:avLst/>
          </a:prstGeom>
          <a:solidFill>
            <a:srgbClr val="3399FF"/>
          </a:solidFill>
          <a:ln w="28575">
            <a:miter lim="800000"/>
            <a:headEnd/>
            <a:tailEnd/>
          </a:ln>
          <a:effectLst/>
          <a:scene3d>
            <a:camera prst="legacyObliqueTopRight"/>
            <a:lightRig rig="legacyFlat3" dir="b"/>
          </a:scene3d>
          <a:sp3d extrusionH="887400" prstMaterial="legacyMatte">
            <a:bevelT w="13500" h="13500" prst="angle"/>
            <a:bevelB w="13500" h="13500" prst="angle"/>
            <a:extrusionClr>
              <a:srgbClr val="3399FF"/>
            </a:extrusionClr>
          </a:sp3d>
        </p:spPr>
        <p:txBody>
          <a:bodyPr wrap="none" anchor="ctr">
            <a:flatTx/>
          </a:bodyPr>
          <a:lstStyle/>
          <a:p>
            <a:pPr algn="ctr" eaLnBrk="1" hangingPunct="1">
              <a:spcBef>
                <a:spcPct val="50000"/>
              </a:spcBef>
              <a:defRPr/>
            </a:pPr>
            <a:r>
              <a:rPr lang="en-US" altLang="ja-JP" sz="1000" dirty="0">
                <a:solidFill>
                  <a:schemeClr val="bg1"/>
                </a:solidFill>
                <a:effectLst>
                  <a:outerShdw blurRad="38100" dist="38100" dir="2700000" algn="tl">
                    <a:srgbClr val="000000"/>
                  </a:outerShdw>
                </a:effectLst>
                <a:latin typeface="Arial" charset="0"/>
                <a:ea typeface="MS PGothic" pitchFamily="34" charset="-128"/>
                <a:cs typeface="Arial" charset="0"/>
              </a:rPr>
              <a:t>VMM</a:t>
            </a:r>
          </a:p>
        </p:txBody>
      </p:sp>
      <p:grpSp>
        <p:nvGrpSpPr>
          <p:cNvPr id="2" name="Group 18">
            <a:extLst>
              <a:ext uri="{FF2B5EF4-FFF2-40B4-BE49-F238E27FC236}">
                <a16:creationId xmlns:a16="http://schemas.microsoft.com/office/drawing/2014/main" id="{DC6C3AB9-1AD7-4867-84CB-E6B7931779E8}"/>
              </a:ext>
            </a:extLst>
          </p:cNvPr>
          <p:cNvGrpSpPr>
            <a:grpSpLocks/>
          </p:cNvGrpSpPr>
          <p:nvPr/>
        </p:nvGrpSpPr>
        <p:grpSpPr bwMode="auto">
          <a:xfrm>
            <a:off x="1650999" y="1793500"/>
            <a:ext cx="1852612" cy="1063625"/>
            <a:chOff x="179" y="812"/>
            <a:chExt cx="1167" cy="670"/>
          </a:xfrm>
        </p:grpSpPr>
        <p:sp>
          <p:nvSpPr>
            <p:cNvPr id="752659" name="Text Box 19">
              <a:extLst>
                <a:ext uri="{FF2B5EF4-FFF2-40B4-BE49-F238E27FC236}">
                  <a16:creationId xmlns:a16="http://schemas.microsoft.com/office/drawing/2014/main" id="{EFC43FE6-6D09-4EE8-A56C-AFA5CF34EEDD}"/>
                </a:ext>
              </a:extLst>
            </p:cNvPr>
            <p:cNvSpPr txBox="1">
              <a:spLocks noChangeArrowheads="1"/>
            </p:cNvSpPr>
            <p:nvPr/>
          </p:nvSpPr>
          <p:spPr bwMode="auto">
            <a:xfrm>
              <a:off x="617" y="1081"/>
              <a:ext cx="260" cy="231"/>
            </a:xfrm>
            <a:prstGeom prst="rect">
              <a:avLst/>
            </a:prstGeom>
            <a:noFill/>
            <a:ln w="9525" algn="ctr">
              <a:noFill/>
              <a:miter lim="800000"/>
              <a:headEnd/>
              <a:tailEnd/>
            </a:ln>
            <a:effectLst/>
          </p:spPr>
          <p:txBody>
            <a:bodyPr wrap="none">
              <a:spAutoFit/>
            </a:bodyPr>
            <a:lstStyle/>
            <a:p>
              <a:pPr algn="ctr" eaLnBrk="1" hangingPunct="1">
                <a:spcBef>
                  <a:spcPct val="50000"/>
                </a:spcBef>
                <a:defRPr/>
              </a:pPr>
              <a:r>
                <a:rPr lang="en-US" altLang="zh-TW" b="1">
                  <a:solidFill>
                    <a:schemeClr val="bg1"/>
                  </a:solidFill>
                  <a:effectLst>
                    <a:outerShdw blurRad="38100" dist="38100" dir="2700000" algn="tl">
                      <a:srgbClr val="000000"/>
                    </a:outerShdw>
                  </a:effectLst>
                  <a:latin typeface="Arial" charset="0"/>
                  <a:ea typeface="新細明體" pitchFamily="18" charset="-120"/>
                </a:rPr>
                <a:t>…</a:t>
              </a:r>
            </a:p>
          </p:txBody>
        </p:sp>
        <p:grpSp>
          <p:nvGrpSpPr>
            <p:cNvPr id="10290" name="Group 20">
              <a:extLst>
                <a:ext uri="{FF2B5EF4-FFF2-40B4-BE49-F238E27FC236}">
                  <a16:creationId xmlns:a16="http://schemas.microsoft.com/office/drawing/2014/main" id="{4F934529-0F5B-4C5E-9E12-CEE2F5E26FCF}"/>
                </a:ext>
              </a:extLst>
            </p:cNvPr>
            <p:cNvGrpSpPr>
              <a:grpSpLocks/>
            </p:cNvGrpSpPr>
            <p:nvPr/>
          </p:nvGrpSpPr>
          <p:grpSpPr bwMode="auto">
            <a:xfrm>
              <a:off x="179" y="812"/>
              <a:ext cx="482" cy="670"/>
              <a:chOff x="2048" y="1877"/>
              <a:chExt cx="549" cy="896"/>
            </a:xfrm>
          </p:grpSpPr>
          <p:grpSp>
            <p:nvGrpSpPr>
              <p:cNvPr id="10298" name="Group 21">
                <a:extLst>
                  <a:ext uri="{FF2B5EF4-FFF2-40B4-BE49-F238E27FC236}">
                    <a16:creationId xmlns:a16="http://schemas.microsoft.com/office/drawing/2014/main" id="{816BD7DD-F33D-4EE9-95EE-CAFEC42A3D38}"/>
                  </a:ext>
                </a:extLst>
              </p:cNvPr>
              <p:cNvGrpSpPr>
                <a:grpSpLocks/>
              </p:cNvGrpSpPr>
              <p:nvPr/>
            </p:nvGrpSpPr>
            <p:grpSpPr bwMode="auto">
              <a:xfrm>
                <a:off x="2093" y="1970"/>
                <a:ext cx="482" cy="737"/>
                <a:chOff x="551" y="2499"/>
                <a:chExt cx="482" cy="737"/>
              </a:xfrm>
            </p:grpSpPr>
            <p:sp>
              <p:nvSpPr>
                <p:cNvPr id="752662" name="AutoShape 22">
                  <a:extLst>
                    <a:ext uri="{FF2B5EF4-FFF2-40B4-BE49-F238E27FC236}">
                      <a16:creationId xmlns:a16="http://schemas.microsoft.com/office/drawing/2014/main" id="{CABB0243-022E-424E-B5EB-D680D4705D60}"/>
                    </a:ext>
                  </a:extLst>
                </p:cNvPr>
                <p:cNvSpPr>
                  <a:spLocks noChangeArrowheads="1"/>
                </p:cNvSpPr>
                <p:nvPr/>
              </p:nvSpPr>
              <p:spPr bwMode="auto">
                <a:xfrm>
                  <a:off x="556" y="2866"/>
                  <a:ext cx="482" cy="372"/>
                </a:xfrm>
                <a:prstGeom prst="cube">
                  <a:avLst>
                    <a:gd name="adj" fmla="val 53495"/>
                  </a:avLst>
                </a:prstGeom>
                <a:gradFill rotWithShape="1">
                  <a:gsLst>
                    <a:gs pos="0">
                      <a:schemeClr val="accent1">
                        <a:gamma/>
                        <a:shade val="46275"/>
                        <a:invGamma/>
                      </a:schemeClr>
                    </a:gs>
                    <a:gs pos="50000">
                      <a:schemeClr val="accent1"/>
                    </a:gs>
                    <a:gs pos="100000">
                      <a:schemeClr val="accent1">
                        <a:gamma/>
                        <a:shade val="46275"/>
                        <a:invGamma/>
                      </a:schemeClr>
                    </a:gs>
                  </a:gsLst>
                  <a:lin ang="2700000" scaled="1"/>
                </a:gradFill>
                <a:ln w="9525">
                  <a:noFill/>
                  <a:miter lim="800000"/>
                  <a:headEnd/>
                  <a:tailEnd/>
                </a:ln>
                <a:effectLst/>
              </p:spPr>
              <p:txBody>
                <a:bodyPr wrap="none" anchor="ctr"/>
                <a:lstStyle/>
                <a:p>
                  <a:pPr algn="ctr" eaLnBrk="1" hangingPunct="1">
                    <a:defRPr/>
                  </a:pPr>
                  <a:r>
                    <a:rPr lang="en-US" sz="900">
                      <a:solidFill>
                        <a:schemeClr val="bg1"/>
                      </a:solidFill>
                      <a:effectLst>
                        <a:outerShdw blurRad="38100" dist="38100" dir="2700000" algn="tl">
                          <a:srgbClr val="000000"/>
                        </a:outerShdw>
                      </a:effectLst>
                      <a:latin typeface="Verdana" pitchFamily="34" charset="0"/>
                    </a:rPr>
                    <a:t>OS</a:t>
                  </a:r>
                </a:p>
              </p:txBody>
            </p:sp>
            <p:sp>
              <p:nvSpPr>
                <p:cNvPr id="10301" name="AutoShape 23">
                  <a:extLst>
                    <a:ext uri="{FF2B5EF4-FFF2-40B4-BE49-F238E27FC236}">
                      <a16:creationId xmlns:a16="http://schemas.microsoft.com/office/drawing/2014/main" id="{7511E984-5055-4407-9B16-5678008E0409}"/>
                    </a:ext>
                  </a:extLst>
                </p:cNvPr>
                <p:cNvSpPr>
                  <a:spLocks noChangeArrowheads="1"/>
                </p:cNvSpPr>
                <p:nvPr/>
              </p:nvSpPr>
              <p:spPr bwMode="auto">
                <a:xfrm>
                  <a:off x="714" y="2499"/>
                  <a:ext cx="306" cy="381"/>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0302" name="AutoShape 24">
                  <a:extLst>
                    <a:ext uri="{FF2B5EF4-FFF2-40B4-BE49-F238E27FC236}">
                      <a16:creationId xmlns:a16="http://schemas.microsoft.com/office/drawing/2014/main" id="{5EA59C65-4467-4CE4-9EBD-51C803A8F834}"/>
                    </a:ext>
                  </a:extLst>
                </p:cNvPr>
                <p:cNvSpPr>
                  <a:spLocks noChangeArrowheads="1"/>
                </p:cNvSpPr>
                <p:nvPr/>
              </p:nvSpPr>
              <p:spPr bwMode="auto">
                <a:xfrm>
                  <a:off x="636" y="2568"/>
                  <a:ext cx="306" cy="381"/>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752665" name="AutoShape 25">
                  <a:extLst>
                    <a:ext uri="{FF2B5EF4-FFF2-40B4-BE49-F238E27FC236}">
                      <a16:creationId xmlns:a16="http://schemas.microsoft.com/office/drawing/2014/main" id="{7CC548CF-F2D4-4478-BDBA-9002D99E2953}"/>
                    </a:ext>
                  </a:extLst>
                </p:cNvPr>
                <p:cNvSpPr>
                  <a:spLocks noChangeArrowheads="1"/>
                </p:cNvSpPr>
                <p:nvPr/>
              </p:nvSpPr>
              <p:spPr bwMode="auto">
                <a:xfrm>
                  <a:off x="557" y="2637"/>
                  <a:ext cx="306" cy="381"/>
                </a:xfrm>
                <a:prstGeom prst="cube">
                  <a:avLst>
                    <a:gd name="adj" fmla="val 13074"/>
                  </a:avLst>
                </a:prstGeom>
                <a:gradFill rotWithShape="1">
                  <a:gsLst>
                    <a:gs pos="0">
                      <a:srgbClr val="AA014C">
                        <a:gamma/>
                        <a:shade val="46275"/>
                        <a:invGamma/>
                      </a:srgbClr>
                    </a:gs>
                    <a:gs pos="50000">
                      <a:srgbClr val="AA014C"/>
                    </a:gs>
                    <a:gs pos="100000">
                      <a:srgbClr val="AA014C">
                        <a:gamma/>
                        <a:shade val="46275"/>
                        <a:invGamma/>
                      </a:srgbClr>
                    </a:gs>
                  </a:gsLst>
                  <a:lin ang="2700000" scaled="1"/>
                </a:gradFill>
                <a:ln w="9525">
                  <a:noFill/>
                  <a:miter lim="800000"/>
                  <a:headEnd/>
                  <a:tailEnd/>
                </a:ln>
                <a:effectLst/>
              </p:spPr>
              <p:txBody>
                <a:bodyPr wrap="none" anchor="ctr"/>
                <a:lstStyle/>
                <a:p>
                  <a:pPr algn="ctr" eaLnBrk="1" hangingPunct="1">
                    <a:defRPr/>
                  </a:pPr>
                  <a:r>
                    <a:rPr lang="en-US" sz="900">
                      <a:solidFill>
                        <a:schemeClr val="bg1"/>
                      </a:solidFill>
                      <a:effectLst>
                        <a:outerShdw blurRad="38100" dist="38100" dir="2700000" algn="tl">
                          <a:srgbClr val="000000"/>
                        </a:outerShdw>
                      </a:effectLst>
                      <a:latin typeface="Verdana" pitchFamily="34" charset="0"/>
                    </a:rPr>
                    <a:t>App</a:t>
                  </a:r>
                </a:p>
              </p:txBody>
            </p:sp>
          </p:grpSp>
          <p:sp>
            <p:nvSpPr>
              <p:cNvPr id="10299" name="AutoShape 26">
                <a:extLst>
                  <a:ext uri="{FF2B5EF4-FFF2-40B4-BE49-F238E27FC236}">
                    <a16:creationId xmlns:a16="http://schemas.microsoft.com/office/drawing/2014/main" id="{0081A71B-6573-4657-91B5-2AE0BA8EFEAE}"/>
                  </a:ext>
                </a:extLst>
              </p:cNvPr>
              <p:cNvSpPr>
                <a:spLocks noChangeArrowheads="1"/>
              </p:cNvSpPr>
              <p:nvPr/>
            </p:nvSpPr>
            <p:spPr bwMode="ltGray">
              <a:xfrm>
                <a:off x="2048" y="1877"/>
                <a:ext cx="549" cy="896"/>
              </a:xfrm>
              <a:prstGeom prst="cube">
                <a:avLst>
                  <a:gd name="adj" fmla="val 30708"/>
                </a:avLst>
              </a:prstGeom>
              <a:solidFill>
                <a:srgbClr val="FF9900">
                  <a:alpha val="20000"/>
                </a:srgbClr>
              </a:solidFill>
              <a:ln w="25400">
                <a:solidFill>
                  <a:srgbClr val="FF9966"/>
                </a:solidFill>
                <a:miter lim="800000"/>
                <a:headEnd/>
                <a:tailEnd/>
              </a:ln>
            </p:spPr>
            <p:txBody>
              <a:bodyPr wrap="none" lIns="87545" tIns="43772" rIns="87545" bIns="43772"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1000" b="1">
                  <a:solidFill>
                    <a:schemeClr val="bg1"/>
                  </a:solidFill>
                  <a:latin typeface="Verdana" panose="020B0604030504040204" pitchFamily="34" charset="0"/>
                  <a:ea typeface="新細明體" panose="02020500000000000000" pitchFamily="18" charset="-120"/>
                </a:endParaRPr>
              </a:p>
            </p:txBody>
          </p:sp>
        </p:grpSp>
        <p:grpSp>
          <p:nvGrpSpPr>
            <p:cNvPr id="10291" name="Group 27">
              <a:extLst>
                <a:ext uri="{FF2B5EF4-FFF2-40B4-BE49-F238E27FC236}">
                  <a16:creationId xmlns:a16="http://schemas.microsoft.com/office/drawing/2014/main" id="{35EEFDD6-FAFE-4449-A06A-41446862A5DA}"/>
                </a:ext>
              </a:extLst>
            </p:cNvPr>
            <p:cNvGrpSpPr>
              <a:grpSpLocks/>
            </p:cNvGrpSpPr>
            <p:nvPr/>
          </p:nvGrpSpPr>
          <p:grpSpPr bwMode="auto">
            <a:xfrm>
              <a:off x="864" y="812"/>
              <a:ext cx="482" cy="670"/>
              <a:chOff x="2048" y="1877"/>
              <a:chExt cx="549" cy="896"/>
            </a:xfrm>
          </p:grpSpPr>
          <p:grpSp>
            <p:nvGrpSpPr>
              <p:cNvPr id="10292" name="Group 28">
                <a:extLst>
                  <a:ext uri="{FF2B5EF4-FFF2-40B4-BE49-F238E27FC236}">
                    <a16:creationId xmlns:a16="http://schemas.microsoft.com/office/drawing/2014/main" id="{0952C47C-8369-4809-9994-1A8B70ED2371}"/>
                  </a:ext>
                </a:extLst>
              </p:cNvPr>
              <p:cNvGrpSpPr>
                <a:grpSpLocks/>
              </p:cNvGrpSpPr>
              <p:nvPr/>
            </p:nvGrpSpPr>
            <p:grpSpPr bwMode="auto">
              <a:xfrm>
                <a:off x="2093" y="1970"/>
                <a:ext cx="482" cy="737"/>
                <a:chOff x="551" y="2499"/>
                <a:chExt cx="482" cy="737"/>
              </a:xfrm>
            </p:grpSpPr>
            <p:sp>
              <p:nvSpPr>
                <p:cNvPr id="752669" name="AutoShape 29">
                  <a:extLst>
                    <a:ext uri="{FF2B5EF4-FFF2-40B4-BE49-F238E27FC236}">
                      <a16:creationId xmlns:a16="http://schemas.microsoft.com/office/drawing/2014/main" id="{C746E781-450B-476F-92B4-7E88FD785BE9}"/>
                    </a:ext>
                  </a:extLst>
                </p:cNvPr>
                <p:cNvSpPr>
                  <a:spLocks noChangeArrowheads="1"/>
                </p:cNvSpPr>
                <p:nvPr/>
              </p:nvSpPr>
              <p:spPr bwMode="auto">
                <a:xfrm>
                  <a:off x="556" y="2866"/>
                  <a:ext cx="482" cy="372"/>
                </a:xfrm>
                <a:prstGeom prst="cube">
                  <a:avLst>
                    <a:gd name="adj" fmla="val 53495"/>
                  </a:avLst>
                </a:prstGeom>
                <a:gradFill rotWithShape="1">
                  <a:gsLst>
                    <a:gs pos="0">
                      <a:schemeClr val="accent1">
                        <a:gamma/>
                        <a:shade val="46275"/>
                        <a:invGamma/>
                      </a:schemeClr>
                    </a:gs>
                    <a:gs pos="50000">
                      <a:schemeClr val="accent1"/>
                    </a:gs>
                    <a:gs pos="100000">
                      <a:schemeClr val="accent1">
                        <a:gamma/>
                        <a:shade val="46275"/>
                        <a:invGamma/>
                      </a:schemeClr>
                    </a:gs>
                  </a:gsLst>
                  <a:lin ang="2700000" scaled="1"/>
                </a:gradFill>
                <a:ln w="9525">
                  <a:noFill/>
                  <a:miter lim="800000"/>
                  <a:headEnd/>
                  <a:tailEnd/>
                </a:ln>
                <a:effectLst/>
              </p:spPr>
              <p:txBody>
                <a:bodyPr wrap="none" anchor="ctr"/>
                <a:lstStyle/>
                <a:p>
                  <a:pPr algn="ctr" eaLnBrk="1" hangingPunct="1">
                    <a:defRPr/>
                  </a:pPr>
                  <a:r>
                    <a:rPr lang="en-US" sz="900">
                      <a:solidFill>
                        <a:schemeClr val="bg1"/>
                      </a:solidFill>
                      <a:effectLst>
                        <a:outerShdw blurRad="38100" dist="38100" dir="2700000" algn="tl">
                          <a:srgbClr val="000000"/>
                        </a:outerShdw>
                      </a:effectLst>
                      <a:latin typeface="Verdana" pitchFamily="34" charset="0"/>
                    </a:rPr>
                    <a:t>OS</a:t>
                  </a:r>
                </a:p>
              </p:txBody>
            </p:sp>
            <p:sp>
              <p:nvSpPr>
                <p:cNvPr id="10295" name="AutoShape 30">
                  <a:extLst>
                    <a:ext uri="{FF2B5EF4-FFF2-40B4-BE49-F238E27FC236}">
                      <a16:creationId xmlns:a16="http://schemas.microsoft.com/office/drawing/2014/main" id="{5B76BD3E-0C7C-4D51-B2DC-25C4CFAD732B}"/>
                    </a:ext>
                  </a:extLst>
                </p:cNvPr>
                <p:cNvSpPr>
                  <a:spLocks noChangeArrowheads="1"/>
                </p:cNvSpPr>
                <p:nvPr/>
              </p:nvSpPr>
              <p:spPr bwMode="auto">
                <a:xfrm>
                  <a:off x="714" y="2499"/>
                  <a:ext cx="306" cy="381"/>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0296" name="AutoShape 31">
                  <a:extLst>
                    <a:ext uri="{FF2B5EF4-FFF2-40B4-BE49-F238E27FC236}">
                      <a16:creationId xmlns:a16="http://schemas.microsoft.com/office/drawing/2014/main" id="{2D527C07-1B27-4EC5-B0F5-AB23C415AE76}"/>
                    </a:ext>
                  </a:extLst>
                </p:cNvPr>
                <p:cNvSpPr>
                  <a:spLocks noChangeArrowheads="1"/>
                </p:cNvSpPr>
                <p:nvPr/>
              </p:nvSpPr>
              <p:spPr bwMode="auto">
                <a:xfrm>
                  <a:off x="636" y="2568"/>
                  <a:ext cx="306" cy="381"/>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752672" name="AutoShape 32">
                  <a:extLst>
                    <a:ext uri="{FF2B5EF4-FFF2-40B4-BE49-F238E27FC236}">
                      <a16:creationId xmlns:a16="http://schemas.microsoft.com/office/drawing/2014/main" id="{422842D7-7F03-4C81-9F19-B2A6A006A9DD}"/>
                    </a:ext>
                  </a:extLst>
                </p:cNvPr>
                <p:cNvSpPr>
                  <a:spLocks noChangeArrowheads="1"/>
                </p:cNvSpPr>
                <p:nvPr/>
              </p:nvSpPr>
              <p:spPr bwMode="auto">
                <a:xfrm>
                  <a:off x="557" y="2637"/>
                  <a:ext cx="306" cy="381"/>
                </a:xfrm>
                <a:prstGeom prst="cube">
                  <a:avLst>
                    <a:gd name="adj" fmla="val 13074"/>
                  </a:avLst>
                </a:prstGeom>
                <a:gradFill rotWithShape="1">
                  <a:gsLst>
                    <a:gs pos="0">
                      <a:srgbClr val="AA014C">
                        <a:gamma/>
                        <a:shade val="46275"/>
                        <a:invGamma/>
                      </a:srgbClr>
                    </a:gs>
                    <a:gs pos="50000">
                      <a:srgbClr val="AA014C"/>
                    </a:gs>
                    <a:gs pos="100000">
                      <a:srgbClr val="AA014C">
                        <a:gamma/>
                        <a:shade val="46275"/>
                        <a:invGamma/>
                      </a:srgbClr>
                    </a:gs>
                  </a:gsLst>
                  <a:lin ang="2700000" scaled="1"/>
                </a:gradFill>
                <a:ln w="9525">
                  <a:noFill/>
                  <a:miter lim="800000"/>
                  <a:headEnd/>
                  <a:tailEnd/>
                </a:ln>
                <a:effectLst/>
              </p:spPr>
              <p:txBody>
                <a:bodyPr wrap="none" anchor="ctr"/>
                <a:lstStyle/>
                <a:p>
                  <a:pPr algn="ctr" eaLnBrk="1" hangingPunct="1">
                    <a:defRPr/>
                  </a:pPr>
                  <a:r>
                    <a:rPr lang="en-US" sz="900">
                      <a:solidFill>
                        <a:schemeClr val="bg1"/>
                      </a:solidFill>
                      <a:effectLst>
                        <a:outerShdw blurRad="38100" dist="38100" dir="2700000" algn="tl">
                          <a:srgbClr val="000000"/>
                        </a:outerShdw>
                      </a:effectLst>
                      <a:latin typeface="Verdana" pitchFamily="34" charset="0"/>
                    </a:rPr>
                    <a:t>App</a:t>
                  </a:r>
                </a:p>
              </p:txBody>
            </p:sp>
          </p:grpSp>
          <p:sp>
            <p:nvSpPr>
              <p:cNvPr id="10293" name="AutoShape 33">
                <a:extLst>
                  <a:ext uri="{FF2B5EF4-FFF2-40B4-BE49-F238E27FC236}">
                    <a16:creationId xmlns:a16="http://schemas.microsoft.com/office/drawing/2014/main" id="{4D2FDAD1-BB87-4877-BD57-9DD8B089E4FA}"/>
                  </a:ext>
                </a:extLst>
              </p:cNvPr>
              <p:cNvSpPr>
                <a:spLocks noChangeArrowheads="1"/>
              </p:cNvSpPr>
              <p:nvPr/>
            </p:nvSpPr>
            <p:spPr bwMode="ltGray">
              <a:xfrm>
                <a:off x="2048" y="1877"/>
                <a:ext cx="549" cy="896"/>
              </a:xfrm>
              <a:prstGeom prst="cube">
                <a:avLst>
                  <a:gd name="adj" fmla="val 30708"/>
                </a:avLst>
              </a:prstGeom>
              <a:solidFill>
                <a:srgbClr val="FF9900">
                  <a:alpha val="20000"/>
                </a:srgbClr>
              </a:solidFill>
              <a:ln w="25400">
                <a:solidFill>
                  <a:srgbClr val="FF9966"/>
                </a:solidFill>
                <a:miter lim="800000"/>
                <a:headEnd/>
                <a:tailEnd/>
              </a:ln>
            </p:spPr>
            <p:txBody>
              <a:bodyPr wrap="none" lIns="87545" tIns="43772" rIns="87545" bIns="43772"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1000" b="1">
                  <a:solidFill>
                    <a:schemeClr val="bg1"/>
                  </a:solidFill>
                  <a:latin typeface="Verdana" panose="020B0604030504040204" pitchFamily="34" charset="0"/>
                  <a:ea typeface="新細明體" panose="02020500000000000000" pitchFamily="18" charset="-120"/>
                </a:endParaRPr>
              </a:p>
            </p:txBody>
          </p:sp>
        </p:grpSp>
      </p:grpSp>
      <p:sp>
        <p:nvSpPr>
          <p:cNvPr id="10249" name="Text Box 112">
            <a:extLst>
              <a:ext uri="{FF2B5EF4-FFF2-40B4-BE49-F238E27FC236}">
                <a16:creationId xmlns:a16="http://schemas.microsoft.com/office/drawing/2014/main" id="{7952F066-319C-4101-B014-2246DBC2B6D7}"/>
              </a:ext>
            </a:extLst>
          </p:cNvPr>
          <p:cNvSpPr txBox="1">
            <a:spLocks noChangeArrowheads="1"/>
          </p:cNvSpPr>
          <p:nvPr/>
        </p:nvSpPr>
        <p:spPr bwMode="auto">
          <a:xfrm>
            <a:off x="2819400" y="6457950"/>
            <a:ext cx="7010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2000" b="1">
                <a:solidFill>
                  <a:srgbClr val="FFFF00"/>
                </a:solidFill>
                <a:latin typeface="Verdana" panose="020B0604030504040204" pitchFamily="34" charset="0"/>
                <a:ea typeface="新細明體" panose="02020500000000000000" pitchFamily="18" charset="-120"/>
              </a:rPr>
              <a:t>Benefit: Business Agility and Productivity</a:t>
            </a:r>
          </a:p>
        </p:txBody>
      </p:sp>
      <p:sp>
        <p:nvSpPr>
          <p:cNvPr id="10250" name="Text Box 113">
            <a:extLst>
              <a:ext uri="{FF2B5EF4-FFF2-40B4-BE49-F238E27FC236}">
                <a16:creationId xmlns:a16="http://schemas.microsoft.com/office/drawing/2014/main" id="{13C3DE44-4F5F-484E-A41E-94DAA839023B}"/>
              </a:ext>
            </a:extLst>
          </p:cNvPr>
          <p:cNvSpPr txBox="1">
            <a:spLocks noChangeArrowheads="1"/>
          </p:cNvSpPr>
          <p:nvPr/>
        </p:nvSpPr>
        <p:spPr bwMode="auto">
          <a:xfrm>
            <a:off x="4114800" y="3772124"/>
            <a:ext cx="396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ja-JP" sz="2400" b="1">
                <a:solidFill>
                  <a:srgbClr val="FF0000"/>
                </a:solidFill>
                <a:latin typeface="Verdana" panose="020B0604030504040204" pitchFamily="34" charset="0"/>
                <a:ea typeface="MS PGothic" panose="020B0600070205080204" pitchFamily="34" charset="-128"/>
                <a:cs typeface="Arial" panose="020B0604020202020204" pitchFamily="34" charset="0"/>
              </a:rPr>
              <a:t>R&amp;D          Production</a:t>
            </a:r>
          </a:p>
        </p:txBody>
      </p:sp>
      <p:sp>
        <p:nvSpPr>
          <p:cNvPr id="752754" name="Rectangle 114">
            <a:extLst>
              <a:ext uri="{FF2B5EF4-FFF2-40B4-BE49-F238E27FC236}">
                <a16:creationId xmlns:a16="http://schemas.microsoft.com/office/drawing/2014/main" id="{132D5428-7DB7-4143-B0A1-816526E7070E}"/>
              </a:ext>
            </a:extLst>
          </p:cNvPr>
          <p:cNvSpPr>
            <a:spLocks noChangeArrowheads="1"/>
          </p:cNvSpPr>
          <p:nvPr/>
        </p:nvSpPr>
        <p:spPr bwMode="auto">
          <a:xfrm>
            <a:off x="4073525" y="5634262"/>
            <a:ext cx="3627438" cy="158750"/>
          </a:xfrm>
          <a:prstGeom prst="rect">
            <a:avLst/>
          </a:prstGeom>
          <a:solidFill>
            <a:srgbClr val="33CC33"/>
          </a:solidFill>
          <a:ln w="28575">
            <a:miter lim="800000"/>
            <a:headEnd/>
            <a:tailEnd/>
          </a:ln>
          <a:effectLst/>
          <a:scene3d>
            <a:camera prst="legacyObliqueTopRight"/>
            <a:lightRig rig="legacyFlat3" dir="b"/>
          </a:scene3d>
          <a:sp3d extrusionH="887400" prstMaterial="legacyMatte">
            <a:bevelT w="13500" h="13500" prst="angle"/>
            <a:bevelB w="13500" h="13500" prst="angle"/>
            <a:extrusionClr>
              <a:srgbClr val="33CC33"/>
            </a:extrusionClr>
          </a:sp3d>
        </p:spPr>
        <p:txBody>
          <a:bodyPr wrap="none" anchor="ctr">
            <a:flatTx/>
          </a:bodyPr>
          <a:lstStyle/>
          <a:p>
            <a:pPr algn="ctr" eaLnBrk="1" hangingPunct="1">
              <a:spcBef>
                <a:spcPct val="50000"/>
              </a:spcBef>
              <a:defRPr/>
            </a:pPr>
            <a:r>
              <a:rPr lang="en-US" altLang="ja-JP" sz="1200">
                <a:solidFill>
                  <a:schemeClr val="bg1"/>
                </a:solidFill>
                <a:effectLst>
                  <a:outerShdw blurRad="38100" dist="38100" dir="2700000" algn="tl">
                    <a:srgbClr val="000000"/>
                  </a:outerShdw>
                </a:effectLst>
                <a:latin typeface="Arial" charset="0"/>
                <a:ea typeface="MS PGothic" pitchFamily="34" charset="-128"/>
                <a:cs typeface="Arial" charset="0"/>
              </a:rPr>
              <a:t>HW</a:t>
            </a:r>
          </a:p>
        </p:txBody>
      </p:sp>
      <p:sp>
        <p:nvSpPr>
          <p:cNvPr id="752755" name="Rectangle 115">
            <a:extLst>
              <a:ext uri="{FF2B5EF4-FFF2-40B4-BE49-F238E27FC236}">
                <a16:creationId xmlns:a16="http://schemas.microsoft.com/office/drawing/2014/main" id="{A6C495E1-099C-4460-B717-3BA500E6D7A3}"/>
              </a:ext>
            </a:extLst>
          </p:cNvPr>
          <p:cNvSpPr>
            <a:spLocks noChangeArrowheads="1"/>
          </p:cNvSpPr>
          <p:nvPr/>
        </p:nvSpPr>
        <p:spPr bwMode="auto">
          <a:xfrm>
            <a:off x="4073525" y="5410425"/>
            <a:ext cx="3627438" cy="157163"/>
          </a:xfrm>
          <a:prstGeom prst="rect">
            <a:avLst/>
          </a:prstGeom>
          <a:solidFill>
            <a:srgbClr val="3399FF"/>
          </a:solidFill>
          <a:ln w="28575">
            <a:miter lim="800000"/>
            <a:headEnd/>
            <a:tailEnd/>
          </a:ln>
          <a:effectLst/>
          <a:scene3d>
            <a:camera prst="legacyObliqueTopRight"/>
            <a:lightRig rig="legacyFlat3" dir="b"/>
          </a:scene3d>
          <a:sp3d extrusionH="887400" prstMaterial="legacyMatte">
            <a:bevelT w="13500" h="13500" prst="angle"/>
            <a:bevelB w="13500" h="13500" prst="angle"/>
            <a:extrusionClr>
              <a:srgbClr val="3399FF"/>
            </a:extrusionClr>
          </a:sp3d>
        </p:spPr>
        <p:txBody>
          <a:bodyPr wrap="none" anchor="ctr">
            <a:flatTx/>
          </a:bodyPr>
          <a:lstStyle/>
          <a:p>
            <a:pPr algn="ctr" eaLnBrk="1" hangingPunct="1">
              <a:spcBef>
                <a:spcPct val="50000"/>
              </a:spcBef>
              <a:defRPr/>
            </a:pPr>
            <a:r>
              <a:rPr lang="en-US" altLang="ja-JP" sz="1200">
                <a:effectLst>
                  <a:outerShdw blurRad="38100" dist="38100" dir="2700000" algn="tl">
                    <a:srgbClr val="000000"/>
                  </a:outerShdw>
                </a:effectLst>
                <a:latin typeface="Arial" charset="0"/>
                <a:ea typeface="MS PGothic" pitchFamily="34" charset="-128"/>
                <a:cs typeface="Arial" charset="0"/>
              </a:rPr>
              <a:t>VMM</a:t>
            </a:r>
          </a:p>
        </p:txBody>
      </p:sp>
      <p:grpSp>
        <p:nvGrpSpPr>
          <p:cNvPr id="7" name="Group 116">
            <a:extLst>
              <a:ext uri="{FF2B5EF4-FFF2-40B4-BE49-F238E27FC236}">
                <a16:creationId xmlns:a16="http://schemas.microsoft.com/office/drawing/2014/main" id="{6EE01DC9-1750-4C42-97B5-CD1300CD5965}"/>
              </a:ext>
            </a:extLst>
          </p:cNvPr>
          <p:cNvGrpSpPr>
            <a:grpSpLocks/>
          </p:cNvGrpSpPr>
          <p:nvPr/>
        </p:nvGrpSpPr>
        <p:grpSpPr bwMode="auto">
          <a:xfrm>
            <a:off x="4667250" y="4303938"/>
            <a:ext cx="781050" cy="1069975"/>
            <a:chOff x="2048" y="1877"/>
            <a:chExt cx="549" cy="896"/>
          </a:xfrm>
        </p:grpSpPr>
        <p:grpSp>
          <p:nvGrpSpPr>
            <p:cNvPr id="10283" name="Group 117">
              <a:extLst>
                <a:ext uri="{FF2B5EF4-FFF2-40B4-BE49-F238E27FC236}">
                  <a16:creationId xmlns:a16="http://schemas.microsoft.com/office/drawing/2014/main" id="{D08139A0-0BA8-47E4-BA7A-FC2BC36B51BD}"/>
                </a:ext>
              </a:extLst>
            </p:cNvPr>
            <p:cNvGrpSpPr>
              <a:grpSpLocks/>
            </p:cNvGrpSpPr>
            <p:nvPr/>
          </p:nvGrpSpPr>
          <p:grpSpPr bwMode="auto">
            <a:xfrm>
              <a:off x="2093" y="1970"/>
              <a:ext cx="482" cy="737"/>
              <a:chOff x="551" y="2499"/>
              <a:chExt cx="482" cy="737"/>
            </a:xfrm>
          </p:grpSpPr>
          <p:sp>
            <p:nvSpPr>
              <p:cNvPr id="752758" name="AutoShape 118">
                <a:extLst>
                  <a:ext uri="{FF2B5EF4-FFF2-40B4-BE49-F238E27FC236}">
                    <a16:creationId xmlns:a16="http://schemas.microsoft.com/office/drawing/2014/main" id="{5ED983B4-0BC4-43C2-BAC5-7066D4B5CC7B}"/>
                  </a:ext>
                </a:extLst>
              </p:cNvPr>
              <p:cNvSpPr>
                <a:spLocks noChangeArrowheads="1"/>
              </p:cNvSpPr>
              <p:nvPr/>
            </p:nvSpPr>
            <p:spPr bwMode="auto">
              <a:xfrm>
                <a:off x="551" y="2863"/>
                <a:ext cx="482" cy="370"/>
              </a:xfrm>
              <a:prstGeom prst="cube">
                <a:avLst>
                  <a:gd name="adj" fmla="val 53495"/>
                </a:avLst>
              </a:prstGeom>
              <a:gradFill rotWithShape="1">
                <a:gsLst>
                  <a:gs pos="0">
                    <a:schemeClr val="accent1">
                      <a:gamma/>
                      <a:shade val="46275"/>
                      <a:invGamma/>
                    </a:schemeClr>
                  </a:gs>
                  <a:gs pos="50000">
                    <a:schemeClr val="accent1"/>
                  </a:gs>
                  <a:gs pos="100000">
                    <a:schemeClr val="accent1">
                      <a:gamma/>
                      <a:shade val="46275"/>
                      <a:invGamma/>
                    </a:schemeClr>
                  </a:gs>
                </a:gsLst>
                <a:lin ang="2700000" scaled="1"/>
              </a:gradFill>
              <a:ln w="9525">
                <a:noFill/>
                <a:miter lim="800000"/>
                <a:headEnd/>
                <a:tailEnd/>
              </a:ln>
              <a:effectLst/>
            </p:spPr>
            <p:txBody>
              <a:bodyPr wrap="none" anchor="ctr"/>
              <a:lstStyle/>
              <a:p>
                <a:pPr algn="ctr" eaLnBrk="1" hangingPunct="1">
                  <a:defRPr/>
                </a:pPr>
                <a:r>
                  <a:rPr lang="en-US" sz="1000">
                    <a:solidFill>
                      <a:schemeClr val="bg1"/>
                    </a:solidFill>
                    <a:effectLst>
                      <a:outerShdw blurRad="38100" dist="38100" dir="2700000" algn="tl">
                        <a:srgbClr val="000000"/>
                      </a:outerShdw>
                    </a:effectLst>
                    <a:latin typeface="Verdana" pitchFamily="34" charset="0"/>
                  </a:rPr>
                  <a:t>OS</a:t>
                </a:r>
              </a:p>
            </p:txBody>
          </p:sp>
          <p:sp>
            <p:nvSpPr>
              <p:cNvPr id="10286" name="AutoShape 119">
                <a:extLst>
                  <a:ext uri="{FF2B5EF4-FFF2-40B4-BE49-F238E27FC236}">
                    <a16:creationId xmlns:a16="http://schemas.microsoft.com/office/drawing/2014/main" id="{EFAEAD49-92D4-4200-A44D-EFAC81306A5A}"/>
                  </a:ext>
                </a:extLst>
              </p:cNvPr>
              <p:cNvSpPr>
                <a:spLocks noChangeArrowheads="1"/>
              </p:cNvSpPr>
              <p:nvPr/>
            </p:nvSpPr>
            <p:spPr bwMode="auto">
              <a:xfrm>
                <a:off x="714" y="2499"/>
                <a:ext cx="306" cy="381"/>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0287" name="AutoShape 120">
                <a:extLst>
                  <a:ext uri="{FF2B5EF4-FFF2-40B4-BE49-F238E27FC236}">
                    <a16:creationId xmlns:a16="http://schemas.microsoft.com/office/drawing/2014/main" id="{5CADC2D5-60EC-4283-88A7-8BBF78514830}"/>
                  </a:ext>
                </a:extLst>
              </p:cNvPr>
              <p:cNvSpPr>
                <a:spLocks noChangeArrowheads="1"/>
              </p:cNvSpPr>
              <p:nvPr/>
            </p:nvSpPr>
            <p:spPr bwMode="auto">
              <a:xfrm>
                <a:off x="636" y="2568"/>
                <a:ext cx="306" cy="381"/>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752761" name="AutoShape 121">
                <a:extLst>
                  <a:ext uri="{FF2B5EF4-FFF2-40B4-BE49-F238E27FC236}">
                    <a16:creationId xmlns:a16="http://schemas.microsoft.com/office/drawing/2014/main" id="{130D54B6-83C1-4463-A39C-B8354957F2D1}"/>
                  </a:ext>
                </a:extLst>
              </p:cNvPr>
              <p:cNvSpPr>
                <a:spLocks noChangeArrowheads="1"/>
              </p:cNvSpPr>
              <p:nvPr/>
            </p:nvSpPr>
            <p:spPr bwMode="auto">
              <a:xfrm>
                <a:off x="555" y="2637"/>
                <a:ext cx="308" cy="379"/>
              </a:xfrm>
              <a:prstGeom prst="cube">
                <a:avLst>
                  <a:gd name="adj" fmla="val 13074"/>
                </a:avLst>
              </a:prstGeom>
              <a:gradFill rotWithShape="1">
                <a:gsLst>
                  <a:gs pos="0">
                    <a:srgbClr val="AA014C">
                      <a:gamma/>
                      <a:shade val="46275"/>
                      <a:invGamma/>
                    </a:srgbClr>
                  </a:gs>
                  <a:gs pos="50000">
                    <a:srgbClr val="AA014C"/>
                  </a:gs>
                  <a:gs pos="100000">
                    <a:srgbClr val="AA014C">
                      <a:gamma/>
                      <a:shade val="46275"/>
                      <a:invGamma/>
                    </a:srgbClr>
                  </a:gs>
                </a:gsLst>
                <a:lin ang="2700000" scaled="1"/>
              </a:gradFill>
              <a:ln w="9525">
                <a:noFill/>
                <a:miter lim="800000"/>
                <a:headEnd/>
                <a:tailEnd/>
              </a:ln>
              <a:effectLst/>
            </p:spPr>
            <p:txBody>
              <a:bodyPr wrap="none" anchor="ctr"/>
              <a:lstStyle/>
              <a:p>
                <a:pPr algn="ctr" eaLnBrk="1" hangingPunct="1">
                  <a:defRPr/>
                </a:pPr>
                <a:r>
                  <a:rPr lang="en-US" sz="1000">
                    <a:solidFill>
                      <a:schemeClr val="bg1"/>
                    </a:solidFill>
                    <a:effectLst>
                      <a:outerShdw blurRad="38100" dist="38100" dir="2700000" algn="tl">
                        <a:srgbClr val="000000"/>
                      </a:outerShdw>
                    </a:effectLst>
                    <a:latin typeface="Verdana" pitchFamily="34" charset="0"/>
                  </a:rPr>
                  <a:t>App</a:t>
                </a:r>
              </a:p>
            </p:txBody>
          </p:sp>
        </p:grpSp>
        <p:sp>
          <p:nvSpPr>
            <p:cNvPr id="10284" name="AutoShape 122">
              <a:extLst>
                <a:ext uri="{FF2B5EF4-FFF2-40B4-BE49-F238E27FC236}">
                  <a16:creationId xmlns:a16="http://schemas.microsoft.com/office/drawing/2014/main" id="{707407BD-B16B-4EF0-92BB-D846B7AA30FE}"/>
                </a:ext>
              </a:extLst>
            </p:cNvPr>
            <p:cNvSpPr>
              <a:spLocks noChangeArrowheads="1"/>
            </p:cNvSpPr>
            <p:nvPr/>
          </p:nvSpPr>
          <p:spPr bwMode="ltGray">
            <a:xfrm>
              <a:off x="2048" y="1877"/>
              <a:ext cx="549" cy="896"/>
            </a:xfrm>
            <a:prstGeom prst="cube">
              <a:avLst>
                <a:gd name="adj" fmla="val 30708"/>
              </a:avLst>
            </a:prstGeom>
            <a:solidFill>
              <a:srgbClr val="FF9900">
                <a:alpha val="20000"/>
              </a:srgbClr>
            </a:solidFill>
            <a:ln w="25400">
              <a:solidFill>
                <a:srgbClr val="FF9966"/>
              </a:solidFill>
              <a:miter lim="800000"/>
              <a:headEnd/>
              <a:tailEnd/>
            </a:ln>
          </p:spPr>
          <p:txBody>
            <a:bodyPr wrap="none" lIns="87545" tIns="43772" rIns="87545" bIns="43772"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1200" b="1">
                <a:solidFill>
                  <a:schemeClr val="bg1"/>
                </a:solidFill>
                <a:latin typeface="Verdana" panose="020B0604030504040204" pitchFamily="34" charset="0"/>
                <a:ea typeface="新細明體" panose="02020500000000000000" pitchFamily="18" charset="-120"/>
              </a:endParaRPr>
            </a:p>
          </p:txBody>
        </p:sp>
      </p:grpSp>
      <p:sp>
        <p:nvSpPr>
          <p:cNvPr id="10254" name="AutoShape 123">
            <a:extLst>
              <a:ext uri="{FF2B5EF4-FFF2-40B4-BE49-F238E27FC236}">
                <a16:creationId xmlns:a16="http://schemas.microsoft.com/office/drawing/2014/main" id="{703BD7D7-35B9-48C8-B55E-A51256EE308C}"/>
              </a:ext>
            </a:extLst>
          </p:cNvPr>
          <p:cNvSpPr>
            <a:spLocks noChangeArrowheads="1"/>
          </p:cNvSpPr>
          <p:nvPr/>
        </p:nvSpPr>
        <p:spPr bwMode="ltGray">
          <a:xfrm>
            <a:off x="6349313" y="4170588"/>
            <a:ext cx="1431925" cy="1203325"/>
          </a:xfrm>
          <a:prstGeom prst="cube">
            <a:avLst>
              <a:gd name="adj" fmla="val 20519"/>
            </a:avLst>
          </a:prstGeom>
          <a:solidFill>
            <a:srgbClr val="FF0000">
              <a:alpha val="20000"/>
            </a:srgbClr>
          </a:solidFill>
          <a:ln w="25400">
            <a:solidFill>
              <a:srgbClr val="FF9966"/>
            </a:solidFill>
            <a:prstDash val="dash"/>
            <a:miter lim="800000"/>
            <a:headEnd/>
            <a:tailEnd/>
          </a:ln>
        </p:spPr>
        <p:txBody>
          <a:bodyPr wrap="none" lIns="87545" tIns="43772" rIns="87545" bIns="43772"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1200" b="1">
              <a:solidFill>
                <a:srgbClr val="000066"/>
              </a:solidFill>
              <a:latin typeface="Verdana" panose="020B0604030504040204" pitchFamily="34" charset="0"/>
              <a:ea typeface="新細明體" panose="02020500000000000000" pitchFamily="18" charset="-120"/>
            </a:endParaRPr>
          </a:p>
        </p:txBody>
      </p:sp>
      <p:sp>
        <p:nvSpPr>
          <p:cNvPr id="752800" name="Rectangle 160">
            <a:extLst>
              <a:ext uri="{FF2B5EF4-FFF2-40B4-BE49-F238E27FC236}">
                <a16:creationId xmlns:a16="http://schemas.microsoft.com/office/drawing/2014/main" id="{6D8F225B-F734-4AC6-9E15-5842985F7F29}"/>
              </a:ext>
            </a:extLst>
          </p:cNvPr>
          <p:cNvSpPr>
            <a:spLocks noChangeArrowheads="1"/>
          </p:cNvSpPr>
          <p:nvPr/>
        </p:nvSpPr>
        <p:spPr bwMode="auto">
          <a:xfrm>
            <a:off x="7680112" y="2632305"/>
            <a:ext cx="977900" cy="171450"/>
          </a:xfrm>
          <a:prstGeom prst="rect">
            <a:avLst/>
          </a:prstGeom>
          <a:solidFill>
            <a:srgbClr val="33CC33"/>
          </a:solidFill>
          <a:ln w="28575">
            <a:miter lim="800000"/>
            <a:headEnd/>
            <a:tailEnd/>
          </a:ln>
          <a:effectLst/>
          <a:scene3d>
            <a:camera prst="legacyObliqueTopRight"/>
            <a:lightRig rig="legacyFlat3" dir="b"/>
          </a:scene3d>
          <a:sp3d extrusionH="887400" prstMaterial="legacyMatte">
            <a:bevelT w="13500" h="13500" prst="angle"/>
            <a:bevelB w="13500" h="13500" prst="angle"/>
            <a:extrusionClr>
              <a:srgbClr val="33CC33"/>
            </a:extrusionClr>
          </a:sp3d>
        </p:spPr>
        <p:txBody>
          <a:bodyPr wrap="none" anchor="ctr">
            <a:flatTx/>
          </a:bodyPr>
          <a:lstStyle/>
          <a:p>
            <a:pPr algn="ctr" eaLnBrk="1" hangingPunct="1">
              <a:spcBef>
                <a:spcPct val="50000"/>
              </a:spcBef>
              <a:defRPr/>
            </a:pPr>
            <a:r>
              <a:rPr lang="en-US" altLang="ja-JP" sz="1200">
                <a:solidFill>
                  <a:schemeClr val="bg1"/>
                </a:solidFill>
                <a:effectLst>
                  <a:outerShdw blurRad="38100" dist="38100" dir="2700000" algn="tl">
                    <a:srgbClr val="000000"/>
                  </a:outerShdw>
                </a:effectLst>
                <a:latin typeface="Arial" charset="0"/>
                <a:ea typeface="MS PGothic" pitchFamily="34" charset="-128"/>
                <a:cs typeface="Arial" charset="0"/>
              </a:rPr>
              <a:t>HW</a:t>
            </a:r>
          </a:p>
        </p:txBody>
      </p:sp>
      <p:sp>
        <p:nvSpPr>
          <p:cNvPr id="752802" name="Rectangle 162">
            <a:extLst>
              <a:ext uri="{FF2B5EF4-FFF2-40B4-BE49-F238E27FC236}">
                <a16:creationId xmlns:a16="http://schemas.microsoft.com/office/drawing/2014/main" id="{2C2BE2B1-DFF5-4366-BF99-AE34F1BC03F3}"/>
              </a:ext>
            </a:extLst>
          </p:cNvPr>
          <p:cNvSpPr>
            <a:spLocks noChangeArrowheads="1"/>
          </p:cNvSpPr>
          <p:nvPr/>
        </p:nvSpPr>
        <p:spPr bwMode="auto">
          <a:xfrm>
            <a:off x="9054887" y="2602144"/>
            <a:ext cx="938212" cy="174625"/>
          </a:xfrm>
          <a:prstGeom prst="rect">
            <a:avLst/>
          </a:prstGeom>
          <a:solidFill>
            <a:srgbClr val="33CC33"/>
          </a:solidFill>
          <a:ln w="28575">
            <a:miter lim="800000"/>
            <a:headEnd/>
            <a:tailEnd/>
          </a:ln>
          <a:effectLst/>
          <a:scene3d>
            <a:camera prst="legacyObliqueTopRight"/>
            <a:lightRig rig="legacyFlat3" dir="b"/>
          </a:scene3d>
          <a:sp3d extrusionH="887400" prstMaterial="legacyMatte">
            <a:bevelT w="13500" h="13500" prst="angle"/>
            <a:bevelB w="13500" h="13500" prst="angle"/>
            <a:extrusionClr>
              <a:srgbClr val="33CC33"/>
            </a:extrusionClr>
          </a:sp3d>
        </p:spPr>
        <p:txBody>
          <a:bodyPr wrap="none" anchor="ctr">
            <a:flatTx/>
          </a:bodyPr>
          <a:lstStyle/>
          <a:p>
            <a:pPr algn="ctr" eaLnBrk="1" hangingPunct="1">
              <a:spcBef>
                <a:spcPct val="50000"/>
              </a:spcBef>
              <a:defRPr/>
            </a:pPr>
            <a:r>
              <a:rPr lang="en-US" altLang="ja-JP" sz="1200">
                <a:solidFill>
                  <a:schemeClr val="bg1"/>
                </a:solidFill>
                <a:effectLst>
                  <a:outerShdw blurRad="38100" dist="38100" dir="2700000" algn="tl">
                    <a:srgbClr val="000000"/>
                  </a:outerShdw>
                </a:effectLst>
                <a:latin typeface="Arial" charset="0"/>
                <a:ea typeface="MS PGothic" pitchFamily="34" charset="-128"/>
                <a:cs typeface="Arial" charset="0"/>
              </a:rPr>
              <a:t>HW</a:t>
            </a:r>
          </a:p>
        </p:txBody>
      </p:sp>
      <p:sp>
        <p:nvSpPr>
          <p:cNvPr id="752803" name="Rectangle 163">
            <a:extLst>
              <a:ext uri="{FF2B5EF4-FFF2-40B4-BE49-F238E27FC236}">
                <a16:creationId xmlns:a16="http://schemas.microsoft.com/office/drawing/2014/main" id="{DB25ED8E-1622-48AE-AC9A-5EFEE7EEE8F5}"/>
              </a:ext>
            </a:extLst>
          </p:cNvPr>
          <p:cNvSpPr>
            <a:spLocks noChangeArrowheads="1"/>
          </p:cNvSpPr>
          <p:nvPr/>
        </p:nvSpPr>
        <p:spPr bwMode="auto">
          <a:xfrm>
            <a:off x="9054887" y="2394181"/>
            <a:ext cx="938212" cy="176213"/>
          </a:xfrm>
          <a:prstGeom prst="rect">
            <a:avLst/>
          </a:prstGeom>
          <a:solidFill>
            <a:srgbClr val="3399FF"/>
          </a:solidFill>
          <a:ln w="28575">
            <a:miter lim="800000"/>
            <a:headEnd/>
            <a:tailEnd/>
          </a:ln>
          <a:effectLst/>
          <a:scene3d>
            <a:camera prst="legacyObliqueTopRight"/>
            <a:lightRig rig="legacyFlat3" dir="b"/>
          </a:scene3d>
          <a:sp3d extrusionH="887400" prstMaterial="legacyMatte">
            <a:bevelT w="13500" h="13500" prst="angle"/>
            <a:bevelB w="13500" h="13500" prst="angle"/>
            <a:extrusionClr>
              <a:srgbClr val="3399FF"/>
            </a:extrusionClr>
          </a:sp3d>
        </p:spPr>
        <p:txBody>
          <a:bodyPr wrap="none" anchor="ctr">
            <a:flatTx/>
          </a:bodyPr>
          <a:lstStyle/>
          <a:p>
            <a:pPr algn="ctr" eaLnBrk="1" hangingPunct="1">
              <a:spcBef>
                <a:spcPct val="50000"/>
              </a:spcBef>
              <a:defRPr/>
            </a:pPr>
            <a:r>
              <a:rPr lang="en-US" altLang="ja-JP" sz="1200">
                <a:solidFill>
                  <a:schemeClr val="bg1"/>
                </a:solidFill>
                <a:effectLst>
                  <a:outerShdw blurRad="38100" dist="38100" dir="2700000" algn="tl">
                    <a:srgbClr val="000000"/>
                  </a:outerShdw>
                </a:effectLst>
                <a:latin typeface="Arial" charset="0"/>
                <a:ea typeface="MS PGothic" pitchFamily="34" charset="-128"/>
                <a:cs typeface="Arial" charset="0"/>
              </a:rPr>
              <a:t>VMM</a:t>
            </a:r>
          </a:p>
        </p:txBody>
      </p:sp>
      <p:grpSp>
        <p:nvGrpSpPr>
          <p:cNvPr id="9" name="Group 200">
            <a:extLst>
              <a:ext uri="{FF2B5EF4-FFF2-40B4-BE49-F238E27FC236}">
                <a16:creationId xmlns:a16="http://schemas.microsoft.com/office/drawing/2014/main" id="{ECEFDE7B-2CFC-4BDC-9CF2-F9CEA9D40E49}"/>
              </a:ext>
            </a:extLst>
          </p:cNvPr>
          <p:cNvGrpSpPr>
            <a:grpSpLocks/>
          </p:cNvGrpSpPr>
          <p:nvPr/>
        </p:nvGrpSpPr>
        <p:grpSpPr bwMode="auto">
          <a:xfrm>
            <a:off x="7595974" y="1411519"/>
            <a:ext cx="1524000" cy="1069975"/>
            <a:chOff x="2048" y="1877"/>
            <a:chExt cx="549" cy="896"/>
          </a:xfrm>
        </p:grpSpPr>
        <p:grpSp>
          <p:nvGrpSpPr>
            <p:cNvPr id="10277" name="Group 201">
              <a:extLst>
                <a:ext uri="{FF2B5EF4-FFF2-40B4-BE49-F238E27FC236}">
                  <a16:creationId xmlns:a16="http://schemas.microsoft.com/office/drawing/2014/main" id="{BA7ED689-B5AA-4D7B-9411-8555C2CF053B}"/>
                </a:ext>
              </a:extLst>
            </p:cNvPr>
            <p:cNvGrpSpPr>
              <a:grpSpLocks/>
            </p:cNvGrpSpPr>
            <p:nvPr/>
          </p:nvGrpSpPr>
          <p:grpSpPr bwMode="auto">
            <a:xfrm>
              <a:off x="2093" y="1970"/>
              <a:ext cx="482" cy="737"/>
              <a:chOff x="551" y="2499"/>
              <a:chExt cx="482" cy="737"/>
            </a:xfrm>
          </p:grpSpPr>
          <p:sp>
            <p:nvSpPr>
              <p:cNvPr id="752842" name="AutoShape 202">
                <a:extLst>
                  <a:ext uri="{FF2B5EF4-FFF2-40B4-BE49-F238E27FC236}">
                    <a16:creationId xmlns:a16="http://schemas.microsoft.com/office/drawing/2014/main" id="{98EEDCC6-6BC0-4D78-9CE3-8FD7F9247FB4}"/>
                  </a:ext>
                </a:extLst>
              </p:cNvPr>
              <p:cNvSpPr>
                <a:spLocks noChangeArrowheads="1"/>
              </p:cNvSpPr>
              <p:nvPr/>
            </p:nvSpPr>
            <p:spPr bwMode="auto">
              <a:xfrm>
                <a:off x="551" y="2863"/>
                <a:ext cx="482" cy="370"/>
              </a:xfrm>
              <a:prstGeom prst="cube">
                <a:avLst>
                  <a:gd name="adj" fmla="val 53495"/>
                </a:avLst>
              </a:prstGeom>
              <a:gradFill rotWithShape="1">
                <a:gsLst>
                  <a:gs pos="0">
                    <a:schemeClr val="accent1">
                      <a:gamma/>
                      <a:shade val="46275"/>
                      <a:invGamma/>
                    </a:schemeClr>
                  </a:gs>
                  <a:gs pos="50000">
                    <a:schemeClr val="accent1"/>
                  </a:gs>
                  <a:gs pos="100000">
                    <a:schemeClr val="accent1">
                      <a:gamma/>
                      <a:shade val="46275"/>
                      <a:invGamma/>
                    </a:schemeClr>
                  </a:gs>
                </a:gsLst>
                <a:lin ang="2700000" scaled="1"/>
              </a:gradFill>
              <a:ln w="9525">
                <a:noFill/>
                <a:miter lim="800000"/>
                <a:headEnd/>
                <a:tailEnd/>
              </a:ln>
              <a:effectLst/>
            </p:spPr>
            <p:txBody>
              <a:bodyPr wrap="none" anchor="ctr"/>
              <a:lstStyle/>
              <a:p>
                <a:pPr algn="ctr" eaLnBrk="1" hangingPunct="1">
                  <a:defRPr/>
                </a:pPr>
                <a:r>
                  <a:rPr lang="en-US" sz="1000">
                    <a:solidFill>
                      <a:schemeClr val="bg1"/>
                    </a:solidFill>
                    <a:effectLst>
                      <a:outerShdw blurRad="38100" dist="38100" dir="2700000" algn="tl">
                        <a:srgbClr val="000000"/>
                      </a:outerShdw>
                    </a:effectLst>
                    <a:latin typeface="Verdana" pitchFamily="34" charset="0"/>
                  </a:rPr>
                  <a:t>OS</a:t>
                </a:r>
              </a:p>
            </p:txBody>
          </p:sp>
          <p:sp>
            <p:nvSpPr>
              <p:cNvPr id="10280" name="AutoShape 203">
                <a:extLst>
                  <a:ext uri="{FF2B5EF4-FFF2-40B4-BE49-F238E27FC236}">
                    <a16:creationId xmlns:a16="http://schemas.microsoft.com/office/drawing/2014/main" id="{5DD825C0-9A65-4612-AB74-8B1922CFF516}"/>
                  </a:ext>
                </a:extLst>
              </p:cNvPr>
              <p:cNvSpPr>
                <a:spLocks noChangeArrowheads="1"/>
              </p:cNvSpPr>
              <p:nvPr/>
            </p:nvSpPr>
            <p:spPr bwMode="auto">
              <a:xfrm>
                <a:off x="714" y="2499"/>
                <a:ext cx="306" cy="381"/>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0281" name="AutoShape 204">
                <a:extLst>
                  <a:ext uri="{FF2B5EF4-FFF2-40B4-BE49-F238E27FC236}">
                    <a16:creationId xmlns:a16="http://schemas.microsoft.com/office/drawing/2014/main" id="{E9EC6737-4503-4B39-938E-056A747BAB9A}"/>
                  </a:ext>
                </a:extLst>
              </p:cNvPr>
              <p:cNvSpPr>
                <a:spLocks noChangeArrowheads="1"/>
              </p:cNvSpPr>
              <p:nvPr/>
            </p:nvSpPr>
            <p:spPr bwMode="auto">
              <a:xfrm>
                <a:off x="636" y="2568"/>
                <a:ext cx="306" cy="381"/>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752845" name="AutoShape 205">
                <a:extLst>
                  <a:ext uri="{FF2B5EF4-FFF2-40B4-BE49-F238E27FC236}">
                    <a16:creationId xmlns:a16="http://schemas.microsoft.com/office/drawing/2014/main" id="{3A729712-B70C-469E-BBD0-332267A00462}"/>
                  </a:ext>
                </a:extLst>
              </p:cNvPr>
              <p:cNvSpPr>
                <a:spLocks noChangeArrowheads="1"/>
              </p:cNvSpPr>
              <p:nvPr/>
            </p:nvSpPr>
            <p:spPr bwMode="auto">
              <a:xfrm>
                <a:off x="557" y="2637"/>
                <a:ext cx="307" cy="379"/>
              </a:xfrm>
              <a:prstGeom prst="cube">
                <a:avLst>
                  <a:gd name="adj" fmla="val 13074"/>
                </a:avLst>
              </a:prstGeom>
              <a:gradFill rotWithShape="1">
                <a:gsLst>
                  <a:gs pos="0">
                    <a:srgbClr val="AA014C">
                      <a:gamma/>
                      <a:shade val="46275"/>
                      <a:invGamma/>
                    </a:srgbClr>
                  </a:gs>
                  <a:gs pos="50000">
                    <a:srgbClr val="AA014C"/>
                  </a:gs>
                  <a:gs pos="100000">
                    <a:srgbClr val="AA014C">
                      <a:gamma/>
                      <a:shade val="46275"/>
                      <a:invGamma/>
                    </a:srgbClr>
                  </a:gs>
                </a:gsLst>
                <a:lin ang="2700000" scaled="1"/>
              </a:gradFill>
              <a:ln w="9525">
                <a:noFill/>
                <a:miter lim="800000"/>
                <a:headEnd/>
                <a:tailEnd/>
              </a:ln>
              <a:effectLst/>
            </p:spPr>
            <p:txBody>
              <a:bodyPr wrap="none" anchor="ctr"/>
              <a:lstStyle/>
              <a:p>
                <a:pPr algn="ctr" eaLnBrk="1" hangingPunct="1">
                  <a:defRPr/>
                </a:pPr>
                <a:r>
                  <a:rPr lang="en-US" sz="1000">
                    <a:solidFill>
                      <a:schemeClr val="bg1"/>
                    </a:solidFill>
                    <a:effectLst>
                      <a:outerShdw blurRad="38100" dist="38100" dir="2700000" algn="tl">
                        <a:srgbClr val="000000"/>
                      </a:outerShdw>
                    </a:effectLst>
                    <a:latin typeface="Verdana" pitchFamily="34" charset="0"/>
                  </a:rPr>
                  <a:t>App</a:t>
                </a:r>
              </a:p>
            </p:txBody>
          </p:sp>
        </p:grpSp>
        <p:sp>
          <p:nvSpPr>
            <p:cNvPr id="10278" name="AutoShape 206">
              <a:extLst>
                <a:ext uri="{FF2B5EF4-FFF2-40B4-BE49-F238E27FC236}">
                  <a16:creationId xmlns:a16="http://schemas.microsoft.com/office/drawing/2014/main" id="{70AB9CCF-215B-42FB-8113-BE48D4E3CDA8}"/>
                </a:ext>
              </a:extLst>
            </p:cNvPr>
            <p:cNvSpPr>
              <a:spLocks noChangeArrowheads="1"/>
            </p:cNvSpPr>
            <p:nvPr/>
          </p:nvSpPr>
          <p:spPr bwMode="ltGray">
            <a:xfrm>
              <a:off x="2048" y="1877"/>
              <a:ext cx="549" cy="896"/>
            </a:xfrm>
            <a:prstGeom prst="cube">
              <a:avLst>
                <a:gd name="adj" fmla="val 30708"/>
              </a:avLst>
            </a:prstGeom>
            <a:solidFill>
              <a:srgbClr val="FF9900">
                <a:alpha val="20000"/>
              </a:srgbClr>
            </a:solidFill>
            <a:ln w="25400">
              <a:solidFill>
                <a:srgbClr val="FF9966"/>
              </a:solidFill>
              <a:miter lim="800000"/>
              <a:headEnd/>
              <a:tailEnd/>
            </a:ln>
          </p:spPr>
          <p:txBody>
            <a:bodyPr wrap="none" lIns="87545" tIns="43772" rIns="87545" bIns="43772"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1200" b="1">
                <a:solidFill>
                  <a:schemeClr val="bg1"/>
                </a:solidFill>
                <a:latin typeface="Verdana" panose="020B0604030504040204" pitchFamily="34" charset="0"/>
                <a:ea typeface="新細明體" panose="02020500000000000000" pitchFamily="18" charset="-120"/>
              </a:endParaRPr>
            </a:p>
          </p:txBody>
        </p:sp>
      </p:grpSp>
      <p:grpSp>
        <p:nvGrpSpPr>
          <p:cNvPr id="11" name="Group 214">
            <a:extLst>
              <a:ext uri="{FF2B5EF4-FFF2-40B4-BE49-F238E27FC236}">
                <a16:creationId xmlns:a16="http://schemas.microsoft.com/office/drawing/2014/main" id="{5C7AFAC8-7205-4977-8B78-ACF60E0A2EC7}"/>
              </a:ext>
            </a:extLst>
          </p:cNvPr>
          <p:cNvGrpSpPr>
            <a:grpSpLocks/>
          </p:cNvGrpSpPr>
          <p:nvPr/>
        </p:nvGrpSpPr>
        <p:grpSpPr bwMode="auto">
          <a:xfrm>
            <a:off x="9272375" y="1259119"/>
            <a:ext cx="955675" cy="987425"/>
            <a:chOff x="314" y="2426"/>
            <a:chExt cx="1040" cy="622"/>
          </a:xfrm>
        </p:grpSpPr>
        <p:grpSp>
          <p:nvGrpSpPr>
            <p:cNvPr id="10262" name="Group 215">
              <a:extLst>
                <a:ext uri="{FF2B5EF4-FFF2-40B4-BE49-F238E27FC236}">
                  <a16:creationId xmlns:a16="http://schemas.microsoft.com/office/drawing/2014/main" id="{BA5E6573-34F3-4A83-88A8-FF505AD392D1}"/>
                </a:ext>
              </a:extLst>
            </p:cNvPr>
            <p:cNvGrpSpPr>
              <a:grpSpLocks/>
            </p:cNvGrpSpPr>
            <p:nvPr/>
          </p:nvGrpSpPr>
          <p:grpSpPr bwMode="auto">
            <a:xfrm>
              <a:off x="314" y="2426"/>
              <a:ext cx="487" cy="622"/>
              <a:chOff x="2048" y="1877"/>
              <a:chExt cx="549" cy="896"/>
            </a:xfrm>
          </p:grpSpPr>
          <p:grpSp>
            <p:nvGrpSpPr>
              <p:cNvPr id="10271" name="Group 216">
                <a:extLst>
                  <a:ext uri="{FF2B5EF4-FFF2-40B4-BE49-F238E27FC236}">
                    <a16:creationId xmlns:a16="http://schemas.microsoft.com/office/drawing/2014/main" id="{858379BD-EC8A-4EE2-AE98-D9FD29CF5583}"/>
                  </a:ext>
                </a:extLst>
              </p:cNvPr>
              <p:cNvGrpSpPr>
                <a:grpSpLocks/>
              </p:cNvGrpSpPr>
              <p:nvPr/>
            </p:nvGrpSpPr>
            <p:grpSpPr bwMode="auto">
              <a:xfrm>
                <a:off x="2093" y="1970"/>
                <a:ext cx="482" cy="737"/>
                <a:chOff x="551" y="2499"/>
                <a:chExt cx="482" cy="737"/>
              </a:xfrm>
            </p:grpSpPr>
            <p:sp>
              <p:nvSpPr>
                <p:cNvPr id="752857" name="AutoShape 217">
                  <a:extLst>
                    <a:ext uri="{FF2B5EF4-FFF2-40B4-BE49-F238E27FC236}">
                      <a16:creationId xmlns:a16="http://schemas.microsoft.com/office/drawing/2014/main" id="{D56E1115-B3A3-46D8-81D8-3E4609839F6B}"/>
                    </a:ext>
                  </a:extLst>
                </p:cNvPr>
                <p:cNvSpPr>
                  <a:spLocks noChangeArrowheads="1"/>
                </p:cNvSpPr>
                <p:nvPr/>
              </p:nvSpPr>
              <p:spPr bwMode="auto">
                <a:xfrm>
                  <a:off x="551" y="2864"/>
                  <a:ext cx="502" cy="372"/>
                </a:xfrm>
                <a:prstGeom prst="cube">
                  <a:avLst>
                    <a:gd name="adj" fmla="val 53495"/>
                  </a:avLst>
                </a:prstGeom>
                <a:gradFill rotWithShape="1">
                  <a:gsLst>
                    <a:gs pos="0">
                      <a:schemeClr val="accent1">
                        <a:gamma/>
                        <a:shade val="46275"/>
                        <a:invGamma/>
                      </a:schemeClr>
                    </a:gs>
                    <a:gs pos="50000">
                      <a:schemeClr val="accent1"/>
                    </a:gs>
                    <a:gs pos="100000">
                      <a:schemeClr val="accent1">
                        <a:gamma/>
                        <a:shade val="46275"/>
                        <a:invGamma/>
                      </a:schemeClr>
                    </a:gs>
                  </a:gsLst>
                  <a:lin ang="2700000" scaled="1"/>
                </a:gradFill>
                <a:ln w="9525">
                  <a:noFill/>
                  <a:miter lim="800000"/>
                  <a:headEnd/>
                  <a:tailEnd/>
                </a:ln>
                <a:effectLst/>
              </p:spPr>
              <p:txBody>
                <a:bodyPr wrap="none" anchor="ctr"/>
                <a:lstStyle/>
                <a:p>
                  <a:pPr algn="ctr" eaLnBrk="1" hangingPunct="1">
                    <a:defRPr/>
                  </a:pPr>
                  <a:r>
                    <a:rPr lang="en-US" sz="1000">
                      <a:solidFill>
                        <a:schemeClr val="bg1"/>
                      </a:solidFill>
                      <a:effectLst>
                        <a:outerShdw blurRad="38100" dist="38100" dir="2700000" algn="tl">
                          <a:srgbClr val="000000"/>
                        </a:outerShdw>
                      </a:effectLst>
                      <a:latin typeface="Verdana" pitchFamily="34" charset="0"/>
                    </a:rPr>
                    <a:t>OS</a:t>
                  </a:r>
                </a:p>
              </p:txBody>
            </p:sp>
            <p:sp>
              <p:nvSpPr>
                <p:cNvPr id="10274" name="AutoShape 218">
                  <a:extLst>
                    <a:ext uri="{FF2B5EF4-FFF2-40B4-BE49-F238E27FC236}">
                      <a16:creationId xmlns:a16="http://schemas.microsoft.com/office/drawing/2014/main" id="{2F87DBB8-8DBD-4EB0-90CB-E2652B119DC6}"/>
                    </a:ext>
                  </a:extLst>
                </p:cNvPr>
                <p:cNvSpPr>
                  <a:spLocks noChangeArrowheads="1"/>
                </p:cNvSpPr>
                <p:nvPr/>
              </p:nvSpPr>
              <p:spPr bwMode="auto">
                <a:xfrm>
                  <a:off x="714" y="2499"/>
                  <a:ext cx="306" cy="381"/>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0275" name="AutoShape 219">
                  <a:extLst>
                    <a:ext uri="{FF2B5EF4-FFF2-40B4-BE49-F238E27FC236}">
                      <a16:creationId xmlns:a16="http://schemas.microsoft.com/office/drawing/2014/main" id="{2A801340-31FF-44A0-B9E1-B423249D519F}"/>
                    </a:ext>
                  </a:extLst>
                </p:cNvPr>
                <p:cNvSpPr>
                  <a:spLocks noChangeArrowheads="1"/>
                </p:cNvSpPr>
                <p:nvPr/>
              </p:nvSpPr>
              <p:spPr bwMode="auto">
                <a:xfrm>
                  <a:off x="636" y="2568"/>
                  <a:ext cx="306" cy="381"/>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752860" name="AutoShape 220">
                  <a:extLst>
                    <a:ext uri="{FF2B5EF4-FFF2-40B4-BE49-F238E27FC236}">
                      <a16:creationId xmlns:a16="http://schemas.microsoft.com/office/drawing/2014/main" id="{8000112D-5C85-4326-9DFA-96D13A67027B}"/>
                    </a:ext>
                  </a:extLst>
                </p:cNvPr>
                <p:cNvSpPr>
                  <a:spLocks noChangeArrowheads="1"/>
                </p:cNvSpPr>
                <p:nvPr/>
              </p:nvSpPr>
              <p:spPr bwMode="auto">
                <a:xfrm>
                  <a:off x="557" y="2638"/>
                  <a:ext cx="315" cy="380"/>
                </a:xfrm>
                <a:prstGeom prst="cube">
                  <a:avLst>
                    <a:gd name="adj" fmla="val 13074"/>
                  </a:avLst>
                </a:prstGeom>
                <a:gradFill rotWithShape="1">
                  <a:gsLst>
                    <a:gs pos="0">
                      <a:srgbClr val="AA014C">
                        <a:gamma/>
                        <a:shade val="46275"/>
                        <a:invGamma/>
                      </a:srgbClr>
                    </a:gs>
                    <a:gs pos="50000">
                      <a:srgbClr val="AA014C"/>
                    </a:gs>
                    <a:gs pos="100000">
                      <a:srgbClr val="AA014C">
                        <a:gamma/>
                        <a:shade val="46275"/>
                        <a:invGamma/>
                      </a:srgbClr>
                    </a:gs>
                  </a:gsLst>
                  <a:lin ang="2700000" scaled="1"/>
                </a:gradFill>
                <a:ln w="9525">
                  <a:noFill/>
                  <a:miter lim="800000"/>
                  <a:headEnd/>
                  <a:tailEnd/>
                </a:ln>
                <a:effectLst/>
              </p:spPr>
              <p:txBody>
                <a:bodyPr wrap="none" anchor="ctr"/>
                <a:lstStyle/>
                <a:p>
                  <a:pPr algn="ctr" eaLnBrk="1" hangingPunct="1">
                    <a:defRPr/>
                  </a:pPr>
                  <a:r>
                    <a:rPr lang="en-US" sz="1000">
                      <a:solidFill>
                        <a:schemeClr val="bg1"/>
                      </a:solidFill>
                      <a:effectLst>
                        <a:outerShdw blurRad="38100" dist="38100" dir="2700000" algn="tl">
                          <a:srgbClr val="000000"/>
                        </a:outerShdw>
                      </a:effectLst>
                      <a:latin typeface="Verdana" pitchFamily="34" charset="0"/>
                    </a:rPr>
                    <a:t>App</a:t>
                  </a:r>
                </a:p>
              </p:txBody>
            </p:sp>
          </p:grpSp>
          <p:sp>
            <p:nvSpPr>
              <p:cNvPr id="10272" name="AutoShape 221">
                <a:extLst>
                  <a:ext uri="{FF2B5EF4-FFF2-40B4-BE49-F238E27FC236}">
                    <a16:creationId xmlns:a16="http://schemas.microsoft.com/office/drawing/2014/main" id="{052B25E4-3420-4865-84DE-214078A5562A}"/>
                  </a:ext>
                </a:extLst>
              </p:cNvPr>
              <p:cNvSpPr>
                <a:spLocks noChangeArrowheads="1"/>
              </p:cNvSpPr>
              <p:nvPr/>
            </p:nvSpPr>
            <p:spPr bwMode="ltGray">
              <a:xfrm>
                <a:off x="2048" y="1877"/>
                <a:ext cx="549" cy="896"/>
              </a:xfrm>
              <a:prstGeom prst="cube">
                <a:avLst>
                  <a:gd name="adj" fmla="val 30708"/>
                </a:avLst>
              </a:prstGeom>
              <a:solidFill>
                <a:srgbClr val="FF9900">
                  <a:alpha val="20000"/>
                </a:srgbClr>
              </a:solidFill>
              <a:ln w="25400">
                <a:solidFill>
                  <a:srgbClr val="FF9966"/>
                </a:solidFill>
                <a:miter lim="800000"/>
                <a:headEnd/>
                <a:tailEnd/>
              </a:ln>
            </p:spPr>
            <p:txBody>
              <a:bodyPr wrap="none" lIns="87545" tIns="43772" rIns="87545" bIns="43772"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1200" b="1">
                  <a:solidFill>
                    <a:schemeClr val="bg1"/>
                  </a:solidFill>
                  <a:latin typeface="Verdana" panose="020B0604030504040204" pitchFamily="34" charset="0"/>
                  <a:ea typeface="新細明體" panose="02020500000000000000" pitchFamily="18" charset="-120"/>
                </a:endParaRPr>
              </a:p>
            </p:txBody>
          </p:sp>
        </p:grpSp>
        <p:sp>
          <p:nvSpPr>
            <p:cNvPr id="752862" name="Text Box 222">
              <a:extLst>
                <a:ext uri="{FF2B5EF4-FFF2-40B4-BE49-F238E27FC236}">
                  <a16:creationId xmlns:a16="http://schemas.microsoft.com/office/drawing/2014/main" id="{544C30E6-5B1C-4B76-83FD-CE4507D5C0C0}"/>
                </a:ext>
              </a:extLst>
            </p:cNvPr>
            <p:cNvSpPr txBox="1">
              <a:spLocks noChangeArrowheads="1"/>
            </p:cNvSpPr>
            <p:nvPr/>
          </p:nvSpPr>
          <p:spPr bwMode="auto">
            <a:xfrm>
              <a:off x="523" y="2647"/>
              <a:ext cx="452" cy="233"/>
            </a:xfrm>
            <a:prstGeom prst="rect">
              <a:avLst/>
            </a:prstGeom>
            <a:noFill/>
            <a:ln w="9525" algn="ctr">
              <a:noFill/>
              <a:miter lim="800000"/>
              <a:headEnd/>
              <a:tailEnd/>
            </a:ln>
            <a:effectLst/>
          </p:spPr>
          <p:txBody>
            <a:bodyPr wrap="none">
              <a:spAutoFit/>
            </a:bodyPr>
            <a:lstStyle/>
            <a:p>
              <a:pPr algn="ctr" eaLnBrk="1" hangingPunct="1">
                <a:spcBef>
                  <a:spcPct val="50000"/>
                </a:spcBef>
                <a:defRPr/>
              </a:pPr>
              <a:r>
                <a:rPr lang="en-US" altLang="zh-TW" b="1">
                  <a:solidFill>
                    <a:schemeClr val="bg1"/>
                  </a:solidFill>
                  <a:effectLst>
                    <a:outerShdw blurRad="38100" dist="38100" dir="2700000" algn="tl">
                      <a:srgbClr val="000000"/>
                    </a:outerShdw>
                  </a:effectLst>
                  <a:latin typeface="Arial" charset="0"/>
                  <a:ea typeface="新細明體" pitchFamily="18" charset="-120"/>
                </a:rPr>
                <a:t>…</a:t>
              </a:r>
            </a:p>
          </p:txBody>
        </p:sp>
        <p:grpSp>
          <p:nvGrpSpPr>
            <p:cNvPr id="10264" name="Group 223">
              <a:extLst>
                <a:ext uri="{FF2B5EF4-FFF2-40B4-BE49-F238E27FC236}">
                  <a16:creationId xmlns:a16="http://schemas.microsoft.com/office/drawing/2014/main" id="{4D6F79E6-CA0F-4CE8-BB7A-465D0F1B6155}"/>
                </a:ext>
              </a:extLst>
            </p:cNvPr>
            <p:cNvGrpSpPr>
              <a:grpSpLocks/>
            </p:cNvGrpSpPr>
            <p:nvPr/>
          </p:nvGrpSpPr>
          <p:grpSpPr bwMode="auto">
            <a:xfrm>
              <a:off x="867" y="2426"/>
              <a:ext cx="487" cy="620"/>
              <a:chOff x="2048" y="1877"/>
              <a:chExt cx="549" cy="896"/>
            </a:xfrm>
          </p:grpSpPr>
          <p:grpSp>
            <p:nvGrpSpPr>
              <p:cNvPr id="10265" name="Group 224">
                <a:extLst>
                  <a:ext uri="{FF2B5EF4-FFF2-40B4-BE49-F238E27FC236}">
                    <a16:creationId xmlns:a16="http://schemas.microsoft.com/office/drawing/2014/main" id="{027221C9-6432-4219-B71F-819267491931}"/>
                  </a:ext>
                </a:extLst>
              </p:cNvPr>
              <p:cNvGrpSpPr>
                <a:grpSpLocks/>
              </p:cNvGrpSpPr>
              <p:nvPr/>
            </p:nvGrpSpPr>
            <p:grpSpPr bwMode="auto">
              <a:xfrm>
                <a:off x="2093" y="1970"/>
                <a:ext cx="482" cy="737"/>
                <a:chOff x="551" y="2499"/>
                <a:chExt cx="482" cy="737"/>
              </a:xfrm>
            </p:grpSpPr>
            <p:sp>
              <p:nvSpPr>
                <p:cNvPr id="752865" name="AutoShape 225">
                  <a:extLst>
                    <a:ext uri="{FF2B5EF4-FFF2-40B4-BE49-F238E27FC236}">
                      <a16:creationId xmlns:a16="http://schemas.microsoft.com/office/drawing/2014/main" id="{FD87EE0A-6189-46AF-80B5-FFFF10D4BE9F}"/>
                    </a:ext>
                  </a:extLst>
                </p:cNvPr>
                <p:cNvSpPr>
                  <a:spLocks noChangeArrowheads="1"/>
                </p:cNvSpPr>
                <p:nvPr/>
              </p:nvSpPr>
              <p:spPr bwMode="auto">
                <a:xfrm>
                  <a:off x="551" y="2864"/>
                  <a:ext cx="502" cy="370"/>
                </a:xfrm>
                <a:prstGeom prst="cube">
                  <a:avLst>
                    <a:gd name="adj" fmla="val 53495"/>
                  </a:avLst>
                </a:prstGeom>
                <a:gradFill rotWithShape="1">
                  <a:gsLst>
                    <a:gs pos="0">
                      <a:schemeClr val="accent1">
                        <a:gamma/>
                        <a:shade val="46275"/>
                        <a:invGamma/>
                      </a:schemeClr>
                    </a:gs>
                    <a:gs pos="50000">
                      <a:schemeClr val="accent1"/>
                    </a:gs>
                    <a:gs pos="100000">
                      <a:schemeClr val="accent1">
                        <a:gamma/>
                        <a:shade val="46275"/>
                        <a:invGamma/>
                      </a:schemeClr>
                    </a:gs>
                  </a:gsLst>
                  <a:lin ang="2700000" scaled="1"/>
                </a:gradFill>
                <a:ln w="9525">
                  <a:noFill/>
                  <a:miter lim="800000"/>
                  <a:headEnd/>
                  <a:tailEnd/>
                </a:ln>
                <a:effectLst/>
              </p:spPr>
              <p:txBody>
                <a:bodyPr wrap="none" anchor="ctr"/>
                <a:lstStyle/>
                <a:p>
                  <a:pPr algn="ctr" eaLnBrk="1" hangingPunct="1">
                    <a:defRPr/>
                  </a:pPr>
                  <a:r>
                    <a:rPr lang="en-US" sz="1000">
                      <a:solidFill>
                        <a:schemeClr val="bg1"/>
                      </a:solidFill>
                      <a:effectLst>
                        <a:outerShdw blurRad="38100" dist="38100" dir="2700000" algn="tl">
                          <a:srgbClr val="000000"/>
                        </a:outerShdw>
                      </a:effectLst>
                      <a:latin typeface="Verdana" pitchFamily="34" charset="0"/>
                    </a:rPr>
                    <a:t>OS</a:t>
                  </a:r>
                </a:p>
              </p:txBody>
            </p:sp>
            <p:sp>
              <p:nvSpPr>
                <p:cNvPr id="10268" name="AutoShape 226">
                  <a:extLst>
                    <a:ext uri="{FF2B5EF4-FFF2-40B4-BE49-F238E27FC236}">
                      <a16:creationId xmlns:a16="http://schemas.microsoft.com/office/drawing/2014/main" id="{760DCA18-084B-448F-A308-8BA8B776992D}"/>
                    </a:ext>
                  </a:extLst>
                </p:cNvPr>
                <p:cNvSpPr>
                  <a:spLocks noChangeArrowheads="1"/>
                </p:cNvSpPr>
                <p:nvPr/>
              </p:nvSpPr>
              <p:spPr bwMode="auto">
                <a:xfrm>
                  <a:off x="714" y="2499"/>
                  <a:ext cx="306" cy="381"/>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0269" name="AutoShape 227">
                  <a:extLst>
                    <a:ext uri="{FF2B5EF4-FFF2-40B4-BE49-F238E27FC236}">
                      <a16:creationId xmlns:a16="http://schemas.microsoft.com/office/drawing/2014/main" id="{D61F8056-FA99-4C48-8F53-F53981991DF4}"/>
                    </a:ext>
                  </a:extLst>
                </p:cNvPr>
                <p:cNvSpPr>
                  <a:spLocks noChangeArrowheads="1"/>
                </p:cNvSpPr>
                <p:nvPr/>
              </p:nvSpPr>
              <p:spPr bwMode="auto">
                <a:xfrm>
                  <a:off x="636" y="2568"/>
                  <a:ext cx="306" cy="381"/>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752868" name="AutoShape 228">
                  <a:extLst>
                    <a:ext uri="{FF2B5EF4-FFF2-40B4-BE49-F238E27FC236}">
                      <a16:creationId xmlns:a16="http://schemas.microsoft.com/office/drawing/2014/main" id="{55333C86-ED0F-4D06-A574-FE44387D761A}"/>
                    </a:ext>
                  </a:extLst>
                </p:cNvPr>
                <p:cNvSpPr>
                  <a:spLocks noChangeArrowheads="1"/>
                </p:cNvSpPr>
                <p:nvPr/>
              </p:nvSpPr>
              <p:spPr bwMode="auto">
                <a:xfrm>
                  <a:off x="556" y="2636"/>
                  <a:ext cx="308" cy="382"/>
                </a:xfrm>
                <a:prstGeom prst="cube">
                  <a:avLst>
                    <a:gd name="adj" fmla="val 13074"/>
                  </a:avLst>
                </a:prstGeom>
                <a:gradFill rotWithShape="1">
                  <a:gsLst>
                    <a:gs pos="0">
                      <a:srgbClr val="AA014C">
                        <a:gamma/>
                        <a:shade val="46275"/>
                        <a:invGamma/>
                      </a:srgbClr>
                    </a:gs>
                    <a:gs pos="50000">
                      <a:srgbClr val="AA014C"/>
                    </a:gs>
                    <a:gs pos="100000">
                      <a:srgbClr val="AA014C">
                        <a:gamma/>
                        <a:shade val="46275"/>
                        <a:invGamma/>
                      </a:srgbClr>
                    </a:gs>
                  </a:gsLst>
                  <a:lin ang="2700000" scaled="1"/>
                </a:gradFill>
                <a:ln w="9525">
                  <a:noFill/>
                  <a:miter lim="800000"/>
                  <a:headEnd/>
                  <a:tailEnd/>
                </a:ln>
                <a:effectLst/>
              </p:spPr>
              <p:txBody>
                <a:bodyPr wrap="none" anchor="ctr"/>
                <a:lstStyle/>
                <a:p>
                  <a:pPr algn="ctr" eaLnBrk="1" hangingPunct="1">
                    <a:defRPr/>
                  </a:pPr>
                  <a:r>
                    <a:rPr lang="en-US" sz="1000">
                      <a:solidFill>
                        <a:schemeClr val="bg1"/>
                      </a:solidFill>
                      <a:effectLst>
                        <a:outerShdw blurRad="38100" dist="38100" dir="2700000" algn="tl">
                          <a:srgbClr val="000000"/>
                        </a:outerShdw>
                      </a:effectLst>
                      <a:latin typeface="Verdana" pitchFamily="34" charset="0"/>
                    </a:rPr>
                    <a:t>App</a:t>
                  </a:r>
                </a:p>
              </p:txBody>
            </p:sp>
          </p:grpSp>
          <p:sp>
            <p:nvSpPr>
              <p:cNvPr id="10266" name="AutoShape 229">
                <a:extLst>
                  <a:ext uri="{FF2B5EF4-FFF2-40B4-BE49-F238E27FC236}">
                    <a16:creationId xmlns:a16="http://schemas.microsoft.com/office/drawing/2014/main" id="{F2974DCB-1E4A-4A0D-9796-507A4FB418DE}"/>
                  </a:ext>
                </a:extLst>
              </p:cNvPr>
              <p:cNvSpPr>
                <a:spLocks noChangeArrowheads="1"/>
              </p:cNvSpPr>
              <p:nvPr/>
            </p:nvSpPr>
            <p:spPr bwMode="ltGray">
              <a:xfrm>
                <a:off x="2048" y="1877"/>
                <a:ext cx="549" cy="896"/>
              </a:xfrm>
              <a:prstGeom prst="cube">
                <a:avLst>
                  <a:gd name="adj" fmla="val 30708"/>
                </a:avLst>
              </a:prstGeom>
              <a:solidFill>
                <a:srgbClr val="FF9900">
                  <a:alpha val="20000"/>
                </a:srgbClr>
              </a:solidFill>
              <a:ln w="25400">
                <a:solidFill>
                  <a:srgbClr val="FF9966"/>
                </a:solidFill>
                <a:miter lim="800000"/>
                <a:headEnd/>
                <a:tailEnd/>
              </a:ln>
            </p:spPr>
            <p:txBody>
              <a:bodyPr wrap="none" lIns="87545" tIns="43772" rIns="87545" bIns="43772"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1200" b="1">
                  <a:solidFill>
                    <a:schemeClr val="bg1"/>
                  </a:solidFill>
                  <a:latin typeface="Verdana" panose="020B0604030504040204" pitchFamily="34" charset="0"/>
                  <a:ea typeface="新細明體" panose="02020500000000000000" pitchFamily="18" charset="-120"/>
                </a:endParaRPr>
              </a:p>
            </p:txBody>
          </p:sp>
        </p:grpSp>
      </p:grpSp>
      <p:sp>
        <p:nvSpPr>
          <p:cNvPr id="10260" name="Text Box 230">
            <a:extLst>
              <a:ext uri="{FF2B5EF4-FFF2-40B4-BE49-F238E27FC236}">
                <a16:creationId xmlns:a16="http://schemas.microsoft.com/office/drawing/2014/main" id="{228D7E11-2345-4D37-BB26-A290D16A466A}"/>
              </a:ext>
            </a:extLst>
          </p:cNvPr>
          <p:cNvSpPr txBox="1">
            <a:spLocks noChangeArrowheads="1"/>
          </p:cNvSpPr>
          <p:nvPr/>
        </p:nvSpPr>
        <p:spPr bwMode="auto">
          <a:xfrm>
            <a:off x="7086994" y="3107186"/>
            <a:ext cx="3878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ja-JP" sz="2400" b="1" dirty="0">
                <a:solidFill>
                  <a:schemeClr val="tx2"/>
                </a:solidFill>
                <a:latin typeface="Verdana" panose="020B0604030504040204" pitchFamily="34" charset="0"/>
                <a:ea typeface="MS PGothic" panose="020B0600070205080204" pitchFamily="34" charset="-128"/>
                <a:cs typeface="Arial" panose="020B0604020202020204" pitchFamily="34" charset="0"/>
              </a:rPr>
              <a:t>Work Isolation</a:t>
            </a:r>
          </a:p>
        </p:txBody>
      </p:sp>
      <p:sp>
        <p:nvSpPr>
          <p:cNvPr id="752872" name="Rectangle 232">
            <a:extLst>
              <a:ext uri="{FF2B5EF4-FFF2-40B4-BE49-F238E27FC236}">
                <a16:creationId xmlns:a16="http://schemas.microsoft.com/office/drawing/2014/main" id="{70E8434B-FE65-487F-ADAC-A4C239E7A2CF}"/>
              </a:ext>
            </a:extLst>
          </p:cNvPr>
          <p:cNvSpPr>
            <a:spLocks noGrp="1" noRot="1" noChangeArrowheads="1"/>
          </p:cNvSpPr>
          <p:nvPr>
            <p:ph type="title"/>
          </p:nvPr>
        </p:nvSpPr>
        <p:spPr>
          <a:xfrm>
            <a:off x="1905000" y="0"/>
            <a:ext cx="8534400" cy="609600"/>
          </a:xfrm>
        </p:spPr>
        <p:txBody>
          <a:bodyPr>
            <a:normAutofit fontScale="90000"/>
          </a:bodyPr>
          <a:lstStyle/>
          <a:p>
            <a:pPr eaLnBrk="1" hangingPunct="1">
              <a:defRPr/>
            </a:pPr>
            <a:r>
              <a:rPr lang="en-US" sz="3600" dirty="0"/>
              <a:t>VM Applications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3" presetClass="path" presetSubtype="0" accel="50000" decel="50000" fill="hold" nodeType="clickEffect">
                                  <p:stCondLst>
                                    <p:cond delay="0"/>
                                  </p:stCondLst>
                                  <p:childTnLst>
                                    <p:animMotion origin="layout" path="M -1.66667E-6 4.99422E-6 L 0.22518 0.00254 " pathEditMode="relative" rAng="0" ptsTypes="AA">
                                      <p:cBhvr>
                                        <p:cTn id="6" dur="2000" fill="hold"/>
                                        <p:tgtEl>
                                          <p:spTgt spid="2"/>
                                        </p:tgtEl>
                                        <p:attrNameLst>
                                          <p:attrName>ppt_x</p:attrName>
                                          <p:attrName>ppt_y</p:attrName>
                                        </p:attrNameLst>
                                      </p:cBhvr>
                                      <p:rCtr x="11200" y="100"/>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16" presetClass="exit" presetSubtype="21" fill="hold" nodeType="clickEffect">
                                  <p:stCondLst>
                                    <p:cond delay="0"/>
                                  </p:stCondLst>
                                  <p:childTnLst>
                                    <p:animEffect transition="out" filter="barn(inVertical)">
                                      <p:cBhvr>
                                        <p:cTn id="10" dur="500"/>
                                        <p:tgtEl>
                                          <p:spTgt spid="9"/>
                                        </p:tgtEl>
                                      </p:cBhvr>
                                    </p:animEffect>
                                    <p:set>
                                      <p:cBhvr>
                                        <p:cTn id="11" dur="1" fill="hold">
                                          <p:stCondLst>
                                            <p:cond delay="499"/>
                                          </p:stCondLst>
                                        </p:cTn>
                                        <p:tgtEl>
                                          <p:spTgt spid="9"/>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16"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ox(in)">
                                      <p:cBhvr>
                                        <p:cTn id="16" dur="500"/>
                                        <p:tgtEl>
                                          <p:spTgt spid="1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63" presetClass="path" presetSubtype="0" accel="50000" decel="50000" fill="hold" nodeType="clickEffect">
                                  <p:stCondLst>
                                    <p:cond delay="0"/>
                                  </p:stCondLst>
                                  <p:childTnLst>
                                    <p:animMotion origin="layout" path="M 2.77778E-6 8.44321E-7 L 0.1618 8.44321E-7 " pathEditMode="relative" rAng="0" ptsTypes="AA">
                                      <p:cBhvr>
                                        <p:cTn id="20" dur="2000" fill="hold"/>
                                        <p:tgtEl>
                                          <p:spTgt spid="7"/>
                                        </p:tgtEl>
                                        <p:attrNameLst>
                                          <p:attrName>ppt_x</p:attrName>
                                          <p:attrName>ppt_y</p:attrName>
                                        </p:attrNameLst>
                                      </p:cBhvr>
                                      <p:rCtr x="81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6">
            <a:extLst>
              <a:ext uri="{FF2B5EF4-FFF2-40B4-BE49-F238E27FC236}">
                <a16:creationId xmlns:a16="http://schemas.microsoft.com/office/drawing/2014/main" id="{247652DC-10E0-4189-8E9B-1CD522C5BBF2}"/>
              </a:ext>
            </a:extLst>
          </p:cNvPr>
          <p:cNvSpPr txBox="1">
            <a:spLocks noChangeArrowheads="1"/>
          </p:cNvSpPr>
          <p:nvPr/>
        </p:nvSpPr>
        <p:spPr bwMode="auto">
          <a:xfrm>
            <a:off x="1271080" y="2993230"/>
            <a:ext cx="358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ja-JP" sz="2400" b="1">
                <a:solidFill>
                  <a:srgbClr val="FF0000"/>
                </a:solidFill>
                <a:latin typeface="Verdana" panose="020B0604030504040204" pitchFamily="34" charset="0"/>
                <a:ea typeface="MS PGothic" panose="020B0600070205080204" pitchFamily="34" charset="-128"/>
                <a:cs typeface="Arial" panose="020B0604020202020204" pitchFamily="34" charset="0"/>
              </a:rPr>
              <a:t>Disaster Recovery</a:t>
            </a:r>
          </a:p>
        </p:txBody>
      </p:sp>
      <p:sp>
        <p:nvSpPr>
          <p:cNvPr id="786439" name="Rectangle 7">
            <a:extLst>
              <a:ext uri="{FF2B5EF4-FFF2-40B4-BE49-F238E27FC236}">
                <a16:creationId xmlns:a16="http://schemas.microsoft.com/office/drawing/2014/main" id="{B865A846-2819-4F34-B0B8-669D7BF8E5AE}"/>
              </a:ext>
            </a:extLst>
          </p:cNvPr>
          <p:cNvSpPr>
            <a:spLocks noChangeArrowheads="1"/>
          </p:cNvSpPr>
          <p:nvPr/>
        </p:nvSpPr>
        <p:spPr bwMode="auto">
          <a:xfrm>
            <a:off x="2029905" y="2316955"/>
            <a:ext cx="977900" cy="171450"/>
          </a:xfrm>
          <a:prstGeom prst="rect">
            <a:avLst/>
          </a:prstGeom>
          <a:solidFill>
            <a:srgbClr val="33CC33"/>
          </a:solidFill>
          <a:ln w="28575">
            <a:miter lim="800000"/>
            <a:headEnd/>
            <a:tailEnd/>
          </a:ln>
          <a:effectLst/>
          <a:scene3d>
            <a:camera prst="legacyObliqueTopRight"/>
            <a:lightRig rig="legacyFlat3" dir="b"/>
          </a:scene3d>
          <a:sp3d extrusionH="887400" prstMaterial="legacyMatte">
            <a:bevelT w="13500" h="13500" prst="angle"/>
            <a:bevelB w="13500" h="13500" prst="angle"/>
            <a:extrusionClr>
              <a:srgbClr val="33CC33"/>
            </a:extrusionClr>
          </a:sp3d>
        </p:spPr>
        <p:txBody>
          <a:bodyPr wrap="none" anchor="ctr">
            <a:flatTx/>
          </a:bodyPr>
          <a:lstStyle/>
          <a:p>
            <a:pPr algn="ctr" eaLnBrk="1" hangingPunct="1">
              <a:spcBef>
                <a:spcPct val="50000"/>
              </a:spcBef>
              <a:defRPr/>
            </a:pPr>
            <a:r>
              <a:rPr lang="en-US" altLang="ja-JP" sz="1200">
                <a:solidFill>
                  <a:schemeClr val="bg1"/>
                </a:solidFill>
                <a:effectLst>
                  <a:outerShdw blurRad="38100" dist="38100" dir="2700000" algn="tl">
                    <a:srgbClr val="000000"/>
                  </a:outerShdw>
                </a:effectLst>
                <a:latin typeface="Arial" charset="0"/>
                <a:ea typeface="MS PGothic" pitchFamily="34" charset="-128"/>
                <a:cs typeface="Arial" charset="0"/>
              </a:rPr>
              <a:t>HW</a:t>
            </a:r>
          </a:p>
        </p:txBody>
      </p:sp>
      <p:sp>
        <p:nvSpPr>
          <p:cNvPr id="786440" name="Rectangle 8">
            <a:extLst>
              <a:ext uri="{FF2B5EF4-FFF2-40B4-BE49-F238E27FC236}">
                <a16:creationId xmlns:a16="http://schemas.microsoft.com/office/drawing/2014/main" id="{81A58CA8-CD41-4F62-BDB1-2CB984A44B56}"/>
              </a:ext>
            </a:extLst>
          </p:cNvPr>
          <p:cNvSpPr>
            <a:spLocks noChangeArrowheads="1"/>
          </p:cNvSpPr>
          <p:nvPr/>
        </p:nvSpPr>
        <p:spPr bwMode="auto">
          <a:xfrm>
            <a:off x="2029905" y="2105818"/>
            <a:ext cx="977900" cy="176212"/>
          </a:xfrm>
          <a:prstGeom prst="rect">
            <a:avLst/>
          </a:prstGeom>
          <a:solidFill>
            <a:srgbClr val="3399FF"/>
          </a:solidFill>
          <a:ln w="28575">
            <a:miter lim="800000"/>
            <a:headEnd/>
            <a:tailEnd/>
          </a:ln>
          <a:effectLst/>
          <a:scene3d>
            <a:camera prst="legacyObliqueTopRight"/>
            <a:lightRig rig="legacyFlat3" dir="b"/>
          </a:scene3d>
          <a:sp3d extrusionH="887400" prstMaterial="legacyMatte">
            <a:bevelT w="13500" h="13500" prst="angle"/>
            <a:bevelB w="13500" h="13500" prst="angle"/>
            <a:extrusionClr>
              <a:srgbClr val="3399FF"/>
            </a:extrusionClr>
          </a:sp3d>
        </p:spPr>
        <p:txBody>
          <a:bodyPr wrap="none" anchor="ctr">
            <a:flatTx/>
          </a:bodyPr>
          <a:lstStyle/>
          <a:p>
            <a:pPr algn="ctr" eaLnBrk="1" hangingPunct="1">
              <a:spcBef>
                <a:spcPct val="50000"/>
              </a:spcBef>
              <a:defRPr/>
            </a:pPr>
            <a:r>
              <a:rPr lang="en-US" altLang="ja-JP" sz="1200">
                <a:solidFill>
                  <a:schemeClr val="bg1"/>
                </a:solidFill>
                <a:effectLst>
                  <a:outerShdw blurRad="38100" dist="38100" dir="2700000" algn="tl">
                    <a:srgbClr val="000000"/>
                  </a:outerShdw>
                </a:effectLst>
                <a:latin typeface="Arial" charset="0"/>
                <a:ea typeface="MS PGothic" pitchFamily="34" charset="-128"/>
                <a:cs typeface="Arial" charset="0"/>
              </a:rPr>
              <a:t>VMM</a:t>
            </a:r>
          </a:p>
        </p:txBody>
      </p:sp>
      <p:sp>
        <p:nvSpPr>
          <p:cNvPr id="786441" name="Rectangle 9">
            <a:extLst>
              <a:ext uri="{FF2B5EF4-FFF2-40B4-BE49-F238E27FC236}">
                <a16:creationId xmlns:a16="http://schemas.microsoft.com/office/drawing/2014/main" id="{8650E19D-C6DB-4386-B9EF-29880537FF20}"/>
              </a:ext>
            </a:extLst>
          </p:cNvPr>
          <p:cNvSpPr>
            <a:spLocks noChangeArrowheads="1"/>
          </p:cNvSpPr>
          <p:nvPr/>
        </p:nvSpPr>
        <p:spPr bwMode="auto">
          <a:xfrm>
            <a:off x="3805474" y="2305336"/>
            <a:ext cx="938213" cy="174625"/>
          </a:xfrm>
          <a:prstGeom prst="rect">
            <a:avLst/>
          </a:prstGeom>
          <a:solidFill>
            <a:srgbClr val="33CC33"/>
          </a:solidFill>
          <a:ln w="28575">
            <a:miter lim="800000"/>
            <a:headEnd/>
            <a:tailEnd/>
          </a:ln>
          <a:effectLst/>
          <a:scene3d>
            <a:camera prst="legacyObliqueTopRight"/>
            <a:lightRig rig="legacyFlat3" dir="b"/>
          </a:scene3d>
          <a:sp3d extrusionH="887400" prstMaterial="legacyMatte">
            <a:bevelT w="13500" h="13500" prst="angle"/>
            <a:bevelB w="13500" h="13500" prst="angle"/>
            <a:extrusionClr>
              <a:srgbClr val="33CC33"/>
            </a:extrusionClr>
          </a:sp3d>
        </p:spPr>
        <p:txBody>
          <a:bodyPr wrap="none" anchor="ctr">
            <a:flatTx/>
          </a:bodyPr>
          <a:lstStyle/>
          <a:p>
            <a:pPr algn="ctr" eaLnBrk="1" hangingPunct="1">
              <a:spcBef>
                <a:spcPct val="50000"/>
              </a:spcBef>
              <a:defRPr/>
            </a:pPr>
            <a:r>
              <a:rPr lang="en-US" altLang="ja-JP" sz="1200">
                <a:solidFill>
                  <a:schemeClr val="bg1"/>
                </a:solidFill>
                <a:effectLst>
                  <a:outerShdw blurRad="38100" dist="38100" dir="2700000" algn="tl">
                    <a:srgbClr val="000000"/>
                  </a:outerShdw>
                </a:effectLst>
                <a:latin typeface="Arial" charset="0"/>
                <a:ea typeface="MS PGothic" pitchFamily="34" charset="-128"/>
                <a:cs typeface="Arial" charset="0"/>
              </a:rPr>
              <a:t>HW</a:t>
            </a:r>
          </a:p>
        </p:txBody>
      </p:sp>
      <p:sp>
        <p:nvSpPr>
          <p:cNvPr id="786442" name="Rectangle 10">
            <a:extLst>
              <a:ext uri="{FF2B5EF4-FFF2-40B4-BE49-F238E27FC236}">
                <a16:creationId xmlns:a16="http://schemas.microsoft.com/office/drawing/2014/main" id="{2CE092D2-824F-457B-97A9-18FE9F8BCFB6}"/>
              </a:ext>
            </a:extLst>
          </p:cNvPr>
          <p:cNvSpPr>
            <a:spLocks noChangeArrowheads="1"/>
          </p:cNvSpPr>
          <p:nvPr/>
        </p:nvSpPr>
        <p:spPr bwMode="auto">
          <a:xfrm>
            <a:off x="3804969" y="2125390"/>
            <a:ext cx="938213" cy="176213"/>
          </a:xfrm>
          <a:prstGeom prst="rect">
            <a:avLst/>
          </a:prstGeom>
          <a:solidFill>
            <a:srgbClr val="3399FF"/>
          </a:solidFill>
          <a:ln w="28575">
            <a:miter lim="800000"/>
            <a:headEnd/>
            <a:tailEnd/>
          </a:ln>
          <a:effectLst/>
          <a:scene3d>
            <a:camera prst="legacyObliqueTopRight"/>
            <a:lightRig rig="legacyFlat3" dir="b"/>
          </a:scene3d>
          <a:sp3d extrusionH="887400" prstMaterial="legacyMatte">
            <a:bevelT w="13500" h="13500" prst="angle"/>
            <a:bevelB w="13500" h="13500" prst="angle"/>
            <a:extrusionClr>
              <a:srgbClr val="3399FF"/>
            </a:extrusionClr>
          </a:sp3d>
        </p:spPr>
        <p:txBody>
          <a:bodyPr wrap="none" anchor="ctr">
            <a:flatTx/>
          </a:bodyPr>
          <a:lstStyle/>
          <a:p>
            <a:pPr algn="ctr" eaLnBrk="1" hangingPunct="1">
              <a:spcBef>
                <a:spcPct val="50000"/>
              </a:spcBef>
              <a:defRPr/>
            </a:pPr>
            <a:r>
              <a:rPr lang="en-US" altLang="ja-JP" sz="1200">
                <a:solidFill>
                  <a:schemeClr val="bg1"/>
                </a:solidFill>
                <a:effectLst>
                  <a:outerShdw blurRad="38100" dist="38100" dir="2700000" algn="tl">
                    <a:srgbClr val="000000"/>
                  </a:outerShdw>
                </a:effectLst>
                <a:latin typeface="Arial" charset="0"/>
                <a:ea typeface="MS PGothic" pitchFamily="34" charset="-128"/>
                <a:cs typeface="Arial" charset="0"/>
              </a:rPr>
              <a:t>VMM</a:t>
            </a:r>
          </a:p>
        </p:txBody>
      </p:sp>
      <p:grpSp>
        <p:nvGrpSpPr>
          <p:cNvPr id="2" name="Group 11">
            <a:extLst>
              <a:ext uri="{FF2B5EF4-FFF2-40B4-BE49-F238E27FC236}">
                <a16:creationId xmlns:a16="http://schemas.microsoft.com/office/drawing/2014/main" id="{F649D03C-2BD6-4639-9008-1EBD850710CD}"/>
              </a:ext>
            </a:extLst>
          </p:cNvPr>
          <p:cNvGrpSpPr>
            <a:grpSpLocks/>
          </p:cNvGrpSpPr>
          <p:nvPr/>
        </p:nvGrpSpPr>
        <p:grpSpPr bwMode="auto">
          <a:xfrm>
            <a:off x="2202944" y="1061244"/>
            <a:ext cx="955675" cy="987425"/>
            <a:chOff x="314" y="2426"/>
            <a:chExt cx="1040" cy="622"/>
          </a:xfrm>
        </p:grpSpPr>
        <p:grpSp>
          <p:nvGrpSpPr>
            <p:cNvPr id="12394" name="Group 12">
              <a:extLst>
                <a:ext uri="{FF2B5EF4-FFF2-40B4-BE49-F238E27FC236}">
                  <a16:creationId xmlns:a16="http://schemas.microsoft.com/office/drawing/2014/main" id="{84C6919D-ABCF-46C0-9DDB-BB6FC6333EF4}"/>
                </a:ext>
              </a:extLst>
            </p:cNvPr>
            <p:cNvGrpSpPr>
              <a:grpSpLocks/>
            </p:cNvGrpSpPr>
            <p:nvPr/>
          </p:nvGrpSpPr>
          <p:grpSpPr bwMode="auto">
            <a:xfrm>
              <a:off x="314" y="2426"/>
              <a:ext cx="487" cy="622"/>
              <a:chOff x="2048" y="1877"/>
              <a:chExt cx="549" cy="896"/>
            </a:xfrm>
          </p:grpSpPr>
          <p:grpSp>
            <p:nvGrpSpPr>
              <p:cNvPr id="12403" name="Group 13">
                <a:extLst>
                  <a:ext uri="{FF2B5EF4-FFF2-40B4-BE49-F238E27FC236}">
                    <a16:creationId xmlns:a16="http://schemas.microsoft.com/office/drawing/2014/main" id="{A131278B-7A93-4C0D-A485-AD27C958A48C}"/>
                  </a:ext>
                </a:extLst>
              </p:cNvPr>
              <p:cNvGrpSpPr>
                <a:grpSpLocks/>
              </p:cNvGrpSpPr>
              <p:nvPr/>
            </p:nvGrpSpPr>
            <p:grpSpPr bwMode="auto">
              <a:xfrm>
                <a:off x="2093" y="1970"/>
                <a:ext cx="482" cy="737"/>
                <a:chOff x="551" y="2499"/>
                <a:chExt cx="482" cy="737"/>
              </a:xfrm>
            </p:grpSpPr>
            <p:sp>
              <p:nvSpPr>
                <p:cNvPr id="786446" name="AutoShape 14">
                  <a:extLst>
                    <a:ext uri="{FF2B5EF4-FFF2-40B4-BE49-F238E27FC236}">
                      <a16:creationId xmlns:a16="http://schemas.microsoft.com/office/drawing/2014/main" id="{C12F488B-EC2D-4193-AF88-6A5027C211FE}"/>
                    </a:ext>
                  </a:extLst>
                </p:cNvPr>
                <p:cNvSpPr>
                  <a:spLocks noChangeArrowheads="1"/>
                </p:cNvSpPr>
                <p:nvPr/>
              </p:nvSpPr>
              <p:spPr bwMode="auto">
                <a:xfrm>
                  <a:off x="551" y="2864"/>
                  <a:ext cx="502" cy="372"/>
                </a:xfrm>
                <a:prstGeom prst="cube">
                  <a:avLst>
                    <a:gd name="adj" fmla="val 53495"/>
                  </a:avLst>
                </a:prstGeom>
                <a:gradFill rotWithShape="1">
                  <a:gsLst>
                    <a:gs pos="0">
                      <a:schemeClr val="accent1">
                        <a:gamma/>
                        <a:shade val="46275"/>
                        <a:invGamma/>
                      </a:schemeClr>
                    </a:gs>
                    <a:gs pos="50000">
                      <a:schemeClr val="accent1"/>
                    </a:gs>
                    <a:gs pos="100000">
                      <a:schemeClr val="accent1">
                        <a:gamma/>
                        <a:shade val="46275"/>
                        <a:invGamma/>
                      </a:schemeClr>
                    </a:gs>
                  </a:gsLst>
                  <a:lin ang="2700000" scaled="1"/>
                </a:gradFill>
                <a:ln w="9525">
                  <a:noFill/>
                  <a:miter lim="800000"/>
                  <a:headEnd/>
                  <a:tailEnd/>
                </a:ln>
                <a:effectLst/>
              </p:spPr>
              <p:txBody>
                <a:bodyPr wrap="none" anchor="ctr"/>
                <a:lstStyle/>
                <a:p>
                  <a:pPr algn="ctr" eaLnBrk="1" hangingPunct="1">
                    <a:defRPr/>
                  </a:pPr>
                  <a:r>
                    <a:rPr lang="en-US" sz="1000">
                      <a:solidFill>
                        <a:schemeClr val="bg1"/>
                      </a:solidFill>
                      <a:effectLst>
                        <a:outerShdw blurRad="38100" dist="38100" dir="2700000" algn="tl">
                          <a:srgbClr val="000000"/>
                        </a:outerShdw>
                      </a:effectLst>
                      <a:latin typeface="Verdana" pitchFamily="34" charset="0"/>
                    </a:rPr>
                    <a:t>OS</a:t>
                  </a:r>
                </a:p>
              </p:txBody>
            </p:sp>
            <p:sp>
              <p:nvSpPr>
                <p:cNvPr id="12406" name="AutoShape 15">
                  <a:extLst>
                    <a:ext uri="{FF2B5EF4-FFF2-40B4-BE49-F238E27FC236}">
                      <a16:creationId xmlns:a16="http://schemas.microsoft.com/office/drawing/2014/main" id="{14205A5F-62E0-4F61-9FE3-2E9821A4DEB3}"/>
                    </a:ext>
                  </a:extLst>
                </p:cNvPr>
                <p:cNvSpPr>
                  <a:spLocks noChangeArrowheads="1"/>
                </p:cNvSpPr>
                <p:nvPr/>
              </p:nvSpPr>
              <p:spPr bwMode="auto">
                <a:xfrm>
                  <a:off x="714" y="2499"/>
                  <a:ext cx="306" cy="381"/>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407" name="AutoShape 16">
                  <a:extLst>
                    <a:ext uri="{FF2B5EF4-FFF2-40B4-BE49-F238E27FC236}">
                      <a16:creationId xmlns:a16="http://schemas.microsoft.com/office/drawing/2014/main" id="{8625D79E-592B-40FD-8A53-19F9D969E894}"/>
                    </a:ext>
                  </a:extLst>
                </p:cNvPr>
                <p:cNvSpPr>
                  <a:spLocks noChangeArrowheads="1"/>
                </p:cNvSpPr>
                <p:nvPr/>
              </p:nvSpPr>
              <p:spPr bwMode="auto">
                <a:xfrm>
                  <a:off x="636" y="2568"/>
                  <a:ext cx="306" cy="381"/>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786449" name="AutoShape 17">
                  <a:extLst>
                    <a:ext uri="{FF2B5EF4-FFF2-40B4-BE49-F238E27FC236}">
                      <a16:creationId xmlns:a16="http://schemas.microsoft.com/office/drawing/2014/main" id="{4ECAEED2-2F6D-42F4-B12A-F876B09D2BDD}"/>
                    </a:ext>
                  </a:extLst>
                </p:cNvPr>
                <p:cNvSpPr>
                  <a:spLocks noChangeArrowheads="1"/>
                </p:cNvSpPr>
                <p:nvPr/>
              </p:nvSpPr>
              <p:spPr bwMode="auto">
                <a:xfrm>
                  <a:off x="557" y="2638"/>
                  <a:ext cx="315" cy="380"/>
                </a:xfrm>
                <a:prstGeom prst="cube">
                  <a:avLst>
                    <a:gd name="adj" fmla="val 13074"/>
                  </a:avLst>
                </a:prstGeom>
                <a:gradFill rotWithShape="1">
                  <a:gsLst>
                    <a:gs pos="0">
                      <a:srgbClr val="AA014C">
                        <a:gamma/>
                        <a:shade val="46275"/>
                        <a:invGamma/>
                      </a:srgbClr>
                    </a:gs>
                    <a:gs pos="50000">
                      <a:srgbClr val="AA014C"/>
                    </a:gs>
                    <a:gs pos="100000">
                      <a:srgbClr val="AA014C">
                        <a:gamma/>
                        <a:shade val="46275"/>
                        <a:invGamma/>
                      </a:srgbClr>
                    </a:gs>
                  </a:gsLst>
                  <a:lin ang="2700000" scaled="1"/>
                </a:gradFill>
                <a:ln w="9525">
                  <a:noFill/>
                  <a:miter lim="800000"/>
                  <a:headEnd/>
                  <a:tailEnd/>
                </a:ln>
                <a:effectLst/>
              </p:spPr>
              <p:txBody>
                <a:bodyPr wrap="none" anchor="ctr"/>
                <a:lstStyle/>
                <a:p>
                  <a:pPr algn="ctr" eaLnBrk="1" hangingPunct="1">
                    <a:defRPr/>
                  </a:pPr>
                  <a:r>
                    <a:rPr lang="en-US" sz="1000">
                      <a:solidFill>
                        <a:schemeClr val="bg1"/>
                      </a:solidFill>
                      <a:effectLst>
                        <a:outerShdw blurRad="38100" dist="38100" dir="2700000" algn="tl">
                          <a:srgbClr val="000000"/>
                        </a:outerShdw>
                      </a:effectLst>
                      <a:latin typeface="Verdana" pitchFamily="34" charset="0"/>
                    </a:rPr>
                    <a:t>App</a:t>
                  </a:r>
                </a:p>
              </p:txBody>
            </p:sp>
          </p:grpSp>
          <p:sp>
            <p:nvSpPr>
              <p:cNvPr id="12404" name="AutoShape 18">
                <a:extLst>
                  <a:ext uri="{FF2B5EF4-FFF2-40B4-BE49-F238E27FC236}">
                    <a16:creationId xmlns:a16="http://schemas.microsoft.com/office/drawing/2014/main" id="{816764C8-E8BD-4882-88C2-224C9C4336FD}"/>
                  </a:ext>
                </a:extLst>
              </p:cNvPr>
              <p:cNvSpPr>
                <a:spLocks noChangeArrowheads="1"/>
              </p:cNvSpPr>
              <p:nvPr/>
            </p:nvSpPr>
            <p:spPr bwMode="ltGray">
              <a:xfrm>
                <a:off x="2048" y="1877"/>
                <a:ext cx="549" cy="896"/>
              </a:xfrm>
              <a:prstGeom prst="cube">
                <a:avLst>
                  <a:gd name="adj" fmla="val 30708"/>
                </a:avLst>
              </a:prstGeom>
              <a:solidFill>
                <a:srgbClr val="FF9900">
                  <a:alpha val="20000"/>
                </a:srgbClr>
              </a:solidFill>
              <a:ln w="25400">
                <a:solidFill>
                  <a:srgbClr val="FF9966"/>
                </a:solidFill>
                <a:miter lim="800000"/>
                <a:headEnd/>
                <a:tailEnd/>
              </a:ln>
            </p:spPr>
            <p:txBody>
              <a:bodyPr wrap="none" lIns="87545" tIns="43772" rIns="87545" bIns="43772"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1200" b="1">
                  <a:solidFill>
                    <a:schemeClr val="bg1"/>
                  </a:solidFill>
                  <a:latin typeface="Verdana" panose="020B0604030504040204" pitchFamily="34" charset="0"/>
                  <a:ea typeface="新細明體" panose="02020500000000000000" pitchFamily="18" charset="-120"/>
                </a:endParaRPr>
              </a:p>
            </p:txBody>
          </p:sp>
        </p:grpSp>
        <p:sp>
          <p:nvSpPr>
            <p:cNvPr id="786451" name="Text Box 19">
              <a:extLst>
                <a:ext uri="{FF2B5EF4-FFF2-40B4-BE49-F238E27FC236}">
                  <a16:creationId xmlns:a16="http://schemas.microsoft.com/office/drawing/2014/main" id="{32382593-1B33-4860-ABEE-0FC825D85A9D}"/>
                </a:ext>
              </a:extLst>
            </p:cNvPr>
            <p:cNvSpPr txBox="1">
              <a:spLocks noChangeArrowheads="1"/>
            </p:cNvSpPr>
            <p:nvPr/>
          </p:nvSpPr>
          <p:spPr bwMode="auto">
            <a:xfrm>
              <a:off x="523" y="2647"/>
              <a:ext cx="452" cy="233"/>
            </a:xfrm>
            <a:prstGeom prst="rect">
              <a:avLst/>
            </a:prstGeom>
            <a:noFill/>
            <a:ln w="9525" algn="ctr">
              <a:noFill/>
              <a:miter lim="800000"/>
              <a:headEnd/>
              <a:tailEnd/>
            </a:ln>
            <a:effectLst/>
          </p:spPr>
          <p:txBody>
            <a:bodyPr wrap="none">
              <a:spAutoFit/>
            </a:bodyPr>
            <a:lstStyle/>
            <a:p>
              <a:pPr algn="ctr" eaLnBrk="1" hangingPunct="1">
                <a:spcBef>
                  <a:spcPct val="50000"/>
                </a:spcBef>
                <a:defRPr/>
              </a:pPr>
              <a:r>
                <a:rPr lang="en-US" altLang="zh-TW" b="1">
                  <a:solidFill>
                    <a:schemeClr val="bg1"/>
                  </a:solidFill>
                  <a:effectLst>
                    <a:outerShdw blurRad="38100" dist="38100" dir="2700000" algn="tl">
                      <a:srgbClr val="000000"/>
                    </a:outerShdw>
                  </a:effectLst>
                  <a:latin typeface="Arial" charset="0"/>
                  <a:ea typeface="新細明體" pitchFamily="18" charset="-120"/>
                </a:rPr>
                <a:t>…</a:t>
              </a:r>
            </a:p>
          </p:txBody>
        </p:sp>
        <p:grpSp>
          <p:nvGrpSpPr>
            <p:cNvPr id="12396" name="Group 20">
              <a:extLst>
                <a:ext uri="{FF2B5EF4-FFF2-40B4-BE49-F238E27FC236}">
                  <a16:creationId xmlns:a16="http://schemas.microsoft.com/office/drawing/2014/main" id="{49BC5F60-9908-49A4-BA7C-DBD6BDA48311}"/>
                </a:ext>
              </a:extLst>
            </p:cNvPr>
            <p:cNvGrpSpPr>
              <a:grpSpLocks/>
            </p:cNvGrpSpPr>
            <p:nvPr/>
          </p:nvGrpSpPr>
          <p:grpSpPr bwMode="auto">
            <a:xfrm>
              <a:off x="867" y="2426"/>
              <a:ext cx="487" cy="620"/>
              <a:chOff x="2048" y="1877"/>
              <a:chExt cx="549" cy="896"/>
            </a:xfrm>
          </p:grpSpPr>
          <p:grpSp>
            <p:nvGrpSpPr>
              <p:cNvPr id="12397" name="Group 21">
                <a:extLst>
                  <a:ext uri="{FF2B5EF4-FFF2-40B4-BE49-F238E27FC236}">
                    <a16:creationId xmlns:a16="http://schemas.microsoft.com/office/drawing/2014/main" id="{57852CF8-EC56-4F63-8BB3-CB5BDF926C42}"/>
                  </a:ext>
                </a:extLst>
              </p:cNvPr>
              <p:cNvGrpSpPr>
                <a:grpSpLocks/>
              </p:cNvGrpSpPr>
              <p:nvPr/>
            </p:nvGrpSpPr>
            <p:grpSpPr bwMode="auto">
              <a:xfrm>
                <a:off x="2093" y="1970"/>
                <a:ext cx="482" cy="737"/>
                <a:chOff x="551" y="2499"/>
                <a:chExt cx="482" cy="737"/>
              </a:xfrm>
            </p:grpSpPr>
            <p:sp>
              <p:nvSpPr>
                <p:cNvPr id="786454" name="AutoShape 22">
                  <a:extLst>
                    <a:ext uri="{FF2B5EF4-FFF2-40B4-BE49-F238E27FC236}">
                      <a16:creationId xmlns:a16="http://schemas.microsoft.com/office/drawing/2014/main" id="{2E05FAD0-D9E3-4192-8AC1-8978F85AEC16}"/>
                    </a:ext>
                  </a:extLst>
                </p:cNvPr>
                <p:cNvSpPr>
                  <a:spLocks noChangeArrowheads="1"/>
                </p:cNvSpPr>
                <p:nvPr/>
              </p:nvSpPr>
              <p:spPr bwMode="auto">
                <a:xfrm>
                  <a:off x="551" y="2864"/>
                  <a:ext cx="502" cy="370"/>
                </a:xfrm>
                <a:prstGeom prst="cube">
                  <a:avLst>
                    <a:gd name="adj" fmla="val 53495"/>
                  </a:avLst>
                </a:prstGeom>
                <a:gradFill rotWithShape="1">
                  <a:gsLst>
                    <a:gs pos="0">
                      <a:schemeClr val="accent1">
                        <a:gamma/>
                        <a:shade val="46275"/>
                        <a:invGamma/>
                      </a:schemeClr>
                    </a:gs>
                    <a:gs pos="50000">
                      <a:schemeClr val="accent1"/>
                    </a:gs>
                    <a:gs pos="100000">
                      <a:schemeClr val="accent1">
                        <a:gamma/>
                        <a:shade val="46275"/>
                        <a:invGamma/>
                      </a:schemeClr>
                    </a:gs>
                  </a:gsLst>
                  <a:lin ang="2700000" scaled="1"/>
                </a:gradFill>
                <a:ln w="9525">
                  <a:noFill/>
                  <a:miter lim="800000"/>
                  <a:headEnd/>
                  <a:tailEnd/>
                </a:ln>
                <a:effectLst/>
              </p:spPr>
              <p:txBody>
                <a:bodyPr wrap="none" anchor="ctr"/>
                <a:lstStyle/>
                <a:p>
                  <a:pPr algn="ctr" eaLnBrk="1" hangingPunct="1">
                    <a:defRPr/>
                  </a:pPr>
                  <a:r>
                    <a:rPr lang="en-US" sz="1000">
                      <a:solidFill>
                        <a:schemeClr val="bg1"/>
                      </a:solidFill>
                      <a:effectLst>
                        <a:outerShdw blurRad="38100" dist="38100" dir="2700000" algn="tl">
                          <a:srgbClr val="000000"/>
                        </a:outerShdw>
                      </a:effectLst>
                      <a:latin typeface="Verdana" pitchFamily="34" charset="0"/>
                    </a:rPr>
                    <a:t>OS</a:t>
                  </a:r>
                </a:p>
              </p:txBody>
            </p:sp>
            <p:sp>
              <p:nvSpPr>
                <p:cNvPr id="12400" name="AutoShape 23">
                  <a:extLst>
                    <a:ext uri="{FF2B5EF4-FFF2-40B4-BE49-F238E27FC236}">
                      <a16:creationId xmlns:a16="http://schemas.microsoft.com/office/drawing/2014/main" id="{CA0E337E-B02B-4BDD-BD0F-56403B29166B}"/>
                    </a:ext>
                  </a:extLst>
                </p:cNvPr>
                <p:cNvSpPr>
                  <a:spLocks noChangeArrowheads="1"/>
                </p:cNvSpPr>
                <p:nvPr/>
              </p:nvSpPr>
              <p:spPr bwMode="auto">
                <a:xfrm>
                  <a:off x="714" y="2499"/>
                  <a:ext cx="306" cy="381"/>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401" name="AutoShape 24">
                  <a:extLst>
                    <a:ext uri="{FF2B5EF4-FFF2-40B4-BE49-F238E27FC236}">
                      <a16:creationId xmlns:a16="http://schemas.microsoft.com/office/drawing/2014/main" id="{76BDEAB2-2D76-4E7E-8A9A-2794921B901C}"/>
                    </a:ext>
                  </a:extLst>
                </p:cNvPr>
                <p:cNvSpPr>
                  <a:spLocks noChangeArrowheads="1"/>
                </p:cNvSpPr>
                <p:nvPr/>
              </p:nvSpPr>
              <p:spPr bwMode="auto">
                <a:xfrm>
                  <a:off x="636" y="2568"/>
                  <a:ext cx="306" cy="381"/>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786457" name="AutoShape 25">
                  <a:extLst>
                    <a:ext uri="{FF2B5EF4-FFF2-40B4-BE49-F238E27FC236}">
                      <a16:creationId xmlns:a16="http://schemas.microsoft.com/office/drawing/2014/main" id="{6C58238A-F246-4987-AD33-E3FBDFF086F4}"/>
                    </a:ext>
                  </a:extLst>
                </p:cNvPr>
                <p:cNvSpPr>
                  <a:spLocks noChangeArrowheads="1"/>
                </p:cNvSpPr>
                <p:nvPr/>
              </p:nvSpPr>
              <p:spPr bwMode="auto">
                <a:xfrm>
                  <a:off x="556" y="2636"/>
                  <a:ext cx="308" cy="382"/>
                </a:xfrm>
                <a:prstGeom prst="cube">
                  <a:avLst>
                    <a:gd name="adj" fmla="val 13074"/>
                  </a:avLst>
                </a:prstGeom>
                <a:gradFill rotWithShape="1">
                  <a:gsLst>
                    <a:gs pos="0">
                      <a:srgbClr val="AA014C">
                        <a:gamma/>
                        <a:shade val="46275"/>
                        <a:invGamma/>
                      </a:srgbClr>
                    </a:gs>
                    <a:gs pos="50000">
                      <a:srgbClr val="AA014C"/>
                    </a:gs>
                    <a:gs pos="100000">
                      <a:srgbClr val="AA014C">
                        <a:gamma/>
                        <a:shade val="46275"/>
                        <a:invGamma/>
                      </a:srgbClr>
                    </a:gs>
                  </a:gsLst>
                  <a:lin ang="2700000" scaled="1"/>
                </a:gradFill>
                <a:ln w="9525">
                  <a:noFill/>
                  <a:miter lim="800000"/>
                  <a:headEnd/>
                  <a:tailEnd/>
                </a:ln>
                <a:effectLst/>
              </p:spPr>
              <p:txBody>
                <a:bodyPr wrap="none" anchor="ctr"/>
                <a:lstStyle/>
                <a:p>
                  <a:pPr algn="ctr" eaLnBrk="1" hangingPunct="1">
                    <a:defRPr/>
                  </a:pPr>
                  <a:r>
                    <a:rPr lang="en-US" sz="1000">
                      <a:solidFill>
                        <a:schemeClr val="bg1"/>
                      </a:solidFill>
                      <a:effectLst>
                        <a:outerShdw blurRad="38100" dist="38100" dir="2700000" algn="tl">
                          <a:srgbClr val="000000"/>
                        </a:outerShdw>
                      </a:effectLst>
                      <a:latin typeface="Verdana" pitchFamily="34" charset="0"/>
                    </a:rPr>
                    <a:t>App</a:t>
                  </a:r>
                </a:p>
              </p:txBody>
            </p:sp>
          </p:grpSp>
          <p:sp>
            <p:nvSpPr>
              <p:cNvPr id="12398" name="AutoShape 26">
                <a:extLst>
                  <a:ext uri="{FF2B5EF4-FFF2-40B4-BE49-F238E27FC236}">
                    <a16:creationId xmlns:a16="http://schemas.microsoft.com/office/drawing/2014/main" id="{0A131BB9-4AF4-453B-8908-155013424D5D}"/>
                  </a:ext>
                </a:extLst>
              </p:cNvPr>
              <p:cNvSpPr>
                <a:spLocks noChangeArrowheads="1"/>
              </p:cNvSpPr>
              <p:nvPr/>
            </p:nvSpPr>
            <p:spPr bwMode="ltGray">
              <a:xfrm>
                <a:off x="2048" y="1877"/>
                <a:ext cx="549" cy="896"/>
              </a:xfrm>
              <a:prstGeom prst="cube">
                <a:avLst>
                  <a:gd name="adj" fmla="val 30708"/>
                </a:avLst>
              </a:prstGeom>
              <a:solidFill>
                <a:srgbClr val="FF9900">
                  <a:alpha val="20000"/>
                </a:srgbClr>
              </a:solidFill>
              <a:ln w="25400">
                <a:solidFill>
                  <a:srgbClr val="FF9966"/>
                </a:solidFill>
                <a:miter lim="800000"/>
                <a:headEnd/>
                <a:tailEnd/>
              </a:ln>
            </p:spPr>
            <p:txBody>
              <a:bodyPr wrap="none" lIns="87545" tIns="43772" rIns="87545" bIns="43772"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1200" b="1">
                  <a:solidFill>
                    <a:schemeClr val="bg1"/>
                  </a:solidFill>
                  <a:latin typeface="Verdana" panose="020B0604030504040204" pitchFamily="34" charset="0"/>
                  <a:ea typeface="新細明體" panose="02020500000000000000" pitchFamily="18" charset="-120"/>
                </a:endParaRPr>
              </a:p>
            </p:txBody>
          </p:sp>
        </p:grpSp>
      </p:grpSp>
      <p:sp>
        <p:nvSpPr>
          <p:cNvPr id="12296" name="Text Box 27">
            <a:extLst>
              <a:ext uri="{FF2B5EF4-FFF2-40B4-BE49-F238E27FC236}">
                <a16:creationId xmlns:a16="http://schemas.microsoft.com/office/drawing/2014/main" id="{6B92F5C6-9760-47E2-A686-8E97D4BFC6F4}"/>
              </a:ext>
            </a:extLst>
          </p:cNvPr>
          <p:cNvSpPr txBox="1">
            <a:spLocks noChangeArrowheads="1"/>
          </p:cNvSpPr>
          <p:nvPr/>
        </p:nvSpPr>
        <p:spPr bwMode="auto">
          <a:xfrm>
            <a:off x="1575880" y="2459831"/>
            <a:ext cx="3124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2000" b="1" dirty="0">
                <a:solidFill>
                  <a:schemeClr val="tx2"/>
                </a:solidFill>
                <a:latin typeface="Verdana" panose="020B0604030504040204" pitchFamily="34" charset="0"/>
                <a:ea typeface="新細明體" panose="02020500000000000000" pitchFamily="18" charset="-120"/>
              </a:rPr>
              <a:t>Benefit: Business Continuity</a:t>
            </a:r>
          </a:p>
        </p:txBody>
      </p:sp>
      <p:sp>
        <p:nvSpPr>
          <p:cNvPr id="786491" name="Rectangle 59">
            <a:extLst>
              <a:ext uri="{FF2B5EF4-FFF2-40B4-BE49-F238E27FC236}">
                <a16:creationId xmlns:a16="http://schemas.microsoft.com/office/drawing/2014/main" id="{5C04106D-B61C-4D83-B8B1-D336A0F27456}"/>
              </a:ext>
            </a:extLst>
          </p:cNvPr>
          <p:cNvSpPr>
            <a:spLocks noGrp="1" noRot="1" noChangeArrowheads="1"/>
          </p:cNvSpPr>
          <p:nvPr>
            <p:ph type="title"/>
          </p:nvPr>
        </p:nvSpPr>
        <p:spPr>
          <a:xfrm>
            <a:off x="1271080" y="3175"/>
            <a:ext cx="8534400" cy="609600"/>
          </a:xfrm>
        </p:spPr>
        <p:txBody>
          <a:bodyPr>
            <a:normAutofit fontScale="90000"/>
          </a:bodyPr>
          <a:lstStyle/>
          <a:p>
            <a:pPr eaLnBrk="1" hangingPunct="1">
              <a:defRPr/>
            </a:pPr>
            <a:r>
              <a:rPr lang="en-US" sz="4000" dirty="0"/>
              <a:t> VM Applications</a:t>
            </a:r>
          </a:p>
        </p:txBody>
      </p:sp>
      <p:sp>
        <p:nvSpPr>
          <p:cNvPr id="786492" name="Rectangle 60">
            <a:extLst>
              <a:ext uri="{FF2B5EF4-FFF2-40B4-BE49-F238E27FC236}">
                <a16:creationId xmlns:a16="http://schemas.microsoft.com/office/drawing/2014/main" id="{631913DC-B504-4379-BC4E-7EACE28A7886}"/>
              </a:ext>
            </a:extLst>
          </p:cNvPr>
          <p:cNvSpPr>
            <a:spLocks noChangeArrowheads="1"/>
          </p:cNvSpPr>
          <p:nvPr/>
        </p:nvSpPr>
        <p:spPr bwMode="auto">
          <a:xfrm>
            <a:off x="6763036" y="2231230"/>
            <a:ext cx="808038" cy="177800"/>
          </a:xfrm>
          <a:prstGeom prst="rect">
            <a:avLst/>
          </a:prstGeom>
          <a:solidFill>
            <a:srgbClr val="33CC33"/>
          </a:solidFill>
          <a:ln w="28575">
            <a:miter lim="800000"/>
            <a:headEnd/>
            <a:tailEnd/>
          </a:ln>
          <a:effectLst/>
          <a:scene3d>
            <a:camera prst="legacyObliqueTopRight"/>
            <a:lightRig rig="legacyFlat3" dir="b"/>
          </a:scene3d>
          <a:sp3d extrusionH="887400" prstMaterial="legacyMatte">
            <a:bevelT w="13500" h="13500" prst="angle"/>
            <a:bevelB w="13500" h="13500" prst="angle"/>
            <a:extrusionClr>
              <a:srgbClr val="33CC33"/>
            </a:extrusionClr>
          </a:sp3d>
        </p:spPr>
        <p:txBody>
          <a:bodyPr wrap="none" anchor="ctr">
            <a:flatTx/>
          </a:bodyPr>
          <a:lstStyle/>
          <a:p>
            <a:pPr algn="ctr" eaLnBrk="1" hangingPunct="1">
              <a:spcBef>
                <a:spcPct val="50000"/>
              </a:spcBef>
              <a:defRPr/>
            </a:pPr>
            <a:r>
              <a:rPr lang="en-US" altLang="ja-JP" sz="1400">
                <a:solidFill>
                  <a:schemeClr val="bg1"/>
                </a:solidFill>
                <a:effectLst>
                  <a:outerShdw blurRad="38100" dist="38100" dir="2700000" algn="tl">
                    <a:srgbClr val="000000"/>
                  </a:outerShdw>
                </a:effectLst>
                <a:latin typeface="Arial" charset="0"/>
                <a:ea typeface="MS PGothic" pitchFamily="34" charset="-128"/>
                <a:cs typeface="Arial" charset="0"/>
              </a:rPr>
              <a:t>HW</a:t>
            </a:r>
          </a:p>
        </p:txBody>
      </p:sp>
      <p:sp>
        <p:nvSpPr>
          <p:cNvPr id="786493" name="Rectangle 61">
            <a:extLst>
              <a:ext uri="{FF2B5EF4-FFF2-40B4-BE49-F238E27FC236}">
                <a16:creationId xmlns:a16="http://schemas.microsoft.com/office/drawing/2014/main" id="{B39644C4-C4CD-4CAB-92A7-E811C2868457}"/>
              </a:ext>
            </a:extLst>
          </p:cNvPr>
          <p:cNvSpPr>
            <a:spLocks noChangeArrowheads="1"/>
          </p:cNvSpPr>
          <p:nvPr/>
        </p:nvSpPr>
        <p:spPr bwMode="auto">
          <a:xfrm>
            <a:off x="6763036" y="2021680"/>
            <a:ext cx="808038" cy="177800"/>
          </a:xfrm>
          <a:prstGeom prst="rect">
            <a:avLst/>
          </a:prstGeom>
          <a:solidFill>
            <a:srgbClr val="3399FF"/>
          </a:solidFill>
          <a:ln w="28575">
            <a:miter lim="800000"/>
            <a:headEnd/>
            <a:tailEnd/>
          </a:ln>
          <a:effectLst/>
          <a:scene3d>
            <a:camera prst="legacyObliqueTopRight"/>
            <a:lightRig rig="legacyFlat3" dir="b"/>
          </a:scene3d>
          <a:sp3d extrusionH="887400" prstMaterial="legacyMatte">
            <a:bevelT w="13500" h="13500" prst="angle"/>
            <a:bevelB w="13500" h="13500" prst="angle"/>
            <a:extrusionClr>
              <a:srgbClr val="3399FF"/>
            </a:extrusionClr>
          </a:sp3d>
        </p:spPr>
        <p:txBody>
          <a:bodyPr wrap="none" anchor="ctr">
            <a:flatTx/>
          </a:bodyPr>
          <a:lstStyle/>
          <a:p>
            <a:pPr algn="ctr" eaLnBrk="1" hangingPunct="1">
              <a:spcBef>
                <a:spcPct val="50000"/>
              </a:spcBef>
              <a:defRPr/>
            </a:pPr>
            <a:r>
              <a:rPr lang="en-US" altLang="ja-JP" sz="1400">
                <a:solidFill>
                  <a:schemeClr val="bg1"/>
                </a:solidFill>
                <a:effectLst>
                  <a:outerShdw blurRad="38100" dist="38100" dir="2700000" algn="tl">
                    <a:srgbClr val="000000"/>
                  </a:outerShdw>
                </a:effectLst>
                <a:latin typeface="Arial" charset="0"/>
                <a:ea typeface="MS PGothic" pitchFamily="34" charset="-128"/>
                <a:cs typeface="Arial" charset="0"/>
              </a:rPr>
              <a:t>VMM</a:t>
            </a:r>
          </a:p>
        </p:txBody>
      </p:sp>
      <p:sp>
        <p:nvSpPr>
          <p:cNvPr id="786494" name="Rectangle 62">
            <a:extLst>
              <a:ext uri="{FF2B5EF4-FFF2-40B4-BE49-F238E27FC236}">
                <a16:creationId xmlns:a16="http://schemas.microsoft.com/office/drawing/2014/main" id="{8ACE1500-094B-41CE-BF48-6915C84A569D}"/>
              </a:ext>
            </a:extLst>
          </p:cNvPr>
          <p:cNvSpPr>
            <a:spLocks noChangeArrowheads="1"/>
          </p:cNvSpPr>
          <p:nvPr/>
        </p:nvSpPr>
        <p:spPr bwMode="auto">
          <a:xfrm>
            <a:off x="8759628" y="2283619"/>
            <a:ext cx="806450" cy="177800"/>
          </a:xfrm>
          <a:prstGeom prst="rect">
            <a:avLst/>
          </a:prstGeom>
          <a:solidFill>
            <a:srgbClr val="33CC33"/>
          </a:solidFill>
          <a:ln w="28575">
            <a:miter lim="800000"/>
            <a:headEnd/>
            <a:tailEnd/>
          </a:ln>
          <a:effectLst/>
          <a:scene3d>
            <a:camera prst="legacyObliqueTopRight"/>
            <a:lightRig rig="legacyFlat3" dir="b"/>
          </a:scene3d>
          <a:sp3d extrusionH="887400" prstMaterial="legacyMatte">
            <a:bevelT w="13500" h="13500" prst="angle"/>
            <a:bevelB w="13500" h="13500" prst="angle"/>
            <a:extrusionClr>
              <a:srgbClr val="33CC33"/>
            </a:extrusionClr>
          </a:sp3d>
        </p:spPr>
        <p:txBody>
          <a:bodyPr wrap="none" anchor="ctr">
            <a:flatTx/>
          </a:bodyPr>
          <a:lstStyle/>
          <a:p>
            <a:pPr algn="ctr" eaLnBrk="1" hangingPunct="1">
              <a:spcBef>
                <a:spcPct val="50000"/>
              </a:spcBef>
              <a:defRPr/>
            </a:pPr>
            <a:r>
              <a:rPr lang="en-US" altLang="ja-JP" sz="1400">
                <a:solidFill>
                  <a:schemeClr val="bg1"/>
                </a:solidFill>
                <a:effectLst>
                  <a:outerShdw blurRad="38100" dist="38100" dir="2700000" algn="tl">
                    <a:srgbClr val="000000"/>
                  </a:outerShdw>
                </a:effectLst>
                <a:latin typeface="Arial" charset="0"/>
                <a:ea typeface="MS PGothic" pitchFamily="34" charset="-128"/>
                <a:cs typeface="Arial" charset="0"/>
              </a:rPr>
              <a:t>HW </a:t>
            </a:r>
          </a:p>
        </p:txBody>
      </p:sp>
      <p:sp>
        <p:nvSpPr>
          <p:cNvPr id="786495" name="Rectangle 63">
            <a:extLst>
              <a:ext uri="{FF2B5EF4-FFF2-40B4-BE49-F238E27FC236}">
                <a16:creationId xmlns:a16="http://schemas.microsoft.com/office/drawing/2014/main" id="{A1E19A07-D3A2-407F-93A0-296C2BCAEBBC}"/>
              </a:ext>
            </a:extLst>
          </p:cNvPr>
          <p:cNvSpPr>
            <a:spLocks noChangeArrowheads="1"/>
          </p:cNvSpPr>
          <p:nvPr/>
        </p:nvSpPr>
        <p:spPr bwMode="auto">
          <a:xfrm>
            <a:off x="8759628" y="2074069"/>
            <a:ext cx="806450" cy="177800"/>
          </a:xfrm>
          <a:prstGeom prst="rect">
            <a:avLst/>
          </a:prstGeom>
          <a:solidFill>
            <a:srgbClr val="3399FF"/>
          </a:solidFill>
          <a:ln w="28575">
            <a:miter lim="800000"/>
            <a:headEnd/>
            <a:tailEnd/>
          </a:ln>
          <a:effectLst/>
          <a:scene3d>
            <a:camera prst="legacyObliqueTopRight"/>
            <a:lightRig rig="legacyFlat3" dir="b"/>
          </a:scene3d>
          <a:sp3d extrusionH="887400" prstMaterial="legacyMatte">
            <a:bevelT w="13500" h="13500" prst="angle"/>
            <a:bevelB w="13500" h="13500" prst="angle"/>
            <a:extrusionClr>
              <a:srgbClr val="3399FF"/>
            </a:extrusionClr>
          </a:sp3d>
        </p:spPr>
        <p:txBody>
          <a:bodyPr wrap="none" anchor="ctr">
            <a:flatTx/>
          </a:bodyPr>
          <a:lstStyle/>
          <a:p>
            <a:pPr algn="ctr" eaLnBrk="1" hangingPunct="1">
              <a:spcBef>
                <a:spcPct val="50000"/>
              </a:spcBef>
              <a:defRPr/>
            </a:pPr>
            <a:r>
              <a:rPr lang="en-US" altLang="ja-JP" sz="1400">
                <a:solidFill>
                  <a:schemeClr val="bg1"/>
                </a:solidFill>
                <a:effectLst>
                  <a:outerShdw blurRad="38100" dist="38100" dir="2700000" algn="tl">
                    <a:srgbClr val="000000"/>
                  </a:outerShdw>
                </a:effectLst>
                <a:latin typeface="Arial" charset="0"/>
                <a:ea typeface="MS PGothic" pitchFamily="34" charset="-128"/>
                <a:cs typeface="Arial" charset="0"/>
              </a:rPr>
              <a:t>VMM</a:t>
            </a:r>
          </a:p>
        </p:txBody>
      </p:sp>
      <p:sp>
        <p:nvSpPr>
          <p:cNvPr id="786497" name="AutoShape 65">
            <a:extLst>
              <a:ext uri="{FF2B5EF4-FFF2-40B4-BE49-F238E27FC236}">
                <a16:creationId xmlns:a16="http://schemas.microsoft.com/office/drawing/2014/main" id="{5419F2FD-6C44-4CE9-94C5-EB6B91F26712}"/>
              </a:ext>
            </a:extLst>
          </p:cNvPr>
          <p:cNvSpPr>
            <a:spLocks noChangeArrowheads="1"/>
          </p:cNvSpPr>
          <p:nvPr/>
        </p:nvSpPr>
        <p:spPr bwMode="auto">
          <a:xfrm>
            <a:off x="6838248" y="1438576"/>
            <a:ext cx="338137" cy="415925"/>
          </a:xfrm>
          <a:prstGeom prst="cube">
            <a:avLst>
              <a:gd name="adj" fmla="val 53495"/>
            </a:avLst>
          </a:prstGeom>
          <a:gradFill rotWithShape="1">
            <a:gsLst>
              <a:gs pos="0">
                <a:schemeClr val="accent1">
                  <a:gamma/>
                  <a:shade val="46275"/>
                  <a:invGamma/>
                </a:schemeClr>
              </a:gs>
              <a:gs pos="50000">
                <a:schemeClr val="accent1"/>
              </a:gs>
              <a:gs pos="100000">
                <a:schemeClr val="accent1">
                  <a:gamma/>
                  <a:shade val="46275"/>
                  <a:invGamma/>
                </a:schemeClr>
              </a:gs>
            </a:gsLst>
            <a:lin ang="2700000" scaled="1"/>
          </a:gradFill>
          <a:ln w="9525">
            <a:noFill/>
            <a:miter lim="800000"/>
            <a:headEnd/>
            <a:tailEnd/>
          </a:ln>
          <a:effectLst/>
        </p:spPr>
        <p:txBody>
          <a:bodyPr wrap="none" anchor="ctr"/>
          <a:lstStyle/>
          <a:p>
            <a:pPr algn="ctr" eaLnBrk="1" hangingPunct="1">
              <a:defRPr/>
            </a:pPr>
            <a:r>
              <a:rPr lang="en-US" sz="1200">
                <a:solidFill>
                  <a:schemeClr val="bg1"/>
                </a:solidFill>
                <a:effectLst>
                  <a:outerShdw blurRad="38100" dist="38100" dir="2700000" algn="tl">
                    <a:srgbClr val="000000"/>
                  </a:outerShdw>
                </a:effectLst>
                <a:latin typeface="Verdana" pitchFamily="34" charset="0"/>
              </a:rPr>
              <a:t>OS</a:t>
            </a:r>
          </a:p>
        </p:txBody>
      </p:sp>
      <p:sp>
        <p:nvSpPr>
          <p:cNvPr id="12303" name="AutoShape 66">
            <a:extLst>
              <a:ext uri="{FF2B5EF4-FFF2-40B4-BE49-F238E27FC236}">
                <a16:creationId xmlns:a16="http://schemas.microsoft.com/office/drawing/2014/main" id="{741B3D1F-5055-42B1-8B21-7985788E3B1B}"/>
              </a:ext>
            </a:extLst>
          </p:cNvPr>
          <p:cNvSpPr>
            <a:spLocks noChangeArrowheads="1"/>
          </p:cNvSpPr>
          <p:nvPr/>
        </p:nvSpPr>
        <p:spPr bwMode="auto">
          <a:xfrm>
            <a:off x="7063672" y="1032175"/>
            <a:ext cx="214312" cy="425450"/>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04" name="AutoShape 67">
            <a:extLst>
              <a:ext uri="{FF2B5EF4-FFF2-40B4-BE49-F238E27FC236}">
                <a16:creationId xmlns:a16="http://schemas.microsoft.com/office/drawing/2014/main" id="{1226D731-FAA5-47EC-A1D1-8D7B6334ADA2}"/>
              </a:ext>
            </a:extLst>
          </p:cNvPr>
          <p:cNvSpPr>
            <a:spLocks noChangeArrowheads="1"/>
          </p:cNvSpPr>
          <p:nvPr/>
        </p:nvSpPr>
        <p:spPr bwMode="auto">
          <a:xfrm>
            <a:off x="6955722" y="1108375"/>
            <a:ext cx="214312" cy="425450"/>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786500" name="AutoShape 68">
            <a:extLst>
              <a:ext uri="{FF2B5EF4-FFF2-40B4-BE49-F238E27FC236}">
                <a16:creationId xmlns:a16="http://schemas.microsoft.com/office/drawing/2014/main" id="{1A724981-78E7-4C94-BF94-2D3E8639FA03}"/>
              </a:ext>
            </a:extLst>
          </p:cNvPr>
          <p:cNvSpPr>
            <a:spLocks noChangeArrowheads="1"/>
          </p:cNvSpPr>
          <p:nvPr/>
        </p:nvSpPr>
        <p:spPr bwMode="auto">
          <a:xfrm>
            <a:off x="6847772" y="1186163"/>
            <a:ext cx="214312" cy="425450"/>
          </a:xfrm>
          <a:prstGeom prst="cube">
            <a:avLst>
              <a:gd name="adj" fmla="val 13074"/>
            </a:avLst>
          </a:prstGeom>
          <a:gradFill rotWithShape="1">
            <a:gsLst>
              <a:gs pos="0">
                <a:srgbClr val="AA014C">
                  <a:gamma/>
                  <a:shade val="46275"/>
                  <a:invGamma/>
                </a:srgbClr>
              </a:gs>
              <a:gs pos="50000">
                <a:srgbClr val="AA014C"/>
              </a:gs>
              <a:gs pos="100000">
                <a:srgbClr val="AA014C">
                  <a:gamma/>
                  <a:shade val="46275"/>
                  <a:invGamma/>
                </a:srgbClr>
              </a:gs>
            </a:gsLst>
            <a:lin ang="2700000" scaled="1"/>
          </a:gradFill>
          <a:ln w="9525">
            <a:noFill/>
            <a:miter lim="800000"/>
            <a:headEnd/>
            <a:tailEnd/>
          </a:ln>
          <a:effectLst/>
        </p:spPr>
        <p:txBody>
          <a:bodyPr wrap="none" anchor="ctr"/>
          <a:lstStyle/>
          <a:p>
            <a:pPr algn="ctr" eaLnBrk="1" hangingPunct="1">
              <a:defRPr/>
            </a:pPr>
            <a:r>
              <a:rPr lang="en-US" sz="1200" dirty="0">
                <a:solidFill>
                  <a:schemeClr val="bg1"/>
                </a:solidFill>
                <a:effectLst>
                  <a:outerShdw blurRad="38100" dist="38100" dir="2700000" algn="tl">
                    <a:srgbClr val="000000"/>
                  </a:outerShdw>
                </a:effectLst>
                <a:latin typeface="Verdana" pitchFamily="34" charset="0"/>
              </a:rPr>
              <a:t>App</a:t>
            </a:r>
          </a:p>
          <a:p>
            <a:pPr algn="ctr" eaLnBrk="1" hangingPunct="1">
              <a:defRPr/>
            </a:pPr>
            <a:r>
              <a:rPr lang="en-US" sz="1200" dirty="0">
                <a:solidFill>
                  <a:schemeClr val="bg1"/>
                </a:solidFill>
                <a:effectLst>
                  <a:outerShdw blurRad="38100" dist="38100" dir="2700000" algn="tl">
                    <a:srgbClr val="000000"/>
                  </a:outerShdw>
                </a:effectLst>
                <a:latin typeface="Verdana" pitchFamily="34" charset="0"/>
              </a:rPr>
              <a:t>1</a:t>
            </a:r>
          </a:p>
        </p:txBody>
      </p:sp>
      <p:sp>
        <p:nvSpPr>
          <p:cNvPr id="12306" name="AutoShape 69">
            <a:extLst>
              <a:ext uri="{FF2B5EF4-FFF2-40B4-BE49-F238E27FC236}">
                <a16:creationId xmlns:a16="http://schemas.microsoft.com/office/drawing/2014/main" id="{D81125B5-FECA-4A8B-A048-95DEF72FE65D}"/>
              </a:ext>
            </a:extLst>
          </p:cNvPr>
          <p:cNvSpPr>
            <a:spLocks noChangeArrowheads="1"/>
          </p:cNvSpPr>
          <p:nvPr/>
        </p:nvSpPr>
        <p:spPr bwMode="ltGray">
          <a:xfrm>
            <a:off x="6839288" y="990107"/>
            <a:ext cx="384175" cy="1000125"/>
          </a:xfrm>
          <a:prstGeom prst="cube">
            <a:avLst>
              <a:gd name="adj" fmla="val 30708"/>
            </a:avLst>
          </a:prstGeom>
          <a:solidFill>
            <a:srgbClr val="FF9900">
              <a:alpha val="20000"/>
            </a:srgbClr>
          </a:solidFill>
          <a:ln w="25400">
            <a:solidFill>
              <a:srgbClr val="FF9966"/>
            </a:solidFill>
            <a:miter lim="800000"/>
            <a:headEnd/>
            <a:tailEnd/>
          </a:ln>
        </p:spPr>
        <p:txBody>
          <a:bodyPr wrap="none" lIns="87545" tIns="43772" rIns="87545" bIns="43772"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800" b="1">
              <a:solidFill>
                <a:schemeClr val="bg1"/>
              </a:solidFill>
              <a:latin typeface="Verdana" panose="020B0604030504040204" pitchFamily="34" charset="0"/>
              <a:ea typeface="新細明體" panose="02020500000000000000" pitchFamily="18" charset="-120"/>
            </a:endParaRPr>
          </a:p>
        </p:txBody>
      </p:sp>
      <p:grpSp>
        <p:nvGrpSpPr>
          <p:cNvPr id="7" name="Group 70">
            <a:extLst>
              <a:ext uri="{FF2B5EF4-FFF2-40B4-BE49-F238E27FC236}">
                <a16:creationId xmlns:a16="http://schemas.microsoft.com/office/drawing/2014/main" id="{F33FB15A-527F-44B4-836E-CFF4EDDB462E}"/>
              </a:ext>
            </a:extLst>
          </p:cNvPr>
          <p:cNvGrpSpPr>
            <a:grpSpLocks/>
          </p:cNvGrpSpPr>
          <p:nvPr/>
        </p:nvGrpSpPr>
        <p:grpSpPr bwMode="auto">
          <a:xfrm>
            <a:off x="7463273" y="957651"/>
            <a:ext cx="384175" cy="1000125"/>
            <a:chOff x="3612" y="2322"/>
            <a:chExt cx="476" cy="630"/>
          </a:xfrm>
        </p:grpSpPr>
        <p:sp>
          <p:nvSpPr>
            <p:cNvPr id="786503" name="AutoShape 71">
              <a:extLst>
                <a:ext uri="{FF2B5EF4-FFF2-40B4-BE49-F238E27FC236}">
                  <a16:creationId xmlns:a16="http://schemas.microsoft.com/office/drawing/2014/main" id="{85FF8DF0-8DE7-41DF-9877-EE1E2994BBC9}"/>
                </a:ext>
              </a:extLst>
            </p:cNvPr>
            <p:cNvSpPr>
              <a:spLocks noChangeArrowheads="1"/>
            </p:cNvSpPr>
            <p:nvPr/>
          </p:nvSpPr>
          <p:spPr bwMode="auto">
            <a:xfrm>
              <a:off x="3647" y="2642"/>
              <a:ext cx="419" cy="262"/>
            </a:xfrm>
            <a:prstGeom prst="cube">
              <a:avLst>
                <a:gd name="adj" fmla="val 53495"/>
              </a:avLst>
            </a:prstGeom>
            <a:gradFill rotWithShape="1">
              <a:gsLst>
                <a:gs pos="0">
                  <a:schemeClr val="accent1">
                    <a:gamma/>
                    <a:shade val="46275"/>
                    <a:invGamma/>
                  </a:schemeClr>
                </a:gs>
                <a:gs pos="50000">
                  <a:schemeClr val="accent1"/>
                </a:gs>
                <a:gs pos="100000">
                  <a:schemeClr val="accent1">
                    <a:gamma/>
                    <a:shade val="46275"/>
                    <a:invGamma/>
                  </a:schemeClr>
                </a:gs>
              </a:gsLst>
              <a:lin ang="2700000" scaled="1"/>
            </a:gradFill>
            <a:ln w="9525">
              <a:noFill/>
              <a:miter lim="800000"/>
              <a:headEnd/>
              <a:tailEnd/>
            </a:ln>
            <a:effectLst/>
          </p:spPr>
          <p:txBody>
            <a:bodyPr wrap="none" anchor="ctr"/>
            <a:lstStyle/>
            <a:p>
              <a:pPr algn="ctr" eaLnBrk="1" hangingPunct="1">
                <a:defRPr/>
              </a:pPr>
              <a:r>
                <a:rPr lang="en-US" sz="1000">
                  <a:solidFill>
                    <a:schemeClr val="bg1"/>
                  </a:solidFill>
                  <a:effectLst>
                    <a:outerShdw blurRad="38100" dist="38100" dir="2700000" algn="tl">
                      <a:srgbClr val="000000"/>
                    </a:outerShdw>
                  </a:effectLst>
                  <a:latin typeface="Verdana" pitchFamily="34" charset="0"/>
                </a:rPr>
                <a:t>OS</a:t>
              </a:r>
            </a:p>
          </p:txBody>
        </p:sp>
        <p:sp>
          <p:nvSpPr>
            <p:cNvPr id="12390" name="AutoShape 72">
              <a:extLst>
                <a:ext uri="{FF2B5EF4-FFF2-40B4-BE49-F238E27FC236}">
                  <a16:creationId xmlns:a16="http://schemas.microsoft.com/office/drawing/2014/main" id="{C16C60EF-C886-480D-BBA0-85DE1D5CA0AC}"/>
                </a:ext>
              </a:extLst>
            </p:cNvPr>
            <p:cNvSpPr>
              <a:spLocks noChangeArrowheads="1"/>
            </p:cNvSpPr>
            <p:nvPr/>
          </p:nvSpPr>
          <p:spPr bwMode="auto">
            <a:xfrm>
              <a:off x="3789" y="2386"/>
              <a:ext cx="265" cy="268"/>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91" name="AutoShape 73">
              <a:extLst>
                <a:ext uri="{FF2B5EF4-FFF2-40B4-BE49-F238E27FC236}">
                  <a16:creationId xmlns:a16="http://schemas.microsoft.com/office/drawing/2014/main" id="{879D2E8D-2EE3-4B4C-ADC2-A89CC21AD59C}"/>
                </a:ext>
              </a:extLst>
            </p:cNvPr>
            <p:cNvSpPr>
              <a:spLocks noChangeArrowheads="1"/>
            </p:cNvSpPr>
            <p:nvPr/>
          </p:nvSpPr>
          <p:spPr bwMode="auto">
            <a:xfrm>
              <a:off x="3721" y="2434"/>
              <a:ext cx="266" cy="268"/>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786506" name="AutoShape 74">
              <a:extLst>
                <a:ext uri="{FF2B5EF4-FFF2-40B4-BE49-F238E27FC236}">
                  <a16:creationId xmlns:a16="http://schemas.microsoft.com/office/drawing/2014/main" id="{3AD09AFC-03E9-4461-B3C2-72F30DEBD767}"/>
                </a:ext>
              </a:extLst>
            </p:cNvPr>
            <p:cNvSpPr>
              <a:spLocks noChangeArrowheads="1"/>
            </p:cNvSpPr>
            <p:nvPr/>
          </p:nvSpPr>
          <p:spPr bwMode="auto">
            <a:xfrm>
              <a:off x="3653" y="2483"/>
              <a:ext cx="266" cy="268"/>
            </a:xfrm>
            <a:prstGeom prst="cube">
              <a:avLst>
                <a:gd name="adj" fmla="val 13074"/>
              </a:avLst>
            </a:prstGeom>
            <a:gradFill rotWithShape="1">
              <a:gsLst>
                <a:gs pos="0">
                  <a:srgbClr val="AA014C">
                    <a:gamma/>
                    <a:shade val="46275"/>
                    <a:invGamma/>
                  </a:srgbClr>
                </a:gs>
                <a:gs pos="50000">
                  <a:srgbClr val="AA014C"/>
                </a:gs>
                <a:gs pos="100000">
                  <a:srgbClr val="AA014C">
                    <a:gamma/>
                    <a:shade val="46275"/>
                    <a:invGamma/>
                  </a:srgbClr>
                </a:gs>
              </a:gsLst>
              <a:lin ang="2700000" scaled="1"/>
            </a:gradFill>
            <a:ln w="9525">
              <a:noFill/>
              <a:miter lim="800000"/>
              <a:headEnd/>
              <a:tailEnd/>
            </a:ln>
            <a:effectLst/>
          </p:spPr>
          <p:txBody>
            <a:bodyPr wrap="none" anchor="ctr"/>
            <a:lstStyle/>
            <a:p>
              <a:pPr algn="ctr" eaLnBrk="1" hangingPunct="1">
                <a:defRPr/>
              </a:pPr>
              <a:r>
                <a:rPr lang="en-US" sz="1000">
                  <a:solidFill>
                    <a:schemeClr val="bg1"/>
                  </a:solidFill>
                  <a:effectLst>
                    <a:outerShdw blurRad="38100" dist="38100" dir="2700000" algn="tl">
                      <a:srgbClr val="000000"/>
                    </a:outerShdw>
                  </a:effectLst>
                  <a:latin typeface="Verdana" pitchFamily="34" charset="0"/>
                </a:rPr>
                <a:t>App</a:t>
              </a:r>
            </a:p>
            <a:p>
              <a:pPr algn="ctr" eaLnBrk="1" hangingPunct="1">
                <a:defRPr/>
              </a:pPr>
              <a:r>
                <a:rPr lang="en-US" sz="1000">
                  <a:solidFill>
                    <a:schemeClr val="bg1"/>
                  </a:solidFill>
                  <a:effectLst>
                    <a:outerShdw blurRad="38100" dist="38100" dir="2700000" algn="tl">
                      <a:srgbClr val="000000"/>
                    </a:outerShdw>
                  </a:effectLst>
                  <a:latin typeface="Verdana" pitchFamily="34" charset="0"/>
                </a:rPr>
                <a:t>2</a:t>
              </a:r>
            </a:p>
          </p:txBody>
        </p:sp>
        <p:sp>
          <p:nvSpPr>
            <p:cNvPr id="12393" name="AutoShape 75">
              <a:extLst>
                <a:ext uri="{FF2B5EF4-FFF2-40B4-BE49-F238E27FC236}">
                  <a16:creationId xmlns:a16="http://schemas.microsoft.com/office/drawing/2014/main" id="{2563EBE2-FA60-4D68-88D4-E39878CB57CE}"/>
                </a:ext>
              </a:extLst>
            </p:cNvPr>
            <p:cNvSpPr>
              <a:spLocks noChangeArrowheads="1"/>
            </p:cNvSpPr>
            <p:nvPr/>
          </p:nvSpPr>
          <p:spPr bwMode="ltGray">
            <a:xfrm>
              <a:off x="3612" y="2322"/>
              <a:ext cx="476" cy="630"/>
            </a:xfrm>
            <a:prstGeom prst="cube">
              <a:avLst>
                <a:gd name="adj" fmla="val 30708"/>
              </a:avLst>
            </a:prstGeom>
            <a:solidFill>
              <a:srgbClr val="FF9900">
                <a:alpha val="20000"/>
              </a:srgbClr>
            </a:solidFill>
            <a:ln w="25400">
              <a:solidFill>
                <a:srgbClr val="FF9966"/>
              </a:solidFill>
              <a:miter lim="800000"/>
              <a:headEnd/>
              <a:tailEnd/>
            </a:ln>
          </p:spPr>
          <p:txBody>
            <a:bodyPr wrap="none" lIns="87545" tIns="43772" rIns="87545" bIns="43772"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1200" b="1">
                <a:solidFill>
                  <a:schemeClr val="bg1"/>
                </a:solidFill>
                <a:latin typeface="Verdana" panose="020B0604030504040204" pitchFamily="34" charset="0"/>
                <a:ea typeface="新細明體" panose="02020500000000000000" pitchFamily="18" charset="-120"/>
              </a:endParaRPr>
            </a:p>
          </p:txBody>
        </p:sp>
      </p:grpSp>
      <p:grpSp>
        <p:nvGrpSpPr>
          <p:cNvPr id="8" name="Group 76">
            <a:extLst>
              <a:ext uri="{FF2B5EF4-FFF2-40B4-BE49-F238E27FC236}">
                <a16:creationId xmlns:a16="http://schemas.microsoft.com/office/drawing/2014/main" id="{AE762C0D-B878-4F6D-AFA2-4409E1247935}"/>
              </a:ext>
            </a:extLst>
          </p:cNvPr>
          <p:cNvGrpSpPr>
            <a:grpSpLocks/>
          </p:cNvGrpSpPr>
          <p:nvPr/>
        </p:nvGrpSpPr>
        <p:grpSpPr bwMode="auto">
          <a:xfrm>
            <a:off x="8768896" y="975583"/>
            <a:ext cx="384175" cy="1000125"/>
            <a:chOff x="4302" y="2318"/>
            <a:chExt cx="476" cy="630"/>
          </a:xfrm>
        </p:grpSpPr>
        <p:sp>
          <p:nvSpPr>
            <p:cNvPr id="786509" name="AutoShape 77">
              <a:extLst>
                <a:ext uri="{FF2B5EF4-FFF2-40B4-BE49-F238E27FC236}">
                  <a16:creationId xmlns:a16="http://schemas.microsoft.com/office/drawing/2014/main" id="{79995AB7-F0CC-41CF-8C40-D599640B0550}"/>
                </a:ext>
              </a:extLst>
            </p:cNvPr>
            <p:cNvSpPr>
              <a:spLocks noChangeArrowheads="1"/>
            </p:cNvSpPr>
            <p:nvPr/>
          </p:nvSpPr>
          <p:spPr bwMode="auto">
            <a:xfrm>
              <a:off x="4324" y="2640"/>
              <a:ext cx="419" cy="262"/>
            </a:xfrm>
            <a:prstGeom prst="cube">
              <a:avLst>
                <a:gd name="adj" fmla="val 53495"/>
              </a:avLst>
            </a:prstGeom>
            <a:gradFill rotWithShape="1">
              <a:gsLst>
                <a:gs pos="0">
                  <a:schemeClr val="accent1">
                    <a:gamma/>
                    <a:shade val="46275"/>
                    <a:invGamma/>
                  </a:schemeClr>
                </a:gs>
                <a:gs pos="50000">
                  <a:schemeClr val="accent1"/>
                </a:gs>
                <a:gs pos="100000">
                  <a:schemeClr val="accent1">
                    <a:gamma/>
                    <a:shade val="46275"/>
                    <a:invGamma/>
                  </a:schemeClr>
                </a:gs>
              </a:gsLst>
              <a:lin ang="2700000" scaled="1"/>
            </a:gradFill>
            <a:ln w="9525">
              <a:noFill/>
              <a:miter lim="800000"/>
              <a:headEnd/>
              <a:tailEnd/>
            </a:ln>
            <a:effectLst/>
          </p:spPr>
          <p:txBody>
            <a:bodyPr wrap="none" anchor="ctr"/>
            <a:lstStyle/>
            <a:p>
              <a:pPr algn="ctr" eaLnBrk="1" hangingPunct="1">
                <a:defRPr/>
              </a:pPr>
              <a:r>
                <a:rPr lang="en-US" sz="1000">
                  <a:solidFill>
                    <a:schemeClr val="bg1"/>
                  </a:solidFill>
                  <a:effectLst>
                    <a:outerShdw blurRad="38100" dist="38100" dir="2700000" algn="tl">
                      <a:srgbClr val="000000"/>
                    </a:outerShdw>
                  </a:effectLst>
                  <a:latin typeface="Verdana" pitchFamily="34" charset="0"/>
                </a:rPr>
                <a:t>OS</a:t>
              </a:r>
            </a:p>
          </p:txBody>
        </p:sp>
        <p:sp>
          <p:nvSpPr>
            <p:cNvPr id="12385" name="AutoShape 78">
              <a:extLst>
                <a:ext uri="{FF2B5EF4-FFF2-40B4-BE49-F238E27FC236}">
                  <a16:creationId xmlns:a16="http://schemas.microsoft.com/office/drawing/2014/main" id="{54D38E7F-3492-4DCE-BC7E-CC9E25646214}"/>
                </a:ext>
              </a:extLst>
            </p:cNvPr>
            <p:cNvSpPr>
              <a:spLocks noChangeArrowheads="1"/>
            </p:cNvSpPr>
            <p:nvPr/>
          </p:nvSpPr>
          <p:spPr bwMode="auto">
            <a:xfrm>
              <a:off x="4466" y="2383"/>
              <a:ext cx="265" cy="268"/>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86" name="AutoShape 79">
              <a:extLst>
                <a:ext uri="{FF2B5EF4-FFF2-40B4-BE49-F238E27FC236}">
                  <a16:creationId xmlns:a16="http://schemas.microsoft.com/office/drawing/2014/main" id="{7DF97D20-B3FC-4F68-8213-C31111FE832F}"/>
                </a:ext>
              </a:extLst>
            </p:cNvPr>
            <p:cNvSpPr>
              <a:spLocks noChangeArrowheads="1"/>
            </p:cNvSpPr>
            <p:nvPr/>
          </p:nvSpPr>
          <p:spPr bwMode="auto">
            <a:xfrm>
              <a:off x="4398" y="2432"/>
              <a:ext cx="265" cy="268"/>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786512" name="AutoShape 80">
              <a:extLst>
                <a:ext uri="{FF2B5EF4-FFF2-40B4-BE49-F238E27FC236}">
                  <a16:creationId xmlns:a16="http://schemas.microsoft.com/office/drawing/2014/main" id="{F1696773-5085-4A62-AD6D-B42C18060E87}"/>
                </a:ext>
              </a:extLst>
            </p:cNvPr>
            <p:cNvSpPr>
              <a:spLocks noChangeArrowheads="1"/>
            </p:cNvSpPr>
            <p:nvPr/>
          </p:nvSpPr>
          <p:spPr bwMode="auto">
            <a:xfrm>
              <a:off x="4330" y="2481"/>
              <a:ext cx="266" cy="268"/>
            </a:xfrm>
            <a:prstGeom prst="cube">
              <a:avLst>
                <a:gd name="adj" fmla="val 13074"/>
              </a:avLst>
            </a:prstGeom>
            <a:gradFill rotWithShape="1">
              <a:gsLst>
                <a:gs pos="0">
                  <a:srgbClr val="AA014C">
                    <a:gamma/>
                    <a:shade val="46275"/>
                    <a:invGamma/>
                  </a:srgbClr>
                </a:gs>
                <a:gs pos="50000">
                  <a:srgbClr val="AA014C"/>
                </a:gs>
                <a:gs pos="100000">
                  <a:srgbClr val="AA014C">
                    <a:gamma/>
                    <a:shade val="46275"/>
                    <a:invGamma/>
                  </a:srgbClr>
                </a:gs>
              </a:gsLst>
              <a:lin ang="2700000" scaled="1"/>
            </a:gradFill>
            <a:ln w="9525">
              <a:noFill/>
              <a:miter lim="800000"/>
              <a:headEnd/>
              <a:tailEnd/>
            </a:ln>
            <a:effectLst/>
          </p:spPr>
          <p:txBody>
            <a:bodyPr wrap="none" anchor="ctr"/>
            <a:lstStyle/>
            <a:p>
              <a:pPr algn="ctr" eaLnBrk="1" hangingPunct="1">
                <a:defRPr/>
              </a:pPr>
              <a:r>
                <a:rPr lang="en-US" sz="1000">
                  <a:solidFill>
                    <a:schemeClr val="bg1"/>
                  </a:solidFill>
                  <a:effectLst>
                    <a:outerShdw blurRad="38100" dist="38100" dir="2700000" algn="tl">
                      <a:srgbClr val="000000"/>
                    </a:outerShdw>
                  </a:effectLst>
                  <a:latin typeface="Verdana" pitchFamily="34" charset="0"/>
                </a:rPr>
                <a:t>App</a:t>
              </a:r>
            </a:p>
            <a:p>
              <a:pPr algn="ctr" eaLnBrk="1" hangingPunct="1">
                <a:defRPr/>
              </a:pPr>
              <a:r>
                <a:rPr lang="en-US" sz="1000">
                  <a:solidFill>
                    <a:schemeClr val="bg1"/>
                  </a:solidFill>
                  <a:effectLst>
                    <a:outerShdw blurRad="38100" dist="38100" dir="2700000" algn="tl">
                      <a:srgbClr val="000000"/>
                    </a:outerShdw>
                  </a:effectLst>
                  <a:latin typeface="Verdana" pitchFamily="34" charset="0"/>
                </a:rPr>
                <a:t>3</a:t>
              </a:r>
            </a:p>
          </p:txBody>
        </p:sp>
        <p:sp>
          <p:nvSpPr>
            <p:cNvPr id="12388" name="AutoShape 81">
              <a:extLst>
                <a:ext uri="{FF2B5EF4-FFF2-40B4-BE49-F238E27FC236}">
                  <a16:creationId xmlns:a16="http://schemas.microsoft.com/office/drawing/2014/main" id="{3BBEAB90-78E1-4DC3-84DB-6685B0ED1A6F}"/>
                </a:ext>
              </a:extLst>
            </p:cNvPr>
            <p:cNvSpPr>
              <a:spLocks noChangeArrowheads="1"/>
            </p:cNvSpPr>
            <p:nvPr/>
          </p:nvSpPr>
          <p:spPr bwMode="ltGray">
            <a:xfrm>
              <a:off x="4302" y="2318"/>
              <a:ext cx="476" cy="630"/>
            </a:xfrm>
            <a:prstGeom prst="cube">
              <a:avLst>
                <a:gd name="adj" fmla="val 30708"/>
              </a:avLst>
            </a:prstGeom>
            <a:solidFill>
              <a:srgbClr val="FF9900">
                <a:alpha val="20000"/>
              </a:srgbClr>
            </a:solidFill>
            <a:ln w="25400">
              <a:solidFill>
                <a:srgbClr val="FF9966"/>
              </a:solidFill>
              <a:miter lim="800000"/>
              <a:headEnd/>
              <a:tailEnd/>
            </a:ln>
          </p:spPr>
          <p:txBody>
            <a:bodyPr wrap="none" lIns="87545" tIns="43772" rIns="87545" bIns="43772"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1200" b="1">
                <a:solidFill>
                  <a:schemeClr val="bg1"/>
                </a:solidFill>
                <a:latin typeface="Verdana" panose="020B0604030504040204" pitchFamily="34" charset="0"/>
                <a:ea typeface="新細明體" panose="02020500000000000000" pitchFamily="18" charset="-120"/>
              </a:endParaRPr>
            </a:p>
          </p:txBody>
        </p:sp>
      </p:grpSp>
      <p:grpSp>
        <p:nvGrpSpPr>
          <p:cNvPr id="12309" name="Group 82">
            <a:extLst>
              <a:ext uri="{FF2B5EF4-FFF2-40B4-BE49-F238E27FC236}">
                <a16:creationId xmlns:a16="http://schemas.microsoft.com/office/drawing/2014/main" id="{755A71AB-E5B1-4F81-B2D2-48D19BAADF97}"/>
              </a:ext>
            </a:extLst>
          </p:cNvPr>
          <p:cNvGrpSpPr>
            <a:grpSpLocks/>
          </p:cNvGrpSpPr>
          <p:nvPr/>
        </p:nvGrpSpPr>
        <p:grpSpPr bwMode="auto">
          <a:xfrm>
            <a:off x="9371352" y="947008"/>
            <a:ext cx="492125" cy="1000125"/>
            <a:chOff x="3682" y="2287"/>
            <a:chExt cx="310" cy="630"/>
          </a:xfrm>
        </p:grpSpPr>
        <p:grpSp>
          <p:nvGrpSpPr>
            <p:cNvPr id="12378" name="Group 83">
              <a:extLst>
                <a:ext uri="{FF2B5EF4-FFF2-40B4-BE49-F238E27FC236}">
                  <a16:creationId xmlns:a16="http://schemas.microsoft.com/office/drawing/2014/main" id="{8C644CDD-F1CB-40D4-8783-5020B02F58FA}"/>
                </a:ext>
              </a:extLst>
            </p:cNvPr>
            <p:cNvGrpSpPr>
              <a:grpSpLocks/>
            </p:cNvGrpSpPr>
            <p:nvPr/>
          </p:nvGrpSpPr>
          <p:grpSpPr bwMode="auto">
            <a:xfrm>
              <a:off x="3715" y="2352"/>
              <a:ext cx="277" cy="519"/>
              <a:chOff x="3715" y="2352"/>
              <a:chExt cx="277" cy="519"/>
            </a:xfrm>
          </p:grpSpPr>
          <p:sp>
            <p:nvSpPr>
              <p:cNvPr id="786516" name="AutoShape 84">
                <a:extLst>
                  <a:ext uri="{FF2B5EF4-FFF2-40B4-BE49-F238E27FC236}">
                    <a16:creationId xmlns:a16="http://schemas.microsoft.com/office/drawing/2014/main" id="{644F6317-48D4-423D-8B69-C885B1CE3578}"/>
                  </a:ext>
                </a:extLst>
              </p:cNvPr>
              <p:cNvSpPr>
                <a:spLocks noChangeArrowheads="1"/>
              </p:cNvSpPr>
              <p:nvPr/>
            </p:nvSpPr>
            <p:spPr bwMode="auto">
              <a:xfrm>
                <a:off x="3715" y="2609"/>
                <a:ext cx="213" cy="262"/>
              </a:xfrm>
              <a:prstGeom prst="cube">
                <a:avLst>
                  <a:gd name="adj" fmla="val 53495"/>
                </a:avLst>
              </a:prstGeom>
              <a:gradFill rotWithShape="1">
                <a:gsLst>
                  <a:gs pos="0">
                    <a:schemeClr val="accent1">
                      <a:gamma/>
                      <a:shade val="46275"/>
                      <a:invGamma/>
                    </a:schemeClr>
                  </a:gs>
                  <a:gs pos="50000">
                    <a:schemeClr val="accent1"/>
                  </a:gs>
                  <a:gs pos="100000">
                    <a:schemeClr val="accent1">
                      <a:gamma/>
                      <a:shade val="46275"/>
                      <a:invGamma/>
                    </a:schemeClr>
                  </a:gs>
                </a:gsLst>
                <a:lin ang="2700000" scaled="1"/>
              </a:gradFill>
              <a:ln w="9525">
                <a:noFill/>
                <a:miter lim="800000"/>
                <a:headEnd/>
                <a:tailEnd/>
              </a:ln>
              <a:effectLst/>
            </p:spPr>
            <p:txBody>
              <a:bodyPr wrap="none" anchor="ctr"/>
              <a:lstStyle/>
              <a:p>
                <a:pPr algn="ctr" eaLnBrk="1" hangingPunct="1">
                  <a:defRPr/>
                </a:pPr>
                <a:r>
                  <a:rPr lang="en-US" sz="1200">
                    <a:solidFill>
                      <a:schemeClr val="bg1"/>
                    </a:solidFill>
                    <a:effectLst>
                      <a:outerShdw blurRad="38100" dist="38100" dir="2700000" algn="tl">
                        <a:srgbClr val="000000"/>
                      </a:outerShdw>
                    </a:effectLst>
                    <a:latin typeface="Verdana" pitchFamily="34" charset="0"/>
                  </a:rPr>
                  <a:t>OS</a:t>
                </a:r>
              </a:p>
            </p:txBody>
          </p:sp>
          <p:sp>
            <p:nvSpPr>
              <p:cNvPr id="12381" name="AutoShape 85">
                <a:extLst>
                  <a:ext uri="{FF2B5EF4-FFF2-40B4-BE49-F238E27FC236}">
                    <a16:creationId xmlns:a16="http://schemas.microsoft.com/office/drawing/2014/main" id="{F023E44A-7279-4558-B3D4-0C7970976FEE}"/>
                  </a:ext>
                </a:extLst>
              </p:cNvPr>
              <p:cNvSpPr>
                <a:spLocks noChangeArrowheads="1"/>
              </p:cNvSpPr>
              <p:nvPr/>
            </p:nvSpPr>
            <p:spPr bwMode="auto">
              <a:xfrm>
                <a:off x="3857" y="2352"/>
                <a:ext cx="135" cy="268"/>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82" name="AutoShape 86">
                <a:extLst>
                  <a:ext uri="{FF2B5EF4-FFF2-40B4-BE49-F238E27FC236}">
                    <a16:creationId xmlns:a16="http://schemas.microsoft.com/office/drawing/2014/main" id="{10BBC98A-2347-4A6F-8165-B3F7CC758DCE}"/>
                  </a:ext>
                </a:extLst>
              </p:cNvPr>
              <p:cNvSpPr>
                <a:spLocks noChangeArrowheads="1"/>
              </p:cNvSpPr>
              <p:nvPr/>
            </p:nvSpPr>
            <p:spPr bwMode="auto">
              <a:xfrm>
                <a:off x="3789" y="2401"/>
                <a:ext cx="135" cy="268"/>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786519" name="AutoShape 87">
                <a:extLst>
                  <a:ext uri="{FF2B5EF4-FFF2-40B4-BE49-F238E27FC236}">
                    <a16:creationId xmlns:a16="http://schemas.microsoft.com/office/drawing/2014/main" id="{745C63C8-534C-4D9C-9C5C-53E94EEED7ED}"/>
                  </a:ext>
                </a:extLst>
              </p:cNvPr>
              <p:cNvSpPr>
                <a:spLocks noChangeArrowheads="1"/>
              </p:cNvSpPr>
              <p:nvPr/>
            </p:nvSpPr>
            <p:spPr bwMode="auto">
              <a:xfrm>
                <a:off x="3721" y="2450"/>
                <a:ext cx="135" cy="268"/>
              </a:xfrm>
              <a:prstGeom prst="cube">
                <a:avLst>
                  <a:gd name="adj" fmla="val 13074"/>
                </a:avLst>
              </a:prstGeom>
              <a:gradFill rotWithShape="1">
                <a:gsLst>
                  <a:gs pos="0">
                    <a:srgbClr val="AA014C">
                      <a:gamma/>
                      <a:shade val="46275"/>
                      <a:invGamma/>
                    </a:srgbClr>
                  </a:gs>
                  <a:gs pos="50000">
                    <a:srgbClr val="AA014C"/>
                  </a:gs>
                  <a:gs pos="100000">
                    <a:srgbClr val="AA014C">
                      <a:gamma/>
                      <a:shade val="46275"/>
                      <a:invGamma/>
                    </a:srgbClr>
                  </a:gs>
                </a:gsLst>
                <a:lin ang="2700000" scaled="1"/>
              </a:gradFill>
              <a:ln w="9525">
                <a:noFill/>
                <a:miter lim="800000"/>
                <a:headEnd/>
                <a:tailEnd/>
              </a:ln>
              <a:effectLst/>
            </p:spPr>
            <p:txBody>
              <a:bodyPr wrap="none" anchor="ctr"/>
              <a:lstStyle/>
              <a:p>
                <a:pPr algn="ctr" eaLnBrk="1" hangingPunct="1">
                  <a:defRPr/>
                </a:pPr>
                <a:r>
                  <a:rPr lang="en-US" sz="1200">
                    <a:solidFill>
                      <a:schemeClr val="bg1"/>
                    </a:solidFill>
                    <a:effectLst>
                      <a:outerShdw blurRad="38100" dist="38100" dir="2700000" algn="tl">
                        <a:srgbClr val="000000"/>
                      </a:outerShdw>
                    </a:effectLst>
                    <a:latin typeface="Verdana" pitchFamily="34" charset="0"/>
                  </a:rPr>
                  <a:t>App</a:t>
                </a:r>
              </a:p>
              <a:p>
                <a:pPr algn="ctr" eaLnBrk="1" hangingPunct="1">
                  <a:defRPr/>
                </a:pPr>
                <a:r>
                  <a:rPr lang="en-US" sz="1200">
                    <a:solidFill>
                      <a:schemeClr val="bg1"/>
                    </a:solidFill>
                    <a:effectLst>
                      <a:outerShdw blurRad="38100" dist="38100" dir="2700000" algn="tl">
                        <a:srgbClr val="000000"/>
                      </a:outerShdw>
                    </a:effectLst>
                    <a:latin typeface="Verdana" pitchFamily="34" charset="0"/>
                  </a:rPr>
                  <a:t>4</a:t>
                </a:r>
              </a:p>
            </p:txBody>
          </p:sp>
        </p:grpSp>
        <p:sp>
          <p:nvSpPr>
            <p:cNvPr id="12379" name="AutoShape 88">
              <a:extLst>
                <a:ext uri="{FF2B5EF4-FFF2-40B4-BE49-F238E27FC236}">
                  <a16:creationId xmlns:a16="http://schemas.microsoft.com/office/drawing/2014/main" id="{F4A7E195-7E3F-48A3-8B8A-66723F6A0911}"/>
                </a:ext>
              </a:extLst>
            </p:cNvPr>
            <p:cNvSpPr>
              <a:spLocks noChangeArrowheads="1"/>
            </p:cNvSpPr>
            <p:nvPr/>
          </p:nvSpPr>
          <p:spPr bwMode="ltGray">
            <a:xfrm>
              <a:off x="3682" y="2287"/>
              <a:ext cx="243" cy="630"/>
            </a:xfrm>
            <a:prstGeom prst="cube">
              <a:avLst>
                <a:gd name="adj" fmla="val 30708"/>
              </a:avLst>
            </a:prstGeom>
            <a:solidFill>
              <a:srgbClr val="FF9900">
                <a:alpha val="20000"/>
              </a:srgbClr>
            </a:solidFill>
            <a:ln w="25400">
              <a:solidFill>
                <a:srgbClr val="FF9966"/>
              </a:solidFill>
              <a:miter lim="800000"/>
              <a:headEnd/>
              <a:tailEnd/>
            </a:ln>
          </p:spPr>
          <p:txBody>
            <a:bodyPr wrap="none" lIns="87545" tIns="43772" rIns="87545" bIns="43772"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1000" b="1">
                <a:solidFill>
                  <a:schemeClr val="bg1"/>
                </a:solidFill>
                <a:latin typeface="Verdana" panose="020B0604030504040204" pitchFamily="34" charset="0"/>
                <a:ea typeface="新細明體" panose="02020500000000000000" pitchFamily="18" charset="-120"/>
              </a:endParaRPr>
            </a:p>
          </p:txBody>
        </p:sp>
      </p:grpSp>
      <p:sp>
        <p:nvSpPr>
          <p:cNvPr id="12310" name="Text Box 89">
            <a:extLst>
              <a:ext uri="{FF2B5EF4-FFF2-40B4-BE49-F238E27FC236}">
                <a16:creationId xmlns:a16="http://schemas.microsoft.com/office/drawing/2014/main" id="{E035E717-AB73-4BD5-82DF-5B4FB8DFEC5B}"/>
              </a:ext>
            </a:extLst>
          </p:cNvPr>
          <p:cNvSpPr txBox="1">
            <a:spLocks noChangeArrowheads="1"/>
          </p:cNvSpPr>
          <p:nvPr/>
        </p:nvSpPr>
        <p:spPr bwMode="auto">
          <a:xfrm>
            <a:off x="8611680" y="2423318"/>
            <a:ext cx="8001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800" b="1">
                <a:solidFill>
                  <a:schemeClr val="bg1"/>
                </a:solidFill>
                <a:latin typeface="Verdana" panose="020B0604030504040204" pitchFamily="34" charset="0"/>
                <a:ea typeface="新細明體" panose="02020500000000000000" pitchFamily="18" charset="-120"/>
              </a:rPr>
              <a:t>CPU Usage</a:t>
            </a:r>
          </a:p>
        </p:txBody>
      </p:sp>
      <p:sp>
        <p:nvSpPr>
          <p:cNvPr id="12311" name="Rectangle 90">
            <a:extLst>
              <a:ext uri="{FF2B5EF4-FFF2-40B4-BE49-F238E27FC236}">
                <a16:creationId xmlns:a16="http://schemas.microsoft.com/office/drawing/2014/main" id="{4A5E0360-7CB0-47F0-9DA7-1415D35FBF54}"/>
              </a:ext>
            </a:extLst>
          </p:cNvPr>
          <p:cNvSpPr>
            <a:spLocks noChangeArrowheads="1"/>
          </p:cNvSpPr>
          <p:nvPr/>
        </p:nvSpPr>
        <p:spPr bwMode="auto">
          <a:xfrm>
            <a:off x="8929181" y="2604293"/>
            <a:ext cx="269875" cy="590550"/>
          </a:xfrm>
          <a:prstGeom prst="rect">
            <a:avLst/>
          </a:prstGeom>
          <a:solidFill>
            <a:srgbClr val="000000"/>
          </a:solidFill>
          <a:ln w="25400" algn="ctr">
            <a:solidFill>
              <a:srgbClr val="777777"/>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12" name="Rectangle 91">
            <a:extLst>
              <a:ext uri="{FF2B5EF4-FFF2-40B4-BE49-F238E27FC236}">
                <a16:creationId xmlns:a16="http://schemas.microsoft.com/office/drawing/2014/main" id="{A83EC2D9-BE87-481A-9CCA-AC879730A905}"/>
              </a:ext>
            </a:extLst>
          </p:cNvPr>
          <p:cNvSpPr>
            <a:spLocks noChangeArrowheads="1"/>
          </p:cNvSpPr>
          <p:nvPr/>
        </p:nvSpPr>
        <p:spPr bwMode="auto">
          <a:xfrm>
            <a:off x="8994268" y="3109119"/>
            <a:ext cx="201612" cy="53975"/>
          </a:xfrm>
          <a:prstGeom prst="rect">
            <a:avLst/>
          </a:prstGeom>
          <a:solidFill>
            <a:srgbClr val="00FF00"/>
          </a:solidFill>
          <a:ln w="12700" algn="ctr">
            <a:solidFill>
              <a:srgbClr val="00FF00"/>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13" name="Rectangle 92">
            <a:extLst>
              <a:ext uri="{FF2B5EF4-FFF2-40B4-BE49-F238E27FC236}">
                <a16:creationId xmlns:a16="http://schemas.microsoft.com/office/drawing/2014/main" id="{6D5A3CBA-4BDD-4CA8-9890-ABA398C7F62F}"/>
              </a:ext>
            </a:extLst>
          </p:cNvPr>
          <p:cNvSpPr>
            <a:spLocks noChangeArrowheads="1"/>
          </p:cNvSpPr>
          <p:nvPr/>
        </p:nvSpPr>
        <p:spPr bwMode="auto">
          <a:xfrm>
            <a:off x="8994268" y="3032919"/>
            <a:ext cx="201612" cy="53975"/>
          </a:xfrm>
          <a:prstGeom prst="rect">
            <a:avLst/>
          </a:prstGeom>
          <a:solidFill>
            <a:srgbClr val="00FF00"/>
          </a:solidFill>
          <a:ln w="12700" algn="ctr">
            <a:solidFill>
              <a:srgbClr val="00FF00"/>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14" name="Text Box 93">
            <a:extLst>
              <a:ext uri="{FF2B5EF4-FFF2-40B4-BE49-F238E27FC236}">
                <a16:creationId xmlns:a16="http://schemas.microsoft.com/office/drawing/2014/main" id="{E275518F-0EA7-4C2D-8788-529761606E93}"/>
              </a:ext>
            </a:extLst>
          </p:cNvPr>
          <p:cNvSpPr txBox="1">
            <a:spLocks noChangeArrowheads="1"/>
          </p:cNvSpPr>
          <p:nvPr/>
        </p:nvSpPr>
        <p:spPr bwMode="auto">
          <a:xfrm>
            <a:off x="8960931" y="2572544"/>
            <a:ext cx="26987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TW" sz="800" b="1">
                <a:solidFill>
                  <a:srgbClr val="66FF33"/>
                </a:solidFill>
                <a:latin typeface="Verdana" panose="020B0604030504040204" pitchFamily="34" charset="0"/>
                <a:ea typeface="新細明體" panose="02020500000000000000" pitchFamily="18" charset="-120"/>
              </a:rPr>
              <a:t>30%</a:t>
            </a:r>
          </a:p>
        </p:txBody>
      </p:sp>
      <p:sp>
        <p:nvSpPr>
          <p:cNvPr id="12315" name="Text Box 94">
            <a:extLst>
              <a:ext uri="{FF2B5EF4-FFF2-40B4-BE49-F238E27FC236}">
                <a16:creationId xmlns:a16="http://schemas.microsoft.com/office/drawing/2014/main" id="{E563AE06-E068-422F-BDEF-137B8E4AB848}"/>
              </a:ext>
            </a:extLst>
          </p:cNvPr>
          <p:cNvSpPr txBox="1">
            <a:spLocks noChangeArrowheads="1"/>
          </p:cNvSpPr>
          <p:nvPr/>
        </p:nvSpPr>
        <p:spPr bwMode="auto">
          <a:xfrm>
            <a:off x="7167055" y="2443956"/>
            <a:ext cx="8001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800" b="1">
                <a:solidFill>
                  <a:schemeClr val="bg1"/>
                </a:solidFill>
                <a:latin typeface="Verdana" panose="020B0604030504040204" pitchFamily="34" charset="0"/>
                <a:ea typeface="新細明體" panose="02020500000000000000" pitchFamily="18" charset="-120"/>
              </a:rPr>
              <a:t>CPU Usage</a:t>
            </a:r>
          </a:p>
        </p:txBody>
      </p:sp>
      <p:sp>
        <p:nvSpPr>
          <p:cNvPr id="12316" name="Rectangle 95">
            <a:extLst>
              <a:ext uri="{FF2B5EF4-FFF2-40B4-BE49-F238E27FC236}">
                <a16:creationId xmlns:a16="http://schemas.microsoft.com/office/drawing/2014/main" id="{47A2B20A-38D5-4801-9387-5A85CD239BC1}"/>
              </a:ext>
            </a:extLst>
          </p:cNvPr>
          <p:cNvSpPr>
            <a:spLocks noChangeArrowheads="1"/>
          </p:cNvSpPr>
          <p:nvPr/>
        </p:nvSpPr>
        <p:spPr bwMode="auto">
          <a:xfrm>
            <a:off x="7482969" y="2626518"/>
            <a:ext cx="269875" cy="588962"/>
          </a:xfrm>
          <a:prstGeom prst="rect">
            <a:avLst/>
          </a:prstGeom>
          <a:solidFill>
            <a:srgbClr val="000000"/>
          </a:solidFill>
          <a:ln w="25400" algn="ctr">
            <a:solidFill>
              <a:srgbClr val="777777"/>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17" name="Rectangle 96">
            <a:extLst>
              <a:ext uri="{FF2B5EF4-FFF2-40B4-BE49-F238E27FC236}">
                <a16:creationId xmlns:a16="http://schemas.microsoft.com/office/drawing/2014/main" id="{D30AFD2B-18F9-4A8C-AD25-7990715FFE05}"/>
              </a:ext>
            </a:extLst>
          </p:cNvPr>
          <p:cNvSpPr>
            <a:spLocks noChangeArrowheads="1"/>
          </p:cNvSpPr>
          <p:nvPr/>
        </p:nvSpPr>
        <p:spPr bwMode="auto">
          <a:xfrm>
            <a:off x="7548056" y="3131344"/>
            <a:ext cx="201613" cy="53975"/>
          </a:xfrm>
          <a:prstGeom prst="rect">
            <a:avLst/>
          </a:prstGeom>
          <a:solidFill>
            <a:srgbClr val="00FF00"/>
          </a:solidFill>
          <a:ln w="12700" algn="ctr">
            <a:solidFill>
              <a:srgbClr val="00FF00"/>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18" name="Rectangle 97">
            <a:extLst>
              <a:ext uri="{FF2B5EF4-FFF2-40B4-BE49-F238E27FC236}">
                <a16:creationId xmlns:a16="http://schemas.microsoft.com/office/drawing/2014/main" id="{EBBC1314-D163-4715-BBA9-5389FEAFF70F}"/>
              </a:ext>
            </a:extLst>
          </p:cNvPr>
          <p:cNvSpPr>
            <a:spLocks noChangeArrowheads="1"/>
          </p:cNvSpPr>
          <p:nvPr/>
        </p:nvSpPr>
        <p:spPr bwMode="auto">
          <a:xfrm>
            <a:off x="7548056" y="3055144"/>
            <a:ext cx="201613" cy="53975"/>
          </a:xfrm>
          <a:prstGeom prst="rect">
            <a:avLst/>
          </a:prstGeom>
          <a:solidFill>
            <a:srgbClr val="00FF00"/>
          </a:solidFill>
          <a:ln w="12700" algn="ctr">
            <a:solidFill>
              <a:srgbClr val="00FF00"/>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19" name="Text Box 98">
            <a:extLst>
              <a:ext uri="{FF2B5EF4-FFF2-40B4-BE49-F238E27FC236}">
                <a16:creationId xmlns:a16="http://schemas.microsoft.com/office/drawing/2014/main" id="{499FBE75-9D12-4B32-8143-DF29BBF37595}"/>
              </a:ext>
            </a:extLst>
          </p:cNvPr>
          <p:cNvSpPr txBox="1">
            <a:spLocks noChangeArrowheads="1"/>
          </p:cNvSpPr>
          <p:nvPr/>
        </p:nvSpPr>
        <p:spPr bwMode="auto">
          <a:xfrm>
            <a:off x="7516305" y="2594769"/>
            <a:ext cx="268288"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TW" sz="800" b="1">
                <a:solidFill>
                  <a:srgbClr val="66FF33"/>
                </a:solidFill>
                <a:latin typeface="Verdana" panose="020B0604030504040204" pitchFamily="34" charset="0"/>
                <a:ea typeface="新細明體" panose="02020500000000000000" pitchFamily="18" charset="-120"/>
              </a:rPr>
              <a:t>90%</a:t>
            </a:r>
          </a:p>
        </p:txBody>
      </p:sp>
      <p:sp>
        <p:nvSpPr>
          <p:cNvPr id="12320" name="Rectangle 99">
            <a:extLst>
              <a:ext uri="{FF2B5EF4-FFF2-40B4-BE49-F238E27FC236}">
                <a16:creationId xmlns:a16="http://schemas.microsoft.com/office/drawing/2014/main" id="{D66AD5B2-BD9B-44AA-A071-887CE6572D10}"/>
              </a:ext>
            </a:extLst>
          </p:cNvPr>
          <p:cNvSpPr>
            <a:spLocks noChangeArrowheads="1"/>
          </p:cNvSpPr>
          <p:nvPr/>
        </p:nvSpPr>
        <p:spPr bwMode="auto">
          <a:xfrm>
            <a:off x="7548056" y="2978944"/>
            <a:ext cx="201613" cy="52387"/>
          </a:xfrm>
          <a:prstGeom prst="rect">
            <a:avLst/>
          </a:prstGeom>
          <a:solidFill>
            <a:srgbClr val="00FF00"/>
          </a:solidFill>
          <a:ln w="12700" algn="ctr">
            <a:solidFill>
              <a:srgbClr val="00FF00"/>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21" name="Rectangle 100">
            <a:extLst>
              <a:ext uri="{FF2B5EF4-FFF2-40B4-BE49-F238E27FC236}">
                <a16:creationId xmlns:a16="http://schemas.microsoft.com/office/drawing/2014/main" id="{B0F60EDD-533C-45EE-BE0F-EAE8E5FF685D}"/>
              </a:ext>
            </a:extLst>
          </p:cNvPr>
          <p:cNvSpPr>
            <a:spLocks noChangeArrowheads="1"/>
          </p:cNvSpPr>
          <p:nvPr/>
        </p:nvSpPr>
        <p:spPr bwMode="auto">
          <a:xfrm>
            <a:off x="7548056" y="2902744"/>
            <a:ext cx="201613" cy="52387"/>
          </a:xfrm>
          <a:prstGeom prst="rect">
            <a:avLst/>
          </a:prstGeom>
          <a:solidFill>
            <a:srgbClr val="00FF00"/>
          </a:solidFill>
          <a:ln w="12700" algn="ctr">
            <a:solidFill>
              <a:srgbClr val="00FF00"/>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22" name="Text Box 101">
            <a:extLst>
              <a:ext uri="{FF2B5EF4-FFF2-40B4-BE49-F238E27FC236}">
                <a16:creationId xmlns:a16="http://schemas.microsoft.com/office/drawing/2014/main" id="{1B49D5B9-C625-4E43-A2CD-1CD0FC26B6A2}"/>
              </a:ext>
            </a:extLst>
          </p:cNvPr>
          <p:cNvSpPr txBox="1">
            <a:spLocks noChangeArrowheads="1"/>
          </p:cNvSpPr>
          <p:nvPr/>
        </p:nvSpPr>
        <p:spPr bwMode="auto">
          <a:xfrm>
            <a:off x="7167055" y="2443956"/>
            <a:ext cx="8001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800" b="1">
                <a:solidFill>
                  <a:srgbClr val="FFFF00"/>
                </a:solidFill>
                <a:latin typeface="Verdana" panose="020B0604030504040204" pitchFamily="34" charset="0"/>
                <a:ea typeface="新細明體" panose="02020500000000000000" pitchFamily="18" charset="-120"/>
              </a:rPr>
              <a:t>CPU Usage</a:t>
            </a:r>
          </a:p>
        </p:txBody>
      </p:sp>
      <p:sp>
        <p:nvSpPr>
          <p:cNvPr id="12323" name="Rectangle 102">
            <a:extLst>
              <a:ext uri="{FF2B5EF4-FFF2-40B4-BE49-F238E27FC236}">
                <a16:creationId xmlns:a16="http://schemas.microsoft.com/office/drawing/2014/main" id="{CE98009F-BAAB-4990-B1EB-58299048D377}"/>
              </a:ext>
            </a:extLst>
          </p:cNvPr>
          <p:cNvSpPr>
            <a:spLocks noChangeArrowheads="1"/>
          </p:cNvSpPr>
          <p:nvPr/>
        </p:nvSpPr>
        <p:spPr bwMode="auto">
          <a:xfrm>
            <a:off x="7482969" y="2626518"/>
            <a:ext cx="269875" cy="588962"/>
          </a:xfrm>
          <a:prstGeom prst="rect">
            <a:avLst/>
          </a:prstGeom>
          <a:solidFill>
            <a:srgbClr val="000000"/>
          </a:solidFill>
          <a:ln w="25400" algn="ctr">
            <a:solidFill>
              <a:srgbClr val="777777"/>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24" name="Rectangle 103">
            <a:extLst>
              <a:ext uri="{FF2B5EF4-FFF2-40B4-BE49-F238E27FC236}">
                <a16:creationId xmlns:a16="http://schemas.microsoft.com/office/drawing/2014/main" id="{18B4B0E2-80CC-429E-B0D6-704088155C5F}"/>
              </a:ext>
            </a:extLst>
          </p:cNvPr>
          <p:cNvSpPr>
            <a:spLocks noChangeArrowheads="1"/>
          </p:cNvSpPr>
          <p:nvPr/>
        </p:nvSpPr>
        <p:spPr bwMode="auto">
          <a:xfrm>
            <a:off x="7548056" y="3131344"/>
            <a:ext cx="201613" cy="53975"/>
          </a:xfrm>
          <a:prstGeom prst="rect">
            <a:avLst/>
          </a:prstGeom>
          <a:solidFill>
            <a:srgbClr val="00FF00"/>
          </a:solidFill>
          <a:ln w="12700" algn="ctr">
            <a:solidFill>
              <a:srgbClr val="00FF00"/>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25" name="Rectangle 104">
            <a:extLst>
              <a:ext uri="{FF2B5EF4-FFF2-40B4-BE49-F238E27FC236}">
                <a16:creationId xmlns:a16="http://schemas.microsoft.com/office/drawing/2014/main" id="{8CD58741-B3B9-4281-A617-076835FA0808}"/>
              </a:ext>
            </a:extLst>
          </p:cNvPr>
          <p:cNvSpPr>
            <a:spLocks noChangeArrowheads="1"/>
          </p:cNvSpPr>
          <p:nvPr/>
        </p:nvSpPr>
        <p:spPr bwMode="auto">
          <a:xfrm>
            <a:off x="7548056" y="3055144"/>
            <a:ext cx="201613" cy="53975"/>
          </a:xfrm>
          <a:prstGeom prst="rect">
            <a:avLst/>
          </a:prstGeom>
          <a:solidFill>
            <a:srgbClr val="00FF00"/>
          </a:solidFill>
          <a:ln w="12700" algn="ctr">
            <a:solidFill>
              <a:srgbClr val="00FF00"/>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26" name="Rectangle 105">
            <a:extLst>
              <a:ext uri="{FF2B5EF4-FFF2-40B4-BE49-F238E27FC236}">
                <a16:creationId xmlns:a16="http://schemas.microsoft.com/office/drawing/2014/main" id="{86BEE143-CBA9-4B1F-9A06-787DEEAAF8E9}"/>
              </a:ext>
            </a:extLst>
          </p:cNvPr>
          <p:cNvSpPr>
            <a:spLocks noChangeArrowheads="1"/>
          </p:cNvSpPr>
          <p:nvPr/>
        </p:nvSpPr>
        <p:spPr bwMode="auto">
          <a:xfrm>
            <a:off x="7548056" y="2980531"/>
            <a:ext cx="201613" cy="53975"/>
          </a:xfrm>
          <a:prstGeom prst="rect">
            <a:avLst/>
          </a:prstGeom>
          <a:solidFill>
            <a:srgbClr val="00FF00"/>
          </a:solidFill>
          <a:ln w="12700" algn="ctr">
            <a:solidFill>
              <a:srgbClr val="00FF00"/>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27" name="Rectangle 106">
            <a:extLst>
              <a:ext uri="{FF2B5EF4-FFF2-40B4-BE49-F238E27FC236}">
                <a16:creationId xmlns:a16="http://schemas.microsoft.com/office/drawing/2014/main" id="{B4E31739-E55A-40AA-B3B7-00E66E31224B}"/>
              </a:ext>
            </a:extLst>
          </p:cNvPr>
          <p:cNvSpPr>
            <a:spLocks noChangeArrowheads="1"/>
          </p:cNvSpPr>
          <p:nvPr/>
        </p:nvSpPr>
        <p:spPr bwMode="auto">
          <a:xfrm>
            <a:off x="7548056" y="2904331"/>
            <a:ext cx="201613" cy="53975"/>
          </a:xfrm>
          <a:prstGeom prst="rect">
            <a:avLst/>
          </a:prstGeom>
          <a:solidFill>
            <a:srgbClr val="00FF00"/>
          </a:solidFill>
          <a:ln w="12700" algn="ctr">
            <a:solidFill>
              <a:srgbClr val="00FF00"/>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28" name="Text Box 107">
            <a:extLst>
              <a:ext uri="{FF2B5EF4-FFF2-40B4-BE49-F238E27FC236}">
                <a16:creationId xmlns:a16="http://schemas.microsoft.com/office/drawing/2014/main" id="{882E5928-3F76-44FD-B2FB-2BA3A470A890}"/>
              </a:ext>
            </a:extLst>
          </p:cNvPr>
          <p:cNvSpPr txBox="1">
            <a:spLocks noChangeArrowheads="1"/>
          </p:cNvSpPr>
          <p:nvPr/>
        </p:nvSpPr>
        <p:spPr bwMode="auto">
          <a:xfrm>
            <a:off x="8611680" y="2423318"/>
            <a:ext cx="8001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lgn="ctr">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800" b="1">
                <a:solidFill>
                  <a:srgbClr val="FFFF00"/>
                </a:solidFill>
                <a:latin typeface="Verdana" panose="020B0604030504040204" pitchFamily="34" charset="0"/>
                <a:ea typeface="新細明體" panose="02020500000000000000" pitchFamily="18" charset="-120"/>
              </a:rPr>
              <a:t>CPU Usage</a:t>
            </a:r>
          </a:p>
        </p:txBody>
      </p:sp>
      <p:sp>
        <p:nvSpPr>
          <p:cNvPr id="12329" name="Rectangle 108">
            <a:extLst>
              <a:ext uri="{FF2B5EF4-FFF2-40B4-BE49-F238E27FC236}">
                <a16:creationId xmlns:a16="http://schemas.microsoft.com/office/drawing/2014/main" id="{4774EEB0-AAB7-4A13-9D7A-3FE6583D30D0}"/>
              </a:ext>
            </a:extLst>
          </p:cNvPr>
          <p:cNvSpPr>
            <a:spLocks noChangeArrowheads="1"/>
          </p:cNvSpPr>
          <p:nvPr/>
        </p:nvSpPr>
        <p:spPr bwMode="auto">
          <a:xfrm>
            <a:off x="8929181" y="2604293"/>
            <a:ext cx="269875" cy="590550"/>
          </a:xfrm>
          <a:prstGeom prst="rect">
            <a:avLst/>
          </a:prstGeom>
          <a:solidFill>
            <a:srgbClr val="000000"/>
          </a:solidFill>
          <a:ln w="25400" algn="ctr">
            <a:solidFill>
              <a:srgbClr val="777777"/>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30" name="Rectangle 109">
            <a:extLst>
              <a:ext uri="{FF2B5EF4-FFF2-40B4-BE49-F238E27FC236}">
                <a16:creationId xmlns:a16="http://schemas.microsoft.com/office/drawing/2014/main" id="{D0B01010-BCDE-40F2-9FF8-CD8DB512421C}"/>
              </a:ext>
            </a:extLst>
          </p:cNvPr>
          <p:cNvSpPr>
            <a:spLocks noChangeArrowheads="1"/>
          </p:cNvSpPr>
          <p:nvPr/>
        </p:nvSpPr>
        <p:spPr bwMode="auto">
          <a:xfrm>
            <a:off x="8994268" y="3109119"/>
            <a:ext cx="201612" cy="53975"/>
          </a:xfrm>
          <a:prstGeom prst="rect">
            <a:avLst/>
          </a:prstGeom>
          <a:solidFill>
            <a:srgbClr val="00FF00"/>
          </a:solidFill>
          <a:ln w="12700" algn="ctr">
            <a:solidFill>
              <a:srgbClr val="00FF00"/>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31" name="Rectangle 110">
            <a:extLst>
              <a:ext uri="{FF2B5EF4-FFF2-40B4-BE49-F238E27FC236}">
                <a16:creationId xmlns:a16="http://schemas.microsoft.com/office/drawing/2014/main" id="{F3EACB90-3FAE-4993-87DB-92D6362A0074}"/>
              </a:ext>
            </a:extLst>
          </p:cNvPr>
          <p:cNvSpPr>
            <a:spLocks noChangeArrowheads="1"/>
          </p:cNvSpPr>
          <p:nvPr/>
        </p:nvSpPr>
        <p:spPr bwMode="auto">
          <a:xfrm>
            <a:off x="8994268" y="3032919"/>
            <a:ext cx="201612" cy="53975"/>
          </a:xfrm>
          <a:prstGeom prst="rect">
            <a:avLst/>
          </a:prstGeom>
          <a:solidFill>
            <a:srgbClr val="00FF00"/>
          </a:solidFill>
          <a:ln w="12700" algn="ctr">
            <a:solidFill>
              <a:srgbClr val="00FF00"/>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grpSp>
        <p:nvGrpSpPr>
          <p:cNvPr id="11" name="Group 111">
            <a:extLst>
              <a:ext uri="{FF2B5EF4-FFF2-40B4-BE49-F238E27FC236}">
                <a16:creationId xmlns:a16="http://schemas.microsoft.com/office/drawing/2014/main" id="{4E101768-9158-4C71-A117-3E4A72A026FB}"/>
              </a:ext>
            </a:extLst>
          </p:cNvPr>
          <p:cNvGrpSpPr>
            <a:grpSpLocks/>
          </p:cNvGrpSpPr>
          <p:nvPr/>
        </p:nvGrpSpPr>
        <p:grpSpPr bwMode="auto">
          <a:xfrm>
            <a:off x="7548056" y="2685255"/>
            <a:ext cx="201613" cy="196850"/>
            <a:chOff x="3362" y="3392"/>
            <a:chExt cx="250" cy="124"/>
          </a:xfrm>
        </p:grpSpPr>
        <p:sp>
          <p:nvSpPr>
            <p:cNvPr id="12373" name="Rectangle 112">
              <a:extLst>
                <a:ext uri="{FF2B5EF4-FFF2-40B4-BE49-F238E27FC236}">
                  <a16:creationId xmlns:a16="http://schemas.microsoft.com/office/drawing/2014/main" id="{BC9D1C9A-8881-4ABF-B4F5-3726974407CF}"/>
                </a:ext>
              </a:extLst>
            </p:cNvPr>
            <p:cNvSpPr>
              <a:spLocks noChangeArrowheads="1"/>
            </p:cNvSpPr>
            <p:nvPr/>
          </p:nvSpPr>
          <p:spPr bwMode="auto">
            <a:xfrm>
              <a:off x="3362" y="3481"/>
              <a:ext cx="250" cy="34"/>
            </a:xfrm>
            <a:prstGeom prst="rect">
              <a:avLst/>
            </a:prstGeom>
            <a:solidFill>
              <a:srgbClr val="00FF00"/>
            </a:solidFill>
            <a:ln w="12700" algn="ctr">
              <a:solidFill>
                <a:srgbClr val="00FF00"/>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74" name="Rectangle 113">
              <a:extLst>
                <a:ext uri="{FF2B5EF4-FFF2-40B4-BE49-F238E27FC236}">
                  <a16:creationId xmlns:a16="http://schemas.microsoft.com/office/drawing/2014/main" id="{FDAE725D-24FF-4D92-A347-2A885AC8C7B5}"/>
                </a:ext>
              </a:extLst>
            </p:cNvPr>
            <p:cNvSpPr>
              <a:spLocks noChangeArrowheads="1"/>
            </p:cNvSpPr>
            <p:nvPr/>
          </p:nvSpPr>
          <p:spPr bwMode="auto">
            <a:xfrm>
              <a:off x="3362" y="3433"/>
              <a:ext cx="250" cy="34"/>
            </a:xfrm>
            <a:prstGeom prst="rect">
              <a:avLst/>
            </a:prstGeom>
            <a:solidFill>
              <a:srgbClr val="00FF00"/>
            </a:solidFill>
            <a:ln w="12700" algn="ctr">
              <a:solidFill>
                <a:srgbClr val="00FF00"/>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75" name="Rectangle 114">
              <a:extLst>
                <a:ext uri="{FF2B5EF4-FFF2-40B4-BE49-F238E27FC236}">
                  <a16:creationId xmlns:a16="http://schemas.microsoft.com/office/drawing/2014/main" id="{08E4B7EF-B946-4560-9D21-29C46450DD6E}"/>
                </a:ext>
              </a:extLst>
            </p:cNvPr>
            <p:cNvSpPr>
              <a:spLocks noChangeArrowheads="1"/>
            </p:cNvSpPr>
            <p:nvPr/>
          </p:nvSpPr>
          <p:spPr bwMode="auto">
            <a:xfrm>
              <a:off x="3362" y="3482"/>
              <a:ext cx="250" cy="34"/>
            </a:xfrm>
            <a:prstGeom prst="rect">
              <a:avLst/>
            </a:prstGeom>
            <a:solidFill>
              <a:srgbClr val="00FF00"/>
            </a:solidFill>
            <a:ln w="12700" algn="ctr">
              <a:solidFill>
                <a:srgbClr val="00FF00"/>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76" name="Rectangle 115">
              <a:extLst>
                <a:ext uri="{FF2B5EF4-FFF2-40B4-BE49-F238E27FC236}">
                  <a16:creationId xmlns:a16="http://schemas.microsoft.com/office/drawing/2014/main" id="{5E624806-1455-4DF8-99B0-DE6009EEE86F}"/>
                </a:ext>
              </a:extLst>
            </p:cNvPr>
            <p:cNvSpPr>
              <a:spLocks noChangeArrowheads="1"/>
            </p:cNvSpPr>
            <p:nvPr/>
          </p:nvSpPr>
          <p:spPr bwMode="auto">
            <a:xfrm>
              <a:off x="3362" y="3434"/>
              <a:ext cx="250" cy="34"/>
            </a:xfrm>
            <a:prstGeom prst="rect">
              <a:avLst/>
            </a:prstGeom>
            <a:solidFill>
              <a:srgbClr val="00FF00"/>
            </a:solidFill>
            <a:ln w="12700" algn="ctr">
              <a:solidFill>
                <a:srgbClr val="00FF00"/>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77" name="Rectangle 116">
              <a:extLst>
                <a:ext uri="{FF2B5EF4-FFF2-40B4-BE49-F238E27FC236}">
                  <a16:creationId xmlns:a16="http://schemas.microsoft.com/office/drawing/2014/main" id="{6B27CBE1-3B67-4C26-9A62-893D292E8CC7}"/>
                </a:ext>
              </a:extLst>
            </p:cNvPr>
            <p:cNvSpPr>
              <a:spLocks noChangeArrowheads="1"/>
            </p:cNvSpPr>
            <p:nvPr/>
          </p:nvSpPr>
          <p:spPr bwMode="auto">
            <a:xfrm>
              <a:off x="3362" y="3392"/>
              <a:ext cx="250" cy="34"/>
            </a:xfrm>
            <a:prstGeom prst="rect">
              <a:avLst/>
            </a:prstGeom>
            <a:solidFill>
              <a:srgbClr val="00FF00"/>
            </a:solidFill>
            <a:ln w="12700" algn="ctr">
              <a:solidFill>
                <a:srgbClr val="00FF00"/>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grpSp>
      <p:grpSp>
        <p:nvGrpSpPr>
          <p:cNvPr id="12" name="Group 117">
            <a:extLst>
              <a:ext uri="{FF2B5EF4-FFF2-40B4-BE49-F238E27FC236}">
                <a16:creationId xmlns:a16="http://schemas.microsoft.com/office/drawing/2014/main" id="{6A561BB9-D99A-4AA8-9FE6-8F6A872A9FCC}"/>
              </a:ext>
            </a:extLst>
          </p:cNvPr>
          <p:cNvGrpSpPr>
            <a:grpSpLocks/>
          </p:cNvGrpSpPr>
          <p:nvPr/>
        </p:nvGrpSpPr>
        <p:grpSpPr bwMode="auto">
          <a:xfrm>
            <a:off x="8994268" y="2804319"/>
            <a:ext cx="201612" cy="206375"/>
            <a:chOff x="4590" y="3476"/>
            <a:chExt cx="250" cy="130"/>
          </a:xfrm>
        </p:grpSpPr>
        <p:sp>
          <p:nvSpPr>
            <p:cNvPr id="12370" name="Rectangle 118">
              <a:extLst>
                <a:ext uri="{FF2B5EF4-FFF2-40B4-BE49-F238E27FC236}">
                  <a16:creationId xmlns:a16="http://schemas.microsoft.com/office/drawing/2014/main" id="{09F80F87-189F-4DC8-A891-A71241E92EEB}"/>
                </a:ext>
              </a:extLst>
            </p:cNvPr>
            <p:cNvSpPr>
              <a:spLocks noChangeArrowheads="1"/>
            </p:cNvSpPr>
            <p:nvPr/>
          </p:nvSpPr>
          <p:spPr bwMode="auto">
            <a:xfrm>
              <a:off x="4590" y="3572"/>
              <a:ext cx="250" cy="34"/>
            </a:xfrm>
            <a:prstGeom prst="rect">
              <a:avLst/>
            </a:prstGeom>
            <a:solidFill>
              <a:srgbClr val="00FF00"/>
            </a:solidFill>
            <a:ln w="12700" algn="ctr">
              <a:solidFill>
                <a:srgbClr val="00FF00"/>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71" name="Rectangle 119">
              <a:extLst>
                <a:ext uri="{FF2B5EF4-FFF2-40B4-BE49-F238E27FC236}">
                  <a16:creationId xmlns:a16="http://schemas.microsoft.com/office/drawing/2014/main" id="{26FD6378-D37E-4174-9CF9-EC899280565C}"/>
                </a:ext>
              </a:extLst>
            </p:cNvPr>
            <p:cNvSpPr>
              <a:spLocks noChangeArrowheads="1"/>
            </p:cNvSpPr>
            <p:nvPr/>
          </p:nvSpPr>
          <p:spPr bwMode="auto">
            <a:xfrm>
              <a:off x="4590" y="3524"/>
              <a:ext cx="250" cy="34"/>
            </a:xfrm>
            <a:prstGeom prst="rect">
              <a:avLst/>
            </a:prstGeom>
            <a:solidFill>
              <a:srgbClr val="00FF00"/>
            </a:solidFill>
            <a:ln w="12700" algn="ctr">
              <a:solidFill>
                <a:srgbClr val="00FF00"/>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72" name="Rectangle 120">
              <a:extLst>
                <a:ext uri="{FF2B5EF4-FFF2-40B4-BE49-F238E27FC236}">
                  <a16:creationId xmlns:a16="http://schemas.microsoft.com/office/drawing/2014/main" id="{333DB9EF-DB24-4A2C-8375-98465B91BFEA}"/>
                </a:ext>
              </a:extLst>
            </p:cNvPr>
            <p:cNvSpPr>
              <a:spLocks noChangeArrowheads="1"/>
            </p:cNvSpPr>
            <p:nvPr/>
          </p:nvSpPr>
          <p:spPr bwMode="auto">
            <a:xfrm>
              <a:off x="4590" y="3476"/>
              <a:ext cx="250" cy="34"/>
            </a:xfrm>
            <a:prstGeom prst="rect">
              <a:avLst/>
            </a:prstGeom>
            <a:solidFill>
              <a:srgbClr val="00FF00"/>
            </a:solidFill>
            <a:ln w="12700" algn="ctr">
              <a:solidFill>
                <a:srgbClr val="00FF00"/>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grpSp>
      <p:sp>
        <p:nvSpPr>
          <p:cNvPr id="786553" name="Rectangle 121">
            <a:extLst>
              <a:ext uri="{FF2B5EF4-FFF2-40B4-BE49-F238E27FC236}">
                <a16:creationId xmlns:a16="http://schemas.microsoft.com/office/drawing/2014/main" id="{8175460A-C959-446A-9D17-8EF855DAF30F}"/>
              </a:ext>
            </a:extLst>
          </p:cNvPr>
          <p:cNvSpPr>
            <a:spLocks noChangeArrowheads="1"/>
          </p:cNvSpPr>
          <p:nvPr/>
        </p:nvSpPr>
        <p:spPr bwMode="auto">
          <a:xfrm>
            <a:off x="4640499" y="5360989"/>
            <a:ext cx="718058" cy="241300"/>
          </a:xfrm>
          <a:prstGeom prst="rect">
            <a:avLst/>
          </a:prstGeom>
          <a:solidFill>
            <a:srgbClr val="33CC33"/>
          </a:solidFill>
          <a:ln w="9525">
            <a:miter lim="800000"/>
            <a:headEnd/>
            <a:tailEnd/>
          </a:ln>
          <a:scene3d>
            <a:camera prst="legacyObliqueTopRight"/>
            <a:lightRig rig="legacyFlat3" dir="b"/>
          </a:scene3d>
          <a:sp3d extrusionH="887400" prstMaterial="legacyMatte">
            <a:bevelT w="13500" h="13500" prst="angle"/>
            <a:bevelB w="13500" h="13500" prst="angle"/>
            <a:extrusionClr>
              <a:srgbClr val="33CC33"/>
            </a:extrusionClr>
            <a:contourClr>
              <a:srgbClr val="33CC33"/>
            </a:contourClr>
          </a:sp3d>
        </p:spPr>
        <p:txBody>
          <a:bodyPr wrap="none" anchor="ctr">
            <a:flatTx/>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FontTx/>
              <a:buNone/>
            </a:pPr>
            <a:endParaRPr lang="en-US" altLang="ja-JP" sz="1000">
              <a:solidFill>
                <a:schemeClr val="folHlink"/>
              </a:solidFill>
              <a:ea typeface="MS PGothic" panose="020B0600070205080204" pitchFamily="34" charset="-128"/>
              <a:cs typeface="Arial" panose="020B0604020202020204" pitchFamily="34" charset="0"/>
            </a:endParaRPr>
          </a:p>
        </p:txBody>
      </p:sp>
      <p:sp>
        <p:nvSpPr>
          <p:cNvPr id="786554" name="Rectangle 122">
            <a:extLst>
              <a:ext uri="{FF2B5EF4-FFF2-40B4-BE49-F238E27FC236}">
                <a16:creationId xmlns:a16="http://schemas.microsoft.com/office/drawing/2014/main" id="{FE26BDED-7116-499A-95E0-2316794E96DC}"/>
              </a:ext>
            </a:extLst>
          </p:cNvPr>
          <p:cNvSpPr>
            <a:spLocks noChangeArrowheads="1"/>
          </p:cNvSpPr>
          <p:nvPr/>
        </p:nvSpPr>
        <p:spPr bwMode="auto">
          <a:xfrm>
            <a:off x="5356969" y="5359401"/>
            <a:ext cx="454025" cy="241300"/>
          </a:xfrm>
          <a:prstGeom prst="rect">
            <a:avLst/>
          </a:prstGeom>
          <a:solidFill>
            <a:srgbClr val="33CC33"/>
          </a:solidFill>
          <a:ln w="28575">
            <a:miter lim="800000"/>
            <a:headEnd/>
            <a:tailEnd/>
          </a:ln>
          <a:effectLst/>
          <a:scene3d>
            <a:camera prst="legacyObliqueTopRight"/>
            <a:lightRig rig="legacyFlat3" dir="b"/>
          </a:scene3d>
          <a:sp3d extrusionH="887400" prstMaterial="legacyMatte">
            <a:bevelT w="13500" h="13500" prst="angle"/>
            <a:bevelB w="13500" h="13500" prst="angle"/>
            <a:extrusionClr>
              <a:srgbClr val="33CC33"/>
            </a:extrusionClr>
          </a:sp3d>
        </p:spPr>
        <p:txBody>
          <a:bodyPr wrap="none" anchor="ctr">
            <a:flatTx/>
          </a:bodyPr>
          <a:lstStyle/>
          <a:p>
            <a:pPr algn="ctr" eaLnBrk="1" hangingPunct="1">
              <a:spcBef>
                <a:spcPct val="50000"/>
              </a:spcBef>
              <a:defRPr/>
            </a:pPr>
            <a:r>
              <a:rPr lang="en-US" altLang="ja-JP" sz="1000">
                <a:solidFill>
                  <a:schemeClr val="bg1"/>
                </a:solidFill>
                <a:effectLst>
                  <a:outerShdw blurRad="38100" dist="38100" dir="2700000" algn="tl">
                    <a:srgbClr val="000000"/>
                  </a:outerShdw>
                </a:effectLst>
                <a:latin typeface="Arial" charset="0"/>
                <a:ea typeface="MS PGothic" pitchFamily="34" charset="-128"/>
                <a:cs typeface="Arial" charset="0"/>
              </a:rPr>
              <a:t>HW</a:t>
            </a:r>
          </a:p>
        </p:txBody>
      </p:sp>
      <p:sp>
        <p:nvSpPr>
          <p:cNvPr id="786555" name="Rectangle 123">
            <a:extLst>
              <a:ext uri="{FF2B5EF4-FFF2-40B4-BE49-F238E27FC236}">
                <a16:creationId xmlns:a16="http://schemas.microsoft.com/office/drawing/2014/main" id="{70EF7A8B-A132-4A82-A03B-8A47C3038A76}"/>
              </a:ext>
            </a:extLst>
          </p:cNvPr>
          <p:cNvSpPr>
            <a:spLocks noChangeArrowheads="1"/>
          </p:cNvSpPr>
          <p:nvPr/>
        </p:nvSpPr>
        <p:spPr bwMode="auto">
          <a:xfrm>
            <a:off x="5801469" y="5357814"/>
            <a:ext cx="454025" cy="241300"/>
          </a:xfrm>
          <a:prstGeom prst="rect">
            <a:avLst/>
          </a:prstGeom>
          <a:solidFill>
            <a:srgbClr val="33CC33"/>
          </a:solidFill>
          <a:ln w="28575">
            <a:miter lim="800000"/>
            <a:headEnd/>
            <a:tailEnd/>
          </a:ln>
          <a:effectLst/>
          <a:scene3d>
            <a:camera prst="legacyObliqueTopRight"/>
            <a:lightRig rig="legacyFlat3" dir="b"/>
          </a:scene3d>
          <a:sp3d extrusionH="887400" prstMaterial="legacyMatte">
            <a:bevelT w="13500" h="13500" prst="angle"/>
            <a:bevelB w="13500" h="13500" prst="angle"/>
            <a:extrusionClr>
              <a:srgbClr val="33CC33"/>
            </a:extrusionClr>
          </a:sp3d>
        </p:spPr>
        <p:txBody>
          <a:bodyPr wrap="none" anchor="ctr">
            <a:flatTx/>
          </a:bodyPr>
          <a:lstStyle/>
          <a:p>
            <a:pPr algn="ctr" eaLnBrk="1" hangingPunct="1">
              <a:spcBef>
                <a:spcPct val="50000"/>
              </a:spcBef>
              <a:defRPr/>
            </a:pPr>
            <a:endParaRPr lang="en-US" altLang="ja-JP" sz="1000">
              <a:solidFill>
                <a:schemeClr val="bg1"/>
              </a:solidFill>
              <a:effectLst>
                <a:outerShdw blurRad="38100" dist="38100" dir="2700000" algn="tl">
                  <a:srgbClr val="000000"/>
                </a:outerShdw>
              </a:effectLst>
              <a:latin typeface="Arial" charset="0"/>
              <a:ea typeface="MS PGothic" pitchFamily="34" charset="-128"/>
              <a:cs typeface="Arial" charset="0"/>
            </a:endParaRPr>
          </a:p>
        </p:txBody>
      </p:sp>
      <p:sp>
        <p:nvSpPr>
          <p:cNvPr id="786556" name="Rectangle 124">
            <a:extLst>
              <a:ext uri="{FF2B5EF4-FFF2-40B4-BE49-F238E27FC236}">
                <a16:creationId xmlns:a16="http://schemas.microsoft.com/office/drawing/2014/main" id="{EFF65849-AC3D-4FC0-B3FC-59D7C3C63254}"/>
              </a:ext>
            </a:extLst>
          </p:cNvPr>
          <p:cNvSpPr>
            <a:spLocks noChangeArrowheads="1"/>
          </p:cNvSpPr>
          <p:nvPr/>
        </p:nvSpPr>
        <p:spPr bwMode="auto">
          <a:xfrm>
            <a:off x="6166881" y="5371309"/>
            <a:ext cx="384970" cy="241300"/>
          </a:xfrm>
          <a:prstGeom prst="rect">
            <a:avLst/>
          </a:prstGeom>
          <a:solidFill>
            <a:srgbClr val="33CC33"/>
          </a:solidFill>
          <a:ln w="28575">
            <a:miter lim="800000"/>
            <a:headEnd/>
            <a:tailEnd/>
          </a:ln>
          <a:effectLst/>
          <a:scene3d>
            <a:camera prst="legacyObliqueTopRight"/>
            <a:lightRig rig="legacyFlat3" dir="b"/>
          </a:scene3d>
          <a:sp3d extrusionH="887400" prstMaterial="legacyMatte">
            <a:bevelT w="13500" h="13500" prst="angle"/>
            <a:bevelB w="13500" h="13500" prst="angle"/>
            <a:extrusionClr>
              <a:srgbClr val="33CC33"/>
            </a:extrusionClr>
          </a:sp3d>
        </p:spPr>
        <p:txBody>
          <a:bodyPr wrap="none" anchor="ctr">
            <a:flatTx/>
          </a:bodyPr>
          <a:lstStyle/>
          <a:p>
            <a:pPr algn="ctr" eaLnBrk="1" hangingPunct="1">
              <a:spcBef>
                <a:spcPct val="50000"/>
              </a:spcBef>
              <a:defRPr/>
            </a:pPr>
            <a:endParaRPr lang="en-US" altLang="ja-JP" sz="1000">
              <a:solidFill>
                <a:schemeClr val="bg1"/>
              </a:solidFill>
              <a:effectLst>
                <a:outerShdw blurRad="38100" dist="38100" dir="2700000" algn="tl">
                  <a:srgbClr val="000000"/>
                </a:outerShdw>
              </a:effectLst>
              <a:latin typeface="Arial" charset="0"/>
              <a:ea typeface="MS PGothic" pitchFamily="34" charset="-128"/>
              <a:cs typeface="Arial" charset="0"/>
            </a:endParaRPr>
          </a:p>
        </p:txBody>
      </p:sp>
      <p:sp>
        <p:nvSpPr>
          <p:cNvPr id="786557" name="Rectangle 125">
            <a:extLst>
              <a:ext uri="{FF2B5EF4-FFF2-40B4-BE49-F238E27FC236}">
                <a16:creationId xmlns:a16="http://schemas.microsoft.com/office/drawing/2014/main" id="{19ACFAA1-4135-4281-A3C0-F75482CB2511}"/>
              </a:ext>
            </a:extLst>
          </p:cNvPr>
          <p:cNvSpPr>
            <a:spLocks noChangeArrowheads="1"/>
          </p:cNvSpPr>
          <p:nvPr/>
        </p:nvSpPr>
        <p:spPr bwMode="auto">
          <a:xfrm>
            <a:off x="4640498" y="4618832"/>
            <a:ext cx="1847850" cy="188913"/>
          </a:xfrm>
          <a:prstGeom prst="rect">
            <a:avLst/>
          </a:prstGeom>
          <a:solidFill>
            <a:srgbClr val="3399FF"/>
          </a:solidFill>
          <a:ln w="28575">
            <a:miter lim="800000"/>
            <a:headEnd/>
            <a:tailEnd/>
          </a:ln>
          <a:effectLst/>
          <a:scene3d>
            <a:camera prst="legacyObliqueTopRight"/>
            <a:lightRig rig="legacyFlat3" dir="b"/>
          </a:scene3d>
          <a:sp3d extrusionH="887400" prstMaterial="legacyMatte">
            <a:bevelT w="13500" h="13500" prst="angle"/>
            <a:bevelB w="13500" h="13500" prst="angle"/>
            <a:extrusionClr>
              <a:srgbClr val="3399FF"/>
            </a:extrusionClr>
          </a:sp3d>
        </p:spPr>
        <p:txBody>
          <a:bodyPr wrap="none" anchor="ctr">
            <a:flatTx/>
          </a:bodyPr>
          <a:lstStyle/>
          <a:p>
            <a:pPr algn="ctr" eaLnBrk="1" hangingPunct="1">
              <a:spcBef>
                <a:spcPct val="50000"/>
              </a:spcBef>
              <a:defRPr/>
            </a:pPr>
            <a:r>
              <a:rPr lang="en-US" altLang="ja-JP" sz="1000">
                <a:solidFill>
                  <a:schemeClr val="bg1"/>
                </a:solidFill>
                <a:effectLst>
                  <a:outerShdw blurRad="38100" dist="38100" dir="2700000" algn="tl">
                    <a:srgbClr val="000000"/>
                  </a:outerShdw>
                </a:effectLst>
                <a:latin typeface="Arial" charset="0"/>
                <a:ea typeface="MS PGothic" pitchFamily="34" charset="-128"/>
                <a:cs typeface="Arial" charset="0"/>
              </a:rPr>
              <a:t>VMM</a:t>
            </a:r>
          </a:p>
        </p:txBody>
      </p:sp>
      <p:grpSp>
        <p:nvGrpSpPr>
          <p:cNvPr id="13" name="Group 126">
            <a:extLst>
              <a:ext uri="{FF2B5EF4-FFF2-40B4-BE49-F238E27FC236}">
                <a16:creationId xmlns:a16="http://schemas.microsoft.com/office/drawing/2014/main" id="{6770C998-7F0D-42FF-9496-8BB4224AD368}"/>
              </a:ext>
            </a:extLst>
          </p:cNvPr>
          <p:cNvGrpSpPr>
            <a:grpSpLocks/>
          </p:cNvGrpSpPr>
          <p:nvPr/>
        </p:nvGrpSpPr>
        <p:grpSpPr bwMode="auto">
          <a:xfrm>
            <a:off x="4703999" y="3309145"/>
            <a:ext cx="479425" cy="1000125"/>
            <a:chOff x="4229" y="2301"/>
            <a:chExt cx="302" cy="630"/>
          </a:xfrm>
        </p:grpSpPr>
        <p:sp>
          <p:nvSpPr>
            <p:cNvPr id="786559" name="AutoShape 127">
              <a:extLst>
                <a:ext uri="{FF2B5EF4-FFF2-40B4-BE49-F238E27FC236}">
                  <a16:creationId xmlns:a16="http://schemas.microsoft.com/office/drawing/2014/main" id="{AB02594C-98FC-4A8B-B98F-462F7D6A0755}"/>
                </a:ext>
              </a:extLst>
            </p:cNvPr>
            <p:cNvSpPr>
              <a:spLocks noChangeArrowheads="1"/>
            </p:cNvSpPr>
            <p:nvPr/>
          </p:nvSpPr>
          <p:spPr bwMode="auto">
            <a:xfrm>
              <a:off x="4254" y="2612"/>
              <a:ext cx="213" cy="262"/>
            </a:xfrm>
            <a:prstGeom prst="cube">
              <a:avLst>
                <a:gd name="adj" fmla="val 53495"/>
              </a:avLst>
            </a:prstGeom>
            <a:gradFill rotWithShape="1">
              <a:gsLst>
                <a:gs pos="0">
                  <a:schemeClr val="accent1">
                    <a:gamma/>
                    <a:shade val="46275"/>
                    <a:invGamma/>
                  </a:schemeClr>
                </a:gs>
                <a:gs pos="50000">
                  <a:schemeClr val="accent1"/>
                </a:gs>
                <a:gs pos="100000">
                  <a:schemeClr val="accent1">
                    <a:gamma/>
                    <a:shade val="46275"/>
                    <a:invGamma/>
                  </a:schemeClr>
                </a:gs>
              </a:gsLst>
              <a:lin ang="2700000" scaled="1"/>
            </a:gradFill>
            <a:ln w="9525">
              <a:noFill/>
              <a:miter lim="800000"/>
              <a:headEnd/>
              <a:tailEnd/>
            </a:ln>
            <a:effectLst/>
          </p:spPr>
          <p:txBody>
            <a:bodyPr wrap="none" anchor="ctr"/>
            <a:lstStyle/>
            <a:p>
              <a:pPr algn="ctr" eaLnBrk="1" hangingPunct="1">
                <a:defRPr/>
              </a:pPr>
              <a:r>
                <a:rPr lang="en-US" sz="1200">
                  <a:solidFill>
                    <a:schemeClr val="bg1"/>
                  </a:solidFill>
                  <a:effectLst>
                    <a:outerShdw blurRad="38100" dist="38100" dir="2700000" algn="tl">
                      <a:srgbClr val="000000"/>
                    </a:outerShdw>
                  </a:effectLst>
                  <a:latin typeface="Verdana" pitchFamily="34" charset="0"/>
                </a:rPr>
                <a:t>OS</a:t>
              </a:r>
            </a:p>
          </p:txBody>
        </p:sp>
        <p:sp>
          <p:nvSpPr>
            <p:cNvPr id="12366" name="AutoShape 128">
              <a:extLst>
                <a:ext uri="{FF2B5EF4-FFF2-40B4-BE49-F238E27FC236}">
                  <a16:creationId xmlns:a16="http://schemas.microsoft.com/office/drawing/2014/main" id="{2CCF015F-2B9A-419A-A99E-E5B367A3F1A5}"/>
                </a:ext>
              </a:extLst>
            </p:cNvPr>
            <p:cNvSpPr>
              <a:spLocks noChangeArrowheads="1"/>
            </p:cNvSpPr>
            <p:nvPr/>
          </p:nvSpPr>
          <p:spPr bwMode="auto">
            <a:xfrm>
              <a:off x="4396" y="2356"/>
              <a:ext cx="135" cy="268"/>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67" name="AutoShape 129">
              <a:extLst>
                <a:ext uri="{FF2B5EF4-FFF2-40B4-BE49-F238E27FC236}">
                  <a16:creationId xmlns:a16="http://schemas.microsoft.com/office/drawing/2014/main" id="{E68C45B1-009A-4A07-8C08-3F4B3D3EFF51}"/>
                </a:ext>
              </a:extLst>
            </p:cNvPr>
            <p:cNvSpPr>
              <a:spLocks noChangeArrowheads="1"/>
            </p:cNvSpPr>
            <p:nvPr/>
          </p:nvSpPr>
          <p:spPr bwMode="auto">
            <a:xfrm>
              <a:off x="4328" y="2404"/>
              <a:ext cx="135" cy="268"/>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786562" name="AutoShape 130">
              <a:extLst>
                <a:ext uri="{FF2B5EF4-FFF2-40B4-BE49-F238E27FC236}">
                  <a16:creationId xmlns:a16="http://schemas.microsoft.com/office/drawing/2014/main" id="{270C65CE-C827-4374-8D52-290306F54FAB}"/>
                </a:ext>
              </a:extLst>
            </p:cNvPr>
            <p:cNvSpPr>
              <a:spLocks noChangeArrowheads="1"/>
            </p:cNvSpPr>
            <p:nvPr/>
          </p:nvSpPr>
          <p:spPr bwMode="auto">
            <a:xfrm>
              <a:off x="4260" y="2453"/>
              <a:ext cx="135" cy="268"/>
            </a:xfrm>
            <a:prstGeom prst="cube">
              <a:avLst>
                <a:gd name="adj" fmla="val 13074"/>
              </a:avLst>
            </a:prstGeom>
            <a:gradFill rotWithShape="1">
              <a:gsLst>
                <a:gs pos="0">
                  <a:srgbClr val="AA014C">
                    <a:gamma/>
                    <a:shade val="46275"/>
                    <a:invGamma/>
                  </a:srgbClr>
                </a:gs>
                <a:gs pos="50000">
                  <a:srgbClr val="AA014C"/>
                </a:gs>
                <a:gs pos="100000">
                  <a:srgbClr val="AA014C">
                    <a:gamma/>
                    <a:shade val="46275"/>
                    <a:invGamma/>
                  </a:srgbClr>
                </a:gs>
              </a:gsLst>
              <a:lin ang="2700000" scaled="1"/>
            </a:gradFill>
            <a:ln w="9525">
              <a:noFill/>
              <a:miter lim="800000"/>
              <a:headEnd/>
              <a:tailEnd/>
            </a:ln>
            <a:effectLst/>
          </p:spPr>
          <p:txBody>
            <a:bodyPr wrap="none" anchor="ctr"/>
            <a:lstStyle/>
            <a:p>
              <a:pPr algn="ctr" eaLnBrk="1" hangingPunct="1">
                <a:defRPr/>
              </a:pPr>
              <a:r>
                <a:rPr lang="en-US" sz="1200">
                  <a:solidFill>
                    <a:schemeClr val="bg1"/>
                  </a:solidFill>
                  <a:effectLst>
                    <a:outerShdw blurRad="38100" dist="38100" dir="2700000" algn="tl">
                      <a:srgbClr val="000000"/>
                    </a:outerShdw>
                  </a:effectLst>
                  <a:latin typeface="Verdana" pitchFamily="34" charset="0"/>
                </a:rPr>
                <a:t>App</a:t>
              </a:r>
            </a:p>
            <a:p>
              <a:pPr algn="ctr" eaLnBrk="1" hangingPunct="1">
                <a:defRPr/>
              </a:pPr>
              <a:r>
                <a:rPr lang="en-US" sz="1200">
                  <a:solidFill>
                    <a:schemeClr val="bg1"/>
                  </a:solidFill>
                  <a:effectLst>
                    <a:outerShdw blurRad="38100" dist="38100" dir="2700000" algn="tl">
                      <a:srgbClr val="000000"/>
                    </a:outerShdw>
                  </a:effectLst>
                  <a:latin typeface="Verdana" pitchFamily="34" charset="0"/>
                </a:rPr>
                <a:t>1</a:t>
              </a:r>
            </a:p>
          </p:txBody>
        </p:sp>
        <p:sp>
          <p:nvSpPr>
            <p:cNvPr id="12369" name="AutoShape 131">
              <a:extLst>
                <a:ext uri="{FF2B5EF4-FFF2-40B4-BE49-F238E27FC236}">
                  <a16:creationId xmlns:a16="http://schemas.microsoft.com/office/drawing/2014/main" id="{9C3BE7F3-7534-4C24-8700-AD4433F55B2B}"/>
                </a:ext>
              </a:extLst>
            </p:cNvPr>
            <p:cNvSpPr>
              <a:spLocks noChangeArrowheads="1"/>
            </p:cNvSpPr>
            <p:nvPr/>
          </p:nvSpPr>
          <p:spPr bwMode="ltGray">
            <a:xfrm>
              <a:off x="4229" y="2301"/>
              <a:ext cx="242" cy="630"/>
            </a:xfrm>
            <a:prstGeom prst="cube">
              <a:avLst>
                <a:gd name="adj" fmla="val 30708"/>
              </a:avLst>
            </a:prstGeom>
            <a:solidFill>
              <a:srgbClr val="FF9900">
                <a:alpha val="20000"/>
              </a:srgbClr>
            </a:solidFill>
            <a:ln w="25400">
              <a:solidFill>
                <a:srgbClr val="FF9966"/>
              </a:solidFill>
              <a:miter lim="800000"/>
              <a:headEnd/>
              <a:tailEnd/>
            </a:ln>
          </p:spPr>
          <p:txBody>
            <a:bodyPr wrap="none" lIns="87545" tIns="43772" rIns="87545" bIns="43772"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800" b="1">
                <a:solidFill>
                  <a:schemeClr val="bg1"/>
                </a:solidFill>
                <a:latin typeface="Verdana" panose="020B0604030504040204" pitchFamily="34" charset="0"/>
                <a:ea typeface="新細明體" panose="02020500000000000000" pitchFamily="18" charset="-120"/>
              </a:endParaRPr>
            </a:p>
          </p:txBody>
        </p:sp>
      </p:grpSp>
      <p:grpSp>
        <p:nvGrpSpPr>
          <p:cNvPr id="14" name="Group 132">
            <a:extLst>
              <a:ext uri="{FF2B5EF4-FFF2-40B4-BE49-F238E27FC236}">
                <a16:creationId xmlns:a16="http://schemas.microsoft.com/office/drawing/2014/main" id="{F7FD38AC-6B5D-4354-9054-4F16DF62628A}"/>
              </a:ext>
            </a:extLst>
          </p:cNvPr>
          <p:cNvGrpSpPr>
            <a:grpSpLocks/>
          </p:cNvGrpSpPr>
          <p:nvPr/>
        </p:nvGrpSpPr>
        <p:grpSpPr bwMode="auto">
          <a:xfrm>
            <a:off x="5186599" y="3304382"/>
            <a:ext cx="384175" cy="1000125"/>
            <a:chOff x="3612" y="2322"/>
            <a:chExt cx="476" cy="630"/>
          </a:xfrm>
        </p:grpSpPr>
        <p:sp>
          <p:nvSpPr>
            <p:cNvPr id="786565" name="AutoShape 133">
              <a:extLst>
                <a:ext uri="{FF2B5EF4-FFF2-40B4-BE49-F238E27FC236}">
                  <a16:creationId xmlns:a16="http://schemas.microsoft.com/office/drawing/2014/main" id="{BDD387BF-C9A7-4EAF-9818-BF7A8084C239}"/>
                </a:ext>
              </a:extLst>
            </p:cNvPr>
            <p:cNvSpPr>
              <a:spLocks noChangeArrowheads="1"/>
            </p:cNvSpPr>
            <p:nvPr/>
          </p:nvSpPr>
          <p:spPr bwMode="auto">
            <a:xfrm>
              <a:off x="3647" y="2642"/>
              <a:ext cx="419" cy="262"/>
            </a:xfrm>
            <a:prstGeom prst="cube">
              <a:avLst>
                <a:gd name="adj" fmla="val 53495"/>
              </a:avLst>
            </a:prstGeom>
            <a:gradFill rotWithShape="1">
              <a:gsLst>
                <a:gs pos="0">
                  <a:schemeClr val="accent1">
                    <a:gamma/>
                    <a:shade val="46275"/>
                    <a:invGamma/>
                  </a:schemeClr>
                </a:gs>
                <a:gs pos="50000">
                  <a:schemeClr val="accent1"/>
                </a:gs>
                <a:gs pos="100000">
                  <a:schemeClr val="accent1">
                    <a:gamma/>
                    <a:shade val="46275"/>
                    <a:invGamma/>
                  </a:schemeClr>
                </a:gs>
              </a:gsLst>
              <a:lin ang="2700000" scaled="1"/>
            </a:gradFill>
            <a:ln w="9525">
              <a:noFill/>
              <a:miter lim="800000"/>
              <a:headEnd/>
              <a:tailEnd/>
            </a:ln>
            <a:effectLst/>
          </p:spPr>
          <p:txBody>
            <a:bodyPr wrap="none" anchor="ctr"/>
            <a:lstStyle/>
            <a:p>
              <a:pPr algn="ctr" eaLnBrk="1" hangingPunct="1">
                <a:defRPr/>
              </a:pPr>
              <a:r>
                <a:rPr lang="en-US" sz="1000">
                  <a:solidFill>
                    <a:schemeClr val="bg1"/>
                  </a:solidFill>
                  <a:effectLst>
                    <a:outerShdw blurRad="38100" dist="38100" dir="2700000" algn="tl">
                      <a:srgbClr val="000000"/>
                    </a:outerShdw>
                  </a:effectLst>
                  <a:latin typeface="Verdana" pitchFamily="34" charset="0"/>
                </a:rPr>
                <a:t>OS</a:t>
              </a:r>
            </a:p>
          </p:txBody>
        </p:sp>
        <p:sp>
          <p:nvSpPr>
            <p:cNvPr id="12361" name="AutoShape 134">
              <a:extLst>
                <a:ext uri="{FF2B5EF4-FFF2-40B4-BE49-F238E27FC236}">
                  <a16:creationId xmlns:a16="http://schemas.microsoft.com/office/drawing/2014/main" id="{CAA73660-26A4-4376-9630-6812EAACE67B}"/>
                </a:ext>
              </a:extLst>
            </p:cNvPr>
            <p:cNvSpPr>
              <a:spLocks noChangeArrowheads="1"/>
            </p:cNvSpPr>
            <p:nvPr/>
          </p:nvSpPr>
          <p:spPr bwMode="auto">
            <a:xfrm>
              <a:off x="3789" y="2386"/>
              <a:ext cx="265" cy="268"/>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62" name="AutoShape 135">
              <a:extLst>
                <a:ext uri="{FF2B5EF4-FFF2-40B4-BE49-F238E27FC236}">
                  <a16:creationId xmlns:a16="http://schemas.microsoft.com/office/drawing/2014/main" id="{C65C0A3F-DF16-4AF7-B971-6036342C758B}"/>
                </a:ext>
              </a:extLst>
            </p:cNvPr>
            <p:cNvSpPr>
              <a:spLocks noChangeArrowheads="1"/>
            </p:cNvSpPr>
            <p:nvPr/>
          </p:nvSpPr>
          <p:spPr bwMode="auto">
            <a:xfrm>
              <a:off x="3721" y="2434"/>
              <a:ext cx="266" cy="268"/>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786568" name="AutoShape 136">
              <a:extLst>
                <a:ext uri="{FF2B5EF4-FFF2-40B4-BE49-F238E27FC236}">
                  <a16:creationId xmlns:a16="http://schemas.microsoft.com/office/drawing/2014/main" id="{B1F02F0B-E62F-4919-BF9D-EBC8C42F920F}"/>
                </a:ext>
              </a:extLst>
            </p:cNvPr>
            <p:cNvSpPr>
              <a:spLocks noChangeArrowheads="1"/>
            </p:cNvSpPr>
            <p:nvPr/>
          </p:nvSpPr>
          <p:spPr bwMode="auto">
            <a:xfrm>
              <a:off x="3653" y="2483"/>
              <a:ext cx="266" cy="268"/>
            </a:xfrm>
            <a:prstGeom prst="cube">
              <a:avLst>
                <a:gd name="adj" fmla="val 13074"/>
              </a:avLst>
            </a:prstGeom>
            <a:gradFill rotWithShape="1">
              <a:gsLst>
                <a:gs pos="0">
                  <a:srgbClr val="AA014C">
                    <a:gamma/>
                    <a:shade val="46275"/>
                    <a:invGamma/>
                  </a:srgbClr>
                </a:gs>
                <a:gs pos="50000">
                  <a:srgbClr val="AA014C"/>
                </a:gs>
                <a:gs pos="100000">
                  <a:srgbClr val="AA014C">
                    <a:gamma/>
                    <a:shade val="46275"/>
                    <a:invGamma/>
                  </a:srgbClr>
                </a:gs>
              </a:gsLst>
              <a:lin ang="2700000" scaled="1"/>
            </a:gradFill>
            <a:ln w="9525">
              <a:noFill/>
              <a:miter lim="800000"/>
              <a:headEnd/>
              <a:tailEnd/>
            </a:ln>
            <a:effectLst/>
          </p:spPr>
          <p:txBody>
            <a:bodyPr wrap="none" anchor="ctr"/>
            <a:lstStyle/>
            <a:p>
              <a:pPr algn="ctr" eaLnBrk="1" hangingPunct="1">
                <a:defRPr/>
              </a:pPr>
              <a:r>
                <a:rPr lang="en-US" sz="1000">
                  <a:solidFill>
                    <a:schemeClr val="bg1"/>
                  </a:solidFill>
                  <a:effectLst>
                    <a:outerShdw blurRad="38100" dist="38100" dir="2700000" algn="tl">
                      <a:srgbClr val="000000"/>
                    </a:outerShdw>
                  </a:effectLst>
                  <a:latin typeface="Verdana" pitchFamily="34" charset="0"/>
                </a:rPr>
                <a:t>App</a:t>
              </a:r>
            </a:p>
            <a:p>
              <a:pPr algn="ctr" eaLnBrk="1" hangingPunct="1">
                <a:defRPr/>
              </a:pPr>
              <a:r>
                <a:rPr lang="en-US" sz="1000">
                  <a:solidFill>
                    <a:schemeClr val="bg1"/>
                  </a:solidFill>
                  <a:effectLst>
                    <a:outerShdw blurRad="38100" dist="38100" dir="2700000" algn="tl">
                      <a:srgbClr val="000000"/>
                    </a:outerShdw>
                  </a:effectLst>
                  <a:latin typeface="Verdana" pitchFamily="34" charset="0"/>
                </a:rPr>
                <a:t>2</a:t>
              </a:r>
            </a:p>
          </p:txBody>
        </p:sp>
        <p:sp>
          <p:nvSpPr>
            <p:cNvPr id="12364" name="AutoShape 137">
              <a:extLst>
                <a:ext uri="{FF2B5EF4-FFF2-40B4-BE49-F238E27FC236}">
                  <a16:creationId xmlns:a16="http://schemas.microsoft.com/office/drawing/2014/main" id="{300F0DDF-7696-4C68-8F43-909F6DFC0F6D}"/>
                </a:ext>
              </a:extLst>
            </p:cNvPr>
            <p:cNvSpPr>
              <a:spLocks noChangeArrowheads="1"/>
            </p:cNvSpPr>
            <p:nvPr/>
          </p:nvSpPr>
          <p:spPr bwMode="ltGray">
            <a:xfrm>
              <a:off x="3612" y="2322"/>
              <a:ext cx="476" cy="630"/>
            </a:xfrm>
            <a:prstGeom prst="cube">
              <a:avLst>
                <a:gd name="adj" fmla="val 30708"/>
              </a:avLst>
            </a:prstGeom>
            <a:solidFill>
              <a:srgbClr val="FF9900">
                <a:alpha val="20000"/>
              </a:srgbClr>
            </a:solidFill>
            <a:ln w="25400">
              <a:solidFill>
                <a:srgbClr val="FF9966"/>
              </a:solidFill>
              <a:miter lim="800000"/>
              <a:headEnd/>
              <a:tailEnd/>
            </a:ln>
          </p:spPr>
          <p:txBody>
            <a:bodyPr wrap="none" lIns="87545" tIns="43772" rIns="87545" bIns="43772"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1200" b="1">
                <a:solidFill>
                  <a:schemeClr val="bg1"/>
                </a:solidFill>
                <a:latin typeface="Verdana" panose="020B0604030504040204" pitchFamily="34" charset="0"/>
                <a:ea typeface="新細明體" panose="02020500000000000000" pitchFamily="18" charset="-120"/>
              </a:endParaRPr>
            </a:p>
          </p:txBody>
        </p:sp>
      </p:grpSp>
      <p:grpSp>
        <p:nvGrpSpPr>
          <p:cNvPr id="15" name="Group 138">
            <a:extLst>
              <a:ext uri="{FF2B5EF4-FFF2-40B4-BE49-F238E27FC236}">
                <a16:creationId xmlns:a16="http://schemas.microsoft.com/office/drawing/2014/main" id="{D39D8601-A9D1-4E16-A593-39AABDB5FF04}"/>
              </a:ext>
            </a:extLst>
          </p:cNvPr>
          <p:cNvGrpSpPr>
            <a:grpSpLocks/>
          </p:cNvGrpSpPr>
          <p:nvPr/>
        </p:nvGrpSpPr>
        <p:grpSpPr bwMode="auto">
          <a:xfrm>
            <a:off x="5680311" y="3305970"/>
            <a:ext cx="384175" cy="1000125"/>
            <a:chOff x="4302" y="2318"/>
            <a:chExt cx="476" cy="630"/>
          </a:xfrm>
        </p:grpSpPr>
        <p:sp>
          <p:nvSpPr>
            <p:cNvPr id="786571" name="AutoShape 139">
              <a:extLst>
                <a:ext uri="{FF2B5EF4-FFF2-40B4-BE49-F238E27FC236}">
                  <a16:creationId xmlns:a16="http://schemas.microsoft.com/office/drawing/2014/main" id="{BF547DF7-3BE1-43A7-A214-0B136869B5E9}"/>
                </a:ext>
              </a:extLst>
            </p:cNvPr>
            <p:cNvSpPr>
              <a:spLocks noChangeArrowheads="1"/>
            </p:cNvSpPr>
            <p:nvPr/>
          </p:nvSpPr>
          <p:spPr bwMode="auto">
            <a:xfrm>
              <a:off x="4324" y="2640"/>
              <a:ext cx="419" cy="262"/>
            </a:xfrm>
            <a:prstGeom prst="cube">
              <a:avLst>
                <a:gd name="adj" fmla="val 53495"/>
              </a:avLst>
            </a:prstGeom>
            <a:gradFill rotWithShape="1">
              <a:gsLst>
                <a:gs pos="0">
                  <a:schemeClr val="accent1">
                    <a:gamma/>
                    <a:shade val="46275"/>
                    <a:invGamma/>
                  </a:schemeClr>
                </a:gs>
                <a:gs pos="50000">
                  <a:schemeClr val="accent1"/>
                </a:gs>
                <a:gs pos="100000">
                  <a:schemeClr val="accent1">
                    <a:gamma/>
                    <a:shade val="46275"/>
                    <a:invGamma/>
                  </a:schemeClr>
                </a:gs>
              </a:gsLst>
              <a:lin ang="2700000" scaled="1"/>
            </a:gradFill>
            <a:ln w="9525">
              <a:noFill/>
              <a:miter lim="800000"/>
              <a:headEnd/>
              <a:tailEnd/>
            </a:ln>
            <a:effectLst/>
          </p:spPr>
          <p:txBody>
            <a:bodyPr wrap="none" anchor="ctr"/>
            <a:lstStyle/>
            <a:p>
              <a:pPr algn="ctr" eaLnBrk="1" hangingPunct="1">
                <a:defRPr/>
              </a:pPr>
              <a:r>
                <a:rPr lang="en-US" sz="1000">
                  <a:solidFill>
                    <a:schemeClr val="bg1"/>
                  </a:solidFill>
                  <a:effectLst>
                    <a:outerShdw blurRad="38100" dist="38100" dir="2700000" algn="tl">
                      <a:srgbClr val="000000"/>
                    </a:outerShdw>
                  </a:effectLst>
                  <a:latin typeface="Verdana" pitchFamily="34" charset="0"/>
                </a:rPr>
                <a:t>OS</a:t>
              </a:r>
            </a:p>
          </p:txBody>
        </p:sp>
        <p:sp>
          <p:nvSpPr>
            <p:cNvPr id="12356" name="AutoShape 140">
              <a:extLst>
                <a:ext uri="{FF2B5EF4-FFF2-40B4-BE49-F238E27FC236}">
                  <a16:creationId xmlns:a16="http://schemas.microsoft.com/office/drawing/2014/main" id="{65DA6A42-A645-4EE2-A1E6-79F6C6E8EF1B}"/>
                </a:ext>
              </a:extLst>
            </p:cNvPr>
            <p:cNvSpPr>
              <a:spLocks noChangeArrowheads="1"/>
            </p:cNvSpPr>
            <p:nvPr/>
          </p:nvSpPr>
          <p:spPr bwMode="auto">
            <a:xfrm>
              <a:off x="4466" y="2383"/>
              <a:ext cx="265" cy="268"/>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57" name="AutoShape 141">
              <a:extLst>
                <a:ext uri="{FF2B5EF4-FFF2-40B4-BE49-F238E27FC236}">
                  <a16:creationId xmlns:a16="http://schemas.microsoft.com/office/drawing/2014/main" id="{42AF805E-E5F0-487A-899E-BCEF135096B8}"/>
                </a:ext>
              </a:extLst>
            </p:cNvPr>
            <p:cNvSpPr>
              <a:spLocks noChangeArrowheads="1"/>
            </p:cNvSpPr>
            <p:nvPr/>
          </p:nvSpPr>
          <p:spPr bwMode="auto">
            <a:xfrm>
              <a:off x="4398" y="2432"/>
              <a:ext cx="265" cy="268"/>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786574" name="AutoShape 142">
              <a:extLst>
                <a:ext uri="{FF2B5EF4-FFF2-40B4-BE49-F238E27FC236}">
                  <a16:creationId xmlns:a16="http://schemas.microsoft.com/office/drawing/2014/main" id="{2AC3C2CC-8D21-4897-AFE3-0E36217D1E52}"/>
                </a:ext>
              </a:extLst>
            </p:cNvPr>
            <p:cNvSpPr>
              <a:spLocks noChangeArrowheads="1"/>
            </p:cNvSpPr>
            <p:nvPr/>
          </p:nvSpPr>
          <p:spPr bwMode="auto">
            <a:xfrm>
              <a:off x="4330" y="2481"/>
              <a:ext cx="266" cy="268"/>
            </a:xfrm>
            <a:prstGeom prst="cube">
              <a:avLst>
                <a:gd name="adj" fmla="val 13074"/>
              </a:avLst>
            </a:prstGeom>
            <a:gradFill rotWithShape="1">
              <a:gsLst>
                <a:gs pos="0">
                  <a:srgbClr val="AA014C">
                    <a:gamma/>
                    <a:shade val="46275"/>
                    <a:invGamma/>
                  </a:srgbClr>
                </a:gs>
                <a:gs pos="50000">
                  <a:srgbClr val="AA014C"/>
                </a:gs>
                <a:gs pos="100000">
                  <a:srgbClr val="AA014C">
                    <a:gamma/>
                    <a:shade val="46275"/>
                    <a:invGamma/>
                  </a:srgbClr>
                </a:gs>
              </a:gsLst>
              <a:lin ang="2700000" scaled="1"/>
            </a:gradFill>
            <a:ln w="9525">
              <a:noFill/>
              <a:miter lim="800000"/>
              <a:headEnd/>
              <a:tailEnd/>
            </a:ln>
            <a:effectLst/>
          </p:spPr>
          <p:txBody>
            <a:bodyPr wrap="none" anchor="ctr"/>
            <a:lstStyle/>
            <a:p>
              <a:pPr algn="ctr" eaLnBrk="1" hangingPunct="1">
                <a:defRPr/>
              </a:pPr>
              <a:r>
                <a:rPr lang="en-US" sz="1000">
                  <a:solidFill>
                    <a:schemeClr val="bg1"/>
                  </a:solidFill>
                  <a:effectLst>
                    <a:outerShdw blurRad="38100" dist="38100" dir="2700000" algn="tl">
                      <a:srgbClr val="000000"/>
                    </a:outerShdw>
                  </a:effectLst>
                  <a:latin typeface="Verdana" pitchFamily="34" charset="0"/>
                </a:rPr>
                <a:t>App</a:t>
              </a:r>
            </a:p>
            <a:p>
              <a:pPr algn="ctr" eaLnBrk="1" hangingPunct="1">
                <a:defRPr/>
              </a:pPr>
              <a:r>
                <a:rPr lang="en-US" sz="1000">
                  <a:solidFill>
                    <a:schemeClr val="bg1"/>
                  </a:solidFill>
                  <a:effectLst>
                    <a:outerShdw blurRad="38100" dist="38100" dir="2700000" algn="tl">
                      <a:srgbClr val="000000"/>
                    </a:outerShdw>
                  </a:effectLst>
                  <a:latin typeface="Verdana" pitchFamily="34" charset="0"/>
                </a:rPr>
                <a:t>3</a:t>
              </a:r>
            </a:p>
          </p:txBody>
        </p:sp>
        <p:sp>
          <p:nvSpPr>
            <p:cNvPr id="12359" name="AutoShape 143">
              <a:extLst>
                <a:ext uri="{FF2B5EF4-FFF2-40B4-BE49-F238E27FC236}">
                  <a16:creationId xmlns:a16="http://schemas.microsoft.com/office/drawing/2014/main" id="{A404BE41-4C22-4CB9-B50B-84C8EEC90DA0}"/>
                </a:ext>
              </a:extLst>
            </p:cNvPr>
            <p:cNvSpPr>
              <a:spLocks noChangeArrowheads="1"/>
            </p:cNvSpPr>
            <p:nvPr/>
          </p:nvSpPr>
          <p:spPr bwMode="ltGray">
            <a:xfrm>
              <a:off x="4302" y="2318"/>
              <a:ext cx="476" cy="630"/>
            </a:xfrm>
            <a:prstGeom prst="cube">
              <a:avLst>
                <a:gd name="adj" fmla="val 30708"/>
              </a:avLst>
            </a:prstGeom>
            <a:solidFill>
              <a:srgbClr val="FF9900">
                <a:alpha val="20000"/>
              </a:srgbClr>
            </a:solidFill>
            <a:ln w="25400">
              <a:solidFill>
                <a:srgbClr val="FF9966"/>
              </a:solidFill>
              <a:miter lim="800000"/>
              <a:headEnd/>
              <a:tailEnd/>
            </a:ln>
          </p:spPr>
          <p:txBody>
            <a:bodyPr wrap="none" lIns="87545" tIns="43772" rIns="87545" bIns="43772"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1200" b="1">
                <a:solidFill>
                  <a:schemeClr val="bg1"/>
                </a:solidFill>
                <a:latin typeface="Verdana" panose="020B0604030504040204" pitchFamily="34" charset="0"/>
                <a:ea typeface="新細明體" panose="02020500000000000000" pitchFamily="18" charset="-120"/>
              </a:endParaRPr>
            </a:p>
          </p:txBody>
        </p:sp>
      </p:grpSp>
      <p:grpSp>
        <p:nvGrpSpPr>
          <p:cNvPr id="16" name="Group 144">
            <a:extLst>
              <a:ext uri="{FF2B5EF4-FFF2-40B4-BE49-F238E27FC236}">
                <a16:creationId xmlns:a16="http://schemas.microsoft.com/office/drawing/2014/main" id="{56426E97-BA29-4A6D-B64E-C29C13749816}"/>
              </a:ext>
            </a:extLst>
          </p:cNvPr>
          <p:cNvGrpSpPr>
            <a:grpSpLocks/>
          </p:cNvGrpSpPr>
          <p:nvPr/>
        </p:nvGrpSpPr>
        <p:grpSpPr bwMode="auto">
          <a:xfrm>
            <a:off x="6172436" y="3323432"/>
            <a:ext cx="492125" cy="1000125"/>
            <a:chOff x="5321" y="2268"/>
            <a:chExt cx="310" cy="630"/>
          </a:xfrm>
        </p:grpSpPr>
        <p:sp>
          <p:nvSpPr>
            <p:cNvPr id="786577" name="AutoShape 145">
              <a:extLst>
                <a:ext uri="{FF2B5EF4-FFF2-40B4-BE49-F238E27FC236}">
                  <a16:creationId xmlns:a16="http://schemas.microsoft.com/office/drawing/2014/main" id="{F4917EFF-39D5-45D1-8A7B-AB5D14B21908}"/>
                </a:ext>
              </a:extLst>
            </p:cNvPr>
            <p:cNvSpPr>
              <a:spLocks noChangeArrowheads="1"/>
            </p:cNvSpPr>
            <p:nvPr/>
          </p:nvSpPr>
          <p:spPr bwMode="auto">
            <a:xfrm>
              <a:off x="5354" y="2590"/>
              <a:ext cx="213" cy="262"/>
            </a:xfrm>
            <a:prstGeom prst="cube">
              <a:avLst>
                <a:gd name="adj" fmla="val 53495"/>
              </a:avLst>
            </a:prstGeom>
            <a:gradFill rotWithShape="1">
              <a:gsLst>
                <a:gs pos="0">
                  <a:schemeClr val="accent1">
                    <a:gamma/>
                    <a:shade val="46275"/>
                    <a:invGamma/>
                  </a:schemeClr>
                </a:gs>
                <a:gs pos="50000">
                  <a:schemeClr val="accent1"/>
                </a:gs>
                <a:gs pos="100000">
                  <a:schemeClr val="accent1">
                    <a:gamma/>
                    <a:shade val="46275"/>
                    <a:invGamma/>
                  </a:schemeClr>
                </a:gs>
              </a:gsLst>
              <a:lin ang="2700000" scaled="1"/>
            </a:gradFill>
            <a:ln w="9525">
              <a:noFill/>
              <a:miter lim="800000"/>
              <a:headEnd/>
              <a:tailEnd/>
            </a:ln>
            <a:effectLst/>
          </p:spPr>
          <p:txBody>
            <a:bodyPr wrap="none" anchor="ctr"/>
            <a:lstStyle/>
            <a:p>
              <a:pPr algn="ctr" eaLnBrk="1" hangingPunct="1">
                <a:defRPr/>
              </a:pPr>
              <a:r>
                <a:rPr lang="en-US" sz="1200">
                  <a:solidFill>
                    <a:schemeClr val="bg1"/>
                  </a:solidFill>
                  <a:effectLst>
                    <a:outerShdw blurRad="38100" dist="38100" dir="2700000" algn="tl">
                      <a:srgbClr val="000000"/>
                    </a:outerShdw>
                  </a:effectLst>
                  <a:latin typeface="Verdana" pitchFamily="34" charset="0"/>
                </a:rPr>
                <a:t>OS</a:t>
              </a:r>
            </a:p>
          </p:txBody>
        </p:sp>
        <p:sp>
          <p:nvSpPr>
            <p:cNvPr id="12351" name="AutoShape 146">
              <a:extLst>
                <a:ext uri="{FF2B5EF4-FFF2-40B4-BE49-F238E27FC236}">
                  <a16:creationId xmlns:a16="http://schemas.microsoft.com/office/drawing/2014/main" id="{ED696A2B-D091-4513-B6FB-9E64DCED7C14}"/>
                </a:ext>
              </a:extLst>
            </p:cNvPr>
            <p:cNvSpPr>
              <a:spLocks noChangeArrowheads="1"/>
            </p:cNvSpPr>
            <p:nvPr/>
          </p:nvSpPr>
          <p:spPr bwMode="auto">
            <a:xfrm>
              <a:off x="5496" y="2333"/>
              <a:ext cx="135" cy="268"/>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12352" name="AutoShape 147">
              <a:extLst>
                <a:ext uri="{FF2B5EF4-FFF2-40B4-BE49-F238E27FC236}">
                  <a16:creationId xmlns:a16="http://schemas.microsoft.com/office/drawing/2014/main" id="{77EF0EDD-DDC8-4A2A-8B81-D5D995118812}"/>
                </a:ext>
              </a:extLst>
            </p:cNvPr>
            <p:cNvSpPr>
              <a:spLocks noChangeArrowheads="1"/>
            </p:cNvSpPr>
            <p:nvPr/>
          </p:nvSpPr>
          <p:spPr bwMode="auto">
            <a:xfrm>
              <a:off x="5428" y="2382"/>
              <a:ext cx="135" cy="268"/>
            </a:xfrm>
            <a:prstGeom prst="cube">
              <a:avLst>
                <a:gd name="adj" fmla="val 13074"/>
              </a:avLst>
            </a:prstGeom>
            <a:gradFill rotWithShape="1">
              <a:gsLst>
                <a:gs pos="0">
                  <a:srgbClr val="4F0023"/>
                </a:gs>
                <a:gs pos="50000">
                  <a:srgbClr val="AA014C"/>
                </a:gs>
                <a:gs pos="100000">
                  <a:srgbClr val="4F0023"/>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p:txBody>
        </p:sp>
        <p:sp>
          <p:nvSpPr>
            <p:cNvPr id="786580" name="AutoShape 148">
              <a:extLst>
                <a:ext uri="{FF2B5EF4-FFF2-40B4-BE49-F238E27FC236}">
                  <a16:creationId xmlns:a16="http://schemas.microsoft.com/office/drawing/2014/main" id="{897545DB-7ED1-43D7-AA69-A42FC5227AE9}"/>
                </a:ext>
              </a:extLst>
            </p:cNvPr>
            <p:cNvSpPr>
              <a:spLocks noChangeArrowheads="1"/>
            </p:cNvSpPr>
            <p:nvPr/>
          </p:nvSpPr>
          <p:spPr bwMode="auto">
            <a:xfrm>
              <a:off x="5360" y="2431"/>
              <a:ext cx="135" cy="268"/>
            </a:xfrm>
            <a:prstGeom prst="cube">
              <a:avLst>
                <a:gd name="adj" fmla="val 13074"/>
              </a:avLst>
            </a:prstGeom>
            <a:gradFill rotWithShape="1">
              <a:gsLst>
                <a:gs pos="0">
                  <a:srgbClr val="AA014C">
                    <a:gamma/>
                    <a:shade val="46275"/>
                    <a:invGamma/>
                  </a:srgbClr>
                </a:gs>
                <a:gs pos="50000">
                  <a:srgbClr val="AA014C"/>
                </a:gs>
                <a:gs pos="100000">
                  <a:srgbClr val="AA014C">
                    <a:gamma/>
                    <a:shade val="46275"/>
                    <a:invGamma/>
                  </a:srgbClr>
                </a:gs>
              </a:gsLst>
              <a:lin ang="2700000" scaled="1"/>
            </a:gradFill>
            <a:ln w="9525">
              <a:noFill/>
              <a:miter lim="800000"/>
              <a:headEnd/>
              <a:tailEnd/>
            </a:ln>
            <a:effectLst/>
          </p:spPr>
          <p:txBody>
            <a:bodyPr wrap="none" anchor="ctr"/>
            <a:lstStyle/>
            <a:p>
              <a:pPr algn="ctr" eaLnBrk="1" hangingPunct="1">
                <a:defRPr/>
              </a:pPr>
              <a:r>
                <a:rPr lang="en-US" sz="1200">
                  <a:solidFill>
                    <a:schemeClr val="bg1"/>
                  </a:solidFill>
                  <a:effectLst>
                    <a:outerShdw blurRad="38100" dist="38100" dir="2700000" algn="tl">
                      <a:srgbClr val="000000"/>
                    </a:outerShdw>
                  </a:effectLst>
                  <a:latin typeface="Verdana" pitchFamily="34" charset="0"/>
                </a:rPr>
                <a:t>App</a:t>
              </a:r>
            </a:p>
            <a:p>
              <a:pPr algn="ctr" eaLnBrk="1" hangingPunct="1">
                <a:defRPr/>
              </a:pPr>
              <a:r>
                <a:rPr lang="en-US" sz="1200">
                  <a:solidFill>
                    <a:schemeClr val="bg1"/>
                  </a:solidFill>
                  <a:effectLst>
                    <a:outerShdw blurRad="38100" dist="38100" dir="2700000" algn="tl">
                      <a:srgbClr val="000000"/>
                    </a:outerShdw>
                  </a:effectLst>
                  <a:latin typeface="Verdana" pitchFamily="34" charset="0"/>
                </a:rPr>
                <a:t>4</a:t>
              </a:r>
            </a:p>
          </p:txBody>
        </p:sp>
        <p:sp>
          <p:nvSpPr>
            <p:cNvPr id="12354" name="AutoShape 149">
              <a:extLst>
                <a:ext uri="{FF2B5EF4-FFF2-40B4-BE49-F238E27FC236}">
                  <a16:creationId xmlns:a16="http://schemas.microsoft.com/office/drawing/2014/main" id="{3E9C7D8C-9EF6-48BE-A271-A404E17960F6}"/>
                </a:ext>
              </a:extLst>
            </p:cNvPr>
            <p:cNvSpPr>
              <a:spLocks noChangeArrowheads="1"/>
            </p:cNvSpPr>
            <p:nvPr/>
          </p:nvSpPr>
          <p:spPr bwMode="ltGray">
            <a:xfrm>
              <a:off x="5321" y="2268"/>
              <a:ext cx="243" cy="630"/>
            </a:xfrm>
            <a:prstGeom prst="cube">
              <a:avLst>
                <a:gd name="adj" fmla="val 30708"/>
              </a:avLst>
            </a:prstGeom>
            <a:solidFill>
              <a:srgbClr val="FF9900">
                <a:alpha val="20000"/>
              </a:srgbClr>
            </a:solidFill>
            <a:ln w="25400">
              <a:solidFill>
                <a:srgbClr val="FF9966"/>
              </a:solidFill>
              <a:miter lim="800000"/>
              <a:headEnd/>
              <a:tailEnd/>
            </a:ln>
          </p:spPr>
          <p:txBody>
            <a:bodyPr wrap="none" lIns="87545" tIns="43772" rIns="87545" bIns="43772"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1000" b="1">
                <a:solidFill>
                  <a:schemeClr val="bg1"/>
                </a:solidFill>
                <a:latin typeface="Verdana" panose="020B0604030504040204" pitchFamily="34" charset="0"/>
                <a:ea typeface="新細明體" panose="02020500000000000000" pitchFamily="18" charset="-120"/>
              </a:endParaRPr>
            </a:p>
          </p:txBody>
        </p:sp>
      </p:grpSp>
      <p:sp>
        <p:nvSpPr>
          <p:cNvPr id="12343" name="Text Box 150">
            <a:extLst>
              <a:ext uri="{FF2B5EF4-FFF2-40B4-BE49-F238E27FC236}">
                <a16:creationId xmlns:a16="http://schemas.microsoft.com/office/drawing/2014/main" id="{B87C0550-78E1-4F60-A850-41D32811DDE6}"/>
              </a:ext>
            </a:extLst>
          </p:cNvPr>
          <p:cNvSpPr txBox="1">
            <a:spLocks noChangeArrowheads="1"/>
          </p:cNvSpPr>
          <p:nvPr/>
        </p:nvSpPr>
        <p:spPr bwMode="auto">
          <a:xfrm>
            <a:off x="2395765" y="5111060"/>
            <a:ext cx="2314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ja-JP" sz="2400" b="1" dirty="0">
                <a:solidFill>
                  <a:srgbClr val="FF0000"/>
                </a:solidFill>
                <a:latin typeface="Verdana" panose="020B0604030504040204" pitchFamily="34" charset="0"/>
                <a:ea typeface="MS PGothic" panose="020B0600070205080204" pitchFamily="34" charset="-128"/>
                <a:cs typeface="Arial" panose="020B0604020202020204" pitchFamily="34" charset="0"/>
              </a:rPr>
              <a:t>Partitioning</a:t>
            </a:r>
          </a:p>
        </p:txBody>
      </p:sp>
      <p:grpSp>
        <p:nvGrpSpPr>
          <p:cNvPr id="17" name="Group 151">
            <a:extLst>
              <a:ext uri="{FF2B5EF4-FFF2-40B4-BE49-F238E27FC236}">
                <a16:creationId xmlns:a16="http://schemas.microsoft.com/office/drawing/2014/main" id="{2BBB35F3-7199-45D2-91B6-912ED0CB6897}"/>
              </a:ext>
            </a:extLst>
          </p:cNvPr>
          <p:cNvGrpSpPr>
            <a:grpSpLocks/>
          </p:cNvGrpSpPr>
          <p:nvPr/>
        </p:nvGrpSpPr>
        <p:grpSpPr bwMode="auto">
          <a:xfrm>
            <a:off x="5183424" y="4841304"/>
            <a:ext cx="1481138" cy="792162"/>
            <a:chOff x="4178" y="3047"/>
            <a:chExt cx="933" cy="499"/>
          </a:xfrm>
        </p:grpSpPr>
        <p:sp>
          <p:nvSpPr>
            <p:cNvPr id="12346" name="Line 152">
              <a:extLst>
                <a:ext uri="{FF2B5EF4-FFF2-40B4-BE49-F238E27FC236}">
                  <a16:creationId xmlns:a16="http://schemas.microsoft.com/office/drawing/2014/main" id="{AEB3D35D-FB10-476B-98AD-0E57A09B9F5E}"/>
                </a:ext>
              </a:extLst>
            </p:cNvPr>
            <p:cNvSpPr>
              <a:spLocks noChangeShapeType="1"/>
            </p:cNvSpPr>
            <p:nvPr/>
          </p:nvSpPr>
          <p:spPr bwMode="auto">
            <a:xfrm>
              <a:off x="4178" y="3047"/>
              <a:ext cx="7" cy="499"/>
            </a:xfrm>
            <a:prstGeom prst="line">
              <a:avLst/>
            </a:prstGeom>
            <a:noFill/>
            <a:ln w="508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47" name="Line 153">
              <a:extLst>
                <a:ext uri="{FF2B5EF4-FFF2-40B4-BE49-F238E27FC236}">
                  <a16:creationId xmlns:a16="http://schemas.microsoft.com/office/drawing/2014/main" id="{3D68AFE5-C873-442A-BCC4-E707335CFBDA}"/>
                </a:ext>
              </a:extLst>
            </p:cNvPr>
            <p:cNvSpPr>
              <a:spLocks noChangeShapeType="1"/>
            </p:cNvSpPr>
            <p:nvPr/>
          </p:nvSpPr>
          <p:spPr bwMode="auto">
            <a:xfrm>
              <a:off x="4510" y="3053"/>
              <a:ext cx="0" cy="430"/>
            </a:xfrm>
            <a:prstGeom prst="line">
              <a:avLst/>
            </a:prstGeom>
            <a:noFill/>
            <a:ln w="508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48" name="Line 154">
              <a:extLst>
                <a:ext uri="{FF2B5EF4-FFF2-40B4-BE49-F238E27FC236}">
                  <a16:creationId xmlns:a16="http://schemas.microsoft.com/office/drawing/2014/main" id="{9FB792B4-A944-4913-8103-C24F65A46B02}"/>
                </a:ext>
              </a:extLst>
            </p:cNvPr>
            <p:cNvSpPr>
              <a:spLocks noChangeShapeType="1"/>
            </p:cNvSpPr>
            <p:nvPr/>
          </p:nvSpPr>
          <p:spPr bwMode="auto">
            <a:xfrm>
              <a:off x="4814" y="3051"/>
              <a:ext cx="7" cy="409"/>
            </a:xfrm>
            <a:prstGeom prst="line">
              <a:avLst/>
            </a:prstGeom>
            <a:noFill/>
            <a:ln w="508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49" name="Line 155">
              <a:extLst>
                <a:ext uri="{FF2B5EF4-FFF2-40B4-BE49-F238E27FC236}">
                  <a16:creationId xmlns:a16="http://schemas.microsoft.com/office/drawing/2014/main" id="{809BFA7E-D925-47A5-8D8C-C0241EC743CC}"/>
                </a:ext>
              </a:extLst>
            </p:cNvPr>
            <p:cNvSpPr>
              <a:spLocks noChangeShapeType="1"/>
            </p:cNvSpPr>
            <p:nvPr/>
          </p:nvSpPr>
          <p:spPr bwMode="auto">
            <a:xfrm>
              <a:off x="5105" y="3057"/>
              <a:ext cx="6" cy="347"/>
            </a:xfrm>
            <a:prstGeom prst="line">
              <a:avLst/>
            </a:prstGeom>
            <a:noFill/>
            <a:ln w="508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2345" name="Text Box 156">
            <a:extLst>
              <a:ext uri="{FF2B5EF4-FFF2-40B4-BE49-F238E27FC236}">
                <a16:creationId xmlns:a16="http://schemas.microsoft.com/office/drawing/2014/main" id="{1D0C2B3C-ABEE-44E7-8CBA-BA329265C81E}"/>
              </a:ext>
            </a:extLst>
          </p:cNvPr>
          <p:cNvSpPr txBox="1">
            <a:spLocks noChangeArrowheads="1"/>
          </p:cNvSpPr>
          <p:nvPr/>
        </p:nvSpPr>
        <p:spPr bwMode="auto">
          <a:xfrm>
            <a:off x="7290880" y="3602831"/>
            <a:ext cx="2743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ja-JP" sz="2400" b="1">
                <a:solidFill>
                  <a:srgbClr val="FF0000"/>
                </a:solidFill>
                <a:latin typeface="Verdana" panose="020B0604030504040204" pitchFamily="34" charset="0"/>
                <a:ea typeface="MS PGothic" panose="020B0600070205080204" pitchFamily="34" charset="-128"/>
                <a:cs typeface="Arial" panose="020B0604020202020204" pitchFamily="34" charset="0"/>
              </a:rPr>
              <a:t>Dynamic load balancing</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3" presetClass="path" presetSubtype="0" accel="50000" decel="50000" fill="hold" nodeType="clickEffect">
                                  <p:stCondLst>
                                    <p:cond delay="0"/>
                                  </p:stCondLst>
                                  <p:childTnLst>
                                    <p:animMotion origin="layout" path="M -1.94444E-6 4.85542E-6 L 0.15174 0.00185 " pathEditMode="relative" rAng="0" ptsTypes="AA">
                                      <p:cBhvr>
                                        <p:cTn id="6" dur="2000" fill="hold"/>
                                        <p:tgtEl>
                                          <p:spTgt spid="2"/>
                                        </p:tgtEl>
                                        <p:attrNameLst>
                                          <p:attrName>ppt_x</p:attrName>
                                          <p:attrName>ppt_y</p:attrName>
                                        </p:attrNameLst>
                                      </p:cBhvr>
                                      <p:rCtr x="7600" y="100"/>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63" presetClass="path" presetSubtype="0" accel="50000" decel="50000" fill="hold" nodeType="clickEffect">
                                  <p:stCondLst>
                                    <p:cond delay="0"/>
                                  </p:stCondLst>
                                  <p:childTnLst>
                                    <p:animMotion origin="layout" path="M -2.22222E-6 -0.00162 L 0.11007 -0.00046 " pathEditMode="relative" rAng="0" ptsTypes="AA">
                                      <p:cBhvr>
                                        <p:cTn id="10" dur="2000" fill="hold"/>
                                        <p:tgtEl>
                                          <p:spTgt spid="7"/>
                                        </p:tgtEl>
                                        <p:attrNameLst>
                                          <p:attrName>ppt_x</p:attrName>
                                          <p:attrName>ppt_y</p:attrName>
                                        </p:attrNameLst>
                                      </p:cBhvr>
                                      <p:rCtr x="5500" y="0"/>
                                    </p:animMotion>
                                  </p:childTnLst>
                                </p:cTn>
                              </p:par>
                              <p:par>
                                <p:cTn id="11" presetID="35" presetClass="path" presetSubtype="0" accel="50000" decel="50000" fill="hold" nodeType="withEffect">
                                  <p:stCondLst>
                                    <p:cond delay="0"/>
                                  </p:stCondLst>
                                  <p:childTnLst>
                                    <p:animMotion origin="layout" path="M 1.11111E-6 -3.06037E-6 L -0.11424 -3.06037E-6 " pathEditMode="relative" rAng="0" ptsTypes="AA">
                                      <p:cBhvr>
                                        <p:cTn id="12" dur="2000" fill="hold"/>
                                        <p:tgtEl>
                                          <p:spTgt spid="8"/>
                                        </p:tgtEl>
                                        <p:attrNameLst>
                                          <p:attrName>ppt_x</p:attrName>
                                          <p:attrName>ppt_y</p:attrName>
                                        </p:attrNameLst>
                                      </p:cBhvr>
                                      <p:rCtr x="-5700" y="0"/>
                                    </p:animMotion>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2000"/>
                                        <p:tgtEl>
                                          <p:spTgt spid="12"/>
                                        </p:tgtEl>
                                      </p:cBhvr>
                                    </p:animEffect>
                                  </p:childTnLst>
                                </p:cTn>
                              </p:par>
                              <p:par>
                                <p:cTn id="16" presetID="10" presetClass="exit" presetSubtype="0" fill="hold" nodeType="withEffect">
                                  <p:stCondLst>
                                    <p:cond delay="0"/>
                                  </p:stCondLst>
                                  <p:childTnLst>
                                    <p:animEffect transition="out" filter="fade">
                                      <p:cBhvr>
                                        <p:cTn id="17" dur="2000"/>
                                        <p:tgtEl>
                                          <p:spTgt spid="11"/>
                                        </p:tgtEl>
                                      </p:cBhvr>
                                    </p:animEffect>
                                    <p:set>
                                      <p:cBhvr>
                                        <p:cTn id="18" dur="1" fill="hold">
                                          <p:stCondLst>
                                            <p:cond delay="1999"/>
                                          </p:stCondLst>
                                        </p:cTn>
                                        <p:tgtEl>
                                          <p:spTgt spid="11"/>
                                        </p:tgtEl>
                                        <p:attrNameLst>
                                          <p:attrName>style.visibility</p:attrName>
                                        </p:attrNameLst>
                                      </p:cBhvr>
                                      <p:to>
                                        <p:strVal val="hidden"/>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42" presetClass="path" presetSubtype="0" accel="50000" decel="50000" fill="hold" nodeType="clickEffect">
                                  <p:stCondLst>
                                    <p:cond delay="0"/>
                                  </p:stCondLst>
                                  <p:childTnLst>
                                    <p:animMotion origin="layout" path="M 1.66667E-6 1.85288E-6 L 0.00069 0.05297 " pathEditMode="relative" rAng="0" ptsTypes="AA">
                                      <p:cBhvr>
                                        <p:cTn id="22" dur="2000" fill="hold"/>
                                        <p:tgtEl>
                                          <p:spTgt spid="13"/>
                                        </p:tgtEl>
                                        <p:attrNameLst>
                                          <p:attrName>ppt_x</p:attrName>
                                          <p:attrName>ppt_y</p:attrName>
                                        </p:attrNameLst>
                                      </p:cBhvr>
                                      <p:rCtr x="0" y="2600"/>
                                    </p:animMotion>
                                  </p:childTnLst>
                                </p:cTn>
                              </p:par>
                              <p:par>
                                <p:cTn id="23" presetID="42" presetClass="path" presetSubtype="0" accel="50000" decel="50000" fill="hold" grpId="0" nodeType="withEffect">
                                  <p:stCondLst>
                                    <p:cond delay="0"/>
                                  </p:stCondLst>
                                  <p:childTnLst>
                                    <p:animMotion origin="layout" path="M 4.16667E-6 -3.68263E-6 L 4.16667E-6 0.06015 " pathEditMode="relative" rAng="0" ptsTypes="AA">
                                      <p:cBhvr>
                                        <p:cTn id="24" dur="2000" fill="hold"/>
                                        <p:tgtEl>
                                          <p:spTgt spid="786553"/>
                                        </p:tgtEl>
                                        <p:attrNameLst>
                                          <p:attrName>ppt_x</p:attrName>
                                          <p:attrName>ppt_y</p:attrName>
                                        </p:attrNameLst>
                                      </p:cBhvr>
                                      <p:rCtr x="0" y="3000"/>
                                    </p:animMotion>
                                  </p:childTnLst>
                                </p:cTn>
                              </p:par>
                              <p:par>
                                <p:cTn id="25" presetID="42" presetClass="path" presetSubtype="0" accel="50000" decel="50000" fill="hold" nodeType="withEffect">
                                  <p:stCondLst>
                                    <p:cond delay="0"/>
                                  </p:stCondLst>
                                  <p:childTnLst>
                                    <p:animMotion origin="layout" path="M -1.11111E-6 -4.18459E-6 L -1.11111E-6 0.05066 " pathEditMode="relative" rAng="0" ptsTypes="AA">
                                      <p:cBhvr>
                                        <p:cTn id="26" dur="2000" fill="hold"/>
                                        <p:tgtEl>
                                          <p:spTgt spid="14"/>
                                        </p:tgtEl>
                                        <p:attrNameLst>
                                          <p:attrName>ppt_x</p:attrName>
                                          <p:attrName>ppt_y</p:attrName>
                                        </p:attrNameLst>
                                      </p:cBhvr>
                                      <p:rCtr x="0" y="2500"/>
                                    </p:animMotion>
                                  </p:childTnLst>
                                </p:cTn>
                              </p:par>
                              <p:par>
                                <p:cTn id="27" presetID="42" presetClass="path" presetSubtype="0" accel="50000" decel="50000" fill="hold" grpId="0" nodeType="withEffect">
                                  <p:stCondLst>
                                    <p:cond delay="0"/>
                                  </p:stCondLst>
                                  <p:childTnLst>
                                    <p:animMotion origin="layout" path="M 3.33333E-6 -2.36179E-6 L 0.00121 0.05228 " pathEditMode="relative" rAng="0" ptsTypes="AA">
                                      <p:cBhvr>
                                        <p:cTn id="28" dur="2000" fill="hold"/>
                                        <p:tgtEl>
                                          <p:spTgt spid="786554"/>
                                        </p:tgtEl>
                                        <p:attrNameLst>
                                          <p:attrName>ppt_x</p:attrName>
                                          <p:attrName>ppt_y</p:attrName>
                                        </p:attrNameLst>
                                      </p:cBhvr>
                                      <p:rCtr x="100" y="2600"/>
                                    </p:animMotion>
                                  </p:childTnLst>
                                </p:cTn>
                              </p:par>
                              <p:par>
                                <p:cTn id="29" presetID="42" presetClass="path" presetSubtype="0" accel="50000" decel="50000" fill="hold" nodeType="withEffect">
                                  <p:stCondLst>
                                    <p:cond delay="0"/>
                                  </p:stCondLst>
                                  <p:childTnLst>
                                    <p:animMotion origin="layout" path="M 1.94444E-6 2.98635E-6 L -0.00035 0.05066 " pathEditMode="relative" rAng="0" ptsTypes="AA">
                                      <p:cBhvr>
                                        <p:cTn id="30" dur="2000" fill="hold"/>
                                        <p:tgtEl>
                                          <p:spTgt spid="15"/>
                                        </p:tgtEl>
                                        <p:attrNameLst>
                                          <p:attrName>ppt_x</p:attrName>
                                          <p:attrName>ppt_y</p:attrName>
                                        </p:attrNameLst>
                                      </p:cBhvr>
                                      <p:rCtr x="0" y="2500"/>
                                    </p:animMotion>
                                  </p:childTnLst>
                                </p:cTn>
                              </p:par>
                              <p:par>
                                <p:cTn id="31" presetID="42" presetClass="path" presetSubtype="0" accel="50000" decel="50000" fill="hold" grpId="0" nodeType="withEffect">
                                  <p:stCondLst>
                                    <p:cond delay="0"/>
                                  </p:stCondLst>
                                  <p:childTnLst>
                                    <p:animMotion origin="layout" path="M -3.61111E-6 2.73421E-6 L 0.00243 0.04256 " pathEditMode="relative" rAng="0" ptsTypes="AA">
                                      <p:cBhvr>
                                        <p:cTn id="32" dur="2000" fill="hold"/>
                                        <p:tgtEl>
                                          <p:spTgt spid="786555"/>
                                        </p:tgtEl>
                                        <p:attrNameLst>
                                          <p:attrName>ppt_x</p:attrName>
                                          <p:attrName>ppt_y</p:attrName>
                                        </p:attrNameLst>
                                      </p:cBhvr>
                                      <p:rCtr x="100" y="2100"/>
                                    </p:animMotion>
                                  </p:childTnLst>
                                </p:cTn>
                              </p:par>
                              <p:par>
                                <p:cTn id="33" presetID="42" presetClass="path" presetSubtype="0" accel="50000" decel="50000" fill="hold" nodeType="withEffect">
                                  <p:stCondLst>
                                    <p:cond delay="0"/>
                                  </p:stCondLst>
                                  <p:childTnLst>
                                    <p:animMotion origin="layout" path="M 3.88889E-6 -4.55933E-6 L 3.88889E-6 0.05367 " pathEditMode="relative" rAng="0" ptsTypes="AA">
                                      <p:cBhvr>
                                        <p:cTn id="34" dur="2000" fill="hold"/>
                                        <p:tgtEl>
                                          <p:spTgt spid="16"/>
                                        </p:tgtEl>
                                        <p:attrNameLst>
                                          <p:attrName>ppt_x</p:attrName>
                                          <p:attrName>ppt_y</p:attrName>
                                        </p:attrNameLst>
                                      </p:cBhvr>
                                      <p:rCtr x="0" y="2700"/>
                                    </p:animMotion>
                                  </p:childTnLst>
                                </p:cTn>
                              </p:par>
                              <p:par>
                                <p:cTn id="35" presetID="42" presetClass="path" presetSubtype="0" accel="50000" decel="50000" fill="hold" grpId="0" nodeType="withEffect">
                                  <p:stCondLst>
                                    <p:cond delay="0"/>
                                  </p:stCondLst>
                                  <p:childTnLst>
                                    <p:animMotion origin="layout" path="M 3.61111E-6 4.22392E-6 L 3.61111E-6 0.03307 " pathEditMode="relative" rAng="0" ptsTypes="AA">
                                      <p:cBhvr>
                                        <p:cTn id="36" dur="2000" fill="hold"/>
                                        <p:tgtEl>
                                          <p:spTgt spid="786556"/>
                                        </p:tgtEl>
                                        <p:attrNameLst>
                                          <p:attrName>ppt_x</p:attrName>
                                          <p:attrName>ppt_y</p:attrName>
                                        </p:attrNameLst>
                                      </p:cBhvr>
                                      <p:rCtr x="0" y="1600"/>
                                    </p:animMotion>
                                  </p:childTnLst>
                                </p:cTn>
                              </p:par>
                            </p:childTnLst>
                          </p:cTn>
                        </p:par>
                        <p:par>
                          <p:cTn id="37" fill="hold" nodeType="afterGroup">
                            <p:stCondLst>
                              <p:cond delay="2000"/>
                            </p:stCondLst>
                            <p:childTnLst>
                              <p:par>
                                <p:cTn id="38" presetID="2" presetClass="entr" presetSubtype="4" fill="hold" nodeType="afterEffect">
                                  <p:stCondLst>
                                    <p:cond delay="0"/>
                                  </p:stCondLst>
                                  <p:childTnLst>
                                    <p:set>
                                      <p:cBhvr>
                                        <p:cTn id="39" dur="1" fill="hold">
                                          <p:stCondLst>
                                            <p:cond delay="0"/>
                                          </p:stCondLst>
                                        </p:cTn>
                                        <p:tgtEl>
                                          <p:spTgt spid="17"/>
                                        </p:tgtEl>
                                        <p:attrNameLst>
                                          <p:attrName>style.visibility</p:attrName>
                                        </p:attrNameLst>
                                      </p:cBhvr>
                                      <p:to>
                                        <p:strVal val="visible"/>
                                      </p:to>
                                    </p:set>
                                    <p:anim calcmode="lin" valueType="num">
                                      <p:cBhvr additive="base">
                                        <p:cTn id="40" dur="500" fill="hold"/>
                                        <p:tgtEl>
                                          <p:spTgt spid="17"/>
                                        </p:tgtEl>
                                        <p:attrNameLst>
                                          <p:attrName>ppt_x</p:attrName>
                                        </p:attrNameLst>
                                      </p:cBhvr>
                                      <p:tavLst>
                                        <p:tav tm="0">
                                          <p:val>
                                            <p:strVal val="#ppt_x"/>
                                          </p:val>
                                        </p:tav>
                                        <p:tav tm="100000">
                                          <p:val>
                                            <p:strVal val="#ppt_x"/>
                                          </p:val>
                                        </p:tav>
                                      </p:tavLst>
                                    </p:anim>
                                    <p:anim calcmode="lin" valueType="num">
                                      <p:cBhvr additive="base">
                                        <p:cTn id="41"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6553" grpId="0" animBg="1"/>
      <p:bldP spid="786554" grpId="0" animBg="1"/>
      <p:bldP spid="786555" grpId="0" animBg="1"/>
      <p:bldP spid="78655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版面配置區 4">
            <a:extLst>
              <a:ext uri="{FF2B5EF4-FFF2-40B4-BE49-F238E27FC236}">
                <a16:creationId xmlns:a16="http://schemas.microsoft.com/office/drawing/2014/main" id="{D7E4908D-BF83-42A3-A7BC-D2A6C23F57AE}"/>
              </a:ext>
            </a:extLst>
          </p:cNvPr>
          <p:cNvSpPr>
            <a:spLocks noGrp="1"/>
          </p:cNvSpPr>
          <p:nvPr>
            <p:ph type="dt" sz="quarter" idx="10"/>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spcBef>
                <a:spcPct val="20000"/>
              </a:spcBef>
              <a:buClr>
                <a:schemeClr val="tx1"/>
              </a:buClr>
              <a:buSzPct val="70000"/>
              <a:buFont typeface="Wingdings" panose="05000000000000000000" pitchFamily="2" charset="2"/>
              <a:buChar char="q"/>
              <a:defRPr sz="2800" b="1">
                <a:solidFill>
                  <a:schemeClr val="tx1"/>
                </a:solidFill>
                <a:latin typeface="Arial" panose="020B0604020202020204" pitchFamily="34" charset="0"/>
              </a:defRPr>
            </a:lvl1pPr>
            <a:lvl2pPr marL="742950" indent="-285750" defTabSz="958850">
              <a:spcBef>
                <a:spcPct val="20000"/>
              </a:spcBef>
              <a:buClr>
                <a:schemeClr val="tx1"/>
              </a:buClr>
              <a:buSzPct val="65000"/>
              <a:buChar char="•"/>
              <a:defRPr sz="2500">
                <a:solidFill>
                  <a:schemeClr val="tx1"/>
                </a:solidFill>
                <a:latin typeface="Arial" panose="020B0604020202020204" pitchFamily="34" charset="0"/>
              </a:defRPr>
            </a:lvl2pPr>
            <a:lvl3pPr marL="1143000" indent="-228600" defTabSz="958850">
              <a:spcBef>
                <a:spcPct val="20000"/>
              </a:spcBef>
              <a:buClr>
                <a:schemeClr val="tx1"/>
              </a:buClr>
              <a:buSzPct val="65000"/>
              <a:buFont typeface="Wingdings" panose="05000000000000000000" pitchFamily="2" charset="2"/>
              <a:buChar char="•"/>
              <a:defRPr sz="2500">
                <a:solidFill>
                  <a:schemeClr val="tx1"/>
                </a:solidFill>
                <a:latin typeface="Arial" panose="020B0604020202020204" pitchFamily="34" charset="0"/>
              </a:defRPr>
            </a:lvl3pPr>
            <a:lvl4pPr marL="1600200" indent="-228600" defTabSz="958850">
              <a:spcBef>
                <a:spcPct val="20000"/>
              </a:spcBef>
              <a:buClr>
                <a:schemeClr val="tx2"/>
              </a:buClr>
              <a:buSzPct val="75000"/>
              <a:buFont typeface="Wingdings" panose="05000000000000000000" pitchFamily="2" charset="2"/>
              <a:buChar char="–"/>
              <a:defRPr sz="2100">
                <a:solidFill>
                  <a:schemeClr val="tx1"/>
                </a:solidFill>
                <a:latin typeface="Arial" panose="020B0604020202020204" pitchFamily="34" charset="0"/>
              </a:defRPr>
            </a:lvl4pPr>
            <a:lvl5pPr marL="2057400" indent="-228600" defTabSz="958850">
              <a:spcBef>
                <a:spcPct val="20000"/>
              </a:spcBef>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9pPr>
          </a:lstStyle>
          <a:p>
            <a:pPr>
              <a:spcBef>
                <a:spcPct val="0"/>
              </a:spcBef>
              <a:buClrTx/>
              <a:buSzTx/>
              <a:buFontTx/>
              <a:buNone/>
              <a:defRPr/>
            </a:pPr>
            <a:endParaRPr lang="en-US" altLang="zh-TW" sz="1500" b="0" dirty="0"/>
          </a:p>
        </p:txBody>
      </p:sp>
      <p:sp>
        <p:nvSpPr>
          <p:cNvPr id="6147" name="投影片編號版面配置區 6">
            <a:extLst>
              <a:ext uri="{FF2B5EF4-FFF2-40B4-BE49-F238E27FC236}">
                <a16:creationId xmlns:a16="http://schemas.microsoft.com/office/drawing/2014/main" id="{55340743-D7A0-41F3-9359-F88B52E7AE60}"/>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defTabSz="958850">
              <a:spcBef>
                <a:spcPct val="20000"/>
              </a:spcBef>
              <a:buChar char="–"/>
              <a:defRPr sz="2800">
                <a:solidFill>
                  <a:schemeClr val="tx1"/>
                </a:solidFill>
                <a:latin typeface="Arial" panose="020B0604020202020204" pitchFamily="34" charset="0"/>
              </a:defRPr>
            </a:lvl2pPr>
            <a:lvl3pPr marL="1143000" indent="-228600" defTabSz="95885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defTabSz="958850">
              <a:spcBef>
                <a:spcPct val="20000"/>
              </a:spcBef>
              <a:buChar char="–"/>
              <a:defRPr sz="2000">
                <a:solidFill>
                  <a:schemeClr val="tx1"/>
                </a:solidFill>
                <a:latin typeface="Arial" panose="020B0604020202020204" pitchFamily="34" charset="0"/>
              </a:defRPr>
            </a:lvl4pPr>
            <a:lvl5pPr marL="2057400" indent="-228600" defTabSz="95885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FontTx/>
              <a:buNone/>
            </a:pPr>
            <a:fld id="{1BAE488F-BA1B-4E24-BECB-F28EA4286817}" type="slidenum">
              <a:rPr lang="en-US" altLang="zh-TW" sz="1200"/>
              <a:pPr>
                <a:spcBef>
                  <a:spcPct val="0"/>
                </a:spcBef>
                <a:buClrTx/>
                <a:buFontTx/>
                <a:buNone/>
              </a:pPr>
              <a:t>41</a:t>
            </a:fld>
            <a:endParaRPr lang="en-US" altLang="zh-TW" sz="1200"/>
          </a:p>
        </p:txBody>
      </p:sp>
      <p:sp>
        <p:nvSpPr>
          <p:cNvPr id="457730" name="Rectangle 2">
            <a:extLst>
              <a:ext uri="{FF2B5EF4-FFF2-40B4-BE49-F238E27FC236}">
                <a16:creationId xmlns:a16="http://schemas.microsoft.com/office/drawing/2014/main" id="{4A0DC40A-4BAA-4F5C-84E3-D43C70EBB96E}"/>
              </a:ext>
            </a:extLst>
          </p:cNvPr>
          <p:cNvSpPr>
            <a:spLocks noGrp="1" noChangeArrowheads="1"/>
          </p:cNvSpPr>
          <p:nvPr>
            <p:ph type="title"/>
          </p:nvPr>
        </p:nvSpPr>
        <p:spPr>
          <a:xfrm>
            <a:off x="4097339" y="174289"/>
            <a:ext cx="8655578" cy="612775"/>
          </a:xfrm>
        </p:spPr>
        <p:txBody>
          <a:bodyPr/>
          <a:lstStyle/>
          <a:p>
            <a:pPr eaLnBrk="1" hangingPunct="1">
              <a:defRPr/>
            </a:pPr>
            <a:r>
              <a:rPr lang="en-US" altLang="zh-TW" dirty="0">
                <a:ea typeface="新細明體" charset="-120"/>
              </a:rPr>
              <a:t>System VMs</a:t>
            </a:r>
          </a:p>
        </p:txBody>
      </p:sp>
      <p:sp>
        <p:nvSpPr>
          <p:cNvPr id="6149" name="Rectangle 3">
            <a:extLst>
              <a:ext uri="{FF2B5EF4-FFF2-40B4-BE49-F238E27FC236}">
                <a16:creationId xmlns:a16="http://schemas.microsoft.com/office/drawing/2014/main" id="{F4D6164D-5C27-4194-B494-F2A47D0C4A02}"/>
              </a:ext>
            </a:extLst>
          </p:cNvPr>
          <p:cNvSpPr>
            <a:spLocks noGrp="1" noChangeArrowheads="1"/>
          </p:cNvSpPr>
          <p:nvPr>
            <p:ph type="body" sz="half" idx="1"/>
          </p:nvPr>
        </p:nvSpPr>
        <p:spPr>
          <a:xfrm>
            <a:off x="1794669" y="1081882"/>
            <a:ext cx="8207375" cy="4954587"/>
          </a:xfrm>
        </p:spPr>
        <p:txBody>
          <a:bodyPr/>
          <a:lstStyle/>
          <a:p>
            <a:pPr eaLnBrk="1" hangingPunct="1">
              <a:defRPr/>
            </a:pPr>
            <a:r>
              <a:rPr lang="en-US" altLang="zh-TW" sz="2500" dirty="0">
                <a:ea typeface="新細明體" panose="02020500000000000000" pitchFamily="18" charset="-120"/>
              </a:rPr>
              <a:t>Support multiple guest OSes on a single hardware platform; all running the </a:t>
            </a:r>
            <a:r>
              <a:rPr lang="en-US" altLang="zh-TW" sz="2800" i="1" dirty="0">
                <a:solidFill>
                  <a:srgbClr val="FF0000"/>
                </a:solidFill>
                <a:ea typeface="新細明體" panose="02020500000000000000" pitchFamily="18" charset="-120"/>
              </a:rPr>
              <a:t>same ISA</a:t>
            </a:r>
          </a:p>
        </p:txBody>
      </p:sp>
      <p:sp>
        <p:nvSpPr>
          <p:cNvPr id="25606" name="AutoShape 34">
            <a:extLst>
              <a:ext uri="{FF2B5EF4-FFF2-40B4-BE49-F238E27FC236}">
                <a16:creationId xmlns:a16="http://schemas.microsoft.com/office/drawing/2014/main" id="{0C3DDB0F-0D89-43D9-8BAF-131285ABD847}"/>
              </a:ext>
            </a:extLst>
          </p:cNvPr>
          <p:cNvSpPr>
            <a:spLocks noChangeAspect="1" noChangeArrowheads="1" noTextEdit="1"/>
          </p:cNvSpPr>
          <p:nvPr/>
        </p:nvSpPr>
        <p:spPr bwMode="auto">
          <a:xfrm>
            <a:off x="2895600" y="2209800"/>
            <a:ext cx="5867400" cy="411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endParaRPr lang="en-US"/>
          </a:p>
        </p:txBody>
      </p:sp>
      <p:sp>
        <p:nvSpPr>
          <p:cNvPr id="25607" name="Rectangle 36">
            <a:extLst>
              <a:ext uri="{FF2B5EF4-FFF2-40B4-BE49-F238E27FC236}">
                <a16:creationId xmlns:a16="http://schemas.microsoft.com/office/drawing/2014/main" id="{EF99A61C-3E73-4BF2-876D-D4271C7633CC}"/>
              </a:ext>
            </a:extLst>
          </p:cNvPr>
          <p:cNvSpPr>
            <a:spLocks noChangeArrowheads="1"/>
          </p:cNvSpPr>
          <p:nvPr/>
        </p:nvSpPr>
        <p:spPr bwMode="auto">
          <a:xfrm>
            <a:off x="2916239" y="2230439"/>
            <a:ext cx="1747837" cy="871537"/>
          </a:xfrm>
          <a:prstGeom prst="rect">
            <a:avLst/>
          </a:prstGeom>
          <a:solidFill>
            <a:srgbClr val="F3B17F"/>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25608" name="Rectangle 37">
            <a:extLst>
              <a:ext uri="{FF2B5EF4-FFF2-40B4-BE49-F238E27FC236}">
                <a16:creationId xmlns:a16="http://schemas.microsoft.com/office/drawing/2014/main" id="{46A03EAF-A894-4CD7-A11D-252B529F667F}"/>
              </a:ext>
            </a:extLst>
          </p:cNvPr>
          <p:cNvSpPr>
            <a:spLocks noChangeArrowheads="1"/>
          </p:cNvSpPr>
          <p:nvPr/>
        </p:nvSpPr>
        <p:spPr bwMode="auto">
          <a:xfrm>
            <a:off x="3590926" y="2433638"/>
            <a:ext cx="5064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Linux</a:t>
            </a:r>
            <a:endParaRPr lang="en-US" altLang="zh-TW" sz="2000" b="1">
              <a:solidFill>
                <a:srgbClr val="000066"/>
              </a:solidFill>
              <a:ea typeface="新細明體" panose="02020500000000000000" pitchFamily="18" charset="-120"/>
            </a:endParaRPr>
          </a:p>
        </p:txBody>
      </p:sp>
      <p:sp>
        <p:nvSpPr>
          <p:cNvPr id="25609" name="Rectangle 38">
            <a:extLst>
              <a:ext uri="{FF2B5EF4-FFF2-40B4-BE49-F238E27FC236}">
                <a16:creationId xmlns:a16="http://schemas.microsoft.com/office/drawing/2014/main" id="{0D28466E-9C9F-40DC-B104-8675CFCA59E1}"/>
              </a:ext>
            </a:extLst>
          </p:cNvPr>
          <p:cNvSpPr>
            <a:spLocks noChangeArrowheads="1"/>
          </p:cNvSpPr>
          <p:nvPr/>
        </p:nvSpPr>
        <p:spPr bwMode="auto">
          <a:xfrm>
            <a:off x="3336925" y="2665413"/>
            <a:ext cx="10350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Application</a:t>
            </a:r>
            <a:endParaRPr lang="en-US" altLang="zh-TW" sz="2000" b="1">
              <a:solidFill>
                <a:srgbClr val="000066"/>
              </a:solidFill>
              <a:ea typeface="新細明體" panose="02020500000000000000" pitchFamily="18" charset="-120"/>
            </a:endParaRPr>
          </a:p>
        </p:txBody>
      </p:sp>
      <p:sp>
        <p:nvSpPr>
          <p:cNvPr id="25610" name="Rectangle 39">
            <a:extLst>
              <a:ext uri="{FF2B5EF4-FFF2-40B4-BE49-F238E27FC236}">
                <a16:creationId xmlns:a16="http://schemas.microsoft.com/office/drawing/2014/main" id="{CB78CE59-E02C-4573-A82C-90BA211F3552}"/>
              </a:ext>
            </a:extLst>
          </p:cNvPr>
          <p:cNvSpPr>
            <a:spLocks noChangeArrowheads="1"/>
          </p:cNvSpPr>
          <p:nvPr/>
        </p:nvSpPr>
        <p:spPr bwMode="auto">
          <a:xfrm>
            <a:off x="2916239" y="3101975"/>
            <a:ext cx="1747837" cy="871538"/>
          </a:xfrm>
          <a:prstGeom prst="rect">
            <a:avLst/>
          </a:prstGeom>
          <a:solidFill>
            <a:srgbClr val="33CCFF"/>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25611" name="Rectangle 40">
            <a:extLst>
              <a:ext uri="{FF2B5EF4-FFF2-40B4-BE49-F238E27FC236}">
                <a16:creationId xmlns:a16="http://schemas.microsoft.com/office/drawing/2014/main" id="{D606E37D-1F40-41B7-A6C9-5C474986AF4A}"/>
              </a:ext>
            </a:extLst>
          </p:cNvPr>
          <p:cNvSpPr>
            <a:spLocks noChangeArrowheads="1"/>
          </p:cNvSpPr>
          <p:nvPr/>
        </p:nvSpPr>
        <p:spPr bwMode="auto">
          <a:xfrm>
            <a:off x="3432869" y="3421063"/>
            <a:ext cx="84157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Linux OS</a:t>
            </a:r>
            <a:endParaRPr lang="en-US" altLang="zh-TW" sz="2000" b="1">
              <a:solidFill>
                <a:srgbClr val="000066"/>
              </a:solidFill>
              <a:ea typeface="新細明體" panose="02020500000000000000" pitchFamily="18" charset="-120"/>
            </a:endParaRPr>
          </a:p>
        </p:txBody>
      </p:sp>
      <p:sp>
        <p:nvSpPr>
          <p:cNvPr id="25612" name="Rectangle 41">
            <a:extLst>
              <a:ext uri="{FF2B5EF4-FFF2-40B4-BE49-F238E27FC236}">
                <a16:creationId xmlns:a16="http://schemas.microsoft.com/office/drawing/2014/main" id="{0806B784-7875-4605-A2DD-79EEAF535929}"/>
              </a:ext>
            </a:extLst>
          </p:cNvPr>
          <p:cNvSpPr>
            <a:spLocks noChangeArrowheads="1"/>
          </p:cNvSpPr>
          <p:nvPr/>
        </p:nvSpPr>
        <p:spPr bwMode="auto">
          <a:xfrm>
            <a:off x="4956175" y="2230439"/>
            <a:ext cx="1746250" cy="871537"/>
          </a:xfrm>
          <a:prstGeom prst="rect">
            <a:avLst/>
          </a:prstGeom>
          <a:solidFill>
            <a:srgbClr val="F3B17F"/>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25613" name="Rectangle 42">
            <a:extLst>
              <a:ext uri="{FF2B5EF4-FFF2-40B4-BE49-F238E27FC236}">
                <a16:creationId xmlns:a16="http://schemas.microsoft.com/office/drawing/2014/main" id="{38398204-0B97-4001-B10A-7259FA3AEB7C}"/>
              </a:ext>
            </a:extLst>
          </p:cNvPr>
          <p:cNvSpPr>
            <a:spLocks noChangeArrowheads="1"/>
          </p:cNvSpPr>
          <p:nvPr/>
        </p:nvSpPr>
        <p:spPr bwMode="auto">
          <a:xfrm>
            <a:off x="5473700" y="2433638"/>
            <a:ext cx="83343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Windows</a:t>
            </a:r>
            <a:endParaRPr lang="en-US" altLang="zh-TW" sz="2000" b="1">
              <a:solidFill>
                <a:srgbClr val="000066"/>
              </a:solidFill>
              <a:ea typeface="新細明體" panose="02020500000000000000" pitchFamily="18" charset="-120"/>
            </a:endParaRPr>
          </a:p>
        </p:txBody>
      </p:sp>
      <p:sp>
        <p:nvSpPr>
          <p:cNvPr id="25614" name="Rectangle 43">
            <a:extLst>
              <a:ext uri="{FF2B5EF4-FFF2-40B4-BE49-F238E27FC236}">
                <a16:creationId xmlns:a16="http://schemas.microsoft.com/office/drawing/2014/main" id="{EED03D91-1509-4706-A960-BB7FD3655956}"/>
              </a:ext>
            </a:extLst>
          </p:cNvPr>
          <p:cNvSpPr>
            <a:spLocks noChangeArrowheads="1"/>
          </p:cNvSpPr>
          <p:nvPr/>
        </p:nvSpPr>
        <p:spPr bwMode="auto">
          <a:xfrm>
            <a:off x="5375275" y="2665413"/>
            <a:ext cx="10350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Application</a:t>
            </a:r>
            <a:endParaRPr lang="en-US" altLang="zh-TW" sz="2000" b="1">
              <a:solidFill>
                <a:srgbClr val="000066"/>
              </a:solidFill>
              <a:ea typeface="新細明體" panose="02020500000000000000" pitchFamily="18" charset="-120"/>
            </a:endParaRPr>
          </a:p>
        </p:txBody>
      </p:sp>
      <p:sp>
        <p:nvSpPr>
          <p:cNvPr id="25615" name="Rectangle 44">
            <a:extLst>
              <a:ext uri="{FF2B5EF4-FFF2-40B4-BE49-F238E27FC236}">
                <a16:creationId xmlns:a16="http://schemas.microsoft.com/office/drawing/2014/main" id="{8E574A12-601E-42D0-A319-7377AAE6E276}"/>
              </a:ext>
            </a:extLst>
          </p:cNvPr>
          <p:cNvSpPr>
            <a:spLocks noChangeArrowheads="1"/>
          </p:cNvSpPr>
          <p:nvPr/>
        </p:nvSpPr>
        <p:spPr bwMode="auto">
          <a:xfrm>
            <a:off x="4956175" y="3101975"/>
            <a:ext cx="1746250" cy="871538"/>
          </a:xfrm>
          <a:prstGeom prst="rect">
            <a:avLst/>
          </a:prstGeom>
          <a:solidFill>
            <a:srgbClr val="33CCFF"/>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25616" name="Rectangle 45">
            <a:extLst>
              <a:ext uri="{FF2B5EF4-FFF2-40B4-BE49-F238E27FC236}">
                <a16:creationId xmlns:a16="http://schemas.microsoft.com/office/drawing/2014/main" id="{069AF75D-3BB7-44CE-BDE4-5317DD2FF562}"/>
              </a:ext>
            </a:extLst>
          </p:cNvPr>
          <p:cNvSpPr>
            <a:spLocks noChangeArrowheads="1"/>
          </p:cNvSpPr>
          <p:nvPr/>
        </p:nvSpPr>
        <p:spPr bwMode="auto">
          <a:xfrm>
            <a:off x="5318126" y="3421063"/>
            <a:ext cx="11604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Windows OS</a:t>
            </a:r>
            <a:endParaRPr lang="en-US" altLang="zh-TW" sz="2000" b="1">
              <a:solidFill>
                <a:srgbClr val="000066"/>
              </a:solidFill>
              <a:ea typeface="新細明體" panose="02020500000000000000" pitchFamily="18" charset="-120"/>
            </a:endParaRPr>
          </a:p>
        </p:txBody>
      </p:sp>
      <p:sp>
        <p:nvSpPr>
          <p:cNvPr id="25617" name="Rectangle 46">
            <a:extLst>
              <a:ext uri="{FF2B5EF4-FFF2-40B4-BE49-F238E27FC236}">
                <a16:creationId xmlns:a16="http://schemas.microsoft.com/office/drawing/2014/main" id="{50BB9F6B-0CE4-44ED-A36A-183ADF49C73E}"/>
              </a:ext>
            </a:extLst>
          </p:cNvPr>
          <p:cNvSpPr>
            <a:spLocks noChangeArrowheads="1"/>
          </p:cNvSpPr>
          <p:nvPr/>
        </p:nvSpPr>
        <p:spPr bwMode="auto">
          <a:xfrm>
            <a:off x="6994525" y="2230439"/>
            <a:ext cx="1746250" cy="871537"/>
          </a:xfrm>
          <a:prstGeom prst="rect">
            <a:avLst/>
          </a:prstGeom>
          <a:solidFill>
            <a:srgbClr val="F3B17F"/>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25618" name="Rectangle 47">
            <a:extLst>
              <a:ext uri="{FF2B5EF4-FFF2-40B4-BE49-F238E27FC236}">
                <a16:creationId xmlns:a16="http://schemas.microsoft.com/office/drawing/2014/main" id="{634646E4-639D-4634-9927-213714485C2C}"/>
              </a:ext>
            </a:extLst>
          </p:cNvPr>
          <p:cNvSpPr>
            <a:spLocks noChangeArrowheads="1"/>
          </p:cNvSpPr>
          <p:nvPr/>
        </p:nvSpPr>
        <p:spPr bwMode="auto">
          <a:xfrm>
            <a:off x="7705725" y="2433638"/>
            <a:ext cx="4333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OS/2</a:t>
            </a:r>
            <a:endParaRPr lang="en-US" altLang="zh-TW" sz="2000" b="1">
              <a:solidFill>
                <a:srgbClr val="000066"/>
              </a:solidFill>
              <a:ea typeface="新細明體" panose="02020500000000000000" pitchFamily="18" charset="-120"/>
            </a:endParaRPr>
          </a:p>
        </p:txBody>
      </p:sp>
      <p:sp>
        <p:nvSpPr>
          <p:cNvPr id="25619" name="Rectangle 48">
            <a:extLst>
              <a:ext uri="{FF2B5EF4-FFF2-40B4-BE49-F238E27FC236}">
                <a16:creationId xmlns:a16="http://schemas.microsoft.com/office/drawing/2014/main" id="{F6B087FC-B235-4849-8CC1-8C28B7FD78F5}"/>
              </a:ext>
            </a:extLst>
          </p:cNvPr>
          <p:cNvSpPr>
            <a:spLocks noChangeArrowheads="1"/>
          </p:cNvSpPr>
          <p:nvPr/>
        </p:nvSpPr>
        <p:spPr bwMode="auto">
          <a:xfrm>
            <a:off x="7415213" y="2665413"/>
            <a:ext cx="10350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Application</a:t>
            </a:r>
            <a:endParaRPr lang="en-US" altLang="zh-TW" sz="2000" b="1">
              <a:solidFill>
                <a:srgbClr val="000066"/>
              </a:solidFill>
              <a:ea typeface="新細明體" panose="02020500000000000000" pitchFamily="18" charset="-120"/>
            </a:endParaRPr>
          </a:p>
        </p:txBody>
      </p:sp>
      <p:sp>
        <p:nvSpPr>
          <p:cNvPr id="25620" name="Rectangle 49">
            <a:extLst>
              <a:ext uri="{FF2B5EF4-FFF2-40B4-BE49-F238E27FC236}">
                <a16:creationId xmlns:a16="http://schemas.microsoft.com/office/drawing/2014/main" id="{42F4EB9B-B5F9-46F7-866F-799585A4B608}"/>
              </a:ext>
            </a:extLst>
          </p:cNvPr>
          <p:cNvSpPr>
            <a:spLocks noChangeArrowheads="1"/>
          </p:cNvSpPr>
          <p:nvPr/>
        </p:nvSpPr>
        <p:spPr bwMode="auto">
          <a:xfrm>
            <a:off x="6994525" y="3101975"/>
            <a:ext cx="1746250" cy="871538"/>
          </a:xfrm>
          <a:prstGeom prst="rect">
            <a:avLst/>
          </a:prstGeom>
          <a:solidFill>
            <a:srgbClr val="33CCFF"/>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25621" name="Rectangle 50">
            <a:extLst>
              <a:ext uri="{FF2B5EF4-FFF2-40B4-BE49-F238E27FC236}">
                <a16:creationId xmlns:a16="http://schemas.microsoft.com/office/drawing/2014/main" id="{746FE0AA-7787-4DE4-94F2-A7D7D254BE55}"/>
              </a:ext>
            </a:extLst>
          </p:cNvPr>
          <p:cNvSpPr>
            <a:spLocks noChangeArrowheads="1"/>
          </p:cNvSpPr>
          <p:nvPr/>
        </p:nvSpPr>
        <p:spPr bwMode="auto">
          <a:xfrm>
            <a:off x="7548026" y="3421063"/>
            <a:ext cx="767839"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OS/2 OS</a:t>
            </a:r>
            <a:endParaRPr lang="en-US" altLang="zh-TW" sz="2000" b="1">
              <a:solidFill>
                <a:srgbClr val="000066"/>
              </a:solidFill>
              <a:ea typeface="新細明體" panose="02020500000000000000" pitchFamily="18" charset="-120"/>
            </a:endParaRPr>
          </a:p>
        </p:txBody>
      </p:sp>
      <p:sp>
        <p:nvSpPr>
          <p:cNvPr id="25622" name="Rectangle 51">
            <a:extLst>
              <a:ext uri="{FF2B5EF4-FFF2-40B4-BE49-F238E27FC236}">
                <a16:creationId xmlns:a16="http://schemas.microsoft.com/office/drawing/2014/main" id="{3D060BC5-6561-47D2-8E61-0FAB7FE80B50}"/>
              </a:ext>
            </a:extLst>
          </p:cNvPr>
          <p:cNvSpPr>
            <a:spLocks noChangeArrowheads="1"/>
          </p:cNvSpPr>
          <p:nvPr/>
        </p:nvSpPr>
        <p:spPr bwMode="auto">
          <a:xfrm>
            <a:off x="4954590" y="5368130"/>
            <a:ext cx="1746250" cy="871538"/>
          </a:xfrm>
          <a:prstGeom prst="rect">
            <a:avLst/>
          </a:prstGeom>
          <a:solidFill>
            <a:srgbClr val="FFFF99"/>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25623" name="Rectangle 52">
            <a:extLst>
              <a:ext uri="{FF2B5EF4-FFF2-40B4-BE49-F238E27FC236}">
                <a16:creationId xmlns:a16="http://schemas.microsoft.com/office/drawing/2014/main" id="{06E69630-1982-415D-ABE1-F6E6692CCBD8}"/>
              </a:ext>
            </a:extLst>
          </p:cNvPr>
          <p:cNvSpPr>
            <a:spLocks noChangeArrowheads="1"/>
          </p:cNvSpPr>
          <p:nvPr/>
        </p:nvSpPr>
        <p:spPr bwMode="auto">
          <a:xfrm>
            <a:off x="5507038" y="5629275"/>
            <a:ext cx="762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Intel x86</a:t>
            </a:r>
            <a:endParaRPr lang="en-US" altLang="zh-TW" sz="2000" b="1">
              <a:solidFill>
                <a:srgbClr val="000066"/>
              </a:solidFill>
              <a:ea typeface="新細明體" panose="02020500000000000000" pitchFamily="18" charset="-120"/>
            </a:endParaRPr>
          </a:p>
        </p:txBody>
      </p:sp>
      <p:sp>
        <p:nvSpPr>
          <p:cNvPr id="25624" name="Rectangle 53">
            <a:extLst>
              <a:ext uri="{FF2B5EF4-FFF2-40B4-BE49-F238E27FC236}">
                <a16:creationId xmlns:a16="http://schemas.microsoft.com/office/drawing/2014/main" id="{5766C233-8568-494D-AB58-318C23FA1EA7}"/>
              </a:ext>
            </a:extLst>
          </p:cNvPr>
          <p:cNvSpPr>
            <a:spLocks noChangeArrowheads="1"/>
          </p:cNvSpPr>
          <p:nvPr/>
        </p:nvSpPr>
        <p:spPr bwMode="auto">
          <a:xfrm>
            <a:off x="5456238" y="5862638"/>
            <a:ext cx="8699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Hardware</a:t>
            </a:r>
            <a:endParaRPr lang="en-US" altLang="zh-TW" sz="2000" b="1">
              <a:solidFill>
                <a:srgbClr val="000066"/>
              </a:solidFill>
              <a:ea typeface="新細明體" panose="02020500000000000000" pitchFamily="18" charset="-120"/>
            </a:endParaRPr>
          </a:p>
        </p:txBody>
      </p:sp>
      <p:sp>
        <p:nvSpPr>
          <p:cNvPr id="25625" name="Line 54">
            <a:extLst>
              <a:ext uri="{FF2B5EF4-FFF2-40B4-BE49-F238E27FC236}">
                <a16:creationId xmlns:a16="http://schemas.microsoft.com/office/drawing/2014/main" id="{D43CC0B7-CD68-47C0-B5CF-BCE8AB83D3AE}"/>
              </a:ext>
            </a:extLst>
          </p:cNvPr>
          <p:cNvSpPr>
            <a:spLocks noChangeShapeType="1"/>
          </p:cNvSpPr>
          <p:nvPr/>
        </p:nvSpPr>
        <p:spPr bwMode="auto">
          <a:xfrm>
            <a:off x="3789364" y="4851400"/>
            <a:ext cx="1323975" cy="5222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6" name="Freeform 55">
            <a:extLst>
              <a:ext uri="{FF2B5EF4-FFF2-40B4-BE49-F238E27FC236}">
                <a16:creationId xmlns:a16="http://schemas.microsoft.com/office/drawing/2014/main" id="{5588B703-93BA-46BD-A642-ECDBAA4FB9EE}"/>
              </a:ext>
            </a:extLst>
          </p:cNvPr>
          <p:cNvSpPr>
            <a:spLocks/>
          </p:cNvSpPr>
          <p:nvPr/>
        </p:nvSpPr>
        <p:spPr bwMode="auto">
          <a:xfrm>
            <a:off x="5081588" y="5319713"/>
            <a:ext cx="163512" cy="106362"/>
          </a:xfrm>
          <a:custGeom>
            <a:avLst/>
            <a:gdLst>
              <a:gd name="T0" fmla="*/ 2147483646 w 207"/>
              <a:gd name="T1" fmla="*/ 0 h 134"/>
              <a:gd name="T2" fmla="*/ 2147483646 w 207"/>
              <a:gd name="T3" fmla="*/ 2147483646 h 134"/>
              <a:gd name="T4" fmla="*/ 0 w 207"/>
              <a:gd name="T5" fmla="*/ 2147483646 h 134"/>
              <a:gd name="T6" fmla="*/ 2147483646 w 207"/>
              <a:gd name="T7" fmla="*/ 0 h 134"/>
              <a:gd name="T8" fmla="*/ 0 60000 65536"/>
              <a:gd name="T9" fmla="*/ 0 60000 65536"/>
              <a:gd name="T10" fmla="*/ 0 60000 65536"/>
              <a:gd name="T11" fmla="*/ 0 60000 65536"/>
              <a:gd name="T12" fmla="*/ 0 w 207"/>
              <a:gd name="T13" fmla="*/ 0 h 134"/>
              <a:gd name="T14" fmla="*/ 207 w 207"/>
              <a:gd name="T15" fmla="*/ 134 h 134"/>
            </a:gdLst>
            <a:ahLst/>
            <a:cxnLst>
              <a:cxn ang="T8">
                <a:pos x="T0" y="T1"/>
              </a:cxn>
              <a:cxn ang="T9">
                <a:pos x="T2" y="T3"/>
              </a:cxn>
              <a:cxn ang="T10">
                <a:pos x="T4" y="T5"/>
              </a:cxn>
              <a:cxn ang="T11">
                <a:pos x="T6" y="T7"/>
              </a:cxn>
            </a:cxnLst>
            <a:rect l="T12" t="T13" r="T14" b="T15"/>
            <a:pathLst>
              <a:path w="207" h="134">
                <a:moveTo>
                  <a:pt x="47" y="0"/>
                </a:moveTo>
                <a:lnTo>
                  <a:pt x="207" y="134"/>
                </a:lnTo>
                <a:lnTo>
                  <a:pt x="0" y="123"/>
                </a:lnTo>
                <a:lnTo>
                  <a:pt x="4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27" name="Line 56">
            <a:extLst>
              <a:ext uri="{FF2B5EF4-FFF2-40B4-BE49-F238E27FC236}">
                <a16:creationId xmlns:a16="http://schemas.microsoft.com/office/drawing/2014/main" id="{09C14949-60EF-489D-9AC6-3243A176C382}"/>
              </a:ext>
            </a:extLst>
          </p:cNvPr>
          <p:cNvSpPr>
            <a:spLocks noChangeShapeType="1"/>
          </p:cNvSpPr>
          <p:nvPr/>
        </p:nvSpPr>
        <p:spPr bwMode="auto">
          <a:xfrm>
            <a:off x="5829300" y="4851401"/>
            <a:ext cx="1588" cy="43021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8" name="Freeform 57">
            <a:extLst>
              <a:ext uri="{FF2B5EF4-FFF2-40B4-BE49-F238E27FC236}">
                <a16:creationId xmlns:a16="http://schemas.microsoft.com/office/drawing/2014/main" id="{776DC209-9822-47B9-9274-D34619763A38}"/>
              </a:ext>
            </a:extLst>
          </p:cNvPr>
          <p:cNvSpPr>
            <a:spLocks/>
          </p:cNvSpPr>
          <p:nvPr/>
        </p:nvSpPr>
        <p:spPr bwMode="auto">
          <a:xfrm>
            <a:off x="5776914" y="5270501"/>
            <a:ext cx="103187" cy="155575"/>
          </a:xfrm>
          <a:custGeom>
            <a:avLst/>
            <a:gdLst>
              <a:gd name="T0" fmla="*/ 2147483646 w 131"/>
              <a:gd name="T1" fmla="*/ 0 h 197"/>
              <a:gd name="T2" fmla="*/ 2147483646 w 131"/>
              <a:gd name="T3" fmla="*/ 2147483646 h 197"/>
              <a:gd name="T4" fmla="*/ 0 w 131"/>
              <a:gd name="T5" fmla="*/ 0 h 197"/>
              <a:gd name="T6" fmla="*/ 2147483646 w 131"/>
              <a:gd name="T7" fmla="*/ 0 h 197"/>
              <a:gd name="T8" fmla="*/ 0 60000 65536"/>
              <a:gd name="T9" fmla="*/ 0 60000 65536"/>
              <a:gd name="T10" fmla="*/ 0 60000 65536"/>
              <a:gd name="T11" fmla="*/ 0 60000 65536"/>
              <a:gd name="T12" fmla="*/ 0 w 131"/>
              <a:gd name="T13" fmla="*/ 0 h 197"/>
              <a:gd name="T14" fmla="*/ 131 w 131"/>
              <a:gd name="T15" fmla="*/ 197 h 197"/>
            </a:gdLst>
            <a:ahLst/>
            <a:cxnLst>
              <a:cxn ang="T8">
                <a:pos x="T0" y="T1"/>
              </a:cxn>
              <a:cxn ang="T9">
                <a:pos x="T2" y="T3"/>
              </a:cxn>
              <a:cxn ang="T10">
                <a:pos x="T4" y="T5"/>
              </a:cxn>
              <a:cxn ang="T11">
                <a:pos x="T6" y="T7"/>
              </a:cxn>
            </a:cxnLst>
            <a:rect l="T12" t="T13" r="T14" b="T15"/>
            <a:pathLst>
              <a:path w="131" h="197">
                <a:moveTo>
                  <a:pt x="131" y="0"/>
                </a:moveTo>
                <a:lnTo>
                  <a:pt x="65" y="197"/>
                </a:lnTo>
                <a:lnTo>
                  <a:pt x="0" y="0"/>
                </a:lnTo>
                <a:lnTo>
                  <a:pt x="1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29" name="Line 58">
            <a:extLst>
              <a:ext uri="{FF2B5EF4-FFF2-40B4-BE49-F238E27FC236}">
                <a16:creationId xmlns:a16="http://schemas.microsoft.com/office/drawing/2014/main" id="{16AE2734-BEBE-463B-97B8-708F79551AC2}"/>
              </a:ext>
            </a:extLst>
          </p:cNvPr>
          <p:cNvSpPr>
            <a:spLocks noChangeShapeType="1"/>
          </p:cNvSpPr>
          <p:nvPr/>
        </p:nvSpPr>
        <p:spPr bwMode="auto">
          <a:xfrm flipH="1">
            <a:off x="6545264" y="4857750"/>
            <a:ext cx="1322387" cy="51593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0" name="Freeform 59">
            <a:extLst>
              <a:ext uri="{FF2B5EF4-FFF2-40B4-BE49-F238E27FC236}">
                <a16:creationId xmlns:a16="http://schemas.microsoft.com/office/drawing/2014/main" id="{B6BE6EFD-012D-42B5-B78D-175A6266F591}"/>
              </a:ext>
            </a:extLst>
          </p:cNvPr>
          <p:cNvSpPr>
            <a:spLocks/>
          </p:cNvSpPr>
          <p:nvPr/>
        </p:nvSpPr>
        <p:spPr bwMode="auto">
          <a:xfrm>
            <a:off x="6411913" y="5321301"/>
            <a:ext cx="165100" cy="104775"/>
          </a:xfrm>
          <a:custGeom>
            <a:avLst/>
            <a:gdLst>
              <a:gd name="T0" fmla="*/ 2147483646 w 208"/>
              <a:gd name="T1" fmla="*/ 2147483646 h 133"/>
              <a:gd name="T2" fmla="*/ 0 w 208"/>
              <a:gd name="T3" fmla="*/ 2147483646 h 133"/>
              <a:gd name="T4" fmla="*/ 2147483646 w 208"/>
              <a:gd name="T5" fmla="*/ 0 h 133"/>
              <a:gd name="T6" fmla="*/ 2147483646 w 208"/>
              <a:gd name="T7" fmla="*/ 2147483646 h 133"/>
              <a:gd name="T8" fmla="*/ 0 60000 65536"/>
              <a:gd name="T9" fmla="*/ 0 60000 65536"/>
              <a:gd name="T10" fmla="*/ 0 60000 65536"/>
              <a:gd name="T11" fmla="*/ 0 60000 65536"/>
              <a:gd name="T12" fmla="*/ 0 w 208"/>
              <a:gd name="T13" fmla="*/ 0 h 133"/>
              <a:gd name="T14" fmla="*/ 208 w 208"/>
              <a:gd name="T15" fmla="*/ 133 h 133"/>
            </a:gdLst>
            <a:ahLst/>
            <a:cxnLst>
              <a:cxn ang="T8">
                <a:pos x="T0" y="T1"/>
              </a:cxn>
              <a:cxn ang="T9">
                <a:pos x="T2" y="T3"/>
              </a:cxn>
              <a:cxn ang="T10">
                <a:pos x="T4" y="T5"/>
              </a:cxn>
              <a:cxn ang="T11">
                <a:pos x="T6" y="T7"/>
              </a:cxn>
            </a:cxnLst>
            <a:rect l="T12" t="T13" r="T14" b="T15"/>
            <a:pathLst>
              <a:path w="208" h="133">
                <a:moveTo>
                  <a:pt x="208" y="122"/>
                </a:moveTo>
                <a:lnTo>
                  <a:pt x="0" y="133"/>
                </a:lnTo>
                <a:lnTo>
                  <a:pt x="160" y="0"/>
                </a:lnTo>
                <a:lnTo>
                  <a:pt x="208" y="1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31" name="Rectangle 60">
            <a:extLst>
              <a:ext uri="{FF2B5EF4-FFF2-40B4-BE49-F238E27FC236}">
                <a16:creationId xmlns:a16="http://schemas.microsoft.com/office/drawing/2014/main" id="{31C505C4-7CA5-4840-9AC0-1FA710D30EC2}"/>
              </a:ext>
            </a:extLst>
          </p:cNvPr>
          <p:cNvSpPr>
            <a:spLocks noChangeArrowheads="1"/>
          </p:cNvSpPr>
          <p:nvPr/>
        </p:nvSpPr>
        <p:spPr bwMode="auto">
          <a:xfrm>
            <a:off x="2916239" y="3979864"/>
            <a:ext cx="1747837" cy="871537"/>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25632" name="Rectangle 61">
            <a:extLst>
              <a:ext uri="{FF2B5EF4-FFF2-40B4-BE49-F238E27FC236}">
                <a16:creationId xmlns:a16="http://schemas.microsoft.com/office/drawing/2014/main" id="{F621399A-CC06-4A24-AC7B-5FC32C6FDA4F}"/>
              </a:ext>
            </a:extLst>
          </p:cNvPr>
          <p:cNvSpPr>
            <a:spLocks noChangeArrowheads="1"/>
          </p:cNvSpPr>
          <p:nvPr/>
        </p:nvSpPr>
        <p:spPr bwMode="auto">
          <a:xfrm>
            <a:off x="3160714" y="4298950"/>
            <a:ext cx="14065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Virtual Intel x86</a:t>
            </a:r>
            <a:endParaRPr lang="en-US" altLang="zh-TW" sz="2000" b="1">
              <a:solidFill>
                <a:srgbClr val="000066"/>
              </a:solidFill>
              <a:ea typeface="新細明體" panose="02020500000000000000" pitchFamily="18" charset="-120"/>
            </a:endParaRPr>
          </a:p>
        </p:txBody>
      </p:sp>
      <p:sp>
        <p:nvSpPr>
          <p:cNvPr id="25633" name="Rectangle 62">
            <a:extLst>
              <a:ext uri="{FF2B5EF4-FFF2-40B4-BE49-F238E27FC236}">
                <a16:creationId xmlns:a16="http://schemas.microsoft.com/office/drawing/2014/main" id="{C395D8B3-7936-47D0-9186-75F1F951F55D}"/>
              </a:ext>
            </a:extLst>
          </p:cNvPr>
          <p:cNvSpPr>
            <a:spLocks noChangeArrowheads="1"/>
          </p:cNvSpPr>
          <p:nvPr/>
        </p:nvSpPr>
        <p:spPr bwMode="auto">
          <a:xfrm>
            <a:off x="4956175" y="3979864"/>
            <a:ext cx="1746250" cy="871537"/>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25634" name="Rectangle 63">
            <a:extLst>
              <a:ext uri="{FF2B5EF4-FFF2-40B4-BE49-F238E27FC236}">
                <a16:creationId xmlns:a16="http://schemas.microsoft.com/office/drawing/2014/main" id="{AD4652E3-0703-4F67-994D-6C22992614B5}"/>
              </a:ext>
            </a:extLst>
          </p:cNvPr>
          <p:cNvSpPr>
            <a:spLocks noChangeArrowheads="1"/>
          </p:cNvSpPr>
          <p:nvPr/>
        </p:nvSpPr>
        <p:spPr bwMode="auto">
          <a:xfrm>
            <a:off x="5199064" y="4298950"/>
            <a:ext cx="14065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Virtual Intel x86</a:t>
            </a:r>
            <a:endParaRPr lang="en-US" altLang="zh-TW" sz="2000" b="1">
              <a:solidFill>
                <a:srgbClr val="000066"/>
              </a:solidFill>
              <a:ea typeface="新細明體" panose="02020500000000000000" pitchFamily="18" charset="-120"/>
            </a:endParaRPr>
          </a:p>
        </p:txBody>
      </p:sp>
      <p:sp>
        <p:nvSpPr>
          <p:cNvPr id="25635" name="Rectangle 64">
            <a:extLst>
              <a:ext uri="{FF2B5EF4-FFF2-40B4-BE49-F238E27FC236}">
                <a16:creationId xmlns:a16="http://schemas.microsoft.com/office/drawing/2014/main" id="{3F661696-83C9-496A-8E0D-9DC9B3724D3E}"/>
              </a:ext>
            </a:extLst>
          </p:cNvPr>
          <p:cNvSpPr>
            <a:spLocks noChangeArrowheads="1"/>
          </p:cNvSpPr>
          <p:nvPr/>
        </p:nvSpPr>
        <p:spPr bwMode="auto">
          <a:xfrm>
            <a:off x="6994525" y="3984626"/>
            <a:ext cx="1746250" cy="873125"/>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25636" name="Rectangle 65">
            <a:extLst>
              <a:ext uri="{FF2B5EF4-FFF2-40B4-BE49-F238E27FC236}">
                <a16:creationId xmlns:a16="http://schemas.microsoft.com/office/drawing/2014/main" id="{332C4B29-64EF-4D00-8B7E-66CDB0DAFD94}"/>
              </a:ext>
            </a:extLst>
          </p:cNvPr>
          <p:cNvSpPr>
            <a:spLocks noChangeArrowheads="1"/>
          </p:cNvSpPr>
          <p:nvPr/>
        </p:nvSpPr>
        <p:spPr bwMode="auto">
          <a:xfrm>
            <a:off x="7237414" y="4303713"/>
            <a:ext cx="14065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Virtual Intel x86</a:t>
            </a:r>
            <a:endParaRPr lang="en-US" altLang="zh-TW" sz="2000" b="1">
              <a:solidFill>
                <a:srgbClr val="000066"/>
              </a:solidFill>
              <a:ea typeface="新細明體" panose="02020500000000000000" pitchFamily="18" charset="-120"/>
            </a:endParaRPr>
          </a:p>
        </p:txBody>
      </p:sp>
      <p:sp>
        <p:nvSpPr>
          <p:cNvPr id="37" name="Rectangle 51">
            <a:extLst>
              <a:ext uri="{FF2B5EF4-FFF2-40B4-BE49-F238E27FC236}">
                <a16:creationId xmlns:a16="http://schemas.microsoft.com/office/drawing/2014/main" id="{ED96F472-2927-4E7D-AE56-4EB47EA0734D}"/>
              </a:ext>
            </a:extLst>
          </p:cNvPr>
          <p:cNvSpPr>
            <a:spLocks noChangeArrowheads="1"/>
          </p:cNvSpPr>
          <p:nvPr/>
        </p:nvSpPr>
        <p:spPr bwMode="auto">
          <a:xfrm>
            <a:off x="3160714" y="5348288"/>
            <a:ext cx="1746250" cy="871538"/>
          </a:xfrm>
          <a:prstGeom prst="rect">
            <a:avLst/>
          </a:prstGeom>
          <a:solidFill>
            <a:srgbClr val="FFFF99"/>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a:p>
            <a:pPr algn="ctr" eaLnBrk="1" hangingPunct="1">
              <a:spcBef>
                <a:spcPct val="0"/>
              </a:spcBef>
              <a:buClrTx/>
              <a:buFontTx/>
              <a:buNone/>
            </a:pPr>
            <a:r>
              <a:rPr lang="en-US" altLang="zh-TW" sz="2000">
                <a:solidFill>
                  <a:srgbClr val="000066"/>
                </a:solidFill>
                <a:ea typeface="新細明體" panose="02020500000000000000" pitchFamily="18" charset="-120"/>
              </a:rPr>
              <a:t>Memory</a:t>
            </a:r>
            <a:endParaRPr lang="zh-TW" altLang="en-US" sz="2000">
              <a:solidFill>
                <a:srgbClr val="000066"/>
              </a:solidFill>
              <a:ea typeface="新細明體" panose="02020500000000000000" pitchFamily="18" charset="-120"/>
            </a:endParaRPr>
          </a:p>
        </p:txBody>
      </p:sp>
      <p:sp>
        <p:nvSpPr>
          <p:cNvPr id="38" name="Rectangle 51">
            <a:extLst>
              <a:ext uri="{FF2B5EF4-FFF2-40B4-BE49-F238E27FC236}">
                <a16:creationId xmlns:a16="http://schemas.microsoft.com/office/drawing/2014/main" id="{7AFA0D5A-0D3C-4D00-A869-FC3D127F01EF}"/>
              </a:ext>
            </a:extLst>
          </p:cNvPr>
          <p:cNvSpPr>
            <a:spLocks noChangeArrowheads="1"/>
          </p:cNvSpPr>
          <p:nvPr/>
        </p:nvSpPr>
        <p:spPr bwMode="auto">
          <a:xfrm>
            <a:off x="6770848" y="5355584"/>
            <a:ext cx="1746250" cy="871538"/>
          </a:xfrm>
          <a:prstGeom prst="rect">
            <a:avLst/>
          </a:prstGeom>
          <a:solidFill>
            <a:srgbClr val="FFFF99"/>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a:p>
            <a:pPr algn="ctr" eaLnBrk="1" hangingPunct="1">
              <a:spcBef>
                <a:spcPct val="0"/>
              </a:spcBef>
              <a:buClrTx/>
              <a:buFontTx/>
              <a:buNone/>
            </a:pPr>
            <a:r>
              <a:rPr lang="en-US" altLang="zh-TW" sz="2000">
                <a:solidFill>
                  <a:srgbClr val="000066"/>
                </a:solidFill>
                <a:ea typeface="新細明體" panose="02020500000000000000" pitchFamily="18" charset="-120"/>
              </a:rPr>
              <a:t>I/O devices</a:t>
            </a:r>
            <a:endParaRPr lang="zh-TW" altLang="en-US" sz="2000">
              <a:solidFill>
                <a:srgbClr val="000066"/>
              </a:solidFill>
              <a:ea typeface="新細明體" panose="02020500000000000000" pitchFamily="18" charset="-12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日期版面配置區 4">
            <a:extLst>
              <a:ext uri="{FF2B5EF4-FFF2-40B4-BE49-F238E27FC236}">
                <a16:creationId xmlns:a16="http://schemas.microsoft.com/office/drawing/2014/main" id="{B994BA9E-7A97-4DF2-BD37-907477ADEFC9}"/>
              </a:ext>
            </a:extLst>
          </p:cNvPr>
          <p:cNvSpPr>
            <a:spLocks noGrp="1"/>
          </p:cNvSpPr>
          <p:nvPr>
            <p:ph type="dt" sz="quarter" idx="10"/>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spcBef>
                <a:spcPct val="20000"/>
              </a:spcBef>
              <a:buClr>
                <a:schemeClr val="tx1"/>
              </a:buClr>
              <a:buSzPct val="70000"/>
              <a:buFont typeface="Wingdings" panose="05000000000000000000" pitchFamily="2" charset="2"/>
              <a:buChar char="q"/>
              <a:defRPr sz="2800" b="1">
                <a:solidFill>
                  <a:schemeClr val="tx1"/>
                </a:solidFill>
                <a:latin typeface="Arial" panose="020B0604020202020204" pitchFamily="34" charset="0"/>
              </a:defRPr>
            </a:lvl1pPr>
            <a:lvl2pPr marL="742950" indent="-285750" defTabSz="958850">
              <a:spcBef>
                <a:spcPct val="20000"/>
              </a:spcBef>
              <a:buClr>
                <a:schemeClr val="tx1"/>
              </a:buClr>
              <a:buSzPct val="65000"/>
              <a:buChar char="•"/>
              <a:defRPr sz="2500">
                <a:solidFill>
                  <a:schemeClr val="tx1"/>
                </a:solidFill>
                <a:latin typeface="Arial" panose="020B0604020202020204" pitchFamily="34" charset="0"/>
              </a:defRPr>
            </a:lvl2pPr>
            <a:lvl3pPr marL="1143000" indent="-228600" defTabSz="958850">
              <a:spcBef>
                <a:spcPct val="20000"/>
              </a:spcBef>
              <a:buClr>
                <a:schemeClr val="tx1"/>
              </a:buClr>
              <a:buSzPct val="65000"/>
              <a:buFont typeface="Wingdings" panose="05000000000000000000" pitchFamily="2" charset="2"/>
              <a:buChar char="•"/>
              <a:defRPr sz="2500">
                <a:solidFill>
                  <a:schemeClr val="tx1"/>
                </a:solidFill>
                <a:latin typeface="Arial" panose="020B0604020202020204" pitchFamily="34" charset="0"/>
              </a:defRPr>
            </a:lvl3pPr>
            <a:lvl4pPr marL="1600200" indent="-228600" defTabSz="958850">
              <a:spcBef>
                <a:spcPct val="20000"/>
              </a:spcBef>
              <a:buClr>
                <a:schemeClr val="tx2"/>
              </a:buClr>
              <a:buSzPct val="75000"/>
              <a:buFont typeface="Wingdings" panose="05000000000000000000" pitchFamily="2" charset="2"/>
              <a:buChar char="–"/>
              <a:defRPr sz="2100">
                <a:solidFill>
                  <a:schemeClr val="tx1"/>
                </a:solidFill>
                <a:latin typeface="Arial" panose="020B0604020202020204" pitchFamily="34" charset="0"/>
              </a:defRPr>
            </a:lvl4pPr>
            <a:lvl5pPr marL="2057400" indent="-228600" defTabSz="958850">
              <a:spcBef>
                <a:spcPct val="20000"/>
              </a:spcBef>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9pPr>
          </a:lstStyle>
          <a:p>
            <a:pPr>
              <a:spcBef>
                <a:spcPct val="0"/>
              </a:spcBef>
              <a:buClrTx/>
              <a:buSzTx/>
              <a:buFontTx/>
              <a:buNone/>
              <a:defRPr/>
            </a:pPr>
            <a:endParaRPr lang="en-US" altLang="zh-TW" sz="1500" b="0" dirty="0"/>
          </a:p>
        </p:txBody>
      </p:sp>
      <p:sp>
        <p:nvSpPr>
          <p:cNvPr id="15363" name="投影片編號版面配置區 6">
            <a:extLst>
              <a:ext uri="{FF2B5EF4-FFF2-40B4-BE49-F238E27FC236}">
                <a16:creationId xmlns:a16="http://schemas.microsoft.com/office/drawing/2014/main" id="{DC2AD7C0-FC6F-4CB2-B105-93CA5645352A}"/>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defTabSz="958850">
              <a:spcBef>
                <a:spcPct val="20000"/>
              </a:spcBef>
              <a:buChar char="–"/>
              <a:defRPr sz="2800">
                <a:solidFill>
                  <a:schemeClr val="tx1"/>
                </a:solidFill>
                <a:latin typeface="Arial" panose="020B0604020202020204" pitchFamily="34" charset="0"/>
              </a:defRPr>
            </a:lvl2pPr>
            <a:lvl3pPr marL="1143000" indent="-228600" defTabSz="95885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defTabSz="958850">
              <a:spcBef>
                <a:spcPct val="20000"/>
              </a:spcBef>
              <a:buChar char="–"/>
              <a:defRPr sz="2000">
                <a:solidFill>
                  <a:schemeClr val="tx1"/>
                </a:solidFill>
                <a:latin typeface="Arial" panose="020B0604020202020204" pitchFamily="34" charset="0"/>
              </a:defRPr>
            </a:lvl4pPr>
            <a:lvl5pPr marL="2057400" indent="-228600" defTabSz="95885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FontTx/>
              <a:buNone/>
            </a:pPr>
            <a:fld id="{33A68E42-1109-42CD-B051-B47AE1DE3105}" type="slidenum">
              <a:rPr lang="en-US" altLang="zh-TW" sz="1200"/>
              <a:pPr>
                <a:spcBef>
                  <a:spcPct val="0"/>
                </a:spcBef>
                <a:buClrTx/>
                <a:buFontTx/>
                <a:buNone/>
              </a:pPr>
              <a:t>42</a:t>
            </a:fld>
            <a:endParaRPr lang="en-US" altLang="zh-TW" sz="1200"/>
          </a:p>
        </p:txBody>
      </p:sp>
      <p:sp>
        <p:nvSpPr>
          <p:cNvPr id="457730" name="Rectangle 2">
            <a:extLst>
              <a:ext uri="{FF2B5EF4-FFF2-40B4-BE49-F238E27FC236}">
                <a16:creationId xmlns:a16="http://schemas.microsoft.com/office/drawing/2014/main" id="{5E510A78-DA6C-46DF-85FA-A084F25085C6}"/>
              </a:ext>
            </a:extLst>
          </p:cNvPr>
          <p:cNvSpPr>
            <a:spLocks noGrp="1" noChangeArrowheads="1"/>
          </p:cNvSpPr>
          <p:nvPr>
            <p:ph type="title"/>
          </p:nvPr>
        </p:nvSpPr>
        <p:spPr>
          <a:xfrm>
            <a:off x="1666574" y="45294"/>
            <a:ext cx="8637588" cy="620713"/>
          </a:xfrm>
        </p:spPr>
        <p:txBody>
          <a:bodyPr/>
          <a:lstStyle/>
          <a:p>
            <a:pPr eaLnBrk="1" hangingPunct="1">
              <a:defRPr/>
            </a:pPr>
            <a:r>
              <a:rPr lang="en-US" altLang="zh-TW" dirty="0">
                <a:ea typeface="新細明體" charset="-120"/>
              </a:rPr>
              <a:t>Multiple Identical Guest Systems </a:t>
            </a:r>
          </a:p>
        </p:txBody>
      </p:sp>
      <p:sp>
        <p:nvSpPr>
          <p:cNvPr id="15365" name="Rectangle 3">
            <a:extLst>
              <a:ext uri="{FF2B5EF4-FFF2-40B4-BE49-F238E27FC236}">
                <a16:creationId xmlns:a16="http://schemas.microsoft.com/office/drawing/2014/main" id="{51212EB9-B8ED-4863-BF16-F3E4C514138C}"/>
              </a:ext>
            </a:extLst>
          </p:cNvPr>
          <p:cNvSpPr>
            <a:spLocks noGrp="1" noChangeArrowheads="1"/>
          </p:cNvSpPr>
          <p:nvPr>
            <p:ph type="body" sz="half" idx="1"/>
          </p:nvPr>
        </p:nvSpPr>
        <p:spPr>
          <a:xfrm>
            <a:off x="1881680" y="1029444"/>
            <a:ext cx="8207375" cy="5027714"/>
          </a:xfrm>
        </p:spPr>
        <p:txBody>
          <a:bodyPr/>
          <a:lstStyle/>
          <a:p>
            <a:pPr eaLnBrk="1" hangingPunct="1">
              <a:defRPr/>
            </a:pPr>
            <a:r>
              <a:rPr lang="en-US" altLang="zh-TW" sz="2500" dirty="0">
                <a:ea typeface="新細明體" panose="02020500000000000000" pitchFamily="18" charset="-120"/>
              </a:rPr>
              <a:t>Support multiple guest OSes on a single hardware platform; all running the </a:t>
            </a:r>
            <a:r>
              <a:rPr lang="en-US" altLang="zh-TW" sz="2800" i="1" dirty="0">
                <a:solidFill>
                  <a:srgbClr val="FF0000"/>
                </a:solidFill>
                <a:ea typeface="新細明體" panose="02020500000000000000" pitchFamily="18" charset="-120"/>
              </a:rPr>
              <a:t>same ISA</a:t>
            </a:r>
          </a:p>
        </p:txBody>
      </p:sp>
      <p:sp>
        <p:nvSpPr>
          <p:cNvPr id="27654" name="AutoShape 34">
            <a:extLst>
              <a:ext uri="{FF2B5EF4-FFF2-40B4-BE49-F238E27FC236}">
                <a16:creationId xmlns:a16="http://schemas.microsoft.com/office/drawing/2014/main" id="{40D2F525-2A22-47AA-8B7E-34DE8E77CB3D}"/>
              </a:ext>
            </a:extLst>
          </p:cNvPr>
          <p:cNvSpPr>
            <a:spLocks noChangeAspect="1" noChangeArrowheads="1" noTextEdit="1"/>
          </p:cNvSpPr>
          <p:nvPr/>
        </p:nvSpPr>
        <p:spPr bwMode="auto">
          <a:xfrm>
            <a:off x="2808051" y="1947119"/>
            <a:ext cx="5867400" cy="411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endParaRPr lang="en-US"/>
          </a:p>
        </p:txBody>
      </p:sp>
      <p:sp>
        <p:nvSpPr>
          <p:cNvPr id="27655" name="Rectangle 36">
            <a:extLst>
              <a:ext uri="{FF2B5EF4-FFF2-40B4-BE49-F238E27FC236}">
                <a16:creationId xmlns:a16="http://schemas.microsoft.com/office/drawing/2014/main" id="{F38F7C47-77D7-46D0-952F-3BC5B50BA304}"/>
              </a:ext>
            </a:extLst>
          </p:cNvPr>
          <p:cNvSpPr>
            <a:spLocks noChangeArrowheads="1"/>
          </p:cNvSpPr>
          <p:nvPr/>
        </p:nvSpPr>
        <p:spPr bwMode="auto">
          <a:xfrm>
            <a:off x="2828690" y="1967758"/>
            <a:ext cx="1747837" cy="871537"/>
          </a:xfrm>
          <a:prstGeom prst="rect">
            <a:avLst/>
          </a:prstGeom>
          <a:solidFill>
            <a:srgbClr val="F3B17F"/>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27656" name="Rectangle 38">
            <a:extLst>
              <a:ext uri="{FF2B5EF4-FFF2-40B4-BE49-F238E27FC236}">
                <a16:creationId xmlns:a16="http://schemas.microsoft.com/office/drawing/2014/main" id="{00F4662E-6967-482A-B217-B37F7A28FD13}"/>
              </a:ext>
            </a:extLst>
          </p:cNvPr>
          <p:cNvSpPr>
            <a:spLocks noChangeArrowheads="1"/>
          </p:cNvSpPr>
          <p:nvPr/>
        </p:nvSpPr>
        <p:spPr bwMode="auto">
          <a:xfrm>
            <a:off x="3249376" y="2402732"/>
            <a:ext cx="10350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Application</a:t>
            </a:r>
            <a:endParaRPr lang="en-US" altLang="zh-TW" sz="2000" b="1">
              <a:solidFill>
                <a:srgbClr val="000066"/>
              </a:solidFill>
              <a:ea typeface="新細明體" panose="02020500000000000000" pitchFamily="18" charset="-120"/>
            </a:endParaRPr>
          </a:p>
        </p:txBody>
      </p:sp>
      <p:sp>
        <p:nvSpPr>
          <p:cNvPr id="27657" name="Rectangle 39">
            <a:extLst>
              <a:ext uri="{FF2B5EF4-FFF2-40B4-BE49-F238E27FC236}">
                <a16:creationId xmlns:a16="http://schemas.microsoft.com/office/drawing/2014/main" id="{2B53CC90-EE64-4F3F-B88E-5613925E9075}"/>
              </a:ext>
            </a:extLst>
          </p:cNvPr>
          <p:cNvSpPr>
            <a:spLocks noChangeArrowheads="1"/>
          </p:cNvSpPr>
          <p:nvPr/>
        </p:nvSpPr>
        <p:spPr bwMode="auto">
          <a:xfrm>
            <a:off x="2828690" y="2839294"/>
            <a:ext cx="1747837" cy="871538"/>
          </a:xfrm>
          <a:prstGeom prst="rect">
            <a:avLst/>
          </a:prstGeom>
          <a:solidFill>
            <a:srgbClr val="33CCFF"/>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27658" name="Rectangle 40">
            <a:extLst>
              <a:ext uri="{FF2B5EF4-FFF2-40B4-BE49-F238E27FC236}">
                <a16:creationId xmlns:a16="http://schemas.microsoft.com/office/drawing/2014/main" id="{5532202B-5051-47E7-8C07-BFBEE02F8AC9}"/>
              </a:ext>
            </a:extLst>
          </p:cNvPr>
          <p:cNvSpPr>
            <a:spLocks noChangeArrowheads="1"/>
          </p:cNvSpPr>
          <p:nvPr/>
        </p:nvSpPr>
        <p:spPr bwMode="auto">
          <a:xfrm>
            <a:off x="3092215" y="3158383"/>
            <a:ext cx="13477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2400" b="1">
                <a:solidFill>
                  <a:srgbClr val="000000"/>
                </a:solidFill>
                <a:ea typeface="新細明體" panose="02020500000000000000" pitchFamily="18" charset="-120"/>
              </a:rPr>
              <a:t>Linux OS</a:t>
            </a:r>
            <a:endParaRPr lang="en-US" altLang="zh-TW" sz="2400" b="1">
              <a:solidFill>
                <a:srgbClr val="000066"/>
              </a:solidFill>
              <a:ea typeface="新細明體" panose="02020500000000000000" pitchFamily="18" charset="-120"/>
            </a:endParaRPr>
          </a:p>
        </p:txBody>
      </p:sp>
      <p:sp>
        <p:nvSpPr>
          <p:cNvPr id="27659" name="Rectangle 41">
            <a:extLst>
              <a:ext uri="{FF2B5EF4-FFF2-40B4-BE49-F238E27FC236}">
                <a16:creationId xmlns:a16="http://schemas.microsoft.com/office/drawing/2014/main" id="{BA5C6EE3-5BEC-42FF-88BB-AD34B43FAA7F}"/>
              </a:ext>
            </a:extLst>
          </p:cNvPr>
          <p:cNvSpPr>
            <a:spLocks noChangeArrowheads="1"/>
          </p:cNvSpPr>
          <p:nvPr/>
        </p:nvSpPr>
        <p:spPr bwMode="auto">
          <a:xfrm>
            <a:off x="4868626" y="1967758"/>
            <a:ext cx="1746250" cy="871537"/>
          </a:xfrm>
          <a:prstGeom prst="rect">
            <a:avLst/>
          </a:prstGeom>
          <a:solidFill>
            <a:srgbClr val="F3B17F"/>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27660" name="Rectangle 42">
            <a:extLst>
              <a:ext uri="{FF2B5EF4-FFF2-40B4-BE49-F238E27FC236}">
                <a16:creationId xmlns:a16="http://schemas.microsoft.com/office/drawing/2014/main" id="{99B360B8-845A-4AC2-AAC2-F9F8D3C68C77}"/>
              </a:ext>
            </a:extLst>
          </p:cNvPr>
          <p:cNvSpPr>
            <a:spLocks noChangeArrowheads="1"/>
          </p:cNvSpPr>
          <p:nvPr/>
        </p:nvSpPr>
        <p:spPr bwMode="auto">
          <a:xfrm>
            <a:off x="5460764" y="2170958"/>
            <a:ext cx="6842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2000" b="1">
                <a:solidFill>
                  <a:srgbClr val="000066"/>
                </a:solidFill>
                <a:ea typeface="新細明體" panose="02020500000000000000" pitchFamily="18" charset="-120"/>
              </a:rPr>
              <a:t>Linux</a:t>
            </a:r>
          </a:p>
        </p:txBody>
      </p:sp>
      <p:sp>
        <p:nvSpPr>
          <p:cNvPr id="27661" name="Rectangle 43">
            <a:extLst>
              <a:ext uri="{FF2B5EF4-FFF2-40B4-BE49-F238E27FC236}">
                <a16:creationId xmlns:a16="http://schemas.microsoft.com/office/drawing/2014/main" id="{1DED4F14-0546-4A04-9B05-C7296DF15712}"/>
              </a:ext>
            </a:extLst>
          </p:cNvPr>
          <p:cNvSpPr>
            <a:spLocks noChangeArrowheads="1"/>
          </p:cNvSpPr>
          <p:nvPr/>
        </p:nvSpPr>
        <p:spPr bwMode="auto">
          <a:xfrm>
            <a:off x="5287726" y="2402732"/>
            <a:ext cx="10350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Application</a:t>
            </a:r>
            <a:endParaRPr lang="en-US" altLang="zh-TW" sz="2000" b="1">
              <a:solidFill>
                <a:srgbClr val="000066"/>
              </a:solidFill>
              <a:ea typeface="新細明體" panose="02020500000000000000" pitchFamily="18" charset="-120"/>
            </a:endParaRPr>
          </a:p>
        </p:txBody>
      </p:sp>
      <p:sp>
        <p:nvSpPr>
          <p:cNvPr id="27662" name="Rectangle 44">
            <a:extLst>
              <a:ext uri="{FF2B5EF4-FFF2-40B4-BE49-F238E27FC236}">
                <a16:creationId xmlns:a16="http://schemas.microsoft.com/office/drawing/2014/main" id="{88640E5B-D615-4FF2-9C35-CAFFE8F5223B}"/>
              </a:ext>
            </a:extLst>
          </p:cNvPr>
          <p:cNvSpPr>
            <a:spLocks noChangeArrowheads="1"/>
          </p:cNvSpPr>
          <p:nvPr/>
        </p:nvSpPr>
        <p:spPr bwMode="auto">
          <a:xfrm>
            <a:off x="4868626" y="2839294"/>
            <a:ext cx="1746250" cy="871538"/>
          </a:xfrm>
          <a:prstGeom prst="rect">
            <a:avLst/>
          </a:prstGeom>
          <a:solidFill>
            <a:srgbClr val="33CCFF"/>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27663" name="Rectangle 45">
            <a:extLst>
              <a:ext uri="{FF2B5EF4-FFF2-40B4-BE49-F238E27FC236}">
                <a16:creationId xmlns:a16="http://schemas.microsoft.com/office/drawing/2014/main" id="{E3099A45-FA99-4779-B69B-512989831AF4}"/>
              </a:ext>
            </a:extLst>
          </p:cNvPr>
          <p:cNvSpPr>
            <a:spLocks noChangeArrowheads="1"/>
          </p:cNvSpPr>
          <p:nvPr/>
        </p:nvSpPr>
        <p:spPr bwMode="auto">
          <a:xfrm>
            <a:off x="5136915" y="3158383"/>
            <a:ext cx="13477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2400" b="1">
                <a:solidFill>
                  <a:srgbClr val="000000"/>
                </a:solidFill>
                <a:ea typeface="新細明體" panose="02020500000000000000" pitchFamily="18" charset="-120"/>
              </a:rPr>
              <a:t>Linux OS</a:t>
            </a:r>
            <a:endParaRPr lang="en-US" altLang="zh-TW" sz="2400" b="1">
              <a:solidFill>
                <a:srgbClr val="000066"/>
              </a:solidFill>
              <a:ea typeface="新細明體" panose="02020500000000000000" pitchFamily="18" charset="-120"/>
            </a:endParaRPr>
          </a:p>
        </p:txBody>
      </p:sp>
      <p:sp>
        <p:nvSpPr>
          <p:cNvPr id="27664" name="Rectangle 46">
            <a:extLst>
              <a:ext uri="{FF2B5EF4-FFF2-40B4-BE49-F238E27FC236}">
                <a16:creationId xmlns:a16="http://schemas.microsoft.com/office/drawing/2014/main" id="{17FCFA3A-17E3-49A9-AC04-7281BA554ADC}"/>
              </a:ext>
            </a:extLst>
          </p:cNvPr>
          <p:cNvSpPr>
            <a:spLocks noChangeArrowheads="1"/>
          </p:cNvSpPr>
          <p:nvPr/>
        </p:nvSpPr>
        <p:spPr bwMode="auto">
          <a:xfrm>
            <a:off x="6906976" y="1967758"/>
            <a:ext cx="1746250" cy="871537"/>
          </a:xfrm>
          <a:prstGeom prst="rect">
            <a:avLst/>
          </a:prstGeom>
          <a:solidFill>
            <a:srgbClr val="F3B17F"/>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27665" name="Rectangle 47">
            <a:extLst>
              <a:ext uri="{FF2B5EF4-FFF2-40B4-BE49-F238E27FC236}">
                <a16:creationId xmlns:a16="http://schemas.microsoft.com/office/drawing/2014/main" id="{6899F335-868C-45DA-A3B8-1A06A78C6B96}"/>
              </a:ext>
            </a:extLst>
          </p:cNvPr>
          <p:cNvSpPr>
            <a:spLocks noChangeArrowheads="1"/>
          </p:cNvSpPr>
          <p:nvPr/>
        </p:nvSpPr>
        <p:spPr bwMode="auto">
          <a:xfrm>
            <a:off x="7492764" y="2170958"/>
            <a:ext cx="6842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2000" b="1">
                <a:solidFill>
                  <a:srgbClr val="000066"/>
                </a:solidFill>
                <a:ea typeface="新細明體" panose="02020500000000000000" pitchFamily="18" charset="-120"/>
              </a:rPr>
              <a:t>Linux</a:t>
            </a:r>
          </a:p>
        </p:txBody>
      </p:sp>
      <p:sp>
        <p:nvSpPr>
          <p:cNvPr id="27666" name="Rectangle 48">
            <a:extLst>
              <a:ext uri="{FF2B5EF4-FFF2-40B4-BE49-F238E27FC236}">
                <a16:creationId xmlns:a16="http://schemas.microsoft.com/office/drawing/2014/main" id="{1B99D174-323C-4B5A-834C-6CF3E014CC9A}"/>
              </a:ext>
            </a:extLst>
          </p:cNvPr>
          <p:cNvSpPr>
            <a:spLocks noChangeArrowheads="1"/>
          </p:cNvSpPr>
          <p:nvPr/>
        </p:nvSpPr>
        <p:spPr bwMode="auto">
          <a:xfrm>
            <a:off x="7327664" y="2402732"/>
            <a:ext cx="10350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Application</a:t>
            </a:r>
            <a:endParaRPr lang="en-US" altLang="zh-TW" sz="2000" b="1">
              <a:solidFill>
                <a:srgbClr val="000066"/>
              </a:solidFill>
              <a:ea typeface="新細明體" panose="02020500000000000000" pitchFamily="18" charset="-120"/>
            </a:endParaRPr>
          </a:p>
        </p:txBody>
      </p:sp>
      <p:sp>
        <p:nvSpPr>
          <p:cNvPr id="27667" name="Rectangle 49">
            <a:extLst>
              <a:ext uri="{FF2B5EF4-FFF2-40B4-BE49-F238E27FC236}">
                <a16:creationId xmlns:a16="http://schemas.microsoft.com/office/drawing/2014/main" id="{01409466-4E32-448C-804F-4C406F952495}"/>
              </a:ext>
            </a:extLst>
          </p:cNvPr>
          <p:cNvSpPr>
            <a:spLocks noChangeArrowheads="1"/>
          </p:cNvSpPr>
          <p:nvPr/>
        </p:nvSpPr>
        <p:spPr bwMode="auto">
          <a:xfrm>
            <a:off x="6906976" y="2839294"/>
            <a:ext cx="1746250" cy="871538"/>
          </a:xfrm>
          <a:prstGeom prst="rect">
            <a:avLst/>
          </a:prstGeom>
          <a:solidFill>
            <a:srgbClr val="33CCFF"/>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27668" name="Rectangle 50">
            <a:extLst>
              <a:ext uri="{FF2B5EF4-FFF2-40B4-BE49-F238E27FC236}">
                <a16:creationId xmlns:a16="http://schemas.microsoft.com/office/drawing/2014/main" id="{AF1935D5-1884-410D-84B0-25ECABBC649F}"/>
              </a:ext>
            </a:extLst>
          </p:cNvPr>
          <p:cNvSpPr>
            <a:spLocks noChangeArrowheads="1"/>
          </p:cNvSpPr>
          <p:nvPr/>
        </p:nvSpPr>
        <p:spPr bwMode="auto">
          <a:xfrm>
            <a:off x="7170501" y="3158383"/>
            <a:ext cx="13477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2400" b="1">
                <a:solidFill>
                  <a:srgbClr val="000000"/>
                </a:solidFill>
                <a:ea typeface="新細明體" panose="02020500000000000000" pitchFamily="18" charset="-120"/>
              </a:rPr>
              <a:t>Linux OS</a:t>
            </a:r>
            <a:endParaRPr lang="en-US" altLang="zh-TW" sz="2400" b="1">
              <a:solidFill>
                <a:srgbClr val="000066"/>
              </a:solidFill>
              <a:ea typeface="新細明體" panose="02020500000000000000" pitchFamily="18" charset="-120"/>
            </a:endParaRPr>
          </a:p>
        </p:txBody>
      </p:sp>
      <p:sp>
        <p:nvSpPr>
          <p:cNvPr id="27669" name="Rectangle 51">
            <a:extLst>
              <a:ext uri="{FF2B5EF4-FFF2-40B4-BE49-F238E27FC236}">
                <a16:creationId xmlns:a16="http://schemas.microsoft.com/office/drawing/2014/main" id="{C1D9B6E2-06C2-4B8D-A967-56263DF77DD3}"/>
              </a:ext>
            </a:extLst>
          </p:cNvPr>
          <p:cNvSpPr>
            <a:spLocks noChangeArrowheads="1"/>
          </p:cNvSpPr>
          <p:nvPr/>
        </p:nvSpPr>
        <p:spPr bwMode="auto">
          <a:xfrm>
            <a:off x="4868626" y="5163394"/>
            <a:ext cx="1746250" cy="871538"/>
          </a:xfrm>
          <a:prstGeom prst="rect">
            <a:avLst/>
          </a:prstGeom>
          <a:solidFill>
            <a:srgbClr val="FFFF99"/>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27670" name="Rectangle 52">
            <a:extLst>
              <a:ext uri="{FF2B5EF4-FFF2-40B4-BE49-F238E27FC236}">
                <a16:creationId xmlns:a16="http://schemas.microsoft.com/office/drawing/2014/main" id="{4A6D68AB-A648-4893-BACD-2DAFBDC33BAA}"/>
              </a:ext>
            </a:extLst>
          </p:cNvPr>
          <p:cNvSpPr>
            <a:spLocks noChangeArrowheads="1"/>
          </p:cNvSpPr>
          <p:nvPr/>
        </p:nvSpPr>
        <p:spPr bwMode="auto">
          <a:xfrm>
            <a:off x="5419489" y="5366594"/>
            <a:ext cx="762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Intel x86</a:t>
            </a:r>
            <a:endParaRPr lang="en-US" altLang="zh-TW" sz="2000" b="1">
              <a:solidFill>
                <a:srgbClr val="000066"/>
              </a:solidFill>
              <a:ea typeface="新細明體" panose="02020500000000000000" pitchFamily="18" charset="-120"/>
            </a:endParaRPr>
          </a:p>
        </p:txBody>
      </p:sp>
      <p:sp>
        <p:nvSpPr>
          <p:cNvPr id="27671" name="Rectangle 53">
            <a:extLst>
              <a:ext uri="{FF2B5EF4-FFF2-40B4-BE49-F238E27FC236}">
                <a16:creationId xmlns:a16="http://schemas.microsoft.com/office/drawing/2014/main" id="{3C638ACB-21CB-4623-A31D-BE0221FD4C38}"/>
              </a:ext>
            </a:extLst>
          </p:cNvPr>
          <p:cNvSpPr>
            <a:spLocks noChangeArrowheads="1"/>
          </p:cNvSpPr>
          <p:nvPr/>
        </p:nvSpPr>
        <p:spPr bwMode="auto">
          <a:xfrm>
            <a:off x="5368689" y="5599957"/>
            <a:ext cx="8699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Hardware</a:t>
            </a:r>
            <a:endParaRPr lang="en-US" altLang="zh-TW" sz="2000" b="1">
              <a:solidFill>
                <a:srgbClr val="000066"/>
              </a:solidFill>
              <a:ea typeface="新細明體" panose="02020500000000000000" pitchFamily="18" charset="-120"/>
            </a:endParaRPr>
          </a:p>
        </p:txBody>
      </p:sp>
      <p:sp>
        <p:nvSpPr>
          <p:cNvPr id="27672" name="Line 54">
            <a:extLst>
              <a:ext uri="{FF2B5EF4-FFF2-40B4-BE49-F238E27FC236}">
                <a16:creationId xmlns:a16="http://schemas.microsoft.com/office/drawing/2014/main" id="{E739E245-9496-4C37-A5E8-F1A51BFACDFF}"/>
              </a:ext>
            </a:extLst>
          </p:cNvPr>
          <p:cNvSpPr>
            <a:spLocks noChangeShapeType="1"/>
          </p:cNvSpPr>
          <p:nvPr/>
        </p:nvSpPr>
        <p:spPr bwMode="auto">
          <a:xfrm>
            <a:off x="3701815" y="4588719"/>
            <a:ext cx="1323975" cy="5222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3" name="Freeform 55">
            <a:extLst>
              <a:ext uri="{FF2B5EF4-FFF2-40B4-BE49-F238E27FC236}">
                <a16:creationId xmlns:a16="http://schemas.microsoft.com/office/drawing/2014/main" id="{DD0E3368-D165-49B8-AEB8-D8C45C5E8F39}"/>
              </a:ext>
            </a:extLst>
          </p:cNvPr>
          <p:cNvSpPr>
            <a:spLocks/>
          </p:cNvSpPr>
          <p:nvPr/>
        </p:nvSpPr>
        <p:spPr bwMode="auto">
          <a:xfrm>
            <a:off x="4994039" y="5057032"/>
            <a:ext cx="163512" cy="106362"/>
          </a:xfrm>
          <a:custGeom>
            <a:avLst/>
            <a:gdLst>
              <a:gd name="T0" fmla="*/ 2147483646 w 207"/>
              <a:gd name="T1" fmla="*/ 0 h 134"/>
              <a:gd name="T2" fmla="*/ 2147483646 w 207"/>
              <a:gd name="T3" fmla="*/ 2147483646 h 134"/>
              <a:gd name="T4" fmla="*/ 0 w 207"/>
              <a:gd name="T5" fmla="*/ 2147483646 h 134"/>
              <a:gd name="T6" fmla="*/ 2147483646 w 207"/>
              <a:gd name="T7" fmla="*/ 0 h 134"/>
              <a:gd name="T8" fmla="*/ 0 60000 65536"/>
              <a:gd name="T9" fmla="*/ 0 60000 65536"/>
              <a:gd name="T10" fmla="*/ 0 60000 65536"/>
              <a:gd name="T11" fmla="*/ 0 60000 65536"/>
              <a:gd name="T12" fmla="*/ 0 w 207"/>
              <a:gd name="T13" fmla="*/ 0 h 134"/>
              <a:gd name="T14" fmla="*/ 207 w 207"/>
              <a:gd name="T15" fmla="*/ 134 h 134"/>
            </a:gdLst>
            <a:ahLst/>
            <a:cxnLst>
              <a:cxn ang="T8">
                <a:pos x="T0" y="T1"/>
              </a:cxn>
              <a:cxn ang="T9">
                <a:pos x="T2" y="T3"/>
              </a:cxn>
              <a:cxn ang="T10">
                <a:pos x="T4" y="T5"/>
              </a:cxn>
              <a:cxn ang="T11">
                <a:pos x="T6" y="T7"/>
              </a:cxn>
            </a:cxnLst>
            <a:rect l="T12" t="T13" r="T14" b="T15"/>
            <a:pathLst>
              <a:path w="207" h="134">
                <a:moveTo>
                  <a:pt x="47" y="0"/>
                </a:moveTo>
                <a:lnTo>
                  <a:pt x="207" y="134"/>
                </a:lnTo>
                <a:lnTo>
                  <a:pt x="0" y="123"/>
                </a:lnTo>
                <a:lnTo>
                  <a:pt x="4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4" name="Line 56">
            <a:extLst>
              <a:ext uri="{FF2B5EF4-FFF2-40B4-BE49-F238E27FC236}">
                <a16:creationId xmlns:a16="http://schemas.microsoft.com/office/drawing/2014/main" id="{6A7E1422-D44A-4962-B266-E1C02315A920}"/>
              </a:ext>
            </a:extLst>
          </p:cNvPr>
          <p:cNvSpPr>
            <a:spLocks noChangeShapeType="1"/>
          </p:cNvSpPr>
          <p:nvPr/>
        </p:nvSpPr>
        <p:spPr bwMode="auto">
          <a:xfrm>
            <a:off x="5741751" y="4588720"/>
            <a:ext cx="1588" cy="43021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5" name="Freeform 57">
            <a:extLst>
              <a:ext uri="{FF2B5EF4-FFF2-40B4-BE49-F238E27FC236}">
                <a16:creationId xmlns:a16="http://schemas.microsoft.com/office/drawing/2014/main" id="{BE603532-CE4C-4A8F-B2F2-B9BBDD8ECB93}"/>
              </a:ext>
            </a:extLst>
          </p:cNvPr>
          <p:cNvSpPr>
            <a:spLocks/>
          </p:cNvSpPr>
          <p:nvPr/>
        </p:nvSpPr>
        <p:spPr bwMode="auto">
          <a:xfrm>
            <a:off x="5689365" y="5007820"/>
            <a:ext cx="103187" cy="155575"/>
          </a:xfrm>
          <a:custGeom>
            <a:avLst/>
            <a:gdLst>
              <a:gd name="T0" fmla="*/ 2147483646 w 131"/>
              <a:gd name="T1" fmla="*/ 0 h 197"/>
              <a:gd name="T2" fmla="*/ 2147483646 w 131"/>
              <a:gd name="T3" fmla="*/ 2147483646 h 197"/>
              <a:gd name="T4" fmla="*/ 0 w 131"/>
              <a:gd name="T5" fmla="*/ 0 h 197"/>
              <a:gd name="T6" fmla="*/ 2147483646 w 131"/>
              <a:gd name="T7" fmla="*/ 0 h 197"/>
              <a:gd name="T8" fmla="*/ 0 60000 65536"/>
              <a:gd name="T9" fmla="*/ 0 60000 65536"/>
              <a:gd name="T10" fmla="*/ 0 60000 65536"/>
              <a:gd name="T11" fmla="*/ 0 60000 65536"/>
              <a:gd name="T12" fmla="*/ 0 w 131"/>
              <a:gd name="T13" fmla="*/ 0 h 197"/>
              <a:gd name="T14" fmla="*/ 131 w 131"/>
              <a:gd name="T15" fmla="*/ 197 h 197"/>
            </a:gdLst>
            <a:ahLst/>
            <a:cxnLst>
              <a:cxn ang="T8">
                <a:pos x="T0" y="T1"/>
              </a:cxn>
              <a:cxn ang="T9">
                <a:pos x="T2" y="T3"/>
              </a:cxn>
              <a:cxn ang="T10">
                <a:pos x="T4" y="T5"/>
              </a:cxn>
              <a:cxn ang="T11">
                <a:pos x="T6" y="T7"/>
              </a:cxn>
            </a:cxnLst>
            <a:rect l="T12" t="T13" r="T14" b="T15"/>
            <a:pathLst>
              <a:path w="131" h="197">
                <a:moveTo>
                  <a:pt x="131" y="0"/>
                </a:moveTo>
                <a:lnTo>
                  <a:pt x="65" y="197"/>
                </a:lnTo>
                <a:lnTo>
                  <a:pt x="0" y="0"/>
                </a:lnTo>
                <a:lnTo>
                  <a:pt x="1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6" name="Line 58">
            <a:extLst>
              <a:ext uri="{FF2B5EF4-FFF2-40B4-BE49-F238E27FC236}">
                <a16:creationId xmlns:a16="http://schemas.microsoft.com/office/drawing/2014/main" id="{EBEF4C3C-B66C-4DD1-93BD-71A28F0BF6D2}"/>
              </a:ext>
            </a:extLst>
          </p:cNvPr>
          <p:cNvSpPr>
            <a:spLocks noChangeShapeType="1"/>
          </p:cNvSpPr>
          <p:nvPr/>
        </p:nvSpPr>
        <p:spPr bwMode="auto">
          <a:xfrm flipH="1">
            <a:off x="6457715" y="4595069"/>
            <a:ext cx="1322387" cy="51593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7" name="Freeform 59">
            <a:extLst>
              <a:ext uri="{FF2B5EF4-FFF2-40B4-BE49-F238E27FC236}">
                <a16:creationId xmlns:a16="http://schemas.microsoft.com/office/drawing/2014/main" id="{6B2C49F2-7550-4EFD-ACD5-83B856AD6AB7}"/>
              </a:ext>
            </a:extLst>
          </p:cNvPr>
          <p:cNvSpPr>
            <a:spLocks/>
          </p:cNvSpPr>
          <p:nvPr/>
        </p:nvSpPr>
        <p:spPr bwMode="auto">
          <a:xfrm>
            <a:off x="6324364" y="5058620"/>
            <a:ext cx="165100" cy="104775"/>
          </a:xfrm>
          <a:custGeom>
            <a:avLst/>
            <a:gdLst>
              <a:gd name="T0" fmla="*/ 2147483646 w 208"/>
              <a:gd name="T1" fmla="*/ 2147483646 h 133"/>
              <a:gd name="T2" fmla="*/ 0 w 208"/>
              <a:gd name="T3" fmla="*/ 2147483646 h 133"/>
              <a:gd name="T4" fmla="*/ 2147483646 w 208"/>
              <a:gd name="T5" fmla="*/ 0 h 133"/>
              <a:gd name="T6" fmla="*/ 2147483646 w 208"/>
              <a:gd name="T7" fmla="*/ 2147483646 h 133"/>
              <a:gd name="T8" fmla="*/ 0 60000 65536"/>
              <a:gd name="T9" fmla="*/ 0 60000 65536"/>
              <a:gd name="T10" fmla="*/ 0 60000 65536"/>
              <a:gd name="T11" fmla="*/ 0 60000 65536"/>
              <a:gd name="T12" fmla="*/ 0 w 208"/>
              <a:gd name="T13" fmla="*/ 0 h 133"/>
              <a:gd name="T14" fmla="*/ 208 w 208"/>
              <a:gd name="T15" fmla="*/ 133 h 133"/>
            </a:gdLst>
            <a:ahLst/>
            <a:cxnLst>
              <a:cxn ang="T8">
                <a:pos x="T0" y="T1"/>
              </a:cxn>
              <a:cxn ang="T9">
                <a:pos x="T2" y="T3"/>
              </a:cxn>
              <a:cxn ang="T10">
                <a:pos x="T4" y="T5"/>
              </a:cxn>
              <a:cxn ang="T11">
                <a:pos x="T6" y="T7"/>
              </a:cxn>
            </a:cxnLst>
            <a:rect l="T12" t="T13" r="T14" b="T15"/>
            <a:pathLst>
              <a:path w="208" h="133">
                <a:moveTo>
                  <a:pt x="208" y="122"/>
                </a:moveTo>
                <a:lnTo>
                  <a:pt x="0" y="133"/>
                </a:lnTo>
                <a:lnTo>
                  <a:pt x="160" y="0"/>
                </a:lnTo>
                <a:lnTo>
                  <a:pt x="208" y="1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8" name="Rectangle 60">
            <a:extLst>
              <a:ext uri="{FF2B5EF4-FFF2-40B4-BE49-F238E27FC236}">
                <a16:creationId xmlns:a16="http://schemas.microsoft.com/office/drawing/2014/main" id="{D6E3617F-BE96-4C8D-9F98-F563333D60B7}"/>
              </a:ext>
            </a:extLst>
          </p:cNvPr>
          <p:cNvSpPr>
            <a:spLocks noChangeArrowheads="1"/>
          </p:cNvSpPr>
          <p:nvPr/>
        </p:nvSpPr>
        <p:spPr bwMode="auto">
          <a:xfrm>
            <a:off x="2828690" y="3717183"/>
            <a:ext cx="1747837" cy="871537"/>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27679" name="Rectangle 61">
            <a:extLst>
              <a:ext uri="{FF2B5EF4-FFF2-40B4-BE49-F238E27FC236}">
                <a16:creationId xmlns:a16="http://schemas.microsoft.com/office/drawing/2014/main" id="{B5E28F84-606E-46F3-A171-363D4D208491}"/>
              </a:ext>
            </a:extLst>
          </p:cNvPr>
          <p:cNvSpPr>
            <a:spLocks noChangeArrowheads="1"/>
          </p:cNvSpPr>
          <p:nvPr/>
        </p:nvSpPr>
        <p:spPr bwMode="auto">
          <a:xfrm>
            <a:off x="3073165" y="4036269"/>
            <a:ext cx="14065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Virtual Intel x86</a:t>
            </a:r>
            <a:endParaRPr lang="en-US" altLang="zh-TW" sz="2000" b="1">
              <a:solidFill>
                <a:srgbClr val="000066"/>
              </a:solidFill>
              <a:ea typeface="新細明體" panose="02020500000000000000" pitchFamily="18" charset="-120"/>
            </a:endParaRPr>
          </a:p>
        </p:txBody>
      </p:sp>
      <p:sp>
        <p:nvSpPr>
          <p:cNvPr id="27680" name="Rectangle 62">
            <a:extLst>
              <a:ext uri="{FF2B5EF4-FFF2-40B4-BE49-F238E27FC236}">
                <a16:creationId xmlns:a16="http://schemas.microsoft.com/office/drawing/2014/main" id="{3EE04581-336C-441F-A65E-2BA13BC46E38}"/>
              </a:ext>
            </a:extLst>
          </p:cNvPr>
          <p:cNvSpPr>
            <a:spLocks noChangeArrowheads="1"/>
          </p:cNvSpPr>
          <p:nvPr/>
        </p:nvSpPr>
        <p:spPr bwMode="auto">
          <a:xfrm>
            <a:off x="4868626" y="3717183"/>
            <a:ext cx="1746250" cy="871537"/>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27681" name="Rectangle 63">
            <a:extLst>
              <a:ext uri="{FF2B5EF4-FFF2-40B4-BE49-F238E27FC236}">
                <a16:creationId xmlns:a16="http://schemas.microsoft.com/office/drawing/2014/main" id="{54941333-404E-4762-8116-EDDC23E606AE}"/>
              </a:ext>
            </a:extLst>
          </p:cNvPr>
          <p:cNvSpPr>
            <a:spLocks noChangeArrowheads="1"/>
          </p:cNvSpPr>
          <p:nvPr/>
        </p:nvSpPr>
        <p:spPr bwMode="auto">
          <a:xfrm>
            <a:off x="5111515" y="4036269"/>
            <a:ext cx="14065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Virtual Intel x86</a:t>
            </a:r>
            <a:endParaRPr lang="en-US" altLang="zh-TW" sz="2000" b="1">
              <a:solidFill>
                <a:srgbClr val="000066"/>
              </a:solidFill>
              <a:ea typeface="新細明體" panose="02020500000000000000" pitchFamily="18" charset="-120"/>
            </a:endParaRPr>
          </a:p>
        </p:txBody>
      </p:sp>
      <p:sp>
        <p:nvSpPr>
          <p:cNvPr id="27682" name="Rectangle 64">
            <a:extLst>
              <a:ext uri="{FF2B5EF4-FFF2-40B4-BE49-F238E27FC236}">
                <a16:creationId xmlns:a16="http://schemas.microsoft.com/office/drawing/2014/main" id="{CD753437-3525-412A-AEE1-8013066CD0C2}"/>
              </a:ext>
            </a:extLst>
          </p:cNvPr>
          <p:cNvSpPr>
            <a:spLocks noChangeArrowheads="1"/>
          </p:cNvSpPr>
          <p:nvPr/>
        </p:nvSpPr>
        <p:spPr bwMode="auto">
          <a:xfrm>
            <a:off x="6906976" y="3721945"/>
            <a:ext cx="1746250" cy="873125"/>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27683" name="Rectangle 65">
            <a:extLst>
              <a:ext uri="{FF2B5EF4-FFF2-40B4-BE49-F238E27FC236}">
                <a16:creationId xmlns:a16="http://schemas.microsoft.com/office/drawing/2014/main" id="{C099EAEB-7D96-4218-8515-5956743AAE48}"/>
              </a:ext>
            </a:extLst>
          </p:cNvPr>
          <p:cNvSpPr>
            <a:spLocks noChangeArrowheads="1"/>
          </p:cNvSpPr>
          <p:nvPr/>
        </p:nvSpPr>
        <p:spPr bwMode="auto">
          <a:xfrm>
            <a:off x="7149865" y="4041032"/>
            <a:ext cx="14065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Virtual Intel x86</a:t>
            </a:r>
            <a:endParaRPr lang="en-US" altLang="zh-TW" sz="2000" b="1">
              <a:solidFill>
                <a:srgbClr val="000066"/>
              </a:solidFill>
              <a:ea typeface="新細明體" panose="02020500000000000000" pitchFamily="18" charset="-120"/>
            </a:endParaRPr>
          </a:p>
        </p:txBody>
      </p:sp>
      <p:sp>
        <p:nvSpPr>
          <p:cNvPr id="27684" name="Rectangle 51">
            <a:extLst>
              <a:ext uri="{FF2B5EF4-FFF2-40B4-BE49-F238E27FC236}">
                <a16:creationId xmlns:a16="http://schemas.microsoft.com/office/drawing/2014/main" id="{E2BA1729-EC29-4868-82C2-A35DCFE6A587}"/>
              </a:ext>
            </a:extLst>
          </p:cNvPr>
          <p:cNvSpPr>
            <a:spLocks noChangeArrowheads="1"/>
          </p:cNvSpPr>
          <p:nvPr/>
        </p:nvSpPr>
        <p:spPr bwMode="auto">
          <a:xfrm>
            <a:off x="3102313" y="5142756"/>
            <a:ext cx="1746250" cy="871538"/>
          </a:xfrm>
          <a:prstGeom prst="rect">
            <a:avLst/>
          </a:prstGeom>
          <a:solidFill>
            <a:srgbClr val="FFFF99"/>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a:p>
            <a:pPr algn="ctr" eaLnBrk="1" hangingPunct="1">
              <a:spcBef>
                <a:spcPct val="0"/>
              </a:spcBef>
              <a:buClrTx/>
              <a:buFontTx/>
              <a:buNone/>
            </a:pPr>
            <a:r>
              <a:rPr lang="en-US" altLang="zh-TW" sz="2000">
                <a:solidFill>
                  <a:srgbClr val="000066"/>
                </a:solidFill>
                <a:ea typeface="新細明體" panose="02020500000000000000" pitchFamily="18" charset="-120"/>
              </a:rPr>
              <a:t>Memory</a:t>
            </a:r>
            <a:endParaRPr lang="zh-TW" altLang="en-US" sz="2000">
              <a:solidFill>
                <a:srgbClr val="000066"/>
              </a:solidFill>
              <a:ea typeface="新細明體" panose="02020500000000000000" pitchFamily="18" charset="-120"/>
            </a:endParaRPr>
          </a:p>
        </p:txBody>
      </p:sp>
      <p:sp>
        <p:nvSpPr>
          <p:cNvPr id="27685" name="Rectangle 51">
            <a:extLst>
              <a:ext uri="{FF2B5EF4-FFF2-40B4-BE49-F238E27FC236}">
                <a16:creationId xmlns:a16="http://schemas.microsoft.com/office/drawing/2014/main" id="{03C8B7F2-8301-4419-9A0C-3293E506C926}"/>
              </a:ext>
            </a:extLst>
          </p:cNvPr>
          <p:cNvSpPr>
            <a:spLocks noChangeArrowheads="1"/>
          </p:cNvSpPr>
          <p:nvPr/>
        </p:nvSpPr>
        <p:spPr bwMode="auto">
          <a:xfrm>
            <a:off x="6627019" y="5142756"/>
            <a:ext cx="1746250" cy="871538"/>
          </a:xfrm>
          <a:prstGeom prst="rect">
            <a:avLst/>
          </a:prstGeom>
          <a:solidFill>
            <a:srgbClr val="FFFF99"/>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a:p>
            <a:pPr algn="ctr" eaLnBrk="1" hangingPunct="1">
              <a:spcBef>
                <a:spcPct val="0"/>
              </a:spcBef>
              <a:buClrTx/>
              <a:buFontTx/>
              <a:buNone/>
            </a:pPr>
            <a:r>
              <a:rPr lang="en-US" altLang="zh-TW" sz="2000">
                <a:solidFill>
                  <a:srgbClr val="000066"/>
                </a:solidFill>
                <a:ea typeface="新細明體" panose="02020500000000000000" pitchFamily="18" charset="-120"/>
              </a:rPr>
              <a:t>I/O devices</a:t>
            </a:r>
            <a:endParaRPr lang="zh-TW" altLang="en-US" sz="2000">
              <a:solidFill>
                <a:srgbClr val="000066"/>
              </a:solidFill>
              <a:ea typeface="新細明體" panose="02020500000000000000" pitchFamily="18" charset="-120"/>
            </a:endParaRPr>
          </a:p>
        </p:txBody>
      </p:sp>
      <p:sp>
        <p:nvSpPr>
          <p:cNvPr id="27686" name="Rectangle 42">
            <a:extLst>
              <a:ext uri="{FF2B5EF4-FFF2-40B4-BE49-F238E27FC236}">
                <a16:creationId xmlns:a16="http://schemas.microsoft.com/office/drawing/2014/main" id="{23F3AFF9-ED36-4875-BB56-5C3C55BBE6E4}"/>
              </a:ext>
            </a:extLst>
          </p:cNvPr>
          <p:cNvSpPr>
            <a:spLocks noChangeArrowheads="1"/>
          </p:cNvSpPr>
          <p:nvPr/>
        </p:nvSpPr>
        <p:spPr bwMode="auto">
          <a:xfrm>
            <a:off x="3424002" y="2145558"/>
            <a:ext cx="684213"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2000" b="1">
                <a:solidFill>
                  <a:srgbClr val="000066"/>
                </a:solidFill>
                <a:ea typeface="新細明體" panose="02020500000000000000" pitchFamily="18" charset="-120"/>
              </a:rPr>
              <a:t>Linux</a:t>
            </a:r>
          </a:p>
        </p:txBody>
      </p:sp>
      <p:sp>
        <p:nvSpPr>
          <p:cNvPr id="2" name="Rectangle 1">
            <a:extLst>
              <a:ext uri="{FF2B5EF4-FFF2-40B4-BE49-F238E27FC236}">
                <a16:creationId xmlns:a16="http://schemas.microsoft.com/office/drawing/2014/main" id="{34E43CD4-FB73-48EF-A1AC-FEF686D16A8D}"/>
              </a:ext>
            </a:extLst>
          </p:cNvPr>
          <p:cNvSpPr/>
          <p:nvPr/>
        </p:nvSpPr>
        <p:spPr bwMode="auto">
          <a:xfrm>
            <a:off x="8265877" y="4717308"/>
            <a:ext cx="1903413" cy="1279525"/>
          </a:xfrm>
          <a:prstGeom prst="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zh-TW" b="1">
                <a:solidFill>
                  <a:srgbClr val="2F2FFF"/>
                </a:solidFill>
                <a:ea typeface="新細明體" panose="02020500000000000000" pitchFamily="18" charset="-120"/>
              </a:rPr>
              <a:t>For Isolation,</a:t>
            </a:r>
          </a:p>
          <a:p>
            <a:pPr>
              <a:defRPr/>
            </a:pPr>
            <a:r>
              <a:rPr lang="en-US" altLang="zh-TW" b="1">
                <a:solidFill>
                  <a:srgbClr val="2F2FFF"/>
                </a:solidFill>
                <a:ea typeface="新細明體" panose="02020500000000000000" pitchFamily="18" charset="-120"/>
              </a:rPr>
              <a:t>Protection, Encapsulation,</a:t>
            </a:r>
          </a:p>
          <a:p>
            <a:pPr>
              <a:defRPr/>
            </a:pPr>
            <a:r>
              <a:rPr lang="en-US" altLang="zh-TW" b="1">
                <a:solidFill>
                  <a:srgbClr val="2F2FFF"/>
                </a:solidFill>
                <a:ea typeface="新細明體" panose="02020500000000000000" pitchFamily="18" charset="-120"/>
              </a:rPr>
              <a:t>Migration,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日期版面配置區 4">
            <a:extLst>
              <a:ext uri="{FF2B5EF4-FFF2-40B4-BE49-F238E27FC236}">
                <a16:creationId xmlns:a16="http://schemas.microsoft.com/office/drawing/2014/main" id="{B1702D4D-B223-4AB8-A6FB-7990B04C538C}"/>
              </a:ext>
            </a:extLst>
          </p:cNvPr>
          <p:cNvSpPr>
            <a:spLocks noGrp="1"/>
          </p:cNvSpPr>
          <p:nvPr>
            <p:ph type="dt" sz="quarter" idx="10"/>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spcBef>
                <a:spcPct val="20000"/>
              </a:spcBef>
              <a:buClr>
                <a:schemeClr val="tx1"/>
              </a:buClr>
              <a:buSzPct val="70000"/>
              <a:buFont typeface="Wingdings" panose="05000000000000000000" pitchFamily="2" charset="2"/>
              <a:buChar char="q"/>
              <a:defRPr sz="2800" b="1">
                <a:solidFill>
                  <a:schemeClr val="tx1"/>
                </a:solidFill>
                <a:latin typeface="Arial" panose="020B0604020202020204" pitchFamily="34" charset="0"/>
              </a:defRPr>
            </a:lvl1pPr>
            <a:lvl2pPr marL="742950" indent="-285750" defTabSz="958850">
              <a:spcBef>
                <a:spcPct val="20000"/>
              </a:spcBef>
              <a:buClr>
                <a:schemeClr val="tx1"/>
              </a:buClr>
              <a:buSzPct val="65000"/>
              <a:buChar char="•"/>
              <a:defRPr sz="2500">
                <a:solidFill>
                  <a:schemeClr val="tx1"/>
                </a:solidFill>
                <a:latin typeface="Arial" panose="020B0604020202020204" pitchFamily="34" charset="0"/>
              </a:defRPr>
            </a:lvl2pPr>
            <a:lvl3pPr marL="1143000" indent="-228600" defTabSz="958850">
              <a:spcBef>
                <a:spcPct val="20000"/>
              </a:spcBef>
              <a:buClr>
                <a:schemeClr val="tx1"/>
              </a:buClr>
              <a:buSzPct val="65000"/>
              <a:buFont typeface="Wingdings" panose="05000000000000000000" pitchFamily="2" charset="2"/>
              <a:buChar char="•"/>
              <a:defRPr sz="2500">
                <a:solidFill>
                  <a:schemeClr val="tx1"/>
                </a:solidFill>
                <a:latin typeface="Arial" panose="020B0604020202020204" pitchFamily="34" charset="0"/>
              </a:defRPr>
            </a:lvl3pPr>
            <a:lvl4pPr marL="1600200" indent="-228600" defTabSz="958850">
              <a:spcBef>
                <a:spcPct val="20000"/>
              </a:spcBef>
              <a:buClr>
                <a:schemeClr val="tx2"/>
              </a:buClr>
              <a:buSzPct val="75000"/>
              <a:buFont typeface="Wingdings" panose="05000000000000000000" pitchFamily="2" charset="2"/>
              <a:buChar char="–"/>
              <a:defRPr sz="2100">
                <a:solidFill>
                  <a:schemeClr val="tx1"/>
                </a:solidFill>
                <a:latin typeface="Arial" panose="020B0604020202020204" pitchFamily="34" charset="0"/>
              </a:defRPr>
            </a:lvl4pPr>
            <a:lvl5pPr marL="2057400" indent="-228600" defTabSz="958850">
              <a:spcBef>
                <a:spcPct val="20000"/>
              </a:spcBef>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9pPr>
          </a:lstStyle>
          <a:p>
            <a:pPr>
              <a:spcBef>
                <a:spcPct val="0"/>
              </a:spcBef>
              <a:buClrTx/>
              <a:buSzTx/>
              <a:buFontTx/>
              <a:buNone/>
              <a:defRPr/>
            </a:pPr>
            <a:endParaRPr lang="en-US" altLang="zh-TW" sz="1500" b="0" dirty="0"/>
          </a:p>
        </p:txBody>
      </p:sp>
      <p:sp>
        <p:nvSpPr>
          <p:cNvPr id="15363" name="投影片編號版面配置區 6">
            <a:extLst>
              <a:ext uri="{FF2B5EF4-FFF2-40B4-BE49-F238E27FC236}">
                <a16:creationId xmlns:a16="http://schemas.microsoft.com/office/drawing/2014/main" id="{75211782-A898-4E8C-BA27-322208145CD3}"/>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defTabSz="958850">
              <a:spcBef>
                <a:spcPct val="20000"/>
              </a:spcBef>
              <a:buChar char="–"/>
              <a:defRPr sz="2800">
                <a:solidFill>
                  <a:schemeClr val="tx1"/>
                </a:solidFill>
                <a:latin typeface="Arial" panose="020B0604020202020204" pitchFamily="34" charset="0"/>
              </a:defRPr>
            </a:lvl2pPr>
            <a:lvl3pPr marL="1143000" indent="-228600" defTabSz="95885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defTabSz="958850">
              <a:spcBef>
                <a:spcPct val="20000"/>
              </a:spcBef>
              <a:buChar char="–"/>
              <a:defRPr sz="2000">
                <a:solidFill>
                  <a:schemeClr val="tx1"/>
                </a:solidFill>
                <a:latin typeface="Arial" panose="020B0604020202020204" pitchFamily="34" charset="0"/>
              </a:defRPr>
            </a:lvl4pPr>
            <a:lvl5pPr marL="2057400" indent="-228600" defTabSz="95885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FontTx/>
              <a:buNone/>
            </a:pPr>
            <a:fld id="{AA1F635F-C553-457B-9D0D-622A8327142A}" type="slidenum">
              <a:rPr lang="en-US" altLang="zh-TW" sz="1200"/>
              <a:pPr>
                <a:spcBef>
                  <a:spcPct val="0"/>
                </a:spcBef>
                <a:buClrTx/>
                <a:buFontTx/>
                <a:buNone/>
              </a:pPr>
              <a:t>43</a:t>
            </a:fld>
            <a:endParaRPr lang="en-US" altLang="zh-TW" sz="1200"/>
          </a:p>
        </p:txBody>
      </p:sp>
      <p:sp>
        <p:nvSpPr>
          <p:cNvPr id="457730" name="Rectangle 2">
            <a:extLst>
              <a:ext uri="{FF2B5EF4-FFF2-40B4-BE49-F238E27FC236}">
                <a16:creationId xmlns:a16="http://schemas.microsoft.com/office/drawing/2014/main" id="{3BC473E5-D779-4BB6-B4DB-78877879EC9D}"/>
              </a:ext>
            </a:extLst>
          </p:cNvPr>
          <p:cNvSpPr>
            <a:spLocks noGrp="1" noChangeArrowheads="1"/>
          </p:cNvSpPr>
          <p:nvPr>
            <p:ph type="title"/>
          </p:nvPr>
        </p:nvSpPr>
        <p:spPr>
          <a:xfrm>
            <a:off x="1895971" y="73817"/>
            <a:ext cx="8637588" cy="620713"/>
          </a:xfrm>
        </p:spPr>
        <p:txBody>
          <a:bodyPr/>
          <a:lstStyle/>
          <a:p>
            <a:pPr eaLnBrk="1" hangingPunct="1">
              <a:defRPr/>
            </a:pPr>
            <a:r>
              <a:rPr lang="en-US" altLang="zh-TW" sz="4000" dirty="0">
                <a:ea typeface="新細明體" charset="-120"/>
              </a:rPr>
              <a:t>Efficient Virtualization of System VM</a:t>
            </a:r>
          </a:p>
        </p:txBody>
      </p:sp>
      <p:sp>
        <p:nvSpPr>
          <p:cNvPr id="15365" name="Rectangle 3">
            <a:extLst>
              <a:ext uri="{FF2B5EF4-FFF2-40B4-BE49-F238E27FC236}">
                <a16:creationId xmlns:a16="http://schemas.microsoft.com/office/drawing/2014/main" id="{5D150ADC-F585-4F8F-8AF7-3BC0385FCE65}"/>
              </a:ext>
            </a:extLst>
          </p:cNvPr>
          <p:cNvSpPr>
            <a:spLocks noGrp="1" noChangeArrowheads="1"/>
          </p:cNvSpPr>
          <p:nvPr>
            <p:ph type="body" sz="half" idx="1"/>
          </p:nvPr>
        </p:nvSpPr>
        <p:spPr>
          <a:xfrm>
            <a:off x="1784350" y="1022351"/>
            <a:ext cx="8207375" cy="4954587"/>
          </a:xfrm>
        </p:spPr>
        <p:txBody>
          <a:bodyPr/>
          <a:lstStyle/>
          <a:p>
            <a:pPr eaLnBrk="1" hangingPunct="1">
              <a:defRPr/>
            </a:pPr>
            <a:r>
              <a:rPr lang="en-US" altLang="zh-TW" sz="2500" dirty="0">
                <a:ea typeface="新細明體" panose="02020500000000000000" pitchFamily="18" charset="-120"/>
              </a:rPr>
              <a:t>Support multiple guest OSes on a single hardware platform; all running the </a:t>
            </a:r>
            <a:r>
              <a:rPr lang="en-US" altLang="zh-TW" sz="2500" i="1" dirty="0">
                <a:solidFill>
                  <a:srgbClr val="FF0000"/>
                </a:solidFill>
                <a:ea typeface="新細明體" panose="02020500000000000000" pitchFamily="18" charset="-120"/>
              </a:rPr>
              <a:t>same ISA</a:t>
            </a:r>
          </a:p>
        </p:txBody>
      </p:sp>
      <p:sp>
        <p:nvSpPr>
          <p:cNvPr id="35846" name="AutoShape 34">
            <a:extLst>
              <a:ext uri="{FF2B5EF4-FFF2-40B4-BE49-F238E27FC236}">
                <a16:creationId xmlns:a16="http://schemas.microsoft.com/office/drawing/2014/main" id="{98B6F9CF-A1E4-4528-9810-D1336005900A}"/>
              </a:ext>
            </a:extLst>
          </p:cNvPr>
          <p:cNvSpPr>
            <a:spLocks noChangeAspect="1" noChangeArrowheads="1" noTextEdit="1"/>
          </p:cNvSpPr>
          <p:nvPr/>
        </p:nvSpPr>
        <p:spPr bwMode="auto">
          <a:xfrm>
            <a:off x="2800351" y="1906587"/>
            <a:ext cx="5867400" cy="411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endParaRPr lang="en-US"/>
          </a:p>
        </p:txBody>
      </p:sp>
      <p:sp>
        <p:nvSpPr>
          <p:cNvPr id="35847" name="Rectangle 36">
            <a:extLst>
              <a:ext uri="{FF2B5EF4-FFF2-40B4-BE49-F238E27FC236}">
                <a16:creationId xmlns:a16="http://schemas.microsoft.com/office/drawing/2014/main" id="{465CB661-B7A1-4646-8F1A-B4C748FA9AB5}"/>
              </a:ext>
            </a:extLst>
          </p:cNvPr>
          <p:cNvSpPr>
            <a:spLocks noChangeArrowheads="1"/>
          </p:cNvSpPr>
          <p:nvPr/>
        </p:nvSpPr>
        <p:spPr bwMode="auto">
          <a:xfrm>
            <a:off x="2820990" y="1927226"/>
            <a:ext cx="1747837" cy="871537"/>
          </a:xfrm>
          <a:prstGeom prst="rect">
            <a:avLst/>
          </a:prstGeom>
          <a:solidFill>
            <a:srgbClr val="F3B17F"/>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35848" name="Rectangle 38">
            <a:extLst>
              <a:ext uri="{FF2B5EF4-FFF2-40B4-BE49-F238E27FC236}">
                <a16:creationId xmlns:a16="http://schemas.microsoft.com/office/drawing/2014/main" id="{EC43F9EE-825B-4372-A6B0-248FB22941AE}"/>
              </a:ext>
            </a:extLst>
          </p:cNvPr>
          <p:cNvSpPr>
            <a:spLocks noChangeArrowheads="1"/>
          </p:cNvSpPr>
          <p:nvPr/>
        </p:nvSpPr>
        <p:spPr bwMode="auto">
          <a:xfrm>
            <a:off x="3241676" y="2362200"/>
            <a:ext cx="10350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Application</a:t>
            </a:r>
            <a:endParaRPr lang="en-US" altLang="zh-TW" sz="2000" b="1">
              <a:solidFill>
                <a:srgbClr val="000066"/>
              </a:solidFill>
              <a:ea typeface="新細明體" panose="02020500000000000000" pitchFamily="18" charset="-120"/>
            </a:endParaRPr>
          </a:p>
        </p:txBody>
      </p:sp>
      <p:sp>
        <p:nvSpPr>
          <p:cNvPr id="35849" name="Rectangle 39">
            <a:extLst>
              <a:ext uri="{FF2B5EF4-FFF2-40B4-BE49-F238E27FC236}">
                <a16:creationId xmlns:a16="http://schemas.microsoft.com/office/drawing/2014/main" id="{219C829E-1C9C-4FA5-A4B1-8B14543DF740}"/>
              </a:ext>
            </a:extLst>
          </p:cNvPr>
          <p:cNvSpPr>
            <a:spLocks noChangeArrowheads="1"/>
          </p:cNvSpPr>
          <p:nvPr/>
        </p:nvSpPr>
        <p:spPr bwMode="auto">
          <a:xfrm>
            <a:off x="2820990" y="2798762"/>
            <a:ext cx="1747837" cy="871538"/>
          </a:xfrm>
          <a:prstGeom prst="rect">
            <a:avLst/>
          </a:prstGeom>
          <a:solidFill>
            <a:srgbClr val="33CCFF"/>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35850" name="Rectangle 40">
            <a:extLst>
              <a:ext uri="{FF2B5EF4-FFF2-40B4-BE49-F238E27FC236}">
                <a16:creationId xmlns:a16="http://schemas.microsoft.com/office/drawing/2014/main" id="{9B6C1AFB-D0C7-410E-A1D9-00300942A62E}"/>
              </a:ext>
            </a:extLst>
          </p:cNvPr>
          <p:cNvSpPr>
            <a:spLocks noChangeArrowheads="1"/>
          </p:cNvSpPr>
          <p:nvPr/>
        </p:nvSpPr>
        <p:spPr bwMode="auto">
          <a:xfrm>
            <a:off x="3084515" y="3117851"/>
            <a:ext cx="13477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2400" b="1">
                <a:solidFill>
                  <a:srgbClr val="000000"/>
                </a:solidFill>
                <a:ea typeface="新細明體" panose="02020500000000000000" pitchFamily="18" charset="-120"/>
              </a:rPr>
              <a:t>Linux OS</a:t>
            </a:r>
            <a:endParaRPr lang="en-US" altLang="zh-TW" sz="2400" b="1">
              <a:solidFill>
                <a:srgbClr val="000066"/>
              </a:solidFill>
              <a:ea typeface="新細明體" panose="02020500000000000000" pitchFamily="18" charset="-120"/>
            </a:endParaRPr>
          </a:p>
        </p:txBody>
      </p:sp>
      <p:sp>
        <p:nvSpPr>
          <p:cNvPr id="35851" name="Rectangle 41">
            <a:extLst>
              <a:ext uri="{FF2B5EF4-FFF2-40B4-BE49-F238E27FC236}">
                <a16:creationId xmlns:a16="http://schemas.microsoft.com/office/drawing/2014/main" id="{3F35F8F5-C323-4B10-B2A6-6D691545282E}"/>
              </a:ext>
            </a:extLst>
          </p:cNvPr>
          <p:cNvSpPr>
            <a:spLocks noChangeArrowheads="1"/>
          </p:cNvSpPr>
          <p:nvPr/>
        </p:nvSpPr>
        <p:spPr bwMode="auto">
          <a:xfrm>
            <a:off x="4860926" y="1927226"/>
            <a:ext cx="1746250" cy="871537"/>
          </a:xfrm>
          <a:prstGeom prst="rect">
            <a:avLst/>
          </a:prstGeom>
          <a:solidFill>
            <a:srgbClr val="F3B17F"/>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35852" name="Rectangle 43">
            <a:extLst>
              <a:ext uri="{FF2B5EF4-FFF2-40B4-BE49-F238E27FC236}">
                <a16:creationId xmlns:a16="http://schemas.microsoft.com/office/drawing/2014/main" id="{773B09B5-9666-45BB-8CCE-9BB2C3EA4661}"/>
              </a:ext>
            </a:extLst>
          </p:cNvPr>
          <p:cNvSpPr>
            <a:spLocks noChangeArrowheads="1"/>
          </p:cNvSpPr>
          <p:nvPr/>
        </p:nvSpPr>
        <p:spPr bwMode="auto">
          <a:xfrm>
            <a:off x="5199065" y="2046287"/>
            <a:ext cx="10445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 typeface="Wingdings" panose="05000000000000000000" pitchFamily="2" charset="2"/>
              <a:buNone/>
            </a:pPr>
            <a:r>
              <a:rPr lang="en-US" altLang="zh-TW" sz="1600" b="1">
                <a:solidFill>
                  <a:srgbClr val="000066"/>
                </a:solidFill>
                <a:ea typeface="新細明體" panose="02020500000000000000" pitchFamily="18" charset="-120"/>
              </a:rPr>
              <a:t>Windows</a:t>
            </a:r>
          </a:p>
          <a:p>
            <a:pPr algn="ctr" eaLnBrk="1" hangingPunct="1">
              <a:spcBef>
                <a:spcPct val="0"/>
              </a:spcBef>
              <a:buClrTx/>
              <a:buFontTx/>
              <a:buNone/>
            </a:pPr>
            <a:r>
              <a:rPr lang="en-US" altLang="zh-TW" sz="1500" b="1">
                <a:solidFill>
                  <a:srgbClr val="000000"/>
                </a:solidFill>
                <a:ea typeface="新細明體" panose="02020500000000000000" pitchFamily="18" charset="-120"/>
              </a:rPr>
              <a:t>Application</a:t>
            </a:r>
            <a:endParaRPr lang="en-US" altLang="zh-TW" sz="2000" b="1">
              <a:solidFill>
                <a:srgbClr val="000066"/>
              </a:solidFill>
              <a:ea typeface="新細明體" panose="02020500000000000000" pitchFamily="18" charset="-120"/>
            </a:endParaRPr>
          </a:p>
        </p:txBody>
      </p:sp>
      <p:sp>
        <p:nvSpPr>
          <p:cNvPr id="35853" name="Rectangle 44">
            <a:extLst>
              <a:ext uri="{FF2B5EF4-FFF2-40B4-BE49-F238E27FC236}">
                <a16:creationId xmlns:a16="http://schemas.microsoft.com/office/drawing/2014/main" id="{5F6334DB-9379-4164-BB21-716B34776B81}"/>
              </a:ext>
            </a:extLst>
          </p:cNvPr>
          <p:cNvSpPr>
            <a:spLocks noChangeArrowheads="1"/>
          </p:cNvSpPr>
          <p:nvPr/>
        </p:nvSpPr>
        <p:spPr bwMode="auto">
          <a:xfrm>
            <a:off x="4860926" y="2798762"/>
            <a:ext cx="1746250" cy="871538"/>
          </a:xfrm>
          <a:prstGeom prst="rect">
            <a:avLst/>
          </a:prstGeom>
          <a:solidFill>
            <a:srgbClr val="33CCFF"/>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35854" name="Rectangle 45">
            <a:extLst>
              <a:ext uri="{FF2B5EF4-FFF2-40B4-BE49-F238E27FC236}">
                <a16:creationId xmlns:a16="http://schemas.microsoft.com/office/drawing/2014/main" id="{84525EAD-8059-4E5F-9236-79D34AA71D56}"/>
              </a:ext>
            </a:extLst>
          </p:cNvPr>
          <p:cNvSpPr>
            <a:spLocks noChangeArrowheads="1"/>
          </p:cNvSpPr>
          <p:nvPr/>
        </p:nvSpPr>
        <p:spPr bwMode="auto">
          <a:xfrm>
            <a:off x="5130802" y="3117851"/>
            <a:ext cx="13446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2400" b="1">
                <a:solidFill>
                  <a:srgbClr val="000066"/>
                </a:solidFill>
                <a:ea typeface="新細明體" panose="02020500000000000000" pitchFamily="18" charset="-120"/>
              </a:rPr>
              <a:t>Windows</a:t>
            </a:r>
          </a:p>
        </p:txBody>
      </p:sp>
      <p:sp>
        <p:nvSpPr>
          <p:cNvPr id="35855" name="Rectangle 46">
            <a:extLst>
              <a:ext uri="{FF2B5EF4-FFF2-40B4-BE49-F238E27FC236}">
                <a16:creationId xmlns:a16="http://schemas.microsoft.com/office/drawing/2014/main" id="{207F0218-6BED-48B8-ACA8-F89CDA30F095}"/>
              </a:ext>
            </a:extLst>
          </p:cNvPr>
          <p:cNvSpPr>
            <a:spLocks noChangeArrowheads="1"/>
          </p:cNvSpPr>
          <p:nvPr/>
        </p:nvSpPr>
        <p:spPr bwMode="auto">
          <a:xfrm>
            <a:off x="6899276" y="1927226"/>
            <a:ext cx="1746250" cy="871537"/>
          </a:xfrm>
          <a:prstGeom prst="rect">
            <a:avLst/>
          </a:prstGeom>
          <a:solidFill>
            <a:srgbClr val="F3B17F"/>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35856" name="Rectangle 48">
            <a:extLst>
              <a:ext uri="{FF2B5EF4-FFF2-40B4-BE49-F238E27FC236}">
                <a16:creationId xmlns:a16="http://schemas.microsoft.com/office/drawing/2014/main" id="{CDBD4A27-F318-4D6B-B171-6619A0845EC7}"/>
              </a:ext>
            </a:extLst>
          </p:cNvPr>
          <p:cNvSpPr>
            <a:spLocks noChangeArrowheads="1"/>
          </p:cNvSpPr>
          <p:nvPr/>
        </p:nvSpPr>
        <p:spPr bwMode="auto">
          <a:xfrm>
            <a:off x="7250115" y="2100263"/>
            <a:ext cx="1044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Solaris</a:t>
            </a:r>
          </a:p>
          <a:p>
            <a:pPr algn="ctr" eaLnBrk="1" hangingPunct="1">
              <a:spcBef>
                <a:spcPct val="0"/>
              </a:spcBef>
              <a:buClrTx/>
              <a:buFontTx/>
              <a:buNone/>
            </a:pPr>
            <a:r>
              <a:rPr lang="en-US" altLang="zh-TW" sz="1500" b="1">
                <a:solidFill>
                  <a:srgbClr val="000000"/>
                </a:solidFill>
                <a:ea typeface="新細明體" panose="02020500000000000000" pitchFamily="18" charset="-120"/>
              </a:rPr>
              <a:t>Application</a:t>
            </a:r>
            <a:endParaRPr lang="en-US" altLang="zh-TW" sz="2000" b="1">
              <a:solidFill>
                <a:srgbClr val="000066"/>
              </a:solidFill>
              <a:ea typeface="新細明體" panose="02020500000000000000" pitchFamily="18" charset="-120"/>
            </a:endParaRPr>
          </a:p>
        </p:txBody>
      </p:sp>
      <p:sp>
        <p:nvSpPr>
          <p:cNvPr id="35857" name="Rectangle 49">
            <a:extLst>
              <a:ext uri="{FF2B5EF4-FFF2-40B4-BE49-F238E27FC236}">
                <a16:creationId xmlns:a16="http://schemas.microsoft.com/office/drawing/2014/main" id="{0DF54E46-A27E-4E89-A68B-A1E57F3690D3}"/>
              </a:ext>
            </a:extLst>
          </p:cNvPr>
          <p:cNvSpPr>
            <a:spLocks noChangeArrowheads="1"/>
          </p:cNvSpPr>
          <p:nvPr/>
        </p:nvSpPr>
        <p:spPr bwMode="auto">
          <a:xfrm>
            <a:off x="6899276" y="2798762"/>
            <a:ext cx="1746250" cy="871538"/>
          </a:xfrm>
          <a:prstGeom prst="rect">
            <a:avLst/>
          </a:prstGeom>
          <a:solidFill>
            <a:srgbClr val="33CCFF"/>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35858" name="Rectangle 50">
            <a:extLst>
              <a:ext uri="{FF2B5EF4-FFF2-40B4-BE49-F238E27FC236}">
                <a16:creationId xmlns:a16="http://schemas.microsoft.com/office/drawing/2014/main" id="{1BA6C792-CAED-4C7B-A9B9-BF749DA30189}"/>
              </a:ext>
            </a:extLst>
          </p:cNvPr>
          <p:cNvSpPr>
            <a:spLocks noChangeArrowheads="1"/>
          </p:cNvSpPr>
          <p:nvPr/>
        </p:nvSpPr>
        <p:spPr bwMode="auto">
          <a:xfrm>
            <a:off x="7323139" y="3117851"/>
            <a:ext cx="10271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2400" b="1">
                <a:solidFill>
                  <a:srgbClr val="000066"/>
                </a:solidFill>
                <a:ea typeface="新細明體" panose="02020500000000000000" pitchFamily="18" charset="-120"/>
              </a:rPr>
              <a:t>Solaris</a:t>
            </a:r>
          </a:p>
        </p:txBody>
      </p:sp>
      <p:sp>
        <p:nvSpPr>
          <p:cNvPr id="35859" name="Rectangle 51">
            <a:extLst>
              <a:ext uri="{FF2B5EF4-FFF2-40B4-BE49-F238E27FC236}">
                <a16:creationId xmlns:a16="http://schemas.microsoft.com/office/drawing/2014/main" id="{6448BDAF-894E-459E-B698-6F4EF08916AF}"/>
              </a:ext>
            </a:extLst>
          </p:cNvPr>
          <p:cNvSpPr>
            <a:spLocks noChangeArrowheads="1"/>
          </p:cNvSpPr>
          <p:nvPr/>
        </p:nvSpPr>
        <p:spPr bwMode="auto">
          <a:xfrm>
            <a:off x="4860926" y="5170488"/>
            <a:ext cx="1746250" cy="871537"/>
          </a:xfrm>
          <a:prstGeom prst="rect">
            <a:avLst/>
          </a:prstGeom>
          <a:solidFill>
            <a:srgbClr val="FFFF99"/>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35860" name="Rectangle 52">
            <a:extLst>
              <a:ext uri="{FF2B5EF4-FFF2-40B4-BE49-F238E27FC236}">
                <a16:creationId xmlns:a16="http://schemas.microsoft.com/office/drawing/2014/main" id="{6617ECB9-EFD5-4056-A754-BA30FE898A03}"/>
              </a:ext>
            </a:extLst>
          </p:cNvPr>
          <p:cNvSpPr>
            <a:spLocks noChangeArrowheads="1"/>
          </p:cNvSpPr>
          <p:nvPr/>
        </p:nvSpPr>
        <p:spPr bwMode="auto">
          <a:xfrm>
            <a:off x="5411789" y="5326062"/>
            <a:ext cx="762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Intel x86</a:t>
            </a:r>
            <a:endParaRPr lang="en-US" altLang="zh-TW" sz="2000" b="1">
              <a:solidFill>
                <a:srgbClr val="000066"/>
              </a:solidFill>
              <a:ea typeface="新細明體" panose="02020500000000000000" pitchFamily="18" charset="-120"/>
            </a:endParaRPr>
          </a:p>
        </p:txBody>
      </p:sp>
      <p:sp>
        <p:nvSpPr>
          <p:cNvPr id="35861" name="Rectangle 53">
            <a:extLst>
              <a:ext uri="{FF2B5EF4-FFF2-40B4-BE49-F238E27FC236}">
                <a16:creationId xmlns:a16="http://schemas.microsoft.com/office/drawing/2014/main" id="{24C78C9B-E87C-4ACB-87C5-E5516FE34DDD}"/>
              </a:ext>
            </a:extLst>
          </p:cNvPr>
          <p:cNvSpPr>
            <a:spLocks noChangeArrowheads="1"/>
          </p:cNvSpPr>
          <p:nvPr/>
        </p:nvSpPr>
        <p:spPr bwMode="auto">
          <a:xfrm>
            <a:off x="5360989" y="5559425"/>
            <a:ext cx="8699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Hardware</a:t>
            </a:r>
            <a:endParaRPr lang="en-US" altLang="zh-TW" sz="2000" b="1">
              <a:solidFill>
                <a:srgbClr val="000066"/>
              </a:solidFill>
              <a:ea typeface="新細明體" panose="02020500000000000000" pitchFamily="18" charset="-120"/>
            </a:endParaRPr>
          </a:p>
        </p:txBody>
      </p:sp>
      <p:sp>
        <p:nvSpPr>
          <p:cNvPr id="35862" name="Line 54">
            <a:extLst>
              <a:ext uri="{FF2B5EF4-FFF2-40B4-BE49-F238E27FC236}">
                <a16:creationId xmlns:a16="http://schemas.microsoft.com/office/drawing/2014/main" id="{1F7D1236-12E4-4CAC-91EC-CC29EDE016D8}"/>
              </a:ext>
            </a:extLst>
          </p:cNvPr>
          <p:cNvSpPr>
            <a:spLocks noChangeShapeType="1"/>
          </p:cNvSpPr>
          <p:nvPr/>
        </p:nvSpPr>
        <p:spPr bwMode="auto">
          <a:xfrm>
            <a:off x="3694115" y="4548187"/>
            <a:ext cx="1323975" cy="5222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63" name="Freeform 55">
            <a:extLst>
              <a:ext uri="{FF2B5EF4-FFF2-40B4-BE49-F238E27FC236}">
                <a16:creationId xmlns:a16="http://schemas.microsoft.com/office/drawing/2014/main" id="{F1E4C7CE-CF48-4834-B79A-09092353033C}"/>
              </a:ext>
            </a:extLst>
          </p:cNvPr>
          <p:cNvSpPr>
            <a:spLocks/>
          </p:cNvSpPr>
          <p:nvPr/>
        </p:nvSpPr>
        <p:spPr bwMode="auto">
          <a:xfrm>
            <a:off x="4986339" y="5016500"/>
            <a:ext cx="163512" cy="106362"/>
          </a:xfrm>
          <a:custGeom>
            <a:avLst/>
            <a:gdLst>
              <a:gd name="T0" fmla="*/ 2147483646 w 207"/>
              <a:gd name="T1" fmla="*/ 0 h 134"/>
              <a:gd name="T2" fmla="*/ 2147483646 w 207"/>
              <a:gd name="T3" fmla="*/ 2147483646 h 134"/>
              <a:gd name="T4" fmla="*/ 0 w 207"/>
              <a:gd name="T5" fmla="*/ 2147483646 h 134"/>
              <a:gd name="T6" fmla="*/ 2147483646 w 207"/>
              <a:gd name="T7" fmla="*/ 0 h 134"/>
              <a:gd name="T8" fmla="*/ 0 60000 65536"/>
              <a:gd name="T9" fmla="*/ 0 60000 65536"/>
              <a:gd name="T10" fmla="*/ 0 60000 65536"/>
              <a:gd name="T11" fmla="*/ 0 60000 65536"/>
              <a:gd name="T12" fmla="*/ 0 w 207"/>
              <a:gd name="T13" fmla="*/ 0 h 134"/>
              <a:gd name="T14" fmla="*/ 207 w 207"/>
              <a:gd name="T15" fmla="*/ 134 h 134"/>
            </a:gdLst>
            <a:ahLst/>
            <a:cxnLst>
              <a:cxn ang="T8">
                <a:pos x="T0" y="T1"/>
              </a:cxn>
              <a:cxn ang="T9">
                <a:pos x="T2" y="T3"/>
              </a:cxn>
              <a:cxn ang="T10">
                <a:pos x="T4" y="T5"/>
              </a:cxn>
              <a:cxn ang="T11">
                <a:pos x="T6" y="T7"/>
              </a:cxn>
            </a:cxnLst>
            <a:rect l="T12" t="T13" r="T14" b="T15"/>
            <a:pathLst>
              <a:path w="207" h="134">
                <a:moveTo>
                  <a:pt x="47" y="0"/>
                </a:moveTo>
                <a:lnTo>
                  <a:pt x="207" y="134"/>
                </a:lnTo>
                <a:lnTo>
                  <a:pt x="0" y="123"/>
                </a:lnTo>
                <a:lnTo>
                  <a:pt x="4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64" name="Line 56">
            <a:extLst>
              <a:ext uri="{FF2B5EF4-FFF2-40B4-BE49-F238E27FC236}">
                <a16:creationId xmlns:a16="http://schemas.microsoft.com/office/drawing/2014/main" id="{0D98F0F9-B411-468D-A177-F1F6BEBF27A6}"/>
              </a:ext>
            </a:extLst>
          </p:cNvPr>
          <p:cNvSpPr>
            <a:spLocks noChangeShapeType="1"/>
          </p:cNvSpPr>
          <p:nvPr/>
        </p:nvSpPr>
        <p:spPr bwMode="auto">
          <a:xfrm>
            <a:off x="5734051" y="4548188"/>
            <a:ext cx="1588" cy="43021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65" name="Freeform 57">
            <a:extLst>
              <a:ext uri="{FF2B5EF4-FFF2-40B4-BE49-F238E27FC236}">
                <a16:creationId xmlns:a16="http://schemas.microsoft.com/office/drawing/2014/main" id="{8EB56E60-BCAE-4600-870F-E723E61123F6}"/>
              </a:ext>
            </a:extLst>
          </p:cNvPr>
          <p:cNvSpPr>
            <a:spLocks/>
          </p:cNvSpPr>
          <p:nvPr/>
        </p:nvSpPr>
        <p:spPr bwMode="auto">
          <a:xfrm>
            <a:off x="5681665" y="4967288"/>
            <a:ext cx="103187" cy="155575"/>
          </a:xfrm>
          <a:custGeom>
            <a:avLst/>
            <a:gdLst>
              <a:gd name="T0" fmla="*/ 2147483646 w 131"/>
              <a:gd name="T1" fmla="*/ 0 h 197"/>
              <a:gd name="T2" fmla="*/ 2147483646 w 131"/>
              <a:gd name="T3" fmla="*/ 2147483646 h 197"/>
              <a:gd name="T4" fmla="*/ 0 w 131"/>
              <a:gd name="T5" fmla="*/ 0 h 197"/>
              <a:gd name="T6" fmla="*/ 2147483646 w 131"/>
              <a:gd name="T7" fmla="*/ 0 h 197"/>
              <a:gd name="T8" fmla="*/ 0 60000 65536"/>
              <a:gd name="T9" fmla="*/ 0 60000 65536"/>
              <a:gd name="T10" fmla="*/ 0 60000 65536"/>
              <a:gd name="T11" fmla="*/ 0 60000 65536"/>
              <a:gd name="T12" fmla="*/ 0 w 131"/>
              <a:gd name="T13" fmla="*/ 0 h 197"/>
              <a:gd name="T14" fmla="*/ 131 w 131"/>
              <a:gd name="T15" fmla="*/ 197 h 197"/>
            </a:gdLst>
            <a:ahLst/>
            <a:cxnLst>
              <a:cxn ang="T8">
                <a:pos x="T0" y="T1"/>
              </a:cxn>
              <a:cxn ang="T9">
                <a:pos x="T2" y="T3"/>
              </a:cxn>
              <a:cxn ang="T10">
                <a:pos x="T4" y="T5"/>
              </a:cxn>
              <a:cxn ang="T11">
                <a:pos x="T6" y="T7"/>
              </a:cxn>
            </a:cxnLst>
            <a:rect l="T12" t="T13" r="T14" b="T15"/>
            <a:pathLst>
              <a:path w="131" h="197">
                <a:moveTo>
                  <a:pt x="131" y="0"/>
                </a:moveTo>
                <a:lnTo>
                  <a:pt x="65" y="197"/>
                </a:lnTo>
                <a:lnTo>
                  <a:pt x="0" y="0"/>
                </a:lnTo>
                <a:lnTo>
                  <a:pt x="1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66" name="Line 58">
            <a:extLst>
              <a:ext uri="{FF2B5EF4-FFF2-40B4-BE49-F238E27FC236}">
                <a16:creationId xmlns:a16="http://schemas.microsoft.com/office/drawing/2014/main" id="{24933C6C-54F0-4A05-89EE-0BD77167E032}"/>
              </a:ext>
            </a:extLst>
          </p:cNvPr>
          <p:cNvSpPr>
            <a:spLocks noChangeShapeType="1"/>
          </p:cNvSpPr>
          <p:nvPr/>
        </p:nvSpPr>
        <p:spPr bwMode="auto">
          <a:xfrm flipH="1">
            <a:off x="6450015" y="4554537"/>
            <a:ext cx="1322387" cy="51593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67" name="Freeform 59">
            <a:extLst>
              <a:ext uri="{FF2B5EF4-FFF2-40B4-BE49-F238E27FC236}">
                <a16:creationId xmlns:a16="http://schemas.microsoft.com/office/drawing/2014/main" id="{314DCD7F-3427-4969-ACAE-4E245F9FB41A}"/>
              </a:ext>
            </a:extLst>
          </p:cNvPr>
          <p:cNvSpPr>
            <a:spLocks/>
          </p:cNvSpPr>
          <p:nvPr/>
        </p:nvSpPr>
        <p:spPr bwMode="auto">
          <a:xfrm>
            <a:off x="6316664" y="5018088"/>
            <a:ext cx="165100" cy="104775"/>
          </a:xfrm>
          <a:custGeom>
            <a:avLst/>
            <a:gdLst>
              <a:gd name="T0" fmla="*/ 2147483646 w 208"/>
              <a:gd name="T1" fmla="*/ 2147483646 h 133"/>
              <a:gd name="T2" fmla="*/ 0 w 208"/>
              <a:gd name="T3" fmla="*/ 2147483646 h 133"/>
              <a:gd name="T4" fmla="*/ 2147483646 w 208"/>
              <a:gd name="T5" fmla="*/ 0 h 133"/>
              <a:gd name="T6" fmla="*/ 2147483646 w 208"/>
              <a:gd name="T7" fmla="*/ 2147483646 h 133"/>
              <a:gd name="T8" fmla="*/ 0 60000 65536"/>
              <a:gd name="T9" fmla="*/ 0 60000 65536"/>
              <a:gd name="T10" fmla="*/ 0 60000 65536"/>
              <a:gd name="T11" fmla="*/ 0 60000 65536"/>
              <a:gd name="T12" fmla="*/ 0 w 208"/>
              <a:gd name="T13" fmla="*/ 0 h 133"/>
              <a:gd name="T14" fmla="*/ 208 w 208"/>
              <a:gd name="T15" fmla="*/ 133 h 133"/>
            </a:gdLst>
            <a:ahLst/>
            <a:cxnLst>
              <a:cxn ang="T8">
                <a:pos x="T0" y="T1"/>
              </a:cxn>
              <a:cxn ang="T9">
                <a:pos x="T2" y="T3"/>
              </a:cxn>
              <a:cxn ang="T10">
                <a:pos x="T4" y="T5"/>
              </a:cxn>
              <a:cxn ang="T11">
                <a:pos x="T6" y="T7"/>
              </a:cxn>
            </a:cxnLst>
            <a:rect l="T12" t="T13" r="T14" b="T15"/>
            <a:pathLst>
              <a:path w="208" h="133">
                <a:moveTo>
                  <a:pt x="208" y="122"/>
                </a:moveTo>
                <a:lnTo>
                  <a:pt x="0" y="133"/>
                </a:lnTo>
                <a:lnTo>
                  <a:pt x="160" y="0"/>
                </a:lnTo>
                <a:lnTo>
                  <a:pt x="208" y="1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68" name="Rectangle 60">
            <a:extLst>
              <a:ext uri="{FF2B5EF4-FFF2-40B4-BE49-F238E27FC236}">
                <a16:creationId xmlns:a16="http://schemas.microsoft.com/office/drawing/2014/main" id="{5FD83280-7C31-4A56-92D0-61AB4788064F}"/>
              </a:ext>
            </a:extLst>
          </p:cNvPr>
          <p:cNvSpPr>
            <a:spLocks noChangeArrowheads="1"/>
          </p:cNvSpPr>
          <p:nvPr/>
        </p:nvSpPr>
        <p:spPr bwMode="auto">
          <a:xfrm>
            <a:off x="2820990" y="3676651"/>
            <a:ext cx="1747837" cy="871537"/>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35869" name="Rectangle 61">
            <a:extLst>
              <a:ext uri="{FF2B5EF4-FFF2-40B4-BE49-F238E27FC236}">
                <a16:creationId xmlns:a16="http://schemas.microsoft.com/office/drawing/2014/main" id="{B89443A1-48F3-4B95-904E-E81F7B174C14}"/>
              </a:ext>
            </a:extLst>
          </p:cNvPr>
          <p:cNvSpPr>
            <a:spLocks noChangeArrowheads="1"/>
          </p:cNvSpPr>
          <p:nvPr/>
        </p:nvSpPr>
        <p:spPr bwMode="auto">
          <a:xfrm>
            <a:off x="3065465" y="3995737"/>
            <a:ext cx="14065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Virtual Intel x86</a:t>
            </a:r>
            <a:endParaRPr lang="en-US" altLang="zh-TW" sz="2000" b="1">
              <a:solidFill>
                <a:srgbClr val="000066"/>
              </a:solidFill>
              <a:ea typeface="新細明體" panose="02020500000000000000" pitchFamily="18" charset="-120"/>
            </a:endParaRPr>
          </a:p>
        </p:txBody>
      </p:sp>
      <p:sp>
        <p:nvSpPr>
          <p:cNvPr id="35870" name="Rectangle 62">
            <a:extLst>
              <a:ext uri="{FF2B5EF4-FFF2-40B4-BE49-F238E27FC236}">
                <a16:creationId xmlns:a16="http://schemas.microsoft.com/office/drawing/2014/main" id="{7AACBC64-1B20-47D5-BDAE-1267EC034761}"/>
              </a:ext>
            </a:extLst>
          </p:cNvPr>
          <p:cNvSpPr>
            <a:spLocks noChangeArrowheads="1"/>
          </p:cNvSpPr>
          <p:nvPr/>
        </p:nvSpPr>
        <p:spPr bwMode="auto">
          <a:xfrm>
            <a:off x="4860926" y="3676651"/>
            <a:ext cx="1746250" cy="871537"/>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35871" name="Rectangle 63">
            <a:extLst>
              <a:ext uri="{FF2B5EF4-FFF2-40B4-BE49-F238E27FC236}">
                <a16:creationId xmlns:a16="http://schemas.microsoft.com/office/drawing/2014/main" id="{C14E3F5C-2316-4F8A-B36C-416E7F59F154}"/>
              </a:ext>
            </a:extLst>
          </p:cNvPr>
          <p:cNvSpPr>
            <a:spLocks noChangeArrowheads="1"/>
          </p:cNvSpPr>
          <p:nvPr/>
        </p:nvSpPr>
        <p:spPr bwMode="auto">
          <a:xfrm>
            <a:off x="5103815" y="3995737"/>
            <a:ext cx="14065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Virtual Intel x86</a:t>
            </a:r>
            <a:endParaRPr lang="en-US" altLang="zh-TW" sz="2000" b="1">
              <a:solidFill>
                <a:srgbClr val="000066"/>
              </a:solidFill>
              <a:ea typeface="新細明體" panose="02020500000000000000" pitchFamily="18" charset="-120"/>
            </a:endParaRPr>
          </a:p>
        </p:txBody>
      </p:sp>
      <p:sp>
        <p:nvSpPr>
          <p:cNvPr id="35872" name="Rectangle 64">
            <a:extLst>
              <a:ext uri="{FF2B5EF4-FFF2-40B4-BE49-F238E27FC236}">
                <a16:creationId xmlns:a16="http://schemas.microsoft.com/office/drawing/2014/main" id="{79A5817D-A1D3-46C4-A74D-7B84BF5F8B1C}"/>
              </a:ext>
            </a:extLst>
          </p:cNvPr>
          <p:cNvSpPr>
            <a:spLocks noChangeArrowheads="1"/>
          </p:cNvSpPr>
          <p:nvPr/>
        </p:nvSpPr>
        <p:spPr bwMode="auto">
          <a:xfrm>
            <a:off x="6899276" y="3681413"/>
            <a:ext cx="1746250" cy="873125"/>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2000">
              <a:solidFill>
                <a:srgbClr val="000066"/>
              </a:solidFill>
              <a:ea typeface="新細明體" panose="02020500000000000000" pitchFamily="18" charset="-120"/>
            </a:endParaRPr>
          </a:p>
        </p:txBody>
      </p:sp>
      <p:sp>
        <p:nvSpPr>
          <p:cNvPr id="35873" name="Rectangle 65">
            <a:extLst>
              <a:ext uri="{FF2B5EF4-FFF2-40B4-BE49-F238E27FC236}">
                <a16:creationId xmlns:a16="http://schemas.microsoft.com/office/drawing/2014/main" id="{3882393F-D671-4058-AE31-7504E5C68B41}"/>
              </a:ext>
            </a:extLst>
          </p:cNvPr>
          <p:cNvSpPr>
            <a:spLocks noChangeArrowheads="1"/>
          </p:cNvSpPr>
          <p:nvPr/>
        </p:nvSpPr>
        <p:spPr bwMode="auto">
          <a:xfrm>
            <a:off x="7142165" y="4000500"/>
            <a:ext cx="14065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500" b="1">
                <a:solidFill>
                  <a:srgbClr val="000000"/>
                </a:solidFill>
                <a:ea typeface="新細明體" panose="02020500000000000000" pitchFamily="18" charset="-120"/>
              </a:rPr>
              <a:t>Virtual Intel x86</a:t>
            </a:r>
            <a:endParaRPr lang="en-US" altLang="zh-TW" sz="2000" b="1">
              <a:solidFill>
                <a:srgbClr val="000066"/>
              </a:solidFill>
              <a:ea typeface="新細明體" panose="02020500000000000000" pitchFamily="18" charset="-120"/>
            </a:endParaRPr>
          </a:p>
        </p:txBody>
      </p:sp>
      <p:sp>
        <p:nvSpPr>
          <p:cNvPr id="35874" name="Rectangle 51">
            <a:extLst>
              <a:ext uri="{FF2B5EF4-FFF2-40B4-BE49-F238E27FC236}">
                <a16:creationId xmlns:a16="http://schemas.microsoft.com/office/drawing/2014/main" id="{DB43F08A-8B3E-4B0D-A336-ADE30E08971B}"/>
              </a:ext>
            </a:extLst>
          </p:cNvPr>
          <p:cNvSpPr>
            <a:spLocks noChangeArrowheads="1"/>
          </p:cNvSpPr>
          <p:nvPr/>
        </p:nvSpPr>
        <p:spPr bwMode="auto">
          <a:xfrm>
            <a:off x="3089276" y="5164138"/>
            <a:ext cx="1746250" cy="871538"/>
          </a:xfrm>
          <a:prstGeom prst="rect">
            <a:avLst/>
          </a:prstGeom>
          <a:solidFill>
            <a:srgbClr val="FFFF99"/>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a:p>
            <a:pPr algn="ctr" eaLnBrk="1" hangingPunct="1">
              <a:spcBef>
                <a:spcPct val="0"/>
              </a:spcBef>
              <a:buClrTx/>
              <a:buFontTx/>
              <a:buNone/>
            </a:pPr>
            <a:r>
              <a:rPr lang="en-US" altLang="zh-TW" sz="2000">
                <a:solidFill>
                  <a:srgbClr val="000066"/>
                </a:solidFill>
                <a:ea typeface="新細明體" panose="02020500000000000000" pitchFamily="18" charset="-120"/>
              </a:rPr>
              <a:t>Memory</a:t>
            </a:r>
            <a:endParaRPr lang="zh-TW" altLang="en-US" sz="2000">
              <a:solidFill>
                <a:srgbClr val="000066"/>
              </a:solidFill>
              <a:ea typeface="新細明體" panose="02020500000000000000" pitchFamily="18" charset="-120"/>
            </a:endParaRPr>
          </a:p>
        </p:txBody>
      </p:sp>
      <p:sp>
        <p:nvSpPr>
          <p:cNvPr id="35875" name="Rectangle 51">
            <a:extLst>
              <a:ext uri="{FF2B5EF4-FFF2-40B4-BE49-F238E27FC236}">
                <a16:creationId xmlns:a16="http://schemas.microsoft.com/office/drawing/2014/main" id="{56B9E939-BC1A-4D88-98AE-85CE4855474D}"/>
              </a:ext>
            </a:extLst>
          </p:cNvPr>
          <p:cNvSpPr>
            <a:spLocks noChangeArrowheads="1"/>
          </p:cNvSpPr>
          <p:nvPr/>
        </p:nvSpPr>
        <p:spPr bwMode="auto">
          <a:xfrm>
            <a:off x="6657976" y="5170488"/>
            <a:ext cx="1746250" cy="871538"/>
          </a:xfrm>
          <a:prstGeom prst="rect">
            <a:avLst/>
          </a:prstGeom>
          <a:solidFill>
            <a:srgbClr val="FFFF99"/>
          </a:solidFill>
          <a:ln w="3175">
            <a:solidFill>
              <a:srgbClr val="000000"/>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zh-TW" sz="2000">
              <a:solidFill>
                <a:srgbClr val="000066"/>
              </a:solidFill>
              <a:ea typeface="新細明體" panose="02020500000000000000" pitchFamily="18" charset="-120"/>
            </a:endParaRPr>
          </a:p>
          <a:p>
            <a:pPr algn="ctr" eaLnBrk="1" hangingPunct="1">
              <a:spcBef>
                <a:spcPct val="0"/>
              </a:spcBef>
              <a:buClrTx/>
              <a:buFontTx/>
              <a:buNone/>
            </a:pPr>
            <a:r>
              <a:rPr lang="en-US" altLang="zh-TW" sz="2000">
                <a:solidFill>
                  <a:srgbClr val="000066"/>
                </a:solidFill>
                <a:ea typeface="新細明體" panose="02020500000000000000" pitchFamily="18" charset="-120"/>
              </a:rPr>
              <a:t>I/O devices</a:t>
            </a:r>
            <a:endParaRPr lang="zh-TW" altLang="en-US" sz="2000">
              <a:solidFill>
                <a:srgbClr val="000066"/>
              </a:solidFill>
              <a:ea typeface="新細明體" panose="02020500000000000000" pitchFamily="18" charset="-120"/>
            </a:endParaRPr>
          </a:p>
        </p:txBody>
      </p:sp>
      <p:sp>
        <p:nvSpPr>
          <p:cNvPr id="35876" name="Rectangle 42">
            <a:extLst>
              <a:ext uri="{FF2B5EF4-FFF2-40B4-BE49-F238E27FC236}">
                <a16:creationId xmlns:a16="http://schemas.microsoft.com/office/drawing/2014/main" id="{F1AC7988-896F-4EE0-9040-4EEB194E41B4}"/>
              </a:ext>
            </a:extLst>
          </p:cNvPr>
          <p:cNvSpPr>
            <a:spLocks noChangeArrowheads="1"/>
          </p:cNvSpPr>
          <p:nvPr/>
        </p:nvSpPr>
        <p:spPr bwMode="auto">
          <a:xfrm>
            <a:off x="3416302" y="2105026"/>
            <a:ext cx="684213"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2000" b="1">
                <a:solidFill>
                  <a:srgbClr val="000066"/>
                </a:solidFill>
                <a:ea typeface="新細明體" panose="02020500000000000000" pitchFamily="18" charset="-120"/>
              </a:rPr>
              <a:t>Linux</a:t>
            </a:r>
          </a:p>
        </p:txBody>
      </p:sp>
      <p:sp>
        <p:nvSpPr>
          <p:cNvPr id="35877" name="Rectangle 1">
            <a:extLst>
              <a:ext uri="{FF2B5EF4-FFF2-40B4-BE49-F238E27FC236}">
                <a16:creationId xmlns:a16="http://schemas.microsoft.com/office/drawing/2014/main" id="{9192293C-D054-440B-81DC-DA3DE41424F7}"/>
              </a:ext>
            </a:extLst>
          </p:cNvPr>
          <p:cNvSpPr>
            <a:spLocks noChangeArrowheads="1"/>
          </p:cNvSpPr>
          <p:nvPr/>
        </p:nvSpPr>
        <p:spPr bwMode="auto">
          <a:xfrm>
            <a:off x="2416177" y="4781551"/>
            <a:ext cx="6530975" cy="327025"/>
          </a:xfrm>
          <a:prstGeom prst="rect">
            <a:avLst/>
          </a:prstGeom>
          <a:solidFill>
            <a:schemeClr val="accent1"/>
          </a:solidFill>
          <a:ln w="28575" algn="ctr">
            <a:solidFill>
              <a:srgbClr val="FF0000"/>
            </a:solidFill>
            <a:round/>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FontTx/>
              <a:buNone/>
            </a:pPr>
            <a:r>
              <a:rPr lang="en-US" altLang="en-US" sz="2000" b="1"/>
              <a:t>Hypervisor</a:t>
            </a:r>
          </a:p>
        </p:txBody>
      </p:sp>
      <p:cxnSp>
        <p:nvCxnSpPr>
          <p:cNvPr id="35878" name="Straight Arrow Connector 3">
            <a:extLst>
              <a:ext uri="{FF2B5EF4-FFF2-40B4-BE49-F238E27FC236}">
                <a16:creationId xmlns:a16="http://schemas.microsoft.com/office/drawing/2014/main" id="{18762417-28A0-4788-B067-F61A9811408B}"/>
              </a:ext>
            </a:extLst>
          </p:cNvPr>
          <p:cNvCxnSpPr>
            <a:cxnSpLocks noChangeShapeType="1"/>
          </p:cNvCxnSpPr>
          <p:nvPr/>
        </p:nvCxnSpPr>
        <p:spPr bwMode="auto">
          <a:xfrm>
            <a:off x="4276726" y="4548188"/>
            <a:ext cx="0" cy="233363"/>
          </a:xfrm>
          <a:prstGeom prst="straightConnector1">
            <a:avLst/>
          </a:prstGeom>
          <a:noFill/>
          <a:ln w="38100" algn="ctr">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35879" name="Straight Arrow Connector 41">
            <a:extLst>
              <a:ext uri="{FF2B5EF4-FFF2-40B4-BE49-F238E27FC236}">
                <a16:creationId xmlns:a16="http://schemas.microsoft.com/office/drawing/2014/main" id="{C3A94D9A-6AAD-435B-9F07-FAAA469F30A5}"/>
              </a:ext>
            </a:extLst>
          </p:cNvPr>
          <p:cNvCxnSpPr>
            <a:cxnSpLocks noChangeShapeType="1"/>
          </p:cNvCxnSpPr>
          <p:nvPr/>
        </p:nvCxnSpPr>
        <p:spPr bwMode="auto">
          <a:xfrm>
            <a:off x="5022851" y="4548188"/>
            <a:ext cx="0" cy="233363"/>
          </a:xfrm>
          <a:prstGeom prst="straightConnector1">
            <a:avLst/>
          </a:prstGeom>
          <a:noFill/>
          <a:ln w="38100" algn="ctr">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35880" name="Straight Arrow Connector 42">
            <a:extLst>
              <a:ext uri="{FF2B5EF4-FFF2-40B4-BE49-F238E27FC236}">
                <a16:creationId xmlns:a16="http://schemas.microsoft.com/office/drawing/2014/main" id="{FC658367-DA94-4ABD-8F38-326F3047921B}"/>
              </a:ext>
            </a:extLst>
          </p:cNvPr>
          <p:cNvCxnSpPr>
            <a:cxnSpLocks noChangeShapeType="1"/>
          </p:cNvCxnSpPr>
          <p:nvPr/>
        </p:nvCxnSpPr>
        <p:spPr bwMode="auto">
          <a:xfrm>
            <a:off x="7142164" y="4554538"/>
            <a:ext cx="0" cy="233363"/>
          </a:xfrm>
          <a:prstGeom prst="straightConnector1">
            <a:avLst/>
          </a:prstGeom>
          <a:noFill/>
          <a:ln w="38100" algn="ctr">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35881" name="Straight Arrow Connector 43">
            <a:extLst>
              <a:ext uri="{FF2B5EF4-FFF2-40B4-BE49-F238E27FC236}">
                <a16:creationId xmlns:a16="http://schemas.microsoft.com/office/drawing/2014/main" id="{EA1C59CE-8F3A-460E-8471-F5162AC0D168}"/>
              </a:ext>
            </a:extLst>
          </p:cNvPr>
          <p:cNvCxnSpPr>
            <a:cxnSpLocks noChangeShapeType="1"/>
          </p:cNvCxnSpPr>
          <p:nvPr/>
        </p:nvCxnSpPr>
        <p:spPr bwMode="auto">
          <a:xfrm>
            <a:off x="4100514" y="4554538"/>
            <a:ext cx="0" cy="233363"/>
          </a:xfrm>
          <a:prstGeom prst="straightConnector1">
            <a:avLst/>
          </a:prstGeom>
          <a:noFill/>
          <a:ln w="38100" algn="ctr">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35882" name="Straight Arrow Connector 44">
            <a:extLst>
              <a:ext uri="{FF2B5EF4-FFF2-40B4-BE49-F238E27FC236}">
                <a16:creationId xmlns:a16="http://schemas.microsoft.com/office/drawing/2014/main" id="{0E73CAB1-F4A5-4698-84DA-379312C356A7}"/>
              </a:ext>
            </a:extLst>
          </p:cNvPr>
          <p:cNvCxnSpPr>
            <a:cxnSpLocks noChangeShapeType="1"/>
          </p:cNvCxnSpPr>
          <p:nvPr/>
        </p:nvCxnSpPr>
        <p:spPr bwMode="auto">
          <a:xfrm>
            <a:off x="5149851" y="4554538"/>
            <a:ext cx="0" cy="233363"/>
          </a:xfrm>
          <a:prstGeom prst="straightConnector1">
            <a:avLst/>
          </a:prstGeom>
          <a:noFill/>
          <a:ln w="38100" algn="ctr">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35883" name="Straight Arrow Connector 45">
            <a:extLst>
              <a:ext uri="{FF2B5EF4-FFF2-40B4-BE49-F238E27FC236}">
                <a16:creationId xmlns:a16="http://schemas.microsoft.com/office/drawing/2014/main" id="{B24B8170-32FE-441D-B975-15D1F3156069}"/>
              </a:ext>
            </a:extLst>
          </p:cNvPr>
          <p:cNvCxnSpPr>
            <a:cxnSpLocks noChangeShapeType="1"/>
          </p:cNvCxnSpPr>
          <p:nvPr/>
        </p:nvCxnSpPr>
        <p:spPr bwMode="auto">
          <a:xfrm>
            <a:off x="6991351" y="4554538"/>
            <a:ext cx="0" cy="233363"/>
          </a:xfrm>
          <a:prstGeom prst="straightConnector1">
            <a:avLst/>
          </a:prstGeom>
          <a:noFill/>
          <a:ln w="38100" algn="ctr">
            <a:solidFill>
              <a:srgbClr val="FF0000"/>
            </a:solidFill>
            <a:round/>
            <a:headEnd/>
            <a:tailEnd type="triangle" w="med" len="med"/>
          </a:ln>
          <a:extLst>
            <a:ext uri="{909E8E84-426E-40DD-AFC4-6F175D3DCCD1}">
              <a14:hiddenFill xmlns:a14="http://schemas.microsoft.com/office/drawing/2010/main">
                <a:noFill/>
              </a14:hiddenFill>
            </a:ext>
          </a:extLst>
        </p:spPr>
      </p:cxnSp>
      <p:sp>
        <p:nvSpPr>
          <p:cNvPr id="35884" name="Rectangle 4">
            <a:extLst>
              <a:ext uri="{FF2B5EF4-FFF2-40B4-BE49-F238E27FC236}">
                <a16:creationId xmlns:a16="http://schemas.microsoft.com/office/drawing/2014/main" id="{39B55330-246D-4C91-BB3F-3DE14E7E38CC}"/>
              </a:ext>
            </a:extLst>
          </p:cNvPr>
          <p:cNvSpPr>
            <a:spLocks noChangeArrowheads="1"/>
          </p:cNvSpPr>
          <p:nvPr/>
        </p:nvSpPr>
        <p:spPr bwMode="auto">
          <a:xfrm>
            <a:off x="8702674" y="4255691"/>
            <a:ext cx="1254127" cy="470297"/>
          </a:xfrm>
          <a:prstGeom prst="rect">
            <a:avLst/>
          </a:prstGeom>
          <a:solidFill>
            <a:schemeClr val="tx1"/>
          </a:solidFill>
          <a:ln w="12700" algn="ctr">
            <a:solidFill>
              <a:srgbClr val="FFFF00"/>
            </a:solidFill>
            <a:round/>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FontTx/>
              <a:buNone/>
            </a:pPr>
            <a:r>
              <a:rPr lang="en-US" altLang="en-US" sz="2800" b="1" dirty="0">
                <a:solidFill>
                  <a:schemeClr val="bg1"/>
                </a:solidFill>
              </a:rPr>
              <a:t>traps</a:t>
            </a:r>
          </a:p>
        </p:txBody>
      </p:sp>
      <p:sp>
        <p:nvSpPr>
          <p:cNvPr id="46" name="Rectangle 45">
            <a:extLst>
              <a:ext uri="{FF2B5EF4-FFF2-40B4-BE49-F238E27FC236}">
                <a16:creationId xmlns:a16="http://schemas.microsoft.com/office/drawing/2014/main" id="{1060B548-1F33-4849-B93F-52BA34E38169}"/>
              </a:ext>
            </a:extLst>
          </p:cNvPr>
          <p:cNvSpPr/>
          <p:nvPr/>
        </p:nvSpPr>
        <p:spPr bwMode="auto">
          <a:xfrm>
            <a:off x="8944044" y="4842670"/>
            <a:ext cx="3076575" cy="1279525"/>
          </a:xfrm>
          <a:prstGeom prst="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a:lstStyle/>
          <a:p>
            <a:pPr>
              <a:defRPr/>
            </a:pPr>
            <a:r>
              <a:rPr lang="en-US" b="1" dirty="0">
                <a:solidFill>
                  <a:schemeClr val="bg1">
                    <a:lumMod val="60000"/>
                    <a:lumOff val="40000"/>
                  </a:schemeClr>
                </a:solidFill>
                <a:latin typeface="Arial" charset="0"/>
              </a:rPr>
              <a:t>Trap to hypervisor when </a:t>
            </a:r>
            <a:r>
              <a:rPr lang="en-US" b="1" i="1" dirty="0">
                <a:solidFill>
                  <a:srgbClr val="FF0000"/>
                </a:solidFill>
                <a:latin typeface="Arial" charset="0"/>
              </a:rPr>
              <a:t>privileged</a:t>
            </a:r>
            <a:r>
              <a:rPr lang="en-US" b="1" dirty="0">
                <a:solidFill>
                  <a:schemeClr val="bg1">
                    <a:lumMod val="60000"/>
                    <a:lumOff val="40000"/>
                  </a:schemeClr>
                </a:solidFill>
                <a:latin typeface="Arial" charset="0"/>
              </a:rPr>
              <a:t> instructions, or system service requests are encountered.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日期版面配置區 3">
            <a:extLst>
              <a:ext uri="{FF2B5EF4-FFF2-40B4-BE49-F238E27FC236}">
                <a16:creationId xmlns:a16="http://schemas.microsoft.com/office/drawing/2014/main" id="{DCF1AF22-C0B9-4ED4-A9E4-2A8C0C7BF5DE}"/>
              </a:ext>
            </a:extLst>
          </p:cNvPr>
          <p:cNvSpPr>
            <a:spLocks noGrp="1"/>
          </p:cNvSpPr>
          <p:nvPr>
            <p:ph type="dt" sz="quarter" idx="10"/>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spcBef>
                <a:spcPct val="20000"/>
              </a:spcBef>
              <a:buClr>
                <a:schemeClr val="tx1"/>
              </a:buClr>
              <a:buSzPct val="70000"/>
              <a:buFont typeface="Wingdings" panose="05000000000000000000" pitchFamily="2" charset="2"/>
              <a:buChar char="q"/>
              <a:defRPr sz="2800" b="1">
                <a:solidFill>
                  <a:schemeClr val="tx1"/>
                </a:solidFill>
                <a:latin typeface="Arial" panose="020B0604020202020204" pitchFamily="34" charset="0"/>
              </a:defRPr>
            </a:lvl1pPr>
            <a:lvl2pPr marL="742950" indent="-285750" defTabSz="958850">
              <a:spcBef>
                <a:spcPct val="20000"/>
              </a:spcBef>
              <a:buClr>
                <a:schemeClr val="tx1"/>
              </a:buClr>
              <a:buSzPct val="65000"/>
              <a:buChar char="•"/>
              <a:defRPr sz="2500">
                <a:solidFill>
                  <a:schemeClr val="tx1"/>
                </a:solidFill>
                <a:latin typeface="Arial" panose="020B0604020202020204" pitchFamily="34" charset="0"/>
              </a:defRPr>
            </a:lvl2pPr>
            <a:lvl3pPr marL="1143000" indent="-228600" defTabSz="958850">
              <a:spcBef>
                <a:spcPct val="20000"/>
              </a:spcBef>
              <a:buClr>
                <a:schemeClr val="tx1"/>
              </a:buClr>
              <a:buSzPct val="65000"/>
              <a:buFont typeface="Wingdings" panose="05000000000000000000" pitchFamily="2" charset="2"/>
              <a:buChar char="•"/>
              <a:defRPr sz="2500">
                <a:solidFill>
                  <a:schemeClr val="tx1"/>
                </a:solidFill>
                <a:latin typeface="Arial" panose="020B0604020202020204" pitchFamily="34" charset="0"/>
              </a:defRPr>
            </a:lvl3pPr>
            <a:lvl4pPr marL="1600200" indent="-228600" defTabSz="958850">
              <a:spcBef>
                <a:spcPct val="20000"/>
              </a:spcBef>
              <a:buClr>
                <a:schemeClr val="tx2"/>
              </a:buClr>
              <a:buSzPct val="75000"/>
              <a:buFont typeface="Wingdings" panose="05000000000000000000" pitchFamily="2" charset="2"/>
              <a:buChar char="–"/>
              <a:defRPr sz="2100">
                <a:solidFill>
                  <a:schemeClr val="tx1"/>
                </a:solidFill>
                <a:latin typeface="Arial" panose="020B0604020202020204" pitchFamily="34" charset="0"/>
              </a:defRPr>
            </a:lvl4pPr>
            <a:lvl5pPr marL="2057400" indent="-228600" defTabSz="958850">
              <a:spcBef>
                <a:spcPct val="20000"/>
              </a:spcBef>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9pPr>
          </a:lstStyle>
          <a:p>
            <a:pPr>
              <a:spcBef>
                <a:spcPct val="0"/>
              </a:spcBef>
              <a:buClrTx/>
              <a:buSzTx/>
              <a:buFontTx/>
              <a:buNone/>
              <a:defRPr/>
            </a:pPr>
            <a:r>
              <a:rPr lang="en-US" altLang="zh-TW" sz="1500" b="0"/>
              <a:t>System VMs</a:t>
            </a:r>
          </a:p>
        </p:txBody>
      </p:sp>
      <p:sp>
        <p:nvSpPr>
          <p:cNvPr id="53251" name="投影片編號版面配置區 5">
            <a:extLst>
              <a:ext uri="{FF2B5EF4-FFF2-40B4-BE49-F238E27FC236}">
                <a16:creationId xmlns:a16="http://schemas.microsoft.com/office/drawing/2014/main" id="{1E854979-31F5-4AB0-8209-9C0410D514CB}"/>
              </a:ext>
            </a:extLst>
          </p:cNvPr>
          <p:cNvSpPr>
            <a:spLocks noGrp="1"/>
          </p:cNvSpPr>
          <p:nvPr>
            <p:ph type="sldNum" sz="quarter" idx="12"/>
          </p:nvPr>
        </p:nvSpPr>
        <p:spPr bwMode="auto">
          <a:xfrm>
            <a:off x="6553200" y="6245225"/>
            <a:ext cx="22860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ClrTx/>
              <a:buFontTx/>
              <a:buNone/>
            </a:pPr>
            <a:fld id="{12D1D4BD-4255-4DDC-B1F1-D70870340338}" type="slidenum">
              <a:rPr lang="en-US" altLang="zh-TW" smtClean="0"/>
              <a:pPr>
                <a:spcBef>
                  <a:spcPct val="0"/>
                </a:spcBef>
                <a:buClrTx/>
                <a:buFontTx/>
                <a:buNone/>
              </a:pPr>
              <a:t>44</a:t>
            </a:fld>
            <a:endParaRPr lang="en-US" altLang="zh-TW" sz="1200"/>
          </a:p>
        </p:txBody>
      </p:sp>
      <p:sp>
        <p:nvSpPr>
          <p:cNvPr id="540674" name="Rectangle 2">
            <a:extLst>
              <a:ext uri="{FF2B5EF4-FFF2-40B4-BE49-F238E27FC236}">
                <a16:creationId xmlns:a16="http://schemas.microsoft.com/office/drawing/2014/main" id="{DCC97FA4-B7FE-4AA5-9E41-2628F64E71EF}"/>
              </a:ext>
            </a:extLst>
          </p:cNvPr>
          <p:cNvSpPr>
            <a:spLocks noGrp="1" noChangeArrowheads="1"/>
          </p:cNvSpPr>
          <p:nvPr>
            <p:ph type="title"/>
          </p:nvPr>
        </p:nvSpPr>
        <p:spPr>
          <a:solidFill>
            <a:schemeClr val="bg1">
              <a:lumMod val="40000"/>
              <a:lumOff val="60000"/>
            </a:schemeClr>
          </a:solidFill>
        </p:spPr>
        <p:txBody>
          <a:bodyPr/>
          <a:lstStyle/>
          <a:p>
            <a:pPr eaLnBrk="1" hangingPunct="1">
              <a:defRPr/>
            </a:pPr>
            <a:r>
              <a:rPr lang="en-US" altLang="zh-TW" i="1" dirty="0">
                <a:solidFill>
                  <a:schemeClr val="tx1"/>
                </a:solidFill>
                <a:ea typeface="新細明體" charset="-120"/>
              </a:rPr>
              <a:t>Privileged</a:t>
            </a:r>
            <a:r>
              <a:rPr lang="en-US" altLang="zh-TW" dirty="0">
                <a:solidFill>
                  <a:schemeClr val="tx1"/>
                </a:solidFill>
                <a:ea typeface="新細明體" charset="-120"/>
              </a:rPr>
              <a:t> Instructions, Definition:</a:t>
            </a:r>
          </a:p>
        </p:txBody>
      </p:sp>
      <p:sp>
        <p:nvSpPr>
          <p:cNvPr id="53253" name="Rectangle 3">
            <a:extLst>
              <a:ext uri="{FF2B5EF4-FFF2-40B4-BE49-F238E27FC236}">
                <a16:creationId xmlns:a16="http://schemas.microsoft.com/office/drawing/2014/main" id="{F801754D-6C28-4AAA-9D20-0EA450284DD4}"/>
              </a:ext>
            </a:extLst>
          </p:cNvPr>
          <p:cNvSpPr>
            <a:spLocks noGrp="1" noChangeArrowheads="1"/>
          </p:cNvSpPr>
          <p:nvPr>
            <p:ph type="body" idx="1"/>
          </p:nvPr>
        </p:nvSpPr>
        <p:spPr>
          <a:xfrm>
            <a:off x="1816770" y="1110916"/>
            <a:ext cx="8207375" cy="3505200"/>
          </a:xfrm>
        </p:spPr>
        <p:txBody>
          <a:bodyPr/>
          <a:lstStyle/>
          <a:p>
            <a:pPr eaLnBrk="1" hangingPunct="1">
              <a:defRPr/>
            </a:pPr>
            <a:r>
              <a:rPr lang="en-US" altLang="zh-TW" i="1" dirty="0">
                <a:ea typeface="新細明體" panose="02020500000000000000" pitchFamily="18" charset="-120"/>
              </a:rPr>
              <a:t>Trap if executed in user mode; not in supervisor mode</a:t>
            </a:r>
          </a:p>
          <a:p>
            <a:pPr eaLnBrk="1" hangingPunct="1">
              <a:defRPr/>
            </a:pPr>
            <a:r>
              <a:rPr lang="en-US" altLang="zh-TW" dirty="0">
                <a:ea typeface="新細明體" panose="02020500000000000000" pitchFamily="18" charset="-120"/>
              </a:rPr>
              <a:t>Privileged instructions are </a:t>
            </a:r>
            <a:r>
              <a:rPr lang="en-US" altLang="zh-TW" i="1" dirty="0">
                <a:ea typeface="新細明體" panose="02020500000000000000" pitchFamily="18" charset="-120"/>
              </a:rPr>
              <a:t>required</a:t>
            </a:r>
            <a:r>
              <a:rPr lang="en-US" altLang="zh-TW" dirty="0">
                <a:ea typeface="新細明體" panose="02020500000000000000" pitchFamily="18" charset="-120"/>
              </a:rPr>
              <a:t> to trap</a:t>
            </a:r>
          </a:p>
          <a:p>
            <a:pPr lvl="1" eaLnBrk="1" hangingPunct="1">
              <a:defRPr/>
            </a:pPr>
            <a:r>
              <a:rPr lang="en-US" altLang="zh-TW" dirty="0">
                <a:ea typeface="新細明體" panose="02020500000000000000" pitchFamily="18" charset="-120"/>
              </a:rPr>
              <a:t>No-op in user mode is </a:t>
            </a:r>
            <a:r>
              <a:rPr lang="en-US" altLang="zh-TW" i="1" dirty="0">
                <a:ea typeface="新細明體" panose="02020500000000000000" pitchFamily="18" charset="-120"/>
              </a:rPr>
              <a:t>not</a:t>
            </a:r>
            <a:r>
              <a:rPr lang="en-US" altLang="zh-TW" dirty="0">
                <a:ea typeface="新細明體" panose="02020500000000000000" pitchFamily="18" charset="-120"/>
              </a:rPr>
              <a:t> enough</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日期版面配置區 3">
            <a:extLst>
              <a:ext uri="{FF2B5EF4-FFF2-40B4-BE49-F238E27FC236}">
                <a16:creationId xmlns:a16="http://schemas.microsoft.com/office/drawing/2014/main" id="{8740A430-31E1-4876-A610-2DFEE00F8D5D}"/>
              </a:ext>
            </a:extLst>
          </p:cNvPr>
          <p:cNvSpPr>
            <a:spLocks noGrp="1"/>
          </p:cNvSpPr>
          <p:nvPr>
            <p:ph type="dt" sz="quarter" idx="10"/>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spcBef>
                <a:spcPct val="20000"/>
              </a:spcBef>
              <a:buClr>
                <a:schemeClr val="tx1"/>
              </a:buClr>
              <a:buSzPct val="70000"/>
              <a:buFont typeface="Wingdings" panose="05000000000000000000" pitchFamily="2" charset="2"/>
              <a:buChar char="q"/>
              <a:defRPr sz="2800" b="1">
                <a:solidFill>
                  <a:schemeClr val="tx1"/>
                </a:solidFill>
                <a:latin typeface="Arial" panose="020B0604020202020204" pitchFamily="34" charset="0"/>
              </a:defRPr>
            </a:lvl1pPr>
            <a:lvl2pPr marL="742950" indent="-285750" defTabSz="958850">
              <a:spcBef>
                <a:spcPct val="20000"/>
              </a:spcBef>
              <a:buClr>
                <a:schemeClr val="tx1"/>
              </a:buClr>
              <a:buSzPct val="65000"/>
              <a:buChar char="•"/>
              <a:defRPr sz="2500">
                <a:solidFill>
                  <a:schemeClr val="tx1"/>
                </a:solidFill>
                <a:latin typeface="Arial" panose="020B0604020202020204" pitchFamily="34" charset="0"/>
              </a:defRPr>
            </a:lvl2pPr>
            <a:lvl3pPr marL="1143000" indent="-228600" defTabSz="958850">
              <a:spcBef>
                <a:spcPct val="20000"/>
              </a:spcBef>
              <a:buClr>
                <a:schemeClr val="tx1"/>
              </a:buClr>
              <a:buSzPct val="65000"/>
              <a:buFont typeface="Wingdings" panose="05000000000000000000" pitchFamily="2" charset="2"/>
              <a:buChar char="•"/>
              <a:defRPr sz="2500">
                <a:solidFill>
                  <a:schemeClr val="tx1"/>
                </a:solidFill>
                <a:latin typeface="Arial" panose="020B0604020202020204" pitchFamily="34" charset="0"/>
              </a:defRPr>
            </a:lvl3pPr>
            <a:lvl4pPr marL="1600200" indent="-228600" defTabSz="958850">
              <a:spcBef>
                <a:spcPct val="20000"/>
              </a:spcBef>
              <a:buClr>
                <a:schemeClr val="tx2"/>
              </a:buClr>
              <a:buSzPct val="75000"/>
              <a:buFont typeface="Wingdings" panose="05000000000000000000" pitchFamily="2" charset="2"/>
              <a:buChar char="–"/>
              <a:defRPr sz="2100">
                <a:solidFill>
                  <a:schemeClr val="tx1"/>
                </a:solidFill>
                <a:latin typeface="Arial" panose="020B0604020202020204" pitchFamily="34" charset="0"/>
              </a:defRPr>
            </a:lvl4pPr>
            <a:lvl5pPr marL="2057400" indent="-228600" defTabSz="958850">
              <a:spcBef>
                <a:spcPct val="20000"/>
              </a:spcBef>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9pPr>
          </a:lstStyle>
          <a:p>
            <a:pPr>
              <a:spcBef>
                <a:spcPct val="0"/>
              </a:spcBef>
              <a:buClrTx/>
              <a:buSzTx/>
              <a:buFontTx/>
              <a:buNone/>
              <a:defRPr/>
            </a:pPr>
            <a:r>
              <a:rPr lang="en-US" altLang="zh-TW" sz="1500" b="0"/>
              <a:t>System VMs</a:t>
            </a:r>
          </a:p>
        </p:txBody>
      </p:sp>
      <p:sp>
        <p:nvSpPr>
          <p:cNvPr id="54275" name="投影片編號版面配置區 5">
            <a:extLst>
              <a:ext uri="{FF2B5EF4-FFF2-40B4-BE49-F238E27FC236}">
                <a16:creationId xmlns:a16="http://schemas.microsoft.com/office/drawing/2014/main" id="{FA819EA3-105A-44F8-A03A-2681EE5A6497}"/>
              </a:ext>
            </a:extLst>
          </p:cNvPr>
          <p:cNvSpPr>
            <a:spLocks noGrp="1"/>
          </p:cNvSpPr>
          <p:nvPr>
            <p:ph type="sldNum" sz="quarter" idx="12"/>
          </p:nvPr>
        </p:nvSpPr>
        <p:spPr bwMode="auto">
          <a:xfrm>
            <a:off x="6553200" y="6245225"/>
            <a:ext cx="22860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ClrTx/>
              <a:buFontTx/>
              <a:buNone/>
            </a:pPr>
            <a:fld id="{12D1D4BD-4255-4DDC-B1F1-D70870340338}" type="slidenum">
              <a:rPr lang="en-US" altLang="zh-TW" smtClean="0"/>
              <a:pPr>
                <a:spcBef>
                  <a:spcPct val="0"/>
                </a:spcBef>
                <a:buClrTx/>
                <a:buFontTx/>
                <a:buNone/>
              </a:pPr>
              <a:t>45</a:t>
            </a:fld>
            <a:endParaRPr lang="en-US" altLang="zh-TW" sz="1200"/>
          </a:p>
        </p:txBody>
      </p:sp>
      <p:sp>
        <p:nvSpPr>
          <p:cNvPr id="535554" name="Rectangle 2">
            <a:extLst>
              <a:ext uri="{FF2B5EF4-FFF2-40B4-BE49-F238E27FC236}">
                <a16:creationId xmlns:a16="http://schemas.microsoft.com/office/drawing/2014/main" id="{64270FA0-CF7D-4B56-8556-259EF3B5FE9C}"/>
              </a:ext>
            </a:extLst>
          </p:cNvPr>
          <p:cNvSpPr>
            <a:spLocks noGrp="1" noChangeArrowheads="1"/>
          </p:cNvSpPr>
          <p:nvPr>
            <p:ph type="title"/>
          </p:nvPr>
        </p:nvSpPr>
        <p:spPr>
          <a:xfrm>
            <a:off x="1639094" y="133350"/>
            <a:ext cx="8637588" cy="628650"/>
          </a:xfrm>
          <a:solidFill>
            <a:schemeClr val="bg1">
              <a:lumMod val="60000"/>
              <a:lumOff val="40000"/>
            </a:schemeClr>
          </a:solidFill>
        </p:spPr>
        <p:txBody>
          <a:bodyPr/>
          <a:lstStyle/>
          <a:p>
            <a:pPr eaLnBrk="1" hangingPunct="1">
              <a:defRPr/>
            </a:pPr>
            <a:r>
              <a:rPr lang="en-US" altLang="zh-TW" sz="4000" i="1" dirty="0">
                <a:ea typeface="新細明體" charset="-120"/>
              </a:rPr>
              <a:t>Control Sensitive</a:t>
            </a:r>
            <a:r>
              <a:rPr lang="en-US" altLang="zh-TW" sz="4000" dirty="0">
                <a:ea typeface="新細明體" charset="-120"/>
              </a:rPr>
              <a:t> instructions:</a:t>
            </a:r>
          </a:p>
        </p:txBody>
      </p:sp>
      <p:sp>
        <p:nvSpPr>
          <p:cNvPr id="54277" name="Rectangle 3">
            <a:extLst>
              <a:ext uri="{FF2B5EF4-FFF2-40B4-BE49-F238E27FC236}">
                <a16:creationId xmlns:a16="http://schemas.microsoft.com/office/drawing/2014/main" id="{A75D1319-9665-4F23-9C39-431D426EFA96}"/>
              </a:ext>
            </a:extLst>
          </p:cNvPr>
          <p:cNvSpPr>
            <a:spLocks noGrp="1" noChangeArrowheads="1"/>
          </p:cNvSpPr>
          <p:nvPr>
            <p:ph type="body" idx="1"/>
          </p:nvPr>
        </p:nvSpPr>
        <p:spPr>
          <a:xfrm>
            <a:off x="1854201" y="1219200"/>
            <a:ext cx="8207375" cy="4876800"/>
          </a:xfrm>
        </p:spPr>
        <p:txBody>
          <a:bodyPr/>
          <a:lstStyle/>
          <a:p>
            <a:pPr marL="457200" indent="-457200">
              <a:buFont typeface="Wingdings" panose="05000000000000000000" pitchFamily="2" charset="2"/>
              <a:buAutoNum type="arabicPeriod"/>
              <a:defRPr/>
            </a:pPr>
            <a:r>
              <a:rPr lang="en-US" altLang="zh-TW" sz="2400" dirty="0">
                <a:ea typeface="新細明體" panose="02020500000000000000" pitchFamily="18" charset="-120"/>
              </a:rPr>
              <a:t>All instructions that change the amount of (memory) resources (or the mapping) </a:t>
            </a:r>
          </a:p>
          <a:p>
            <a:pPr marL="879475" lvl="1" indent="-400050">
              <a:defRPr/>
            </a:pPr>
            <a:r>
              <a:rPr lang="en-US" altLang="zh-TW" sz="2100" dirty="0">
                <a:ea typeface="新細明體" panose="02020500000000000000" pitchFamily="18" charset="-120"/>
              </a:rPr>
              <a:t>base/limit register </a:t>
            </a:r>
          </a:p>
          <a:p>
            <a:pPr marL="879475" lvl="1" indent="-400050">
              <a:defRPr/>
            </a:pPr>
            <a:r>
              <a:rPr lang="en-US" altLang="zh-TW" sz="2100" dirty="0">
                <a:ea typeface="新細明體" panose="02020500000000000000" pitchFamily="18" charset="-120"/>
              </a:rPr>
              <a:t>page table in general</a:t>
            </a:r>
          </a:p>
          <a:p>
            <a:pPr marL="457200" indent="-457200">
              <a:buFont typeface="Wingdings" panose="05000000000000000000" pitchFamily="2" charset="2"/>
              <a:buAutoNum type="arabicPeriod"/>
              <a:defRPr/>
            </a:pPr>
            <a:r>
              <a:rPr lang="en-US" altLang="zh-TW" sz="2400" dirty="0">
                <a:ea typeface="新細明體" panose="02020500000000000000" pitchFamily="18" charset="-120"/>
              </a:rPr>
              <a:t>All instructions that change the processor mode </a:t>
            </a:r>
          </a:p>
          <a:p>
            <a:pPr marL="457200" indent="-457200">
              <a:buNone/>
              <a:defRPr/>
            </a:pPr>
            <a:endParaRPr lang="en-US" altLang="zh-TW" sz="2400" dirty="0">
              <a:ea typeface="新細明體" panose="02020500000000000000" pitchFamily="18" charset="-120"/>
            </a:endParaRPr>
          </a:p>
          <a:p>
            <a:pPr marL="457200" indent="-457200">
              <a:defRPr/>
            </a:pPr>
            <a:r>
              <a:rPr lang="en-US" altLang="zh-TW" sz="2400" dirty="0">
                <a:ea typeface="新細明體" panose="02020500000000000000" pitchFamily="18" charset="-120"/>
              </a:rPr>
              <a:t>Instructions that provide control of  resources</a:t>
            </a:r>
          </a:p>
          <a:p>
            <a:pPr marL="457200" indent="-457200">
              <a:defRPr/>
            </a:pPr>
            <a:r>
              <a:rPr lang="en-US" altLang="zh-TW" sz="2400" dirty="0">
                <a:ea typeface="新細明體" panose="02020500000000000000" pitchFamily="18" charset="-120"/>
              </a:rPr>
              <a:t>Examples:</a:t>
            </a:r>
          </a:p>
          <a:p>
            <a:pPr marL="879475" lvl="1" indent="-400050">
              <a:defRPr/>
            </a:pPr>
            <a:r>
              <a:rPr lang="en-US" altLang="zh-TW" sz="2100" dirty="0">
                <a:ea typeface="新細明體" panose="02020500000000000000" pitchFamily="18" charset="-120"/>
              </a:rPr>
              <a:t>Load TLB (if TLB is architected)</a:t>
            </a:r>
          </a:p>
          <a:p>
            <a:pPr marL="879475" lvl="1" indent="-400050">
              <a:defRPr/>
            </a:pPr>
            <a:r>
              <a:rPr lang="en-US" altLang="zh-TW" sz="2100" dirty="0">
                <a:ea typeface="新細明體" panose="02020500000000000000" pitchFamily="18" charset="-120"/>
              </a:rPr>
              <a:t>Load control register</a:t>
            </a:r>
          </a:p>
          <a:p>
            <a:pPr marL="879475" lvl="1" indent="-400050">
              <a:defRPr/>
            </a:pPr>
            <a:r>
              <a:rPr lang="en-US" altLang="zh-TW" sz="2100" dirty="0">
                <a:ea typeface="新細明體" panose="02020500000000000000" pitchFamily="18" charset="-120"/>
              </a:rPr>
              <a:t>Return to user mode</a:t>
            </a:r>
          </a:p>
          <a:p>
            <a:pPr marL="457200" indent="-457200">
              <a:buNone/>
              <a:defRPr/>
            </a:pPr>
            <a:endParaRPr lang="en-US" altLang="zh-TW" sz="2400" dirty="0">
              <a:solidFill>
                <a:srgbClr val="000066"/>
              </a:solidFill>
              <a:ea typeface="新細明體" panose="02020500000000000000" pitchFamily="18" charset="-120"/>
            </a:endParaRPr>
          </a:p>
          <a:p>
            <a:pPr marL="457200" indent="-457200">
              <a:defRPr/>
            </a:pPr>
            <a:endParaRPr lang="en-US" altLang="zh-TW" sz="2400" dirty="0">
              <a:ea typeface="新細明體" panose="02020500000000000000" pitchFamily="18" charset="-120"/>
            </a:endParaRPr>
          </a:p>
          <a:p>
            <a:pPr marL="457200" indent="-457200">
              <a:buNone/>
              <a:defRPr/>
            </a:pPr>
            <a:endParaRPr lang="en-US" altLang="zh-TW" sz="2400" dirty="0">
              <a:ea typeface="新細明體" panose="02020500000000000000" pitchFamily="18" charset="-120"/>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日期版面配置區 3">
            <a:extLst>
              <a:ext uri="{FF2B5EF4-FFF2-40B4-BE49-F238E27FC236}">
                <a16:creationId xmlns:a16="http://schemas.microsoft.com/office/drawing/2014/main" id="{6AA9B2E3-3213-4563-B6BF-5C96F4E50351}"/>
              </a:ext>
            </a:extLst>
          </p:cNvPr>
          <p:cNvSpPr>
            <a:spLocks noGrp="1"/>
          </p:cNvSpPr>
          <p:nvPr>
            <p:ph type="dt" sz="quarter" idx="10"/>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spcBef>
                <a:spcPct val="20000"/>
              </a:spcBef>
              <a:buClr>
                <a:schemeClr val="tx1"/>
              </a:buClr>
              <a:buSzPct val="70000"/>
              <a:buFont typeface="Wingdings" panose="05000000000000000000" pitchFamily="2" charset="2"/>
              <a:buChar char="q"/>
              <a:defRPr sz="2800" b="1">
                <a:solidFill>
                  <a:schemeClr val="tx1"/>
                </a:solidFill>
                <a:latin typeface="Arial" panose="020B0604020202020204" pitchFamily="34" charset="0"/>
              </a:defRPr>
            </a:lvl1pPr>
            <a:lvl2pPr marL="742950" indent="-285750" defTabSz="958850">
              <a:spcBef>
                <a:spcPct val="20000"/>
              </a:spcBef>
              <a:buClr>
                <a:schemeClr val="tx1"/>
              </a:buClr>
              <a:buSzPct val="65000"/>
              <a:buChar char="•"/>
              <a:defRPr sz="2500">
                <a:solidFill>
                  <a:schemeClr val="tx1"/>
                </a:solidFill>
                <a:latin typeface="Arial" panose="020B0604020202020204" pitchFamily="34" charset="0"/>
              </a:defRPr>
            </a:lvl2pPr>
            <a:lvl3pPr marL="1143000" indent="-228600" defTabSz="958850">
              <a:spcBef>
                <a:spcPct val="20000"/>
              </a:spcBef>
              <a:buClr>
                <a:schemeClr val="tx1"/>
              </a:buClr>
              <a:buSzPct val="65000"/>
              <a:buFont typeface="Wingdings" panose="05000000000000000000" pitchFamily="2" charset="2"/>
              <a:buChar char="•"/>
              <a:defRPr sz="2500">
                <a:solidFill>
                  <a:schemeClr val="tx1"/>
                </a:solidFill>
                <a:latin typeface="Arial" panose="020B0604020202020204" pitchFamily="34" charset="0"/>
              </a:defRPr>
            </a:lvl3pPr>
            <a:lvl4pPr marL="1600200" indent="-228600" defTabSz="958850">
              <a:spcBef>
                <a:spcPct val="20000"/>
              </a:spcBef>
              <a:buClr>
                <a:schemeClr val="tx2"/>
              </a:buClr>
              <a:buSzPct val="75000"/>
              <a:buFont typeface="Wingdings" panose="05000000000000000000" pitchFamily="2" charset="2"/>
              <a:buChar char="–"/>
              <a:defRPr sz="2100">
                <a:solidFill>
                  <a:schemeClr val="tx1"/>
                </a:solidFill>
                <a:latin typeface="Arial" panose="020B0604020202020204" pitchFamily="34" charset="0"/>
              </a:defRPr>
            </a:lvl4pPr>
            <a:lvl5pPr marL="2057400" indent="-228600" defTabSz="958850">
              <a:spcBef>
                <a:spcPct val="20000"/>
              </a:spcBef>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9pPr>
          </a:lstStyle>
          <a:p>
            <a:pPr>
              <a:spcBef>
                <a:spcPct val="0"/>
              </a:spcBef>
              <a:buClrTx/>
              <a:buSzTx/>
              <a:buFontTx/>
              <a:buNone/>
              <a:defRPr/>
            </a:pPr>
            <a:r>
              <a:rPr lang="en-US" altLang="zh-TW" sz="1500" b="0"/>
              <a:t>System VMs</a:t>
            </a:r>
          </a:p>
        </p:txBody>
      </p:sp>
      <p:sp>
        <p:nvSpPr>
          <p:cNvPr id="55299" name="投影片編號版面配置區 5">
            <a:extLst>
              <a:ext uri="{FF2B5EF4-FFF2-40B4-BE49-F238E27FC236}">
                <a16:creationId xmlns:a16="http://schemas.microsoft.com/office/drawing/2014/main" id="{86A83943-AD7B-4F6A-84C7-95368363CAFA}"/>
              </a:ext>
            </a:extLst>
          </p:cNvPr>
          <p:cNvSpPr>
            <a:spLocks noGrp="1"/>
          </p:cNvSpPr>
          <p:nvPr>
            <p:ph type="sldNum" sz="quarter" idx="12"/>
          </p:nvPr>
        </p:nvSpPr>
        <p:spPr bwMode="auto">
          <a:xfrm>
            <a:off x="6553200" y="6245225"/>
            <a:ext cx="22860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ClrTx/>
              <a:buFontTx/>
              <a:buNone/>
            </a:pPr>
            <a:fld id="{12D1D4BD-4255-4DDC-B1F1-D70870340338}" type="slidenum">
              <a:rPr lang="en-US" altLang="zh-TW" smtClean="0"/>
              <a:pPr>
                <a:spcBef>
                  <a:spcPct val="0"/>
                </a:spcBef>
                <a:buClrTx/>
                <a:buFontTx/>
                <a:buNone/>
              </a:pPr>
              <a:t>46</a:t>
            </a:fld>
            <a:endParaRPr lang="en-US" altLang="zh-TW" sz="1200"/>
          </a:p>
        </p:txBody>
      </p:sp>
      <p:sp>
        <p:nvSpPr>
          <p:cNvPr id="536578" name="Rectangle 2">
            <a:extLst>
              <a:ext uri="{FF2B5EF4-FFF2-40B4-BE49-F238E27FC236}">
                <a16:creationId xmlns:a16="http://schemas.microsoft.com/office/drawing/2014/main" id="{BA39CCA5-4354-45C3-AEF5-C81DCD42DA7A}"/>
              </a:ext>
            </a:extLst>
          </p:cNvPr>
          <p:cNvSpPr>
            <a:spLocks noGrp="1" noChangeArrowheads="1"/>
          </p:cNvSpPr>
          <p:nvPr>
            <p:ph type="title"/>
          </p:nvPr>
        </p:nvSpPr>
        <p:spPr>
          <a:xfrm>
            <a:off x="1777206" y="57150"/>
            <a:ext cx="8637588" cy="628650"/>
          </a:xfrm>
          <a:solidFill>
            <a:schemeClr val="bg1">
              <a:lumMod val="60000"/>
              <a:lumOff val="40000"/>
            </a:schemeClr>
          </a:solidFill>
        </p:spPr>
        <p:txBody>
          <a:bodyPr/>
          <a:lstStyle/>
          <a:p>
            <a:pPr eaLnBrk="1" hangingPunct="1">
              <a:defRPr/>
            </a:pPr>
            <a:r>
              <a:rPr lang="en-US" altLang="zh-TW" sz="4000" i="1" dirty="0">
                <a:ea typeface="新細明體" charset="-120"/>
              </a:rPr>
              <a:t>Behavior Sensitive</a:t>
            </a:r>
            <a:r>
              <a:rPr lang="en-US" altLang="zh-TW" sz="4000" dirty="0">
                <a:ea typeface="新細明體" charset="-120"/>
              </a:rPr>
              <a:t> instructions:</a:t>
            </a:r>
          </a:p>
        </p:txBody>
      </p:sp>
      <p:sp>
        <p:nvSpPr>
          <p:cNvPr id="55301" name="Rectangle 3">
            <a:extLst>
              <a:ext uri="{FF2B5EF4-FFF2-40B4-BE49-F238E27FC236}">
                <a16:creationId xmlns:a16="http://schemas.microsoft.com/office/drawing/2014/main" id="{AEFD53FB-9BCD-451B-8DD5-38B8D31C9798}"/>
              </a:ext>
            </a:extLst>
          </p:cNvPr>
          <p:cNvSpPr>
            <a:spLocks noGrp="1" noChangeArrowheads="1"/>
          </p:cNvSpPr>
          <p:nvPr>
            <p:ph type="body" idx="1"/>
          </p:nvPr>
        </p:nvSpPr>
        <p:spPr>
          <a:xfrm>
            <a:off x="372979" y="1027112"/>
            <a:ext cx="11819021" cy="4876800"/>
          </a:xfrm>
        </p:spPr>
        <p:txBody>
          <a:bodyPr/>
          <a:lstStyle/>
          <a:p>
            <a:pPr marL="533400" indent="-533400">
              <a:lnSpc>
                <a:spcPct val="90000"/>
              </a:lnSpc>
              <a:buFont typeface="Wingdings" panose="05000000000000000000" pitchFamily="2" charset="2"/>
              <a:buAutoNum type="arabicPeriod"/>
              <a:defRPr/>
            </a:pPr>
            <a:r>
              <a:rPr lang="en-US" altLang="zh-TW" sz="3200" dirty="0">
                <a:ea typeface="新細明體" panose="02020500000000000000" pitchFamily="18" charset="-120"/>
              </a:rPr>
              <a:t>All instructions whose results depend on the mapping of physical memory</a:t>
            </a:r>
          </a:p>
          <a:p>
            <a:pPr marL="533400" indent="-533400">
              <a:lnSpc>
                <a:spcPct val="90000"/>
              </a:lnSpc>
              <a:buFont typeface="Wingdings" panose="05000000000000000000" pitchFamily="2" charset="2"/>
              <a:buAutoNum type="arabicPeriod"/>
              <a:defRPr/>
            </a:pPr>
            <a:r>
              <a:rPr lang="en-US" altLang="zh-TW" sz="3200" dirty="0">
                <a:ea typeface="新細明體" panose="02020500000000000000" pitchFamily="18" charset="-120"/>
              </a:rPr>
              <a:t>All instructions whose behavior depends on the mode</a:t>
            </a:r>
          </a:p>
          <a:p>
            <a:pPr marL="533400" indent="-533400">
              <a:lnSpc>
                <a:spcPct val="90000"/>
              </a:lnSpc>
              <a:defRPr/>
            </a:pPr>
            <a:r>
              <a:rPr lang="en-US" altLang="zh-TW" sz="3200" dirty="0">
                <a:ea typeface="新細明體" panose="02020500000000000000" pitchFamily="18" charset="-120"/>
              </a:rPr>
              <a:t>Instructions whose behavior depends on configuration of specific resources (and who owns them)</a:t>
            </a:r>
          </a:p>
          <a:p>
            <a:pPr marL="533400" indent="-533400">
              <a:lnSpc>
                <a:spcPct val="90000"/>
              </a:lnSpc>
              <a:defRPr/>
            </a:pPr>
            <a:r>
              <a:rPr lang="en-US" altLang="zh-TW" sz="3200" dirty="0">
                <a:ea typeface="新細明體" panose="02020500000000000000" pitchFamily="18" charset="-120"/>
              </a:rPr>
              <a:t>Examples:</a:t>
            </a:r>
          </a:p>
          <a:p>
            <a:pPr marL="955675" lvl="1" indent="-476250">
              <a:lnSpc>
                <a:spcPct val="90000"/>
              </a:lnSpc>
              <a:defRPr/>
            </a:pPr>
            <a:r>
              <a:rPr lang="en-US" altLang="zh-TW" sz="2800" dirty="0">
                <a:ea typeface="新細明體" panose="02020500000000000000" pitchFamily="18" charset="-120"/>
              </a:rPr>
              <a:t>Load physical address</a:t>
            </a:r>
          </a:p>
          <a:p>
            <a:pPr marL="955675" lvl="1" indent="-476250">
              <a:lnSpc>
                <a:spcPct val="90000"/>
              </a:lnSpc>
              <a:defRPr/>
            </a:pPr>
            <a:r>
              <a:rPr lang="en-US" altLang="zh-TW" sz="2800" dirty="0">
                <a:ea typeface="新細明體" panose="02020500000000000000" pitchFamily="18" charset="-120"/>
              </a:rPr>
              <a:t>POPF (Intel x86): Interrupt-enable flag remains unaffected in user mode</a:t>
            </a:r>
          </a:p>
          <a:p>
            <a:pPr marL="955675" lvl="1" indent="-476250">
              <a:lnSpc>
                <a:spcPct val="90000"/>
              </a:lnSpc>
              <a:buNone/>
              <a:defRPr/>
            </a:pPr>
            <a:endParaRPr lang="en-US" altLang="zh-TW" dirty="0">
              <a:solidFill>
                <a:srgbClr val="000066"/>
              </a:solidFill>
              <a:ea typeface="新細明體" panose="02020500000000000000" pitchFamily="18" charset="-120"/>
            </a:endParaRPr>
          </a:p>
          <a:p>
            <a:pPr marL="533400" indent="-533400">
              <a:lnSpc>
                <a:spcPct val="90000"/>
              </a:lnSpc>
              <a:buNone/>
              <a:defRPr/>
            </a:pPr>
            <a:endParaRPr lang="en-US" altLang="zh-TW" dirty="0">
              <a:ea typeface="新細明體" panose="02020500000000000000" pitchFamily="18" charset="-120"/>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日期版面配置區 3">
            <a:extLst>
              <a:ext uri="{FF2B5EF4-FFF2-40B4-BE49-F238E27FC236}">
                <a16:creationId xmlns:a16="http://schemas.microsoft.com/office/drawing/2014/main" id="{F94A8487-99AE-40AB-9814-46729DE3B109}"/>
              </a:ext>
            </a:extLst>
          </p:cNvPr>
          <p:cNvSpPr>
            <a:spLocks noGrp="1"/>
          </p:cNvSpPr>
          <p:nvPr>
            <p:ph type="dt" sz="quarter" idx="10"/>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spcBef>
                <a:spcPct val="20000"/>
              </a:spcBef>
              <a:buClr>
                <a:schemeClr val="tx1"/>
              </a:buClr>
              <a:buSzPct val="70000"/>
              <a:buFont typeface="Wingdings" panose="05000000000000000000" pitchFamily="2" charset="2"/>
              <a:buChar char="q"/>
              <a:defRPr sz="2800" b="1">
                <a:solidFill>
                  <a:schemeClr val="tx1"/>
                </a:solidFill>
                <a:latin typeface="Arial" panose="020B0604020202020204" pitchFamily="34" charset="0"/>
              </a:defRPr>
            </a:lvl1pPr>
            <a:lvl2pPr marL="742950" indent="-285750" defTabSz="958850">
              <a:spcBef>
                <a:spcPct val="20000"/>
              </a:spcBef>
              <a:buClr>
                <a:schemeClr val="tx1"/>
              </a:buClr>
              <a:buSzPct val="65000"/>
              <a:buChar char="•"/>
              <a:defRPr sz="2500">
                <a:solidFill>
                  <a:schemeClr val="tx1"/>
                </a:solidFill>
                <a:latin typeface="Arial" panose="020B0604020202020204" pitchFamily="34" charset="0"/>
              </a:defRPr>
            </a:lvl2pPr>
            <a:lvl3pPr marL="1143000" indent="-228600" defTabSz="958850">
              <a:spcBef>
                <a:spcPct val="20000"/>
              </a:spcBef>
              <a:buClr>
                <a:schemeClr val="tx1"/>
              </a:buClr>
              <a:buSzPct val="65000"/>
              <a:buFont typeface="Wingdings" panose="05000000000000000000" pitchFamily="2" charset="2"/>
              <a:buChar char="•"/>
              <a:defRPr sz="2500">
                <a:solidFill>
                  <a:schemeClr val="tx1"/>
                </a:solidFill>
                <a:latin typeface="Arial" panose="020B0604020202020204" pitchFamily="34" charset="0"/>
              </a:defRPr>
            </a:lvl3pPr>
            <a:lvl4pPr marL="1600200" indent="-228600" defTabSz="958850">
              <a:spcBef>
                <a:spcPct val="20000"/>
              </a:spcBef>
              <a:buClr>
                <a:schemeClr val="tx2"/>
              </a:buClr>
              <a:buSzPct val="75000"/>
              <a:buFont typeface="Wingdings" panose="05000000000000000000" pitchFamily="2" charset="2"/>
              <a:buChar char="–"/>
              <a:defRPr sz="2100">
                <a:solidFill>
                  <a:schemeClr val="tx1"/>
                </a:solidFill>
                <a:latin typeface="Arial" panose="020B0604020202020204" pitchFamily="34" charset="0"/>
              </a:defRPr>
            </a:lvl4pPr>
            <a:lvl5pPr marL="2057400" indent="-228600" defTabSz="958850">
              <a:spcBef>
                <a:spcPct val="20000"/>
              </a:spcBef>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9pPr>
          </a:lstStyle>
          <a:p>
            <a:pPr>
              <a:spcBef>
                <a:spcPct val="0"/>
              </a:spcBef>
              <a:buClrTx/>
              <a:buSzTx/>
              <a:buFontTx/>
              <a:buNone/>
              <a:defRPr/>
            </a:pPr>
            <a:r>
              <a:rPr lang="en-US" altLang="zh-TW" sz="1500" b="0"/>
              <a:t>System VMs</a:t>
            </a:r>
          </a:p>
        </p:txBody>
      </p:sp>
      <p:sp>
        <p:nvSpPr>
          <p:cNvPr id="50179" name="投影片編號版面配置區 5">
            <a:extLst>
              <a:ext uri="{FF2B5EF4-FFF2-40B4-BE49-F238E27FC236}">
                <a16:creationId xmlns:a16="http://schemas.microsoft.com/office/drawing/2014/main" id="{ECDAA61F-A955-4B5E-932A-D8D1BAB1605C}"/>
              </a:ext>
            </a:extLst>
          </p:cNvPr>
          <p:cNvSpPr>
            <a:spLocks noGrp="1"/>
          </p:cNvSpPr>
          <p:nvPr>
            <p:ph type="sldNum" sz="quarter" idx="12"/>
          </p:nvPr>
        </p:nvSpPr>
        <p:spPr bwMode="auto">
          <a:xfrm>
            <a:off x="6553200" y="6245225"/>
            <a:ext cx="22860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ClrTx/>
              <a:buFontTx/>
              <a:buNone/>
            </a:pPr>
            <a:fld id="{12D1D4BD-4255-4DDC-B1F1-D70870340338}" type="slidenum">
              <a:rPr lang="en-US" altLang="zh-TW" smtClean="0"/>
              <a:pPr>
                <a:spcBef>
                  <a:spcPct val="0"/>
                </a:spcBef>
                <a:buClrTx/>
                <a:buFontTx/>
                <a:buNone/>
              </a:pPr>
              <a:t>47</a:t>
            </a:fld>
            <a:endParaRPr lang="en-US" altLang="zh-TW" sz="1200"/>
          </a:p>
        </p:txBody>
      </p:sp>
      <p:sp>
        <p:nvSpPr>
          <p:cNvPr id="480258" name="Rectangle 2">
            <a:extLst>
              <a:ext uri="{FF2B5EF4-FFF2-40B4-BE49-F238E27FC236}">
                <a16:creationId xmlns:a16="http://schemas.microsoft.com/office/drawing/2014/main" id="{FD8E25F8-326C-4067-90D3-581AF06A16AD}"/>
              </a:ext>
            </a:extLst>
          </p:cNvPr>
          <p:cNvSpPr>
            <a:spLocks noGrp="1" noChangeArrowheads="1"/>
          </p:cNvSpPr>
          <p:nvPr>
            <p:ph type="title"/>
          </p:nvPr>
        </p:nvSpPr>
        <p:spPr>
          <a:xfrm>
            <a:off x="1852724" y="71437"/>
            <a:ext cx="8637588" cy="620713"/>
          </a:xfrm>
          <a:solidFill>
            <a:schemeClr val="accent2">
              <a:lumMod val="20000"/>
              <a:lumOff val="80000"/>
            </a:schemeClr>
          </a:solidFill>
        </p:spPr>
        <p:txBody>
          <a:bodyPr/>
          <a:lstStyle/>
          <a:p>
            <a:pPr eaLnBrk="1" hangingPunct="1">
              <a:defRPr/>
            </a:pPr>
            <a:r>
              <a:rPr lang="en-US" altLang="zh-TW" dirty="0">
                <a:ea typeface="新細明體" charset="-120"/>
              </a:rPr>
              <a:t>CPU Virtualization Challenges</a:t>
            </a:r>
          </a:p>
        </p:txBody>
      </p:sp>
      <p:sp>
        <p:nvSpPr>
          <p:cNvPr id="50181" name="Rectangle 3">
            <a:extLst>
              <a:ext uri="{FF2B5EF4-FFF2-40B4-BE49-F238E27FC236}">
                <a16:creationId xmlns:a16="http://schemas.microsoft.com/office/drawing/2014/main" id="{3738C153-91E4-4321-A77E-9FBC8A0D122A}"/>
              </a:ext>
            </a:extLst>
          </p:cNvPr>
          <p:cNvSpPr>
            <a:spLocks noGrp="1" noChangeArrowheads="1"/>
          </p:cNvSpPr>
          <p:nvPr>
            <p:ph type="body" idx="1"/>
          </p:nvPr>
        </p:nvSpPr>
        <p:spPr>
          <a:xfrm>
            <a:off x="1676400" y="1295400"/>
            <a:ext cx="8763000" cy="5105400"/>
          </a:xfrm>
        </p:spPr>
        <p:txBody>
          <a:bodyPr/>
          <a:lstStyle/>
          <a:p>
            <a:pPr eaLnBrk="1" hangingPunct="1">
              <a:lnSpc>
                <a:spcPct val="90000"/>
              </a:lnSpc>
              <a:defRPr/>
            </a:pPr>
            <a:r>
              <a:rPr lang="en-US" altLang="zh-TW" sz="2800" dirty="0">
                <a:solidFill>
                  <a:schemeClr val="tx2"/>
                </a:solidFill>
                <a:ea typeface="新細明體" panose="02020500000000000000" pitchFamily="18" charset="-120"/>
              </a:rPr>
              <a:t>ISA </a:t>
            </a:r>
            <a:r>
              <a:rPr lang="en-US" altLang="zh-TW" sz="2800" dirty="0" err="1">
                <a:solidFill>
                  <a:schemeClr val="tx2"/>
                </a:solidFill>
                <a:ea typeface="新細明體" panose="02020500000000000000" pitchFamily="18" charset="-120"/>
              </a:rPr>
              <a:t>Virtualizablity</a:t>
            </a:r>
            <a:endParaRPr lang="en-US" altLang="zh-TW" sz="2800" dirty="0">
              <a:solidFill>
                <a:schemeClr val="tx2"/>
              </a:solidFill>
              <a:ea typeface="新細明體" panose="02020500000000000000" pitchFamily="18" charset="-120"/>
            </a:endParaRPr>
          </a:p>
          <a:p>
            <a:pPr marL="0" indent="0">
              <a:lnSpc>
                <a:spcPct val="90000"/>
              </a:lnSpc>
              <a:buNone/>
              <a:defRPr/>
            </a:pPr>
            <a:endParaRPr lang="en-US" altLang="zh-TW" sz="2100" dirty="0">
              <a:solidFill>
                <a:srgbClr val="000066"/>
              </a:solidFill>
              <a:ea typeface="新細明體" panose="02020500000000000000" pitchFamily="18" charset="-120"/>
            </a:endParaRPr>
          </a:p>
          <a:p>
            <a:pPr marL="0" indent="0">
              <a:lnSpc>
                <a:spcPct val="90000"/>
              </a:lnSpc>
              <a:buNone/>
              <a:defRPr/>
            </a:pPr>
            <a:r>
              <a:rPr lang="en-US" altLang="zh-TW" sz="2100" dirty="0">
                <a:solidFill>
                  <a:srgbClr val="000066"/>
                </a:solidFill>
                <a:ea typeface="新細明體" panose="02020500000000000000" pitchFamily="18" charset="-120"/>
              </a:rPr>
              <a:t>	</a:t>
            </a:r>
          </a:p>
        </p:txBody>
      </p:sp>
      <p:sp>
        <p:nvSpPr>
          <p:cNvPr id="43014" name="Oval 1">
            <a:extLst>
              <a:ext uri="{FF2B5EF4-FFF2-40B4-BE49-F238E27FC236}">
                <a16:creationId xmlns:a16="http://schemas.microsoft.com/office/drawing/2014/main" id="{93B10622-5F6E-4A65-A9DD-6E345F3B6B22}"/>
              </a:ext>
            </a:extLst>
          </p:cNvPr>
          <p:cNvSpPr>
            <a:spLocks noChangeArrowheads="1"/>
          </p:cNvSpPr>
          <p:nvPr/>
        </p:nvSpPr>
        <p:spPr bwMode="auto">
          <a:xfrm>
            <a:off x="2324100" y="1984375"/>
            <a:ext cx="2895600" cy="3124200"/>
          </a:xfrm>
          <a:prstGeom prst="ellipse">
            <a:avLst/>
          </a:prstGeom>
          <a:solidFill>
            <a:srgbClr val="FFFF00"/>
          </a:solidFill>
          <a:ln w="9525" algn="ctr">
            <a:solidFill>
              <a:srgbClr val="FF0000"/>
            </a:solidFill>
            <a:round/>
            <a:headEnd/>
            <a:tailEnd/>
          </a:ln>
        </p:spPr>
        <p:txBody>
          <a:bodyPr wrap="none"/>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800">
                <a:solidFill>
                  <a:srgbClr val="FF0000"/>
                </a:solidFill>
                <a:ea typeface="新細明體" panose="02020500000000000000" pitchFamily="18" charset="-120"/>
              </a:rPr>
              <a:t>Non-privileged</a:t>
            </a:r>
          </a:p>
        </p:txBody>
      </p:sp>
      <p:sp>
        <p:nvSpPr>
          <p:cNvPr id="43015" name="Oval 2">
            <a:extLst>
              <a:ext uri="{FF2B5EF4-FFF2-40B4-BE49-F238E27FC236}">
                <a16:creationId xmlns:a16="http://schemas.microsoft.com/office/drawing/2014/main" id="{B1760118-D262-43F2-A46B-612B15F3EDC9}"/>
              </a:ext>
            </a:extLst>
          </p:cNvPr>
          <p:cNvSpPr>
            <a:spLocks noChangeArrowheads="1"/>
          </p:cNvSpPr>
          <p:nvPr/>
        </p:nvSpPr>
        <p:spPr bwMode="auto">
          <a:xfrm>
            <a:off x="3200400" y="2917825"/>
            <a:ext cx="1143000" cy="1257300"/>
          </a:xfrm>
          <a:prstGeom prst="ellipse">
            <a:avLst/>
          </a:prstGeom>
          <a:solidFill>
            <a:srgbClr val="FF0000"/>
          </a:solidFill>
          <a:ln w="28575" algn="ctr">
            <a:solidFill>
              <a:srgbClr val="0070C0"/>
            </a:solidFill>
            <a:round/>
            <a:headEnd/>
            <a:tailEnd/>
          </a:ln>
        </p:spPr>
        <p:txBody>
          <a:bodyPr wrap="none"/>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en-US" sz="1600">
              <a:solidFill>
                <a:srgbClr val="000066"/>
              </a:solidFill>
            </a:endParaRPr>
          </a:p>
          <a:p>
            <a:pPr algn="ctr" eaLnBrk="1" hangingPunct="1">
              <a:spcBef>
                <a:spcPct val="0"/>
              </a:spcBef>
              <a:buClrTx/>
              <a:buFontTx/>
              <a:buNone/>
            </a:pPr>
            <a:r>
              <a:rPr lang="en-US" altLang="en-US" sz="1600" b="1">
                <a:solidFill>
                  <a:schemeClr val="bg1"/>
                </a:solidFill>
              </a:rPr>
              <a:t>Privileged</a:t>
            </a:r>
          </a:p>
        </p:txBody>
      </p:sp>
      <p:sp>
        <p:nvSpPr>
          <p:cNvPr id="43016" name="TextBox 3">
            <a:extLst>
              <a:ext uri="{FF2B5EF4-FFF2-40B4-BE49-F238E27FC236}">
                <a16:creationId xmlns:a16="http://schemas.microsoft.com/office/drawing/2014/main" id="{CA19EE60-730E-4C9C-9887-AA3288A3577C}"/>
              </a:ext>
            </a:extLst>
          </p:cNvPr>
          <p:cNvSpPr txBox="1">
            <a:spLocks noChangeArrowheads="1"/>
          </p:cNvSpPr>
          <p:nvPr/>
        </p:nvSpPr>
        <p:spPr bwMode="auto">
          <a:xfrm>
            <a:off x="5562600" y="1752600"/>
            <a:ext cx="465455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FontTx/>
              <a:buNone/>
            </a:pPr>
            <a:r>
              <a:rPr lang="en-US" altLang="en-US" sz="2400" dirty="0">
                <a:solidFill>
                  <a:schemeClr val="tx2"/>
                </a:solidFill>
              </a:rPr>
              <a:t>Ideally, if an ISA has</a:t>
            </a:r>
          </a:p>
          <a:p>
            <a:pPr>
              <a:spcBef>
                <a:spcPct val="0"/>
              </a:spcBef>
              <a:buClrTx/>
              <a:buFontTx/>
              <a:buNone/>
            </a:pPr>
            <a:r>
              <a:rPr lang="en-US" altLang="en-US" sz="2400" dirty="0">
                <a:solidFill>
                  <a:schemeClr val="tx2"/>
                </a:solidFill>
              </a:rPr>
              <a:t>privileged instructions </a:t>
            </a:r>
          </a:p>
          <a:p>
            <a:pPr>
              <a:spcBef>
                <a:spcPct val="0"/>
              </a:spcBef>
              <a:buClrTx/>
              <a:buFontTx/>
              <a:buNone/>
            </a:pPr>
            <a:r>
              <a:rPr lang="en-US" altLang="en-US" sz="2400" dirty="0">
                <a:solidFill>
                  <a:schemeClr val="tx2"/>
                </a:solidFill>
              </a:rPr>
              <a:t>and non-privileged instructions</a:t>
            </a:r>
          </a:p>
          <a:p>
            <a:pPr>
              <a:spcBef>
                <a:spcPct val="0"/>
              </a:spcBef>
              <a:buClrTx/>
              <a:buFontTx/>
              <a:buNone/>
            </a:pPr>
            <a:r>
              <a:rPr lang="en-US" altLang="en-US" sz="2400" dirty="0">
                <a:solidFill>
                  <a:schemeClr val="tx2"/>
                </a:solidFill>
              </a:rPr>
              <a:t>exclusively separated so that</a:t>
            </a:r>
          </a:p>
          <a:p>
            <a:pPr>
              <a:spcBef>
                <a:spcPct val="0"/>
              </a:spcBef>
              <a:buClrTx/>
              <a:buFontTx/>
              <a:buNone/>
            </a:pPr>
            <a:r>
              <a:rPr lang="en-US" altLang="en-US" sz="2400" dirty="0">
                <a:solidFill>
                  <a:schemeClr val="tx2"/>
                </a:solidFill>
              </a:rPr>
              <a:t>all  </a:t>
            </a:r>
            <a:r>
              <a:rPr lang="en-US" altLang="en-US" sz="2400" i="1" dirty="0">
                <a:solidFill>
                  <a:srgbClr val="FF0000"/>
                </a:solidFill>
              </a:rPr>
              <a:t>control-sensitive</a:t>
            </a:r>
            <a:r>
              <a:rPr lang="en-US" altLang="en-US" sz="2400" i="1" dirty="0">
                <a:solidFill>
                  <a:schemeClr val="tx2"/>
                </a:solidFill>
              </a:rPr>
              <a:t> </a:t>
            </a:r>
            <a:r>
              <a:rPr lang="en-US" altLang="en-US" sz="2400" dirty="0">
                <a:solidFill>
                  <a:schemeClr val="tx2"/>
                </a:solidFill>
              </a:rPr>
              <a:t>and</a:t>
            </a:r>
            <a:r>
              <a:rPr lang="en-US" altLang="en-US" sz="2400" i="1" dirty="0">
                <a:solidFill>
                  <a:schemeClr val="tx2"/>
                </a:solidFill>
              </a:rPr>
              <a:t> </a:t>
            </a:r>
          </a:p>
          <a:p>
            <a:pPr>
              <a:spcBef>
                <a:spcPct val="0"/>
              </a:spcBef>
              <a:buClrTx/>
              <a:buFontTx/>
              <a:buNone/>
            </a:pPr>
            <a:r>
              <a:rPr lang="en-US" altLang="en-US" sz="2400" i="1" dirty="0">
                <a:solidFill>
                  <a:srgbClr val="FF0000"/>
                </a:solidFill>
              </a:rPr>
              <a:t>behavior-sensitive</a:t>
            </a:r>
            <a:r>
              <a:rPr lang="en-US" altLang="en-US" sz="2400" i="1" dirty="0">
                <a:solidFill>
                  <a:schemeClr val="tx2"/>
                </a:solidFill>
              </a:rPr>
              <a:t> </a:t>
            </a:r>
            <a:r>
              <a:rPr lang="en-US" altLang="en-US" sz="2400" dirty="0">
                <a:solidFill>
                  <a:schemeClr val="tx2"/>
                </a:solidFill>
              </a:rPr>
              <a:t>instructions</a:t>
            </a:r>
          </a:p>
          <a:p>
            <a:pPr>
              <a:spcBef>
                <a:spcPct val="0"/>
              </a:spcBef>
              <a:buClrTx/>
              <a:buFontTx/>
              <a:buNone/>
            </a:pPr>
            <a:r>
              <a:rPr lang="en-US" altLang="en-US" sz="2400" dirty="0">
                <a:solidFill>
                  <a:schemeClr val="tx2"/>
                </a:solidFill>
              </a:rPr>
              <a:t>are privileged instructions, then</a:t>
            </a:r>
          </a:p>
          <a:p>
            <a:pPr>
              <a:spcBef>
                <a:spcPct val="0"/>
              </a:spcBef>
              <a:buClrTx/>
              <a:buFontTx/>
              <a:buNone/>
            </a:pPr>
            <a:r>
              <a:rPr lang="en-US" altLang="en-US" sz="2400" dirty="0">
                <a:solidFill>
                  <a:schemeClr val="tx2"/>
                </a:solidFill>
              </a:rPr>
              <a:t>The trap-and-emulate model can</a:t>
            </a:r>
          </a:p>
          <a:p>
            <a:pPr>
              <a:spcBef>
                <a:spcPct val="0"/>
              </a:spcBef>
              <a:buClrTx/>
              <a:buFontTx/>
              <a:buNone/>
            </a:pPr>
            <a:r>
              <a:rPr lang="en-US" altLang="en-US" sz="2400" dirty="0">
                <a:solidFill>
                  <a:schemeClr val="tx2"/>
                </a:solidFill>
              </a:rPr>
              <a:t>be efficiently implemented.</a:t>
            </a:r>
          </a:p>
        </p:txBody>
      </p:sp>
      <p:sp>
        <p:nvSpPr>
          <p:cNvPr id="2" name="TextBox 1">
            <a:extLst>
              <a:ext uri="{FF2B5EF4-FFF2-40B4-BE49-F238E27FC236}">
                <a16:creationId xmlns:a16="http://schemas.microsoft.com/office/drawing/2014/main" id="{799AA31B-C206-443B-8EB8-623BC2760BFE}"/>
              </a:ext>
            </a:extLst>
          </p:cNvPr>
          <p:cNvSpPr txBox="1"/>
          <p:nvPr/>
        </p:nvSpPr>
        <p:spPr>
          <a:xfrm>
            <a:off x="2324100" y="5400129"/>
            <a:ext cx="7390485" cy="769441"/>
          </a:xfrm>
          <a:prstGeom prst="rect">
            <a:avLst/>
          </a:prstGeom>
          <a:solidFill>
            <a:srgbClr val="92D050"/>
          </a:solidFill>
          <a:ln>
            <a:solidFill>
              <a:srgbClr val="FF0000"/>
            </a:solidFill>
          </a:ln>
        </p:spPr>
        <p:txBody>
          <a:bodyPr wrap="none" rtlCol="0" anchor="ctr" anchorCtr="1">
            <a:spAutoFit/>
          </a:bodyPr>
          <a:lstStyle/>
          <a:p>
            <a:r>
              <a:rPr lang="en-US" sz="4400" dirty="0">
                <a:ea typeface="標楷體" pitchFamily="65" charset="-120"/>
                <a:cs typeface="Calibri" pitchFamily="34" charset="0"/>
              </a:rPr>
              <a:t>RISC-V ISA is Virtualizable!!!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日期版面配置區 4">
            <a:extLst>
              <a:ext uri="{FF2B5EF4-FFF2-40B4-BE49-F238E27FC236}">
                <a16:creationId xmlns:a16="http://schemas.microsoft.com/office/drawing/2014/main" id="{B937CEDC-2238-41F9-B931-AF989521D1CE}"/>
              </a:ext>
            </a:extLst>
          </p:cNvPr>
          <p:cNvSpPr>
            <a:spLocks noGrp="1"/>
          </p:cNvSpPr>
          <p:nvPr>
            <p:ph type="dt" sz="quarter" idx="10"/>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spcBef>
                <a:spcPct val="20000"/>
              </a:spcBef>
              <a:buClr>
                <a:schemeClr val="tx1"/>
              </a:buClr>
              <a:buSzPct val="70000"/>
              <a:buFont typeface="Wingdings" panose="05000000000000000000" pitchFamily="2" charset="2"/>
              <a:buChar char="q"/>
              <a:defRPr sz="2800" b="1">
                <a:solidFill>
                  <a:schemeClr val="tx1"/>
                </a:solidFill>
                <a:latin typeface="Arial" panose="020B0604020202020204" pitchFamily="34" charset="0"/>
              </a:defRPr>
            </a:lvl1pPr>
            <a:lvl2pPr marL="742950" indent="-285750" defTabSz="958850">
              <a:spcBef>
                <a:spcPct val="20000"/>
              </a:spcBef>
              <a:buClr>
                <a:schemeClr val="tx1"/>
              </a:buClr>
              <a:buSzPct val="65000"/>
              <a:buChar char="•"/>
              <a:defRPr sz="2500">
                <a:solidFill>
                  <a:schemeClr val="tx1"/>
                </a:solidFill>
                <a:latin typeface="Arial" panose="020B0604020202020204" pitchFamily="34" charset="0"/>
              </a:defRPr>
            </a:lvl2pPr>
            <a:lvl3pPr marL="1143000" indent="-228600" defTabSz="958850">
              <a:spcBef>
                <a:spcPct val="20000"/>
              </a:spcBef>
              <a:buClr>
                <a:schemeClr val="tx1"/>
              </a:buClr>
              <a:buSzPct val="65000"/>
              <a:buFont typeface="Wingdings" panose="05000000000000000000" pitchFamily="2" charset="2"/>
              <a:buChar char="•"/>
              <a:defRPr sz="2500">
                <a:solidFill>
                  <a:schemeClr val="tx1"/>
                </a:solidFill>
                <a:latin typeface="Arial" panose="020B0604020202020204" pitchFamily="34" charset="0"/>
              </a:defRPr>
            </a:lvl3pPr>
            <a:lvl4pPr marL="1600200" indent="-228600" defTabSz="958850">
              <a:spcBef>
                <a:spcPct val="20000"/>
              </a:spcBef>
              <a:buClr>
                <a:schemeClr val="tx2"/>
              </a:buClr>
              <a:buSzPct val="75000"/>
              <a:buFont typeface="Wingdings" panose="05000000000000000000" pitchFamily="2" charset="2"/>
              <a:buChar char="–"/>
              <a:defRPr sz="2100">
                <a:solidFill>
                  <a:schemeClr val="tx1"/>
                </a:solidFill>
                <a:latin typeface="Arial" panose="020B0604020202020204" pitchFamily="34" charset="0"/>
              </a:defRPr>
            </a:lvl4pPr>
            <a:lvl5pPr marL="2057400" indent="-228600" defTabSz="958850">
              <a:spcBef>
                <a:spcPct val="20000"/>
              </a:spcBef>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9pPr>
          </a:lstStyle>
          <a:p>
            <a:pPr>
              <a:spcBef>
                <a:spcPct val="0"/>
              </a:spcBef>
              <a:buClrTx/>
              <a:buSzTx/>
              <a:buFontTx/>
              <a:buNone/>
              <a:defRPr/>
            </a:pPr>
            <a:endParaRPr lang="en-US" altLang="zh-TW" sz="1500" b="0" dirty="0"/>
          </a:p>
        </p:txBody>
      </p:sp>
      <p:sp>
        <p:nvSpPr>
          <p:cNvPr id="56323" name="投影片編號版面配置區 6">
            <a:extLst>
              <a:ext uri="{FF2B5EF4-FFF2-40B4-BE49-F238E27FC236}">
                <a16:creationId xmlns:a16="http://schemas.microsoft.com/office/drawing/2014/main" id="{F4368378-4D4A-4C2D-9531-6058845EBEF7}"/>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defTabSz="958850">
              <a:spcBef>
                <a:spcPct val="20000"/>
              </a:spcBef>
              <a:buChar char="–"/>
              <a:defRPr sz="2800">
                <a:solidFill>
                  <a:schemeClr val="tx1"/>
                </a:solidFill>
                <a:latin typeface="Arial" panose="020B0604020202020204" pitchFamily="34" charset="0"/>
              </a:defRPr>
            </a:lvl2pPr>
            <a:lvl3pPr marL="1143000" indent="-228600" defTabSz="95885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defTabSz="958850">
              <a:spcBef>
                <a:spcPct val="20000"/>
              </a:spcBef>
              <a:buChar char="–"/>
              <a:defRPr sz="2000">
                <a:solidFill>
                  <a:schemeClr val="tx1"/>
                </a:solidFill>
                <a:latin typeface="Arial" panose="020B0604020202020204" pitchFamily="34" charset="0"/>
              </a:defRPr>
            </a:lvl4pPr>
            <a:lvl5pPr marL="2057400" indent="-228600" defTabSz="95885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FontTx/>
              <a:buNone/>
            </a:pPr>
            <a:fld id="{648D02AF-4E56-4DEA-A923-0FD480C59A65}" type="slidenum">
              <a:rPr lang="en-US" altLang="zh-TW" sz="1200"/>
              <a:pPr>
                <a:spcBef>
                  <a:spcPct val="0"/>
                </a:spcBef>
                <a:buClrTx/>
                <a:buFontTx/>
                <a:buNone/>
              </a:pPr>
              <a:t>48</a:t>
            </a:fld>
            <a:endParaRPr lang="en-US" altLang="zh-TW" sz="1200"/>
          </a:p>
        </p:txBody>
      </p:sp>
      <p:sp>
        <p:nvSpPr>
          <p:cNvPr id="625666" name="Rectangle 2">
            <a:extLst>
              <a:ext uri="{FF2B5EF4-FFF2-40B4-BE49-F238E27FC236}">
                <a16:creationId xmlns:a16="http://schemas.microsoft.com/office/drawing/2014/main" id="{2992E8B5-09A1-4FEF-9BAB-C8CCD5BC8716}"/>
              </a:ext>
            </a:extLst>
          </p:cNvPr>
          <p:cNvSpPr>
            <a:spLocks noGrp="1" noChangeArrowheads="1"/>
          </p:cNvSpPr>
          <p:nvPr>
            <p:ph type="title"/>
          </p:nvPr>
        </p:nvSpPr>
        <p:spPr>
          <a:xfrm>
            <a:off x="1777206" y="120649"/>
            <a:ext cx="8637588" cy="628650"/>
          </a:xfrm>
        </p:spPr>
        <p:txBody>
          <a:bodyPr/>
          <a:lstStyle/>
          <a:p>
            <a:pPr eaLnBrk="1" hangingPunct="1">
              <a:defRPr/>
            </a:pPr>
            <a:r>
              <a:rPr lang="en-US" altLang="zh-TW" sz="3500" dirty="0">
                <a:ea typeface="新細明體" charset="-120"/>
              </a:rPr>
              <a:t>Instruction Types -- Summary</a:t>
            </a:r>
          </a:p>
        </p:txBody>
      </p:sp>
      <p:sp>
        <p:nvSpPr>
          <p:cNvPr id="44037" name="AutoShape 6">
            <a:extLst>
              <a:ext uri="{FF2B5EF4-FFF2-40B4-BE49-F238E27FC236}">
                <a16:creationId xmlns:a16="http://schemas.microsoft.com/office/drawing/2014/main" id="{EE9BCB38-0F42-487C-B9C7-FF553B20EBC7}"/>
              </a:ext>
            </a:extLst>
          </p:cNvPr>
          <p:cNvSpPr>
            <a:spLocks noChangeAspect="1" noChangeArrowheads="1" noTextEdit="1"/>
          </p:cNvSpPr>
          <p:nvPr/>
        </p:nvSpPr>
        <p:spPr bwMode="auto">
          <a:xfrm>
            <a:off x="1981200" y="1989138"/>
            <a:ext cx="7924800" cy="334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4038" name="Freeform 8">
            <a:extLst>
              <a:ext uri="{FF2B5EF4-FFF2-40B4-BE49-F238E27FC236}">
                <a16:creationId xmlns:a16="http://schemas.microsoft.com/office/drawing/2014/main" id="{D3BC2D52-14C5-4B72-8536-0DBCE26A1013}"/>
              </a:ext>
            </a:extLst>
          </p:cNvPr>
          <p:cNvSpPr>
            <a:spLocks/>
          </p:cNvSpPr>
          <p:nvPr/>
        </p:nvSpPr>
        <p:spPr bwMode="auto">
          <a:xfrm>
            <a:off x="3070225" y="1550988"/>
            <a:ext cx="2586038" cy="2754312"/>
          </a:xfrm>
          <a:custGeom>
            <a:avLst/>
            <a:gdLst>
              <a:gd name="T0" fmla="*/ 2147483646 w 3259"/>
              <a:gd name="T1" fmla="*/ 2147483646 h 3469"/>
              <a:gd name="T2" fmla="*/ 2147483646 w 3259"/>
              <a:gd name="T3" fmla="*/ 2147483646 h 3469"/>
              <a:gd name="T4" fmla="*/ 2147483646 w 3259"/>
              <a:gd name="T5" fmla="*/ 2147483646 h 3469"/>
              <a:gd name="T6" fmla="*/ 2147483646 w 3259"/>
              <a:gd name="T7" fmla="*/ 2147483646 h 3469"/>
              <a:gd name="T8" fmla="*/ 2147483646 w 3259"/>
              <a:gd name="T9" fmla="*/ 2147483646 h 3469"/>
              <a:gd name="T10" fmla="*/ 2147483646 w 3259"/>
              <a:gd name="T11" fmla="*/ 2147483646 h 3469"/>
              <a:gd name="T12" fmla="*/ 2147483646 w 3259"/>
              <a:gd name="T13" fmla="*/ 2147483646 h 3469"/>
              <a:gd name="T14" fmla="*/ 2147483646 w 3259"/>
              <a:gd name="T15" fmla="*/ 2147483646 h 3469"/>
              <a:gd name="T16" fmla="*/ 2147483646 w 3259"/>
              <a:gd name="T17" fmla="*/ 2147483646 h 3469"/>
              <a:gd name="T18" fmla="*/ 2147483646 w 3259"/>
              <a:gd name="T19" fmla="*/ 2147483646 h 3469"/>
              <a:gd name="T20" fmla="*/ 2147483646 w 3259"/>
              <a:gd name="T21" fmla="*/ 2147483646 h 3469"/>
              <a:gd name="T22" fmla="*/ 2147483646 w 3259"/>
              <a:gd name="T23" fmla="*/ 2147483646 h 3469"/>
              <a:gd name="T24" fmla="*/ 2147483646 w 3259"/>
              <a:gd name="T25" fmla="*/ 2147483646 h 3469"/>
              <a:gd name="T26" fmla="*/ 0 w 3259"/>
              <a:gd name="T27" fmla="*/ 2147483646 h 3469"/>
              <a:gd name="T28" fmla="*/ 2147483646 w 3259"/>
              <a:gd name="T29" fmla="*/ 2147483646 h 3469"/>
              <a:gd name="T30" fmla="*/ 2147483646 w 3259"/>
              <a:gd name="T31" fmla="*/ 2147483646 h 3469"/>
              <a:gd name="T32" fmla="*/ 2147483646 w 3259"/>
              <a:gd name="T33" fmla="*/ 2147483646 h 3469"/>
              <a:gd name="T34" fmla="*/ 2147483646 w 3259"/>
              <a:gd name="T35" fmla="*/ 2147483646 h 3469"/>
              <a:gd name="T36" fmla="*/ 2147483646 w 3259"/>
              <a:gd name="T37" fmla="*/ 2147483646 h 3469"/>
              <a:gd name="T38" fmla="*/ 2147483646 w 3259"/>
              <a:gd name="T39" fmla="*/ 2147483646 h 3469"/>
              <a:gd name="T40" fmla="*/ 2147483646 w 3259"/>
              <a:gd name="T41" fmla="*/ 2147483646 h 3469"/>
              <a:gd name="T42" fmla="*/ 2147483646 w 3259"/>
              <a:gd name="T43" fmla="*/ 2147483646 h 3469"/>
              <a:gd name="T44" fmla="*/ 2147483646 w 3259"/>
              <a:gd name="T45" fmla="*/ 2147483646 h 3469"/>
              <a:gd name="T46" fmla="*/ 2147483646 w 3259"/>
              <a:gd name="T47" fmla="*/ 2147483646 h 3469"/>
              <a:gd name="T48" fmla="*/ 2147483646 w 3259"/>
              <a:gd name="T49" fmla="*/ 2147483646 h 3469"/>
              <a:gd name="T50" fmla="*/ 2147483646 w 3259"/>
              <a:gd name="T51" fmla="*/ 2147483646 h 3469"/>
              <a:gd name="T52" fmla="*/ 2147483646 w 3259"/>
              <a:gd name="T53" fmla="*/ 2147483646 h 3469"/>
              <a:gd name="T54" fmla="*/ 2147483646 w 3259"/>
              <a:gd name="T55" fmla="*/ 0 h 3469"/>
              <a:gd name="T56" fmla="*/ 2147483646 w 3259"/>
              <a:gd name="T57" fmla="*/ 0 h 3469"/>
              <a:gd name="T58" fmla="*/ 2147483646 w 3259"/>
              <a:gd name="T59" fmla="*/ 2147483646 h 3469"/>
              <a:gd name="T60" fmla="*/ 2147483646 w 3259"/>
              <a:gd name="T61" fmla="*/ 2147483646 h 3469"/>
              <a:gd name="T62" fmla="*/ 2147483646 w 3259"/>
              <a:gd name="T63" fmla="*/ 2147483646 h 3469"/>
              <a:gd name="T64" fmla="*/ 2147483646 w 3259"/>
              <a:gd name="T65" fmla="*/ 2147483646 h 3469"/>
              <a:gd name="T66" fmla="*/ 2147483646 w 3259"/>
              <a:gd name="T67" fmla="*/ 2147483646 h 3469"/>
              <a:gd name="T68" fmla="*/ 2147483646 w 3259"/>
              <a:gd name="T69" fmla="*/ 2147483646 h 3469"/>
              <a:gd name="T70" fmla="*/ 2147483646 w 3259"/>
              <a:gd name="T71" fmla="*/ 2147483646 h 3469"/>
              <a:gd name="T72" fmla="*/ 2147483646 w 3259"/>
              <a:gd name="T73" fmla="*/ 2147483646 h 3469"/>
              <a:gd name="T74" fmla="*/ 2147483646 w 3259"/>
              <a:gd name="T75" fmla="*/ 2147483646 h 3469"/>
              <a:gd name="T76" fmla="*/ 2147483646 w 3259"/>
              <a:gd name="T77" fmla="*/ 2147483646 h 3469"/>
              <a:gd name="T78" fmla="*/ 2147483646 w 3259"/>
              <a:gd name="T79" fmla="*/ 2147483646 h 3469"/>
              <a:gd name="T80" fmla="*/ 2147483646 w 3259"/>
              <a:gd name="T81" fmla="*/ 2147483646 h 3469"/>
              <a:gd name="T82" fmla="*/ 2147483646 w 3259"/>
              <a:gd name="T83" fmla="*/ 2147483646 h 3469"/>
              <a:gd name="T84" fmla="*/ 2147483646 w 3259"/>
              <a:gd name="T85" fmla="*/ 2147483646 h 3469"/>
              <a:gd name="T86" fmla="*/ 2147483646 w 3259"/>
              <a:gd name="T87" fmla="*/ 2147483646 h 3469"/>
              <a:gd name="T88" fmla="*/ 2147483646 w 3259"/>
              <a:gd name="T89" fmla="*/ 2147483646 h 3469"/>
              <a:gd name="T90" fmla="*/ 2147483646 w 3259"/>
              <a:gd name="T91" fmla="*/ 2147483646 h 3469"/>
              <a:gd name="T92" fmla="*/ 2147483646 w 3259"/>
              <a:gd name="T93" fmla="*/ 2147483646 h 3469"/>
              <a:gd name="T94" fmla="*/ 2147483646 w 3259"/>
              <a:gd name="T95" fmla="*/ 2147483646 h 3469"/>
              <a:gd name="T96" fmla="*/ 2147483646 w 3259"/>
              <a:gd name="T97" fmla="*/ 2147483646 h 3469"/>
              <a:gd name="T98" fmla="*/ 2147483646 w 3259"/>
              <a:gd name="T99" fmla="*/ 2147483646 h 3469"/>
              <a:gd name="T100" fmla="*/ 2147483646 w 3259"/>
              <a:gd name="T101" fmla="*/ 2147483646 h 3469"/>
              <a:gd name="T102" fmla="*/ 2147483646 w 3259"/>
              <a:gd name="T103" fmla="*/ 2147483646 h 3469"/>
              <a:gd name="T104" fmla="*/ 2147483646 w 3259"/>
              <a:gd name="T105" fmla="*/ 2147483646 h 3469"/>
              <a:gd name="T106" fmla="*/ 2147483646 w 3259"/>
              <a:gd name="T107" fmla="*/ 2147483646 h 3469"/>
              <a:gd name="T108" fmla="*/ 2147483646 w 3259"/>
              <a:gd name="T109" fmla="*/ 2147483646 h 3469"/>
              <a:gd name="T110" fmla="*/ 2147483646 w 3259"/>
              <a:gd name="T111" fmla="*/ 2147483646 h 346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259"/>
              <a:gd name="T169" fmla="*/ 0 h 3469"/>
              <a:gd name="T170" fmla="*/ 3259 w 3259"/>
              <a:gd name="T171" fmla="*/ 3469 h 346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259" h="3469">
                <a:moveTo>
                  <a:pt x="1629" y="3469"/>
                </a:moveTo>
                <a:lnTo>
                  <a:pt x="1588" y="3468"/>
                </a:lnTo>
                <a:lnTo>
                  <a:pt x="1545" y="3466"/>
                </a:lnTo>
                <a:lnTo>
                  <a:pt x="1504" y="3463"/>
                </a:lnTo>
                <a:lnTo>
                  <a:pt x="1463" y="3459"/>
                </a:lnTo>
                <a:lnTo>
                  <a:pt x="1422" y="3454"/>
                </a:lnTo>
                <a:lnTo>
                  <a:pt x="1381" y="3449"/>
                </a:lnTo>
                <a:lnTo>
                  <a:pt x="1341" y="3441"/>
                </a:lnTo>
                <a:lnTo>
                  <a:pt x="1300" y="3432"/>
                </a:lnTo>
                <a:lnTo>
                  <a:pt x="1261" y="3424"/>
                </a:lnTo>
                <a:lnTo>
                  <a:pt x="1223" y="3413"/>
                </a:lnTo>
                <a:lnTo>
                  <a:pt x="1183" y="3403"/>
                </a:lnTo>
                <a:lnTo>
                  <a:pt x="1145" y="3390"/>
                </a:lnTo>
                <a:lnTo>
                  <a:pt x="1069" y="3364"/>
                </a:lnTo>
                <a:lnTo>
                  <a:pt x="995" y="3331"/>
                </a:lnTo>
                <a:lnTo>
                  <a:pt x="923" y="3298"/>
                </a:lnTo>
                <a:lnTo>
                  <a:pt x="853" y="3258"/>
                </a:lnTo>
                <a:lnTo>
                  <a:pt x="784" y="3217"/>
                </a:lnTo>
                <a:lnTo>
                  <a:pt x="718" y="3172"/>
                </a:lnTo>
                <a:lnTo>
                  <a:pt x="654" y="3124"/>
                </a:lnTo>
                <a:lnTo>
                  <a:pt x="592" y="3073"/>
                </a:lnTo>
                <a:lnTo>
                  <a:pt x="534" y="3018"/>
                </a:lnTo>
                <a:lnTo>
                  <a:pt x="478" y="2960"/>
                </a:lnTo>
                <a:lnTo>
                  <a:pt x="424" y="2900"/>
                </a:lnTo>
                <a:lnTo>
                  <a:pt x="372" y="2837"/>
                </a:lnTo>
                <a:lnTo>
                  <a:pt x="324" y="2771"/>
                </a:lnTo>
                <a:lnTo>
                  <a:pt x="278" y="2704"/>
                </a:lnTo>
                <a:lnTo>
                  <a:pt x="236" y="2634"/>
                </a:lnTo>
                <a:lnTo>
                  <a:pt x="196" y="2560"/>
                </a:lnTo>
                <a:lnTo>
                  <a:pt x="161" y="2486"/>
                </a:lnTo>
                <a:lnTo>
                  <a:pt x="127" y="2410"/>
                </a:lnTo>
                <a:lnTo>
                  <a:pt x="98" y="2331"/>
                </a:lnTo>
                <a:lnTo>
                  <a:pt x="73" y="2250"/>
                </a:lnTo>
                <a:lnTo>
                  <a:pt x="51" y="2167"/>
                </a:lnTo>
                <a:lnTo>
                  <a:pt x="34" y="2083"/>
                </a:lnTo>
                <a:lnTo>
                  <a:pt x="25" y="2041"/>
                </a:lnTo>
                <a:lnTo>
                  <a:pt x="19" y="1999"/>
                </a:lnTo>
                <a:lnTo>
                  <a:pt x="13" y="1955"/>
                </a:lnTo>
                <a:lnTo>
                  <a:pt x="9" y="1911"/>
                </a:lnTo>
                <a:lnTo>
                  <a:pt x="4" y="1867"/>
                </a:lnTo>
                <a:lnTo>
                  <a:pt x="1" y="1823"/>
                </a:lnTo>
                <a:lnTo>
                  <a:pt x="0" y="1779"/>
                </a:lnTo>
                <a:lnTo>
                  <a:pt x="0" y="1734"/>
                </a:lnTo>
                <a:lnTo>
                  <a:pt x="0" y="1690"/>
                </a:lnTo>
                <a:lnTo>
                  <a:pt x="1" y="1644"/>
                </a:lnTo>
                <a:lnTo>
                  <a:pt x="4" y="1601"/>
                </a:lnTo>
                <a:lnTo>
                  <a:pt x="9" y="1557"/>
                </a:lnTo>
                <a:lnTo>
                  <a:pt x="13" y="1513"/>
                </a:lnTo>
                <a:lnTo>
                  <a:pt x="19" y="1470"/>
                </a:lnTo>
                <a:lnTo>
                  <a:pt x="25" y="1426"/>
                </a:lnTo>
                <a:lnTo>
                  <a:pt x="34" y="1384"/>
                </a:lnTo>
                <a:lnTo>
                  <a:pt x="51" y="1301"/>
                </a:lnTo>
                <a:lnTo>
                  <a:pt x="73" y="1219"/>
                </a:lnTo>
                <a:lnTo>
                  <a:pt x="98" y="1138"/>
                </a:lnTo>
                <a:lnTo>
                  <a:pt x="127" y="1059"/>
                </a:lnTo>
                <a:lnTo>
                  <a:pt x="161" y="982"/>
                </a:lnTo>
                <a:lnTo>
                  <a:pt x="196" y="907"/>
                </a:lnTo>
                <a:lnTo>
                  <a:pt x="236" y="835"/>
                </a:lnTo>
                <a:lnTo>
                  <a:pt x="278" y="764"/>
                </a:lnTo>
                <a:lnTo>
                  <a:pt x="324" y="696"/>
                </a:lnTo>
                <a:lnTo>
                  <a:pt x="372" y="630"/>
                </a:lnTo>
                <a:lnTo>
                  <a:pt x="424" y="568"/>
                </a:lnTo>
                <a:lnTo>
                  <a:pt x="476" y="508"/>
                </a:lnTo>
                <a:lnTo>
                  <a:pt x="534" y="450"/>
                </a:lnTo>
                <a:lnTo>
                  <a:pt x="592" y="395"/>
                </a:lnTo>
                <a:lnTo>
                  <a:pt x="654" y="344"/>
                </a:lnTo>
                <a:lnTo>
                  <a:pt x="718" y="295"/>
                </a:lnTo>
                <a:lnTo>
                  <a:pt x="784" y="250"/>
                </a:lnTo>
                <a:lnTo>
                  <a:pt x="853" y="209"/>
                </a:lnTo>
                <a:lnTo>
                  <a:pt x="922" y="171"/>
                </a:lnTo>
                <a:lnTo>
                  <a:pt x="995" y="136"/>
                </a:lnTo>
                <a:lnTo>
                  <a:pt x="1069" y="105"/>
                </a:lnTo>
                <a:lnTo>
                  <a:pt x="1145" y="77"/>
                </a:lnTo>
                <a:lnTo>
                  <a:pt x="1183" y="66"/>
                </a:lnTo>
                <a:lnTo>
                  <a:pt x="1223" y="54"/>
                </a:lnTo>
                <a:lnTo>
                  <a:pt x="1261" y="44"/>
                </a:lnTo>
                <a:lnTo>
                  <a:pt x="1300" y="35"/>
                </a:lnTo>
                <a:lnTo>
                  <a:pt x="1341" y="26"/>
                </a:lnTo>
                <a:lnTo>
                  <a:pt x="1381" y="19"/>
                </a:lnTo>
                <a:lnTo>
                  <a:pt x="1422" y="13"/>
                </a:lnTo>
                <a:lnTo>
                  <a:pt x="1463" y="9"/>
                </a:lnTo>
                <a:lnTo>
                  <a:pt x="1504" y="4"/>
                </a:lnTo>
                <a:lnTo>
                  <a:pt x="1545" y="1"/>
                </a:lnTo>
                <a:lnTo>
                  <a:pt x="1588" y="0"/>
                </a:lnTo>
                <a:lnTo>
                  <a:pt x="1629" y="0"/>
                </a:lnTo>
                <a:lnTo>
                  <a:pt x="1671" y="0"/>
                </a:lnTo>
                <a:lnTo>
                  <a:pt x="1712" y="1"/>
                </a:lnTo>
                <a:lnTo>
                  <a:pt x="1755" y="4"/>
                </a:lnTo>
                <a:lnTo>
                  <a:pt x="1796" y="9"/>
                </a:lnTo>
                <a:lnTo>
                  <a:pt x="1837" y="13"/>
                </a:lnTo>
                <a:lnTo>
                  <a:pt x="1878" y="19"/>
                </a:lnTo>
                <a:lnTo>
                  <a:pt x="1917" y="26"/>
                </a:lnTo>
                <a:lnTo>
                  <a:pt x="1957" y="35"/>
                </a:lnTo>
                <a:lnTo>
                  <a:pt x="1997" y="44"/>
                </a:lnTo>
                <a:lnTo>
                  <a:pt x="2036" y="54"/>
                </a:lnTo>
                <a:lnTo>
                  <a:pt x="2074" y="66"/>
                </a:lnTo>
                <a:lnTo>
                  <a:pt x="2114" y="77"/>
                </a:lnTo>
                <a:lnTo>
                  <a:pt x="2189" y="105"/>
                </a:lnTo>
                <a:lnTo>
                  <a:pt x="2263" y="136"/>
                </a:lnTo>
                <a:lnTo>
                  <a:pt x="2335" y="171"/>
                </a:lnTo>
                <a:lnTo>
                  <a:pt x="2406" y="209"/>
                </a:lnTo>
                <a:lnTo>
                  <a:pt x="2475" y="250"/>
                </a:lnTo>
                <a:lnTo>
                  <a:pt x="2541" y="295"/>
                </a:lnTo>
                <a:lnTo>
                  <a:pt x="2604" y="344"/>
                </a:lnTo>
                <a:lnTo>
                  <a:pt x="2665" y="395"/>
                </a:lnTo>
                <a:lnTo>
                  <a:pt x="2724" y="450"/>
                </a:lnTo>
                <a:lnTo>
                  <a:pt x="2781" y="508"/>
                </a:lnTo>
                <a:lnTo>
                  <a:pt x="2835" y="568"/>
                </a:lnTo>
                <a:lnTo>
                  <a:pt x="2887" y="630"/>
                </a:lnTo>
                <a:lnTo>
                  <a:pt x="2935" y="696"/>
                </a:lnTo>
                <a:lnTo>
                  <a:pt x="2980" y="764"/>
                </a:lnTo>
                <a:lnTo>
                  <a:pt x="3023" y="835"/>
                </a:lnTo>
                <a:lnTo>
                  <a:pt x="3061" y="907"/>
                </a:lnTo>
                <a:lnTo>
                  <a:pt x="3098" y="982"/>
                </a:lnTo>
                <a:lnTo>
                  <a:pt x="3130" y="1059"/>
                </a:lnTo>
                <a:lnTo>
                  <a:pt x="3159" y="1138"/>
                </a:lnTo>
                <a:lnTo>
                  <a:pt x="3186" y="1219"/>
                </a:lnTo>
                <a:lnTo>
                  <a:pt x="3208" y="1301"/>
                </a:lnTo>
                <a:lnTo>
                  <a:pt x="3225" y="1384"/>
                </a:lnTo>
                <a:lnTo>
                  <a:pt x="3233" y="1426"/>
                </a:lnTo>
                <a:lnTo>
                  <a:pt x="3240" y="1470"/>
                </a:lnTo>
                <a:lnTo>
                  <a:pt x="3246" y="1513"/>
                </a:lnTo>
                <a:lnTo>
                  <a:pt x="3250" y="1557"/>
                </a:lnTo>
                <a:lnTo>
                  <a:pt x="3253" y="1601"/>
                </a:lnTo>
                <a:lnTo>
                  <a:pt x="3256" y="1644"/>
                </a:lnTo>
                <a:lnTo>
                  <a:pt x="3257" y="1690"/>
                </a:lnTo>
                <a:lnTo>
                  <a:pt x="3259" y="1734"/>
                </a:lnTo>
                <a:lnTo>
                  <a:pt x="3257" y="1779"/>
                </a:lnTo>
                <a:lnTo>
                  <a:pt x="3256" y="1823"/>
                </a:lnTo>
                <a:lnTo>
                  <a:pt x="3253" y="1867"/>
                </a:lnTo>
                <a:lnTo>
                  <a:pt x="3250" y="1911"/>
                </a:lnTo>
                <a:lnTo>
                  <a:pt x="3246" y="1955"/>
                </a:lnTo>
                <a:lnTo>
                  <a:pt x="3240" y="1999"/>
                </a:lnTo>
                <a:lnTo>
                  <a:pt x="3233" y="2041"/>
                </a:lnTo>
                <a:lnTo>
                  <a:pt x="3225" y="2083"/>
                </a:lnTo>
                <a:lnTo>
                  <a:pt x="3208" y="2167"/>
                </a:lnTo>
                <a:lnTo>
                  <a:pt x="3186" y="2250"/>
                </a:lnTo>
                <a:lnTo>
                  <a:pt x="3159" y="2331"/>
                </a:lnTo>
                <a:lnTo>
                  <a:pt x="3130" y="2410"/>
                </a:lnTo>
                <a:lnTo>
                  <a:pt x="3098" y="2486"/>
                </a:lnTo>
                <a:lnTo>
                  <a:pt x="3061" y="2560"/>
                </a:lnTo>
                <a:lnTo>
                  <a:pt x="3023" y="2634"/>
                </a:lnTo>
                <a:lnTo>
                  <a:pt x="2980" y="2704"/>
                </a:lnTo>
                <a:lnTo>
                  <a:pt x="2935" y="2771"/>
                </a:lnTo>
                <a:lnTo>
                  <a:pt x="2887" y="2837"/>
                </a:lnTo>
                <a:lnTo>
                  <a:pt x="2835" y="2900"/>
                </a:lnTo>
                <a:lnTo>
                  <a:pt x="2781" y="2960"/>
                </a:lnTo>
                <a:lnTo>
                  <a:pt x="2724" y="3018"/>
                </a:lnTo>
                <a:lnTo>
                  <a:pt x="2665" y="3073"/>
                </a:lnTo>
                <a:lnTo>
                  <a:pt x="2604" y="3124"/>
                </a:lnTo>
                <a:lnTo>
                  <a:pt x="2541" y="3172"/>
                </a:lnTo>
                <a:lnTo>
                  <a:pt x="2475" y="3217"/>
                </a:lnTo>
                <a:lnTo>
                  <a:pt x="2406" y="3258"/>
                </a:lnTo>
                <a:lnTo>
                  <a:pt x="2335" y="3298"/>
                </a:lnTo>
                <a:lnTo>
                  <a:pt x="2263" y="3331"/>
                </a:lnTo>
                <a:lnTo>
                  <a:pt x="2189" y="3364"/>
                </a:lnTo>
                <a:lnTo>
                  <a:pt x="2114" y="3390"/>
                </a:lnTo>
                <a:lnTo>
                  <a:pt x="2074" y="3403"/>
                </a:lnTo>
                <a:lnTo>
                  <a:pt x="2036" y="3413"/>
                </a:lnTo>
                <a:lnTo>
                  <a:pt x="1997" y="3424"/>
                </a:lnTo>
                <a:lnTo>
                  <a:pt x="1957" y="3432"/>
                </a:lnTo>
                <a:lnTo>
                  <a:pt x="1917" y="3441"/>
                </a:lnTo>
                <a:lnTo>
                  <a:pt x="1878" y="3449"/>
                </a:lnTo>
                <a:lnTo>
                  <a:pt x="1837" y="3454"/>
                </a:lnTo>
                <a:lnTo>
                  <a:pt x="1796" y="3459"/>
                </a:lnTo>
                <a:lnTo>
                  <a:pt x="1755" y="3463"/>
                </a:lnTo>
                <a:lnTo>
                  <a:pt x="1712" y="3466"/>
                </a:lnTo>
                <a:lnTo>
                  <a:pt x="1671" y="3468"/>
                </a:lnTo>
                <a:lnTo>
                  <a:pt x="1629" y="3469"/>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039" name="Freeform 9">
            <a:extLst>
              <a:ext uri="{FF2B5EF4-FFF2-40B4-BE49-F238E27FC236}">
                <a16:creationId xmlns:a16="http://schemas.microsoft.com/office/drawing/2014/main" id="{E62F162E-6758-4FE8-9136-4F036B5AF902}"/>
              </a:ext>
            </a:extLst>
          </p:cNvPr>
          <p:cNvSpPr>
            <a:spLocks/>
          </p:cNvSpPr>
          <p:nvPr/>
        </p:nvSpPr>
        <p:spPr bwMode="auto">
          <a:xfrm>
            <a:off x="3070225" y="1550988"/>
            <a:ext cx="2586038" cy="2754312"/>
          </a:xfrm>
          <a:custGeom>
            <a:avLst/>
            <a:gdLst>
              <a:gd name="T0" fmla="*/ 2147483646 w 3259"/>
              <a:gd name="T1" fmla="*/ 2147483646 h 3469"/>
              <a:gd name="T2" fmla="*/ 2147483646 w 3259"/>
              <a:gd name="T3" fmla="*/ 2147483646 h 3469"/>
              <a:gd name="T4" fmla="*/ 2147483646 w 3259"/>
              <a:gd name="T5" fmla="*/ 2147483646 h 3469"/>
              <a:gd name="T6" fmla="*/ 2147483646 w 3259"/>
              <a:gd name="T7" fmla="*/ 2147483646 h 3469"/>
              <a:gd name="T8" fmla="*/ 2147483646 w 3259"/>
              <a:gd name="T9" fmla="*/ 2147483646 h 3469"/>
              <a:gd name="T10" fmla="*/ 2147483646 w 3259"/>
              <a:gd name="T11" fmla="*/ 2147483646 h 3469"/>
              <a:gd name="T12" fmla="*/ 2147483646 w 3259"/>
              <a:gd name="T13" fmla="*/ 2147483646 h 3469"/>
              <a:gd name="T14" fmla="*/ 2147483646 w 3259"/>
              <a:gd name="T15" fmla="*/ 2147483646 h 3469"/>
              <a:gd name="T16" fmla="*/ 2147483646 w 3259"/>
              <a:gd name="T17" fmla="*/ 2147483646 h 3469"/>
              <a:gd name="T18" fmla="*/ 2147483646 w 3259"/>
              <a:gd name="T19" fmla="*/ 2147483646 h 3469"/>
              <a:gd name="T20" fmla="*/ 2147483646 w 3259"/>
              <a:gd name="T21" fmla="*/ 2147483646 h 3469"/>
              <a:gd name="T22" fmla="*/ 2147483646 w 3259"/>
              <a:gd name="T23" fmla="*/ 2147483646 h 3469"/>
              <a:gd name="T24" fmla="*/ 2147483646 w 3259"/>
              <a:gd name="T25" fmla="*/ 2147483646 h 3469"/>
              <a:gd name="T26" fmla="*/ 0 w 3259"/>
              <a:gd name="T27" fmla="*/ 2147483646 h 3469"/>
              <a:gd name="T28" fmla="*/ 2147483646 w 3259"/>
              <a:gd name="T29" fmla="*/ 2147483646 h 3469"/>
              <a:gd name="T30" fmla="*/ 2147483646 w 3259"/>
              <a:gd name="T31" fmla="*/ 2147483646 h 3469"/>
              <a:gd name="T32" fmla="*/ 2147483646 w 3259"/>
              <a:gd name="T33" fmla="*/ 2147483646 h 3469"/>
              <a:gd name="T34" fmla="*/ 2147483646 w 3259"/>
              <a:gd name="T35" fmla="*/ 2147483646 h 3469"/>
              <a:gd name="T36" fmla="*/ 2147483646 w 3259"/>
              <a:gd name="T37" fmla="*/ 2147483646 h 3469"/>
              <a:gd name="T38" fmla="*/ 2147483646 w 3259"/>
              <a:gd name="T39" fmla="*/ 2147483646 h 3469"/>
              <a:gd name="T40" fmla="*/ 2147483646 w 3259"/>
              <a:gd name="T41" fmla="*/ 2147483646 h 3469"/>
              <a:gd name="T42" fmla="*/ 2147483646 w 3259"/>
              <a:gd name="T43" fmla="*/ 2147483646 h 3469"/>
              <a:gd name="T44" fmla="*/ 2147483646 w 3259"/>
              <a:gd name="T45" fmla="*/ 2147483646 h 3469"/>
              <a:gd name="T46" fmla="*/ 2147483646 w 3259"/>
              <a:gd name="T47" fmla="*/ 2147483646 h 3469"/>
              <a:gd name="T48" fmla="*/ 2147483646 w 3259"/>
              <a:gd name="T49" fmla="*/ 2147483646 h 3469"/>
              <a:gd name="T50" fmla="*/ 2147483646 w 3259"/>
              <a:gd name="T51" fmla="*/ 2147483646 h 3469"/>
              <a:gd name="T52" fmla="*/ 2147483646 w 3259"/>
              <a:gd name="T53" fmla="*/ 2147483646 h 3469"/>
              <a:gd name="T54" fmla="*/ 2147483646 w 3259"/>
              <a:gd name="T55" fmla="*/ 0 h 3469"/>
              <a:gd name="T56" fmla="*/ 2147483646 w 3259"/>
              <a:gd name="T57" fmla="*/ 0 h 3469"/>
              <a:gd name="T58" fmla="*/ 2147483646 w 3259"/>
              <a:gd name="T59" fmla="*/ 2147483646 h 3469"/>
              <a:gd name="T60" fmla="*/ 2147483646 w 3259"/>
              <a:gd name="T61" fmla="*/ 2147483646 h 3469"/>
              <a:gd name="T62" fmla="*/ 2147483646 w 3259"/>
              <a:gd name="T63" fmla="*/ 2147483646 h 3469"/>
              <a:gd name="T64" fmla="*/ 2147483646 w 3259"/>
              <a:gd name="T65" fmla="*/ 2147483646 h 3469"/>
              <a:gd name="T66" fmla="*/ 2147483646 w 3259"/>
              <a:gd name="T67" fmla="*/ 2147483646 h 3469"/>
              <a:gd name="T68" fmla="*/ 2147483646 w 3259"/>
              <a:gd name="T69" fmla="*/ 2147483646 h 3469"/>
              <a:gd name="T70" fmla="*/ 2147483646 w 3259"/>
              <a:gd name="T71" fmla="*/ 2147483646 h 3469"/>
              <a:gd name="T72" fmla="*/ 2147483646 w 3259"/>
              <a:gd name="T73" fmla="*/ 2147483646 h 3469"/>
              <a:gd name="T74" fmla="*/ 2147483646 w 3259"/>
              <a:gd name="T75" fmla="*/ 2147483646 h 3469"/>
              <a:gd name="T76" fmla="*/ 2147483646 w 3259"/>
              <a:gd name="T77" fmla="*/ 2147483646 h 3469"/>
              <a:gd name="T78" fmla="*/ 2147483646 w 3259"/>
              <a:gd name="T79" fmla="*/ 2147483646 h 3469"/>
              <a:gd name="T80" fmla="*/ 2147483646 w 3259"/>
              <a:gd name="T81" fmla="*/ 2147483646 h 3469"/>
              <a:gd name="T82" fmla="*/ 2147483646 w 3259"/>
              <a:gd name="T83" fmla="*/ 2147483646 h 3469"/>
              <a:gd name="T84" fmla="*/ 2147483646 w 3259"/>
              <a:gd name="T85" fmla="*/ 2147483646 h 3469"/>
              <a:gd name="T86" fmla="*/ 2147483646 w 3259"/>
              <a:gd name="T87" fmla="*/ 2147483646 h 3469"/>
              <a:gd name="T88" fmla="*/ 2147483646 w 3259"/>
              <a:gd name="T89" fmla="*/ 2147483646 h 3469"/>
              <a:gd name="T90" fmla="*/ 2147483646 w 3259"/>
              <a:gd name="T91" fmla="*/ 2147483646 h 3469"/>
              <a:gd name="T92" fmla="*/ 2147483646 w 3259"/>
              <a:gd name="T93" fmla="*/ 2147483646 h 3469"/>
              <a:gd name="T94" fmla="*/ 2147483646 w 3259"/>
              <a:gd name="T95" fmla="*/ 2147483646 h 3469"/>
              <a:gd name="T96" fmla="*/ 2147483646 w 3259"/>
              <a:gd name="T97" fmla="*/ 2147483646 h 3469"/>
              <a:gd name="T98" fmla="*/ 2147483646 w 3259"/>
              <a:gd name="T99" fmla="*/ 2147483646 h 3469"/>
              <a:gd name="T100" fmla="*/ 2147483646 w 3259"/>
              <a:gd name="T101" fmla="*/ 2147483646 h 3469"/>
              <a:gd name="T102" fmla="*/ 2147483646 w 3259"/>
              <a:gd name="T103" fmla="*/ 2147483646 h 3469"/>
              <a:gd name="T104" fmla="*/ 2147483646 w 3259"/>
              <a:gd name="T105" fmla="*/ 2147483646 h 3469"/>
              <a:gd name="T106" fmla="*/ 2147483646 w 3259"/>
              <a:gd name="T107" fmla="*/ 2147483646 h 3469"/>
              <a:gd name="T108" fmla="*/ 2147483646 w 3259"/>
              <a:gd name="T109" fmla="*/ 2147483646 h 3469"/>
              <a:gd name="T110" fmla="*/ 2147483646 w 3259"/>
              <a:gd name="T111" fmla="*/ 2147483646 h 346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259"/>
              <a:gd name="T169" fmla="*/ 0 h 3469"/>
              <a:gd name="T170" fmla="*/ 3259 w 3259"/>
              <a:gd name="T171" fmla="*/ 3469 h 346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259" h="3469">
                <a:moveTo>
                  <a:pt x="1629" y="3469"/>
                </a:moveTo>
                <a:lnTo>
                  <a:pt x="1588" y="3468"/>
                </a:lnTo>
                <a:lnTo>
                  <a:pt x="1545" y="3466"/>
                </a:lnTo>
                <a:lnTo>
                  <a:pt x="1504" y="3463"/>
                </a:lnTo>
                <a:lnTo>
                  <a:pt x="1463" y="3459"/>
                </a:lnTo>
                <a:lnTo>
                  <a:pt x="1422" y="3454"/>
                </a:lnTo>
                <a:lnTo>
                  <a:pt x="1381" y="3449"/>
                </a:lnTo>
                <a:lnTo>
                  <a:pt x="1341" y="3441"/>
                </a:lnTo>
                <a:lnTo>
                  <a:pt x="1300" y="3432"/>
                </a:lnTo>
                <a:lnTo>
                  <a:pt x="1261" y="3424"/>
                </a:lnTo>
                <a:lnTo>
                  <a:pt x="1223" y="3413"/>
                </a:lnTo>
                <a:lnTo>
                  <a:pt x="1183" y="3403"/>
                </a:lnTo>
                <a:lnTo>
                  <a:pt x="1145" y="3390"/>
                </a:lnTo>
                <a:lnTo>
                  <a:pt x="1069" y="3364"/>
                </a:lnTo>
                <a:lnTo>
                  <a:pt x="995" y="3331"/>
                </a:lnTo>
                <a:lnTo>
                  <a:pt x="923" y="3298"/>
                </a:lnTo>
                <a:lnTo>
                  <a:pt x="853" y="3258"/>
                </a:lnTo>
                <a:lnTo>
                  <a:pt x="784" y="3217"/>
                </a:lnTo>
                <a:lnTo>
                  <a:pt x="718" y="3172"/>
                </a:lnTo>
                <a:lnTo>
                  <a:pt x="654" y="3124"/>
                </a:lnTo>
                <a:lnTo>
                  <a:pt x="592" y="3073"/>
                </a:lnTo>
                <a:lnTo>
                  <a:pt x="534" y="3018"/>
                </a:lnTo>
                <a:lnTo>
                  <a:pt x="478" y="2960"/>
                </a:lnTo>
                <a:lnTo>
                  <a:pt x="424" y="2900"/>
                </a:lnTo>
                <a:lnTo>
                  <a:pt x="372" y="2837"/>
                </a:lnTo>
                <a:lnTo>
                  <a:pt x="324" y="2771"/>
                </a:lnTo>
                <a:lnTo>
                  <a:pt x="278" y="2704"/>
                </a:lnTo>
                <a:lnTo>
                  <a:pt x="236" y="2634"/>
                </a:lnTo>
                <a:lnTo>
                  <a:pt x="196" y="2560"/>
                </a:lnTo>
                <a:lnTo>
                  <a:pt x="161" y="2486"/>
                </a:lnTo>
                <a:lnTo>
                  <a:pt x="127" y="2410"/>
                </a:lnTo>
                <a:lnTo>
                  <a:pt x="98" y="2331"/>
                </a:lnTo>
                <a:lnTo>
                  <a:pt x="73" y="2250"/>
                </a:lnTo>
                <a:lnTo>
                  <a:pt x="51" y="2167"/>
                </a:lnTo>
                <a:lnTo>
                  <a:pt x="34" y="2083"/>
                </a:lnTo>
                <a:lnTo>
                  <a:pt x="25" y="2041"/>
                </a:lnTo>
                <a:lnTo>
                  <a:pt x="19" y="1999"/>
                </a:lnTo>
                <a:lnTo>
                  <a:pt x="13" y="1955"/>
                </a:lnTo>
                <a:lnTo>
                  <a:pt x="9" y="1911"/>
                </a:lnTo>
                <a:lnTo>
                  <a:pt x="4" y="1867"/>
                </a:lnTo>
                <a:lnTo>
                  <a:pt x="1" y="1823"/>
                </a:lnTo>
                <a:lnTo>
                  <a:pt x="0" y="1779"/>
                </a:lnTo>
                <a:lnTo>
                  <a:pt x="0" y="1734"/>
                </a:lnTo>
                <a:lnTo>
                  <a:pt x="0" y="1690"/>
                </a:lnTo>
                <a:lnTo>
                  <a:pt x="1" y="1644"/>
                </a:lnTo>
                <a:lnTo>
                  <a:pt x="4" y="1601"/>
                </a:lnTo>
                <a:lnTo>
                  <a:pt x="9" y="1557"/>
                </a:lnTo>
                <a:lnTo>
                  <a:pt x="13" y="1513"/>
                </a:lnTo>
                <a:lnTo>
                  <a:pt x="19" y="1470"/>
                </a:lnTo>
                <a:lnTo>
                  <a:pt x="25" y="1426"/>
                </a:lnTo>
                <a:lnTo>
                  <a:pt x="34" y="1384"/>
                </a:lnTo>
                <a:lnTo>
                  <a:pt x="51" y="1301"/>
                </a:lnTo>
                <a:lnTo>
                  <a:pt x="73" y="1219"/>
                </a:lnTo>
                <a:lnTo>
                  <a:pt x="98" y="1138"/>
                </a:lnTo>
                <a:lnTo>
                  <a:pt x="127" y="1059"/>
                </a:lnTo>
                <a:lnTo>
                  <a:pt x="161" y="982"/>
                </a:lnTo>
                <a:lnTo>
                  <a:pt x="196" y="907"/>
                </a:lnTo>
                <a:lnTo>
                  <a:pt x="236" y="835"/>
                </a:lnTo>
                <a:lnTo>
                  <a:pt x="278" y="764"/>
                </a:lnTo>
                <a:lnTo>
                  <a:pt x="324" y="696"/>
                </a:lnTo>
                <a:lnTo>
                  <a:pt x="372" y="630"/>
                </a:lnTo>
                <a:lnTo>
                  <a:pt x="424" y="568"/>
                </a:lnTo>
                <a:lnTo>
                  <a:pt x="476" y="508"/>
                </a:lnTo>
                <a:lnTo>
                  <a:pt x="534" y="450"/>
                </a:lnTo>
                <a:lnTo>
                  <a:pt x="592" y="395"/>
                </a:lnTo>
                <a:lnTo>
                  <a:pt x="654" y="344"/>
                </a:lnTo>
                <a:lnTo>
                  <a:pt x="718" y="295"/>
                </a:lnTo>
                <a:lnTo>
                  <a:pt x="784" y="250"/>
                </a:lnTo>
                <a:lnTo>
                  <a:pt x="853" y="209"/>
                </a:lnTo>
                <a:lnTo>
                  <a:pt x="922" y="171"/>
                </a:lnTo>
                <a:lnTo>
                  <a:pt x="995" y="136"/>
                </a:lnTo>
                <a:lnTo>
                  <a:pt x="1069" y="105"/>
                </a:lnTo>
                <a:lnTo>
                  <a:pt x="1145" y="77"/>
                </a:lnTo>
                <a:lnTo>
                  <a:pt x="1183" y="66"/>
                </a:lnTo>
                <a:lnTo>
                  <a:pt x="1223" y="54"/>
                </a:lnTo>
                <a:lnTo>
                  <a:pt x="1261" y="44"/>
                </a:lnTo>
                <a:lnTo>
                  <a:pt x="1300" y="35"/>
                </a:lnTo>
                <a:lnTo>
                  <a:pt x="1341" y="26"/>
                </a:lnTo>
                <a:lnTo>
                  <a:pt x="1381" y="19"/>
                </a:lnTo>
                <a:lnTo>
                  <a:pt x="1422" y="13"/>
                </a:lnTo>
                <a:lnTo>
                  <a:pt x="1463" y="9"/>
                </a:lnTo>
                <a:lnTo>
                  <a:pt x="1504" y="4"/>
                </a:lnTo>
                <a:lnTo>
                  <a:pt x="1545" y="1"/>
                </a:lnTo>
                <a:lnTo>
                  <a:pt x="1588" y="0"/>
                </a:lnTo>
                <a:lnTo>
                  <a:pt x="1629" y="0"/>
                </a:lnTo>
                <a:lnTo>
                  <a:pt x="1671" y="0"/>
                </a:lnTo>
                <a:lnTo>
                  <a:pt x="1712" y="1"/>
                </a:lnTo>
                <a:lnTo>
                  <a:pt x="1755" y="4"/>
                </a:lnTo>
                <a:lnTo>
                  <a:pt x="1796" y="9"/>
                </a:lnTo>
                <a:lnTo>
                  <a:pt x="1837" y="13"/>
                </a:lnTo>
                <a:lnTo>
                  <a:pt x="1878" y="19"/>
                </a:lnTo>
                <a:lnTo>
                  <a:pt x="1917" y="26"/>
                </a:lnTo>
                <a:lnTo>
                  <a:pt x="1957" y="35"/>
                </a:lnTo>
                <a:lnTo>
                  <a:pt x="1997" y="44"/>
                </a:lnTo>
                <a:lnTo>
                  <a:pt x="2036" y="54"/>
                </a:lnTo>
                <a:lnTo>
                  <a:pt x="2074" y="66"/>
                </a:lnTo>
                <a:lnTo>
                  <a:pt x="2114" y="77"/>
                </a:lnTo>
                <a:lnTo>
                  <a:pt x="2189" y="105"/>
                </a:lnTo>
                <a:lnTo>
                  <a:pt x="2263" y="136"/>
                </a:lnTo>
                <a:lnTo>
                  <a:pt x="2335" y="171"/>
                </a:lnTo>
                <a:lnTo>
                  <a:pt x="2406" y="209"/>
                </a:lnTo>
                <a:lnTo>
                  <a:pt x="2475" y="250"/>
                </a:lnTo>
                <a:lnTo>
                  <a:pt x="2541" y="295"/>
                </a:lnTo>
                <a:lnTo>
                  <a:pt x="2604" y="344"/>
                </a:lnTo>
                <a:lnTo>
                  <a:pt x="2665" y="395"/>
                </a:lnTo>
                <a:lnTo>
                  <a:pt x="2724" y="450"/>
                </a:lnTo>
                <a:lnTo>
                  <a:pt x="2781" y="508"/>
                </a:lnTo>
                <a:lnTo>
                  <a:pt x="2835" y="568"/>
                </a:lnTo>
                <a:lnTo>
                  <a:pt x="2887" y="630"/>
                </a:lnTo>
                <a:lnTo>
                  <a:pt x="2935" y="696"/>
                </a:lnTo>
                <a:lnTo>
                  <a:pt x="2980" y="764"/>
                </a:lnTo>
                <a:lnTo>
                  <a:pt x="3023" y="835"/>
                </a:lnTo>
                <a:lnTo>
                  <a:pt x="3061" y="907"/>
                </a:lnTo>
                <a:lnTo>
                  <a:pt x="3098" y="982"/>
                </a:lnTo>
                <a:lnTo>
                  <a:pt x="3130" y="1059"/>
                </a:lnTo>
                <a:lnTo>
                  <a:pt x="3159" y="1138"/>
                </a:lnTo>
                <a:lnTo>
                  <a:pt x="3186" y="1219"/>
                </a:lnTo>
                <a:lnTo>
                  <a:pt x="3208" y="1301"/>
                </a:lnTo>
                <a:lnTo>
                  <a:pt x="3225" y="1384"/>
                </a:lnTo>
                <a:lnTo>
                  <a:pt x="3233" y="1426"/>
                </a:lnTo>
                <a:lnTo>
                  <a:pt x="3240" y="1470"/>
                </a:lnTo>
                <a:lnTo>
                  <a:pt x="3246" y="1513"/>
                </a:lnTo>
                <a:lnTo>
                  <a:pt x="3250" y="1557"/>
                </a:lnTo>
                <a:lnTo>
                  <a:pt x="3253" y="1601"/>
                </a:lnTo>
                <a:lnTo>
                  <a:pt x="3256" y="1644"/>
                </a:lnTo>
                <a:lnTo>
                  <a:pt x="3257" y="1690"/>
                </a:lnTo>
                <a:lnTo>
                  <a:pt x="3259" y="1734"/>
                </a:lnTo>
                <a:lnTo>
                  <a:pt x="3257" y="1779"/>
                </a:lnTo>
                <a:lnTo>
                  <a:pt x="3256" y="1823"/>
                </a:lnTo>
                <a:lnTo>
                  <a:pt x="3253" y="1867"/>
                </a:lnTo>
                <a:lnTo>
                  <a:pt x="3250" y="1911"/>
                </a:lnTo>
                <a:lnTo>
                  <a:pt x="3246" y="1955"/>
                </a:lnTo>
                <a:lnTo>
                  <a:pt x="3240" y="1999"/>
                </a:lnTo>
                <a:lnTo>
                  <a:pt x="3233" y="2041"/>
                </a:lnTo>
                <a:lnTo>
                  <a:pt x="3225" y="2083"/>
                </a:lnTo>
                <a:lnTo>
                  <a:pt x="3208" y="2167"/>
                </a:lnTo>
                <a:lnTo>
                  <a:pt x="3186" y="2250"/>
                </a:lnTo>
                <a:lnTo>
                  <a:pt x="3159" y="2331"/>
                </a:lnTo>
                <a:lnTo>
                  <a:pt x="3130" y="2410"/>
                </a:lnTo>
                <a:lnTo>
                  <a:pt x="3098" y="2486"/>
                </a:lnTo>
                <a:lnTo>
                  <a:pt x="3061" y="2560"/>
                </a:lnTo>
                <a:lnTo>
                  <a:pt x="3023" y="2634"/>
                </a:lnTo>
                <a:lnTo>
                  <a:pt x="2980" y="2704"/>
                </a:lnTo>
                <a:lnTo>
                  <a:pt x="2935" y="2771"/>
                </a:lnTo>
                <a:lnTo>
                  <a:pt x="2887" y="2837"/>
                </a:lnTo>
                <a:lnTo>
                  <a:pt x="2835" y="2900"/>
                </a:lnTo>
                <a:lnTo>
                  <a:pt x="2781" y="2960"/>
                </a:lnTo>
                <a:lnTo>
                  <a:pt x="2724" y="3018"/>
                </a:lnTo>
                <a:lnTo>
                  <a:pt x="2665" y="3073"/>
                </a:lnTo>
                <a:lnTo>
                  <a:pt x="2604" y="3124"/>
                </a:lnTo>
                <a:lnTo>
                  <a:pt x="2541" y="3172"/>
                </a:lnTo>
                <a:lnTo>
                  <a:pt x="2475" y="3217"/>
                </a:lnTo>
                <a:lnTo>
                  <a:pt x="2406" y="3258"/>
                </a:lnTo>
                <a:lnTo>
                  <a:pt x="2335" y="3298"/>
                </a:lnTo>
                <a:lnTo>
                  <a:pt x="2263" y="3331"/>
                </a:lnTo>
                <a:lnTo>
                  <a:pt x="2189" y="3364"/>
                </a:lnTo>
                <a:lnTo>
                  <a:pt x="2114" y="3390"/>
                </a:lnTo>
                <a:lnTo>
                  <a:pt x="2074" y="3403"/>
                </a:lnTo>
                <a:lnTo>
                  <a:pt x="2036" y="3413"/>
                </a:lnTo>
                <a:lnTo>
                  <a:pt x="1997" y="3424"/>
                </a:lnTo>
                <a:lnTo>
                  <a:pt x="1957" y="3432"/>
                </a:lnTo>
                <a:lnTo>
                  <a:pt x="1917" y="3441"/>
                </a:lnTo>
                <a:lnTo>
                  <a:pt x="1878" y="3449"/>
                </a:lnTo>
                <a:lnTo>
                  <a:pt x="1837" y="3454"/>
                </a:lnTo>
                <a:lnTo>
                  <a:pt x="1796" y="3459"/>
                </a:lnTo>
                <a:lnTo>
                  <a:pt x="1755" y="3463"/>
                </a:lnTo>
                <a:lnTo>
                  <a:pt x="1712" y="3466"/>
                </a:lnTo>
                <a:lnTo>
                  <a:pt x="1671" y="3468"/>
                </a:lnTo>
                <a:lnTo>
                  <a:pt x="1629" y="3469"/>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040" name="Freeform 10">
            <a:extLst>
              <a:ext uri="{FF2B5EF4-FFF2-40B4-BE49-F238E27FC236}">
                <a16:creationId xmlns:a16="http://schemas.microsoft.com/office/drawing/2014/main" id="{6EB26E12-81D0-4624-BE6F-0B3A34780681}"/>
              </a:ext>
            </a:extLst>
          </p:cNvPr>
          <p:cNvSpPr>
            <a:spLocks/>
          </p:cNvSpPr>
          <p:nvPr/>
        </p:nvSpPr>
        <p:spPr bwMode="auto">
          <a:xfrm>
            <a:off x="3438526" y="2257425"/>
            <a:ext cx="1477963" cy="1574800"/>
          </a:xfrm>
          <a:custGeom>
            <a:avLst/>
            <a:gdLst>
              <a:gd name="T0" fmla="*/ 2147483646 w 1862"/>
              <a:gd name="T1" fmla="*/ 2147483646 h 1983"/>
              <a:gd name="T2" fmla="*/ 2147483646 w 1862"/>
              <a:gd name="T3" fmla="*/ 2147483646 h 1983"/>
              <a:gd name="T4" fmla="*/ 2147483646 w 1862"/>
              <a:gd name="T5" fmla="*/ 2147483646 h 1983"/>
              <a:gd name="T6" fmla="*/ 2147483646 w 1862"/>
              <a:gd name="T7" fmla="*/ 2147483646 h 1983"/>
              <a:gd name="T8" fmla="*/ 2147483646 w 1862"/>
              <a:gd name="T9" fmla="*/ 2147483646 h 1983"/>
              <a:gd name="T10" fmla="*/ 2147483646 w 1862"/>
              <a:gd name="T11" fmla="*/ 2147483646 h 1983"/>
              <a:gd name="T12" fmla="*/ 2147483646 w 1862"/>
              <a:gd name="T13" fmla="*/ 2147483646 h 1983"/>
              <a:gd name="T14" fmla="*/ 2147483646 w 1862"/>
              <a:gd name="T15" fmla="*/ 2147483646 h 1983"/>
              <a:gd name="T16" fmla="*/ 2147483646 w 1862"/>
              <a:gd name="T17" fmla="*/ 2147483646 h 1983"/>
              <a:gd name="T18" fmla="*/ 2147483646 w 1862"/>
              <a:gd name="T19" fmla="*/ 2147483646 h 1983"/>
              <a:gd name="T20" fmla="*/ 2147483646 w 1862"/>
              <a:gd name="T21" fmla="*/ 2147483646 h 1983"/>
              <a:gd name="T22" fmla="*/ 2147483646 w 1862"/>
              <a:gd name="T23" fmla="*/ 2147483646 h 1983"/>
              <a:gd name="T24" fmla="*/ 0 w 1862"/>
              <a:gd name="T25" fmla="*/ 2147483646 h 1983"/>
              <a:gd name="T26" fmla="*/ 2147483646 w 1862"/>
              <a:gd name="T27" fmla="*/ 2147483646 h 1983"/>
              <a:gd name="T28" fmla="*/ 2147483646 w 1862"/>
              <a:gd name="T29" fmla="*/ 2147483646 h 1983"/>
              <a:gd name="T30" fmla="*/ 2147483646 w 1862"/>
              <a:gd name="T31" fmla="*/ 2147483646 h 1983"/>
              <a:gd name="T32" fmla="*/ 2147483646 w 1862"/>
              <a:gd name="T33" fmla="*/ 2147483646 h 1983"/>
              <a:gd name="T34" fmla="*/ 2147483646 w 1862"/>
              <a:gd name="T35" fmla="*/ 2147483646 h 1983"/>
              <a:gd name="T36" fmla="*/ 2147483646 w 1862"/>
              <a:gd name="T37" fmla="*/ 2147483646 h 1983"/>
              <a:gd name="T38" fmla="*/ 2147483646 w 1862"/>
              <a:gd name="T39" fmla="*/ 2147483646 h 1983"/>
              <a:gd name="T40" fmla="*/ 2147483646 w 1862"/>
              <a:gd name="T41" fmla="*/ 2147483646 h 1983"/>
              <a:gd name="T42" fmla="*/ 2147483646 w 1862"/>
              <a:gd name="T43" fmla="*/ 2147483646 h 1983"/>
              <a:gd name="T44" fmla="*/ 2147483646 w 1862"/>
              <a:gd name="T45" fmla="*/ 2147483646 h 1983"/>
              <a:gd name="T46" fmla="*/ 2147483646 w 1862"/>
              <a:gd name="T47" fmla="*/ 2147483646 h 1983"/>
              <a:gd name="T48" fmla="*/ 2147483646 w 1862"/>
              <a:gd name="T49" fmla="*/ 2147483646 h 1983"/>
              <a:gd name="T50" fmla="*/ 2147483646 w 1862"/>
              <a:gd name="T51" fmla="*/ 0 h 1983"/>
              <a:gd name="T52" fmla="*/ 2147483646 w 1862"/>
              <a:gd name="T53" fmla="*/ 2147483646 h 1983"/>
              <a:gd name="T54" fmla="*/ 2147483646 w 1862"/>
              <a:gd name="T55" fmla="*/ 2147483646 h 1983"/>
              <a:gd name="T56" fmla="*/ 2147483646 w 1862"/>
              <a:gd name="T57" fmla="*/ 2147483646 h 1983"/>
              <a:gd name="T58" fmla="*/ 2147483646 w 1862"/>
              <a:gd name="T59" fmla="*/ 2147483646 h 1983"/>
              <a:gd name="T60" fmla="*/ 2147483646 w 1862"/>
              <a:gd name="T61" fmla="*/ 2147483646 h 1983"/>
              <a:gd name="T62" fmla="*/ 2147483646 w 1862"/>
              <a:gd name="T63" fmla="*/ 2147483646 h 1983"/>
              <a:gd name="T64" fmla="*/ 2147483646 w 1862"/>
              <a:gd name="T65" fmla="*/ 2147483646 h 1983"/>
              <a:gd name="T66" fmla="*/ 2147483646 w 1862"/>
              <a:gd name="T67" fmla="*/ 2147483646 h 1983"/>
              <a:gd name="T68" fmla="*/ 2147483646 w 1862"/>
              <a:gd name="T69" fmla="*/ 2147483646 h 1983"/>
              <a:gd name="T70" fmla="*/ 2147483646 w 1862"/>
              <a:gd name="T71" fmla="*/ 2147483646 h 1983"/>
              <a:gd name="T72" fmla="*/ 2147483646 w 1862"/>
              <a:gd name="T73" fmla="*/ 2147483646 h 1983"/>
              <a:gd name="T74" fmla="*/ 2147483646 w 1862"/>
              <a:gd name="T75" fmla="*/ 2147483646 h 1983"/>
              <a:gd name="T76" fmla="*/ 2147483646 w 1862"/>
              <a:gd name="T77" fmla="*/ 2147483646 h 1983"/>
              <a:gd name="T78" fmla="*/ 2147483646 w 1862"/>
              <a:gd name="T79" fmla="*/ 2147483646 h 1983"/>
              <a:gd name="T80" fmla="*/ 2147483646 w 1862"/>
              <a:gd name="T81" fmla="*/ 2147483646 h 1983"/>
              <a:gd name="T82" fmla="*/ 2147483646 w 1862"/>
              <a:gd name="T83" fmla="*/ 2147483646 h 1983"/>
              <a:gd name="T84" fmla="*/ 2147483646 w 1862"/>
              <a:gd name="T85" fmla="*/ 2147483646 h 1983"/>
              <a:gd name="T86" fmla="*/ 2147483646 w 1862"/>
              <a:gd name="T87" fmla="*/ 2147483646 h 1983"/>
              <a:gd name="T88" fmla="*/ 2147483646 w 1862"/>
              <a:gd name="T89" fmla="*/ 2147483646 h 1983"/>
              <a:gd name="T90" fmla="*/ 2147483646 w 1862"/>
              <a:gd name="T91" fmla="*/ 2147483646 h 1983"/>
              <a:gd name="T92" fmla="*/ 2147483646 w 1862"/>
              <a:gd name="T93" fmla="*/ 2147483646 h 1983"/>
              <a:gd name="T94" fmla="*/ 2147483646 w 1862"/>
              <a:gd name="T95" fmla="*/ 2147483646 h 1983"/>
              <a:gd name="T96" fmla="*/ 2147483646 w 1862"/>
              <a:gd name="T97" fmla="*/ 2147483646 h 1983"/>
              <a:gd name="T98" fmla="*/ 2147483646 w 1862"/>
              <a:gd name="T99" fmla="*/ 2147483646 h 1983"/>
              <a:gd name="T100" fmla="*/ 2147483646 w 1862"/>
              <a:gd name="T101" fmla="*/ 2147483646 h 198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62"/>
              <a:gd name="T154" fmla="*/ 0 h 1983"/>
              <a:gd name="T155" fmla="*/ 1862 w 1862"/>
              <a:gd name="T156" fmla="*/ 1983 h 198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62" h="1983">
                <a:moveTo>
                  <a:pt x="932" y="1983"/>
                </a:moveTo>
                <a:lnTo>
                  <a:pt x="907" y="1983"/>
                </a:lnTo>
                <a:lnTo>
                  <a:pt x="884" y="1981"/>
                </a:lnTo>
                <a:lnTo>
                  <a:pt x="860" y="1980"/>
                </a:lnTo>
                <a:lnTo>
                  <a:pt x="837" y="1978"/>
                </a:lnTo>
                <a:lnTo>
                  <a:pt x="813" y="1975"/>
                </a:lnTo>
                <a:lnTo>
                  <a:pt x="790" y="1971"/>
                </a:lnTo>
                <a:lnTo>
                  <a:pt x="766" y="1968"/>
                </a:lnTo>
                <a:lnTo>
                  <a:pt x="744" y="1962"/>
                </a:lnTo>
                <a:lnTo>
                  <a:pt x="721" y="1958"/>
                </a:lnTo>
                <a:lnTo>
                  <a:pt x="699" y="1952"/>
                </a:lnTo>
                <a:lnTo>
                  <a:pt x="677" y="1944"/>
                </a:lnTo>
                <a:lnTo>
                  <a:pt x="655" y="1939"/>
                </a:lnTo>
                <a:lnTo>
                  <a:pt x="633" y="1931"/>
                </a:lnTo>
                <a:lnTo>
                  <a:pt x="611" y="1923"/>
                </a:lnTo>
                <a:lnTo>
                  <a:pt x="590" y="1914"/>
                </a:lnTo>
                <a:lnTo>
                  <a:pt x="568" y="1905"/>
                </a:lnTo>
                <a:lnTo>
                  <a:pt x="548" y="1895"/>
                </a:lnTo>
                <a:lnTo>
                  <a:pt x="527" y="1884"/>
                </a:lnTo>
                <a:lnTo>
                  <a:pt x="507" y="1874"/>
                </a:lnTo>
                <a:lnTo>
                  <a:pt x="488" y="1863"/>
                </a:lnTo>
                <a:lnTo>
                  <a:pt x="467" y="1851"/>
                </a:lnTo>
                <a:lnTo>
                  <a:pt x="448" y="1839"/>
                </a:lnTo>
                <a:lnTo>
                  <a:pt x="429" y="1826"/>
                </a:lnTo>
                <a:lnTo>
                  <a:pt x="412" y="1813"/>
                </a:lnTo>
                <a:lnTo>
                  <a:pt x="393" y="1800"/>
                </a:lnTo>
                <a:lnTo>
                  <a:pt x="375" y="1786"/>
                </a:lnTo>
                <a:lnTo>
                  <a:pt x="357" y="1772"/>
                </a:lnTo>
                <a:lnTo>
                  <a:pt x="340" y="1756"/>
                </a:lnTo>
                <a:lnTo>
                  <a:pt x="322" y="1741"/>
                </a:lnTo>
                <a:lnTo>
                  <a:pt x="306" y="1725"/>
                </a:lnTo>
                <a:lnTo>
                  <a:pt x="288" y="1709"/>
                </a:lnTo>
                <a:lnTo>
                  <a:pt x="274" y="1693"/>
                </a:lnTo>
                <a:lnTo>
                  <a:pt x="258" y="1675"/>
                </a:lnTo>
                <a:lnTo>
                  <a:pt x="242" y="1658"/>
                </a:lnTo>
                <a:lnTo>
                  <a:pt x="227" y="1640"/>
                </a:lnTo>
                <a:lnTo>
                  <a:pt x="214" y="1623"/>
                </a:lnTo>
                <a:lnTo>
                  <a:pt x="199" y="1604"/>
                </a:lnTo>
                <a:lnTo>
                  <a:pt x="186" y="1585"/>
                </a:lnTo>
                <a:lnTo>
                  <a:pt x="173" y="1566"/>
                </a:lnTo>
                <a:lnTo>
                  <a:pt x="159" y="1545"/>
                </a:lnTo>
                <a:lnTo>
                  <a:pt x="148" y="1526"/>
                </a:lnTo>
                <a:lnTo>
                  <a:pt x="134" y="1506"/>
                </a:lnTo>
                <a:lnTo>
                  <a:pt x="124" y="1485"/>
                </a:lnTo>
                <a:lnTo>
                  <a:pt x="112" y="1465"/>
                </a:lnTo>
                <a:lnTo>
                  <a:pt x="102" y="1443"/>
                </a:lnTo>
                <a:lnTo>
                  <a:pt x="92" y="1421"/>
                </a:lnTo>
                <a:lnTo>
                  <a:pt x="83" y="1399"/>
                </a:lnTo>
                <a:lnTo>
                  <a:pt x="73" y="1377"/>
                </a:lnTo>
                <a:lnTo>
                  <a:pt x="66" y="1355"/>
                </a:lnTo>
                <a:lnTo>
                  <a:pt x="57" y="1333"/>
                </a:lnTo>
                <a:lnTo>
                  <a:pt x="49" y="1309"/>
                </a:lnTo>
                <a:lnTo>
                  <a:pt x="42" y="1286"/>
                </a:lnTo>
                <a:lnTo>
                  <a:pt x="36" y="1263"/>
                </a:lnTo>
                <a:lnTo>
                  <a:pt x="29" y="1239"/>
                </a:lnTo>
                <a:lnTo>
                  <a:pt x="25" y="1216"/>
                </a:lnTo>
                <a:lnTo>
                  <a:pt x="19" y="1191"/>
                </a:lnTo>
                <a:lnTo>
                  <a:pt x="14" y="1168"/>
                </a:lnTo>
                <a:lnTo>
                  <a:pt x="11" y="1143"/>
                </a:lnTo>
                <a:lnTo>
                  <a:pt x="8" y="1118"/>
                </a:lnTo>
                <a:lnTo>
                  <a:pt x="5" y="1093"/>
                </a:lnTo>
                <a:lnTo>
                  <a:pt x="3" y="1068"/>
                </a:lnTo>
                <a:lnTo>
                  <a:pt x="1" y="1042"/>
                </a:lnTo>
                <a:lnTo>
                  <a:pt x="1" y="1017"/>
                </a:lnTo>
                <a:lnTo>
                  <a:pt x="0" y="992"/>
                </a:lnTo>
                <a:lnTo>
                  <a:pt x="1" y="966"/>
                </a:lnTo>
                <a:lnTo>
                  <a:pt x="1" y="941"/>
                </a:lnTo>
                <a:lnTo>
                  <a:pt x="3" y="916"/>
                </a:lnTo>
                <a:lnTo>
                  <a:pt x="5" y="891"/>
                </a:lnTo>
                <a:lnTo>
                  <a:pt x="8" y="865"/>
                </a:lnTo>
                <a:lnTo>
                  <a:pt x="11" y="841"/>
                </a:lnTo>
                <a:lnTo>
                  <a:pt x="14" y="816"/>
                </a:lnTo>
                <a:lnTo>
                  <a:pt x="19" y="791"/>
                </a:lnTo>
                <a:lnTo>
                  <a:pt x="25" y="768"/>
                </a:lnTo>
                <a:lnTo>
                  <a:pt x="30" y="743"/>
                </a:lnTo>
                <a:lnTo>
                  <a:pt x="36" y="720"/>
                </a:lnTo>
                <a:lnTo>
                  <a:pt x="42" y="696"/>
                </a:lnTo>
                <a:lnTo>
                  <a:pt x="49" y="674"/>
                </a:lnTo>
                <a:lnTo>
                  <a:pt x="57" y="651"/>
                </a:lnTo>
                <a:lnTo>
                  <a:pt x="66" y="628"/>
                </a:lnTo>
                <a:lnTo>
                  <a:pt x="73" y="606"/>
                </a:lnTo>
                <a:lnTo>
                  <a:pt x="83" y="584"/>
                </a:lnTo>
                <a:lnTo>
                  <a:pt x="92" y="562"/>
                </a:lnTo>
                <a:lnTo>
                  <a:pt x="102" y="540"/>
                </a:lnTo>
                <a:lnTo>
                  <a:pt x="112" y="519"/>
                </a:lnTo>
                <a:lnTo>
                  <a:pt x="124" y="499"/>
                </a:lnTo>
                <a:lnTo>
                  <a:pt x="134" y="478"/>
                </a:lnTo>
                <a:lnTo>
                  <a:pt x="148" y="458"/>
                </a:lnTo>
                <a:lnTo>
                  <a:pt x="159" y="437"/>
                </a:lnTo>
                <a:lnTo>
                  <a:pt x="173" y="418"/>
                </a:lnTo>
                <a:lnTo>
                  <a:pt x="186" y="398"/>
                </a:lnTo>
                <a:lnTo>
                  <a:pt x="199" y="380"/>
                </a:lnTo>
                <a:lnTo>
                  <a:pt x="214" y="361"/>
                </a:lnTo>
                <a:lnTo>
                  <a:pt x="227" y="342"/>
                </a:lnTo>
                <a:lnTo>
                  <a:pt x="242" y="325"/>
                </a:lnTo>
                <a:lnTo>
                  <a:pt x="258" y="307"/>
                </a:lnTo>
                <a:lnTo>
                  <a:pt x="274" y="291"/>
                </a:lnTo>
                <a:lnTo>
                  <a:pt x="288" y="274"/>
                </a:lnTo>
                <a:lnTo>
                  <a:pt x="306" y="257"/>
                </a:lnTo>
                <a:lnTo>
                  <a:pt x="322" y="243"/>
                </a:lnTo>
                <a:lnTo>
                  <a:pt x="340" y="227"/>
                </a:lnTo>
                <a:lnTo>
                  <a:pt x="356" y="212"/>
                </a:lnTo>
                <a:lnTo>
                  <a:pt x="375" y="197"/>
                </a:lnTo>
                <a:lnTo>
                  <a:pt x="393" y="183"/>
                </a:lnTo>
                <a:lnTo>
                  <a:pt x="410" y="170"/>
                </a:lnTo>
                <a:lnTo>
                  <a:pt x="429" y="156"/>
                </a:lnTo>
                <a:lnTo>
                  <a:pt x="448" y="143"/>
                </a:lnTo>
                <a:lnTo>
                  <a:pt x="467" y="132"/>
                </a:lnTo>
                <a:lnTo>
                  <a:pt x="488" y="120"/>
                </a:lnTo>
                <a:lnTo>
                  <a:pt x="507" y="108"/>
                </a:lnTo>
                <a:lnTo>
                  <a:pt x="527" y="98"/>
                </a:lnTo>
                <a:lnTo>
                  <a:pt x="548" y="88"/>
                </a:lnTo>
                <a:lnTo>
                  <a:pt x="568" y="79"/>
                </a:lnTo>
                <a:lnTo>
                  <a:pt x="590" y="69"/>
                </a:lnTo>
                <a:lnTo>
                  <a:pt x="611" y="60"/>
                </a:lnTo>
                <a:lnTo>
                  <a:pt x="633" y="53"/>
                </a:lnTo>
                <a:lnTo>
                  <a:pt x="655" y="45"/>
                </a:lnTo>
                <a:lnTo>
                  <a:pt x="677" y="38"/>
                </a:lnTo>
                <a:lnTo>
                  <a:pt x="699" y="32"/>
                </a:lnTo>
                <a:lnTo>
                  <a:pt x="721" y="26"/>
                </a:lnTo>
                <a:lnTo>
                  <a:pt x="744" y="20"/>
                </a:lnTo>
                <a:lnTo>
                  <a:pt x="766" y="16"/>
                </a:lnTo>
                <a:lnTo>
                  <a:pt x="790" y="12"/>
                </a:lnTo>
                <a:lnTo>
                  <a:pt x="813" y="9"/>
                </a:lnTo>
                <a:lnTo>
                  <a:pt x="837" y="6"/>
                </a:lnTo>
                <a:lnTo>
                  <a:pt x="860" y="3"/>
                </a:lnTo>
                <a:lnTo>
                  <a:pt x="884" y="1"/>
                </a:lnTo>
                <a:lnTo>
                  <a:pt x="907" y="0"/>
                </a:lnTo>
                <a:lnTo>
                  <a:pt x="931" y="0"/>
                </a:lnTo>
                <a:lnTo>
                  <a:pt x="932" y="0"/>
                </a:lnTo>
                <a:lnTo>
                  <a:pt x="955" y="1"/>
                </a:lnTo>
                <a:lnTo>
                  <a:pt x="979" y="1"/>
                </a:lnTo>
                <a:lnTo>
                  <a:pt x="1002" y="3"/>
                </a:lnTo>
                <a:lnTo>
                  <a:pt x="1026" y="6"/>
                </a:lnTo>
                <a:lnTo>
                  <a:pt x="1049" y="9"/>
                </a:lnTo>
                <a:lnTo>
                  <a:pt x="1073" y="12"/>
                </a:lnTo>
                <a:lnTo>
                  <a:pt x="1096" y="16"/>
                </a:lnTo>
                <a:lnTo>
                  <a:pt x="1120" y="20"/>
                </a:lnTo>
                <a:lnTo>
                  <a:pt x="1142" y="26"/>
                </a:lnTo>
                <a:lnTo>
                  <a:pt x="1164" y="32"/>
                </a:lnTo>
                <a:lnTo>
                  <a:pt x="1186" y="38"/>
                </a:lnTo>
                <a:lnTo>
                  <a:pt x="1208" y="45"/>
                </a:lnTo>
                <a:lnTo>
                  <a:pt x="1230" y="53"/>
                </a:lnTo>
                <a:lnTo>
                  <a:pt x="1252" y="60"/>
                </a:lnTo>
                <a:lnTo>
                  <a:pt x="1272" y="69"/>
                </a:lnTo>
                <a:lnTo>
                  <a:pt x="1294" y="79"/>
                </a:lnTo>
                <a:lnTo>
                  <a:pt x="1315" y="88"/>
                </a:lnTo>
                <a:lnTo>
                  <a:pt x="1335" y="98"/>
                </a:lnTo>
                <a:lnTo>
                  <a:pt x="1356" y="108"/>
                </a:lnTo>
                <a:lnTo>
                  <a:pt x="1375" y="120"/>
                </a:lnTo>
                <a:lnTo>
                  <a:pt x="1395" y="132"/>
                </a:lnTo>
                <a:lnTo>
                  <a:pt x="1414" y="143"/>
                </a:lnTo>
                <a:lnTo>
                  <a:pt x="1433" y="156"/>
                </a:lnTo>
                <a:lnTo>
                  <a:pt x="1452" y="170"/>
                </a:lnTo>
                <a:lnTo>
                  <a:pt x="1470" y="183"/>
                </a:lnTo>
                <a:lnTo>
                  <a:pt x="1488" y="197"/>
                </a:lnTo>
                <a:lnTo>
                  <a:pt x="1507" y="212"/>
                </a:lnTo>
                <a:lnTo>
                  <a:pt x="1523" y="227"/>
                </a:lnTo>
                <a:lnTo>
                  <a:pt x="1540" y="243"/>
                </a:lnTo>
                <a:lnTo>
                  <a:pt x="1557" y="257"/>
                </a:lnTo>
                <a:lnTo>
                  <a:pt x="1574" y="274"/>
                </a:lnTo>
                <a:lnTo>
                  <a:pt x="1590" y="291"/>
                </a:lnTo>
                <a:lnTo>
                  <a:pt x="1605" y="307"/>
                </a:lnTo>
                <a:lnTo>
                  <a:pt x="1621" y="325"/>
                </a:lnTo>
                <a:lnTo>
                  <a:pt x="1636" y="342"/>
                </a:lnTo>
                <a:lnTo>
                  <a:pt x="1650" y="361"/>
                </a:lnTo>
                <a:lnTo>
                  <a:pt x="1664" y="380"/>
                </a:lnTo>
                <a:lnTo>
                  <a:pt x="1677" y="398"/>
                </a:lnTo>
                <a:lnTo>
                  <a:pt x="1690" y="418"/>
                </a:lnTo>
                <a:lnTo>
                  <a:pt x="1703" y="437"/>
                </a:lnTo>
                <a:lnTo>
                  <a:pt x="1715" y="458"/>
                </a:lnTo>
                <a:lnTo>
                  <a:pt x="1728" y="477"/>
                </a:lnTo>
                <a:lnTo>
                  <a:pt x="1738" y="499"/>
                </a:lnTo>
                <a:lnTo>
                  <a:pt x="1750" y="519"/>
                </a:lnTo>
                <a:lnTo>
                  <a:pt x="1760" y="540"/>
                </a:lnTo>
                <a:lnTo>
                  <a:pt x="1771" y="562"/>
                </a:lnTo>
                <a:lnTo>
                  <a:pt x="1779" y="584"/>
                </a:lnTo>
                <a:lnTo>
                  <a:pt x="1790" y="606"/>
                </a:lnTo>
                <a:lnTo>
                  <a:pt x="1797" y="628"/>
                </a:lnTo>
                <a:lnTo>
                  <a:pt x="1806" y="651"/>
                </a:lnTo>
                <a:lnTo>
                  <a:pt x="1813" y="673"/>
                </a:lnTo>
                <a:lnTo>
                  <a:pt x="1820" y="696"/>
                </a:lnTo>
                <a:lnTo>
                  <a:pt x="1826" y="720"/>
                </a:lnTo>
                <a:lnTo>
                  <a:pt x="1834" y="743"/>
                </a:lnTo>
                <a:lnTo>
                  <a:pt x="1838" y="768"/>
                </a:lnTo>
                <a:lnTo>
                  <a:pt x="1844" y="791"/>
                </a:lnTo>
                <a:lnTo>
                  <a:pt x="1848" y="816"/>
                </a:lnTo>
                <a:lnTo>
                  <a:pt x="1851" y="841"/>
                </a:lnTo>
                <a:lnTo>
                  <a:pt x="1854" y="865"/>
                </a:lnTo>
                <a:lnTo>
                  <a:pt x="1857" y="890"/>
                </a:lnTo>
                <a:lnTo>
                  <a:pt x="1860" y="916"/>
                </a:lnTo>
                <a:lnTo>
                  <a:pt x="1862" y="941"/>
                </a:lnTo>
                <a:lnTo>
                  <a:pt x="1862" y="966"/>
                </a:lnTo>
                <a:lnTo>
                  <a:pt x="1862" y="992"/>
                </a:lnTo>
                <a:lnTo>
                  <a:pt x="1862" y="1017"/>
                </a:lnTo>
                <a:lnTo>
                  <a:pt x="1862" y="1043"/>
                </a:lnTo>
                <a:lnTo>
                  <a:pt x="1860" y="1068"/>
                </a:lnTo>
                <a:lnTo>
                  <a:pt x="1857" y="1093"/>
                </a:lnTo>
                <a:lnTo>
                  <a:pt x="1854" y="1118"/>
                </a:lnTo>
                <a:lnTo>
                  <a:pt x="1851" y="1143"/>
                </a:lnTo>
                <a:lnTo>
                  <a:pt x="1848" y="1168"/>
                </a:lnTo>
                <a:lnTo>
                  <a:pt x="1844" y="1191"/>
                </a:lnTo>
                <a:lnTo>
                  <a:pt x="1838" y="1216"/>
                </a:lnTo>
                <a:lnTo>
                  <a:pt x="1834" y="1239"/>
                </a:lnTo>
                <a:lnTo>
                  <a:pt x="1826" y="1263"/>
                </a:lnTo>
                <a:lnTo>
                  <a:pt x="1820" y="1286"/>
                </a:lnTo>
                <a:lnTo>
                  <a:pt x="1813" y="1309"/>
                </a:lnTo>
                <a:lnTo>
                  <a:pt x="1806" y="1333"/>
                </a:lnTo>
                <a:lnTo>
                  <a:pt x="1797" y="1355"/>
                </a:lnTo>
                <a:lnTo>
                  <a:pt x="1790" y="1377"/>
                </a:lnTo>
                <a:lnTo>
                  <a:pt x="1779" y="1399"/>
                </a:lnTo>
                <a:lnTo>
                  <a:pt x="1771" y="1421"/>
                </a:lnTo>
                <a:lnTo>
                  <a:pt x="1760" y="1443"/>
                </a:lnTo>
                <a:lnTo>
                  <a:pt x="1750" y="1465"/>
                </a:lnTo>
                <a:lnTo>
                  <a:pt x="1738" y="1485"/>
                </a:lnTo>
                <a:lnTo>
                  <a:pt x="1728" y="1506"/>
                </a:lnTo>
                <a:lnTo>
                  <a:pt x="1715" y="1526"/>
                </a:lnTo>
                <a:lnTo>
                  <a:pt x="1703" y="1545"/>
                </a:lnTo>
                <a:lnTo>
                  <a:pt x="1690" y="1566"/>
                </a:lnTo>
                <a:lnTo>
                  <a:pt x="1677" y="1585"/>
                </a:lnTo>
                <a:lnTo>
                  <a:pt x="1664" y="1604"/>
                </a:lnTo>
                <a:lnTo>
                  <a:pt x="1650" y="1623"/>
                </a:lnTo>
                <a:lnTo>
                  <a:pt x="1636" y="1640"/>
                </a:lnTo>
                <a:lnTo>
                  <a:pt x="1621" y="1658"/>
                </a:lnTo>
                <a:lnTo>
                  <a:pt x="1605" y="1675"/>
                </a:lnTo>
                <a:lnTo>
                  <a:pt x="1590" y="1693"/>
                </a:lnTo>
                <a:lnTo>
                  <a:pt x="1574" y="1709"/>
                </a:lnTo>
                <a:lnTo>
                  <a:pt x="1557" y="1725"/>
                </a:lnTo>
                <a:lnTo>
                  <a:pt x="1540" y="1741"/>
                </a:lnTo>
                <a:lnTo>
                  <a:pt x="1523" y="1756"/>
                </a:lnTo>
                <a:lnTo>
                  <a:pt x="1507" y="1772"/>
                </a:lnTo>
                <a:lnTo>
                  <a:pt x="1488" y="1786"/>
                </a:lnTo>
                <a:lnTo>
                  <a:pt x="1470" y="1800"/>
                </a:lnTo>
                <a:lnTo>
                  <a:pt x="1452" y="1813"/>
                </a:lnTo>
                <a:lnTo>
                  <a:pt x="1433" y="1826"/>
                </a:lnTo>
                <a:lnTo>
                  <a:pt x="1414" y="1839"/>
                </a:lnTo>
                <a:lnTo>
                  <a:pt x="1395" y="1851"/>
                </a:lnTo>
                <a:lnTo>
                  <a:pt x="1375" y="1863"/>
                </a:lnTo>
                <a:lnTo>
                  <a:pt x="1356" y="1874"/>
                </a:lnTo>
                <a:lnTo>
                  <a:pt x="1335" y="1884"/>
                </a:lnTo>
                <a:lnTo>
                  <a:pt x="1315" y="1895"/>
                </a:lnTo>
                <a:lnTo>
                  <a:pt x="1294" y="1905"/>
                </a:lnTo>
                <a:lnTo>
                  <a:pt x="1272" y="1914"/>
                </a:lnTo>
                <a:lnTo>
                  <a:pt x="1252" y="1923"/>
                </a:lnTo>
                <a:lnTo>
                  <a:pt x="1230" y="1930"/>
                </a:lnTo>
                <a:lnTo>
                  <a:pt x="1208" y="1939"/>
                </a:lnTo>
                <a:lnTo>
                  <a:pt x="1186" y="1944"/>
                </a:lnTo>
                <a:lnTo>
                  <a:pt x="1164" y="1952"/>
                </a:lnTo>
                <a:lnTo>
                  <a:pt x="1142" y="1958"/>
                </a:lnTo>
                <a:lnTo>
                  <a:pt x="1118" y="1962"/>
                </a:lnTo>
                <a:lnTo>
                  <a:pt x="1096" y="1966"/>
                </a:lnTo>
                <a:lnTo>
                  <a:pt x="1073" y="1971"/>
                </a:lnTo>
                <a:lnTo>
                  <a:pt x="1049" y="1975"/>
                </a:lnTo>
                <a:lnTo>
                  <a:pt x="1026" y="1978"/>
                </a:lnTo>
                <a:lnTo>
                  <a:pt x="1002" y="1980"/>
                </a:lnTo>
                <a:lnTo>
                  <a:pt x="979" y="1981"/>
                </a:lnTo>
                <a:lnTo>
                  <a:pt x="955" y="1983"/>
                </a:lnTo>
                <a:lnTo>
                  <a:pt x="931" y="1983"/>
                </a:lnTo>
                <a:lnTo>
                  <a:pt x="932" y="1983"/>
                </a:lnTo>
                <a:close/>
              </a:path>
            </a:pathLst>
          </a:custGeom>
          <a:solidFill>
            <a:srgbClr val="CDCD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041" name="Freeform 11">
            <a:extLst>
              <a:ext uri="{FF2B5EF4-FFF2-40B4-BE49-F238E27FC236}">
                <a16:creationId xmlns:a16="http://schemas.microsoft.com/office/drawing/2014/main" id="{CFF7174A-6D7A-40AA-BBFE-3C7B62E39E1A}"/>
              </a:ext>
            </a:extLst>
          </p:cNvPr>
          <p:cNvSpPr>
            <a:spLocks/>
          </p:cNvSpPr>
          <p:nvPr/>
        </p:nvSpPr>
        <p:spPr bwMode="auto">
          <a:xfrm>
            <a:off x="3438526" y="2257425"/>
            <a:ext cx="1477963" cy="1574800"/>
          </a:xfrm>
          <a:custGeom>
            <a:avLst/>
            <a:gdLst>
              <a:gd name="T0" fmla="*/ 2147483646 w 1862"/>
              <a:gd name="T1" fmla="*/ 2147483646 h 1983"/>
              <a:gd name="T2" fmla="*/ 2147483646 w 1862"/>
              <a:gd name="T3" fmla="*/ 2147483646 h 1983"/>
              <a:gd name="T4" fmla="*/ 2147483646 w 1862"/>
              <a:gd name="T5" fmla="*/ 2147483646 h 1983"/>
              <a:gd name="T6" fmla="*/ 2147483646 w 1862"/>
              <a:gd name="T7" fmla="*/ 2147483646 h 1983"/>
              <a:gd name="T8" fmla="*/ 2147483646 w 1862"/>
              <a:gd name="T9" fmla="*/ 2147483646 h 1983"/>
              <a:gd name="T10" fmla="*/ 2147483646 w 1862"/>
              <a:gd name="T11" fmla="*/ 2147483646 h 1983"/>
              <a:gd name="T12" fmla="*/ 2147483646 w 1862"/>
              <a:gd name="T13" fmla="*/ 2147483646 h 1983"/>
              <a:gd name="T14" fmla="*/ 2147483646 w 1862"/>
              <a:gd name="T15" fmla="*/ 2147483646 h 1983"/>
              <a:gd name="T16" fmla="*/ 2147483646 w 1862"/>
              <a:gd name="T17" fmla="*/ 2147483646 h 1983"/>
              <a:gd name="T18" fmla="*/ 2147483646 w 1862"/>
              <a:gd name="T19" fmla="*/ 2147483646 h 1983"/>
              <a:gd name="T20" fmla="*/ 2147483646 w 1862"/>
              <a:gd name="T21" fmla="*/ 2147483646 h 1983"/>
              <a:gd name="T22" fmla="*/ 2147483646 w 1862"/>
              <a:gd name="T23" fmla="*/ 2147483646 h 1983"/>
              <a:gd name="T24" fmla="*/ 0 w 1862"/>
              <a:gd name="T25" fmla="*/ 2147483646 h 1983"/>
              <a:gd name="T26" fmla="*/ 2147483646 w 1862"/>
              <a:gd name="T27" fmla="*/ 2147483646 h 1983"/>
              <a:gd name="T28" fmla="*/ 2147483646 w 1862"/>
              <a:gd name="T29" fmla="*/ 2147483646 h 1983"/>
              <a:gd name="T30" fmla="*/ 2147483646 w 1862"/>
              <a:gd name="T31" fmla="*/ 2147483646 h 1983"/>
              <a:gd name="T32" fmla="*/ 2147483646 w 1862"/>
              <a:gd name="T33" fmla="*/ 2147483646 h 1983"/>
              <a:gd name="T34" fmla="*/ 2147483646 w 1862"/>
              <a:gd name="T35" fmla="*/ 2147483646 h 1983"/>
              <a:gd name="T36" fmla="*/ 2147483646 w 1862"/>
              <a:gd name="T37" fmla="*/ 2147483646 h 1983"/>
              <a:gd name="T38" fmla="*/ 2147483646 w 1862"/>
              <a:gd name="T39" fmla="*/ 2147483646 h 1983"/>
              <a:gd name="T40" fmla="*/ 2147483646 w 1862"/>
              <a:gd name="T41" fmla="*/ 2147483646 h 1983"/>
              <a:gd name="T42" fmla="*/ 2147483646 w 1862"/>
              <a:gd name="T43" fmla="*/ 2147483646 h 1983"/>
              <a:gd name="T44" fmla="*/ 2147483646 w 1862"/>
              <a:gd name="T45" fmla="*/ 2147483646 h 1983"/>
              <a:gd name="T46" fmla="*/ 2147483646 w 1862"/>
              <a:gd name="T47" fmla="*/ 2147483646 h 1983"/>
              <a:gd name="T48" fmla="*/ 2147483646 w 1862"/>
              <a:gd name="T49" fmla="*/ 2147483646 h 1983"/>
              <a:gd name="T50" fmla="*/ 2147483646 w 1862"/>
              <a:gd name="T51" fmla="*/ 0 h 1983"/>
              <a:gd name="T52" fmla="*/ 2147483646 w 1862"/>
              <a:gd name="T53" fmla="*/ 2147483646 h 1983"/>
              <a:gd name="T54" fmla="*/ 2147483646 w 1862"/>
              <a:gd name="T55" fmla="*/ 2147483646 h 1983"/>
              <a:gd name="T56" fmla="*/ 2147483646 w 1862"/>
              <a:gd name="T57" fmla="*/ 2147483646 h 1983"/>
              <a:gd name="T58" fmla="*/ 2147483646 w 1862"/>
              <a:gd name="T59" fmla="*/ 2147483646 h 1983"/>
              <a:gd name="T60" fmla="*/ 2147483646 w 1862"/>
              <a:gd name="T61" fmla="*/ 2147483646 h 1983"/>
              <a:gd name="T62" fmla="*/ 2147483646 w 1862"/>
              <a:gd name="T63" fmla="*/ 2147483646 h 1983"/>
              <a:gd name="T64" fmla="*/ 2147483646 w 1862"/>
              <a:gd name="T65" fmla="*/ 2147483646 h 1983"/>
              <a:gd name="T66" fmla="*/ 2147483646 w 1862"/>
              <a:gd name="T67" fmla="*/ 2147483646 h 1983"/>
              <a:gd name="T68" fmla="*/ 2147483646 w 1862"/>
              <a:gd name="T69" fmla="*/ 2147483646 h 1983"/>
              <a:gd name="T70" fmla="*/ 2147483646 w 1862"/>
              <a:gd name="T71" fmla="*/ 2147483646 h 1983"/>
              <a:gd name="T72" fmla="*/ 2147483646 w 1862"/>
              <a:gd name="T73" fmla="*/ 2147483646 h 1983"/>
              <a:gd name="T74" fmla="*/ 2147483646 w 1862"/>
              <a:gd name="T75" fmla="*/ 2147483646 h 1983"/>
              <a:gd name="T76" fmla="*/ 2147483646 w 1862"/>
              <a:gd name="T77" fmla="*/ 2147483646 h 1983"/>
              <a:gd name="T78" fmla="*/ 2147483646 w 1862"/>
              <a:gd name="T79" fmla="*/ 2147483646 h 1983"/>
              <a:gd name="T80" fmla="*/ 2147483646 w 1862"/>
              <a:gd name="T81" fmla="*/ 2147483646 h 1983"/>
              <a:gd name="T82" fmla="*/ 2147483646 w 1862"/>
              <a:gd name="T83" fmla="*/ 2147483646 h 1983"/>
              <a:gd name="T84" fmla="*/ 2147483646 w 1862"/>
              <a:gd name="T85" fmla="*/ 2147483646 h 1983"/>
              <a:gd name="T86" fmla="*/ 2147483646 w 1862"/>
              <a:gd name="T87" fmla="*/ 2147483646 h 1983"/>
              <a:gd name="T88" fmla="*/ 2147483646 w 1862"/>
              <a:gd name="T89" fmla="*/ 2147483646 h 1983"/>
              <a:gd name="T90" fmla="*/ 2147483646 w 1862"/>
              <a:gd name="T91" fmla="*/ 2147483646 h 1983"/>
              <a:gd name="T92" fmla="*/ 2147483646 w 1862"/>
              <a:gd name="T93" fmla="*/ 2147483646 h 1983"/>
              <a:gd name="T94" fmla="*/ 2147483646 w 1862"/>
              <a:gd name="T95" fmla="*/ 2147483646 h 1983"/>
              <a:gd name="T96" fmla="*/ 2147483646 w 1862"/>
              <a:gd name="T97" fmla="*/ 2147483646 h 1983"/>
              <a:gd name="T98" fmla="*/ 2147483646 w 1862"/>
              <a:gd name="T99" fmla="*/ 2147483646 h 1983"/>
              <a:gd name="T100" fmla="*/ 2147483646 w 1862"/>
              <a:gd name="T101" fmla="*/ 2147483646 h 198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62"/>
              <a:gd name="T154" fmla="*/ 0 h 1983"/>
              <a:gd name="T155" fmla="*/ 1862 w 1862"/>
              <a:gd name="T156" fmla="*/ 1983 h 198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62" h="1983">
                <a:moveTo>
                  <a:pt x="932" y="1983"/>
                </a:moveTo>
                <a:lnTo>
                  <a:pt x="907" y="1983"/>
                </a:lnTo>
                <a:lnTo>
                  <a:pt x="884" y="1981"/>
                </a:lnTo>
                <a:lnTo>
                  <a:pt x="860" y="1980"/>
                </a:lnTo>
                <a:lnTo>
                  <a:pt x="837" y="1978"/>
                </a:lnTo>
                <a:lnTo>
                  <a:pt x="813" y="1975"/>
                </a:lnTo>
                <a:lnTo>
                  <a:pt x="790" y="1971"/>
                </a:lnTo>
                <a:lnTo>
                  <a:pt x="766" y="1968"/>
                </a:lnTo>
                <a:lnTo>
                  <a:pt x="744" y="1962"/>
                </a:lnTo>
                <a:lnTo>
                  <a:pt x="721" y="1958"/>
                </a:lnTo>
                <a:lnTo>
                  <a:pt x="699" y="1952"/>
                </a:lnTo>
                <a:lnTo>
                  <a:pt x="677" y="1944"/>
                </a:lnTo>
                <a:lnTo>
                  <a:pt x="655" y="1939"/>
                </a:lnTo>
                <a:lnTo>
                  <a:pt x="633" y="1931"/>
                </a:lnTo>
                <a:lnTo>
                  <a:pt x="611" y="1923"/>
                </a:lnTo>
                <a:lnTo>
                  <a:pt x="590" y="1914"/>
                </a:lnTo>
                <a:lnTo>
                  <a:pt x="568" y="1905"/>
                </a:lnTo>
                <a:lnTo>
                  <a:pt x="548" y="1895"/>
                </a:lnTo>
                <a:lnTo>
                  <a:pt x="527" y="1884"/>
                </a:lnTo>
                <a:lnTo>
                  <a:pt x="507" y="1874"/>
                </a:lnTo>
                <a:lnTo>
                  <a:pt x="488" y="1863"/>
                </a:lnTo>
                <a:lnTo>
                  <a:pt x="467" y="1851"/>
                </a:lnTo>
                <a:lnTo>
                  <a:pt x="448" y="1839"/>
                </a:lnTo>
                <a:lnTo>
                  <a:pt x="429" y="1826"/>
                </a:lnTo>
                <a:lnTo>
                  <a:pt x="412" y="1813"/>
                </a:lnTo>
                <a:lnTo>
                  <a:pt x="393" y="1800"/>
                </a:lnTo>
                <a:lnTo>
                  <a:pt x="375" y="1786"/>
                </a:lnTo>
                <a:lnTo>
                  <a:pt x="357" y="1772"/>
                </a:lnTo>
                <a:lnTo>
                  <a:pt x="340" y="1756"/>
                </a:lnTo>
                <a:lnTo>
                  <a:pt x="322" y="1741"/>
                </a:lnTo>
                <a:lnTo>
                  <a:pt x="306" y="1725"/>
                </a:lnTo>
                <a:lnTo>
                  <a:pt x="288" y="1709"/>
                </a:lnTo>
                <a:lnTo>
                  <a:pt x="274" y="1693"/>
                </a:lnTo>
                <a:lnTo>
                  <a:pt x="258" y="1675"/>
                </a:lnTo>
                <a:lnTo>
                  <a:pt x="242" y="1658"/>
                </a:lnTo>
                <a:lnTo>
                  <a:pt x="227" y="1640"/>
                </a:lnTo>
                <a:lnTo>
                  <a:pt x="214" y="1623"/>
                </a:lnTo>
                <a:lnTo>
                  <a:pt x="199" y="1604"/>
                </a:lnTo>
                <a:lnTo>
                  <a:pt x="186" y="1585"/>
                </a:lnTo>
                <a:lnTo>
                  <a:pt x="173" y="1566"/>
                </a:lnTo>
                <a:lnTo>
                  <a:pt x="159" y="1545"/>
                </a:lnTo>
                <a:lnTo>
                  <a:pt x="148" y="1526"/>
                </a:lnTo>
                <a:lnTo>
                  <a:pt x="134" y="1506"/>
                </a:lnTo>
                <a:lnTo>
                  <a:pt x="124" y="1485"/>
                </a:lnTo>
                <a:lnTo>
                  <a:pt x="112" y="1465"/>
                </a:lnTo>
                <a:lnTo>
                  <a:pt x="102" y="1443"/>
                </a:lnTo>
                <a:lnTo>
                  <a:pt x="92" y="1421"/>
                </a:lnTo>
                <a:lnTo>
                  <a:pt x="83" y="1399"/>
                </a:lnTo>
                <a:lnTo>
                  <a:pt x="73" y="1377"/>
                </a:lnTo>
                <a:lnTo>
                  <a:pt x="66" y="1355"/>
                </a:lnTo>
                <a:lnTo>
                  <a:pt x="57" y="1333"/>
                </a:lnTo>
                <a:lnTo>
                  <a:pt x="49" y="1309"/>
                </a:lnTo>
                <a:lnTo>
                  <a:pt x="42" y="1286"/>
                </a:lnTo>
                <a:lnTo>
                  <a:pt x="36" y="1263"/>
                </a:lnTo>
                <a:lnTo>
                  <a:pt x="29" y="1239"/>
                </a:lnTo>
                <a:lnTo>
                  <a:pt x="25" y="1216"/>
                </a:lnTo>
                <a:lnTo>
                  <a:pt x="19" y="1191"/>
                </a:lnTo>
                <a:lnTo>
                  <a:pt x="14" y="1168"/>
                </a:lnTo>
                <a:lnTo>
                  <a:pt x="11" y="1143"/>
                </a:lnTo>
                <a:lnTo>
                  <a:pt x="8" y="1118"/>
                </a:lnTo>
                <a:lnTo>
                  <a:pt x="5" y="1093"/>
                </a:lnTo>
                <a:lnTo>
                  <a:pt x="3" y="1068"/>
                </a:lnTo>
                <a:lnTo>
                  <a:pt x="1" y="1042"/>
                </a:lnTo>
                <a:lnTo>
                  <a:pt x="1" y="1017"/>
                </a:lnTo>
                <a:lnTo>
                  <a:pt x="0" y="992"/>
                </a:lnTo>
                <a:lnTo>
                  <a:pt x="1" y="966"/>
                </a:lnTo>
                <a:lnTo>
                  <a:pt x="1" y="941"/>
                </a:lnTo>
                <a:lnTo>
                  <a:pt x="3" y="916"/>
                </a:lnTo>
                <a:lnTo>
                  <a:pt x="5" y="891"/>
                </a:lnTo>
                <a:lnTo>
                  <a:pt x="8" y="865"/>
                </a:lnTo>
                <a:lnTo>
                  <a:pt x="11" y="841"/>
                </a:lnTo>
                <a:lnTo>
                  <a:pt x="14" y="816"/>
                </a:lnTo>
                <a:lnTo>
                  <a:pt x="19" y="791"/>
                </a:lnTo>
                <a:lnTo>
                  <a:pt x="25" y="768"/>
                </a:lnTo>
                <a:lnTo>
                  <a:pt x="30" y="743"/>
                </a:lnTo>
                <a:lnTo>
                  <a:pt x="36" y="720"/>
                </a:lnTo>
                <a:lnTo>
                  <a:pt x="42" y="696"/>
                </a:lnTo>
                <a:lnTo>
                  <a:pt x="49" y="674"/>
                </a:lnTo>
                <a:lnTo>
                  <a:pt x="57" y="651"/>
                </a:lnTo>
                <a:lnTo>
                  <a:pt x="66" y="628"/>
                </a:lnTo>
                <a:lnTo>
                  <a:pt x="73" y="606"/>
                </a:lnTo>
                <a:lnTo>
                  <a:pt x="83" y="584"/>
                </a:lnTo>
                <a:lnTo>
                  <a:pt x="92" y="562"/>
                </a:lnTo>
                <a:lnTo>
                  <a:pt x="102" y="540"/>
                </a:lnTo>
                <a:lnTo>
                  <a:pt x="112" y="519"/>
                </a:lnTo>
                <a:lnTo>
                  <a:pt x="124" y="499"/>
                </a:lnTo>
                <a:lnTo>
                  <a:pt x="134" y="478"/>
                </a:lnTo>
                <a:lnTo>
                  <a:pt x="148" y="458"/>
                </a:lnTo>
                <a:lnTo>
                  <a:pt x="159" y="437"/>
                </a:lnTo>
                <a:lnTo>
                  <a:pt x="173" y="418"/>
                </a:lnTo>
                <a:lnTo>
                  <a:pt x="186" y="398"/>
                </a:lnTo>
                <a:lnTo>
                  <a:pt x="199" y="380"/>
                </a:lnTo>
                <a:lnTo>
                  <a:pt x="214" y="361"/>
                </a:lnTo>
                <a:lnTo>
                  <a:pt x="227" y="342"/>
                </a:lnTo>
                <a:lnTo>
                  <a:pt x="242" y="325"/>
                </a:lnTo>
                <a:lnTo>
                  <a:pt x="258" y="307"/>
                </a:lnTo>
                <a:lnTo>
                  <a:pt x="274" y="291"/>
                </a:lnTo>
                <a:lnTo>
                  <a:pt x="288" y="274"/>
                </a:lnTo>
                <a:lnTo>
                  <a:pt x="306" y="257"/>
                </a:lnTo>
                <a:lnTo>
                  <a:pt x="322" y="243"/>
                </a:lnTo>
                <a:lnTo>
                  <a:pt x="340" y="227"/>
                </a:lnTo>
                <a:lnTo>
                  <a:pt x="356" y="212"/>
                </a:lnTo>
                <a:lnTo>
                  <a:pt x="375" y="197"/>
                </a:lnTo>
                <a:lnTo>
                  <a:pt x="393" y="183"/>
                </a:lnTo>
                <a:lnTo>
                  <a:pt x="410" y="170"/>
                </a:lnTo>
                <a:lnTo>
                  <a:pt x="429" y="156"/>
                </a:lnTo>
                <a:lnTo>
                  <a:pt x="448" y="143"/>
                </a:lnTo>
                <a:lnTo>
                  <a:pt x="467" y="132"/>
                </a:lnTo>
                <a:lnTo>
                  <a:pt x="488" y="120"/>
                </a:lnTo>
                <a:lnTo>
                  <a:pt x="507" y="108"/>
                </a:lnTo>
                <a:lnTo>
                  <a:pt x="527" y="98"/>
                </a:lnTo>
                <a:lnTo>
                  <a:pt x="548" y="88"/>
                </a:lnTo>
                <a:lnTo>
                  <a:pt x="568" y="79"/>
                </a:lnTo>
                <a:lnTo>
                  <a:pt x="590" y="69"/>
                </a:lnTo>
                <a:lnTo>
                  <a:pt x="611" y="60"/>
                </a:lnTo>
                <a:lnTo>
                  <a:pt x="633" y="53"/>
                </a:lnTo>
                <a:lnTo>
                  <a:pt x="655" y="45"/>
                </a:lnTo>
                <a:lnTo>
                  <a:pt x="677" y="38"/>
                </a:lnTo>
                <a:lnTo>
                  <a:pt x="699" y="32"/>
                </a:lnTo>
                <a:lnTo>
                  <a:pt x="721" y="26"/>
                </a:lnTo>
                <a:lnTo>
                  <a:pt x="744" y="20"/>
                </a:lnTo>
                <a:lnTo>
                  <a:pt x="766" y="16"/>
                </a:lnTo>
                <a:lnTo>
                  <a:pt x="790" y="12"/>
                </a:lnTo>
                <a:lnTo>
                  <a:pt x="813" y="9"/>
                </a:lnTo>
                <a:lnTo>
                  <a:pt x="837" y="6"/>
                </a:lnTo>
                <a:lnTo>
                  <a:pt x="860" y="3"/>
                </a:lnTo>
                <a:lnTo>
                  <a:pt x="884" y="1"/>
                </a:lnTo>
                <a:lnTo>
                  <a:pt x="907" y="0"/>
                </a:lnTo>
                <a:lnTo>
                  <a:pt x="931" y="0"/>
                </a:lnTo>
                <a:lnTo>
                  <a:pt x="932" y="0"/>
                </a:lnTo>
                <a:lnTo>
                  <a:pt x="955" y="1"/>
                </a:lnTo>
                <a:lnTo>
                  <a:pt x="979" y="1"/>
                </a:lnTo>
                <a:lnTo>
                  <a:pt x="1002" y="3"/>
                </a:lnTo>
                <a:lnTo>
                  <a:pt x="1026" y="6"/>
                </a:lnTo>
                <a:lnTo>
                  <a:pt x="1049" y="9"/>
                </a:lnTo>
                <a:lnTo>
                  <a:pt x="1073" y="12"/>
                </a:lnTo>
                <a:lnTo>
                  <a:pt x="1096" y="16"/>
                </a:lnTo>
                <a:lnTo>
                  <a:pt x="1120" y="20"/>
                </a:lnTo>
                <a:lnTo>
                  <a:pt x="1142" y="26"/>
                </a:lnTo>
                <a:lnTo>
                  <a:pt x="1164" y="32"/>
                </a:lnTo>
                <a:lnTo>
                  <a:pt x="1186" y="38"/>
                </a:lnTo>
                <a:lnTo>
                  <a:pt x="1208" y="45"/>
                </a:lnTo>
                <a:lnTo>
                  <a:pt x="1230" y="53"/>
                </a:lnTo>
                <a:lnTo>
                  <a:pt x="1252" y="60"/>
                </a:lnTo>
                <a:lnTo>
                  <a:pt x="1272" y="69"/>
                </a:lnTo>
                <a:lnTo>
                  <a:pt x="1294" y="79"/>
                </a:lnTo>
                <a:lnTo>
                  <a:pt x="1315" y="88"/>
                </a:lnTo>
                <a:lnTo>
                  <a:pt x="1335" y="98"/>
                </a:lnTo>
                <a:lnTo>
                  <a:pt x="1356" y="108"/>
                </a:lnTo>
                <a:lnTo>
                  <a:pt x="1375" y="120"/>
                </a:lnTo>
                <a:lnTo>
                  <a:pt x="1395" y="132"/>
                </a:lnTo>
                <a:lnTo>
                  <a:pt x="1414" y="143"/>
                </a:lnTo>
                <a:lnTo>
                  <a:pt x="1433" y="156"/>
                </a:lnTo>
                <a:lnTo>
                  <a:pt x="1452" y="170"/>
                </a:lnTo>
                <a:lnTo>
                  <a:pt x="1470" y="183"/>
                </a:lnTo>
                <a:lnTo>
                  <a:pt x="1488" y="197"/>
                </a:lnTo>
                <a:lnTo>
                  <a:pt x="1507" y="212"/>
                </a:lnTo>
                <a:lnTo>
                  <a:pt x="1523" y="227"/>
                </a:lnTo>
                <a:lnTo>
                  <a:pt x="1540" y="243"/>
                </a:lnTo>
                <a:lnTo>
                  <a:pt x="1557" y="257"/>
                </a:lnTo>
                <a:lnTo>
                  <a:pt x="1574" y="274"/>
                </a:lnTo>
                <a:lnTo>
                  <a:pt x="1590" y="291"/>
                </a:lnTo>
                <a:lnTo>
                  <a:pt x="1605" y="307"/>
                </a:lnTo>
                <a:lnTo>
                  <a:pt x="1621" y="325"/>
                </a:lnTo>
                <a:lnTo>
                  <a:pt x="1636" y="342"/>
                </a:lnTo>
                <a:lnTo>
                  <a:pt x="1650" y="361"/>
                </a:lnTo>
                <a:lnTo>
                  <a:pt x="1664" y="380"/>
                </a:lnTo>
                <a:lnTo>
                  <a:pt x="1677" y="398"/>
                </a:lnTo>
                <a:lnTo>
                  <a:pt x="1690" y="418"/>
                </a:lnTo>
                <a:lnTo>
                  <a:pt x="1703" y="437"/>
                </a:lnTo>
                <a:lnTo>
                  <a:pt x="1715" y="458"/>
                </a:lnTo>
                <a:lnTo>
                  <a:pt x="1728" y="477"/>
                </a:lnTo>
                <a:lnTo>
                  <a:pt x="1738" y="499"/>
                </a:lnTo>
                <a:lnTo>
                  <a:pt x="1750" y="519"/>
                </a:lnTo>
                <a:lnTo>
                  <a:pt x="1760" y="540"/>
                </a:lnTo>
                <a:lnTo>
                  <a:pt x="1771" y="562"/>
                </a:lnTo>
                <a:lnTo>
                  <a:pt x="1779" y="584"/>
                </a:lnTo>
                <a:lnTo>
                  <a:pt x="1790" y="606"/>
                </a:lnTo>
                <a:lnTo>
                  <a:pt x="1797" y="628"/>
                </a:lnTo>
                <a:lnTo>
                  <a:pt x="1806" y="651"/>
                </a:lnTo>
                <a:lnTo>
                  <a:pt x="1813" y="673"/>
                </a:lnTo>
                <a:lnTo>
                  <a:pt x="1820" y="696"/>
                </a:lnTo>
                <a:lnTo>
                  <a:pt x="1826" y="720"/>
                </a:lnTo>
                <a:lnTo>
                  <a:pt x="1834" y="743"/>
                </a:lnTo>
                <a:lnTo>
                  <a:pt x="1838" y="768"/>
                </a:lnTo>
                <a:lnTo>
                  <a:pt x="1844" y="791"/>
                </a:lnTo>
                <a:lnTo>
                  <a:pt x="1848" y="816"/>
                </a:lnTo>
                <a:lnTo>
                  <a:pt x="1851" y="841"/>
                </a:lnTo>
                <a:lnTo>
                  <a:pt x="1854" y="865"/>
                </a:lnTo>
                <a:lnTo>
                  <a:pt x="1857" y="890"/>
                </a:lnTo>
                <a:lnTo>
                  <a:pt x="1860" y="916"/>
                </a:lnTo>
                <a:lnTo>
                  <a:pt x="1862" y="941"/>
                </a:lnTo>
                <a:lnTo>
                  <a:pt x="1862" y="966"/>
                </a:lnTo>
                <a:lnTo>
                  <a:pt x="1862" y="992"/>
                </a:lnTo>
                <a:lnTo>
                  <a:pt x="1862" y="1017"/>
                </a:lnTo>
                <a:lnTo>
                  <a:pt x="1862" y="1043"/>
                </a:lnTo>
                <a:lnTo>
                  <a:pt x="1860" y="1068"/>
                </a:lnTo>
                <a:lnTo>
                  <a:pt x="1857" y="1093"/>
                </a:lnTo>
                <a:lnTo>
                  <a:pt x="1854" y="1118"/>
                </a:lnTo>
                <a:lnTo>
                  <a:pt x="1851" y="1143"/>
                </a:lnTo>
                <a:lnTo>
                  <a:pt x="1848" y="1168"/>
                </a:lnTo>
                <a:lnTo>
                  <a:pt x="1844" y="1191"/>
                </a:lnTo>
                <a:lnTo>
                  <a:pt x="1838" y="1216"/>
                </a:lnTo>
                <a:lnTo>
                  <a:pt x="1834" y="1239"/>
                </a:lnTo>
                <a:lnTo>
                  <a:pt x="1826" y="1263"/>
                </a:lnTo>
                <a:lnTo>
                  <a:pt x="1820" y="1286"/>
                </a:lnTo>
                <a:lnTo>
                  <a:pt x="1813" y="1309"/>
                </a:lnTo>
                <a:lnTo>
                  <a:pt x="1806" y="1333"/>
                </a:lnTo>
                <a:lnTo>
                  <a:pt x="1797" y="1355"/>
                </a:lnTo>
                <a:lnTo>
                  <a:pt x="1790" y="1377"/>
                </a:lnTo>
                <a:lnTo>
                  <a:pt x="1779" y="1399"/>
                </a:lnTo>
                <a:lnTo>
                  <a:pt x="1771" y="1421"/>
                </a:lnTo>
                <a:lnTo>
                  <a:pt x="1760" y="1443"/>
                </a:lnTo>
                <a:lnTo>
                  <a:pt x="1750" y="1465"/>
                </a:lnTo>
                <a:lnTo>
                  <a:pt x="1738" y="1485"/>
                </a:lnTo>
                <a:lnTo>
                  <a:pt x="1728" y="1506"/>
                </a:lnTo>
                <a:lnTo>
                  <a:pt x="1715" y="1526"/>
                </a:lnTo>
                <a:lnTo>
                  <a:pt x="1703" y="1545"/>
                </a:lnTo>
                <a:lnTo>
                  <a:pt x="1690" y="1566"/>
                </a:lnTo>
                <a:lnTo>
                  <a:pt x="1677" y="1585"/>
                </a:lnTo>
                <a:lnTo>
                  <a:pt x="1664" y="1604"/>
                </a:lnTo>
                <a:lnTo>
                  <a:pt x="1650" y="1623"/>
                </a:lnTo>
                <a:lnTo>
                  <a:pt x="1636" y="1640"/>
                </a:lnTo>
                <a:lnTo>
                  <a:pt x="1621" y="1658"/>
                </a:lnTo>
                <a:lnTo>
                  <a:pt x="1605" y="1675"/>
                </a:lnTo>
                <a:lnTo>
                  <a:pt x="1590" y="1693"/>
                </a:lnTo>
                <a:lnTo>
                  <a:pt x="1574" y="1709"/>
                </a:lnTo>
                <a:lnTo>
                  <a:pt x="1557" y="1725"/>
                </a:lnTo>
                <a:lnTo>
                  <a:pt x="1540" y="1741"/>
                </a:lnTo>
                <a:lnTo>
                  <a:pt x="1523" y="1756"/>
                </a:lnTo>
                <a:lnTo>
                  <a:pt x="1507" y="1772"/>
                </a:lnTo>
                <a:lnTo>
                  <a:pt x="1488" y="1786"/>
                </a:lnTo>
                <a:lnTo>
                  <a:pt x="1470" y="1800"/>
                </a:lnTo>
                <a:lnTo>
                  <a:pt x="1452" y="1813"/>
                </a:lnTo>
                <a:lnTo>
                  <a:pt x="1433" y="1826"/>
                </a:lnTo>
                <a:lnTo>
                  <a:pt x="1414" y="1839"/>
                </a:lnTo>
                <a:lnTo>
                  <a:pt x="1395" y="1851"/>
                </a:lnTo>
                <a:lnTo>
                  <a:pt x="1375" y="1863"/>
                </a:lnTo>
                <a:lnTo>
                  <a:pt x="1356" y="1874"/>
                </a:lnTo>
                <a:lnTo>
                  <a:pt x="1335" y="1884"/>
                </a:lnTo>
                <a:lnTo>
                  <a:pt x="1315" y="1895"/>
                </a:lnTo>
                <a:lnTo>
                  <a:pt x="1294" y="1905"/>
                </a:lnTo>
                <a:lnTo>
                  <a:pt x="1272" y="1914"/>
                </a:lnTo>
                <a:lnTo>
                  <a:pt x="1252" y="1923"/>
                </a:lnTo>
                <a:lnTo>
                  <a:pt x="1230" y="1930"/>
                </a:lnTo>
                <a:lnTo>
                  <a:pt x="1208" y="1939"/>
                </a:lnTo>
                <a:lnTo>
                  <a:pt x="1186" y="1944"/>
                </a:lnTo>
                <a:lnTo>
                  <a:pt x="1164" y="1952"/>
                </a:lnTo>
                <a:lnTo>
                  <a:pt x="1142" y="1958"/>
                </a:lnTo>
                <a:lnTo>
                  <a:pt x="1118" y="1962"/>
                </a:lnTo>
                <a:lnTo>
                  <a:pt x="1096" y="1966"/>
                </a:lnTo>
                <a:lnTo>
                  <a:pt x="1073" y="1971"/>
                </a:lnTo>
                <a:lnTo>
                  <a:pt x="1049" y="1975"/>
                </a:lnTo>
                <a:lnTo>
                  <a:pt x="1026" y="1978"/>
                </a:lnTo>
                <a:lnTo>
                  <a:pt x="1002" y="1980"/>
                </a:lnTo>
                <a:lnTo>
                  <a:pt x="979" y="1981"/>
                </a:lnTo>
                <a:lnTo>
                  <a:pt x="955" y="1983"/>
                </a:lnTo>
                <a:lnTo>
                  <a:pt x="931" y="1983"/>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042" name="Freeform 12">
            <a:extLst>
              <a:ext uri="{FF2B5EF4-FFF2-40B4-BE49-F238E27FC236}">
                <a16:creationId xmlns:a16="http://schemas.microsoft.com/office/drawing/2014/main" id="{579FA0E1-D2BF-4FCA-8247-A126A659CAF7}"/>
              </a:ext>
            </a:extLst>
          </p:cNvPr>
          <p:cNvSpPr>
            <a:spLocks/>
          </p:cNvSpPr>
          <p:nvPr/>
        </p:nvSpPr>
        <p:spPr bwMode="auto">
          <a:xfrm>
            <a:off x="3586164" y="2730500"/>
            <a:ext cx="1182687" cy="1258888"/>
          </a:xfrm>
          <a:custGeom>
            <a:avLst/>
            <a:gdLst>
              <a:gd name="T0" fmla="*/ 2147483646 w 1489"/>
              <a:gd name="T1" fmla="*/ 2147483646 h 1587"/>
              <a:gd name="T2" fmla="*/ 2147483646 w 1489"/>
              <a:gd name="T3" fmla="*/ 2147483646 h 1587"/>
              <a:gd name="T4" fmla="*/ 2147483646 w 1489"/>
              <a:gd name="T5" fmla="*/ 2147483646 h 1587"/>
              <a:gd name="T6" fmla="*/ 2147483646 w 1489"/>
              <a:gd name="T7" fmla="*/ 2147483646 h 1587"/>
              <a:gd name="T8" fmla="*/ 2147483646 w 1489"/>
              <a:gd name="T9" fmla="*/ 2147483646 h 1587"/>
              <a:gd name="T10" fmla="*/ 2147483646 w 1489"/>
              <a:gd name="T11" fmla="*/ 2147483646 h 1587"/>
              <a:gd name="T12" fmla="*/ 2147483646 w 1489"/>
              <a:gd name="T13" fmla="*/ 2147483646 h 1587"/>
              <a:gd name="T14" fmla="*/ 2147483646 w 1489"/>
              <a:gd name="T15" fmla="*/ 2147483646 h 1587"/>
              <a:gd name="T16" fmla="*/ 2147483646 w 1489"/>
              <a:gd name="T17" fmla="*/ 2147483646 h 1587"/>
              <a:gd name="T18" fmla="*/ 2147483646 w 1489"/>
              <a:gd name="T19" fmla="*/ 2147483646 h 1587"/>
              <a:gd name="T20" fmla="*/ 2147483646 w 1489"/>
              <a:gd name="T21" fmla="*/ 2147483646 h 1587"/>
              <a:gd name="T22" fmla="*/ 2147483646 w 1489"/>
              <a:gd name="T23" fmla="*/ 2147483646 h 1587"/>
              <a:gd name="T24" fmla="*/ 2147483646 w 1489"/>
              <a:gd name="T25" fmla="*/ 2147483646 h 1587"/>
              <a:gd name="T26" fmla="*/ 2147483646 w 1489"/>
              <a:gd name="T27" fmla="*/ 2147483646 h 1587"/>
              <a:gd name="T28" fmla="*/ 2147483646 w 1489"/>
              <a:gd name="T29" fmla="*/ 2147483646 h 1587"/>
              <a:gd name="T30" fmla="*/ 2147483646 w 1489"/>
              <a:gd name="T31" fmla="*/ 2147483646 h 1587"/>
              <a:gd name="T32" fmla="*/ 2147483646 w 1489"/>
              <a:gd name="T33" fmla="*/ 2147483646 h 1587"/>
              <a:gd name="T34" fmla="*/ 2147483646 w 1489"/>
              <a:gd name="T35" fmla="*/ 2147483646 h 1587"/>
              <a:gd name="T36" fmla="*/ 2147483646 w 1489"/>
              <a:gd name="T37" fmla="*/ 2147483646 h 1587"/>
              <a:gd name="T38" fmla="*/ 2147483646 w 1489"/>
              <a:gd name="T39" fmla="*/ 2147483646 h 1587"/>
              <a:gd name="T40" fmla="*/ 2147483646 w 1489"/>
              <a:gd name="T41" fmla="*/ 2147483646 h 1587"/>
              <a:gd name="T42" fmla="*/ 2147483646 w 1489"/>
              <a:gd name="T43" fmla="*/ 2147483646 h 1587"/>
              <a:gd name="T44" fmla="*/ 2147483646 w 1489"/>
              <a:gd name="T45" fmla="*/ 2147483646 h 1587"/>
              <a:gd name="T46" fmla="*/ 2147483646 w 1489"/>
              <a:gd name="T47" fmla="*/ 2147483646 h 1587"/>
              <a:gd name="T48" fmla="*/ 2147483646 w 1489"/>
              <a:gd name="T49" fmla="*/ 2147483646 h 1587"/>
              <a:gd name="T50" fmla="*/ 2147483646 w 1489"/>
              <a:gd name="T51" fmla="*/ 2147483646 h 1587"/>
              <a:gd name="T52" fmla="*/ 2147483646 w 1489"/>
              <a:gd name="T53" fmla="*/ 2147483646 h 1587"/>
              <a:gd name="T54" fmla="*/ 2147483646 w 1489"/>
              <a:gd name="T55" fmla="*/ 0 h 1587"/>
              <a:gd name="T56" fmla="*/ 2147483646 w 1489"/>
              <a:gd name="T57" fmla="*/ 0 h 1587"/>
              <a:gd name="T58" fmla="*/ 2147483646 w 1489"/>
              <a:gd name="T59" fmla="*/ 2147483646 h 1587"/>
              <a:gd name="T60" fmla="*/ 2147483646 w 1489"/>
              <a:gd name="T61" fmla="*/ 2147483646 h 1587"/>
              <a:gd name="T62" fmla="*/ 2147483646 w 1489"/>
              <a:gd name="T63" fmla="*/ 2147483646 h 1587"/>
              <a:gd name="T64" fmla="*/ 2147483646 w 1489"/>
              <a:gd name="T65" fmla="*/ 2147483646 h 1587"/>
              <a:gd name="T66" fmla="*/ 2147483646 w 1489"/>
              <a:gd name="T67" fmla="*/ 2147483646 h 1587"/>
              <a:gd name="T68" fmla="*/ 2147483646 w 1489"/>
              <a:gd name="T69" fmla="*/ 2147483646 h 1587"/>
              <a:gd name="T70" fmla="*/ 2147483646 w 1489"/>
              <a:gd name="T71" fmla="*/ 2147483646 h 1587"/>
              <a:gd name="T72" fmla="*/ 2147483646 w 1489"/>
              <a:gd name="T73" fmla="*/ 2147483646 h 1587"/>
              <a:gd name="T74" fmla="*/ 2147483646 w 1489"/>
              <a:gd name="T75" fmla="*/ 2147483646 h 1587"/>
              <a:gd name="T76" fmla="*/ 2147483646 w 1489"/>
              <a:gd name="T77" fmla="*/ 2147483646 h 1587"/>
              <a:gd name="T78" fmla="*/ 2147483646 w 1489"/>
              <a:gd name="T79" fmla="*/ 2147483646 h 1587"/>
              <a:gd name="T80" fmla="*/ 2147483646 w 1489"/>
              <a:gd name="T81" fmla="*/ 2147483646 h 1587"/>
              <a:gd name="T82" fmla="*/ 2147483646 w 1489"/>
              <a:gd name="T83" fmla="*/ 2147483646 h 1587"/>
              <a:gd name="T84" fmla="*/ 2147483646 w 1489"/>
              <a:gd name="T85" fmla="*/ 2147483646 h 1587"/>
              <a:gd name="T86" fmla="*/ 2147483646 w 1489"/>
              <a:gd name="T87" fmla="*/ 2147483646 h 1587"/>
              <a:gd name="T88" fmla="*/ 2147483646 w 1489"/>
              <a:gd name="T89" fmla="*/ 2147483646 h 1587"/>
              <a:gd name="T90" fmla="*/ 2147483646 w 1489"/>
              <a:gd name="T91" fmla="*/ 2147483646 h 1587"/>
              <a:gd name="T92" fmla="*/ 2147483646 w 1489"/>
              <a:gd name="T93" fmla="*/ 2147483646 h 1587"/>
              <a:gd name="T94" fmla="*/ 2147483646 w 1489"/>
              <a:gd name="T95" fmla="*/ 2147483646 h 1587"/>
              <a:gd name="T96" fmla="*/ 2147483646 w 1489"/>
              <a:gd name="T97" fmla="*/ 2147483646 h 1587"/>
              <a:gd name="T98" fmla="*/ 2147483646 w 1489"/>
              <a:gd name="T99" fmla="*/ 2147483646 h 1587"/>
              <a:gd name="T100" fmla="*/ 2147483646 w 1489"/>
              <a:gd name="T101" fmla="*/ 2147483646 h 1587"/>
              <a:gd name="T102" fmla="*/ 2147483646 w 1489"/>
              <a:gd name="T103" fmla="*/ 2147483646 h 1587"/>
              <a:gd name="T104" fmla="*/ 2147483646 w 1489"/>
              <a:gd name="T105" fmla="*/ 2147483646 h 1587"/>
              <a:gd name="T106" fmla="*/ 2147483646 w 1489"/>
              <a:gd name="T107" fmla="*/ 2147483646 h 1587"/>
              <a:gd name="T108" fmla="*/ 2147483646 w 1489"/>
              <a:gd name="T109" fmla="*/ 2147483646 h 1587"/>
              <a:gd name="T110" fmla="*/ 2147483646 w 1489"/>
              <a:gd name="T111" fmla="*/ 2147483646 h 158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89"/>
              <a:gd name="T169" fmla="*/ 0 h 1587"/>
              <a:gd name="T170" fmla="*/ 1489 w 1489"/>
              <a:gd name="T171" fmla="*/ 1587 h 1587"/>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89" h="1587">
                <a:moveTo>
                  <a:pt x="746" y="1587"/>
                </a:moveTo>
                <a:lnTo>
                  <a:pt x="726" y="1585"/>
                </a:lnTo>
                <a:lnTo>
                  <a:pt x="706" y="1585"/>
                </a:lnTo>
                <a:lnTo>
                  <a:pt x="687" y="1584"/>
                </a:lnTo>
                <a:lnTo>
                  <a:pt x="670" y="1582"/>
                </a:lnTo>
                <a:lnTo>
                  <a:pt x="651" y="1579"/>
                </a:lnTo>
                <a:lnTo>
                  <a:pt x="632" y="1576"/>
                </a:lnTo>
                <a:lnTo>
                  <a:pt x="614" y="1573"/>
                </a:lnTo>
                <a:lnTo>
                  <a:pt x="595" y="1570"/>
                </a:lnTo>
                <a:lnTo>
                  <a:pt x="577" y="1566"/>
                </a:lnTo>
                <a:lnTo>
                  <a:pt x="560" y="1560"/>
                </a:lnTo>
                <a:lnTo>
                  <a:pt x="541" y="1556"/>
                </a:lnTo>
                <a:lnTo>
                  <a:pt x="523" y="1550"/>
                </a:lnTo>
                <a:lnTo>
                  <a:pt x="507" y="1544"/>
                </a:lnTo>
                <a:lnTo>
                  <a:pt x="489" y="1538"/>
                </a:lnTo>
                <a:lnTo>
                  <a:pt x="472" y="1531"/>
                </a:lnTo>
                <a:lnTo>
                  <a:pt x="456" y="1524"/>
                </a:lnTo>
                <a:lnTo>
                  <a:pt x="438" y="1516"/>
                </a:lnTo>
                <a:lnTo>
                  <a:pt x="422" y="1507"/>
                </a:lnTo>
                <a:lnTo>
                  <a:pt x="406" y="1499"/>
                </a:lnTo>
                <a:lnTo>
                  <a:pt x="390" y="1490"/>
                </a:lnTo>
                <a:lnTo>
                  <a:pt x="375" y="1481"/>
                </a:lnTo>
                <a:lnTo>
                  <a:pt x="359" y="1471"/>
                </a:lnTo>
                <a:lnTo>
                  <a:pt x="344" y="1461"/>
                </a:lnTo>
                <a:lnTo>
                  <a:pt x="330" y="1450"/>
                </a:lnTo>
                <a:lnTo>
                  <a:pt x="314" y="1440"/>
                </a:lnTo>
                <a:lnTo>
                  <a:pt x="300" y="1428"/>
                </a:lnTo>
                <a:lnTo>
                  <a:pt x="271" y="1405"/>
                </a:lnTo>
                <a:lnTo>
                  <a:pt x="245" y="1380"/>
                </a:lnTo>
                <a:lnTo>
                  <a:pt x="218" y="1354"/>
                </a:lnTo>
                <a:lnTo>
                  <a:pt x="195" y="1326"/>
                </a:lnTo>
                <a:lnTo>
                  <a:pt x="171" y="1297"/>
                </a:lnTo>
                <a:lnTo>
                  <a:pt x="148" y="1268"/>
                </a:lnTo>
                <a:lnTo>
                  <a:pt x="127" y="1237"/>
                </a:lnTo>
                <a:lnTo>
                  <a:pt x="108" y="1205"/>
                </a:lnTo>
                <a:lnTo>
                  <a:pt x="99" y="1187"/>
                </a:lnTo>
                <a:lnTo>
                  <a:pt x="91" y="1171"/>
                </a:lnTo>
                <a:lnTo>
                  <a:pt x="82" y="1153"/>
                </a:lnTo>
                <a:lnTo>
                  <a:pt x="75" y="1137"/>
                </a:lnTo>
                <a:lnTo>
                  <a:pt x="66" y="1120"/>
                </a:lnTo>
                <a:lnTo>
                  <a:pt x="58" y="1102"/>
                </a:lnTo>
                <a:lnTo>
                  <a:pt x="53" y="1083"/>
                </a:lnTo>
                <a:lnTo>
                  <a:pt x="45" y="1066"/>
                </a:lnTo>
                <a:lnTo>
                  <a:pt x="39" y="1047"/>
                </a:lnTo>
                <a:lnTo>
                  <a:pt x="34" y="1029"/>
                </a:lnTo>
                <a:lnTo>
                  <a:pt x="29" y="1010"/>
                </a:lnTo>
                <a:lnTo>
                  <a:pt x="23" y="991"/>
                </a:lnTo>
                <a:lnTo>
                  <a:pt x="19" y="972"/>
                </a:lnTo>
                <a:lnTo>
                  <a:pt x="16" y="953"/>
                </a:lnTo>
                <a:lnTo>
                  <a:pt x="12" y="934"/>
                </a:lnTo>
                <a:lnTo>
                  <a:pt x="9" y="913"/>
                </a:lnTo>
                <a:lnTo>
                  <a:pt x="7" y="894"/>
                </a:lnTo>
                <a:lnTo>
                  <a:pt x="4" y="874"/>
                </a:lnTo>
                <a:lnTo>
                  <a:pt x="3" y="853"/>
                </a:lnTo>
                <a:lnTo>
                  <a:pt x="1" y="834"/>
                </a:lnTo>
                <a:lnTo>
                  <a:pt x="1" y="814"/>
                </a:lnTo>
                <a:lnTo>
                  <a:pt x="0" y="793"/>
                </a:lnTo>
                <a:lnTo>
                  <a:pt x="1" y="773"/>
                </a:lnTo>
                <a:lnTo>
                  <a:pt x="1" y="752"/>
                </a:lnTo>
                <a:lnTo>
                  <a:pt x="3" y="732"/>
                </a:lnTo>
                <a:lnTo>
                  <a:pt x="4" y="712"/>
                </a:lnTo>
                <a:lnTo>
                  <a:pt x="7" y="692"/>
                </a:lnTo>
                <a:lnTo>
                  <a:pt x="9" y="672"/>
                </a:lnTo>
                <a:lnTo>
                  <a:pt x="12" y="653"/>
                </a:lnTo>
                <a:lnTo>
                  <a:pt x="16" y="633"/>
                </a:lnTo>
                <a:lnTo>
                  <a:pt x="20" y="613"/>
                </a:lnTo>
                <a:lnTo>
                  <a:pt x="25" y="594"/>
                </a:lnTo>
                <a:lnTo>
                  <a:pt x="29" y="575"/>
                </a:lnTo>
                <a:lnTo>
                  <a:pt x="34" y="558"/>
                </a:lnTo>
                <a:lnTo>
                  <a:pt x="39" y="539"/>
                </a:lnTo>
                <a:lnTo>
                  <a:pt x="45" y="520"/>
                </a:lnTo>
                <a:lnTo>
                  <a:pt x="53" y="502"/>
                </a:lnTo>
                <a:lnTo>
                  <a:pt x="58" y="485"/>
                </a:lnTo>
                <a:lnTo>
                  <a:pt x="66" y="467"/>
                </a:lnTo>
                <a:lnTo>
                  <a:pt x="75" y="450"/>
                </a:lnTo>
                <a:lnTo>
                  <a:pt x="82" y="432"/>
                </a:lnTo>
                <a:lnTo>
                  <a:pt x="91" y="414"/>
                </a:lnTo>
                <a:lnTo>
                  <a:pt x="99" y="398"/>
                </a:lnTo>
                <a:lnTo>
                  <a:pt x="108" y="382"/>
                </a:lnTo>
                <a:lnTo>
                  <a:pt x="127" y="350"/>
                </a:lnTo>
                <a:lnTo>
                  <a:pt x="148" y="318"/>
                </a:lnTo>
                <a:lnTo>
                  <a:pt x="171" y="289"/>
                </a:lnTo>
                <a:lnTo>
                  <a:pt x="193" y="259"/>
                </a:lnTo>
                <a:lnTo>
                  <a:pt x="218" y="232"/>
                </a:lnTo>
                <a:lnTo>
                  <a:pt x="245" y="207"/>
                </a:lnTo>
                <a:lnTo>
                  <a:pt x="271" y="182"/>
                </a:lnTo>
                <a:lnTo>
                  <a:pt x="300" y="157"/>
                </a:lnTo>
                <a:lnTo>
                  <a:pt x="314" y="147"/>
                </a:lnTo>
                <a:lnTo>
                  <a:pt x="328" y="135"/>
                </a:lnTo>
                <a:lnTo>
                  <a:pt x="344" y="125"/>
                </a:lnTo>
                <a:lnTo>
                  <a:pt x="359" y="115"/>
                </a:lnTo>
                <a:lnTo>
                  <a:pt x="375" y="106"/>
                </a:lnTo>
                <a:lnTo>
                  <a:pt x="390" y="96"/>
                </a:lnTo>
                <a:lnTo>
                  <a:pt x="406" y="87"/>
                </a:lnTo>
                <a:lnTo>
                  <a:pt x="422" y="78"/>
                </a:lnTo>
                <a:lnTo>
                  <a:pt x="438" y="71"/>
                </a:lnTo>
                <a:lnTo>
                  <a:pt x="456" y="62"/>
                </a:lnTo>
                <a:lnTo>
                  <a:pt x="472" y="55"/>
                </a:lnTo>
                <a:lnTo>
                  <a:pt x="489" y="49"/>
                </a:lnTo>
                <a:lnTo>
                  <a:pt x="507" y="41"/>
                </a:lnTo>
                <a:lnTo>
                  <a:pt x="523" y="36"/>
                </a:lnTo>
                <a:lnTo>
                  <a:pt x="541" y="30"/>
                </a:lnTo>
                <a:lnTo>
                  <a:pt x="558" y="25"/>
                </a:lnTo>
                <a:lnTo>
                  <a:pt x="577" y="21"/>
                </a:lnTo>
                <a:lnTo>
                  <a:pt x="595" y="17"/>
                </a:lnTo>
                <a:lnTo>
                  <a:pt x="613" y="12"/>
                </a:lnTo>
                <a:lnTo>
                  <a:pt x="632" y="9"/>
                </a:lnTo>
                <a:lnTo>
                  <a:pt x="651" y="6"/>
                </a:lnTo>
                <a:lnTo>
                  <a:pt x="668" y="5"/>
                </a:lnTo>
                <a:lnTo>
                  <a:pt x="687" y="2"/>
                </a:lnTo>
                <a:lnTo>
                  <a:pt x="706" y="0"/>
                </a:lnTo>
                <a:lnTo>
                  <a:pt x="726" y="0"/>
                </a:lnTo>
                <a:lnTo>
                  <a:pt x="745" y="0"/>
                </a:lnTo>
                <a:lnTo>
                  <a:pt x="746" y="0"/>
                </a:lnTo>
                <a:lnTo>
                  <a:pt x="765" y="0"/>
                </a:lnTo>
                <a:lnTo>
                  <a:pt x="784" y="0"/>
                </a:lnTo>
                <a:lnTo>
                  <a:pt x="803" y="2"/>
                </a:lnTo>
                <a:lnTo>
                  <a:pt x="821" y="5"/>
                </a:lnTo>
                <a:lnTo>
                  <a:pt x="840" y="6"/>
                </a:lnTo>
                <a:lnTo>
                  <a:pt x="859" y="9"/>
                </a:lnTo>
                <a:lnTo>
                  <a:pt x="877" y="12"/>
                </a:lnTo>
                <a:lnTo>
                  <a:pt x="896" y="17"/>
                </a:lnTo>
                <a:lnTo>
                  <a:pt x="913" y="21"/>
                </a:lnTo>
                <a:lnTo>
                  <a:pt x="931" y="25"/>
                </a:lnTo>
                <a:lnTo>
                  <a:pt x="950" y="30"/>
                </a:lnTo>
                <a:lnTo>
                  <a:pt x="967" y="36"/>
                </a:lnTo>
                <a:lnTo>
                  <a:pt x="984" y="41"/>
                </a:lnTo>
                <a:lnTo>
                  <a:pt x="1001" y="49"/>
                </a:lnTo>
                <a:lnTo>
                  <a:pt x="1019" y="55"/>
                </a:lnTo>
                <a:lnTo>
                  <a:pt x="1035" y="62"/>
                </a:lnTo>
                <a:lnTo>
                  <a:pt x="1052" y="71"/>
                </a:lnTo>
                <a:lnTo>
                  <a:pt x="1069" y="78"/>
                </a:lnTo>
                <a:lnTo>
                  <a:pt x="1085" y="87"/>
                </a:lnTo>
                <a:lnTo>
                  <a:pt x="1101" y="96"/>
                </a:lnTo>
                <a:lnTo>
                  <a:pt x="1115" y="106"/>
                </a:lnTo>
                <a:lnTo>
                  <a:pt x="1132" y="115"/>
                </a:lnTo>
                <a:lnTo>
                  <a:pt x="1146" y="125"/>
                </a:lnTo>
                <a:lnTo>
                  <a:pt x="1162" y="135"/>
                </a:lnTo>
                <a:lnTo>
                  <a:pt x="1177" y="147"/>
                </a:lnTo>
                <a:lnTo>
                  <a:pt x="1190" y="157"/>
                </a:lnTo>
                <a:lnTo>
                  <a:pt x="1220" y="182"/>
                </a:lnTo>
                <a:lnTo>
                  <a:pt x="1246" y="207"/>
                </a:lnTo>
                <a:lnTo>
                  <a:pt x="1272" y="232"/>
                </a:lnTo>
                <a:lnTo>
                  <a:pt x="1297" y="259"/>
                </a:lnTo>
                <a:lnTo>
                  <a:pt x="1321" y="289"/>
                </a:lnTo>
                <a:lnTo>
                  <a:pt x="1343" y="318"/>
                </a:lnTo>
                <a:lnTo>
                  <a:pt x="1363" y="350"/>
                </a:lnTo>
                <a:lnTo>
                  <a:pt x="1382" y="382"/>
                </a:lnTo>
                <a:lnTo>
                  <a:pt x="1391" y="398"/>
                </a:lnTo>
                <a:lnTo>
                  <a:pt x="1400" y="414"/>
                </a:lnTo>
                <a:lnTo>
                  <a:pt x="1409" y="432"/>
                </a:lnTo>
                <a:lnTo>
                  <a:pt x="1416" y="450"/>
                </a:lnTo>
                <a:lnTo>
                  <a:pt x="1425" y="467"/>
                </a:lnTo>
                <a:lnTo>
                  <a:pt x="1432" y="485"/>
                </a:lnTo>
                <a:lnTo>
                  <a:pt x="1438" y="502"/>
                </a:lnTo>
                <a:lnTo>
                  <a:pt x="1445" y="520"/>
                </a:lnTo>
                <a:lnTo>
                  <a:pt x="1451" y="539"/>
                </a:lnTo>
                <a:lnTo>
                  <a:pt x="1457" y="558"/>
                </a:lnTo>
                <a:lnTo>
                  <a:pt x="1461" y="575"/>
                </a:lnTo>
                <a:lnTo>
                  <a:pt x="1466" y="594"/>
                </a:lnTo>
                <a:lnTo>
                  <a:pt x="1470" y="613"/>
                </a:lnTo>
                <a:lnTo>
                  <a:pt x="1475" y="633"/>
                </a:lnTo>
                <a:lnTo>
                  <a:pt x="1479" y="653"/>
                </a:lnTo>
                <a:lnTo>
                  <a:pt x="1482" y="672"/>
                </a:lnTo>
                <a:lnTo>
                  <a:pt x="1483" y="692"/>
                </a:lnTo>
                <a:lnTo>
                  <a:pt x="1486" y="712"/>
                </a:lnTo>
                <a:lnTo>
                  <a:pt x="1488" y="732"/>
                </a:lnTo>
                <a:lnTo>
                  <a:pt x="1489" y="752"/>
                </a:lnTo>
                <a:lnTo>
                  <a:pt x="1489" y="773"/>
                </a:lnTo>
                <a:lnTo>
                  <a:pt x="1489" y="793"/>
                </a:lnTo>
                <a:lnTo>
                  <a:pt x="1489" y="814"/>
                </a:lnTo>
                <a:lnTo>
                  <a:pt x="1489" y="834"/>
                </a:lnTo>
                <a:lnTo>
                  <a:pt x="1488" y="853"/>
                </a:lnTo>
                <a:lnTo>
                  <a:pt x="1486" y="874"/>
                </a:lnTo>
                <a:lnTo>
                  <a:pt x="1483" y="894"/>
                </a:lnTo>
                <a:lnTo>
                  <a:pt x="1482" y="913"/>
                </a:lnTo>
                <a:lnTo>
                  <a:pt x="1479" y="934"/>
                </a:lnTo>
                <a:lnTo>
                  <a:pt x="1475" y="953"/>
                </a:lnTo>
                <a:lnTo>
                  <a:pt x="1472" y="972"/>
                </a:lnTo>
                <a:lnTo>
                  <a:pt x="1467" y="991"/>
                </a:lnTo>
                <a:lnTo>
                  <a:pt x="1461" y="1010"/>
                </a:lnTo>
                <a:lnTo>
                  <a:pt x="1457" y="1029"/>
                </a:lnTo>
                <a:lnTo>
                  <a:pt x="1451" y="1047"/>
                </a:lnTo>
                <a:lnTo>
                  <a:pt x="1445" y="1066"/>
                </a:lnTo>
                <a:lnTo>
                  <a:pt x="1438" y="1083"/>
                </a:lnTo>
                <a:lnTo>
                  <a:pt x="1432" y="1102"/>
                </a:lnTo>
                <a:lnTo>
                  <a:pt x="1425" y="1120"/>
                </a:lnTo>
                <a:lnTo>
                  <a:pt x="1416" y="1137"/>
                </a:lnTo>
                <a:lnTo>
                  <a:pt x="1409" y="1153"/>
                </a:lnTo>
                <a:lnTo>
                  <a:pt x="1400" y="1171"/>
                </a:lnTo>
                <a:lnTo>
                  <a:pt x="1391" y="1187"/>
                </a:lnTo>
                <a:lnTo>
                  <a:pt x="1382" y="1205"/>
                </a:lnTo>
                <a:lnTo>
                  <a:pt x="1363" y="1237"/>
                </a:lnTo>
                <a:lnTo>
                  <a:pt x="1343" y="1268"/>
                </a:lnTo>
                <a:lnTo>
                  <a:pt x="1321" y="1297"/>
                </a:lnTo>
                <a:lnTo>
                  <a:pt x="1297" y="1326"/>
                </a:lnTo>
                <a:lnTo>
                  <a:pt x="1272" y="1354"/>
                </a:lnTo>
                <a:lnTo>
                  <a:pt x="1246" y="1380"/>
                </a:lnTo>
                <a:lnTo>
                  <a:pt x="1220" y="1405"/>
                </a:lnTo>
                <a:lnTo>
                  <a:pt x="1190" y="1428"/>
                </a:lnTo>
                <a:lnTo>
                  <a:pt x="1177" y="1440"/>
                </a:lnTo>
                <a:lnTo>
                  <a:pt x="1162" y="1450"/>
                </a:lnTo>
                <a:lnTo>
                  <a:pt x="1146" y="1461"/>
                </a:lnTo>
                <a:lnTo>
                  <a:pt x="1132" y="1471"/>
                </a:lnTo>
                <a:lnTo>
                  <a:pt x="1115" y="1481"/>
                </a:lnTo>
                <a:lnTo>
                  <a:pt x="1101" y="1490"/>
                </a:lnTo>
                <a:lnTo>
                  <a:pt x="1085" y="1499"/>
                </a:lnTo>
                <a:lnTo>
                  <a:pt x="1069" y="1507"/>
                </a:lnTo>
                <a:lnTo>
                  <a:pt x="1052" y="1516"/>
                </a:lnTo>
                <a:lnTo>
                  <a:pt x="1035" y="1524"/>
                </a:lnTo>
                <a:lnTo>
                  <a:pt x="1019" y="1531"/>
                </a:lnTo>
                <a:lnTo>
                  <a:pt x="1001" y="1538"/>
                </a:lnTo>
                <a:lnTo>
                  <a:pt x="984" y="1544"/>
                </a:lnTo>
                <a:lnTo>
                  <a:pt x="967" y="1550"/>
                </a:lnTo>
                <a:lnTo>
                  <a:pt x="950" y="1556"/>
                </a:lnTo>
                <a:lnTo>
                  <a:pt x="931" y="1560"/>
                </a:lnTo>
                <a:lnTo>
                  <a:pt x="913" y="1566"/>
                </a:lnTo>
                <a:lnTo>
                  <a:pt x="896" y="1570"/>
                </a:lnTo>
                <a:lnTo>
                  <a:pt x="877" y="1573"/>
                </a:lnTo>
                <a:lnTo>
                  <a:pt x="859" y="1576"/>
                </a:lnTo>
                <a:lnTo>
                  <a:pt x="840" y="1579"/>
                </a:lnTo>
                <a:lnTo>
                  <a:pt x="821" y="1582"/>
                </a:lnTo>
                <a:lnTo>
                  <a:pt x="803" y="1584"/>
                </a:lnTo>
                <a:lnTo>
                  <a:pt x="784" y="1585"/>
                </a:lnTo>
                <a:lnTo>
                  <a:pt x="765" y="1585"/>
                </a:lnTo>
                <a:lnTo>
                  <a:pt x="745" y="1587"/>
                </a:lnTo>
                <a:lnTo>
                  <a:pt x="746" y="1587"/>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043" name="Freeform 13">
            <a:extLst>
              <a:ext uri="{FF2B5EF4-FFF2-40B4-BE49-F238E27FC236}">
                <a16:creationId xmlns:a16="http://schemas.microsoft.com/office/drawing/2014/main" id="{D28F2926-1DC6-4436-BB86-3AD7F05144AB}"/>
              </a:ext>
            </a:extLst>
          </p:cNvPr>
          <p:cNvSpPr>
            <a:spLocks/>
          </p:cNvSpPr>
          <p:nvPr/>
        </p:nvSpPr>
        <p:spPr bwMode="auto">
          <a:xfrm>
            <a:off x="3586164" y="2730500"/>
            <a:ext cx="1182687" cy="1258888"/>
          </a:xfrm>
          <a:custGeom>
            <a:avLst/>
            <a:gdLst>
              <a:gd name="T0" fmla="*/ 2147483646 w 1489"/>
              <a:gd name="T1" fmla="*/ 2147483646 h 1587"/>
              <a:gd name="T2" fmla="*/ 2147483646 w 1489"/>
              <a:gd name="T3" fmla="*/ 2147483646 h 1587"/>
              <a:gd name="T4" fmla="*/ 2147483646 w 1489"/>
              <a:gd name="T5" fmla="*/ 2147483646 h 1587"/>
              <a:gd name="T6" fmla="*/ 2147483646 w 1489"/>
              <a:gd name="T7" fmla="*/ 2147483646 h 1587"/>
              <a:gd name="T8" fmla="*/ 2147483646 w 1489"/>
              <a:gd name="T9" fmla="*/ 2147483646 h 1587"/>
              <a:gd name="T10" fmla="*/ 2147483646 w 1489"/>
              <a:gd name="T11" fmla="*/ 2147483646 h 1587"/>
              <a:gd name="T12" fmla="*/ 2147483646 w 1489"/>
              <a:gd name="T13" fmla="*/ 2147483646 h 1587"/>
              <a:gd name="T14" fmla="*/ 2147483646 w 1489"/>
              <a:gd name="T15" fmla="*/ 2147483646 h 1587"/>
              <a:gd name="T16" fmla="*/ 2147483646 w 1489"/>
              <a:gd name="T17" fmla="*/ 2147483646 h 1587"/>
              <a:gd name="T18" fmla="*/ 2147483646 w 1489"/>
              <a:gd name="T19" fmla="*/ 2147483646 h 1587"/>
              <a:gd name="T20" fmla="*/ 2147483646 w 1489"/>
              <a:gd name="T21" fmla="*/ 2147483646 h 1587"/>
              <a:gd name="T22" fmla="*/ 2147483646 w 1489"/>
              <a:gd name="T23" fmla="*/ 2147483646 h 1587"/>
              <a:gd name="T24" fmla="*/ 2147483646 w 1489"/>
              <a:gd name="T25" fmla="*/ 2147483646 h 1587"/>
              <a:gd name="T26" fmla="*/ 2147483646 w 1489"/>
              <a:gd name="T27" fmla="*/ 2147483646 h 1587"/>
              <a:gd name="T28" fmla="*/ 2147483646 w 1489"/>
              <a:gd name="T29" fmla="*/ 2147483646 h 1587"/>
              <a:gd name="T30" fmla="*/ 2147483646 w 1489"/>
              <a:gd name="T31" fmla="*/ 2147483646 h 1587"/>
              <a:gd name="T32" fmla="*/ 2147483646 w 1489"/>
              <a:gd name="T33" fmla="*/ 2147483646 h 1587"/>
              <a:gd name="T34" fmla="*/ 2147483646 w 1489"/>
              <a:gd name="T35" fmla="*/ 2147483646 h 1587"/>
              <a:gd name="T36" fmla="*/ 2147483646 w 1489"/>
              <a:gd name="T37" fmla="*/ 2147483646 h 1587"/>
              <a:gd name="T38" fmla="*/ 2147483646 w 1489"/>
              <a:gd name="T39" fmla="*/ 2147483646 h 1587"/>
              <a:gd name="T40" fmla="*/ 2147483646 w 1489"/>
              <a:gd name="T41" fmla="*/ 2147483646 h 1587"/>
              <a:gd name="T42" fmla="*/ 2147483646 w 1489"/>
              <a:gd name="T43" fmla="*/ 2147483646 h 1587"/>
              <a:gd name="T44" fmla="*/ 2147483646 w 1489"/>
              <a:gd name="T45" fmla="*/ 2147483646 h 1587"/>
              <a:gd name="T46" fmla="*/ 2147483646 w 1489"/>
              <a:gd name="T47" fmla="*/ 2147483646 h 1587"/>
              <a:gd name="T48" fmla="*/ 2147483646 w 1489"/>
              <a:gd name="T49" fmla="*/ 2147483646 h 1587"/>
              <a:gd name="T50" fmla="*/ 2147483646 w 1489"/>
              <a:gd name="T51" fmla="*/ 2147483646 h 1587"/>
              <a:gd name="T52" fmla="*/ 2147483646 w 1489"/>
              <a:gd name="T53" fmla="*/ 2147483646 h 1587"/>
              <a:gd name="T54" fmla="*/ 2147483646 w 1489"/>
              <a:gd name="T55" fmla="*/ 0 h 1587"/>
              <a:gd name="T56" fmla="*/ 2147483646 w 1489"/>
              <a:gd name="T57" fmla="*/ 0 h 1587"/>
              <a:gd name="T58" fmla="*/ 2147483646 w 1489"/>
              <a:gd name="T59" fmla="*/ 2147483646 h 1587"/>
              <a:gd name="T60" fmla="*/ 2147483646 w 1489"/>
              <a:gd name="T61" fmla="*/ 2147483646 h 1587"/>
              <a:gd name="T62" fmla="*/ 2147483646 w 1489"/>
              <a:gd name="T63" fmla="*/ 2147483646 h 1587"/>
              <a:gd name="T64" fmla="*/ 2147483646 w 1489"/>
              <a:gd name="T65" fmla="*/ 2147483646 h 1587"/>
              <a:gd name="T66" fmla="*/ 2147483646 w 1489"/>
              <a:gd name="T67" fmla="*/ 2147483646 h 1587"/>
              <a:gd name="T68" fmla="*/ 2147483646 w 1489"/>
              <a:gd name="T69" fmla="*/ 2147483646 h 1587"/>
              <a:gd name="T70" fmla="*/ 2147483646 w 1489"/>
              <a:gd name="T71" fmla="*/ 2147483646 h 1587"/>
              <a:gd name="T72" fmla="*/ 2147483646 w 1489"/>
              <a:gd name="T73" fmla="*/ 2147483646 h 1587"/>
              <a:gd name="T74" fmla="*/ 2147483646 w 1489"/>
              <a:gd name="T75" fmla="*/ 2147483646 h 1587"/>
              <a:gd name="T76" fmla="*/ 2147483646 w 1489"/>
              <a:gd name="T77" fmla="*/ 2147483646 h 1587"/>
              <a:gd name="T78" fmla="*/ 2147483646 w 1489"/>
              <a:gd name="T79" fmla="*/ 2147483646 h 1587"/>
              <a:gd name="T80" fmla="*/ 2147483646 w 1489"/>
              <a:gd name="T81" fmla="*/ 2147483646 h 1587"/>
              <a:gd name="T82" fmla="*/ 2147483646 w 1489"/>
              <a:gd name="T83" fmla="*/ 2147483646 h 1587"/>
              <a:gd name="T84" fmla="*/ 2147483646 w 1489"/>
              <a:gd name="T85" fmla="*/ 2147483646 h 1587"/>
              <a:gd name="T86" fmla="*/ 2147483646 w 1489"/>
              <a:gd name="T87" fmla="*/ 2147483646 h 1587"/>
              <a:gd name="T88" fmla="*/ 2147483646 w 1489"/>
              <a:gd name="T89" fmla="*/ 2147483646 h 1587"/>
              <a:gd name="T90" fmla="*/ 2147483646 w 1489"/>
              <a:gd name="T91" fmla="*/ 2147483646 h 1587"/>
              <a:gd name="T92" fmla="*/ 2147483646 w 1489"/>
              <a:gd name="T93" fmla="*/ 2147483646 h 1587"/>
              <a:gd name="T94" fmla="*/ 2147483646 w 1489"/>
              <a:gd name="T95" fmla="*/ 2147483646 h 1587"/>
              <a:gd name="T96" fmla="*/ 2147483646 w 1489"/>
              <a:gd name="T97" fmla="*/ 2147483646 h 1587"/>
              <a:gd name="T98" fmla="*/ 2147483646 w 1489"/>
              <a:gd name="T99" fmla="*/ 2147483646 h 1587"/>
              <a:gd name="T100" fmla="*/ 2147483646 w 1489"/>
              <a:gd name="T101" fmla="*/ 2147483646 h 1587"/>
              <a:gd name="T102" fmla="*/ 2147483646 w 1489"/>
              <a:gd name="T103" fmla="*/ 2147483646 h 1587"/>
              <a:gd name="T104" fmla="*/ 2147483646 w 1489"/>
              <a:gd name="T105" fmla="*/ 2147483646 h 1587"/>
              <a:gd name="T106" fmla="*/ 2147483646 w 1489"/>
              <a:gd name="T107" fmla="*/ 2147483646 h 1587"/>
              <a:gd name="T108" fmla="*/ 2147483646 w 1489"/>
              <a:gd name="T109" fmla="*/ 2147483646 h 1587"/>
              <a:gd name="T110" fmla="*/ 2147483646 w 1489"/>
              <a:gd name="T111" fmla="*/ 2147483646 h 158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89"/>
              <a:gd name="T169" fmla="*/ 0 h 1587"/>
              <a:gd name="T170" fmla="*/ 1489 w 1489"/>
              <a:gd name="T171" fmla="*/ 1587 h 1587"/>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89" h="1587">
                <a:moveTo>
                  <a:pt x="746" y="1587"/>
                </a:moveTo>
                <a:lnTo>
                  <a:pt x="726" y="1585"/>
                </a:lnTo>
                <a:lnTo>
                  <a:pt x="706" y="1585"/>
                </a:lnTo>
                <a:lnTo>
                  <a:pt x="687" y="1584"/>
                </a:lnTo>
                <a:lnTo>
                  <a:pt x="670" y="1582"/>
                </a:lnTo>
                <a:lnTo>
                  <a:pt x="651" y="1579"/>
                </a:lnTo>
                <a:lnTo>
                  <a:pt x="632" y="1576"/>
                </a:lnTo>
                <a:lnTo>
                  <a:pt x="614" y="1573"/>
                </a:lnTo>
                <a:lnTo>
                  <a:pt x="595" y="1570"/>
                </a:lnTo>
                <a:lnTo>
                  <a:pt x="577" y="1566"/>
                </a:lnTo>
                <a:lnTo>
                  <a:pt x="560" y="1560"/>
                </a:lnTo>
                <a:lnTo>
                  <a:pt x="541" y="1556"/>
                </a:lnTo>
                <a:lnTo>
                  <a:pt x="523" y="1550"/>
                </a:lnTo>
                <a:lnTo>
                  <a:pt x="507" y="1544"/>
                </a:lnTo>
                <a:lnTo>
                  <a:pt x="489" y="1538"/>
                </a:lnTo>
                <a:lnTo>
                  <a:pt x="472" y="1531"/>
                </a:lnTo>
                <a:lnTo>
                  <a:pt x="456" y="1524"/>
                </a:lnTo>
                <a:lnTo>
                  <a:pt x="438" y="1516"/>
                </a:lnTo>
                <a:lnTo>
                  <a:pt x="422" y="1507"/>
                </a:lnTo>
                <a:lnTo>
                  <a:pt x="406" y="1499"/>
                </a:lnTo>
                <a:lnTo>
                  <a:pt x="390" y="1490"/>
                </a:lnTo>
                <a:lnTo>
                  <a:pt x="375" y="1481"/>
                </a:lnTo>
                <a:lnTo>
                  <a:pt x="359" y="1471"/>
                </a:lnTo>
                <a:lnTo>
                  <a:pt x="344" y="1461"/>
                </a:lnTo>
                <a:lnTo>
                  <a:pt x="330" y="1450"/>
                </a:lnTo>
                <a:lnTo>
                  <a:pt x="314" y="1440"/>
                </a:lnTo>
                <a:lnTo>
                  <a:pt x="300" y="1428"/>
                </a:lnTo>
                <a:lnTo>
                  <a:pt x="271" y="1405"/>
                </a:lnTo>
                <a:lnTo>
                  <a:pt x="245" y="1380"/>
                </a:lnTo>
                <a:lnTo>
                  <a:pt x="218" y="1354"/>
                </a:lnTo>
                <a:lnTo>
                  <a:pt x="195" y="1326"/>
                </a:lnTo>
                <a:lnTo>
                  <a:pt x="171" y="1297"/>
                </a:lnTo>
                <a:lnTo>
                  <a:pt x="148" y="1268"/>
                </a:lnTo>
                <a:lnTo>
                  <a:pt x="127" y="1237"/>
                </a:lnTo>
                <a:lnTo>
                  <a:pt x="108" y="1205"/>
                </a:lnTo>
                <a:lnTo>
                  <a:pt x="99" y="1187"/>
                </a:lnTo>
                <a:lnTo>
                  <a:pt x="91" y="1171"/>
                </a:lnTo>
                <a:lnTo>
                  <a:pt x="82" y="1153"/>
                </a:lnTo>
                <a:lnTo>
                  <a:pt x="75" y="1137"/>
                </a:lnTo>
                <a:lnTo>
                  <a:pt x="66" y="1120"/>
                </a:lnTo>
                <a:lnTo>
                  <a:pt x="58" y="1102"/>
                </a:lnTo>
                <a:lnTo>
                  <a:pt x="53" y="1083"/>
                </a:lnTo>
                <a:lnTo>
                  <a:pt x="45" y="1066"/>
                </a:lnTo>
                <a:lnTo>
                  <a:pt x="39" y="1047"/>
                </a:lnTo>
                <a:lnTo>
                  <a:pt x="34" y="1029"/>
                </a:lnTo>
                <a:lnTo>
                  <a:pt x="29" y="1010"/>
                </a:lnTo>
                <a:lnTo>
                  <a:pt x="23" y="991"/>
                </a:lnTo>
                <a:lnTo>
                  <a:pt x="19" y="972"/>
                </a:lnTo>
                <a:lnTo>
                  <a:pt x="16" y="953"/>
                </a:lnTo>
                <a:lnTo>
                  <a:pt x="12" y="934"/>
                </a:lnTo>
                <a:lnTo>
                  <a:pt x="9" y="913"/>
                </a:lnTo>
                <a:lnTo>
                  <a:pt x="7" y="894"/>
                </a:lnTo>
                <a:lnTo>
                  <a:pt x="4" y="874"/>
                </a:lnTo>
                <a:lnTo>
                  <a:pt x="3" y="853"/>
                </a:lnTo>
                <a:lnTo>
                  <a:pt x="1" y="834"/>
                </a:lnTo>
                <a:lnTo>
                  <a:pt x="1" y="814"/>
                </a:lnTo>
                <a:lnTo>
                  <a:pt x="0" y="793"/>
                </a:lnTo>
                <a:lnTo>
                  <a:pt x="1" y="773"/>
                </a:lnTo>
                <a:lnTo>
                  <a:pt x="1" y="752"/>
                </a:lnTo>
                <a:lnTo>
                  <a:pt x="3" y="732"/>
                </a:lnTo>
                <a:lnTo>
                  <a:pt x="4" y="712"/>
                </a:lnTo>
                <a:lnTo>
                  <a:pt x="7" y="692"/>
                </a:lnTo>
                <a:lnTo>
                  <a:pt x="9" y="672"/>
                </a:lnTo>
                <a:lnTo>
                  <a:pt x="12" y="653"/>
                </a:lnTo>
                <a:lnTo>
                  <a:pt x="16" y="633"/>
                </a:lnTo>
                <a:lnTo>
                  <a:pt x="20" y="613"/>
                </a:lnTo>
                <a:lnTo>
                  <a:pt x="25" y="594"/>
                </a:lnTo>
                <a:lnTo>
                  <a:pt x="29" y="575"/>
                </a:lnTo>
                <a:lnTo>
                  <a:pt x="34" y="558"/>
                </a:lnTo>
                <a:lnTo>
                  <a:pt x="39" y="539"/>
                </a:lnTo>
                <a:lnTo>
                  <a:pt x="45" y="520"/>
                </a:lnTo>
                <a:lnTo>
                  <a:pt x="53" y="502"/>
                </a:lnTo>
                <a:lnTo>
                  <a:pt x="58" y="485"/>
                </a:lnTo>
                <a:lnTo>
                  <a:pt x="66" y="467"/>
                </a:lnTo>
                <a:lnTo>
                  <a:pt x="75" y="450"/>
                </a:lnTo>
                <a:lnTo>
                  <a:pt x="82" y="432"/>
                </a:lnTo>
                <a:lnTo>
                  <a:pt x="91" y="414"/>
                </a:lnTo>
                <a:lnTo>
                  <a:pt x="99" y="398"/>
                </a:lnTo>
                <a:lnTo>
                  <a:pt x="108" y="382"/>
                </a:lnTo>
                <a:lnTo>
                  <a:pt x="127" y="350"/>
                </a:lnTo>
                <a:lnTo>
                  <a:pt x="148" y="318"/>
                </a:lnTo>
                <a:lnTo>
                  <a:pt x="171" y="289"/>
                </a:lnTo>
                <a:lnTo>
                  <a:pt x="193" y="259"/>
                </a:lnTo>
                <a:lnTo>
                  <a:pt x="218" y="232"/>
                </a:lnTo>
                <a:lnTo>
                  <a:pt x="245" y="207"/>
                </a:lnTo>
                <a:lnTo>
                  <a:pt x="271" y="182"/>
                </a:lnTo>
                <a:lnTo>
                  <a:pt x="300" y="157"/>
                </a:lnTo>
                <a:lnTo>
                  <a:pt x="314" y="147"/>
                </a:lnTo>
                <a:lnTo>
                  <a:pt x="328" y="135"/>
                </a:lnTo>
                <a:lnTo>
                  <a:pt x="344" y="125"/>
                </a:lnTo>
                <a:lnTo>
                  <a:pt x="359" y="115"/>
                </a:lnTo>
                <a:lnTo>
                  <a:pt x="375" y="106"/>
                </a:lnTo>
                <a:lnTo>
                  <a:pt x="390" y="96"/>
                </a:lnTo>
                <a:lnTo>
                  <a:pt x="406" y="87"/>
                </a:lnTo>
                <a:lnTo>
                  <a:pt x="422" y="78"/>
                </a:lnTo>
                <a:lnTo>
                  <a:pt x="438" y="71"/>
                </a:lnTo>
                <a:lnTo>
                  <a:pt x="456" y="62"/>
                </a:lnTo>
                <a:lnTo>
                  <a:pt x="472" y="55"/>
                </a:lnTo>
                <a:lnTo>
                  <a:pt x="489" y="49"/>
                </a:lnTo>
                <a:lnTo>
                  <a:pt x="507" y="41"/>
                </a:lnTo>
                <a:lnTo>
                  <a:pt x="523" y="36"/>
                </a:lnTo>
                <a:lnTo>
                  <a:pt x="541" y="30"/>
                </a:lnTo>
                <a:lnTo>
                  <a:pt x="558" y="25"/>
                </a:lnTo>
                <a:lnTo>
                  <a:pt x="577" y="21"/>
                </a:lnTo>
                <a:lnTo>
                  <a:pt x="595" y="17"/>
                </a:lnTo>
                <a:lnTo>
                  <a:pt x="613" y="12"/>
                </a:lnTo>
                <a:lnTo>
                  <a:pt x="632" y="9"/>
                </a:lnTo>
                <a:lnTo>
                  <a:pt x="651" y="6"/>
                </a:lnTo>
                <a:lnTo>
                  <a:pt x="668" y="5"/>
                </a:lnTo>
                <a:lnTo>
                  <a:pt x="687" y="2"/>
                </a:lnTo>
                <a:lnTo>
                  <a:pt x="706" y="0"/>
                </a:lnTo>
                <a:lnTo>
                  <a:pt x="726" y="0"/>
                </a:lnTo>
                <a:lnTo>
                  <a:pt x="745" y="0"/>
                </a:lnTo>
                <a:lnTo>
                  <a:pt x="746" y="0"/>
                </a:lnTo>
                <a:lnTo>
                  <a:pt x="765" y="0"/>
                </a:lnTo>
                <a:lnTo>
                  <a:pt x="784" y="0"/>
                </a:lnTo>
                <a:lnTo>
                  <a:pt x="803" y="2"/>
                </a:lnTo>
                <a:lnTo>
                  <a:pt x="821" y="5"/>
                </a:lnTo>
                <a:lnTo>
                  <a:pt x="840" y="6"/>
                </a:lnTo>
                <a:lnTo>
                  <a:pt x="859" y="9"/>
                </a:lnTo>
                <a:lnTo>
                  <a:pt x="877" y="12"/>
                </a:lnTo>
                <a:lnTo>
                  <a:pt x="896" y="17"/>
                </a:lnTo>
                <a:lnTo>
                  <a:pt x="913" y="21"/>
                </a:lnTo>
                <a:lnTo>
                  <a:pt x="931" y="25"/>
                </a:lnTo>
                <a:lnTo>
                  <a:pt x="950" y="30"/>
                </a:lnTo>
                <a:lnTo>
                  <a:pt x="967" y="36"/>
                </a:lnTo>
                <a:lnTo>
                  <a:pt x="984" y="41"/>
                </a:lnTo>
                <a:lnTo>
                  <a:pt x="1001" y="49"/>
                </a:lnTo>
                <a:lnTo>
                  <a:pt x="1019" y="55"/>
                </a:lnTo>
                <a:lnTo>
                  <a:pt x="1035" y="62"/>
                </a:lnTo>
                <a:lnTo>
                  <a:pt x="1052" y="71"/>
                </a:lnTo>
                <a:lnTo>
                  <a:pt x="1069" y="78"/>
                </a:lnTo>
                <a:lnTo>
                  <a:pt x="1085" y="87"/>
                </a:lnTo>
                <a:lnTo>
                  <a:pt x="1101" y="96"/>
                </a:lnTo>
                <a:lnTo>
                  <a:pt x="1115" y="106"/>
                </a:lnTo>
                <a:lnTo>
                  <a:pt x="1132" y="115"/>
                </a:lnTo>
                <a:lnTo>
                  <a:pt x="1146" y="125"/>
                </a:lnTo>
                <a:lnTo>
                  <a:pt x="1162" y="135"/>
                </a:lnTo>
                <a:lnTo>
                  <a:pt x="1177" y="147"/>
                </a:lnTo>
                <a:lnTo>
                  <a:pt x="1190" y="157"/>
                </a:lnTo>
                <a:lnTo>
                  <a:pt x="1220" y="182"/>
                </a:lnTo>
                <a:lnTo>
                  <a:pt x="1246" y="207"/>
                </a:lnTo>
                <a:lnTo>
                  <a:pt x="1272" y="232"/>
                </a:lnTo>
                <a:lnTo>
                  <a:pt x="1297" y="259"/>
                </a:lnTo>
                <a:lnTo>
                  <a:pt x="1321" y="289"/>
                </a:lnTo>
                <a:lnTo>
                  <a:pt x="1343" y="318"/>
                </a:lnTo>
                <a:lnTo>
                  <a:pt x="1363" y="350"/>
                </a:lnTo>
                <a:lnTo>
                  <a:pt x="1382" y="382"/>
                </a:lnTo>
                <a:lnTo>
                  <a:pt x="1391" y="398"/>
                </a:lnTo>
                <a:lnTo>
                  <a:pt x="1400" y="414"/>
                </a:lnTo>
                <a:lnTo>
                  <a:pt x="1409" y="432"/>
                </a:lnTo>
                <a:lnTo>
                  <a:pt x="1416" y="450"/>
                </a:lnTo>
                <a:lnTo>
                  <a:pt x="1425" y="467"/>
                </a:lnTo>
                <a:lnTo>
                  <a:pt x="1432" y="485"/>
                </a:lnTo>
                <a:lnTo>
                  <a:pt x="1438" y="502"/>
                </a:lnTo>
                <a:lnTo>
                  <a:pt x="1445" y="520"/>
                </a:lnTo>
                <a:lnTo>
                  <a:pt x="1451" y="539"/>
                </a:lnTo>
                <a:lnTo>
                  <a:pt x="1457" y="558"/>
                </a:lnTo>
                <a:lnTo>
                  <a:pt x="1461" y="575"/>
                </a:lnTo>
                <a:lnTo>
                  <a:pt x="1466" y="594"/>
                </a:lnTo>
                <a:lnTo>
                  <a:pt x="1470" y="613"/>
                </a:lnTo>
                <a:lnTo>
                  <a:pt x="1475" y="633"/>
                </a:lnTo>
                <a:lnTo>
                  <a:pt x="1479" y="653"/>
                </a:lnTo>
                <a:lnTo>
                  <a:pt x="1482" y="672"/>
                </a:lnTo>
                <a:lnTo>
                  <a:pt x="1483" y="692"/>
                </a:lnTo>
                <a:lnTo>
                  <a:pt x="1486" y="712"/>
                </a:lnTo>
                <a:lnTo>
                  <a:pt x="1488" y="732"/>
                </a:lnTo>
                <a:lnTo>
                  <a:pt x="1489" y="752"/>
                </a:lnTo>
                <a:lnTo>
                  <a:pt x="1489" y="773"/>
                </a:lnTo>
                <a:lnTo>
                  <a:pt x="1489" y="793"/>
                </a:lnTo>
                <a:lnTo>
                  <a:pt x="1489" y="814"/>
                </a:lnTo>
                <a:lnTo>
                  <a:pt x="1489" y="834"/>
                </a:lnTo>
                <a:lnTo>
                  <a:pt x="1488" y="853"/>
                </a:lnTo>
                <a:lnTo>
                  <a:pt x="1486" y="874"/>
                </a:lnTo>
                <a:lnTo>
                  <a:pt x="1483" y="894"/>
                </a:lnTo>
                <a:lnTo>
                  <a:pt x="1482" y="913"/>
                </a:lnTo>
                <a:lnTo>
                  <a:pt x="1479" y="934"/>
                </a:lnTo>
                <a:lnTo>
                  <a:pt x="1475" y="953"/>
                </a:lnTo>
                <a:lnTo>
                  <a:pt x="1472" y="972"/>
                </a:lnTo>
                <a:lnTo>
                  <a:pt x="1467" y="991"/>
                </a:lnTo>
                <a:lnTo>
                  <a:pt x="1461" y="1010"/>
                </a:lnTo>
                <a:lnTo>
                  <a:pt x="1457" y="1029"/>
                </a:lnTo>
                <a:lnTo>
                  <a:pt x="1451" y="1047"/>
                </a:lnTo>
                <a:lnTo>
                  <a:pt x="1445" y="1066"/>
                </a:lnTo>
                <a:lnTo>
                  <a:pt x="1438" y="1083"/>
                </a:lnTo>
                <a:lnTo>
                  <a:pt x="1432" y="1102"/>
                </a:lnTo>
                <a:lnTo>
                  <a:pt x="1425" y="1120"/>
                </a:lnTo>
                <a:lnTo>
                  <a:pt x="1416" y="1137"/>
                </a:lnTo>
                <a:lnTo>
                  <a:pt x="1409" y="1153"/>
                </a:lnTo>
                <a:lnTo>
                  <a:pt x="1400" y="1171"/>
                </a:lnTo>
                <a:lnTo>
                  <a:pt x="1391" y="1187"/>
                </a:lnTo>
                <a:lnTo>
                  <a:pt x="1382" y="1205"/>
                </a:lnTo>
                <a:lnTo>
                  <a:pt x="1363" y="1237"/>
                </a:lnTo>
                <a:lnTo>
                  <a:pt x="1343" y="1268"/>
                </a:lnTo>
                <a:lnTo>
                  <a:pt x="1321" y="1297"/>
                </a:lnTo>
                <a:lnTo>
                  <a:pt x="1297" y="1326"/>
                </a:lnTo>
                <a:lnTo>
                  <a:pt x="1272" y="1354"/>
                </a:lnTo>
                <a:lnTo>
                  <a:pt x="1246" y="1380"/>
                </a:lnTo>
                <a:lnTo>
                  <a:pt x="1220" y="1405"/>
                </a:lnTo>
                <a:lnTo>
                  <a:pt x="1190" y="1428"/>
                </a:lnTo>
                <a:lnTo>
                  <a:pt x="1177" y="1440"/>
                </a:lnTo>
                <a:lnTo>
                  <a:pt x="1162" y="1450"/>
                </a:lnTo>
                <a:lnTo>
                  <a:pt x="1146" y="1461"/>
                </a:lnTo>
                <a:lnTo>
                  <a:pt x="1132" y="1471"/>
                </a:lnTo>
                <a:lnTo>
                  <a:pt x="1115" y="1481"/>
                </a:lnTo>
                <a:lnTo>
                  <a:pt x="1101" y="1490"/>
                </a:lnTo>
                <a:lnTo>
                  <a:pt x="1085" y="1499"/>
                </a:lnTo>
                <a:lnTo>
                  <a:pt x="1069" y="1507"/>
                </a:lnTo>
                <a:lnTo>
                  <a:pt x="1052" y="1516"/>
                </a:lnTo>
                <a:lnTo>
                  <a:pt x="1035" y="1524"/>
                </a:lnTo>
                <a:lnTo>
                  <a:pt x="1019" y="1531"/>
                </a:lnTo>
                <a:lnTo>
                  <a:pt x="1001" y="1538"/>
                </a:lnTo>
                <a:lnTo>
                  <a:pt x="984" y="1544"/>
                </a:lnTo>
                <a:lnTo>
                  <a:pt x="967" y="1550"/>
                </a:lnTo>
                <a:lnTo>
                  <a:pt x="950" y="1556"/>
                </a:lnTo>
                <a:lnTo>
                  <a:pt x="931" y="1560"/>
                </a:lnTo>
                <a:lnTo>
                  <a:pt x="913" y="1566"/>
                </a:lnTo>
                <a:lnTo>
                  <a:pt x="896" y="1570"/>
                </a:lnTo>
                <a:lnTo>
                  <a:pt x="877" y="1573"/>
                </a:lnTo>
                <a:lnTo>
                  <a:pt x="859" y="1576"/>
                </a:lnTo>
                <a:lnTo>
                  <a:pt x="840" y="1579"/>
                </a:lnTo>
                <a:lnTo>
                  <a:pt x="821" y="1582"/>
                </a:lnTo>
                <a:lnTo>
                  <a:pt x="803" y="1584"/>
                </a:lnTo>
                <a:lnTo>
                  <a:pt x="784" y="1585"/>
                </a:lnTo>
                <a:lnTo>
                  <a:pt x="765" y="1585"/>
                </a:lnTo>
                <a:lnTo>
                  <a:pt x="745" y="1587"/>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044" name="Freeform 14">
            <a:extLst>
              <a:ext uri="{FF2B5EF4-FFF2-40B4-BE49-F238E27FC236}">
                <a16:creationId xmlns:a16="http://schemas.microsoft.com/office/drawing/2014/main" id="{62765C89-9326-47F7-80D3-A8F874F6104A}"/>
              </a:ext>
            </a:extLst>
          </p:cNvPr>
          <p:cNvSpPr>
            <a:spLocks/>
          </p:cNvSpPr>
          <p:nvPr/>
        </p:nvSpPr>
        <p:spPr bwMode="auto">
          <a:xfrm>
            <a:off x="4105276" y="2730500"/>
            <a:ext cx="295275" cy="1258888"/>
          </a:xfrm>
          <a:custGeom>
            <a:avLst/>
            <a:gdLst>
              <a:gd name="T0" fmla="*/ 2147483646 w 373"/>
              <a:gd name="T1" fmla="*/ 2147483646 h 1587"/>
              <a:gd name="T2" fmla="*/ 2147483646 w 373"/>
              <a:gd name="T3" fmla="*/ 2147483646 h 1587"/>
              <a:gd name="T4" fmla="*/ 2147483646 w 373"/>
              <a:gd name="T5" fmla="*/ 2147483646 h 1587"/>
              <a:gd name="T6" fmla="*/ 2147483646 w 373"/>
              <a:gd name="T7" fmla="*/ 2147483646 h 1587"/>
              <a:gd name="T8" fmla="*/ 2147483646 w 373"/>
              <a:gd name="T9" fmla="*/ 2147483646 h 1587"/>
              <a:gd name="T10" fmla="*/ 2147483646 w 373"/>
              <a:gd name="T11" fmla="*/ 2147483646 h 1587"/>
              <a:gd name="T12" fmla="*/ 2147483646 w 373"/>
              <a:gd name="T13" fmla="*/ 2147483646 h 1587"/>
              <a:gd name="T14" fmla="*/ 2147483646 w 373"/>
              <a:gd name="T15" fmla="*/ 2147483646 h 1587"/>
              <a:gd name="T16" fmla="*/ 2147483646 w 373"/>
              <a:gd name="T17" fmla="*/ 2147483646 h 1587"/>
              <a:gd name="T18" fmla="*/ 2147483646 w 373"/>
              <a:gd name="T19" fmla="*/ 2147483646 h 1587"/>
              <a:gd name="T20" fmla="*/ 2147483646 w 373"/>
              <a:gd name="T21" fmla="*/ 2147483646 h 1587"/>
              <a:gd name="T22" fmla="*/ 2147483646 w 373"/>
              <a:gd name="T23" fmla="*/ 2147483646 h 1587"/>
              <a:gd name="T24" fmla="*/ 2147483646 w 373"/>
              <a:gd name="T25" fmla="*/ 2147483646 h 1587"/>
              <a:gd name="T26" fmla="*/ 2147483646 w 373"/>
              <a:gd name="T27" fmla="*/ 2147483646 h 1587"/>
              <a:gd name="T28" fmla="*/ 2147483646 w 373"/>
              <a:gd name="T29" fmla="*/ 2147483646 h 1587"/>
              <a:gd name="T30" fmla="*/ 2147483646 w 373"/>
              <a:gd name="T31" fmla="*/ 2147483646 h 1587"/>
              <a:gd name="T32" fmla="*/ 2147483646 w 373"/>
              <a:gd name="T33" fmla="*/ 2147483646 h 1587"/>
              <a:gd name="T34" fmla="*/ 2147483646 w 373"/>
              <a:gd name="T35" fmla="*/ 2147483646 h 1587"/>
              <a:gd name="T36" fmla="*/ 2147483646 w 373"/>
              <a:gd name="T37" fmla="*/ 2147483646 h 1587"/>
              <a:gd name="T38" fmla="*/ 2147483646 w 373"/>
              <a:gd name="T39" fmla="*/ 2147483646 h 1587"/>
              <a:gd name="T40" fmla="*/ 2147483646 w 373"/>
              <a:gd name="T41" fmla="*/ 2147483646 h 1587"/>
              <a:gd name="T42" fmla="*/ 2147483646 w 373"/>
              <a:gd name="T43" fmla="*/ 2147483646 h 1587"/>
              <a:gd name="T44" fmla="*/ 2147483646 w 373"/>
              <a:gd name="T45" fmla="*/ 2147483646 h 1587"/>
              <a:gd name="T46" fmla="*/ 2147483646 w 373"/>
              <a:gd name="T47" fmla="*/ 2147483646 h 1587"/>
              <a:gd name="T48" fmla="*/ 2147483646 w 373"/>
              <a:gd name="T49" fmla="*/ 2147483646 h 1587"/>
              <a:gd name="T50" fmla="*/ 2147483646 w 373"/>
              <a:gd name="T51" fmla="*/ 2147483646 h 1587"/>
              <a:gd name="T52" fmla="*/ 2147483646 w 373"/>
              <a:gd name="T53" fmla="*/ 2147483646 h 1587"/>
              <a:gd name="T54" fmla="*/ 2147483646 w 373"/>
              <a:gd name="T55" fmla="*/ 2147483646 h 1587"/>
              <a:gd name="T56" fmla="*/ 2147483646 w 373"/>
              <a:gd name="T57" fmla="*/ 2147483646 h 1587"/>
              <a:gd name="T58" fmla="*/ 2147483646 w 373"/>
              <a:gd name="T59" fmla="*/ 2147483646 h 1587"/>
              <a:gd name="T60" fmla="*/ 2147483646 w 373"/>
              <a:gd name="T61" fmla="*/ 2147483646 h 1587"/>
              <a:gd name="T62" fmla="*/ 2147483646 w 373"/>
              <a:gd name="T63" fmla="*/ 2147483646 h 1587"/>
              <a:gd name="T64" fmla="*/ 2147483646 w 373"/>
              <a:gd name="T65" fmla="*/ 2147483646 h 1587"/>
              <a:gd name="T66" fmla="*/ 2147483646 w 373"/>
              <a:gd name="T67" fmla="*/ 2147483646 h 1587"/>
              <a:gd name="T68" fmla="*/ 2147483646 w 373"/>
              <a:gd name="T69" fmla="*/ 2147483646 h 1587"/>
              <a:gd name="T70" fmla="*/ 2147483646 w 373"/>
              <a:gd name="T71" fmla="*/ 2147483646 h 1587"/>
              <a:gd name="T72" fmla="*/ 2147483646 w 373"/>
              <a:gd name="T73" fmla="*/ 2147483646 h 1587"/>
              <a:gd name="T74" fmla="*/ 2147483646 w 373"/>
              <a:gd name="T75" fmla="*/ 2147483646 h 1587"/>
              <a:gd name="T76" fmla="*/ 2147483646 w 373"/>
              <a:gd name="T77" fmla="*/ 2147483646 h 1587"/>
              <a:gd name="T78" fmla="*/ 2147483646 w 373"/>
              <a:gd name="T79" fmla="*/ 2147483646 h 1587"/>
              <a:gd name="T80" fmla="*/ 2147483646 w 373"/>
              <a:gd name="T81" fmla="*/ 2147483646 h 1587"/>
              <a:gd name="T82" fmla="*/ 2147483646 w 373"/>
              <a:gd name="T83" fmla="*/ 2147483646 h 1587"/>
              <a:gd name="T84" fmla="*/ 2147483646 w 373"/>
              <a:gd name="T85" fmla="*/ 2147483646 h 1587"/>
              <a:gd name="T86" fmla="*/ 2147483646 w 373"/>
              <a:gd name="T87" fmla="*/ 2147483646 h 1587"/>
              <a:gd name="T88" fmla="*/ 2147483646 w 373"/>
              <a:gd name="T89" fmla="*/ 0 h 1587"/>
              <a:gd name="T90" fmla="*/ 0 w 373"/>
              <a:gd name="T91" fmla="*/ 0 h 158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73"/>
              <a:gd name="T139" fmla="*/ 0 h 1587"/>
              <a:gd name="T140" fmla="*/ 373 w 373"/>
              <a:gd name="T141" fmla="*/ 1587 h 158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73" h="1587">
                <a:moveTo>
                  <a:pt x="0" y="1587"/>
                </a:moveTo>
                <a:lnTo>
                  <a:pt x="10" y="1585"/>
                </a:lnTo>
                <a:lnTo>
                  <a:pt x="19" y="1585"/>
                </a:lnTo>
                <a:lnTo>
                  <a:pt x="30" y="1584"/>
                </a:lnTo>
                <a:lnTo>
                  <a:pt x="38" y="1582"/>
                </a:lnTo>
                <a:lnTo>
                  <a:pt x="47" y="1579"/>
                </a:lnTo>
                <a:lnTo>
                  <a:pt x="57" y="1576"/>
                </a:lnTo>
                <a:lnTo>
                  <a:pt x="66" y="1573"/>
                </a:lnTo>
                <a:lnTo>
                  <a:pt x="75" y="1570"/>
                </a:lnTo>
                <a:lnTo>
                  <a:pt x="84" y="1566"/>
                </a:lnTo>
                <a:lnTo>
                  <a:pt x="94" y="1560"/>
                </a:lnTo>
                <a:lnTo>
                  <a:pt x="103" y="1556"/>
                </a:lnTo>
                <a:lnTo>
                  <a:pt x="112" y="1550"/>
                </a:lnTo>
                <a:lnTo>
                  <a:pt x="120" y="1544"/>
                </a:lnTo>
                <a:lnTo>
                  <a:pt x="128" y="1538"/>
                </a:lnTo>
                <a:lnTo>
                  <a:pt x="137" y="1531"/>
                </a:lnTo>
                <a:lnTo>
                  <a:pt x="145" y="1524"/>
                </a:lnTo>
                <a:lnTo>
                  <a:pt x="154" y="1516"/>
                </a:lnTo>
                <a:lnTo>
                  <a:pt x="161" y="1507"/>
                </a:lnTo>
                <a:lnTo>
                  <a:pt x="170" y="1499"/>
                </a:lnTo>
                <a:lnTo>
                  <a:pt x="178" y="1490"/>
                </a:lnTo>
                <a:lnTo>
                  <a:pt x="185" y="1481"/>
                </a:lnTo>
                <a:lnTo>
                  <a:pt x="194" y="1471"/>
                </a:lnTo>
                <a:lnTo>
                  <a:pt x="201" y="1461"/>
                </a:lnTo>
                <a:lnTo>
                  <a:pt x="208" y="1450"/>
                </a:lnTo>
                <a:lnTo>
                  <a:pt x="216" y="1440"/>
                </a:lnTo>
                <a:lnTo>
                  <a:pt x="223" y="1428"/>
                </a:lnTo>
                <a:lnTo>
                  <a:pt x="238" y="1405"/>
                </a:lnTo>
                <a:lnTo>
                  <a:pt x="251" y="1380"/>
                </a:lnTo>
                <a:lnTo>
                  <a:pt x="264" y="1354"/>
                </a:lnTo>
                <a:lnTo>
                  <a:pt x="276" y="1326"/>
                </a:lnTo>
                <a:lnTo>
                  <a:pt x="288" y="1297"/>
                </a:lnTo>
                <a:lnTo>
                  <a:pt x="299" y="1268"/>
                </a:lnTo>
                <a:lnTo>
                  <a:pt x="310" y="1237"/>
                </a:lnTo>
                <a:lnTo>
                  <a:pt x="318" y="1205"/>
                </a:lnTo>
                <a:lnTo>
                  <a:pt x="327" y="1171"/>
                </a:lnTo>
                <a:lnTo>
                  <a:pt x="336" y="1137"/>
                </a:lnTo>
                <a:lnTo>
                  <a:pt x="343" y="1102"/>
                </a:lnTo>
                <a:lnTo>
                  <a:pt x="351" y="1066"/>
                </a:lnTo>
                <a:lnTo>
                  <a:pt x="356" y="1029"/>
                </a:lnTo>
                <a:lnTo>
                  <a:pt x="361" y="991"/>
                </a:lnTo>
                <a:lnTo>
                  <a:pt x="365" y="953"/>
                </a:lnTo>
                <a:lnTo>
                  <a:pt x="368" y="913"/>
                </a:lnTo>
                <a:lnTo>
                  <a:pt x="371" y="874"/>
                </a:lnTo>
                <a:lnTo>
                  <a:pt x="373" y="834"/>
                </a:lnTo>
                <a:lnTo>
                  <a:pt x="373" y="793"/>
                </a:lnTo>
                <a:lnTo>
                  <a:pt x="373" y="752"/>
                </a:lnTo>
                <a:lnTo>
                  <a:pt x="371" y="712"/>
                </a:lnTo>
                <a:lnTo>
                  <a:pt x="368" y="672"/>
                </a:lnTo>
                <a:lnTo>
                  <a:pt x="365" y="633"/>
                </a:lnTo>
                <a:lnTo>
                  <a:pt x="361" y="594"/>
                </a:lnTo>
                <a:lnTo>
                  <a:pt x="356" y="558"/>
                </a:lnTo>
                <a:lnTo>
                  <a:pt x="351" y="520"/>
                </a:lnTo>
                <a:lnTo>
                  <a:pt x="343" y="485"/>
                </a:lnTo>
                <a:lnTo>
                  <a:pt x="336" y="450"/>
                </a:lnTo>
                <a:lnTo>
                  <a:pt x="327" y="414"/>
                </a:lnTo>
                <a:lnTo>
                  <a:pt x="318" y="382"/>
                </a:lnTo>
                <a:lnTo>
                  <a:pt x="310" y="350"/>
                </a:lnTo>
                <a:lnTo>
                  <a:pt x="299" y="318"/>
                </a:lnTo>
                <a:lnTo>
                  <a:pt x="288" y="289"/>
                </a:lnTo>
                <a:lnTo>
                  <a:pt x="276" y="259"/>
                </a:lnTo>
                <a:lnTo>
                  <a:pt x="264" y="232"/>
                </a:lnTo>
                <a:lnTo>
                  <a:pt x="251" y="207"/>
                </a:lnTo>
                <a:lnTo>
                  <a:pt x="238" y="182"/>
                </a:lnTo>
                <a:lnTo>
                  <a:pt x="223" y="157"/>
                </a:lnTo>
                <a:lnTo>
                  <a:pt x="216" y="147"/>
                </a:lnTo>
                <a:lnTo>
                  <a:pt x="208" y="135"/>
                </a:lnTo>
                <a:lnTo>
                  <a:pt x="201" y="125"/>
                </a:lnTo>
                <a:lnTo>
                  <a:pt x="194" y="115"/>
                </a:lnTo>
                <a:lnTo>
                  <a:pt x="185" y="106"/>
                </a:lnTo>
                <a:lnTo>
                  <a:pt x="178" y="96"/>
                </a:lnTo>
                <a:lnTo>
                  <a:pt x="170" y="87"/>
                </a:lnTo>
                <a:lnTo>
                  <a:pt x="161" y="78"/>
                </a:lnTo>
                <a:lnTo>
                  <a:pt x="154" y="71"/>
                </a:lnTo>
                <a:lnTo>
                  <a:pt x="145" y="62"/>
                </a:lnTo>
                <a:lnTo>
                  <a:pt x="137" y="55"/>
                </a:lnTo>
                <a:lnTo>
                  <a:pt x="128" y="49"/>
                </a:lnTo>
                <a:lnTo>
                  <a:pt x="120" y="41"/>
                </a:lnTo>
                <a:lnTo>
                  <a:pt x="112" y="36"/>
                </a:lnTo>
                <a:lnTo>
                  <a:pt x="103" y="30"/>
                </a:lnTo>
                <a:lnTo>
                  <a:pt x="94" y="25"/>
                </a:lnTo>
                <a:lnTo>
                  <a:pt x="84" y="21"/>
                </a:lnTo>
                <a:lnTo>
                  <a:pt x="75" y="17"/>
                </a:lnTo>
                <a:lnTo>
                  <a:pt x="66" y="12"/>
                </a:lnTo>
                <a:lnTo>
                  <a:pt x="57" y="9"/>
                </a:lnTo>
                <a:lnTo>
                  <a:pt x="47" y="6"/>
                </a:lnTo>
                <a:lnTo>
                  <a:pt x="38" y="5"/>
                </a:lnTo>
                <a:lnTo>
                  <a:pt x="30" y="2"/>
                </a:lnTo>
                <a:lnTo>
                  <a:pt x="19" y="0"/>
                </a:lnTo>
                <a:lnTo>
                  <a:pt x="10" y="0"/>
                </a:lnTo>
                <a:lnTo>
                  <a:pt x="0"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045" name="Rectangle 15">
            <a:extLst>
              <a:ext uri="{FF2B5EF4-FFF2-40B4-BE49-F238E27FC236}">
                <a16:creationId xmlns:a16="http://schemas.microsoft.com/office/drawing/2014/main" id="{B73244D5-20A2-48E6-B7A6-1E0AFB66533E}"/>
              </a:ext>
            </a:extLst>
          </p:cNvPr>
          <p:cNvSpPr>
            <a:spLocks noChangeArrowheads="1"/>
          </p:cNvSpPr>
          <p:nvPr/>
        </p:nvSpPr>
        <p:spPr bwMode="auto">
          <a:xfrm>
            <a:off x="3781134" y="2397125"/>
            <a:ext cx="104515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solidFill>
                  <a:srgbClr val="000000"/>
                </a:solidFill>
                <a:ea typeface="新細明體" panose="02020500000000000000" pitchFamily="18" charset="-120"/>
              </a:rPr>
              <a:t>Privileged</a:t>
            </a:r>
            <a:endParaRPr lang="en-US" altLang="zh-TW" sz="2000" b="1">
              <a:solidFill>
                <a:srgbClr val="000066"/>
              </a:solidFill>
              <a:ea typeface="新細明體" panose="02020500000000000000" pitchFamily="18" charset="-120"/>
            </a:endParaRPr>
          </a:p>
        </p:txBody>
      </p:sp>
      <p:sp>
        <p:nvSpPr>
          <p:cNvPr id="44046" name="Rectangle 16">
            <a:extLst>
              <a:ext uri="{FF2B5EF4-FFF2-40B4-BE49-F238E27FC236}">
                <a16:creationId xmlns:a16="http://schemas.microsoft.com/office/drawing/2014/main" id="{E4C3B232-B75F-41E0-910D-3BFEC95543D2}"/>
              </a:ext>
            </a:extLst>
          </p:cNvPr>
          <p:cNvSpPr>
            <a:spLocks noChangeArrowheads="1"/>
          </p:cNvSpPr>
          <p:nvPr/>
        </p:nvSpPr>
        <p:spPr bwMode="auto">
          <a:xfrm>
            <a:off x="4380693" y="1643063"/>
            <a:ext cx="49532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solidFill>
                  <a:srgbClr val="000000"/>
                </a:solidFill>
                <a:ea typeface="新細明體" panose="02020500000000000000" pitchFamily="18" charset="-120"/>
              </a:rPr>
              <a:t>Non-</a:t>
            </a:r>
            <a:endParaRPr lang="en-US" altLang="zh-TW" sz="2000" b="1">
              <a:solidFill>
                <a:srgbClr val="000066"/>
              </a:solidFill>
              <a:ea typeface="新細明體" panose="02020500000000000000" pitchFamily="18" charset="-120"/>
            </a:endParaRPr>
          </a:p>
        </p:txBody>
      </p:sp>
      <p:sp>
        <p:nvSpPr>
          <p:cNvPr id="44047" name="Rectangle 17">
            <a:extLst>
              <a:ext uri="{FF2B5EF4-FFF2-40B4-BE49-F238E27FC236}">
                <a16:creationId xmlns:a16="http://schemas.microsoft.com/office/drawing/2014/main" id="{50F58097-10F9-4B41-BECE-7A48341B5751}"/>
              </a:ext>
            </a:extLst>
          </p:cNvPr>
          <p:cNvSpPr>
            <a:spLocks noChangeArrowheads="1"/>
          </p:cNvSpPr>
          <p:nvPr/>
        </p:nvSpPr>
        <p:spPr bwMode="auto">
          <a:xfrm>
            <a:off x="4125621" y="1895475"/>
            <a:ext cx="104515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solidFill>
                  <a:srgbClr val="000000"/>
                </a:solidFill>
                <a:ea typeface="新細明體" panose="02020500000000000000" pitchFamily="18" charset="-120"/>
              </a:rPr>
              <a:t>Privileged</a:t>
            </a:r>
            <a:endParaRPr lang="en-US" altLang="zh-TW" sz="2000" b="1">
              <a:solidFill>
                <a:srgbClr val="000066"/>
              </a:solidFill>
              <a:ea typeface="新細明體" panose="02020500000000000000" pitchFamily="18" charset="-120"/>
            </a:endParaRPr>
          </a:p>
        </p:txBody>
      </p:sp>
      <p:sp>
        <p:nvSpPr>
          <p:cNvPr id="44048" name="Rectangle 18">
            <a:extLst>
              <a:ext uri="{FF2B5EF4-FFF2-40B4-BE49-F238E27FC236}">
                <a16:creationId xmlns:a16="http://schemas.microsoft.com/office/drawing/2014/main" id="{467DA1B7-2757-496E-8337-B4BAEA37454D}"/>
              </a:ext>
            </a:extLst>
          </p:cNvPr>
          <p:cNvSpPr>
            <a:spLocks noChangeArrowheads="1"/>
          </p:cNvSpPr>
          <p:nvPr/>
        </p:nvSpPr>
        <p:spPr bwMode="auto">
          <a:xfrm>
            <a:off x="3821233" y="3341688"/>
            <a:ext cx="96019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solidFill>
                  <a:srgbClr val="000000"/>
                </a:solidFill>
                <a:ea typeface="新細明體" panose="02020500000000000000" pitchFamily="18" charset="-120"/>
              </a:rPr>
              <a:t>Sensitive</a:t>
            </a:r>
            <a:endParaRPr lang="en-US" altLang="zh-TW" sz="2000" b="1">
              <a:solidFill>
                <a:srgbClr val="000066"/>
              </a:solidFill>
              <a:ea typeface="新細明體" panose="02020500000000000000" pitchFamily="18" charset="-120"/>
            </a:endParaRPr>
          </a:p>
        </p:txBody>
      </p:sp>
      <p:sp>
        <p:nvSpPr>
          <p:cNvPr id="44049" name="Rectangle 19">
            <a:extLst>
              <a:ext uri="{FF2B5EF4-FFF2-40B4-BE49-F238E27FC236}">
                <a16:creationId xmlns:a16="http://schemas.microsoft.com/office/drawing/2014/main" id="{E99BCF1B-DD36-4272-A814-20773464AA08}"/>
              </a:ext>
            </a:extLst>
          </p:cNvPr>
          <p:cNvSpPr>
            <a:spLocks noChangeArrowheads="1"/>
          </p:cNvSpPr>
          <p:nvPr/>
        </p:nvSpPr>
        <p:spPr bwMode="auto">
          <a:xfrm>
            <a:off x="2027239" y="3349625"/>
            <a:ext cx="10064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ea typeface="新細明體" panose="02020500000000000000" pitchFamily="18" charset="-120"/>
              </a:rPr>
              <a:t>Behavior-</a:t>
            </a:r>
            <a:endParaRPr lang="en-US" altLang="zh-TW" sz="2000" b="1">
              <a:ea typeface="新細明體" panose="02020500000000000000" pitchFamily="18" charset="-120"/>
            </a:endParaRPr>
          </a:p>
        </p:txBody>
      </p:sp>
      <p:sp>
        <p:nvSpPr>
          <p:cNvPr id="44050" name="Rectangle 20">
            <a:extLst>
              <a:ext uri="{FF2B5EF4-FFF2-40B4-BE49-F238E27FC236}">
                <a16:creationId xmlns:a16="http://schemas.microsoft.com/office/drawing/2014/main" id="{81F3099B-680A-4B11-852A-C5C3D3814D1E}"/>
              </a:ext>
            </a:extLst>
          </p:cNvPr>
          <p:cNvSpPr>
            <a:spLocks noChangeArrowheads="1"/>
          </p:cNvSpPr>
          <p:nvPr/>
        </p:nvSpPr>
        <p:spPr bwMode="auto">
          <a:xfrm>
            <a:off x="2057401" y="3600450"/>
            <a:ext cx="93662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ea typeface="新細明體" panose="02020500000000000000" pitchFamily="18" charset="-120"/>
              </a:rPr>
              <a:t>sensitive</a:t>
            </a:r>
            <a:endParaRPr lang="en-US" altLang="zh-TW" sz="2000" b="1">
              <a:ea typeface="新細明體" panose="02020500000000000000" pitchFamily="18" charset="-120"/>
            </a:endParaRPr>
          </a:p>
        </p:txBody>
      </p:sp>
      <p:sp>
        <p:nvSpPr>
          <p:cNvPr id="44051" name="Rectangle 21">
            <a:extLst>
              <a:ext uri="{FF2B5EF4-FFF2-40B4-BE49-F238E27FC236}">
                <a16:creationId xmlns:a16="http://schemas.microsoft.com/office/drawing/2014/main" id="{EF0F9B85-2C53-4363-A5AA-838123C7E009}"/>
              </a:ext>
            </a:extLst>
          </p:cNvPr>
          <p:cNvSpPr>
            <a:spLocks noChangeArrowheads="1"/>
          </p:cNvSpPr>
          <p:nvPr/>
        </p:nvSpPr>
        <p:spPr bwMode="auto">
          <a:xfrm>
            <a:off x="6016626" y="3392489"/>
            <a:ext cx="847725"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ea typeface="新細明體" panose="02020500000000000000" pitchFamily="18" charset="-120"/>
              </a:rPr>
              <a:t>Control-</a:t>
            </a:r>
            <a:endParaRPr lang="en-US" altLang="zh-TW" sz="2000" b="1">
              <a:ea typeface="新細明體" panose="02020500000000000000" pitchFamily="18" charset="-120"/>
            </a:endParaRPr>
          </a:p>
        </p:txBody>
      </p:sp>
      <p:sp>
        <p:nvSpPr>
          <p:cNvPr id="44052" name="Rectangle 22">
            <a:extLst>
              <a:ext uri="{FF2B5EF4-FFF2-40B4-BE49-F238E27FC236}">
                <a16:creationId xmlns:a16="http://schemas.microsoft.com/office/drawing/2014/main" id="{BB2A17E6-FCD7-412B-868B-3F57BACDEA41}"/>
              </a:ext>
            </a:extLst>
          </p:cNvPr>
          <p:cNvSpPr>
            <a:spLocks noChangeArrowheads="1"/>
          </p:cNvSpPr>
          <p:nvPr/>
        </p:nvSpPr>
        <p:spPr bwMode="auto">
          <a:xfrm>
            <a:off x="5973764" y="3644900"/>
            <a:ext cx="93662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ea typeface="新細明體" panose="02020500000000000000" pitchFamily="18" charset="-120"/>
              </a:rPr>
              <a:t>sensitive</a:t>
            </a:r>
            <a:endParaRPr lang="en-US" altLang="zh-TW" sz="2000" b="1">
              <a:ea typeface="新細明體" panose="02020500000000000000" pitchFamily="18" charset="-120"/>
            </a:endParaRPr>
          </a:p>
        </p:txBody>
      </p:sp>
      <p:sp>
        <p:nvSpPr>
          <p:cNvPr id="44053" name="Line 23">
            <a:extLst>
              <a:ext uri="{FF2B5EF4-FFF2-40B4-BE49-F238E27FC236}">
                <a16:creationId xmlns:a16="http://schemas.microsoft.com/office/drawing/2014/main" id="{A22AD2E9-428C-418E-9257-778B587FC854}"/>
              </a:ext>
            </a:extLst>
          </p:cNvPr>
          <p:cNvSpPr>
            <a:spLocks noChangeShapeType="1"/>
          </p:cNvSpPr>
          <p:nvPr/>
        </p:nvSpPr>
        <p:spPr bwMode="auto">
          <a:xfrm flipV="1">
            <a:off x="2959100" y="3290888"/>
            <a:ext cx="895350" cy="30956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54" name="Freeform 24">
            <a:extLst>
              <a:ext uri="{FF2B5EF4-FFF2-40B4-BE49-F238E27FC236}">
                <a16:creationId xmlns:a16="http://schemas.microsoft.com/office/drawing/2014/main" id="{9396D3A8-4EDB-4773-AF5E-36964511DCF9}"/>
              </a:ext>
            </a:extLst>
          </p:cNvPr>
          <p:cNvSpPr>
            <a:spLocks/>
          </p:cNvSpPr>
          <p:nvPr/>
        </p:nvSpPr>
        <p:spPr bwMode="auto">
          <a:xfrm>
            <a:off x="3825876" y="3240088"/>
            <a:ext cx="168275" cy="107950"/>
          </a:xfrm>
          <a:custGeom>
            <a:avLst/>
            <a:gdLst>
              <a:gd name="T0" fmla="*/ 0 w 213"/>
              <a:gd name="T1" fmla="*/ 0 h 136"/>
              <a:gd name="T2" fmla="*/ 2147483646 w 213"/>
              <a:gd name="T3" fmla="*/ 2147483646 h 136"/>
              <a:gd name="T4" fmla="*/ 2147483646 w 213"/>
              <a:gd name="T5" fmla="*/ 2147483646 h 136"/>
              <a:gd name="T6" fmla="*/ 0 w 213"/>
              <a:gd name="T7" fmla="*/ 0 h 136"/>
              <a:gd name="T8" fmla="*/ 0 60000 65536"/>
              <a:gd name="T9" fmla="*/ 0 60000 65536"/>
              <a:gd name="T10" fmla="*/ 0 60000 65536"/>
              <a:gd name="T11" fmla="*/ 0 60000 65536"/>
              <a:gd name="T12" fmla="*/ 0 w 213"/>
              <a:gd name="T13" fmla="*/ 0 h 136"/>
              <a:gd name="T14" fmla="*/ 213 w 213"/>
              <a:gd name="T15" fmla="*/ 136 h 136"/>
            </a:gdLst>
            <a:ahLst/>
            <a:cxnLst>
              <a:cxn ang="T8">
                <a:pos x="T0" y="T1"/>
              </a:cxn>
              <a:cxn ang="T9">
                <a:pos x="T2" y="T3"/>
              </a:cxn>
              <a:cxn ang="T10">
                <a:pos x="T4" y="T5"/>
              </a:cxn>
              <a:cxn ang="T11">
                <a:pos x="T6" y="T7"/>
              </a:cxn>
            </a:cxnLst>
            <a:rect l="T12" t="T13" r="T14" b="T15"/>
            <a:pathLst>
              <a:path w="213" h="136">
                <a:moveTo>
                  <a:pt x="0" y="0"/>
                </a:moveTo>
                <a:lnTo>
                  <a:pt x="213" y="1"/>
                </a:lnTo>
                <a:lnTo>
                  <a:pt x="43" y="13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055" name="Line 25">
            <a:extLst>
              <a:ext uri="{FF2B5EF4-FFF2-40B4-BE49-F238E27FC236}">
                <a16:creationId xmlns:a16="http://schemas.microsoft.com/office/drawing/2014/main" id="{DB816EC4-22DA-48E4-B97F-C25FA577D2EB}"/>
              </a:ext>
            </a:extLst>
          </p:cNvPr>
          <p:cNvSpPr>
            <a:spLocks noChangeShapeType="1"/>
          </p:cNvSpPr>
          <p:nvPr/>
        </p:nvSpPr>
        <p:spPr bwMode="auto">
          <a:xfrm flipH="1" flipV="1">
            <a:off x="4651375" y="3284538"/>
            <a:ext cx="1189038" cy="36036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56" name="Freeform 26">
            <a:extLst>
              <a:ext uri="{FF2B5EF4-FFF2-40B4-BE49-F238E27FC236}">
                <a16:creationId xmlns:a16="http://schemas.microsoft.com/office/drawing/2014/main" id="{C4299263-1DB1-405B-9B4D-CBF35EA430FD}"/>
              </a:ext>
            </a:extLst>
          </p:cNvPr>
          <p:cNvSpPr>
            <a:spLocks/>
          </p:cNvSpPr>
          <p:nvPr/>
        </p:nvSpPr>
        <p:spPr bwMode="auto">
          <a:xfrm>
            <a:off x="4510088" y="3233739"/>
            <a:ext cx="169862" cy="109537"/>
          </a:xfrm>
          <a:custGeom>
            <a:avLst/>
            <a:gdLst>
              <a:gd name="T0" fmla="*/ 2147483646 w 212"/>
              <a:gd name="T1" fmla="*/ 2147483646 h 138"/>
              <a:gd name="T2" fmla="*/ 0 w 212"/>
              <a:gd name="T3" fmla="*/ 2147483646 h 138"/>
              <a:gd name="T4" fmla="*/ 2147483646 w 212"/>
              <a:gd name="T5" fmla="*/ 0 h 138"/>
              <a:gd name="T6" fmla="*/ 2147483646 w 212"/>
              <a:gd name="T7" fmla="*/ 2147483646 h 138"/>
              <a:gd name="T8" fmla="*/ 0 60000 65536"/>
              <a:gd name="T9" fmla="*/ 0 60000 65536"/>
              <a:gd name="T10" fmla="*/ 0 60000 65536"/>
              <a:gd name="T11" fmla="*/ 0 60000 65536"/>
              <a:gd name="T12" fmla="*/ 0 w 212"/>
              <a:gd name="T13" fmla="*/ 0 h 138"/>
              <a:gd name="T14" fmla="*/ 212 w 212"/>
              <a:gd name="T15" fmla="*/ 138 h 138"/>
            </a:gdLst>
            <a:ahLst/>
            <a:cxnLst>
              <a:cxn ang="T8">
                <a:pos x="T0" y="T1"/>
              </a:cxn>
              <a:cxn ang="T9">
                <a:pos x="T2" y="T3"/>
              </a:cxn>
              <a:cxn ang="T10">
                <a:pos x="T4" y="T5"/>
              </a:cxn>
              <a:cxn ang="T11">
                <a:pos x="T6" y="T7"/>
              </a:cxn>
            </a:cxnLst>
            <a:rect l="T12" t="T13" r="T14" b="T15"/>
            <a:pathLst>
              <a:path w="212" h="138">
                <a:moveTo>
                  <a:pt x="176" y="138"/>
                </a:moveTo>
                <a:lnTo>
                  <a:pt x="0" y="10"/>
                </a:lnTo>
                <a:lnTo>
                  <a:pt x="212" y="0"/>
                </a:lnTo>
                <a:lnTo>
                  <a:pt x="176" y="1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057" name="Freeform 27">
            <a:extLst>
              <a:ext uri="{FF2B5EF4-FFF2-40B4-BE49-F238E27FC236}">
                <a16:creationId xmlns:a16="http://schemas.microsoft.com/office/drawing/2014/main" id="{CD620FBC-288C-408F-82EC-A8F5BDF8B765}"/>
              </a:ext>
            </a:extLst>
          </p:cNvPr>
          <p:cNvSpPr>
            <a:spLocks/>
          </p:cNvSpPr>
          <p:nvPr/>
        </p:nvSpPr>
        <p:spPr bwMode="auto">
          <a:xfrm>
            <a:off x="7392988" y="1590675"/>
            <a:ext cx="2513012" cy="2674938"/>
          </a:xfrm>
          <a:custGeom>
            <a:avLst/>
            <a:gdLst>
              <a:gd name="T0" fmla="*/ 2147483646 w 3166"/>
              <a:gd name="T1" fmla="*/ 2147483646 h 3369"/>
              <a:gd name="T2" fmla="*/ 2147483646 w 3166"/>
              <a:gd name="T3" fmla="*/ 2147483646 h 3369"/>
              <a:gd name="T4" fmla="*/ 2147483646 w 3166"/>
              <a:gd name="T5" fmla="*/ 2147483646 h 3369"/>
              <a:gd name="T6" fmla="*/ 2147483646 w 3166"/>
              <a:gd name="T7" fmla="*/ 2147483646 h 3369"/>
              <a:gd name="T8" fmla="*/ 2147483646 w 3166"/>
              <a:gd name="T9" fmla="*/ 2147483646 h 3369"/>
              <a:gd name="T10" fmla="*/ 2147483646 w 3166"/>
              <a:gd name="T11" fmla="*/ 2147483646 h 3369"/>
              <a:gd name="T12" fmla="*/ 2147483646 w 3166"/>
              <a:gd name="T13" fmla="*/ 2147483646 h 3369"/>
              <a:gd name="T14" fmla="*/ 2147483646 w 3166"/>
              <a:gd name="T15" fmla="*/ 2147483646 h 3369"/>
              <a:gd name="T16" fmla="*/ 2147483646 w 3166"/>
              <a:gd name="T17" fmla="*/ 2147483646 h 3369"/>
              <a:gd name="T18" fmla="*/ 2147483646 w 3166"/>
              <a:gd name="T19" fmla="*/ 2147483646 h 3369"/>
              <a:gd name="T20" fmla="*/ 2147483646 w 3166"/>
              <a:gd name="T21" fmla="*/ 2147483646 h 3369"/>
              <a:gd name="T22" fmla="*/ 2147483646 w 3166"/>
              <a:gd name="T23" fmla="*/ 2147483646 h 3369"/>
              <a:gd name="T24" fmla="*/ 2147483646 w 3166"/>
              <a:gd name="T25" fmla="*/ 2147483646 h 3369"/>
              <a:gd name="T26" fmla="*/ 0 w 3166"/>
              <a:gd name="T27" fmla="*/ 2147483646 h 3369"/>
              <a:gd name="T28" fmla="*/ 2147483646 w 3166"/>
              <a:gd name="T29" fmla="*/ 2147483646 h 3369"/>
              <a:gd name="T30" fmla="*/ 2147483646 w 3166"/>
              <a:gd name="T31" fmla="*/ 2147483646 h 3369"/>
              <a:gd name="T32" fmla="*/ 2147483646 w 3166"/>
              <a:gd name="T33" fmla="*/ 2147483646 h 3369"/>
              <a:gd name="T34" fmla="*/ 2147483646 w 3166"/>
              <a:gd name="T35" fmla="*/ 2147483646 h 3369"/>
              <a:gd name="T36" fmla="*/ 2147483646 w 3166"/>
              <a:gd name="T37" fmla="*/ 2147483646 h 3369"/>
              <a:gd name="T38" fmla="*/ 2147483646 w 3166"/>
              <a:gd name="T39" fmla="*/ 2147483646 h 3369"/>
              <a:gd name="T40" fmla="*/ 2147483646 w 3166"/>
              <a:gd name="T41" fmla="*/ 2147483646 h 3369"/>
              <a:gd name="T42" fmla="*/ 2147483646 w 3166"/>
              <a:gd name="T43" fmla="*/ 2147483646 h 3369"/>
              <a:gd name="T44" fmla="*/ 2147483646 w 3166"/>
              <a:gd name="T45" fmla="*/ 2147483646 h 3369"/>
              <a:gd name="T46" fmla="*/ 2147483646 w 3166"/>
              <a:gd name="T47" fmla="*/ 2147483646 h 3369"/>
              <a:gd name="T48" fmla="*/ 2147483646 w 3166"/>
              <a:gd name="T49" fmla="*/ 2147483646 h 3369"/>
              <a:gd name="T50" fmla="*/ 2147483646 w 3166"/>
              <a:gd name="T51" fmla="*/ 2147483646 h 3369"/>
              <a:gd name="T52" fmla="*/ 2147483646 w 3166"/>
              <a:gd name="T53" fmla="*/ 0 h 3369"/>
              <a:gd name="T54" fmla="*/ 2147483646 w 3166"/>
              <a:gd name="T55" fmla="*/ 2147483646 h 3369"/>
              <a:gd name="T56" fmla="*/ 2147483646 w 3166"/>
              <a:gd name="T57" fmla="*/ 2147483646 h 3369"/>
              <a:gd name="T58" fmla="*/ 2147483646 w 3166"/>
              <a:gd name="T59" fmla="*/ 2147483646 h 3369"/>
              <a:gd name="T60" fmla="*/ 2147483646 w 3166"/>
              <a:gd name="T61" fmla="*/ 2147483646 h 3369"/>
              <a:gd name="T62" fmla="*/ 2147483646 w 3166"/>
              <a:gd name="T63" fmla="*/ 2147483646 h 3369"/>
              <a:gd name="T64" fmla="*/ 2147483646 w 3166"/>
              <a:gd name="T65" fmla="*/ 2147483646 h 3369"/>
              <a:gd name="T66" fmla="*/ 2147483646 w 3166"/>
              <a:gd name="T67" fmla="*/ 2147483646 h 3369"/>
              <a:gd name="T68" fmla="*/ 2147483646 w 3166"/>
              <a:gd name="T69" fmla="*/ 2147483646 h 3369"/>
              <a:gd name="T70" fmla="*/ 2147483646 w 3166"/>
              <a:gd name="T71" fmla="*/ 2147483646 h 3369"/>
              <a:gd name="T72" fmla="*/ 2147483646 w 3166"/>
              <a:gd name="T73" fmla="*/ 2147483646 h 3369"/>
              <a:gd name="T74" fmla="*/ 2147483646 w 3166"/>
              <a:gd name="T75" fmla="*/ 2147483646 h 3369"/>
              <a:gd name="T76" fmla="*/ 2147483646 w 3166"/>
              <a:gd name="T77" fmla="*/ 2147483646 h 3369"/>
              <a:gd name="T78" fmla="*/ 2147483646 w 3166"/>
              <a:gd name="T79" fmla="*/ 2147483646 h 3369"/>
              <a:gd name="T80" fmla="*/ 2147483646 w 3166"/>
              <a:gd name="T81" fmla="*/ 2147483646 h 3369"/>
              <a:gd name="T82" fmla="*/ 2147483646 w 3166"/>
              <a:gd name="T83" fmla="*/ 2147483646 h 3369"/>
              <a:gd name="T84" fmla="*/ 2147483646 w 3166"/>
              <a:gd name="T85" fmla="*/ 2147483646 h 3369"/>
              <a:gd name="T86" fmla="*/ 2147483646 w 3166"/>
              <a:gd name="T87" fmla="*/ 2147483646 h 3369"/>
              <a:gd name="T88" fmla="*/ 2147483646 w 3166"/>
              <a:gd name="T89" fmla="*/ 2147483646 h 3369"/>
              <a:gd name="T90" fmla="*/ 2147483646 w 3166"/>
              <a:gd name="T91" fmla="*/ 2147483646 h 3369"/>
              <a:gd name="T92" fmla="*/ 2147483646 w 3166"/>
              <a:gd name="T93" fmla="*/ 2147483646 h 3369"/>
              <a:gd name="T94" fmla="*/ 2147483646 w 3166"/>
              <a:gd name="T95" fmla="*/ 2147483646 h 3369"/>
              <a:gd name="T96" fmla="*/ 2147483646 w 3166"/>
              <a:gd name="T97" fmla="*/ 2147483646 h 3369"/>
              <a:gd name="T98" fmla="*/ 2147483646 w 3166"/>
              <a:gd name="T99" fmla="*/ 2147483646 h 3369"/>
              <a:gd name="T100" fmla="*/ 2147483646 w 3166"/>
              <a:gd name="T101" fmla="*/ 2147483646 h 3369"/>
              <a:gd name="T102" fmla="*/ 2147483646 w 3166"/>
              <a:gd name="T103" fmla="*/ 2147483646 h 3369"/>
              <a:gd name="T104" fmla="*/ 2147483646 w 3166"/>
              <a:gd name="T105" fmla="*/ 2147483646 h 3369"/>
              <a:gd name="T106" fmla="*/ 2147483646 w 3166"/>
              <a:gd name="T107" fmla="*/ 2147483646 h 336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166"/>
              <a:gd name="T163" fmla="*/ 0 h 3369"/>
              <a:gd name="T164" fmla="*/ 3166 w 3166"/>
              <a:gd name="T165" fmla="*/ 3369 h 3369"/>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166" h="3369">
                <a:moveTo>
                  <a:pt x="1582" y="3369"/>
                </a:moveTo>
                <a:lnTo>
                  <a:pt x="1541" y="3368"/>
                </a:lnTo>
                <a:lnTo>
                  <a:pt x="1502" y="3366"/>
                </a:lnTo>
                <a:lnTo>
                  <a:pt x="1461" y="3363"/>
                </a:lnTo>
                <a:lnTo>
                  <a:pt x="1421" y="3361"/>
                </a:lnTo>
                <a:lnTo>
                  <a:pt x="1381" y="3356"/>
                </a:lnTo>
                <a:lnTo>
                  <a:pt x="1342" y="3350"/>
                </a:lnTo>
                <a:lnTo>
                  <a:pt x="1302" y="3343"/>
                </a:lnTo>
                <a:lnTo>
                  <a:pt x="1264" y="3334"/>
                </a:lnTo>
                <a:lnTo>
                  <a:pt x="1226" y="3325"/>
                </a:lnTo>
                <a:lnTo>
                  <a:pt x="1188" y="3317"/>
                </a:lnTo>
                <a:lnTo>
                  <a:pt x="1112" y="3293"/>
                </a:lnTo>
                <a:lnTo>
                  <a:pt x="1038" y="3267"/>
                </a:lnTo>
                <a:lnTo>
                  <a:pt x="966" y="3236"/>
                </a:lnTo>
                <a:lnTo>
                  <a:pt x="896" y="3202"/>
                </a:lnTo>
                <a:lnTo>
                  <a:pt x="829" y="3166"/>
                </a:lnTo>
                <a:lnTo>
                  <a:pt x="763" y="3125"/>
                </a:lnTo>
                <a:lnTo>
                  <a:pt x="698" y="3081"/>
                </a:lnTo>
                <a:lnTo>
                  <a:pt x="635" y="3034"/>
                </a:lnTo>
                <a:lnTo>
                  <a:pt x="577" y="2984"/>
                </a:lnTo>
                <a:lnTo>
                  <a:pt x="519" y="2932"/>
                </a:lnTo>
                <a:lnTo>
                  <a:pt x="464" y="2876"/>
                </a:lnTo>
                <a:lnTo>
                  <a:pt x="411" y="2818"/>
                </a:lnTo>
                <a:lnTo>
                  <a:pt x="361" y="2756"/>
                </a:lnTo>
                <a:lnTo>
                  <a:pt x="314" y="2692"/>
                </a:lnTo>
                <a:lnTo>
                  <a:pt x="270" y="2626"/>
                </a:lnTo>
                <a:lnTo>
                  <a:pt x="229" y="2557"/>
                </a:lnTo>
                <a:lnTo>
                  <a:pt x="191" y="2487"/>
                </a:lnTo>
                <a:lnTo>
                  <a:pt x="156" y="2415"/>
                </a:lnTo>
                <a:lnTo>
                  <a:pt x="125" y="2341"/>
                </a:lnTo>
                <a:lnTo>
                  <a:pt x="96" y="2263"/>
                </a:lnTo>
                <a:lnTo>
                  <a:pt x="71" y="2186"/>
                </a:lnTo>
                <a:lnTo>
                  <a:pt x="50" y="2105"/>
                </a:lnTo>
                <a:lnTo>
                  <a:pt x="33" y="2023"/>
                </a:lnTo>
                <a:lnTo>
                  <a:pt x="18" y="1941"/>
                </a:lnTo>
                <a:lnTo>
                  <a:pt x="12" y="1899"/>
                </a:lnTo>
                <a:lnTo>
                  <a:pt x="8" y="1856"/>
                </a:lnTo>
                <a:lnTo>
                  <a:pt x="5" y="1814"/>
                </a:lnTo>
                <a:lnTo>
                  <a:pt x="2" y="1771"/>
                </a:lnTo>
                <a:lnTo>
                  <a:pt x="0" y="1728"/>
                </a:lnTo>
                <a:lnTo>
                  <a:pt x="0" y="1684"/>
                </a:lnTo>
                <a:lnTo>
                  <a:pt x="0" y="1641"/>
                </a:lnTo>
                <a:lnTo>
                  <a:pt x="2" y="1597"/>
                </a:lnTo>
                <a:lnTo>
                  <a:pt x="5" y="1555"/>
                </a:lnTo>
                <a:lnTo>
                  <a:pt x="8" y="1512"/>
                </a:lnTo>
                <a:lnTo>
                  <a:pt x="12" y="1470"/>
                </a:lnTo>
                <a:lnTo>
                  <a:pt x="18" y="1428"/>
                </a:lnTo>
                <a:lnTo>
                  <a:pt x="33" y="1344"/>
                </a:lnTo>
                <a:lnTo>
                  <a:pt x="50" y="1262"/>
                </a:lnTo>
                <a:lnTo>
                  <a:pt x="71" y="1183"/>
                </a:lnTo>
                <a:lnTo>
                  <a:pt x="96" y="1104"/>
                </a:lnTo>
                <a:lnTo>
                  <a:pt x="125" y="1028"/>
                </a:lnTo>
                <a:lnTo>
                  <a:pt x="156" y="954"/>
                </a:lnTo>
                <a:lnTo>
                  <a:pt x="191" y="880"/>
                </a:lnTo>
                <a:lnTo>
                  <a:pt x="229" y="810"/>
                </a:lnTo>
                <a:lnTo>
                  <a:pt x="270" y="741"/>
                </a:lnTo>
                <a:lnTo>
                  <a:pt x="314" y="676"/>
                </a:lnTo>
                <a:lnTo>
                  <a:pt x="361" y="613"/>
                </a:lnTo>
                <a:lnTo>
                  <a:pt x="411" y="551"/>
                </a:lnTo>
                <a:lnTo>
                  <a:pt x="464" y="493"/>
                </a:lnTo>
                <a:lnTo>
                  <a:pt x="519" y="437"/>
                </a:lnTo>
                <a:lnTo>
                  <a:pt x="577" y="384"/>
                </a:lnTo>
                <a:lnTo>
                  <a:pt x="635" y="335"/>
                </a:lnTo>
                <a:lnTo>
                  <a:pt x="698" y="286"/>
                </a:lnTo>
                <a:lnTo>
                  <a:pt x="763" y="242"/>
                </a:lnTo>
                <a:lnTo>
                  <a:pt x="829" y="203"/>
                </a:lnTo>
                <a:lnTo>
                  <a:pt x="896" y="165"/>
                </a:lnTo>
                <a:lnTo>
                  <a:pt x="966" y="131"/>
                </a:lnTo>
                <a:lnTo>
                  <a:pt x="1038" y="102"/>
                </a:lnTo>
                <a:lnTo>
                  <a:pt x="1112" y="76"/>
                </a:lnTo>
                <a:lnTo>
                  <a:pt x="1188" y="52"/>
                </a:lnTo>
                <a:lnTo>
                  <a:pt x="1226" y="42"/>
                </a:lnTo>
                <a:lnTo>
                  <a:pt x="1264" y="33"/>
                </a:lnTo>
                <a:lnTo>
                  <a:pt x="1302" y="26"/>
                </a:lnTo>
                <a:lnTo>
                  <a:pt x="1342" y="19"/>
                </a:lnTo>
                <a:lnTo>
                  <a:pt x="1381" y="13"/>
                </a:lnTo>
                <a:lnTo>
                  <a:pt x="1421" y="8"/>
                </a:lnTo>
                <a:lnTo>
                  <a:pt x="1461" y="4"/>
                </a:lnTo>
                <a:lnTo>
                  <a:pt x="1502" y="1"/>
                </a:lnTo>
                <a:lnTo>
                  <a:pt x="1541" y="0"/>
                </a:lnTo>
                <a:lnTo>
                  <a:pt x="1582" y="0"/>
                </a:lnTo>
                <a:lnTo>
                  <a:pt x="1623" y="0"/>
                </a:lnTo>
                <a:lnTo>
                  <a:pt x="1664" y="1"/>
                </a:lnTo>
                <a:lnTo>
                  <a:pt x="1704" y="4"/>
                </a:lnTo>
                <a:lnTo>
                  <a:pt x="1745" y="8"/>
                </a:lnTo>
                <a:lnTo>
                  <a:pt x="1785" y="13"/>
                </a:lnTo>
                <a:lnTo>
                  <a:pt x="1824" y="19"/>
                </a:lnTo>
                <a:lnTo>
                  <a:pt x="1862" y="26"/>
                </a:lnTo>
                <a:lnTo>
                  <a:pt x="1902" y="33"/>
                </a:lnTo>
                <a:lnTo>
                  <a:pt x="1940" y="42"/>
                </a:lnTo>
                <a:lnTo>
                  <a:pt x="1978" y="52"/>
                </a:lnTo>
                <a:lnTo>
                  <a:pt x="2053" y="76"/>
                </a:lnTo>
                <a:lnTo>
                  <a:pt x="2126" y="102"/>
                </a:lnTo>
                <a:lnTo>
                  <a:pt x="2198" y="131"/>
                </a:lnTo>
                <a:lnTo>
                  <a:pt x="2268" y="165"/>
                </a:lnTo>
                <a:lnTo>
                  <a:pt x="2337" y="203"/>
                </a:lnTo>
                <a:lnTo>
                  <a:pt x="2403" y="242"/>
                </a:lnTo>
                <a:lnTo>
                  <a:pt x="2468" y="286"/>
                </a:lnTo>
                <a:lnTo>
                  <a:pt x="2529" y="335"/>
                </a:lnTo>
                <a:lnTo>
                  <a:pt x="2589" y="384"/>
                </a:lnTo>
                <a:lnTo>
                  <a:pt x="2647" y="437"/>
                </a:lnTo>
                <a:lnTo>
                  <a:pt x="2702" y="493"/>
                </a:lnTo>
                <a:lnTo>
                  <a:pt x="2754" y="551"/>
                </a:lnTo>
                <a:lnTo>
                  <a:pt x="2803" y="613"/>
                </a:lnTo>
                <a:lnTo>
                  <a:pt x="2850" y="676"/>
                </a:lnTo>
                <a:lnTo>
                  <a:pt x="2894" y="741"/>
                </a:lnTo>
                <a:lnTo>
                  <a:pt x="2937" y="810"/>
                </a:lnTo>
                <a:lnTo>
                  <a:pt x="2974" y="880"/>
                </a:lnTo>
                <a:lnTo>
                  <a:pt x="3009" y="954"/>
                </a:lnTo>
                <a:lnTo>
                  <a:pt x="3041" y="1028"/>
                </a:lnTo>
                <a:lnTo>
                  <a:pt x="3069" y="1104"/>
                </a:lnTo>
                <a:lnTo>
                  <a:pt x="3094" y="1183"/>
                </a:lnTo>
                <a:lnTo>
                  <a:pt x="3116" y="1262"/>
                </a:lnTo>
                <a:lnTo>
                  <a:pt x="3133" y="1344"/>
                </a:lnTo>
                <a:lnTo>
                  <a:pt x="3147" y="1428"/>
                </a:lnTo>
                <a:lnTo>
                  <a:pt x="3152" y="1470"/>
                </a:lnTo>
                <a:lnTo>
                  <a:pt x="3157" y="1512"/>
                </a:lnTo>
                <a:lnTo>
                  <a:pt x="3161" y="1555"/>
                </a:lnTo>
                <a:lnTo>
                  <a:pt x="3163" y="1597"/>
                </a:lnTo>
                <a:lnTo>
                  <a:pt x="3164" y="1641"/>
                </a:lnTo>
                <a:lnTo>
                  <a:pt x="3166" y="1684"/>
                </a:lnTo>
                <a:lnTo>
                  <a:pt x="3164" y="1728"/>
                </a:lnTo>
                <a:lnTo>
                  <a:pt x="3163" y="1771"/>
                </a:lnTo>
                <a:lnTo>
                  <a:pt x="3161" y="1814"/>
                </a:lnTo>
                <a:lnTo>
                  <a:pt x="3157" y="1856"/>
                </a:lnTo>
                <a:lnTo>
                  <a:pt x="3152" y="1899"/>
                </a:lnTo>
                <a:lnTo>
                  <a:pt x="3147" y="1941"/>
                </a:lnTo>
                <a:lnTo>
                  <a:pt x="3133" y="2023"/>
                </a:lnTo>
                <a:lnTo>
                  <a:pt x="3116" y="2105"/>
                </a:lnTo>
                <a:lnTo>
                  <a:pt x="3094" y="2186"/>
                </a:lnTo>
                <a:lnTo>
                  <a:pt x="3069" y="2263"/>
                </a:lnTo>
                <a:lnTo>
                  <a:pt x="3041" y="2341"/>
                </a:lnTo>
                <a:lnTo>
                  <a:pt x="3009" y="2415"/>
                </a:lnTo>
                <a:lnTo>
                  <a:pt x="2974" y="2487"/>
                </a:lnTo>
                <a:lnTo>
                  <a:pt x="2937" y="2557"/>
                </a:lnTo>
                <a:lnTo>
                  <a:pt x="2894" y="2626"/>
                </a:lnTo>
                <a:lnTo>
                  <a:pt x="2850" y="2692"/>
                </a:lnTo>
                <a:lnTo>
                  <a:pt x="2803" y="2756"/>
                </a:lnTo>
                <a:lnTo>
                  <a:pt x="2754" y="2818"/>
                </a:lnTo>
                <a:lnTo>
                  <a:pt x="2702" y="2876"/>
                </a:lnTo>
                <a:lnTo>
                  <a:pt x="2647" y="2932"/>
                </a:lnTo>
                <a:lnTo>
                  <a:pt x="2589" y="2984"/>
                </a:lnTo>
                <a:lnTo>
                  <a:pt x="2529" y="3034"/>
                </a:lnTo>
                <a:lnTo>
                  <a:pt x="2468" y="3081"/>
                </a:lnTo>
                <a:lnTo>
                  <a:pt x="2403" y="3125"/>
                </a:lnTo>
                <a:lnTo>
                  <a:pt x="2337" y="3166"/>
                </a:lnTo>
                <a:lnTo>
                  <a:pt x="2268" y="3202"/>
                </a:lnTo>
                <a:lnTo>
                  <a:pt x="2198" y="3236"/>
                </a:lnTo>
                <a:lnTo>
                  <a:pt x="2126" y="3267"/>
                </a:lnTo>
                <a:lnTo>
                  <a:pt x="2053" y="3293"/>
                </a:lnTo>
                <a:lnTo>
                  <a:pt x="1978" y="3317"/>
                </a:lnTo>
                <a:lnTo>
                  <a:pt x="1940" y="3325"/>
                </a:lnTo>
                <a:lnTo>
                  <a:pt x="1902" y="3334"/>
                </a:lnTo>
                <a:lnTo>
                  <a:pt x="1862" y="3343"/>
                </a:lnTo>
                <a:lnTo>
                  <a:pt x="1824" y="3350"/>
                </a:lnTo>
                <a:lnTo>
                  <a:pt x="1785" y="3356"/>
                </a:lnTo>
                <a:lnTo>
                  <a:pt x="1745" y="3361"/>
                </a:lnTo>
                <a:lnTo>
                  <a:pt x="1704" y="3363"/>
                </a:lnTo>
                <a:lnTo>
                  <a:pt x="1664" y="3366"/>
                </a:lnTo>
                <a:lnTo>
                  <a:pt x="1623" y="3368"/>
                </a:lnTo>
                <a:lnTo>
                  <a:pt x="1582" y="336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058" name="Freeform 28">
            <a:extLst>
              <a:ext uri="{FF2B5EF4-FFF2-40B4-BE49-F238E27FC236}">
                <a16:creationId xmlns:a16="http://schemas.microsoft.com/office/drawing/2014/main" id="{F59A281A-197D-4656-A919-A525EF13CF26}"/>
              </a:ext>
            </a:extLst>
          </p:cNvPr>
          <p:cNvSpPr>
            <a:spLocks/>
          </p:cNvSpPr>
          <p:nvPr/>
        </p:nvSpPr>
        <p:spPr bwMode="auto">
          <a:xfrm>
            <a:off x="7392988" y="1590675"/>
            <a:ext cx="2513012" cy="2674938"/>
          </a:xfrm>
          <a:custGeom>
            <a:avLst/>
            <a:gdLst>
              <a:gd name="T0" fmla="*/ 2147483646 w 3166"/>
              <a:gd name="T1" fmla="*/ 2147483646 h 3369"/>
              <a:gd name="T2" fmla="*/ 2147483646 w 3166"/>
              <a:gd name="T3" fmla="*/ 2147483646 h 3369"/>
              <a:gd name="T4" fmla="*/ 2147483646 w 3166"/>
              <a:gd name="T5" fmla="*/ 2147483646 h 3369"/>
              <a:gd name="T6" fmla="*/ 2147483646 w 3166"/>
              <a:gd name="T7" fmla="*/ 2147483646 h 3369"/>
              <a:gd name="T8" fmla="*/ 2147483646 w 3166"/>
              <a:gd name="T9" fmla="*/ 2147483646 h 3369"/>
              <a:gd name="T10" fmla="*/ 2147483646 w 3166"/>
              <a:gd name="T11" fmla="*/ 2147483646 h 3369"/>
              <a:gd name="T12" fmla="*/ 2147483646 w 3166"/>
              <a:gd name="T13" fmla="*/ 2147483646 h 3369"/>
              <a:gd name="T14" fmla="*/ 2147483646 w 3166"/>
              <a:gd name="T15" fmla="*/ 2147483646 h 3369"/>
              <a:gd name="T16" fmla="*/ 2147483646 w 3166"/>
              <a:gd name="T17" fmla="*/ 2147483646 h 3369"/>
              <a:gd name="T18" fmla="*/ 2147483646 w 3166"/>
              <a:gd name="T19" fmla="*/ 2147483646 h 3369"/>
              <a:gd name="T20" fmla="*/ 2147483646 w 3166"/>
              <a:gd name="T21" fmla="*/ 2147483646 h 3369"/>
              <a:gd name="T22" fmla="*/ 2147483646 w 3166"/>
              <a:gd name="T23" fmla="*/ 2147483646 h 3369"/>
              <a:gd name="T24" fmla="*/ 2147483646 w 3166"/>
              <a:gd name="T25" fmla="*/ 2147483646 h 3369"/>
              <a:gd name="T26" fmla="*/ 0 w 3166"/>
              <a:gd name="T27" fmla="*/ 2147483646 h 3369"/>
              <a:gd name="T28" fmla="*/ 2147483646 w 3166"/>
              <a:gd name="T29" fmla="*/ 2147483646 h 3369"/>
              <a:gd name="T30" fmla="*/ 2147483646 w 3166"/>
              <a:gd name="T31" fmla="*/ 2147483646 h 3369"/>
              <a:gd name="T32" fmla="*/ 2147483646 w 3166"/>
              <a:gd name="T33" fmla="*/ 2147483646 h 3369"/>
              <a:gd name="T34" fmla="*/ 2147483646 w 3166"/>
              <a:gd name="T35" fmla="*/ 2147483646 h 3369"/>
              <a:gd name="T36" fmla="*/ 2147483646 w 3166"/>
              <a:gd name="T37" fmla="*/ 2147483646 h 3369"/>
              <a:gd name="T38" fmla="*/ 2147483646 w 3166"/>
              <a:gd name="T39" fmla="*/ 2147483646 h 3369"/>
              <a:gd name="T40" fmla="*/ 2147483646 w 3166"/>
              <a:gd name="T41" fmla="*/ 2147483646 h 3369"/>
              <a:gd name="T42" fmla="*/ 2147483646 w 3166"/>
              <a:gd name="T43" fmla="*/ 2147483646 h 3369"/>
              <a:gd name="T44" fmla="*/ 2147483646 w 3166"/>
              <a:gd name="T45" fmla="*/ 2147483646 h 3369"/>
              <a:gd name="T46" fmla="*/ 2147483646 w 3166"/>
              <a:gd name="T47" fmla="*/ 2147483646 h 3369"/>
              <a:gd name="T48" fmla="*/ 2147483646 w 3166"/>
              <a:gd name="T49" fmla="*/ 2147483646 h 3369"/>
              <a:gd name="T50" fmla="*/ 2147483646 w 3166"/>
              <a:gd name="T51" fmla="*/ 2147483646 h 3369"/>
              <a:gd name="T52" fmla="*/ 2147483646 w 3166"/>
              <a:gd name="T53" fmla="*/ 0 h 3369"/>
              <a:gd name="T54" fmla="*/ 2147483646 w 3166"/>
              <a:gd name="T55" fmla="*/ 2147483646 h 3369"/>
              <a:gd name="T56" fmla="*/ 2147483646 w 3166"/>
              <a:gd name="T57" fmla="*/ 2147483646 h 3369"/>
              <a:gd name="T58" fmla="*/ 2147483646 w 3166"/>
              <a:gd name="T59" fmla="*/ 2147483646 h 3369"/>
              <a:gd name="T60" fmla="*/ 2147483646 w 3166"/>
              <a:gd name="T61" fmla="*/ 2147483646 h 3369"/>
              <a:gd name="T62" fmla="*/ 2147483646 w 3166"/>
              <a:gd name="T63" fmla="*/ 2147483646 h 3369"/>
              <a:gd name="T64" fmla="*/ 2147483646 w 3166"/>
              <a:gd name="T65" fmla="*/ 2147483646 h 3369"/>
              <a:gd name="T66" fmla="*/ 2147483646 w 3166"/>
              <a:gd name="T67" fmla="*/ 2147483646 h 3369"/>
              <a:gd name="T68" fmla="*/ 2147483646 w 3166"/>
              <a:gd name="T69" fmla="*/ 2147483646 h 3369"/>
              <a:gd name="T70" fmla="*/ 2147483646 w 3166"/>
              <a:gd name="T71" fmla="*/ 2147483646 h 3369"/>
              <a:gd name="T72" fmla="*/ 2147483646 w 3166"/>
              <a:gd name="T73" fmla="*/ 2147483646 h 3369"/>
              <a:gd name="T74" fmla="*/ 2147483646 w 3166"/>
              <a:gd name="T75" fmla="*/ 2147483646 h 3369"/>
              <a:gd name="T76" fmla="*/ 2147483646 w 3166"/>
              <a:gd name="T77" fmla="*/ 2147483646 h 3369"/>
              <a:gd name="T78" fmla="*/ 2147483646 w 3166"/>
              <a:gd name="T79" fmla="*/ 2147483646 h 3369"/>
              <a:gd name="T80" fmla="*/ 2147483646 w 3166"/>
              <a:gd name="T81" fmla="*/ 2147483646 h 3369"/>
              <a:gd name="T82" fmla="*/ 2147483646 w 3166"/>
              <a:gd name="T83" fmla="*/ 2147483646 h 3369"/>
              <a:gd name="T84" fmla="*/ 2147483646 w 3166"/>
              <a:gd name="T85" fmla="*/ 2147483646 h 3369"/>
              <a:gd name="T86" fmla="*/ 2147483646 w 3166"/>
              <a:gd name="T87" fmla="*/ 2147483646 h 3369"/>
              <a:gd name="T88" fmla="*/ 2147483646 w 3166"/>
              <a:gd name="T89" fmla="*/ 2147483646 h 3369"/>
              <a:gd name="T90" fmla="*/ 2147483646 w 3166"/>
              <a:gd name="T91" fmla="*/ 2147483646 h 3369"/>
              <a:gd name="T92" fmla="*/ 2147483646 w 3166"/>
              <a:gd name="T93" fmla="*/ 2147483646 h 3369"/>
              <a:gd name="T94" fmla="*/ 2147483646 w 3166"/>
              <a:gd name="T95" fmla="*/ 2147483646 h 3369"/>
              <a:gd name="T96" fmla="*/ 2147483646 w 3166"/>
              <a:gd name="T97" fmla="*/ 2147483646 h 3369"/>
              <a:gd name="T98" fmla="*/ 2147483646 w 3166"/>
              <a:gd name="T99" fmla="*/ 2147483646 h 3369"/>
              <a:gd name="T100" fmla="*/ 2147483646 w 3166"/>
              <a:gd name="T101" fmla="*/ 2147483646 h 3369"/>
              <a:gd name="T102" fmla="*/ 2147483646 w 3166"/>
              <a:gd name="T103" fmla="*/ 2147483646 h 3369"/>
              <a:gd name="T104" fmla="*/ 2147483646 w 3166"/>
              <a:gd name="T105" fmla="*/ 2147483646 h 3369"/>
              <a:gd name="T106" fmla="*/ 2147483646 w 3166"/>
              <a:gd name="T107" fmla="*/ 2147483646 h 336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166"/>
              <a:gd name="T163" fmla="*/ 0 h 3369"/>
              <a:gd name="T164" fmla="*/ 3166 w 3166"/>
              <a:gd name="T165" fmla="*/ 3369 h 3369"/>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166" h="3369">
                <a:moveTo>
                  <a:pt x="1582" y="3369"/>
                </a:moveTo>
                <a:lnTo>
                  <a:pt x="1541" y="3368"/>
                </a:lnTo>
                <a:lnTo>
                  <a:pt x="1502" y="3366"/>
                </a:lnTo>
                <a:lnTo>
                  <a:pt x="1461" y="3363"/>
                </a:lnTo>
                <a:lnTo>
                  <a:pt x="1421" y="3361"/>
                </a:lnTo>
                <a:lnTo>
                  <a:pt x="1381" y="3356"/>
                </a:lnTo>
                <a:lnTo>
                  <a:pt x="1342" y="3350"/>
                </a:lnTo>
                <a:lnTo>
                  <a:pt x="1302" y="3343"/>
                </a:lnTo>
                <a:lnTo>
                  <a:pt x="1264" y="3334"/>
                </a:lnTo>
                <a:lnTo>
                  <a:pt x="1226" y="3325"/>
                </a:lnTo>
                <a:lnTo>
                  <a:pt x="1188" y="3317"/>
                </a:lnTo>
                <a:lnTo>
                  <a:pt x="1112" y="3293"/>
                </a:lnTo>
                <a:lnTo>
                  <a:pt x="1038" y="3267"/>
                </a:lnTo>
                <a:lnTo>
                  <a:pt x="966" y="3236"/>
                </a:lnTo>
                <a:lnTo>
                  <a:pt x="896" y="3202"/>
                </a:lnTo>
                <a:lnTo>
                  <a:pt x="829" y="3166"/>
                </a:lnTo>
                <a:lnTo>
                  <a:pt x="763" y="3125"/>
                </a:lnTo>
                <a:lnTo>
                  <a:pt x="698" y="3081"/>
                </a:lnTo>
                <a:lnTo>
                  <a:pt x="635" y="3034"/>
                </a:lnTo>
                <a:lnTo>
                  <a:pt x="577" y="2984"/>
                </a:lnTo>
                <a:lnTo>
                  <a:pt x="519" y="2932"/>
                </a:lnTo>
                <a:lnTo>
                  <a:pt x="464" y="2876"/>
                </a:lnTo>
                <a:lnTo>
                  <a:pt x="411" y="2818"/>
                </a:lnTo>
                <a:lnTo>
                  <a:pt x="361" y="2756"/>
                </a:lnTo>
                <a:lnTo>
                  <a:pt x="314" y="2692"/>
                </a:lnTo>
                <a:lnTo>
                  <a:pt x="270" y="2626"/>
                </a:lnTo>
                <a:lnTo>
                  <a:pt x="229" y="2557"/>
                </a:lnTo>
                <a:lnTo>
                  <a:pt x="191" y="2487"/>
                </a:lnTo>
                <a:lnTo>
                  <a:pt x="156" y="2415"/>
                </a:lnTo>
                <a:lnTo>
                  <a:pt x="125" y="2341"/>
                </a:lnTo>
                <a:lnTo>
                  <a:pt x="96" y="2263"/>
                </a:lnTo>
                <a:lnTo>
                  <a:pt x="71" y="2186"/>
                </a:lnTo>
                <a:lnTo>
                  <a:pt x="50" y="2105"/>
                </a:lnTo>
                <a:lnTo>
                  <a:pt x="33" y="2023"/>
                </a:lnTo>
                <a:lnTo>
                  <a:pt x="18" y="1941"/>
                </a:lnTo>
                <a:lnTo>
                  <a:pt x="12" y="1899"/>
                </a:lnTo>
                <a:lnTo>
                  <a:pt x="8" y="1856"/>
                </a:lnTo>
                <a:lnTo>
                  <a:pt x="5" y="1814"/>
                </a:lnTo>
                <a:lnTo>
                  <a:pt x="2" y="1771"/>
                </a:lnTo>
                <a:lnTo>
                  <a:pt x="0" y="1728"/>
                </a:lnTo>
                <a:lnTo>
                  <a:pt x="0" y="1684"/>
                </a:lnTo>
                <a:lnTo>
                  <a:pt x="0" y="1641"/>
                </a:lnTo>
                <a:lnTo>
                  <a:pt x="2" y="1597"/>
                </a:lnTo>
                <a:lnTo>
                  <a:pt x="5" y="1555"/>
                </a:lnTo>
                <a:lnTo>
                  <a:pt x="8" y="1512"/>
                </a:lnTo>
                <a:lnTo>
                  <a:pt x="12" y="1470"/>
                </a:lnTo>
                <a:lnTo>
                  <a:pt x="18" y="1428"/>
                </a:lnTo>
                <a:lnTo>
                  <a:pt x="33" y="1344"/>
                </a:lnTo>
                <a:lnTo>
                  <a:pt x="50" y="1262"/>
                </a:lnTo>
                <a:lnTo>
                  <a:pt x="71" y="1183"/>
                </a:lnTo>
                <a:lnTo>
                  <a:pt x="96" y="1104"/>
                </a:lnTo>
                <a:lnTo>
                  <a:pt x="125" y="1028"/>
                </a:lnTo>
                <a:lnTo>
                  <a:pt x="156" y="954"/>
                </a:lnTo>
                <a:lnTo>
                  <a:pt x="191" y="880"/>
                </a:lnTo>
                <a:lnTo>
                  <a:pt x="229" y="810"/>
                </a:lnTo>
                <a:lnTo>
                  <a:pt x="270" y="741"/>
                </a:lnTo>
                <a:lnTo>
                  <a:pt x="314" y="676"/>
                </a:lnTo>
                <a:lnTo>
                  <a:pt x="361" y="613"/>
                </a:lnTo>
                <a:lnTo>
                  <a:pt x="411" y="551"/>
                </a:lnTo>
                <a:lnTo>
                  <a:pt x="464" y="493"/>
                </a:lnTo>
                <a:lnTo>
                  <a:pt x="519" y="437"/>
                </a:lnTo>
                <a:lnTo>
                  <a:pt x="577" y="384"/>
                </a:lnTo>
                <a:lnTo>
                  <a:pt x="635" y="335"/>
                </a:lnTo>
                <a:lnTo>
                  <a:pt x="698" y="286"/>
                </a:lnTo>
                <a:lnTo>
                  <a:pt x="763" y="242"/>
                </a:lnTo>
                <a:lnTo>
                  <a:pt x="829" y="203"/>
                </a:lnTo>
                <a:lnTo>
                  <a:pt x="896" y="165"/>
                </a:lnTo>
                <a:lnTo>
                  <a:pt x="966" y="131"/>
                </a:lnTo>
                <a:lnTo>
                  <a:pt x="1038" y="102"/>
                </a:lnTo>
                <a:lnTo>
                  <a:pt x="1112" y="76"/>
                </a:lnTo>
                <a:lnTo>
                  <a:pt x="1188" y="52"/>
                </a:lnTo>
                <a:lnTo>
                  <a:pt x="1226" y="42"/>
                </a:lnTo>
                <a:lnTo>
                  <a:pt x="1264" y="33"/>
                </a:lnTo>
                <a:lnTo>
                  <a:pt x="1302" y="26"/>
                </a:lnTo>
                <a:lnTo>
                  <a:pt x="1342" y="19"/>
                </a:lnTo>
                <a:lnTo>
                  <a:pt x="1381" y="13"/>
                </a:lnTo>
                <a:lnTo>
                  <a:pt x="1421" y="8"/>
                </a:lnTo>
                <a:lnTo>
                  <a:pt x="1461" y="4"/>
                </a:lnTo>
                <a:lnTo>
                  <a:pt x="1502" y="1"/>
                </a:lnTo>
                <a:lnTo>
                  <a:pt x="1541" y="0"/>
                </a:lnTo>
                <a:lnTo>
                  <a:pt x="1582" y="0"/>
                </a:lnTo>
                <a:lnTo>
                  <a:pt x="1623" y="0"/>
                </a:lnTo>
                <a:lnTo>
                  <a:pt x="1664" y="1"/>
                </a:lnTo>
                <a:lnTo>
                  <a:pt x="1704" y="4"/>
                </a:lnTo>
                <a:lnTo>
                  <a:pt x="1745" y="8"/>
                </a:lnTo>
                <a:lnTo>
                  <a:pt x="1785" y="13"/>
                </a:lnTo>
                <a:lnTo>
                  <a:pt x="1824" y="19"/>
                </a:lnTo>
                <a:lnTo>
                  <a:pt x="1862" y="26"/>
                </a:lnTo>
                <a:lnTo>
                  <a:pt x="1902" y="33"/>
                </a:lnTo>
                <a:lnTo>
                  <a:pt x="1940" y="42"/>
                </a:lnTo>
                <a:lnTo>
                  <a:pt x="1978" y="52"/>
                </a:lnTo>
                <a:lnTo>
                  <a:pt x="2053" y="76"/>
                </a:lnTo>
                <a:lnTo>
                  <a:pt x="2126" y="102"/>
                </a:lnTo>
                <a:lnTo>
                  <a:pt x="2198" y="131"/>
                </a:lnTo>
                <a:lnTo>
                  <a:pt x="2268" y="165"/>
                </a:lnTo>
                <a:lnTo>
                  <a:pt x="2337" y="203"/>
                </a:lnTo>
                <a:lnTo>
                  <a:pt x="2403" y="242"/>
                </a:lnTo>
                <a:lnTo>
                  <a:pt x="2468" y="286"/>
                </a:lnTo>
                <a:lnTo>
                  <a:pt x="2529" y="335"/>
                </a:lnTo>
                <a:lnTo>
                  <a:pt x="2589" y="384"/>
                </a:lnTo>
                <a:lnTo>
                  <a:pt x="2647" y="437"/>
                </a:lnTo>
                <a:lnTo>
                  <a:pt x="2702" y="493"/>
                </a:lnTo>
                <a:lnTo>
                  <a:pt x="2754" y="551"/>
                </a:lnTo>
                <a:lnTo>
                  <a:pt x="2803" y="613"/>
                </a:lnTo>
                <a:lnTo>
                  <a:pt x="2850" y="676"/>
                </a:lnTo>
                <a:lnTo>
                  <a:pt x="2894" y="741"/>
                </a:lnTo>
                <a:lnTo>
                  <a:pt x="2937" y="810"/>
                </a:lnTo>
                <a:lnTo>
                  <a:pt x="2974" y="880"/>
                </a:lnTo>
                <a:lnTo>
                  <a:pt x="3009" y="954"/>
                </a:lnTo>
                <a:lnTo>
                  <a:pt x="3041" y="1028"/>
                </a:lnTo>
                <a:lnTo>
                  <a:pt x="3069" y="1104"/>
                </a:lnTo>
                <a:lnTo>
                  <a:pt x="3094" y="1183"/>
                </a:lnTo>
                <a:lnTo>
                  <a:pt x="3116" y="1262"/>
                </a:lnTo>
                <a:lnTo>
                  <a:pt x="3133" y="1344"/>
                </a:lnTo>
                <a:lnTo>
                  <a:pt x="3147" y="1428"/>
                </a:lnTo>
                <a:lnTo>
                  <a:pt x="3152" y="1470"/>
                </a:lnTo>
                <a:lnTo>
                  <a:pt x="3157" y="1512"/>
                </a:lnTo>
                <a:lnTo>
                  <a:pt x="3161" y="1555"/>
                </a:lnTo>
                <a:lnTo>
                  <a:pt x="3163" y="1597"/>
                </a:lnTo>
                <a:lnTo>
                  <a:pt x="3164" y="1641"/>
                </a:lnTo>
                <a:lnTo>
                  <a:pt x="3166" y="1684"/>
                </a:lnTo>
                <a:lnTo>
                  <a:pt x="3164" y="1728"/>
                </a:lnTo>
                <a:lnTo>
                  <a:pt x="3163" y="1771"/>
                </a:lnTo>
                <a:lnTo>
                  <a:pt x="3161" y="1814"/>
                </a:lnTo>
                <a:lnTo>
                  <a:pt x="3157" y="1856"/>
                </a:lnTo>
                <a:lnTo>
                  <a:pt x="3152" y="1899"/>
                </a:lnTo>
                <a:lnTo>
                  <a:pt x="3147" y="1941"/>
                </a:lnTo>
                <a:lnTo>
                  <a:pt x="3133" y="2023"/>
                </a:lnTo>
                <a:lnTo>
                  <a:pt x="3116" y="2105"/>
                </a:lnTo>
                <a:lnTo>
                  <a:pt x="3094" y="2186"/>
                </a:lnTo>
                <a:lnTo>
                  <a:pt x="3069" y="2263"/>
                </a:lnTo>
                <a:lnTo>
                  <a:pt x="3041" y="2341"/>
                </a:lnTo>
                <a:lnTo>
                  <a:pt x="3009" y="2415"/>
                </a:lnTo>
                <a:lnTo>
                  <a:pt x="2974" y="2487"/>
                </a:lnTo>
                <a:lnTo>
                  <a:pt x="2937" y="2557"/>
                </a:lnTo>
                <a:lnTo>
                  <a:pt x="2894" y="2626"/>
                </a:lnTo>
                <a:lnTo>
                  <a:pt x="2850" y="2692"/>
                </a:lnTo>
                <a:lnTo>
                  <a:pt x="2803" y="2756"/>
                </a:lnTo>
                <a:lnTo>
                  <a:pt x="2754" y="2818"/>
                </a:lnTo>
                <a:lnTo>
                  <a:pt x="2702" y="2876"/>
                </a:lnTo>
                <a:lnTo>
                  <a:pt x="2647" y="2932"/>
                </a:lnTo>
                <a:lnTo>
                  <a:pt x="2589" y="2984"/>
                </a:lnTo>
                <a:lnTo>
                  <a:pt x="2529" y="3034"/>
                </a:lnTo>
                <a:lnTo>
                  <a:pt x="2468" y="3081"/>
                </a:lnTo>
                <a:lnTo>
                  <a:pt x="2403" y="3125"/>
                </a:lnTo>
                <a:lnTo>
                  <a:pt x="2337" y="3166"/>
                </a:lnTo>
                <a:lnTo>
                  <a:pt x="2268" y="3202"/>
                </a:lnTo>
                <a:lnTo>
                  <a:pt x="2198" y="3236"/>
                </a:lnTo>
                <a:lnTo>
                  <a:pt x="2126" y="3267"/>
                </a:lnTo>
                <a:lnTo>
                  <a:pt x="2053" y="3293"/>
                </a:lnTo>
                <a:lnTo>
                  <a:pt x="1978" y="3317"/>
                </a:lnTo>
                <a:lnTo>
                  <a:pt x="1940" y="3325"/>
                </a:lnTo>
                <a:lnTo>
                  <a:pt x="1902" y="3334"/>
                </a:lnTo>
                <a:lnTo>
                  <a:pt x="1862" y="3343"/>
                </a:lnTo>
                <a:lnTo>
                  <a:pt x="1824" y="3350"/>
                </a:lnTo>
                <a:lnTo>
                  <a:pt x="1785" y="3356"/>
                </a:lnTo>
                <a:lnTo>
                  <a:pt x="1745" y="3361"/>
                </a:lnTo>
                <a:lnTo>
                  <a:pt x="1704" y="3363"/>
                </a:lnTo>
                <a:lnTo>
                  <a:pt x="1664" y="3366"/>
                </a:lnTo>
                <a:lnTo>
                  <a:pt x="1623" y="3368"/>
                </a:lnTo>
                <a:lnTo>
                  <a:pt x="1582" y="3369"/>
                </a:lnTo>
              </a:path>
            </a:pathLst>
          </a:custGeom>
          <a:solidFill>
            <a:srgbClr val="FFFF99"/>
          </a:solidFill>
          <a:ln w="4763">
            <a:solidFill>
              <a:srgbClr val="000000"/>
            </a:solidFill>
            <a:round/>
            <a:headEnd/>
            <a:tailEnd/>
          </a:ln>
        </p:spPr>
        <p:txBody>
          <a:bodyPr/>
          <a:lstStyle/>
          <a:p>
            <a:endParaRPr lang="en-US"/>
          </a:p>
        </p:txBody>
      </p:sp>
      <p:sp>
        <p:nvSpPr>
          <p:cNvPr id="44059" name="Freeform 29">
            <a:extLst>
              <a:ext uri="{FF2B5EF4-FFF2-40B4-BE49-F238E27FC236}">
                <a16:creationId xmlns:a16="http://schemas.microsoft.com/office/drawing/2014/main" id="{4F71F0E0-F8F6-4FC4-A84C-66F434D39164}"/>
              </a:ext>
            </a:extLst>
          </p:cNvPr>
          <p:cNvSpPr>
            <a:spLocks/>
          </p:cNvSpPr>
          <p:nvPr/>
        </p:nvSpPr>
        <p:spPr bwMode="auto">
          <a:xfrm>
            <a:off x="7799389" y="2690814"/>
            <a:ext cx="1182687" cy="1258887"/>
          </a:xfrm>
          <a:custGeom>
            <a:avLst/>
            <a:gdLst>
              <a:gd name="T0" fmla="*/ 2147483646 w 1490"/>
              <a:gd name="T1" fmla="*/ 2147483646 h 1586"/>
              <a:gd name="T2" fmla="*/ 2147483646 w 1490"/>
              <a:gd name="T3" fmla="*/ 2147483646 h 1586"/>
              <a:gd name="T4" fmla="*/ 2147483646 w 1490"/>
              <a:gd name="T5" fmla="*/ 2147483646 h 1586"/>
              <a:gd name="T6" fmla="*/ 2147483646 w 1490"/>
              <a:gd name="T7" fmla="*/ 2147483646 h 1586"/>
              <a:gd name="T8" fmla="*/ 2147483646 w 1490"/>
              <a:gd name="T9" fmla="*/ 2147483646 h 1586"/>
              <a:gd name="T10" fmla="*/ 2147483646 w 1490"/>
              <a:gd name="T11" fmla="*/ 2147483646 h 1586"/>
              <a:gd name="T12" fmla="*/ 2147483646 w 1490"/>
              <a:gd name="T13" fmla="*/ 2147483646 h 1586"/>
              <a:gd name="T14" fmla="*/ 2147483646 w 1490"/>
              <a:gd name="T15" fmla="*/ 2147483646 h 1586"/>
              <a:gd name="T16" fmla="*/ 2147483646 w 1490"/>
              <a:gd name="T17" fmla="*/ 2147483646 h 1586"/>
              <a:gd name="T18" fmla="*/ 2147483646 w 1490"/>
              <a:gd name="T19" fmla="*/ 2147483646 h 1586"/>
              <a:gd name="T20" fmla="*/ 2147483646 w 1490"/>
              <a:gd name="T21" fmla="*/ 2147483646 h 1586"/>
              <a:gd name="T22" fmla="*/ 2147483646 w 1490"/>
              <a:gd name="T23" fmla="*/ 2147483646 h 1586"/>
              <a:gd name="T24" fmla="*/ 2147483646 w 1490"/>
              <a:gd name="T25" fmla="*/ 2147483646 h 1586"/>
              <a:gd name="T26" fmla="*/ 0 w 1490"/>
              <a:gd name="T27" fmla="*/ 2147483646 h 1586"/>
              <a:gd name="T28" fmla="*/ 2147483646 w 1490"/>
              <a:gd name="T29" fmla="*/ 2147483646 h 1586"/>
              <a:gd name="T30" fmla="*/ 2147483646 w 1490"/>
              <a:gd name="T31" fmla="*/ 2147483646 h 1586"/>
              <a:gd name="T32" fmla="*/ 2147483646 w 1490"/>
              <a:gd name="T33" fmla="*/ 2147483646 h 1586"/>
              <a:gd name="T34" fmla="*/ 2147483646 w 1490"/>
              <a:gd name="T35" fmla="*/ 2147483646 h 1586"/>
              <a:gd name="T36" fmla="*/ 2147483646 w 1490"/>
              <a:gd name="T37" fmla="*/ 2147483646 h 1586"/>
              <a:gd name="T38" fmla="*/ 2147483646 w 1490"/>
              <a:gd name="T39" fmla="*/ 2147483646 h 1586"/>
              <a:gd name="T40" fmla="*/ 2147483646 w 1490"/>
              <a:gd name="T41" fmla="*/ 2147483646 h 1586"/>
              <a:gd name="T42" fmla="*/ 2147483646 w 1490"/>
              <a:gd name="T43" fmla="*/ 2147483646 h 1586"/>
              <a:gd name="T44" fmla="*/ 2147483646 w 1490"/>
              <a:gd name="T45" fmla="*/ 2147483646 h 1586"/>
              <a:gd name="T46" fmla="*/ 2147483646 w 1490"/>
              <a:gd name="T47" fmla="*/ 2147483646 h 1586"/>
              <a:gd name="T48" fmla="*/ 2147483646 w 1490"/>
              <a:gd name="T49" fmla="*/ 2147483646 h 1586"/>
              <a:gd name="T50" fmla="*/ 2147483646 w 1490"/>
              <a:gd name="T51" fmla="*/ 2147483646 h 1586"/>
              <a:gd name="T52" fmla="*/ 2147483646 w 1490"/>
              <a:gd name="T53" fmla="*/ 2147483646 h 1586"/>
              <a:gd name="T54" fmla="*/ 2147483646 w 1490"/>
              <a:gd name="T55" fmla="*/ 0 h 1586"/>
              <a:gd name="T56" fmla="*/ 2147483646 w 1490"/>
              <a:gd name="T57" fmla="*/ 2147483646 h 1586"/>
              <a:gd name="T58" fmla="*/ 2147483646 w 1490"/>
              <a:gd name="T59" fmla="*/ 2147483646 h 1586"/>
              <a:gd name="T60" fmla="*/ 2147483646 w 1490"/>
              <a:gd name="T61" fmla="*/ 2147483646 h 1586"/>
              <a:gd name="T62" fmla="*/ 2147483646 w 1490"/>
              <a:gd name="T63" fmla="*/ 2147483646 h 1586"/>
              <a:gd name="T64" fmla="*/ 2147483646 w 1490"/>
              <a:gd name="T65" fmla="*/ 2147483646 h 1586"/>
              <a:gd name="T66" fmla="*/ 2147483646 w 1490"/>
              <a:gd name="T67" fmla="*/ 2147483646 h 1586"/>
              <a:gd name="T68" fmla="*/ 2147483646 w 1490"/>
              <a:gd name="T69" fmla="*/ 2147483646 h 1586"/>
              <a:gd name="T70" fmla="*/ 2147483646 w 1490"/>
              <a:gd name="T71" fmla="*/ 2147483646 h 1586"/>
              <a:gd name="T72" fmla="*/ 2147483646 w 1490"/>
              <a:gd name="T73" fmla="*/ 2147483646 h 1586"/>
              <a:gd name="T74" fmla="*/ 2147483646 w 1490"/>
              <a:gd name="T75" fmla="*/ 2147483646 h 1586"/>
              <a:gd name="T76" fmla="*/ 2147483646 w 1490"/>
              <a:gd name="T77" fmla="*/ 2147483646 h 1586"/>
              <a:gd name="T78" fmla="*/ 2147483646 w 1490"/>
              <a:gd name="T79" fmla="*/ 2147483646 h 1586"/>
              <a:gd name="T80" fmla="*/ 2147483646 w 1490"/>
              <a:gd name="T81" fmla="*/ 2147483646 h 1586"/>
              <a:gd name="T82" fmla="*/ 2147483646 w 1490"/>
              <a:gd name="T83" fmla="*/ 2147483646 h 1586"/>
              <a:gd name="T84" fmla="*/ 2147483646 w 1490"/>
              <a:gd name="T85" fmla="*/ 2147483646 h 1586"/>
              <a:gd name="T86" fmla="*/ 2147483646 w 1490"/>
              <a:gd name="T87" fmla="*/ 2147483646 h 1586"/>
              <a:gd name="T88" fmla="*/ 2147483646 w 1490"/>
              <a:gd name="T89" fmla="*/ 2147483646 h 1586"/>
              <a:gd name="T90" fmla="*/ 2147483646 w 1490"/>
              <a:gd name="T91" fmla="*/ 2147483646 h 1586"/>
              <a:gd name="T92" fmla="*/ 2147483646 w 1490"/>
              <a:gd name="T93" fmla="*/ 2147483646 h 1586"/>
              <a:gd name="T94" fmla="*/ 2147483646 w 1490"/>
              <a:gd name="T95" fmla="*/ 2147483646 h 1586"/>
              <a:gd name="T96" fmla="*/ 2147483646 w 1490"/>
              <a:gd name="T97" fmla="*/ 2147483646 h 1586"/>
              <a:gd name="T98" fmla="*/ 2147483646 w 1490"/>
              <a:gd name="T99" fmla="*/ 2147483646 h 1586"/>
              <a:gd name="T100" fmla="*/ 2147483646 w 1490"/>
              <a:gd name="T101" fmla="*/ 2147483646 h 1586"/>
              <a:gd name="T102" fmla="*/ 2147483646 w 1490"/>
              <a:gd name="T103" fmla="*/ 2147483646 h 1586"/>
              <a:gd name="T104" fmla="*/ 2147483646 w 1490"/>
              <a:gd name="T105" fmla="*/ 2147483646 h 1586"/>
              <a:gd name="T106" fmla="*/ 2147483646 w 1490"/>
              <a:gd name="T107" fmla="*/ 2147483646 h 1586"/>
              <a:gd name="T108" fmla="*/ 2147483646 w 1490"/>
              <a:gd name="T109" fmla="*/ 2147483646 h 1586"/>
              <a:gd name="T110" fmla="*/ 2147483646 w 1490"/>
              <a:gd name="T111" fmla="*/ 2147483646 h 158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90"/>
              <a:gd name="T169" fmla="*/ 0 h 1586"/>
              <a:gd name="T170" fmla="*/ 1490 w 1490"/>
              <a:gd name="T171" fmla="*/ 1586 h 158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90" h="1586">
                <a:moveTo>
                  <a:pt x="745" y="1586"/>
                </a:moveTo>
                <a:lnTo>
                  <a:pt x="726" y="1586"/>
                </a:lnTo>
                <a:lnTo>
                  <a:pt x="707" y="1584"/>
                </a:lnTo>
                <a:lnTo>
                  <a:pt x="688" y="1583"/>
                </a:lnTo>
                <a:lnTo>
                  <a:pt x="669" y="1581"/>
                </a:lnTo>
                <a:lnTo>
                  <a:pt x="649" y="1578"/>
                </a:lnTo>
                <a:lnTo>
                  <a:pt x="632" y="1577"/>
                </a:lnTo>
                <a:lnTo>
                  <a:pt x="613" y="1573"/>
                </a:lnTo>
                <a:lnTo>
                  <a:pt x="595" y="1570"/>
                </a:lnTo>
                <a:lnTo>
                  <a:pt x="576" y="1565"/>
                </a:lnTo>
                <a:lnTo>
                  <a:pt x="559" y="1561"/>
                </a:lnTo>
                <a:lnTo>
                  <a:pt x="541" y="1555"/>
                </a:lnTo>
                <a:lnTo>
                  <a:pt x="523" y="1549"/>
                </a:lnTo>
                <a:lnTo>
                  <a:pt x="506" y="1543"/>
                </a:lnTo>
                <a:lnTo>
                  <a:pt x="488" y="1537"/>
                </a:lnTo>
                <a:lnTo>
                  <a:pt x="472" y="1530"/>
                </a:lnTo>
                <a:lnTo>
                  <a:pt x="454" y="1523"/>
                </a:lnTo>
                <a:lnTo>
                  <a:pt x="438" y="1516"/>
                </a:lnTo>
                <a:lnTo>
                  <a:pt x="422" y="1507"/>
                </a:lnTo>
                <a:lnTo>
                  <a:pt x="406" y="1498"/>
                </a:lnTo>
                <a:lnTo>
                  <a:pt x="390" y="1489"/>
                </a:lnTo>
                <a:lnTo>
                  <a:pt x="374" y="1480"/>
                </a:lnTo>
                <a:lnTo>
                  <a:pt x="359" y="1470"/>
                </a:lnTo>
                <a:lnTo>
                  <a:pt x="343" y="1460"/>
                </a:lnTo>
                <a:lnTo>
                  <a:pt x="328" y="1450"/>
                </a:lnTo>
                <a:lnTo>
                  <a:pt x="314" y="1439"/>
                </a:lnTo>
                <a:lnTo>
                  <a:pt x="299" y="1428"/>
                </a:lnTo>
                <a:lnTo>
                  <a:pt x="271" y="1404"/>
                </a:lnTo>
                <a:lnTo>
                  <a:pt x="243" y="1379"/>
                </a:lnTo>
                <a:lnTo>
                  <a:pt x="218" y="1353"/>
                </a:lnTo>
                <a:lnTo>
                  <a:pt x="194" y="1325"/>
                </a:lnTo>
                <a:lnTo>
                  <a:pt x="170" y="1296"/>
                </a:lnTo>
                <a:lnTo>
                  <a:pt x="148" y="1267"/>
                </a:lnTo>
                <a:lnTo>
                  <a:pt x="128" y="1236"/>
                </a:lnTo>
                <a:lnTo>
                  <a:pt x="108" y="1204"/>
                </a:lnTo>
                <a:lnTo>
                  <a:pt x="98" y="1188"/>
                </a:lnTo>
                <a:lnTo>
                  <a:pt x="89" y="1170"/>
                </a:lnTo>
                <a:lnTo>
                  <a:pt x="82" y="1153"/>
                </a:lnTo>
                <a:lnTo>
                  <a:pt x="73" y="1137"/>
                </a:lnTo>
                <a:lnTo>
                  <a:pt x="66" y="1119"/>
                </a:lnTo>
                <a:lnTo>
                  <a:pt x="59" y="1101"/>
                </a:lnTo>
                <a:lnTo>
                  <a:pt x="51" y="1082"/>
                </a:lnTo>
                <a:lnTo>
                  <a:pt x="45" y="1065"/>
                </a:lnTo>
                <a:lnTo>
                  <a:pt x="40" y="1047"/>
                </a:lnTo>
                <a:lnTo>
                  <a:pt x="34" y="1028"/>
                </a:lnTo>
                <a:lnTo>
                  <a:pt x="28" y="1009"/>
                </a:lnTo>
                <a:lnTo>
                  <a:pt x="23" y="990"/>
                </a:lnTo>
                <a:lnTo>
                  <a:pt x="19" y="971"/>
                </a:lnTo>
                <a:lnTo>
                  <a:pt x="15" y="952"/>
                </a:lnTo>
                <a:lnTo>
                  <a:pt x="12" y="933"/>
                </a:lnTo>
                <a:lnTo>
                  <a:pt x="9" y="913"/>
                </a:lnTo>
                <a:lnTo>
                  <a:pt x="6" y="894"/>
                </a:lnTo>
                <a:lnTo>
                  <a:pt x="4" y="873"/>
                </a:lnTo>
                <a:lnTo>
                  <a:pt x="1" y="853"/>
                </a:lnTo>
                <a:lnTo>
                  <a:pt x="1" y="834"/>
                </a:lnTo>
                <a:lnTo>
                  <a:pt x="0" y="813"/>
                </a:lnTo>
                <a:lnTo>
                  <a:pt x="0" y="793"/>
                </a:lnTo>
                <a:lnTo>
                  <a:pt x="0" y="772"/>
                </a:lnTo>
                <a:lnTo>
                  <a:pt x="1" y="752"/>
                </a:lnTo>
                <a:lnTo>
                  <a:pt x="3" y="731"/>
                </a:lnTo>
                <a:lnTo>
                  <a:pt x="4" y="711"/>
                </a:lnTo>
                <a:lnTo>
                  <a:pt x="6" y="692"/>
                </a:lnTo>
                <a:lnTo>
                  <a:pt x="9" y="671"/>
                </a:lnTo>
                <a:lnTo>
                  <a:pt x="12" y="652"/>
                </a:lnTo>
                <a:lnTo>
                  <a:pt x="15" y="633"/>
                </a:lnTo>
                <a:lnTo>
                  <a:pt x="19" y="613"/>
                </a:lnTo>
                <a:lnTo>
                  <a:pt x="23" y="594"/>
                </a:lnTo>
                <a:lnTo>
                  <a:pt x="28" y="575"/>
                </a:lnTo>
                <a:lnTo>
                  <a:pt x="34" y="557"/>
                </a:lnTo>
                <a:lnTo>
                  <a:pt x="40" y="538"/>
                </a:lnTo>
                <a:lnTo>
                  <a:pt x="45" y="519"/>
                </a:lnTo>
                <a:lnTo>
                  <a:pt x="51" y="502"/>
                </a:lnTo>
                <a:lnTo>
                  <a:pt x="59" y="484"/>
                </a:lnTo>
                <a:lnTo>
                  <a:pt x="66" y="466"/>
                </a:lnTo>
                <a:lnTo>
                  <a:pt x="73" y="449"/>
                </a:lnTo>
                <a:lnTo>
                  <a:pt x="82" y="431"/>
                </a:lnTo>
                <a:lnTo>
                  <a:pt x="89" y="415"/>
                </a:lnTo>
                <a:lnTo>
                  <a:pt x="98" y="398"/>
                </a:lnTo>
                <a:lnTo>
                  <a:pt x="108" y="382"/>
                </a:lnTo>
                <a:lnTo>
                  <a:pt x="128" y="349"/>
                </a:lnTo>
                <a:lnTo>
                  <a:pt x="148" y="319"/>
                </a:lnTo>
                <a:lnTo>
                  <a:pt x="170" y="288"/>
                </a:lnTo>
                <a:lnTo>
                  <a:pt x="194" y="259"/>
                </a:lnTo>
                <a:lnTo>
                  <a:pt x="218" y="232"/>
                </a:lnTo>
                <a:lnTo>
                  <a:pt x="243" y="206"/>
                </a:lnTo>
                <a:lnTo>
                  <a:pt x="271" y="181"/>
                </a:lnTo>
                <a:lnTo>
                  <a:pt x="299" y="158"/>
                </a:lnTo>
                <a:lnTo>
                  <a:pt x="314" y="146"/>
                </a:lnTo>
                <a:lnTo>
                  <a:pt x="328" y="134"/>
                </a:lnTo>
                <a:lnTo>
                  <a:pt x="343" y="124"/>
                </a:lnTo>
                <a:lnTo>
                  <a:pt x="359" y="114"/>
                </a:lnTo>
                <a:lnTo>
                  <a:pt x="374" y="105"/>
                </a:lnTo>
                <a:lnTo>
                  <a:pt x="390" y="95"/>
                </a:lnTo>
                <a:lnTo>
                  <a:pt x="406" y="86"/>
                </a:lnTo>
                <a:lnTo>
                  <a:pt x="422" y="77"/>
                </a:lnTo>
                <a:lnTo>
                  <a:pt x="438" y="70"/>
                </a:lnTo>
                <a:lnTo>
                  <a:pt x="454" y="63"/>
                </a:lnTo>
                <a:lnTo>
                  <a:pt x="472" y="55"/>
                </a:lnTo>
                <a:lnTo>
                  <a:pt x="488" y="48"/>
                </a:lnTo>
                <a:lnTo>
                  <a:pt x="506" y="41"/>
                </a:lnTo>
                <a:lnTo>
                  <a:pt x="523" y="35"/>
                </a:lnTo>
                <a:lnTo>
                  <a:pt x="541" y="29"/>
                </a:lnTo>
                <a:lnTo>
                  <a:pt x="559" y="25"/>
                </a:lnTo>
                <a:lnTo>
                  <a:pt x="576" y="20"/>
                </a:lnTo>
                <a:lnTo>
                  <a:pt x="595" y="16"/>
                </a:lnTo>
                <a:lnTo>
                  <a:pt x="613" y="11"/>
                </a:lnTo>
                <a:lnTo>
                  <a:pt x="632" y="8"/>
                </a:lnTo>
                <a:lnTo>
                  <a:pt x="649" y="6"/>
                </a:lnTo>
                <a:lnTo>
                  <a:pt x="669" y="4"/>
                </a:lnTo>
                <a:lnTo>
                  <a:pt x="688" y="1"/>
                </a:lnTo>
                <a:lnTo>
                  <a:pt x="707" y="1"/>
                </a:lnTo>
                <a:lnTo>
                  <a:pt x="726" y="0"/>
                </a:lnTo>
                <a:lnTo>
                  <a:pt x="745" y="0"/>
                </a:lnTo>
                <a:lnTo>
                  <a:pt x="764" y="0"/>
                </a:lnTo>
                <a:lnTo>
                  <a:pt x="783" y="1"/>
                </a:lnTo>
                <a:lnTo>
                  <a:pt x="802" y="3"/>
                </a:lnTo>
                <a:lnTo>
                  <a:pt x="821" y="4"/>
                </a:lnTo>
                <a:lnTo>
                  <a:pt x="840" y="6"/>
                </a:lnTo>
                <a:lnTo>
                  <a:pt x="858" y="8"/>
                </a:lnTo>
                <a:lnTo>
                  <a:pt x="877" y="11"/>
                </a:lnTo>
                <a:lnTo>
                  <a:pt x="894" y="16"/>
                </a:lnTo>
                <a:lnTo>
                  <a:pt x="913" y="20"/>
                </a:lnTo>
                <a:lnTo>
                  <a:pt x="931" y="25"/>
                </a:lnTo>
                <a:lnTo>
                  <a:pt x="949" y="30"/>
                </a:lnTo>
                <a:lnTo>
                  <a:pt x="966" y="35"/>
                </a:lnTo>
                <a:lnTo>
                  <a:pt x="984" y="41"/>
                </a:lnTo>
                <a:lnTo>
                  <a:pt x="1001" y="48"/>
                </a:lnTo>
                <a:lnTo>
                  <a:pt x="1017" y="55"/>
                </a:lnTo>
                <a:lnTo>
                  <a:pt x="1035" y="63"/>
                </a:lnTo>
                <a:lnTo>
                  <a:pt x="1051" y="70"/>
                </a:lnTo>
                <a:lnTo>
                  <a:pt x="1067" y="77"/>
                </a:lnTo>
                <a:lnTo>
                  <a:pt x="1083" y="86"/>
                </a:lnTo>
                <a:lnTo>
                  <a:pt x="1100" y="95"/>
                </a:lnTo>
                <a:lnTo>
                  <a:pt x="1116" y="105"/>
                </a:lnTo>
                <a:lnTo>
                  <a:pt x="1132" y="114"/>
                </a:lnTo>
                <a:lnTo>
                  <a:pt x="1146" y="124"/>
                </a:lnTo>
                <a:lnTo>
                  <a:pt x="1161" y="136"/>
                </a:lnTo>
                <a:lnTo>
                  <a:pt x="1176" y="146"/>
                </a:lnTo>
                <a:lnTo>
                  <a:pt x="1190" y="158"/>
                </a:lnTo>
                <a:lnTo>
                  <a:pt x="1218" y="181"/>
                </a:lnTo>
                <a:lnTo>
                  <a:pt x="1246" y="206"/>
                </a:lnTo>
                <a:lnTo>
                  <a:pt x="1271" y="232"/>
                </a:lnTo>
                <a:lnTo>
                  <a:pt x="1296" y="259"/>
                </a:lnTo>
                <a:lnTo>
                  <a:pt x="1319" y="288"/>
                </a:lnTo>
                <a:lnTo>
                  <a:pt x="1341" y="319"/>
                </a:lnTo>
                <a:lnTo>
                  <a:pt x="1362" y="349"/>
                </a:lnTo>
                <a:lnTo>
                  <a:pt x="1383" y="382"/>
                </a:lnTo>
                <a:lnTo>
                  <a:pt x="1391" y="398"/>
                </a:lnTo>
                <a:lnTo>
                  <a:pt x="1400" y="415"/>
                </a:lnTo>
                <a:lnTo>
                  <a:pt x="1407" y="431"/>
                </a:lnTo>
                <a:lnTo>
                  <a:pt x="1416" y="449"/>
                </a:lnTo>
                <a:lnTo>
                  <a:pt x="1424" y="466"/>
                </a:lnTo>
                <a:lnTo>
                  <a:pt x="1431" y="484"/>
                </a:lnTo>
                <a:lnTo>
                  <a:pt x="1438" y="502"/>
                </a:lnTo>
                <a:lnTo>
                  <a:pt x="1444" y="519"/>
                </a:lnTo>
                <a:lnTo>
                  <a:pt x="1450" y="538"/>
                </a:lnTo>
                <a:lnTo>
                  <a:pt x="1456" y="557"/>
                </a:lnTo>
                <a:lnTo>
                  <a:pt x="1462" y="575"/>
                </a:lnTo>
                <a:lnTo>
                  <a:pt x="1466" y="594"/>
                </a:lnTo>
                <a:lnTo>
                  <a:pt x="1470" y="613"/>
                </a:lnTo>
                <a:lnTo>
                  <a:pt x="1475" y="633"/>
                </a:lnTo>
                <a:lnTo>
                  <a:pt x="1478" y="652"/>
                </a:lnTo>
                <a:lnTo>
                  <a:pt x="1481" y="671"/>
                </a:lnTo>
                <a:lnTo>
                  <a:pt x="1484" y="692"/>
                </a:lnTo>
                <a:lnTo>
                  <a:pt x="1485" y="711"/>
                </a:lnTo>
                <a:lnTo>
                  <a:pt x="1488" y="731"/>
                </a:lnTo>
                <a:lnTo>
                  <a:pt x="1488" y="752"/>
                </a:lnTo>
                <a:lnTo>
                  <a:pt x="1490" y="772"/>
                </a:lnTo>
                <a:lnTo>
                  <a:pt x="1490" y="793"/>
                </a:lnTo>
                <a:lnTo>
                  <a:pt x="1490" y="813"/>
                </a:lnTo>
                <a:lnTo>
                  <a:pt x="1488" y="834"/>
                </a:lnTo>
                <a:lnTo>
                  <a:pt x="1488" y="853"/>
                </a:lnTo>
                <a:lnTo>
                  <a:pt x="1485" y="873"/>
                </a:lnTo>
                <a:lnTo>
                  <a:pt x="1484" y="894"/>
                </a:lnTo>
                <a:lnTo>
                  <a:pt x="1481" y="913"/>
                </a:lnTo>
                <a:lnTo>
                  <a:pt x="1478" y="933"/>
                </a:lnTo>
                <a:lnTo>
                  <a:pt x="1475" y="952"/>
                </a:lnTo>
                <a:lnTo>
                  <a:pt x="1470" y="971"/>
                </a:lnTo>
                <a:lnTo>
                  <a:pt x="1466" y="990"/>
                </a:lnTo>
                <a:lnTo>
                  <a:pt x="1462" y="1009"/>
                </a:lnTo>
                <a:lnTo>
                  <a:pt x="1456" y="1028"/>
                </a:lnTo>
                <a:lnTo>
                  <a:pt x="1450" y="1047"/>
                </a:lnTo>
                <a:lnTo>
                  <a:pt x="1444" y="1065"/>
                </a:lnTo>
                <a:lnTo>
                  <a:pt x="1438" y="1082"/>
                </a:lnTo>
                <a:lnTo>
                  <a:pt x="1431" y="1101"/>
                </a:lnTo>
                <a:lnTo>
                  <a:pt x="1424" y="1119"/>
                </a:lnTo>
                <a:lnTo>
                  <a:pt x="1416" y="1137"/>
                </a:lnTo>
                <a:lnTo>
                  <a:pt x="1407" y="1153"/>
                </a:lnTo>
                <a:lnTo>
                  <a:pt x="1400" y="1170"/>
                </a:lnTo>
                <a:lnTo>
                  <a:pt x="1391" y="1188"/>
                </a:lnTo>
                <a:lnTo>
                  <a:pt x="1383" y="1204"/>
                </a:lnTo>
                <a:lnTo>
                  <a:pt x="1362" y="1236"/>
                </a:lnTo>
                <a:lnTo>
                  <a:pt x="1341" y="1267"/>
                </a:lnTo>
                <a:lnTo>
                  <a:pt x="1319" y="1296"/>
                </a:lnTo>
                <a:lnTo>
                  <a:pt x="1296" y="1325"/>
                </a:lnTo>
                <a:lnTo>
                  <a:pt x="1271" y="1353"/>
                </a:lnTo>
                <a:lnTo>
                  <a:pt x="1246" y="1379"/>
                </a:lnTo>
                <a:lnTo>
                  <a:pt x="1218" y="1404"/>
                </a:lnTo>
                <a:lnTo>
                  <a:pt x="1190" y="1428"/>
                </a:lnTo>
                <a:lnTo>
                  <a:pt x="1176" y="1439"/>
                </a:lnTo>
                <a:lnTo>
                  <a:pt x="1161" y="1450"/>
                </a:lnTo>
                <a:lnTo>
                  <a:pt x="1146" y="1460"/>
                </a:lnTo>
                <a:lnTo>
                  <a:pt x="1130" y="1470"/>
                </a:lnTo>
                <a:lnTo>
                  <a:pt x="1116" y="1480"/>
                </a:lnTo>
                <a:lnTo>
                  <a:pt x="1100" y="1489"/>
                </a:lnTo>
                <a:lnTo>
                  <a:pt x="1083" y="1498"/>
                </a:lnTo>
                <a:lnTo>
                  <a:pt x="1067" y="1507"/>
                </a:lnTo>
                <a:lnTo>
                  <a:pt x="1051" y="1516"/>
                </a:lnTo>
                <a:lnTo>
                  <a:pt x="1035" y="1523"/>
                </a:lnTo>
                <a:lnTo>
                  <a:pt x="1017" y="1530"/>
                </a:lnTo>
                <a:lnTo>
                  <a:pt x="1001" y="1537"/>
                </a:lnTo>
                <a:lnTo>
                  <a:pt x="984" y="1543"/>
                </a:lnTo>
                <a:lnTo>
                  <a:pt x="966" y="1549"/>
                </a:lnTo>
                <a:lnTo>
                  <a:pt x="949" y="1555"/>
                </a:lnTo>
                <a:lnTo>
                  <a:pt x="931" y="1561"/>
                </a:lnTo>
                <a:lnTo>
                  <a:pt x="913" y="1565"/>
                </a:lnTo>
                <a:lnTo>
                  <a:pt x="894" y="1570"/>
                </a:lnTo>
                <a:lnTo>
                  <a:pt x="877" y="1573"/>
                </a:lnTo>
                <a:lnTo>
                  <a:pt x="858" y="1576"/>
                </a:lnTo>
                <a:lnTo>
                  <a:pt x="840" y="1578"/>
                </a:lnTo>
                <a:lnTo>
                  <a:pt x="821" y="1581"/>
                </a:lnTo>
                <a:lnTo>
                  <a:pt x="802" y="1583"/>
                </a:lnTo>
                <a:lnTo>
                  <a:pt x="783" y="1584"/>
                </a:lnTo>
                <a:lnTo>
                  <a:pt x="764" y="1584"/>
                </a:lnTo>
                <a:lnTo>
                  <a:pt x="745" y="1586"/>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060" name="Freeform 30">
            <a:extLst>
              <a:ext uri="{FF2B5EF4-FFF2-40B4-BE49-F238E27FC236}">
                <a16:creationId xmlns:a16="http://schemas.microsoft.com/office/drawing/2014/main" id="{95948FCE-84F4-4EB8-B44C-F5DE5BC56EF7}"/>
              </a:ext>
            </a:extLst>
          </p:cNvPr>
          <p:cNvSpPr>
            <a:spLocks/>
          </p:cNvSpPr>
          <p:nvPr/>
        </p:nvSpPr>
        <p:spPr bwMode="auto">
          <a:xfrm>
            <a:off x="7799389" y="2690814"/>
            <a:ext cx="1182687" cy="1258887"/>
          </a:xfrm>
          <a:custGeom>
            <a:avLst/>
            <a:gdLst>
              <a:gd name="T0" fmla="*/ 2147483646 w 1490"/>
              <a:gd name="T1" fmla="*/ 2147483646 h 1586"/>
              <a:gd name="T2" fmla="*/ 2147483646 w 1490"/>
              <a:gd name="T3" fmla="*/ 2147483646 h 1586"/>
              <a:gd name="T4" fmla="*/ 2147483646 w 1490"/>
              <a:gd name="T5" fmla="*/ 2147483646 h 1586"/>
              <a:gd name="T6" fmla="*/ 2147483646 w 1490"/>
              <a:gd name="T7" fmla="*/ 2147483646 h 1586"/>
              <a:gd name="T8" fmla="*/ 2147483646 w 1490"/>
              <a:gd name="T9" fmla="*/ 2147483646 h 1586"/>
              <a:gd name="T10" fmla="*/ 2147483646 w 1490"/>
              <a:gd name="T11" fmla="*/ 2147483646 h 1586"/>
              <a:gd name="T12" fmla="*/ 2147483646 w 1490"/>
              <a:gd name="T13" fmla="*/ 2147483646 h 1586"/>
              <a:gd name="T14" fmla="*/ 2147483646 w 1490"/>
              <a:gd name="T15" fmla="*/ 2147483646 h 1586"/>
              <a:gd name="T16" fmla="*/ 2147483646 w 1490"/>
              <a:gd name="T17" fmla="*/ 2147483646 h 1586"/>
              <a:gd name="T18" fmla="*/ 2147483646 w 1490"/>
              <a:gd name="T19" fmla="*/ 2147483646 h 1586"/>
              <a:gd name="T20" fmla="*/ 2147483646 w 1490"/>
              <a:gd name="T21" fmla="*/ 2147483646 h 1586"/>
              <a:gd name="T22" fmla="*/ 2147483646 w 1490"/>
              <a:gd name="T23" fmla="*/ 2147483646 h 1586"/>
              <a:gd name="T24" fmla="*/ 2147483646 w 1490"/>
              <a:gd name="T25" fmla="*/ 2147483646 h 1586"/>
              <a:gd name="T26" fmla="*/ 0 w 1490"/>
              <a:gd name="T27" fmla="*/ 2147483646 h 1586"/>
              <a:gd name="T28" fmla="*/ 2147483646 w 1490"/>
              <a:gd name="T29" fmla="*/ 2147483646 h 1586"/>
              <a:gd name="T30" fmla="*/ 2147483646 w 1490"/>
              <a:gd name="T31" fmla="*/ 2147483646 h 1586"/>
              <a:gd name="T32" fmla="*/ 2147483646 w 1490"/>
              <a:gd name="T33" fmla="*/ 2147483646 h 1586"/>
              <a:gd name="T34" fmla="*/ 2147483646 w 1490"/>
              <a:gd name="T35" fmla="*/ 2147483646 h 1586"/>
              <a:gd name="T36" fmla="*/ 2147483646 w 1490"/>
              <a:gd name="T37" fmla="*/ 2147483646 h 1586"/>
              <a:gd name="T38" fmla="*/ 2147483646 w 1490"/>
              <a:gd name="T39" fmla="*/ 2147483646 h 1586"/>
              <a:gd name="T40" fmla="*/ 2147483646 w 1490"/>
              <a:gd name="T41" fmla="*/ 2147483646 h 1586"/>
              <a:gd name="T42" fmla="*/ 2147483646 w 1490"/>
              <a:gd name="T43" fmla="*/ 2147483646 h 1586"/>
              <a:gd name="T44" fmla="*/ 2147483646 w 1490"/>
              <a:gd name="T45" fmla="*/ 2147483646 h 1586"/>
              <a:gd name="T46" fmla="*/ 2147483646 w 1490"/>
              <a:gd name="T47" fmla="*/ 2147483646 h 1586"/>
              <a:gd name="T48" fmla="*/ 2147483646 w 1490"/>
              <a:gd name="T49" fmla="*/ 2147483646 h 1586"/>
              <a:gd name="T50" fmla="*/ 2147483646 w 1490"/>
              <a:gd name="T51" fmla="*/ 2147483646 h 1586"/>
              <a:gd name="T52" fmla="*/ 2147483646 w 1490"/>
              <a:gd name="T53" fmla="*/ 2147483646 h 1586"/>
              <a:gd name="T54" fmla="*/ 2147483646 w 1490"/>
              <a:gd name="T55" fmla="*/ 0 h 1586"/>
              <a:gd name="T56" fmla="*/ 2147483646 w 1490"/>
              <a:gd name="T57" fmla="*/ 2147483646 h 1586"/>
              <a:gd name="T58" fmla="*/ 2147483646 w 1490"/>
              <a:gd name="T59" fmla="*/ 2147483646 h 1586"/>
              <a:gd name="T60" fmla="*/ 2147483646 w 1490"/>
              <a:gd name="T61" fmla="*/ 2147483646 h 1586"/>
              <a:gd name="T62" fmla="*/ 2147483646 w 1490"/>
              <a:gd name="T63" fmla="*/ 2147483646 h 1586"/>
              <a:gd name="T64" fmla="*/ 2147483646 w 1490"/>
              <a:gd name="T65" fmla="*/ 2147483646 h 1586"/>
              <a:gd name="T66" fmla="*/ 2147483646 w 1490"/>
              <a:gd name="T67" fmla="*/ 2147483646 h 1586"/>
              <a:gd name="T68" fmla="*/ 2147483646 w 1490"/>
              <a:gd name="T69" fmla="*/ 2147483646 h 1586"/>
              <a:gd name="T70" fmla="*/ 2147483646 w 1490"/>
              <a:gd name="T71" fmla="*/ 2147483646 h 1586"/>
              <a:gd name="T72" fmla="*/ 2147483646 w 1490"/>
              <a:gd name="T73" fmla="*/ 2147483646 h 1586"/>
              <a:gd name="T74" fmla="*/ 2147483646 w 1490"/>
              <a:gd name="T75" fmla="*/ 2147483646 h 1586"/>
              <a:gd name="T76" fmla="*/ 2147483646 w 1490"/>
              <a:gd name="T77" fmla="*/ 2147483646 h 1586"/>
              <a:gd name="T78" fmla="*/ 2147483646 w 1490"/>
              <a:gd name="T79" fmla="*/ 2147483646 h 1586"/>
              <a:gd name="T80" fmla="*/ 2147483646 w 1490"/>
              <a:gd name="T81" fmla="*/ 2147483646 h 1586"/>
              <a:gd name="T82" fmla="*/ 2147483646 w 1490"/>
              <a:gd name="T83" fmla="*/ 2147483646 h 1586"/>
              <a:gd name="T84" fmla="*/ 2147483646 w 1490"/>
              <a:gd name="T85" fmla="*/ 2147483646 h 1586"/>
              <a:gd name="T86" fmla="*/ 2147483646 w 1490"/>
              <a:gd name="T87" fmla="*/ 2147483646 h 1586"/>
              <a:gd name="T88" fmla="*/ 2147483646 w 1490"/>
              <a:gd name="T89" fmla="*/ 2147483646 h 1586"/>
              <a:gd name="T90" fmla="*/ 2147483646 w 1490"/>
              <a:gd name="T91" fmla="*/ 2147483646 h 1586"/>
              <a:gd name="T92" fmla="*/ 2147483646 w 1490"/>
              <a:gd name="T93" fmla="*/ 2147483646 h 1586"/>
              <a:gd name="T94" fmla="*/ 2147483646 w 1490"/>
              <a:gd name="T95" fmla="*/ 2147483646 h 1586"/>
              <a:gd name="T96" fmla="*/ 2147483646 w 1490"/>
              <a:gd name="T97" fmla="*/ 2147483646 h 1586"/>
              <a:gd name="T98" fmla="*/ 2147483646 w 1490"/>
              <a:gd name="T99" fmla="*/ 2147483646 h 1586"/>
              <a:gd name="T100" fmla="*/ 2147483646 w 1490"/>
              <a:gd name="T101" fmla="*/ 2147483646 h 1586"/>
              <a:gd name="T102" fmla="*/ 2147483646 w 1490"/>
              <a:gd name="T103" fmla="*/ 2147483646 h 1586"/>
              <a:gd name="T104" fmla="*/ 2147483646 w 1490"/>
              <a:gd name="T105" fmla="*/ 2147483646 h 1586"/>
              <a:gd name="T106" fmla="*/ 2147483646 w 1490"/>
              <a:gd name="T107" fmla="*/ 2147483646 h 1586"/>
              <a:gd name="T108" fmla="*/ 2147483646 w 1490"/>
              <a:gd name="T109" fmla="*/ 2147483646 h 1586"/>
              <a:gd name="T110" fmla="*/ 2147483646 w 1490"/>
              <a:gd name="T111" fmla="*/ 2147483646 h 158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90"/>
              <a:gd name="T169" fmla="*/ 0 h 1586"/>
              <a:gd name="T170" fmla="*/ 1490 w 1490"/>
              <a:gd name="T171" fmla="*/ 1586 h 158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90" h="1586">
                <a:moveTo>
                  <a:pt x="745" y="1586"/>
                </a:moveTo>
                <a:lnTo>
                  <a:pt x="726" y="1586"/>
                </a:lnTo>
                <a:lnTo>
                  <a:pt x="707" y="1584"/>
                </a:lnTo>
                <a:lnTo>
                  <a:pt x="688" y="1583"/>
                </a:lnTo>
                <a:lnTo>
                  <a:pt x="669" y="1581"/>
                </a:lnTo>
                <a:lnTo>
                  <a:pt x="649" y="1578"/>
                </a:lnTo>
                <a:lnTo>
                  <a:pt x="632" y="1577"/>
                </a:lnTo>
                <a:lnTo>
                  <a:pt x="613" y="1573"/>
                </a:lnTo>
                <a:lnTo>
                  <a:pt x="595" y="1570"/>
                </a:lnTo>
                <a:lnTo>
                  <a:pt x="576" y="1565"/>
                </a:lnTo>
                <a:lnTo>
                  <a:pt x="559" y="1561"/>
                </a:lnTo>
                <a:lnTo>
                  <a:pt x="541" y="1555"/>
                </a:lnTo>
                <a:lnTo>
                  <a:pt x="523" y="1549"/>
                </a:lnTo>
                <a:lnTo>
                  <a:pt x="506" y="1543"/>
                </a:lnTo>
                <a:lnTo>
                  <a:pt x="488" y="1537"/>
                </a:lnTo>
                <a:lnTo>
                  <a:pt x="472" y="1530"/>
                </a:lnTo>
                <a:lnTo>
                  <a:pt x="454" y="1523"/>
                </a:lnTo>
                <a:lnTo>
                  <a:pt x="438" y="1516"/>
                </a:lnTo>
                <a:lnTo>
                  <a:pt x="422" y="1507"/>
                </a:lnTo>
                <a:lnTo>
                  <a:pt x="406" y="1498"/>
                </a:lnTo>
                <a:lnTo>
                  <a:pt x="390" y="1489"/>
                </a:lnTo>
                <a:lnTo>
                  <a:pt x="374" y="1480"/>
                </a:lnTo>
                <a:lnTo>
                  <a:pt x="359" y="1470"/>
                </a:lnTo>
                <a:lnTo>
                  <a:pt x="343" y="1460"/>
                </a:lnTo>
                <a:lnTo>
                  <a:pt x="328" y="1450"/>
                </a:lnTo>
                <a:lnTo>
                  <a:pt x="314" y="1439"/>
                </a:lnTo>
                <a:lnTo>
                  <a:pt x="299" y="1428"/>
                </a:lnTo>
                <a:lnTo>
                  <a:pt x="271" y="1404"/>
                </a:lnTo>
                <a:lnTo>
                  <a:pt x="243" y="1379"/>
                </a:lnTo>
                <a:lnTo>
                  <a:pt x="218" y="1353"/>
                </a:lnTo>
                <a:lnTo>
                  <a:pt x="194" y="1325"/>
                </a:lnTo>
                <a:lnTo>
                  <a:pt x="170" y="1296"/>
                </a:lnTo>
                <a:lnTo>
                  <a:pt x="148" y="1267"/>
                </a:lnTo>
                <a:lnTo>
                  <a:pt x="128" y="1236"/>
                </a:lnTo>
                <a:lnTo>
                  <a:pt x="108" y="1204"/>
                </a:lnTo>
                <a:lnTo>
                  <a:pt x="98" y="1188"/>
                </a:lnTo>
                <a:lnTo>
                  <a:pt x="89" y="1170"/>
                </a:lnTo>
                <a:lnTo>
                  <a:pt x="82" y="1153"/>
                </a:lnTo>
                <a:lnTo>
                  <a:pt x="73" y="1137"/>
                </a:lnTo>
                <a:lnTo>
                  <a:pt x="66" y="1119"/>
                </a:lnTo>
                <a:lnTo>
                  <a:pt x="59" y="1101"/>
                </a:lnTo>
                <a:lnTo>
                  <a:pt x="51" y="1082"/>
                </a:lnTo>
                <a:lnTo>
                  <a:pt x="45" y="1065"/>
                </a:lnTo>
                <a:lnTo>
                  <a:pt x="40" y="1047"/>
                </a:lnTo>
                <a:lnTo>
                  <a:pt x="34" y="1028"/>
                </a:lnTo>
                <a:lnTo>
                  <a:pt x="28" y="1009"/>
                </a:lnTo>
                <a:lnTo>
                  <a:pt x="23" y="990"/>
                </a:lnTo>
                <a:lnTo>
                  <a:pt x="19" y="971"/>
                </a:lnTo>
                <a:lnTo>
                  <a:pt x="15" y="952"/>
                </a:lnTo>
                <a:lnTo>
                  <a:pt x="12" y="933"/>
                </a:lnTo>
                <a:lnTo>
                  <a:pt x="9" y="913"/>
                </a:lnTo>
                <a:lnTo>
                  <a:pt x="6" y="894"/>
                </a:lnTo>
                <a:lnTo>
                  <a:pt x="4" y="873"/>
                </a:lnTo>
                <a:lnTo>
                  <a:pt x="1" y="853"/>
                </a:lnTo>
                <a:lnTo>
                  <a:pt x="1" y="834"/>
                </a:lnTo>
                <a:lnTo>
                  <a:pt x="0" y="813"/>
                </a:lnTo>
                <a:lnTo>
                  <a:pt x="0" y="793"/>
                </a:lnTo>
                <a:lnTo>
                  <a:pt x="0" y="772"/>
                </a:lnTo>
                <a:lnTo>
                  <a:pt x="1" y="752"/>
                </a:lnTo>
                <a:lnTo>
                  <a:pt x="3" y="731"/>
                </a:lnTo>
                <a:lnTo>
                  <a:pt x="4" y="711"/>
                </a:lnTo>
                <a:lnTo>
                  <a:pt x="6" y="692"/>
                </a:lnTo>
                <a:lnTo>
                  <a:pt x="9" y="671"/>
                </a:lnTo>
                <a:lnTo>
                  <a:pt x="12" y="652"/>
                </a:lnTo>
                <a:lnTo>
                  <a:pt x="15" y="633"/>
                </a:lnTo>
                <a:lnTo>
                  <a:pt x="19" y="613"/>
                </a:lnTo>
                <a:lnTo>
                  <a:pt x="23" y="594"/>
                </a:lnTo>
                <a:lnTo>
                  <a:pt x="28" y="575"/>
                </a:lnTo>
                <a:lnTo>
                  <a:pt x="34" y="557"/>
                </a:lnTo>
                <a:lnTo>
                  <a:pt x="40" y="538"/>
                </a:lnTo>
                <a:lnTo>
                  <a:pt x="45" y="519"/>
                </a:lnTo>
                <a:lnTo>
                  <a:pt x="51" y="502"/>
                </a:lnTo>
                <a:lnTo>
                  <a:pt x="59" y="484"/>
                </a:lnTo>
                <a:lnTo>
                  <a:pt x="66" y="466"/>
                </a:lnTo>
                <a:lnTo>
                  <a:pt x="73" y="449"/>
                </a:lnTo>
                <a:lnTo>
                  <a:pt x="82" y="431"/>
                </a:lnTo>
                <a:lnTo>
                  <a:pt x="89" y="415"/>
                </a:lnTo>
                <a:lnTo>
                  <a:pt x="98" y="398"/>
                </a:lnTo>
                <a:lnTo>
                  <a:pt x="108" y="382"/>
                </a:lnTo>
                <a:lnTo>
                  <a:pt x="128" y="349"/>
                </a:lnTo>
                <a:lnTo>
                  <a:pt x="148" y="319"/>
                </a:lnTo>
                <a:lnTo>
                  <a:pt x="170" y="288"/>
                </a:lnTo>
                <a:lnTo>
                  <a:pt x="194" y="259"/>
                </a:lnTo>
                <a:lnTo>
                  <a:pt x="218" y="232"/>
                </a:lnTo>
                <a:lnTo>
                  <a:pt x="243" y="206"/>
                </a:lnTo>
                <a:lnTo>
                  <a:pt x="271" y="181"/>
                </a:lnTo>
                <a:lnTo>
                  <a:pt x="299" y="158"/>
                </a:lnTo>
                <a:lnTo>
                  <a:pt x="314" y="146"/>
                </a:lnTo>
                <a:lnTo>
                  <a:pt x="328" y="134"/>
                </a:lnTo>
                <a:lnTo>
                  <a:pt x="343" y="124"/>
                </a:lnTo>
                <a:lnTo>
                  <a:pt x="359" y="114"/>
                </a:lnTo>
                <a:lnTo>
                  <a:pt x="374" y="105"/>
                </a:lnTo>
                <a:lnTo>
                  <a:pt x="390" y="95"/>
                </a:lnTo>
                <a:lnTo>
                  <a:pt x="406" y="86"/>
                </a:lnTo>
                <a:lnTo>
                  <a:pt x="422" y="77"/>
                </a:lnTo>
                <a:lnTo>
                  <a:pt x="438" y="70"/>
                </a:lnTo>
                <a:lnTo>
                  <a:pt x="454" y="63"/>
                </a:lnTo>
                <a:lnTo>
                  <a:pt x="472" y="55"/>
                </a:lnTo>
                <a:lnTo>
                  <a:pt x="488" y="48"/>
                </a:lnTo>
                <a:lnTo>
                  <a:pt x="506" y="41"/>
                </a:lnTo>
                <a:lnTo>
                  <a:pt x="523" y="35"/>
                </a:lnTo>
                <a:lnTo>
                  <a:pt x="541" y="29"/>
                </a:lnTo>
                <a:lnTo>
                  <a:pt x="559" y="25"/>
                </a:lnTo>
                <a:lnTo>
                  <a:pt x="576" y="20"/>
                </a:lnTo>
                <a:lnTo>
                  <a:pt x="595" y="16"/>
                </a:lnTo>
                <a:lnTo>
                  <a:pt x="613" y="11"/>
                </a:lnTo>
                <a:lnTo>
                  <a:pt x="632" y="8"/>
                </a:lnTo>
                <a:lnTo>
                  <a:pt x="649" y="6"/>
                </a:lnTo>
                <a:lnTo>
                  <a:pt x="669" y="4"/>
                </a:lnTo>
                <a:lnTo>
                  <a:pt x="688" y="1"/>
                </a:lnTo>
                <a:lnTo>
                  <a:pt x="707" y="1"/>
                </a:lnTo>
                <a:lnTo>
                  <a:pt x="726" y="0"/>
                </a:lnTo>
                <a:lnTo>
                  <a:pt x="745" y="0"/>
                </a:lnTo>
                <a:lnTo>
                  <a:pt x="764" y="0"/>
                </a:lnTo>
                <a:lnTo>
                  <a:pt x="783" y="1"/>
                </a:lnTo>
                <a:lnTo>
                  <a:pt x="802" y="3"/>
                </a:lnTo>
                <a:lnTo>
                  <a:pt x="821" y="4"/>
                </a:lnTo>
                <a:lnTo>
                  <a:pt x="840" y="6"/>
                </a:lnTo>
                <a:lnTo>
                  <a:pt x="858" y="8"/>
                </a:lnTo>
                <a:lnTo>
                  <a:pt x="877" y="11"/>
                </a:lnTo>
                <a:lnTo>
                  <a:pt x="894" y="16"/>
                </a:lnTo>
                <a:lnTo>
                  <a:pt x="913" y="20"/>
                </a:lnTo>
                <a:lnTo>
                  <a:pt x="931" y="25"/>
                </a:lnTo>
                <a:lnTo>
                  <a:pt x="949" y="30"/>
                </a:lnTo>
                <a:lnTo>
                  <a:pt x="966" y="35"/>
                </a:lnTo>
                <a:lnTo>
                  <a:pt x="984" y="41"/>
                </a:lnTo>
                <a:lnTo>
                  <a:pt x="1001" y="48"/>
                </a:lnTo>
                <a:lnTo>
                  <a:pt x="1017" y="55"/>
                </a:lnTo>
                <a:lnTo>
                  <a:pt x="1035" y="63"/>
                </a:lnTo>
                <a:lnTo>
                  <a:pt x="1051" y="70"/>
                </a:lnTo>
                <a:lnTo>
                  <a:pt x="1067" y="77"/>
                </a:lnTo>
                <a:lnTo>
                  <a:pt x="1083" y="86"/>
                </a:lnTo>
                <a:lnTo>
                  <a:pt x="1100" y="95"/>
                </a:lnTo>
                <a:lnTo>
                  <a:pt x="1116" y="105"/>
                </a:lnTo>
                <a:lnTo>
                  <a:pt x="1132" y="114"/>
                </a:lnTo>
                <a:lnTo>
                  <a:pt x="1146" y="124"/>
                </a:lnTo>
                <a:lnTo>
                  <a:pt x="1161" y="136"/>
                </a:lnTo>
                <a:lnTo>
                  <a:pt x="1176" y="146"/>
                </a:lnTo>
                <a:lnTo>
                  <a:pt x="1190" y="158"/>
                </a:lnTo>
                <a:lnTo>
                  <a:pt x="1218" y="181"/>
                </a:lnTo>
                <a:lnTo>
                  <a:pt x="1246" y="206"/>
                </a:lnTo>
                <a:lnTo>
                  <a:pt x="1271" y="232"/>
                </a:lnTo>
                <a:lnTo>
                  <a:pt x="1296" y="259"/>
                </a:lnTo>
                <a:lnTo>
                  <a:pt x="1319" y="288"/>
                </a:lnTo>
                <a:lnTo>
                  <a:pt x="1341" y="319"/>
                </a:lnTo>
                <a:lnTo>
                  <a:pt x="1362" y="349"/>
                </a:lnTo>
                <a:lnTo>
                  <a:pt x="1383" y="382"/>
                </a:lnTo>
                <a:lnTo>
                  <a:pt x="1391" y="398"/>
                </a:lnTo>
                <a:lnTo>
                  <a:pt x="1400" y="415"/>
                </a:lnTo>
                <a:lnTo>
                  <a:pt x="1407" y="431"/>
                </a:lnTo>
                <a:lnTo>
                  <a:pt x="1416" y="449"/>
                </a:lnTo>
                <a:lnTo>
                  <a:pt x="1424" y="466"/>
                </a:lnTo>
                <a:lnTo>
                  <a:pt x="1431" y="484"/>
                </a:lnTo>
                <a:lnTo>
                  <a:pt x="1438" y="502"/>
                </a:lnTo>
                <a:lnTo>
                  <a:pt x="1444" y="519"/>
                </a:lnTo>
                <a:lnTo>
                  <a:pt x="1450" y="538"/>
                </a:lnTo>
                <a:lnTo>
                  <a:pt x="1456" y="557"/>
                </a:lnTo>
                <a:lnTo>
                  <a:pt x="1462" y="575"/>
                </a:lnTo>
                <a:lnTo>
                  <a:pt x="1466" y="594"/>
                </a:lnTo>
                <a:lnTo>
                  <a:pt x="1470" y="613"/>
                </a:lnTo>
                <a:lnTo>
                  <a:pt x="1475" y="633"/>
                </a:lnTo>
                <a:lnTo>
                  <a:pt x="1478" y="652"/>
                </a:lnTo>
                <a:lnTo>
                  <a:pt x="1481" y="671"/>
                </a:lnTo>
                <a:lnTo>
                  <a:pt x="1484" y="692"/>
                </a:lnTo>
                <a:lnTo>
                  <a:pt x="1485" y="711"/>
                </a:lnTo>
                <a:lnTo>
                  <a:pt x="1488" y="731"/>
                </a:lnTo>
                <a:lnTo>
                  <a:pt x="1488" y="752"/>
                </a:lnTo>
                <a:lnTo>
                  <a:pt x="1490" y="772"/>
                </a:lnTo>
                <a:lnTo>
                  <a:pt x="1490" y="793"/>
                </a:lnTo>
                <a:lnTo>
                  <a:pt x="1490" y="813"/>
                </a:lnTo>
                <a:lnTo>
                  <a:pt x="1488" y="834"/>
                </a:lnTo>
                <a:lnTo>
                  <a:pt x="1488" y="853"/>
                </a:lnTo>
                <a:lnTo>
                  <a:pt x="1485" y="873"/>
                </a:lnTo>
                <a:lnTo>
                  <a:pt x="1484" y="894"/>
                </a:lnTo>
                <a:lnTo>
                  <a:pt x="1481" y="913"/>
                </a:lnTo>
                <a:lnTo>
                  <a:pt x="1478" y="933"/>
                </a:lnTo>
                <a:lnTo>
                  <a:pt x="1475" y="952"/>
                </a:lnTo>
                <a:lnTo>
                  <a:pt x="1470" y="971"/>
                </a:lnTo>
                <a:lnTo>
                  <a:pt x="1466" y="990"/>
                </a:lnTo>
                <a:lnTo>
                  <a:pt x="1462" y="1009"/>
                </a:lnTo>
                <a:lnTo>
                  <a:pt x="1456" y="1028"/>
                </a:lnTo>
                <a:lnTo>
                  <a:pt x="1450" y="1047"/>
                </a:lnTo>
                <a:lnTo>
                  <a:pt x="1444" y="1065"/>
                </a:lnTo>
                <a:lnTo>
                  <a:pt x="1438" y="1082"/>
                </a:lnTo>
                <a:lnTo>
                  <a:pt x="1431" y="1101"/>
                </a:lnTo>
                <a:lnTo>
                  <a:pt x="1424" y="1119"/>
                </a:lnTo>
                <a:lnTo>
                  <a:pt x="1416" y="1137"/>
                </a:lnTo>
                <a:lnTo>
                  <a:pt x="1407" y="1153"/>
                </a:lnTo>
                <a:lnTo>
                  <a:pt x="1400" y="1170"/>
                </a:lnTo>
                <a:lnTo>
                  <a:pt x="1391" y="1188"/>
                </a:lnTo>
                <a:lnTo>
                  <a:pt x="1383" y="1204"/>
                </a:lnTo>
                <a:lnTo>
                  <a:pt x="1362" y="1236"/>
                </a:lnTo>
                <a:lnTo>
                  <a:pt x="1341" y="1267"/>
                </a:lnTo>
                <a:lnTo>
                  <a:pt x="1319" y="1296"/>
                </a:lnTo>
                <a:lnTo>
                  <a:pt x="1296" y="1325"/>
                </a:lnTo>
                <a:lnTo>
                  <a:pt x="1271" y="1353"/>
                </a:lnTo>
                <a:lnTo>
                  <a:pt x="1246" y="1379"/>
                </a:lnTo>
                <a:lnTo>
                  <a:pt x="1218" y="1404"/>
                </a:lnTo>
                <a:lnTo>
                  <a:pt x="1190" y="1428"/>
                </a:lnTo>
                <a:lnTo>
                  <a:pt x="1176" y="1439"/>
                </a:lnTo>
                <a:lnTo>
                  <a:pt x="1161" y="1450"/>
                </a:lnTo>
                <a:lnTo>
                  <a:pt x="1146" y="1460"/>
                </a:lnTo>
                <a:lnTo>
                  <a:pt x="1130" y="1470"/>
                </a:lnTo>
                <a:lnTo>
                  <a:pt x="1116" y="1480"/>
                </a:lnTo>
                <a:lnTo>
                  <a:pt x="1100" y="1489"/>
                </a:lnTo>
                <a:lnTo>
                  <a:pt x="1083" y="1498"/>
                </a:lnTo>
                <a:lnTo>
                  <a:pt x="1067" y="1507"/>
                </a:lnTo>
                <a:lnTo>
                  <a:pt x="1051" y="1516"/>
                </a:lnTo>
                <a:lnTo>
                  <a:pt x="1035" y="1523"/>
                </a:lnTo>
                <a:lnTo>
                  <a:pt x="1017" y="1530"/>
                </a:lnTo>
                <a:lnTo>
                  <a:pt x="1001" y="1537"/>
                </a:lnTo>
                <a:lnTo>
                  <a:pt x="984" y="1543"/>
                </a:lnTo>
                <a:lnTo>
                  <a:pt x="966" y="1549"/>
                </a:lnTo>
                <a:lnTo>
                  <a:pt x="949" y="1555"/>
                </a:lnTo>
                <a:lnTo>
                  <a:pt x="931" y="1561"/>
                </a:lnTo>
                <a:lnTo>
                  <a:pt x="913" y="1565"/>
                </a:lnTo>
                <a:lnTo>
                  <a:pt x="894" y="1570"/>
                </a:lnTo>
                <a:lnTo>
                  <a:pt x="877" y="1573"/>
                </a:lnTo>
                <a:lnTo>
                  <a:pt x="858" y="1576"/>
                </a:lnTo>
                <a:lnTo>
                  <a:pt x="840" y="1578"/>
                </a:lnTo>
                <a:lnTo>
                  <a:pt x="821" y="1581"/>
                </a:lnTo>
                <a:lnTo>
                  <a:pt x="802" y="1583"/>
                </a:lnTo>
                <a:lnTo>
                  <a:pt x="783" y="1584"/>
                </a:lnTo>
                <a:lnTo>
                  <a:pt x="764" y="1584"/>
                </a:lnTo>
                <a:lnTo>
                  <a:pt x="745" y="1586"/>
                </a:lnTo>
              </a:path>
            </a:pathLst>
          </a:custGeom>
          <a:noFill/>
          <a:ln w="476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061" name="Freeform 31">
            <a:extLst>
              <a:ext uri="{FF2B5EF4-FFF2-40B4-BE49-F238E27FC236}">
                <a16:creationId xmlns:a16="http://schemas.microsoft.com/office/drawing/2014/main" id="{8CDEE850-A730-487F-A883-6A116396A7F9}"/>
              </a:ext>
            </a:extLst>
          </p:cNvPr>
          <p:cNvSpPr>
            <a:spLocks/>
          </p:cNvSpPr>
          <p:nvPr/>
        </p:nvSpPr>
        <p:spPr bwMode="auto">
          <a:xfrm>
            <a:off x="8316914" y="2690814"/>
            <a:ext cx="295275" cy="1258887"/>
          </a:xfrm>
          <a:custGeom>
            <a:avLst/>
            <a:gdLst>
              <a:gd name="T0" fmla="*/ 2147483646 w 373"/>
              <a:gd name="T1" fmla="*/ 2147483646 h 1586"/>
              <a:gd name="T2" fmla="*/ 2147483646 w 373"/>
              <a:gd name="T3" fmla="*/ 2147483646 h 1586"/>
              <a:gd name="T4" fmla="*/ 2147483646 w 373"/>
              <a:gd name="T5" fmla="*/ 2147483646 h 1586"/>
              <a:gd name="T6" fmla="*/ 2147483646 w 373"/>
              <a:gd name="T7" fmla="*/ 2147483646 h 1586"/>
              <a:gd name="T8" fmla="*/ 2147483646 w 373"/>
              <a:gd name="T9" fmla="*/ 2147483646 h 1586"/>
              <a:gd name="T10" fmla="*/ 2147483646 w 373"/>
              <a:gd name="T11" fmla="*/ 2147483646 h 1586"/>
              <a:gd name="T12" fmla="*/ 2147483646 w 373"/>
              <a:gd name="T13" fmla="*/ 2147483646 h 1586"/>
              <a:gd name="T14" fmla="*/ 2147483646 w 373"/>
              <a:gd name="T15" fmla="*/ 2147483646 h 1586"/>
              <a:gd name="T16" fmla="*/ 2147483646 w 373"/>
              <a:gd name="T17" fmla="*/ 2147483646 h 1586"/>
              <a:gd name="T18" fmla="*/ 2147483646 w 373"/>
              <a:gd name="T19" fmla="*/ 2147483646 h 1586"/>
              <a:gd name="T20" fmla="*/ 2147483646 w 373"/>
              <a:gd name="T21" fmla="*/ 2147483646 h 1586"/>
              <a:gd name="T22" fmla="*/ 2147483646 w 373"/>
              <a:gd name="T23" fmla="*/ 2147483646 h 1586"/>
              <a:gd name="T24" fmla="*/ 2147483646 w 373"/>
              <a:gd name="T25" fmla="*/ 2147483646 h 1586"/>
              <a:gd name="T26" fmla="*/ 2147483646 w 373"/>
              <a:gd name="T27" fmla="*/ 2147483646 h 1586"/>
              <a:gd name="T28" fmla="*/ 2147483646 w 373"/>
              <a:gd name="T29" fmla="*/ 2147483646 h 1586"/>
              <a:gd name="T30" fmla="*/ 2147483646 w 373"/>
              <a:gd name="T31" fmla="*/ 2147483646 h 1586"/>
              <a:gd name="T32" fmla="*/ 2147483646 w 373"/>
              <a:gd name="T33" fmla="*/ 2147483646 h 1586"/>
              <a:gd name="T34" fmla="*/ 2147483646 w 373"/>
              <a:gd name="T35" fmla="*/ 2147483646 h 1586"/>
              <a:gd name="T36" fmla="*/ 2147483646 w 373"/>
              <a:gd name="T37" fmla="*/ 2147483646 h 1586"/>
              <a:gd name="T38" fmla="*/ 2147483646 w 373"/>
              <a:gd name="T39" fmla="*/ 2147483646 h 1586"/>
              <a:gd name="T40" fmla="*/ 2147483646 w 373"/>
              <a:gd name="T41" fmla="*/ 2147483646 h 1586"/>
              <a:gd name="T42" fmla="*/ 2147483646 w 373"/>
              <a:gd name="T43" fmla="*/ 2147483646 h 1586"/>
              <a:gd name="T44" fmla="*/ 2147483646 w 373"/>
              <a:gd name="T45" fmla="*/ 2147483646 h 1586"/>
              <a:gd name="T46" fmla="*/ 2147483646 w 373"/>
              <a:gd name="T47" fmla="*/ 2147483646 h 1586"/>
              <a:gd name="T48" fmla="*/ 2147483646 w 373"/>
              <a:gd name="T49" fmla="*/ 2147483646 h 1586"/>
              <a:gd name="T50" fmla="*/ 2147483646 w 373"/>
              <a:gd name="T51" fmla="*/ 2147483646 h 1586"/>
              <a:gd name="T52" fmla="*/ 2147483646 w 373"/>
              <a:gd name="T53" fmla="*/ 2147483646 h 1586"/>
              <a:gd name="T54" fmla="*/ 2147483646 w 373"/>
              <a:gd name="T55" fmla="*/ 2147483646 h 1586"/>
              <a:gd name="T56" fmla="*/ 2147483646 w 373"/>
              <a:gd name="T57" fmla="*/ 2147483646 h 1586"/>
              <a:gd name="T58" fmla="*/ 2147483646 w 373"/>
              <a:gd name="T59" fmla="*/ 2147483646 h 1586"/>
              <a:gd name="T60" fmla="*/ 2147483646 w 373"/>
              <a:gd name="T61" fmla="*/ 2147483646 h 1586"/>
              <a:gd name="T62" fmla="*/ 2147483646 w 373"/>
              <a:gd name="T63" fmla="*/ 2147483646 h 1586"/>
              <a:gd name="T64" fmla="*/ 2147483646 w 373"/>
              <a:gd name="T65" fmla="*/ 2147483646 h 1586"/>
              <a:gd name="T66" fmla="*/ 2147483646 w 373"/>
              <a:gd name="T67" fmla="*/ 2147483646 h 1586"/>
              <a:gd name="T68" fmla="*/ 2147483646 w 373"/>
              <a:gd name="T69" fmla="*/ 2147483646 h 1586"/>
              <a:gd name="T70" fmla="*/ 2147483646 w 373"/>
              <a:gd name="T71" fmla="*/ 2147483646 h 1586"/>
              <a:gd name="T72" fmla="*/ 2147483646 w 373"/>
              <a:gd name="T73" fmla="*/ 2147483646 h 1586"/>
              <a:gd name="T74" fmla="*/ 2147483646 w 373"/>
              <a:gd name="T75" fmla="*/ 2147483646 h 1586"/>
              <a:gd name="T76" fmla="*/ 2147483646 w 373"/>
              <a:gd name="T77" fmla="*/ 2147483646 h 1586"/>
              <a:gd name="T78" fmla="*/ 2147483646 w 373"/>
              <a:gd name="T79" fmla="*/ 2147483646 h 1586"/>
              <a:gd name="T80" fmla="*/ 2147483646 w 373"/>
              <a:gd name="T81" fmla="*/ 2147483646 h 1586"/>
              <a:gd name="T82" fmla="*/ 2147483646 w 373"/>
              <a:gd name="T83" fmla="*/ 2147483646 h 1586"/>
              <a:gd name="T84" fmla="*/ 2147483646 w 373"/>
              <a:gd name="T85" fmla="*/ 2147483646 h 1586"/>
              <a:gd name="T86" fmla="*/ 2147483646 w 373"/>
              <a:gd name="T87" fmla="*/ 2147483646 h 1586"/>
              <a:gd name="T88" fmla="*/ 2147483646 w 373"/>
              <a:gd name="T89" fmla="*/ 2147483646 h 1586"/>
              <a:gd name="T90" fmla="*/ 0 w 373"/>
              <a:gd name="T91" fmla="*/ 0 h 158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73"/>
              <a:gd name="T139" fmla="*/ 0 h 1586"/>
              <a:gd name="T140" fmla="*/ 373 w 373"/>
              <a:gd name="T141" fmla="*/ 1586 h 158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73" h="1586">
                <a:moveTo>
                  <a:pt x="0" y="1586"/>
                </a:moveTo>
                <a:lnTo>
                  <a:pt x="9" y="1586"/>
                </a:lnTo>
                <a:lnTo>
                  <a:pt x="19" y="1584"/>
                </a:lnTo>
                <a:lnTo>
                  <a:pt x="28" y="1583"/>
                </a:lnTo>
                <a:lnTo>
                  <a:pt x="39" y="1581"/>
                </a:lnTo>
                <a:lnTo>
                  <a:pt x="47" y="1578"/>
                </a:lnTo>
                <a:lnTo>
                  <a:pt x="56" y="1577"/>
                </a:lnTo>
                <a:lnTo>
                  <a:pt x="66" y="1573"/>
                </a:lnTo>
                <a:lnTo>
                  <a:pt x="75" y="1570"/>
                </a:lnTo>
                <a:lnTo>
                  <a:pt x="84" y="1565"/>
                </a:lnTo>
                <a:lnTo>
                  <a:pt x="93" y="1561"/>
                </a:lnTo>
                <a:lnTo>
                  <a:pt x="102" y="1555"/>
                </a:lnTo>
                <a:lnTo>
                  <a:pt x="110" y="1549"/>
                </a:lnTo>
                <a:lnTo>
                  <a:pt x="119" y="1543"/>
                </a:lnTo>
                <a:lnTo>
                  <a:pt x="128" y="1537"/>
                </a:lnTo>
                <a:lnTo>
                  <a:pt x="137" y="1530"/>
                </a:lnTo>
                <a:lnTo>
                  <a:pt x="144" y="1523"/>
                </a:lnTo>
                <a:lnTo>
                  <a:pt x="153" y="1516"/>
                </a:lnTo>
                <a:lnTo>
                  <a:pt x="162" y="1507"/>
                </a:lnTo>
                <a:lnTo>
                  <a:pt x="169" y="1498"/>
                </a:lnTo>
                <a:lnTo>
                  <a:pt x="178" y="1489"/>
                </a:lnTo>
                <a:lnTo>
                  <a:pt x="185" y="1480"/>
                </a:lnTo>
                <a:lnTo>
                  <a:pt x="192" y="1470"/>
                </a:lnTo>
                <a:lnTo>
                  <a:pt x="201" y="1460"/>
                </a:lnTo>
                <a:lnTo>
                  <a:pt x="209" y="1450"/>
                </a:lnTo>
                <a:lnTo>
                  <a:pt x="216" y="1439"/>
                </a:lnTo>
                <a:lnTo>
                  <a:pt x="223" y="1428"/>
                </a:lnTo>
                <a:lnTo>
                  <a:pt x="236" y="1404"/>
                </a:lnTo>
                <a:lnTo>
                  <a:pt x="250" y="1379"/>
                </a:lnTo>
                <a:lnTo>
                  <a:pt x="263" y="1353"/>
                </a:lnTo>
                <a:lnTo>
                  <a:pt x="276" y="1325"/>
                </a:lnTo>
                <a:lnTo>
                  <a:pt x="288" y="1296"/>
                </a:lnTo>
                <a:lnTo>
                  <a:pt x="298" y="1267"/>
                </a:lnTo>
                <a:lnTo>
                  <a:pt x="308" y="1236"/>
                </a:lnTo>
                <a:lnTo>
                  <a:pt x="319" y="1204"/>
                </a:lnTo>
                <a:lnTo>
                  <a:pt x="327" y="1170"/>
                </a:lnTo>
                <a:lnTo>
                  <a:pt x="335" y="1137"/>
                </a:lnTo>
                <a:lnTo>
                  <a:pt x="343" y="1101"/>
                </a:lnTo>
                <a:lnTo>
                  <a:pt x="349" y="1065"/>
                </a:lnTo>
                <a:lnTo>
                  <a:pt x="355" y="1028"/>
                </a:lnTo>
                <a:lnTo>
                  <a:pt x="360" y="990"/>
                </a:lnTo>
                <a:lnTo>
                  <a:pt x="364" y="952"/>
                </a:lnTo>
                <a:lnTo>
                  <a:pt x="367" y="913"/>
                </a:lnTo>
                <a:lnTo>
                  <a:pt x="370" y="873"/>
                </a:lnTo>
                <a:lnTo>
                  <a:pt x="371" y="834"/>
                </a:lnTo>
                <a:lnTo>
                  <a:pt x="371" y="793"/>
                </a:lnTo>
                <a:lnTo>
                  <a:pt x="373" y="793"/>
                </a:lnTo>
                <a:lnTo>
                  <a:pt x="371" y="752"/>
                </a:lnTo>
                <a:lnTo>
                  <a:pt x="370" y="711"/>
                </a:lnTo>
                <a:lnTo>
                  <a:pt x="368" y="671"/>
                </a:lnTo>
                <a:lnTo>
                  <a:pt x="364" y="633"/>
                </a:lnTo>
                <a:lnTo>
                  <a:pt x="361" y="594"/>
                </a:lnTo>
                <a:lnTo>
                  <a:pt x="355" y="557"/>
                </a:lnTo>
                <a:lnTo>
                  <a:pt x="349" y="519"/>
                </a:lnTo>
                <a:lnTo>
                  <a:pt x="343" y="484"/>
                </a:lnTo>
                <a:lnTo>
                  <a:pt x="336" y="449"/>
                </a:lnTo>
                <a:lnTo>
                  <a:pt x="327" y="415"/>
                </a:lnTo>
                <a:lnTo>
                  <a:pt x="319" y="382"/>
                </a:lnTo>
                <a:lnTo>
                  <a:pt x="308" y="349"/>
                </a:lnTo>
                <a:lnTo>
                  <a:pt x="298" y="319"/>
                </a:lnTo>
                <a:lnTo>
                  <a:pt x="288" y="288"/>
                </a:lnTo>
                <a:lnTo>
                  <a:pt x="276" y="259"/>
                </a:lnTo>
                <a:lnTo>
                  <a:pt x="263" y="232"/>
                </a:lnTo>
                <a:lnTo>
                  <a:pt x="250" y="206"/>
                </a:lnTo>
                <a:lnTo>
                  <a:pt x="236" y="181"/>
                </a:lnTo>
                <a:lnTo>
                  <a:pt x="223" y="158"/>
                </a:lnTo>
                <a:lnTo>
                  <a:pt x="216" y="146"/>
                </a:lnTo>
                <a:lnTo>
                  <a:pt x="209" y="136"/>
                </a:lnTo>
                <a:lnTo>
                  <a:pt x="201" y="124"/>
                </a:lnTo>
                <a:lnTo>
                  <a:pt x="192" y="114"/>
                </a:lnTo>
                <a:lnTo>
                  <a:pt x="185" y="105"/>
                </a:lnTo>
                <a:lnTo>
                  <a:pt x="178" y="95"/>
                </a:lnTo>
                <a:lnTo>
                  <a:pt x="169" y="86"/>
                </a:lnTo>
                <a:lnTo>
                  <a:pt x="162" y="77"/>
                </a:lnTo>
                <a:lnTo>
                  <a:pt x="153" y="70"/>
                </a:lnTo>
                <a:lnTo>
                  <a:pt x="144" y="63"/>
                </a:lnTo>
                <a:lnTo>
                  <a:pt x="137" y="55"/>
                </a:lnTo>
                <a:lnTo>
                  <a:pt x="128" y="48"/>
                </a:lnTo>
                <a:lnTo>
                  <a:pt x="119" y="41"/>
                </a:lnTo>
                <a:lnTo>
                  <a:pt x="110" y="35"/>
                </a:lnTo>
                <a:lnTo>
                  <a:pt x="102" y="30"/>
                </a:lnTo>
                <a:lnTo>
                  <a:pt x="93" y="25"/>
                </a:lnTo>
                <a:lnTo>
                  <a:pt x="84" y="20"/>
                </a:lnTo>
                <a:lnTo>
                  <a:pt x="75" y="16"/>
                </a:lnTo>
                <a:lnTo>
                  <a:pt x="66" y="11"/>
                </a:lnTo>
                <a:lnTo>
                  <a:pt x="56" y="8"/>
                </a:lnTo>
                <a:lnTo>
                  <a:pt x="47" y="6"/>
                </a:lnTo>
                <a:lnTo>
                  <a:pt x="39" y="4"/>
                </a:lnTo>
                <a:lnTo>
                  <a:pt x="28" y="3"/>
                </a:lnTo>
                <a:lnTo>
                  <a:pt x="19" y="1"/>
                </a:lnTo>
                <a:lnTo>
                  <a:pt x="9" y="0"/>
                </a:lnTo>
                <a:lnTo>
                  <a:pt x="0"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062" name="Rectangle 32">
            <a:extLst>
              <a:ext uri="{FF2B5EF4-FFF2-40B4-BE49-F238E27FC236}">
                <a16:creationId xmlns:a16="http://schemas.microsoft.com/office/drawing/2014/main" id="{01F12F55-225B-4595-84F8-AF5074E9B07C}"/>
              </a:ext>
            </a:extLst>
          </p:cNvPr>
          <p:cNvSpPr>
            <a:spLocks noChangeArrowheads="1"/>
          </p:cNvSpPr>
          <p:nvPr/>
        </p:nvSpPr>
        <p:spPr bwMode="auto">
          <a:xfrm>
            <a:off x="8448105" y="2082800"/>
            <a:ext cx="110286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solidFill>
                  <a:srgbClr val="000000"/>
                </a:solidFill>
                <a:ea typeface="新細明體" panose="02020500000000000000" pitchFamily="18" charset="-120"/>
              </a:rPr>
              <a:t>Innocuous</a:t>
            </a:r>
            <a:endParaRPr lang="en-US" altLang="zh-TW" sz="2000" b="1">
              <a:solidFill>
                <a:srgbClr val="000066"/>
              </a:solidFill>
              <a:ea typeface="新細明體" panose="02020500000000000000" pitchFamily="18" charset="-120"/>
            </a:endParaRPr>
          </a:p>
        </p:txBody>
      </p:sp>
      <p:sp>
        <p:nvSpPr>
          <p:cNvPr id="44063" name="Rectangle 33">
            <a:extLst>
              <a:ext uri="{FF2B5EF4-FFF2-40B4-BE49-F238E27FC236}">
                <a16:creationId xmlns:a16="http://schemas.microsoft.com/office/drawing/2014/main" id="{E391973D-D487-49CA-B8A0-A4F5FD6809B5}"/>
              </a:ext>
            </a:extLst>
          </p:cNvPr>
          <p:cNvSpPr>
            <a:spLocks noChangeArrowheads="1"/>
          </p:cNvSpPr>
          <p:nvPr/>
        </p:nvSpPr>
        <p:spPr bwMode="auto">
          <a:xfrm>
            <a:off x="8032871" y="3302000"/>
            <a:ext cx="96019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solidFill>
                  <a:srgbClr val="000000"/>
                </a:solidFill>
                <a:ea typeface="新細明體" panose="02020500000000000000" pitchFamily="18" charset="-120"/>
              </a:rPr>
              <a:t>Sensitive</a:t>
            </a:r>
            <a:endParaRPr lang="en-US" altLang="zh-TW" sz="2000" b="1">
              <a:solidFill>
                <a:srgbClr val="000066"/>
              </a:solidFill>
              <a:ea typeface="新細明體" panose="02020500000000000000" pitchFamily="18" charset="-120"/>
            </a:endParaRPr>
          </a:p>
        </p:txBody>
      </p:sp>
      <p:sp>
        <p:nvSpPr>
          <p:cNvPr id="44064" name="Freeform 36">
            <a:extLst>
              <a:ext uri="{FF2B5EF4-FFF2-40B4-BE49-F238E27FC236}">
                <a16:creationId xmlns:a16="http://schemas.microsoft.com/office/drawing/2014/main" id="{7614EC5E-D5CC-4A83-84D8-B27C71E588A0}"/>
              </a:ext>
            </a:extLst>
          </p:cNvPr>
          <p:cNvSpPr>
            <a:spLocks/>
          </p:cNvSpPr>
          <p:nvPr/>
        </p:nvSpPr>
        <p:spPr bwMode="auto">
          <a:xfrm>
            <a:off x="3438526" y="2257425"/>
            <a:ext cx="1477963" cy="1574800"/>
          </a:xfrm>
          <a:custGeom>
            <a:avLst/>
            <a:gdLst>
              <a:gd name="T0" fmla="*/ 2147483646 w 1862"/>
              <a:gd name="T1" fmla="*/ 2147483646 h 1983"/>
              <a:gd name="T2" fmla="*/ 2147483646 w 1862"/>
              <a:gd name="T3" fmla="*/ 2147483646 h 1983"/>
              <a:gd name="T4" fmla="*/ 2147483646 w 1862"/>
              <a:gd name="T5" fmla="*/ 2147483646 h 1983"/>
              <a:gd name="T6" fmla="*/ 2147483646 w 1862"/>
              <a:gd name="T7" fmla="*/ 2147483646 h 1983"/>
              <a:gd name="T8" fmla="*/ 2147483646 w 1862"/>
              <a:gd name="T9" fmla="*/ 2147483646 h 1983"/>
              <a:gd name="T10" fmla="*/ 2147483646 w 1862"/>
              <a:gd name="T11" fmla="*/ 2147483646 h 1983"/>
              <a:gd name="T12" fmla="*/ 2147483646 w 1862"/>
              <a:gd name="T13" fmla="*/ 2147483646 h 1983"/>
              <a:gd name="T14" fmla="*/ 2147483646 w 1862"/>
              <a:gd name="T15" fmla="*/ 2147483646 h 1983"/>
              <a:gd name="T16" fmla="*/ 2147483646 w 1862"/>
              <a:gd name="T17" fmla="*/ 2147483646 h 1983"/>
              <a:gd name="T18" fmla="*/ 2147483646 w 1862"/>
              <a:gd name="T19" fmla="*/ 2147483646 h 1983"/>
              <a:gd name="T20" fmla="*/ 2147483646 w 1862"/>
              <a:gd name="T21" fmla="*/ 2147483646 h 1983"/>
              <a:gd name="T22" fmla="*/ 2147483646 w 1862"/>
              <a:gd name="T23" fmla="*/ 2147483646 h 1983"/>
              <a:gd name="T24" fmla="*/ 0 w 1862"/>
              <a:gd name="T25" fmla="*/ 2147483646 h 1983"/>
              <a:gd name="T26" fmla="*/ 2147483646 w 1862"/>
              <a:gd name="T27" fmla="*/ 2147483646 h 1983"/>
              <a:gd name="T28" fmla="*/ 2147483646 w 1862"/>
              <a:gd name="T29" fmla="*/ 2147483646 h 1983"/>
              <a:gd name="T30" fmla="*/ 2147483646 w 1862"/>
              <a:gd name="T31" fmla="*/ 2147483646 h 1983"/>
              <a:gd name="T32" fmla="*/ 2147483646 w 1862"/>
              <a:gd name="T33" fmla="*/ 2147483646 h 1983"/>
              <a:gd name="T34" fmla="*/ 2147483646 w 1862"/>
              <a:gd name="T35" fmla="*/ 2147483646 h 1983"/>
              <a:gd name="T36" fmla="*/ 2147483646 w 1862"/>
              <a:gd name="T37" fmla="*/ 2147483646 h 1983"/>
              <a:gd name="T38" fmla="*/ 2147483646 w 1862"/>
              <a:gd name="T39" fmla="*/ 2147483646 h 1983"/>
              <a:gd name="T40" fmla="*/ 2147483646 w 1862"/>
              <a:gd name="T41" fmla="*/ 2147483646 h 1983"/>
              <a:gd name="T42" fmla="*/ 2147483646 w 1862"/>
              <a:gd name="T43" fmla="*/ 2147483646 h 1983"/>
              <a:gd name="T44" fmla="*/ 2147483646 w 1862"/>
              <a:gd name="T45" fmla="*/ 2147483646 h 1983"/>
              <a:gd name="T46" fmla="*/ 2147483646 w 1862"/>
              <a:gd name="T47" fmla="*/ 2147483646 h 1983"/>
              <a:gd name="T48" fmla="*/ 2147483646 w 1862"/>
              <a:gd name="T49" fmla="*/ 2147483646 h 1983"/>
              <a:gd name="T50" fmla="*/ 2147483646 w 1862"/>
              <a:gd name="T51" fmla="*/ 0 h 1983"/>
              <a:gd name="T52" fmla="*/ 2147483646 w 1862"/>
              <a:gd name="T53" fmla="*/ 2147483646 h 1983"/>
              <a:gd name="T54" fmla="*/ 2147483646 w 1862"/>
              <a:gd name="T55" fmla="*/ 2147483646 h 1983"/>
              <a:gd name="T56" fmla="*/ 2147483646 w 1862"/>
              <a:gd name="T57" fmla="*/ 2147483646 h 1983"/>
              <a:gd name="T58" fmla="*/ 2147483646 w 1862"/>
              <a:gd name="T59" fmla="*/ 2147483646 h 1983"/>
              <a:gd name="T60" fmla="*/ 2147483646 w 1862"/>
              <a:gd name="T61" fmla="*/ 2147483646 h 1983"/>
              <a:gd name="T62" fmla="*/ 2147483646 w 1862"/>
              <a:gd name="T63" fmla="*/ 2147483646 h 1983"/>
              <a:gd name="T64" fmla="*/ 2147483646 w 1862"/>
              <a:gd name="T65" fmla="*/ 2147483646 h 1983"/>
              <a:gd name="T66" fmla="*/ 2147483646 w 1862"/>
              <a:gd name="T67" fmla="*/ 2147483646 h 1983"/>
              <a:gd name="T68" fmla="*/ 2147483646 w 1862"/>
              <a:gd name="T69" fmla="*/ 2147483646 h 1983"/>
              <a:gd name="T70" fmla="*/ 2147483646 w 1862"/>
              <a:gd name="T71" fmla="*/ 2147483646 h 1983"/>
              <a:gd name="T72" fmla="*/ 2147483646 w 1862"/>
              <a:gd name="T73" fmla="*/ 2147483646 h 1983"/>
              <a:gd name="T74" fmla="*/ 2147483646 w 1862"/>
              <a:gd name="T75" fmla="*/ 2147483646 h 1983"/>
              <a:gd name="T76" fmla="*/ 2147483646 w 1862"/>
              <a:gd name="T77" fmla="*/ 2147483646 h 1983"/>
              <a:gd name="T78" fmla="*/ 2147483646 w 1862"/>
              <a:gd name="T79" fmla="*/ 2147483646 h 1983"/>
              <a:gd name="T80" fmla="*/ 2147483646 w 1862"/>
              <a:gd name="T81" fmla="*/ 2147483646 h 1983"/>
              <a:gd name="T82" fmla="*/ 2147483646 w 1862"/>
              <a:gd name="T83" fmla="*/ 2147483646 h 1983"/>
              <a:gd name="T84" fmla="*/ 2147483646 w 1862"/>
              <a:gd name="T85" fmla="*/ 2147483646 h 1983"/>
              <a:gd name="T86" fmla="*/ 2147483646 w 1862"/>
              <a:gd name="T87" fmla="*/ 2147483646 h 1983"/>
              <a:gd name="T88" fmla="*/ 2147483646 w 1862"/>
              <a:gd name="T89" fmla="*/ 2147483646 h 1983"/>
              <a:gd name="T90" fmla="*/ 2147483646 w 1862"/>
              <a:gd name="T91" fmla="*/ 2147483646 h 1983"/>
              <a:gd name="T92" fmla="*/ 2147483646 w 1862"/>
              <a:gd name="T93" fmla="*/ 2147483646 h 1983"/>
              <a:gd name="T94" fmla="*/ 2147483646 w 1862"/>
              <a:gd name="T95" fmla="*/ 2147483646 h 1983"/>
              <a:gd name="T96" fmla="*/ 2147483646 w 1862"/>
              <a:gd name="T97" fmla="*/ 2147483646 h 1983"/>
              <a:gd name="T98" fmla="*/ 2147483646 w 1862"/>
              <a:gd name="T99" fmla="*/ 2147483646 h 1983"/>
              <a:gd name="T100" fmla="*/ 2147483646 w 1862"/>
              <a:gd name="T101" fmla="*/ 2147483646 h 198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62"/>
              <a:gd name="T154" fmla="*/ 0 h 1983"/>
              <a:gd name="T155" fmla="*/ 1862 w 1862"/>
              <a:gd name="T156" fmla="*/ 1983 h 198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62" h="1983">
                <a:moveTo>
                  <a:pt x="932" y="1983"/>
                </a:moveTo>
                <a:lnTo>
                  <a:pt x="907" y="1983"/>
                </a:lnTo>
                <a:lnTo>
                  <a:pt x="884" y="1981"/>
                </a:lnTo>
                <a:lnTo>
                  <a:pt x="860" y="1980"/>
                </a:lnTo>
                <a:lnTo>
                  <a:pt x="837" y="1978"/>
                </a:lnTo>
                <a:lnTo>
                  <a:pt x="813" y="1975"/>
                </a:lnTo>
                <a:lnTo>
                  <a:pt x="790" y="1971"/>
                </a:lnTo>
                <a:lnTo>
                  <a:pt x="766" y="1968"/>
                </a:lnTo>
                <a:lnTo>
                  <a:pt x="744" y="1962"/>
                </a:lnTo>
                <a:lnTo>
                  <a:pt x="721" y="1958"/>
                </a:lnTo>
                <a:lnTo>
                  <a:pt x="699" y="1952"/>
                </a:lnTo>
                <a:lnTo>
                  <a:pt x="677" y="1944"/>
                </a:lnTo>
                <a:lnTo>
                  <a:pt x="655" y="1939"/>
                </a:lnTo>
                <a:lnTo>
                  <a:pt x="633" y="1931"/>
                </a:lnTo>
                <a:lnTo>
                  <a:pt x="611" y="1923"/>
                </a:lnTo>
                <a:lnTo>
                  <a:pt x="590" y="1914"/>
                </a:lnTo>
                <a:lnTo>
                  <a:pt x="568" y="1905"/>
                </a:lnTo>
                <a:lnTo>
                  <a:pt x="548" y="1895"/>
                </a:lnTo>
                <a:lnTo>
                  <a:pt x="527" y="1884"/>
                </a:lnTo>
                <a:lnTo>
                  <a:pt x="507" y="1874"/>
                </a:lnTo>
                <a:lnTo>
                  <a:pt x="488" y="1863"/>
                </a:lnTo>
                <a:lnTo>
                  <a:pt x="467" y="1851"/>
                </a:lnTo>
                <a:lnTo>
                  <a:pt x="448" y="1839"/>
                </a:lnTo>
                <a:lnTo>
                  <a:pt x="429" y="1826"/>
                </a:lnTo>
                <a:lnTo>
                  <a:pt x="412" y="1813"/>
                </a:lnTo>
                <a:lnTo>
                  <a:pt x="393" y="1800"/>
                </a:lnTo>
                <a:lnTo>
                  <a:pt x="375" y="1786"/>
                </a:lnTo>
                <a:lnTo>
                  <a:pt x="357" y="1772"/>
                </a:lnTo>
                <a:lnTo>
                  <a:pt x="340" y="1756"/>
                </a:lnTo>
                <a:lnTo>
                  <a:pt x="322" y="1741"/>
                </a:lnTo>
                <a:lnTo>
                  <a:pt x="306" y="1725"/>
                </a:lnTo>
                <a:lnTo>
                  <a:pt x="288" y="1709"/>
                </a:lnTo>
                <a:lnTo>
                  <a:pt x="274" y="1693"/>
                </a:lnTo>
                <a:lnTo>
                  <a:pt x="258" y="1675"/>
                </a:lnTo>
                <a:lnTo>
                  <a:pt x="242" y="1658"/>
                </a:lnTo>
                <a:lnTo>
                  <a:pt x="227" y="1640"/>
                </a:lnTo>
                <a:lnTo>
                  <a:pt x="214" y="1623"/>
                </a:lnTo>
                <a:lnTo>
                  <a:pt x="199" y="1604"/>
                </a:lnTo>
                <a:lnTo>
                  <a:pt x="186" y="1585"/>
                </a:lnTo>
                <a:lnTo>
                  <a:pt x="173" y="1566"/>
                </a:lnTo>
                <a:lnTo>
                  <a:pt x="159" y="1545"/>
                </a:lnTo>
                <a:lnTo>
                  <a:pt x="148" y="1526"/>
                </a:lnTo>
                <a:lnTo>
                  <a:pt x="134" y="1506"/>
                </a:lnTo>
                <a:lnTo>
                  <a:pt x="124" y="1485"/>
                </a:lnTo>
                <a:lnTo>
                  <a:pt x="112" y="1465"/>
                </a:lnTo>
                <a:lnTo>
                  <a:pt x="102" y="1443"/>
                </a:lnTo>
                <a:lnTo>
                  <a:pt x="92" y="1421"/>
                </a:lnTo>
                <a:lnTo>
                  <a:pt x="83" y="1399"/>
                </a:lnTo>
                <a:lnTo>
                  <a:pt x="73" y="1377"/>
                </a:lnTo>
                <a:lnTo>
                  <a:pt x="66" y="1355"/>
                </a:lnTo>
                <a:lnTo>
                  <a:pt x="57" y="1333"/>
                </a:lnTo>
                <a:lnTo>
                  <a:pt x="49" y="1309"/>
                </a:lnTo>
                <a:lnTo>
                  <a:pt x="42" y="1286"/>
                </a:lnTo>
                <a:lnTo>
                  <a:pt x="36" y="1263"/>
                </a:lnTo>
                <a:lnTo>
                  <a:pt x="29" y="1239"/>
                </a:lnTo>
                <a:lnTo>
                  <a:pt x="25" y="1216"/>
                </a:lnTo>
                <a:lnTo>
                  <a:pt x="19" y="1191"/>
                </a:lnTo>
                <a:lnTo>
                  <a:pt x="14" y="1168"/>
                </a:lnTo>
                <a:lnTo>
                  <a:pt x="11" y="1143"/>
                </a:lnTo>
                <a:lnTo>
                  <a:pt x="8" y="1118"/>
                </a:lnTo>
                <a:lnTo>
                  <a:pt x="5" y="1093"/>
                </a:lnTo>
                <a:lnTo>
                  <a:pt x="3" y="1068"/>
                </a:lnTo>
                <a:lnTo>
                  <a:pt x="1" y="1042"/>
                </a:lnTo>
                <a:lnTo>
                  <a:pt x="1" y="1017"/>
                </a:lnTo>
                <a:lnTo>
                  <a:pt x="0" y="992"/>
                </a:lnTo>
                <a:lnTo>
                  <a:pt x="1" y="966"/>
                </a:lnTo>
                <a:lnTo>
                  <a:pt x="1" y="941"/>
                </a:lnTo>
                <a:lnTo>
                  <a:pt x="3" y="916"/>
                </a:lnTo>
                <a:lnTo>
                  <a:pt x="5" y="891"/>
                </a:lnTo>
                <a:lnTo>
                  <a:pt x="8" y="865"/>
                </a:lnTo>
                <a:lnTo>
                  <a:pt x="11" y="841"/>
                </a:lnTo>
                <a:lnTo>
                  <a:pt x="14" y="816"/>
                </a:lnTo>
                <a:lnTo>
                  <a:pt x="19" y="791"/>
                </a:lnTo>
                <a:lnTo>
                  <a:pt x="25" y="768"/>
                </a:lnTo>
                <a:lnTo>
                  <a:pt x="30" y="743"/>
                </a:lnTo>
                <a:lnTo>
                  <a:pt x="36" y="720"/>
                </a:lnTo>
                <a:lnTo>
                  <a:pt x="42" y="696"/>
                </a:lnTo>
                <a:lnTo>
                  <a:pt x="49" y="674"/>
                </a:lnTo>
                <a:lnTo>
                  <a:pt x="57" y="651"/>
                </a:lnTo>
                <a:lnTo>
                  <a:pt x="66" y="628"/>
                </a:lnTo>
                <a:lnTo>
                  <a:pt x="73" y="606"/>
                </a:lnTo>
                <a:lnTo>
                  <a:pt x="83" y="584"/>
                </a:lnTo>
                <a:lnTo>
                  <a:pt x="92" y="562"/>
                </a:lnTo>
                <a:lnTo>
                  <a:pt x="102" y="540"/>
                </a:lnTo>
                <a:lnTo>
                  <a:pt x="112" y="519"/>
                </a:lnTo>
                <a:lnTo>
                  <a:pt x="124" y="499"/>
                </a:lnTo>
                <a:lnTo>
                  <a:pt x="134" y="478"/>
                </a:lnTo>
                <a:lnTo>
                  <a:pt x="148" y="458"/>
                </a:lnTo>
                <a:lnTo>
                  <a:pt x="159" y="437"/>
                </a:lnTo>
                <a:lnTo>
                  <a:pt x="173" y="418"/>
                </a:lnTo>
                <a:lnTo>
                  <a:pt x="186" y="398"/>
                </a:lnTo>
                <a:lnTo>
                  <a:pt x="199" y="380"/>
                </a:lnTo>
                <a:lnTo>
                  <a:pt x="214" y="361"/>
                </a:lnTo>
                <a:lnTo>
                  <a:pt x="227" y="342"/>
                </a:lnTo>
                <a:lnTo>
                  <a:pt x="242" y="325"/>
                </a:lnTo>
                <a:lnTo>
                  <a:pt x="258" y="307"/>
                </a:lnTo>
                <a:lnTo>
                  <a:pt x="274" y="291"/>
                </a:lnTo>
                <a:lnTo>
                  <a:pt x="288" y="274"/>
                </a:lnTo>
                <a:lnTo>
                  <a:pt x="306" y="257"/>
                </a:lnTo>
                <a:lnTo>
                  <a:pt x="322" y="243"/>
                </a:lnTo>
                <a:lnTo>
                  <a:pt x="340" y="227"/>
                </a:lnTo>
                <a:lnTo>
                  <a:pt x="356" y="212"/>
                </a:lnTo>
                <a:lnTo>
                  <a:pt x="375" y="197"/>
                </a:lnTo>
                <a:lnTo>
                  <a:pt x="393" y="183"/>
                </a:lnTo>
                <a:lnTo>
                  <a:pt x="410" y="170"/>
                </a:lnTo>
                <a:lnTo>
                  <a:pt x="429" y="156"/>
                </a:lnTo>
                <a:lnTo>
                  <a:pt x="448" y="143"/>
                </a:lnTo>
                <a:lnTo>
                  <a:pt x="467" y="132"/>
                </a:lnTo>
                <a:lnTo>
                  <a:pt x="488" y="120"/>
                </a:lnTo>
                <a:lnTo>
                  <a:pt x="507" y="108"/>
                </a:lnTo>
                <a:lnTo>
                  <a:pt x="527" y="98"/>
                </a:lnTo>
                <a:lnTo>
                  <a:pt x="548" y="88"/>
                </a:lnTo>
                <a:lnTo>
                  <a:pt x="568" y="79"/>
                </a:lnTo>
                <a:lnTo>
                  <a:pt x="590" y="69"/>
                </a:lnTo>
                <a:lnTo>
                  <a:pt x="611" y="60"/>
                </a:lnTo>
                <a:lnTo>
                  <a:pt x="633" y="53"/>
                </a:lnTo>
                <a:lnTo>
                  <a:pt x="655" y="45"/>
                </a:lnTo>
                <a:lnTo>
                  <a:pt x="677" y="38"/>
                </a:lnTo>
                <a:lnTo>
                  <a:pt x="699" y="32"/>
                </a:lnTo>
                <a:lnTo>
                  <a:pt x="721" y="26"/>
                </a:lnTo>
                <a:lnTo>
                  <a:pt x="744" y="20"/>
                </a:lnTo>
                <a:lnTo>
                  <a:pt x="766" y="16"/>
                </a:lnTo>
                <a:lnTo>
                  <a:pt x="790" y="12"/>
                </a:lnTo>
                <a:lnTo>
                  <a:pt x="813" y="9"/>
                </a:lnTo>
                <a:lnTo>
                  <a:pt x="837" y="6"/>
                </a:lnTo>
                <a:lnTo>
                  <a:pt x="860" y="3"/>
                </a:lnTo>
                <a:lnTo>
                  <a:pt x="884" y="1"/>
                </a:lnTo>
                <a:lnTo>
                  <a:pt x="907" y="0"/>
                </a:lnTo>
                <a:lnTo>
                  <a:pt x="931" y="0"/>
                </a:lnTo>
                <a:lnTo>
                  <a:pt x="932" y="0"/>
                </a:lnTo>
                <a:lnTo>
                  <a:pt x="955" y="1"/>
                </a:lnTo>
                <a:lnTo>
                  <a:pt x="979" y="1"/>
                </a:lnTo>
                <a:lnTo>
                  <a:pt x="1002" y="3"/>
                </a:lnTo>
                <a:lnTo>
                  <a:pt x="1026" y="6"/>
                </a:lnTo>
                <a:lnTo>
                  <a:pt x="1049" y="9"/>
                </a:lnTo>
                <a:lnTo>
                  <a:pt x="1073" y="12"/>
                </a:lnTo>
                <a:lnTo>
                  <a:pt x="1096" y="16"/>
                </a:lnTo>
                <a:lnTo>
                  <a:pt x="1120" y="20"/>
                </a:lnTo>
                <a:lnTo>
                  <a:pt x="1142" y="26"/>
                </a:lnTo>
                <a:lnTo>
                  <a:pt x="1164" y="32"/>
                </a:lnTo>
                <a:lnTo>
                  <a:pt x="1186" y="38"/>
                </a:lnTo>
                <a:lnTo>
                  <a:pt x="1208" y="45"/>
                </a:lnTo>
                <a:lnTo>
                  <a:pt x="1230" y="53"/>
                </a:lnTo>
                <a:lnTo>
                  <a:pt x="1252" y="60"/>
                </a:lnTo>
                <a:lnTo>
                  <a:pt x="1272" y="69"/>
                </a:lnTo>
                <a:lnTo>
                  <a:pt x="1294" y="79"/>
                </a:lnTo>
                <a:lnTo>
                  <a:pt x="1315" y="88"/>
                </a:lnTo>
                <a:lnTo>
                  <a:pt x="1335" y="98"/>
                </a:lnTo>
                <a:lnTo>
                  <a:pt x="1356" y="108"/>
                </a:lnTo>
                <a:lnTo>
                  <a:pt x="1375" y="120"/>
                </a:lnTo>
                <a:lnTo>
                  <a:pt x="1395" y="132"/>
                </a:lnTo>
                <a:lnTo>
                  <a:pt x="1414" y="143"/>
                </a:lnTo>
                <a:lnTo>
                  <a:pt x="1433" y="156"/>
                </a:lnTo>
                <a:lnTo>
                  <a:pt x="1452" y="170"/>
                </a:lnTo>
                <a:lnTo>
                  <a:pt x="1470" y="183"/>
                </a:lnTo>
                <a:lnTo>
                  <a:pt x="1488" y="197"/>
                </a:lnTo>
                <a:lnTo>
                  <a:pt x="1507" y="212"/>
                </a:lnTo>
                <a:lnTo>
                  <a:pt x="1523" y="227"/>
                </a:lnTo>
                <a:lnTo>
                  <a:pt x="1540" y="243"/>
                </a:lnTo>
                <a:lnTo>
                  <a:pt x="1557" y="257"/>
                </a:lnTo>
                <a:lnTo>
                  <a:pt x="1574" y="274"/>
                </a:lnTo>
                <a:lnTo>
                  <a:pt x="1590" y="291"/>
                </a:lnTo>
                <a:lnTo>
                  <a:pt x="1605" y="307"/>
                </a:lnTo>
                <a:lnTo>
                  <a:pt x="1621" y="325"/>
                </a:lnTo>
                <a:lnTo>
                  <a:pt x="1636" y="342"/>
                </a:lnTo>
                <a:lnTo>
                  <a:pt x="1650" y="361"/>
                </a:lnTo>
                <a:lnTo>
                  <a:pt x="1664" y="380"/>
                </a:lnTo>
                <a:lnTo>
                  <a:pt x="1677" y="398"/>
                </a:lnTo>
                <a:lnTo>
                  <a:pt x="1690" y="418"/>
                </a:lnTo>
                <a:lnTo>
                  <a:pt x="1703" y="437"/>
                </a:lnTo>
                <a:lnTo>
                  <a:pt x="1715" y="458"/>
                </a:lnTo>
                <a:lnTo>
                  <a:pt x="1728" y="477"/>
                </a:lnTo>
                <a:lnTo>
                  <a:pt x="1738" y="499"/>
                </a:lnTo>
                <a:lnTo>
                  <a:pt x="1750" y="519"/>
                </a:lnTo>
                <a:lnTo>
                  <a:pt x="1760" y="540"/>
                </a:lnTo>
                <a:lnTo>
                  <a:pt x="1771" y="562"/>
                </a:lnTo>
                <a:lnTo>
                  <a:pt x="1779" y="584"/>
                </a:lnTo>
                <a:lnTo>
                  <a:pt x="1790" y="606"/>
                </a:lnTo>
                <a:lnTo>
                  <a:pt x="1797" y="628"/>
                </a:lnTo>
                <a:lnTo>
                  <a:pt x="1806" y="651"/>
                </a:lnTo>
                <a:lnTo>
                  <a:pt x="1813" y="673"/>
                </a:lnTo>
                <a:lnTo>
                  <a:pt x="1820" y="696"/>
                </a:lnTo>
                <a:lnTo>
                  <a:pt x="1826" y="720"/>
                </a:lnTo>
                <a:lnTo>
                  <a:pt x="1834" y="743"/>
                </a:lnTo>
                <a:lnTo>
                  <a:pt x="1838" y="768"/>
                </a:lnTo>
                <a:lnTo>
                  <a:pt x="1844" y="791"/>
                </a:lnTo>
                <a:lnTo>
                  <a:pt x="1848" y="816"/>
                </a:lnTo>
                <a:lnTo>
                  <a:pt x="1851" y="841"/>
                </a:lnTo>
                <a:lnTo>
                  <a:pt x="1854" y="865"/>
                </a:lnTo>
                <a:lnTo>
                  <a:pt x="1857" y="890"/>
                </a:lnTo>
                <a:lnTo>
                  <a:pt x="1860" y="916"/>
                </a:lnTo>
                <a:lnTo>
                  <a:pt x="1862" y="941"/>
                </a:lnTo>
                <a:lnTo>
                  <a:pt x="1862" y="966"/>
                </a:lnTo>
                <a:lnTo>
                  <a:pt x="1862" y="992"/>
                </a:lnTo>
                <a:lnTo>
                  <a:pt x="1862" y="1017"/>
                </a:lnTo>
                <a:lnTo>
                  <a:pt x="1862" y="1043"/>
                </a:lnTo>
                <a:lnTo>
                  <a:pt x="1860" y="1068"/>
                </a:lnTo>
                <a:lnTo>
                  <a:pt x="1857" y="1093"/>
                </a:lnTo>
                <a:lnTo>
                  <a:pt x="1854" y="1118"/>
                </a:lnTo>
                <a:lnTo>
                  <a:pt x="1851" y="1143"/>
                </a:lnTo>
                <a:lnTo>
                  <a:pt x="1848" y="1168"/>
                </a:lnTo>
                <a:lnTo>
                  <a:pt x="1844" y="1191"/>
                </a:lnTo>
                <a:lnTo>
                  <a:pt x="1838" y="1216"/>
                </a:lnTo>
                <a:lnTo>
                  <a:pt x="1834" y="1239"/>
                </a:lnTo>
                <a:lnTo>
                  <a:pt x="1826" y="1263"/>
                </a:lnTo>
                <a:lnTo>
                  <a:pt x="1820" y="1286"/>
                </a:lnTo>
                <a:lnTo>
                  <a:pt x="1813" y="1309"/>
                </a:lnTo>
                <a:lnTo>
                  <a:pt x="1806" y="1333"/>
                </a:lnTo>
                <a:lnTo>
                  <a:pt x="1797" y="1355"/>
                </a:lnTo>
                <a:lnTo>
                  <a:pt x="1790" y="1377"/>
                </a:lnTo>
                <a:lnTo>
                  <a:pt x="1779" y="1399"/>
                </a:lnTo>
                <a:lnTo>
                  <a:pt x="1771" y="1421"/>
                </a:lnTo>
                <a:lnTo>
                  <a:pt x="1760" y="1443"/>
                </a:lnTo>
                <a:lnTo>
                  <a:pt x="1750" y="1465"/>
                </a:lnTo>
                <a:lnTo>
                  <a:pt x="1738" y="1485"/>
                </a:lnTo>
                <a:lnTo>
                  <a:pt x="1728" y="1506"/>
                </a:lnTo>
                <a:lnTo>
                  <a:pt x="1715" y="1526"/>
                </a:lnTo>
                <a:lnTo>
                  <a:pt x="1703" y="1545"/>
                </a:lnTo>
                <a:lnTo>
                  <a:pt x="1690" y="1566"/>
                </a:lnTo>
                <a:lnTo>
                  <a:pt x="1677" y="1585"/>
                </a:lnTo>
                <a:lnTo>
                  <a:pt x="1664" y="1604"/>
                </a:lnTo>
                <a:lnTo>
                  <a:pt x="1650" y="1623"/>
                </a:lnTo>
                <a:lnTo>
                  <a:pt x="1636" y="1640"/>
                </a:lnTo>
                <a:lnTo>
                  <a:pt x="1621" y="1658"/>
                </a:lnTo>
                <a:lnTo>
                  <a:pt x="1605" y="1675"/>
                </a:lnTo>
                <a:lnTo>
                  <a:pt x="1590" y="1693"/>
                </a:lnTo>
                <a:lnTo>
                  <a:pt x="1574" y="1709"/>
                </a:lnTo>
                <a:lnTo>
                  <a:pt x="1557" y="1725"/>
                </a:lnTo>
                <a:lnTo>
                  <a:pt x="1540" y="1741"/>
                </a:lnTo>
                <a:lnTo>
                  <a:pt x="1523" y="1756"/>
                </a:lnTo>
                <a:lnTo>
                  <a:pt x="1507" y="1772"/>
                </a:lnTo>
                <a:lnTo>
                  <a:pt x="1488" y="1786"/>
                </a:lnTo>
                <a:lnTo>
                  <a:pt x="1470" y="1800"/>
                </a:lnTo>
                <a:lnTo>
                  <a:pt x="1452" y="1813"/>
                </a:lnTo>
                <a:lnTo>
                  <a:pt x="1433" y="1826"/>
                </a:lnTo>
                <a:lnTo>
                  <a:pt x="1414" y="1839"/>
                </a:lnTo>
                <a:lnTo>
                  <a:pt x="1395" y="1851"/>
                </a:lnTo>
                <a:lnTo>
                  <a:pt x="1375" y="1863"/>
                </a:lnTo>
                <a:lnTo>
                  <a:pt x="1356" y="1874"/>
                </a:lnTo>
                <a:lnTo>
                  <a:pt x="1335" y="1884"/>
                </a:lnTo>
                <a:lnTo>
                  <a:pt x="1315" y="1895"/>
                </a:lnTo>
                <a:lnTo>
                  <a:pt x="1294" y="1905"/>
                </a:lnTo>
                <a:lnTo>
                  <a:pt x="1272" y="1914"/>
                </a:lnTo>
                <a:lnTo>
                  <a:pt x="1252" y="1923"/>
                </a:lnTo>
                <a:lnTo>
                  <a:pt x="1230" y="1930"/>
                </a:lnTo>
                <a:lnTo>
                  <a:pt x="1208" y="1939"/>
                </a:lnTo>
                <a:lnTo>
                  <a:pt x="1186" y="1944"/>
                </a:lnTo>
                <a:lnTo>
                  <a:pt x="1164" y="1952"/>
                </a:lnTo>
                <a:lnTo>
                  <a:pt x="1142" y="1958"/>
                </a:lnTo>
                <a:lnTo>
                  <a:pt x="1118" y="1962"/>
                </a:lnTo>
                <a:lnTo>
                  <a:pt x="1096" y="1966"/>
                </a:lnTo>
                <a:lnTo>
                  <a:pt x="1073" y="1971"/>
                </a:lnTo>
                <a:lnTo>
                  <a:pt x="1049" y="1975"/>
                </a:lnTo>
                <a:lnTo>
                  <a:pt x="1026" y="1978"/>
                </a:lnTo>
                <a:lnTo>
                  <a:pt x="1002" y="1980"/>
                </a:lnTo>
                <a:lnTo>
                  <a:pt x="979" y="1981"/>
                </a:lnTo>
                <a:lnTo>
                  <a:pt x="955" y="1983"/>
                </a:lnTo>
                <a:lnTo>
                  <a:pt x="931" y="1983"/>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065" name="Rectangle 40">
            <a:extLst>
              <a:ext uri="{FF2B5EF4-FFF2-40B4-BE49-F238E27FC236}">
                <a16:creationId xmlns:a16="http://schemas.microsoft.com/office/drawing/2014/main" id="{1485AC03-F3CE-4B59-A9FE-B91B8938736E}"/>
              </a:ext>
            </a:extLst>
          </p:cNvPr>
          <p:cNvSpPr>
            <a:spLocks noChangeArrowheads="1"/>
          </p:cNvSpPr>
          <p:nvPr/>
        </p:nvSpPr>
        <p:spPr bwMode="auto">
          <a:xfrm>
            <a:off x="2017714" y="4562476"/>
            <a:ext cx="8207375"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764" tIns="47883" rIns="95764" bIns="47883"/>
          <a:lstStyle>
            <a:lvl1pPr marL="342900" indent="-342900">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buClr>
                <a:schemeClr val="tx1"/>
              </a:buClr>
              <a:buSzPct val="70000"/>
              <a:buFont typeface="Wingdings" panose="05000000000000000000" pitchFamily="2" charset="2"/>
              <a:buChar char="q"/>
            </a:pPr>
            <a:r>
              <a:rPr lang="en-US" altLang="zh-TW" sz="2400" b="1">
                <a:ea typeface="新細明體" panose="02020500000000000000" pitchFamily="18" charset="-120"/>
              </a:rPr>
              <a:t>Innocuous Instructions: </a:t>
            </a:r>
            <a:r>
              <a:rPr lang="en-US" altLang="zh-TW" sz="2400">
                <a:ea typeface="新細明體" panose="02020500000000000000" pitchFamily="18" charset="-120"/>
              </a:rPr>
              <a:t>Those that are not control or behavior sensitive</a:t>
            </a:r>
          </a:p>
          <a:p>
            <a:pPr eaLnBrk="1" hangingPunct="1">
              <a:buClr>
                <a:schemeClr val="tx1"/>
              </a:buClr>
              <a:buSzPct val="70000"/>
              <a:buFont typeface="Wingdings" panose="05000000000000000000" pitchFamily="2" charset="2"/>
              <a:buNone/>
            </a:pPr>
            <a:endParaRPr lang="en-US" altLang="zh-TW" sz="2400">
              <a:ea typeface="新細明體" panose="02020500000000000000" pitchFamily="18" charset="-120"/>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日期版面配置區 4">
            <a:extLst>
              <a:ext uri="{FF2B5EF4-FFF2-40B4-BE49-F238E27FC236}">
                <a16:creationId xmlns:a16="http://schemas.microsoft.com/office/drawing/2014/main" id="{1BCA5FEF-F931-44B4-8E28-A9C1F8112094}"/>
              </a:ext>
            </a:extLst>
          </p:cNvPr>
          <p:cNvSpPr>
            <a:spLocks noGrp="1"/>
          </p:cNvSpPr>
          <p:nvPr>
            <p:ph type="dt" sz="quarter" idx="10"/>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spcBef>
                <a:spcPct val="20000"/>
              </a:spcBef>
              <a:buClr>
                <a:schemeClr val="tx1"/>
              </a:buClr>
              <a:buSzPct val="70000"/>
              <a:buFont typeface="Wingdings" panose="05000000000000000000" pitchFamily="2" charset="2"/>
              <a:buChar char="q"/>
              <a:defRPr sz="2800" b="1">
                <a:solidFill>
                  <a:schemeClr val="tx1"/>
                </a:solidFill>
                <a:latin typeface="Arial" panose="020B0604020202020204" pitchFamily="34" charset="0"/>
              </a:defRPr>
            </a:lvl1pPr>
            <a:lvl2pPr marL="742950" indent="-285750" defTabSz="958850">
              <a:spcBef>
                <a:spcPct val="20000"/>
              </a:spcBef>
              <a:buClr>
                <a:schemeClr val="tx1"/>
              </a:buClr>
              <a:buSzPct val="65000"/>
              <a:buChar char="•"/>
              <a:defRPr sz="2500">
                <a:solidFill>
                  <a:schemeClr val="tx1"/>
                </a:solidFill>
                <a:latin typeface="Arial" panose="020B0604020202020204" pitchFamily="34" charset="0"/>
              </a:defRPr>
            </a:lvl2pPr>
            <a:lvl3pPr marL="1143000" indent="-228600" defTabSz="958850">
              <a:spcBef>
                <a:spcPct val="20000"/>
              </a:spcBef>
              <a:buClr>
                <a:schemeClr val="tx1"/>
              </a:buClr>
              <a:buSzPct val="65000"/>
              <a:buFont typeface="Wingdings" panose="05000000000000000000" pitchFamily="2" charset="2"/>
              <a:buChar char="•"/>
              <a:defRPr sz="2500">
                <a:solidFill>
                  <a:schemeClr val="tx1"/>
                </a:solidFill>
                <a:latin typeface="Arial" panose="020B0604020202020204" pitchFamily="34" charset="0"/>
              </a:defRPr>
            </a:lvl3pPr>
            <a:lvl4pPr marL="1600200" indent="-228600" defTabSz="958850">
              <a:spcBef>
                <a:spcPct val="20000"/>
              </a:spcBef>
              <a:buClr>
                <a:schemeClr val="tx2"/>
              </a:buClr>
              <a:buSzPct val="75000"/>
              <a:buFont typeface="Wingdings" panose="05000000000000000000" pitchFamily="2" charset="2"/>
              <a:buChar char="–"/>
              <a:defRPr sz="2100">
                <a:solidFill>
                  <a:schemeClr val="tx1"/>
                </a:solidFill>
                <a:latin typeface="Arial" panose="020B0604020202020204" pitchFamily="34" charset="0"/>
              </a:defRPr>
            </a:lvl4pPr>
            <a:lvl5pPr marL="2057400" indent="-228600" defTabSz="958850">
              <a:spcBef>
                <a:spcPct val="20000"/>
              </a:spcBef>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9pPr>
          </a:lstStyle>
          <a:p>
            <a:pPr>
              <a:spcBef>
                <a:spcPct val="0"/>
              </a:spcBef>
              <a:buClrTx/>
              <a:buSzTx/>
              <a:buFontTx/>
              <a:buNone/>
              <a:defRPr/>
            </a:pPr>
            <a:r>
              <a:rPr lang="en-US" altLang="zh-TW" sz="1500" b="0"/>
              <a:t>System VMs</a:t>
            </a:r>
          </a:p>
        </p:txBody>
      </p:sp>
      <p:sp>
        <p:nvSpPr>
          <p:cNvPr id="57347" name="投影片編號版面配置區 6">
            <a:extLst>
              <a:ext uri="{FF2B5EF4-FFF2-40B4-BE49-F238E27FC236}">
                <a16:creationId xmlns:a16="http://schemas.microsoft.com/office/drawing/2014/main" id="{3B077096-FC3F-4085-8D37-A80D0DBA90FE}"/>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defTabSz="958850">
              <a:spcBef>
                <a:spcPct val="20000"/>
              </a:spcBef>
              <a:buChar char="–"/>
              <a:defRPr sz="2800">
                <a:solidFill>
                  <a:schemeClr val="tx1"/>
                </a:solidFill>
                <a:latin typeface="Arial" panose="020B0604020202020204" pitchFamily="34" charset="0"/>
              </a:defRPr>
            </a:lvl2pPr>
            <a:lvl3pPr marL="1143000" indent="-228600" defTabSz="95885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defTabSz="958850">
              <a:spcBef>
                <a:spcPct val="20000"/>
              </a:spcBef>
              <a:buChar char="–"/>
              <a:defRPr sz="2000">
                <a:solidFill>
                  <a:schemeClr val="tx1"/>
                </a:solidFill>
                <a:latin typeface="Arial" panose="020B0604020202020204" pitchFamily="34" charset="0"/>
              </a:defRPr>
            </a:lvl4pPr>
            <a:lvl5pPr marL="2057400" indent="-228600" defTabSz="95885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FontTx/>
              <a:buNone/>
            </a:pPr>
            <a:fld id="{3513E979-F8B1-4243-9D3D-FAEC1C737D23}" type="slidenum">
              <a:rPr lang="en-US" altLang="zh-TW" sz="1200"/>
              <a:pPr>
                <a:spcBef>
                  <a:spcPct val="0"/>
                </a:spcBef>
                <a:buClrTx/>
                <a:buFontTx/>
                <a:buNone/>
              </a:pPr>
              <a:t>49</a:t>
            </a:fld>
            <a:endParaRPr lang="en-US" altLang="zh-TW" sz="1200"/>
          </a:p>
        </p:txBody>
      </p:sp>
      <p:sp>
        <p:nvSpPr>
          <p:cNvPr id="57348" name="Rectangle 3">
            <a:extLst>
              <a:ext uri="{FF2B5EF4-FFF2-40B4-BE49-F238E27FC236}">
                <a16:creationId xmlns:a16="http://schemas.microsoft.com/office/drawing/2014/main" id="{9E023845-0C29-4E46-A116-02DE74535F14}"/>
              </a:ext>
            </a:extLst>
          </p:cNvPr>
          <p:cNvSpPr>
            <a:spLocks noGrp="1" noChangeArrowheads="1"/>
          </p:cNvSpPr>
          <p:nvPr>
            <p:ph type="body" sz="half" idx="1"/>
          </p:nvPr>
        </p:nvSpPr>
        <p:spPr>
          <a:xfrm>
            <a:off x="1679575" y="611188"/>
            <a:ext cx="8280400" cy="4114800"/>
          </a:xfrm>
        </p:spPr>
        <p:txBody>
          <a:bodyPr/>
          <a:lstStyle/>
          <a:p>
            <a:pPr eaLnBrk="1" hangingPunct="1">
              <a:buFont typeface="Wingdings" panose="05000000000000000000" pitchFamily="2" charset="2"/>
              <a:buNone/>
              <a:defRPr/>
            </a:pPr>
            <a:endParaRPr lang="en-US" altLang="zh-TW" sz="2500">
              <a:ea typeface="新細明體" panose="02020500000000000000" pitchFamily="18" charset="-120"/>
            </a:endParaRPr>
          </a:p>
          <a:p>
            <a:pPr eaLnBrk="1" hangingPunct="1">
              <a:buFont typeface="Wingdings" panose="05000000000000000000" pitchFamily="2" charset="2"/>
              <a:buNone/>
              <a:defRPr/>
            </a:pPr>
            <a:endParaRPr lang="en-US" altLang="zh-TW" sz="2500">
              <a:ea typeface="新細明體" panose="02020500000000000000" pitchFamily="18" charset="-120"/>
            </a:endParaRPr>
          </a:p>
        </p:txBody>
      </p:sp>
      <p:sp>
        <p:nvSpPr>
          <p:cNvPr id="45061" name="AutoShape 6">
            <a:extLst>
              <a:ext uri="{FF2B5EF4-FFF2-40B4-BE49-F238E27FC236}">
                <a16:creationId xmlns:a16="http://schemas.microsoft.com/office/drawing/2014/main" id="{D5032289-2FB4-4EBF-A5A6-C2AD17957F68}"/>
              </a:ext>
            </a:extLst>
          </p:cNvPr>
          <p:cNvSpPr>
            <a:spLocks noChangeAspect="1" noChangeArrowheads="1" noTextEdit="1"/>
          </p:cNvSpPr>
          <p:nvPr/>
        </p:nvSpPr>
        <p:spPr bwMode="auto">
          <a:xfrm>
            <a:off x="1981200" y="1989138"/>
            <a:ext cx="7924800" cy="334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5062" name="Freeform 8">
            <a:extLst>
              <a:ext uri="{FF2B5EF4-FFF2-40B4-BE49-F238E27FC236}">
                <a16:creationId xmlns:a16="http://schemas.microsoft.com/office/drawing/2014/main" id="{8A9130CE-A348-47EA-9D9A-9E94C6D70DB4}"/>
              </a:ext>
            </a:extLst>
          </p:cNvPr>
          <p:cNvSpPr>
            <a:spLocks/>
          </p:cNvSpPr>
          <p:nvPr/>
        </p:nvSpPr>
        <p:spPr bwMode="auto">
          <a:xfrm>
            <a:off x="3052764" y="838201"/>
            <a:ext cx="2586037" cy="2754313"/>
          </a:xfrm>
          <a:custGeom>
            <a:avLst/>
            <a:gdLst>
              <a:gd name="T0" fmla="*/ 2147483646 w 3259"/>
              <a:gd name="T1" fmla="*/ 2147483646 h 3469"/>
              <a:gd name="T2" fmla="*/ 2147483646 w 3259"/>
              <a:gd name="T3" fmla="*/ 2147483646 h 3469"/>
              <a:gd name="T4" fmla="*/ 2147483646 w 3259"/>
              <a:gd name="T5" fmla="*/ 2147483646 h 3469"/>
              <a:gd name="T6" fmla="*/ 2147483646 w 3259"/>
              <a:gd name="T7" fmla="*/ 2147483646 h 3469"/>
              <a:gd name="T8" fmla="*/ 2147483646 w 3259"/>
              <a:gd name="T9" fmla="*/ 2147483646 h 3469"/>
              <a:gd name="T10" fmla="*/ 2147483646 w 3259"/>
              <a:gd name="T11" fmla="*/ 2147483646 h 3469"/>
              <a:gd name="T12" fmla="*/ 2147483646 w 3259"/>
              <a:gd name="T13" fmla="*/ 2147483646 h 3469"/>
              <a:gd name="T14" fmla="*/ 2147483646 w 3259"/>
              <a:gd name="T15" fmla="*/ 2147483646 h 3469"/>
              <a:gd name="T16" fmla="*/ 2147483646 w 3259"/>
              <a:gd name="T17" fmla="*/ 2147483646 h 3469"/>
              <a:gd name="T18" fmla="*/ 2147483646 w 3259"/>
              <a:gd name="T19" fmla="*/ 2147483646 h 3469"/>
              <a:gd name="T20" fmla="*/ 2147483646 w 3259"/>
              <a:gd name="T21" fmla="*/ 2147483646 h 3469"/>
              <a:gd name="T22" fmla="*/ 2147483646 w 3259"/>
              <a:gd name="T23" fmla="*/ 2147483646 h 3469"/>
              <a:gd name="T24" fmla="*/ 2147483646 w 3259"/>
              <a:gd name="T25" fmla="*/ 2147483646 h 3469"/>
              <a:gd name="T26" fmla="*/ 0 w 3259"/>
              <a:gd name="T27" fmla="*/ 2147483646 h 3469"/>
              <a:gd name="T28" fmla="*/ 2147483646 w 3259"/>
              <a:gd name="T29" fmla="*/ 2147483646 h 3469"/>
              <a:gd name="T30" fmla="*/ 2147483646 w 3259"/>
              <a:gd name="T31" fmla="*/ 2147483646 h 3469"/>
              <a:gd name="T32" fmla="*/ 2147483646 w 3259"/>
              <a:gd name="T33" fmla="*/ 2147483646 h 3469"/>
              <a:gd name="T34" fmla="*/ 2147483646 w 3259"/>
              <a:gd name="T35" fmla="*/ 2147483646 h 3469"/>
              <a:gd name="T36" fmla="*/ 2147483646 w 3259"/>
              <a:gd name="T37" fmla="*/ 2147483646 h 3469"/>
              <a:gd name="T38" fmla="*/ 2147483646 w 3259"/>
              <a:gd name="T39" fmla="*/ 2147483646 h 3469"/>
              <a:gd name="T40" fmla="*/ 2147483646 w 3259"/>
              <a:gd name="T41" fmla="*/ 2147483646 h 3469"/>
              <a:gd name="T42" fmla="*/ 2147483646 w 3259"/>
              <a:gd name="T43" fmla="*/ 2147483646 h 3469"/>
              <a:gd name="T44" fmla="*/ 2147483646 w 3259"/>
              <a:gd name="T45" fmla="*/ 2147483646 h 3469"/>
              <a:gd name="T46" fmla="*/ 2147483646 w 3259"/>
              <a:gd name="T47" fmla="*/ 2147483646 h 3469"/>
              <a:gd name="T48" fmla="*/ 2147483646 w 3259"/>
              <a:gd name="T49" fmla="*/ 2147483646 h 3469"/>
              <a:gd name="T50" fmla="*/ 2147483646 w 3259"/>
              <a:gd name="T51" fmla="*/ 2147483646 h 3469"/>
              <a:gd name="T52" fmla="*/ 2147483646 w 3259"/>
              <a:gd name="T53" fmla="*/ 2147483646 h 3469"/>
              <a:gd name="T54" fmla="*/ 2147483646 w 3259"/>
              <a:gd name="T55" fmla="*/ 0 h 3469"/>
              <a:gd name="T56" fmla="*/ 2147483646 w 3259"/>
              <a:gd name="T57" fmla="*/ 0 h 3469"/>
              <a:gd name="T58" fmla="*/ 2147483646 w 3259"/>
              <a:gd name="T59" fmla="*/ 2147483646 h 3469"/>
              <a:gd name="T60" fmla="*/ 2147483646 w 3259"/>
              <a:gd name="T61" fmla="*/ 2147483646 h 3469"/>
              <a:gd name="T62" fmla="*/ 2147483646 w 3259"/>
              <a:gd name="T63" fmla="*/ 2147483646 h 3469"/>
              <a:gd name="T64" fmla="*/ 2147483646 w 3259"/>
              <a:gd name="T65" fmla="*/ 2147483646 h 3469"/>
              <a:gd name="T66" fmla="*/ 2147483646 w 3259"/>
              <a:gd name="T67" fmla="*/ 2147483646 h 3469"/>
              <a:gd name="T68" fmla="*/ 2147483646 w 3259"/>
              <a:gd name="T69" fmla="*/ 2147483646 h 3469"/>
              <a:gd name="T70" fmla="*/ 2147483646 w 3259"/>
              <a:gd name="T71" fmla="*/ 2147483646 h 3469"/>
              <a:gd name="T72" fmla="*/ 2147483646 w 3259"/>
              <a:gd name="T73" fmla="*/ 2147483646 h 3469"/>
              <a:gd name="T74" fmla="*/ 2147483646 w 3259"/>
              <a:gd name="T75" fmla="*/ 2147483646 h 3469"/>
              <a:gd name="T76" fmla="*/ 2147483646 w 3259"/>
              <a:gd name="T77" fmla="*/ 2147483646 h 3469"/>
              <a:gd name="T78" fmla="*/ 2147483646 w 3259"/>
              <a:gd name="T79" fmla="*/ 2147483646 h 3469"/>
              <a:gd name="T80" fmla="*/ 2147483646 w 3259"/>
              <a:gd name="T81" fmla="*/ 2147483646 h 3469"/>
              <a:gd name="T82" fmla="*/ 2147483646 w 3259"/>
              <a:gd name="T83" fmla="*/ 2147483646 h 3469"/>
              <a:gd name="T84" fmla="*/ 2147483646 w 3259"/>
              <a:gd name="T85" fmla="*/ 2147483646 h 3469"/>
              <a:gd name="T86" fmla="*/ 2147483646 w 3259"/>
              <a:gd name="T87" fmla="*/ 2147483646 h 3469"/>
              <a:gd name="T88" fmla="*/ 2147483646 w 3259"/>
              <a:gd name="T89" fmla="*/ 2147483646 h 3469"/>
              <a:gd name="T90" fmla="*/ 2147483646 w 3259"/>
              <a:gd name="T91" fmla="*/ 2147483646 h 3469"/>
              <a:gd name="T92" fmla="*/ 2147483646 w 3259"/>
              <a:gd name="T93" fmla="*/ 2147483646 h 3469"/>
              <a:gd name="T94" fmla="*/ 2147483646 w 3259"/>
              <a:gd name="T95" fmla="*/ 2147483646 h 3469"/>
              <a:gd name="T96" fmla="*/ 2147483646 w 3259"/>
              <a:gd name="T97" fmla="*/ 2147483646 h 3469"/>
              <a:gd name="T98" fmla="*/ 2147483646 w 3259"/>
              <a:gd name="T99" fmla="*/ 2147483646 h 3469"/>
              <a:gd name="T100" fmla="*/ 2147483646 w 3259"/>
              <a:gd name="T101" fmla="*/ 2147483646 h 3469"/>
              <a:gd name="T102" fmla="*/ 2147483646 w 3259"/>
              <a:gd name="T103" fmla="*/ 2147483646 h 3469"/>
              <a:gd name="T104" fmla="*/ 2147483646 w 3259"/>
              <a:gd name="T105" fmla="*/ 2147483646 h 3469"/>
              <a:gd name="T106" fmla="*/ 2147483646 w 3259"/>
              <a:gd name="T107" fmla="*/ 2147483646 h 3469"/>
              <a:gd name="T108" fmla="*/ 2147483646 w 3259"/>
              <a:gd name="T109" fmla="*/ 2147483646 h 3469"/>
              <a:gd name="T110" fmla="*/ 2147483646 w 3259"/>
              <a:gd name="T111" fmla="*/ 2147483646 h 346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259"/>
              <a:gd name="T169" fmla="*/ 0 h 3469"/>
              <a:gd name="T170" fmla="*/ 3259 w 3259"/>
              <a:gd name="T171" fmla="*/ 3469 h 346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259" h="3469">
                <a:moveTo>
                  <a:pt x="1629" y="3469"/>
                </a:moveTo>
                <a:lnTo>
                  <a:pt x="1588" y="3468"/>
                </a:lnTo>
                <a:lnTo>
                  <a:pt x="1545" y="3466"/>
                </a:lnTo>
                <a:lnTo>
                  <a:pt x="1504" y="3463"/>
                </a:lnTo>
                <a:lnTo>
                  <a:pt x="1463" y="3459"/>
                </a:lnTo>
                <a:lnTo>
                  <a:pt x="1422" y="3454"/>
                </a:lnTo>
                <a:lnTo>
                  <a:pt x="1381" y="3449"/>
                </a:lnTo>
                <a:lnTo>
                  <a:pt x="1341" y="3441"/>
                </a:lnTo>
                <a:lnTo>
                  <a:pt x="1300" y="3432"/>
                </a:lnTo>
                <a:lnTo>
                  <a:pt x="1261" y="3424"/>
                </a:lnTo>
                <a:lnTo>
                  <a:pt x="1223" y="3413"/>
                </a:lnTo>
                <a:lnTo>
                  <a:pt x="1183" y="3403"/>
                </a:lnTo>
                <a:lnTo>
                  <a:pt x="1145" y="3390"/>
                </a:lnTo>
                <a:lnTo>
                  <a:pt x="1069" y="3364"/>
                </a:lnTo>
                <a:lnTo>
                  <a:pt x="995" y="3331"/>
                </a:lnTo>
                <a:lnTo>
                  <a:pt x="923" y="3298"/>
                </a:lnTo>
                <a:lnTo>
                  <a:pt x="853" y="3258"/>
                </a:lnTo>
                <a:lnTo>
                  <a:pt x="784" y="3217"/>
                </a:lnTo>
                <a:lnTo>
                  <a:pt x="718" y="3172"/>
                </a:lnTo>
                <a:lnTo>
                  <a:pt x="654" y="3124"/>
                </a:lnTo>
                <a:lnTo>
                  <a:pt x="592" y="3073"/>
                </a:lnTo>
                <a:lnTo>
                  <a:pt x="534" y="3018"/>
                </a:lnTo>
                <a:lnTo>
                  <a:pt x="478" y="2960"/>
                </a:lnTo>
                <a:lnTo>
                  <a:pt x="424" y="2900"/>
                </a:lnTo>
                <a:lnTo>
                  <a:pt x="372" y="2837"/>
                </a:lnTo>
                <a:lnTo>
                  <a:pt x="324" y="2771"/>
                </a:lnTo>
                <a:lnTo>
                  <a:pt x="278" y="2704"/>
                </a:lnTo>
                <a:lnTo>
                  <a:pt x="236" y="2634"/>
                </a:lnTo>
                <a:lnTo>
                  <a:pt x="196" y="2560"/>
                </a:lnTo>
                <a:lnTo>
                  <a:pt x="161" y="2486"/>
                </a:lnTo>
                <a:lnTo>
                  <a:pt x="127" y="2410"/>
                </a:lnTo>
                <a:lnTo>
                  <a:pt x="98" y="2331"/>
                </a:lnTo>
                <a:lnTo>
                  <a:pt x="73" y="2250"/>
                </a:lnTo>
                <a:lnTo>
                  <a:pt x="51" y="2167"/>
                </a:lnTo>
                <a:lnTo>
                  <a:pt x="34" y="2083"/>
                </a:lnTo>
                <a:lnTo>
                  <a:pt x="25" y="2041"/>
                </a:lnTo>
                <a:lnTo>
                  <a:pt x="19" y="1999"/>
                </a:lnTo>
                <a:lnTo>
                  <a:pt x="13" y="1955"/>
                </a:lnTo>
                <a:lnTo>
                  <a:pt x="9" y="1911"/>
                </a:lnTo>
                <a:lnTo>
                  <a:pt x="4" y="1867"/>
                </a:lnTo>
                <a:lnTo>
                  <a:pt x="1" y="1823"/>
                </a:lnTo>
                <a:lnTo>
                  <a:pt x="0" y="1779"/>
                </a:lnTo>
                <a:lnTo>
                  <a:pt x="0" y="1734"/>
                </a:lnTo>
                <a:lnTo>
                  <a:pt x="0" y="1690"/>
                </a:lnTo>
                <a:lnTo>
                  <a:pt x="1" y="1644"/>
                </a:lnTo>
                <a:lnTo>
                  <a:pt x="4" y="1601"/>
                </a:lnTo>
                <a:lnTo>
                  <a:pt x="9" y="1557"/>
                </a:lnTo>
                <a:lnTo>
                  <a:pt x="13" y="1513"/>
                </a:lnTo>
                <a:lnTo>
                  <a:pt x="19" y="1470"/>
                </a:lnTo>
                <a:lnTo>
                  <a:pt x="25" y="1426"/>
                </a:lnTo>
                <a:lnTo>
                  <a:pt x="34" y="1384"/>
                </a:lnTo>
                <a:lnTo>
                  <a:pt x="51" y="1301"/>
                </a:lnTo>
                <a:lnTo>
                  <a:pt x="73" y="1219"/>
                </a:lnTo>
                <a:lnTo>
                  <a:pt x="98" y="1138"/>
                </a:lnTo>
                <a:lnTo>
                  <a:pt x="127" y="1059"/>
                </a:lnTo>
                <a:lnTo>
                  <a:pt x="161" y="982"/>
                </a:lnTo>
                <a:lnTo>
                  <a:pt x="196" y="907"/>
                </a:lnTo>
                <a:lnTo>
                  <a:pt x="236" y="835"/>
                </a:lnTo>
                <a:lnTo>
                  <a:pt x="278" y="764"/>
                </a:lnTo>
                <a:lnTo>
                  <a:pt x="324" y="696"/>
                </a:lnTo>
                <a:lnTo>
                  <a:pt x="372" y="630"/>
                </a:lnTo>
                <a:lnTo>
                  <a:pt x="424" y="568"/>
                </a:lnTo>
                <a:lnTo>
                  <a:pt x="476" y="508"/>
                </a:lnTo>
                <a:lnTo>
                  <a:pt x="534" y="450"/>
                </a:lnTo>
                <a:lnTo>
                  <a:pt x="592" y="395"/>
                </a:lnTo>
                <a:lnTo>
                  <a:pt x="654" y="344"/>
                </a:lnTo>
                <a:lnTo>
                  <a:pt x="718" y="295"/>
                </a:lnTo>
                <a:lnTo>
                  <a:pt x="784" y="250"/>
                </a:lnTo>
                <a:lnTo>
                  <a:pt x="853" y="209"/>
                </a:lnTo>
                <a:lnTo>
                  <a:pt x="922" y="171"/>
                </a:lnTo>
                <a:lnTo>
                  <a:pt x="995" y="136"/>
                </a:lnTo>
                <a:lnTo>
                  <a:pt x="1069" y="105"/>
                </a:lnTo>
                <a:lnTo>
                  <a:pt x="1145" y="77"/>
                </a:lnTo>
                <a:lnTo>
                  <a:pt x="1183" y="66"/>
                </a:lnTo>
                <a:lnTo>
                  <a:pt x="1223" y="54"/>
                </a:lnTo>
                <a:lnTo>
                  <a:pt x="1261" y="44"/>
                </a:lnTo>
                <a:lnTo>
                  <a:pt x="1300" y="35"/>
                </a:lnTo>
                <a:lnTo>
                  <a:pt x="1341" y="26"/>
                </a:lnTo>
                <a:lnTo>
                  <a:pt x="1381" y="19"/>
                </a:lnTo>
                <a:lnTo>
                  <a:pt x="1422" y="13"/>
                </a:lnTo>
                <a:lnTo>
                  <a:pt x="1463" y="9"/>
                </a:lnTo>
                <a:lnTo>
                  <a:pt x="1504" y="4"/>
                </a:lnTo>
                <a:lnTo>
                  <a:pt x="1545" y="1"/>
                </a:lnTo>
                <a:lnTo>
                  <a:pt x="1588" y="0"/>
                </a:lnTo>
                <a:lnTo>
                  <a:pt x="1629" y="0"/>
                </a:lnTo>
                <a:lnTo>
                  <a:pt x="1671" y="0"/>
                </a:lnTo>
                <a:lnTo>
                  <a:pt x="1712" y="1"/>
                </a:lnTo>
                <a:lnTo>
                  <a:pt x="1755" y="4"/>
                </a:lnTo>
                <a:lnTo>
                  <a:pt x="1796" y="9"/>
                </a:lnTo>
                <a:lnTo>
                  <a:pt x="1837" y="13"/>
                </a:lnTo>
                <a:lnTo>
                  <a:pt x="1878" y="19"/>
                </a:lnTo>
                <a:lnTo>
                  <a:pt x="1917" y="26"/>
                </a:lnTo>
                <a:lnTo>
                  <a:pt x="1957" y="35"/>
                </a:lnTo>
                <a:lnTo>
                  <a:pt x="1997" y="44"/>
                </a:lnTo>
                <a:lnTo>
                  <a:pt x="2036" y="54"/>
                </a:lnTo>
                <a:lnTo>
                  <a:pt x="2074" y="66"/>
                </a:lnTo>
                <a:lnTo>
                  <a:pt x="2114" y="77"/>
                </a:lnTo>
                <a:lnTo>
                  <a:pt x="2189" y="105"/>
                </a:lnTo>
                <a:lnTo>
                  <a:pt x="2263" y="136"/>
                </a:lnTo>
                <a:lnTo>
                  <a:pt x="2335" y="171"/>
                </a:lnTo>
                <a:lnTo>
                  <a:pt x="2406" y="209"/>
                </a:lnTo>
                <a:lnTo>
                  <a:pt x="2475" y="250"/>
                </a:lnTo>
                <a:lnTo>
                  <a:pt x="2541" y="295"/>
                </a:lnTo>
                <a:lnTo>
                  <a:pt x="2604" y="344"/>
                </a:lnTo>
                <a:lnTo>
                  <a:pt x="2665" y="395"/>
                </a:lnTo>
                <a:lnTo>
                  <a:pt x="2724" y="450"/>
                </a:lnTo>
                <a:lnTo>
                  <a:pt x="2781" y="508"/>
                </a:lnTo>
                <a:lnTo>
                  <a:pt x="2835" y="568"/>
                </a:lnTo>
                <a:lnTo>
                  <a:pt x="2887" y="630"/>
                </a:lnTo>
                <a:lnTo>
                  <a:pt x="2935" y="696"/>
                </a:lnTo>
                <a:lnTo>
                  <a:pt x="2980" y="764"/>
                </a:lnTo>
                <a:lnTo>
                  <a:pt x="3023" y="835"/>
                </a:lnTo>
                <a:lnTo>
                  <a:pt x="3061" y="907"/>
                </a:lnTo>
                <a:lnTo>
                  <a:pt x="3098" y="982"/>
                </a:lnTo>
                <a:lnTo>
                  <a:pt x="3130" y="1059"/>
                </a:lnTo>
                <a:lnTo>
                  <a:pt x="3159" y="1138"/>
                </a:lnTo>
                <a:lnTo>
                  <a:pt x="3186" y="1219"/>
                </a:lnTo>
                <a:lnTo>
                  <a:pt x="3208" y="1301"/>
                </a:lnTo>
                <a:lnTo>
                  <a:pt x="3225" y="1384"/>
                </a:lnTo>
                <a:lnTo>
                  <a:pt x="3233" y="1426"/>
                </a:lnTo>
                <a:lnTo>
                  <a:pt x="3240" y="1470"/>
                </a:lnTo>
                <a:lnTo>
                  <a:pt x="3246" y="1513"/>
                </a:lnTo>
                <a:lnTo>
                  <a:pt x="3250" y="1557"/>
                </a:lnTo>
                <a:lnTo>
                  <a:pt x="3253" y="1601"/>
                </a:lnTo>
                <a:lnTo>
                  <a:pt x="3256" y="1644"/>
                </a:lnTo>
                <a:lnTo>
                  <a:pt x="3257" y="1690"/>
                </a:lnTo>
                <a:lnTo>
                  <a:pt x="3259" y="1734"/>
                </a:lnTo>
                <a:lnTo>
                  <a:pt x="3257" y="1779"/>
                </a:lnTo>
                <a:lnTo>
                  <a:pt x="3256" y="1823"/>
                </a:lnTo>
                <a:lnTo>
                  <a:pt x="3253" y="1867"/>
                </a:lnTo>
                <a:lnTo>
                  <a:pt x="3250" y="1911"/>
                </a:lnTo>
                <a:lnTo>
                  <a:pt x="3246" y="1955"/>
                </a:lnTo>
                <a:lnTo>
                  <a:pt x="3240" y="1999"/>
                </a:lnTo>
                <a:lnTo>
                  <a:pt x="3233" y="2041"/>
                </a:lnTo>
                <a:lnTo>
                  <a:pt x="3225" y="2083"/>
                </a:lnTo>
                <a:lnTo>
                  <a:pt x="3208" y="2167"/>
                </a:lnTo>
                <a:lnTo>
                  <a:pt x="3186" y="2250"/>
                </a:lnTo>
                <a:lnTo>
                  <a:pt x="3159" y="2331"/>
                </a:lnTo>
                <a:lnTo>
                  <a:pt x="3130" y="2410"/>
                </a:lnTo>
                <a:lnTo>
                  <a:pt x="3098" y="2486"/>
                </a:lnTo>
                <a:lnTo>
                  <a:pt x="3061" y="2560"/>
                </a:lnTo>
                <a:lnTo>
                  <a:pt x="3023" y="2634"/>
                </a:lnTo>
                <a:lnTo>
                  <a:pt x="2980" y="2704"/>
                </a:lnTo>
                <a:lnTo>
                  <a:pt x="2935" y="2771"/>
                </a:lnTo>
                <a:lnTo>
                  <a:pt x="2887" y="2837"/>
                </a:lnTo>
                <a:lnTo>
                  <a:pt x="2835" y="2900"/>
                </a:lnTo>
                <a:lnTo>
                  <a:pt x="2781" y="2960"/>
                </a:lnTo>
                <a:lnTo>
                  <a:pt x="2724" y="3018"/>
                </a:lnTo>
                <a:lnTo>
                  <a:pt x="2665" y="3073"/>
                </a:lnTo>
                <a:lnTo>
                  <a:pt x="2604" y="3124"/>
                </a:lnTo>
                <a:lnTo>
                  <a:pt x="2541" y="3172"/>
                </a:lnTo>
                <a:lnTo>
                  <a:pt x="2475" y="3217"/>
                </a:lnTo>
                <a:lnTo>
                  <a:pt x="2406" y="3258"/>
                </a:lnTo>
                <a:lnTo>
                  <a:pt x="2335" y="3298"/>
                </a:lnTo>
                <a:lnTo>
                  <a:pt x="2263" y="3331"/>
                </a:lnTo>
                <a:lnTo>
                  <a:pt x="2189" y="3364"/>
                </a:lnTo>
                <a:lnTo>
                  <a:pt x="2114" y="3390"/>
                </a:lnTo>
                <a:lnTo>
                  <a:pt x="2074" y="3403"/>
                </a:lnTo>
                <a:lnTo>
                  <a:pt x="2036" y="3413"/>
                </a:lnTo>
                <a:lnTo>
                  <a:pt x="1997" y="3424"/>
                </a:lnTo>
                <a:lnTo>
                  <a:pt x="1957" y="3432"/>
                </a:lnTo>
                <a:lnTo>
                  <a:pt x="1917" y="3441"/>
                </a:lnTo>
                <a:lnTo>
                  <a:pt x="1878" y="3449"/>
                </a:lnTo>
                <a:lnTo>
                  <a:pt x="1837" y="3454"/>
                </a:lnTo>
                <a:lnTo>
                  <a:pt x="1796" y="3459"/>
                </a:lnTo>
                <a:lnTo>
                  <a:pt x="1755" y="3463"/>
                </a:lnTo>
                <a:lnTo>
                  <a:pt x="1712" y="3466"/>
                </a:lnTo>
                <a:lnTo>
                  <a:pt x="1671" y="3468"/>
                </a:lnTo>
                <a:lnTo>
                  <a:pt x="1629" y="3469"/>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63" name="Freeform 9">
            <a:extLst>
              <a:ext uri="{FF2B5EF4-FFF2-40B4-BE49-F238E27FC236}">
                <a16:creationId xmlns:a16="http://schemas.microsoft.com/office/drawing/2014/main" id="{85960EBB-E92F-4427-91CB-D570ABD02EA9}"/>
              </a:ext>
            </a:extLst>
          </p:cNvPr>
          <p:cNvSpPr>
            <a:spLocks/>
          </p:cNvSpPr>
          <p:nvPr/>
        </p:nvSpPr>
        <p:spPr bwMode="auto">
          <a:xfrm>
            <a:off x="3052764" y="838201"/>
            <a:ext cx="2586037" cy="2754313"/>
          </a:xfrm>
          <a:custGeom>
            <a:avLst/>
            <a:gdLst>
              <a:gd name="T0" fmla="*/ 2147483646 w 3259"/>
              <a:gd name="T1" fmla="*/ 2147483646 h 3469"/>
              <a:gd name="T2" fmla="*/ 2147483646 w 3259"/>
              <a:gd name="T3" fmla="*/ 2147483646 h 3469"/>
              <a:gd name="T4" fmla="*/ 2147483646 w 3259"/>
              <a:gd name="T5" fmla="*/ 2147483646 h 3469"/>
              <a:gd name="T6" fmla="*/ 2147483646 w 3259"/>
              <a:gd name="T7" fmla="*/ 2147483646 h 3469"/>
              <a:gd name="T8" fmla="*/ 2147483646 w 3259"/>
              <a:gd name="T9" fmla="*/ 2147483646 h 3469"/>
              <a:gd name="T10" fmla="*/ 2147483646 w 3259"/>
              <a:gd name="T11" fmla="*/ 2147483646 h 3469"/>
              <a:gd name="T12" fmla="*/ 2147483646 w 3259"/>
              <a:gd name="T13" fmla="*/ 2147483646 h 3469"/>
              <a:gd name="T14" fmla="*/ 2147483646 w 3259"/>
              <a:gd name="T15" fmla="*/ 2147483646 h 3469"/>
              <a:gd name="T16" fmla="*/ 2147483646 w 3259"/>
              <a:gd name="T17" fmla="*/ 2147483646 h 3469"/>
              <a:gd name="T18" fmla="*/ 2147483646 w 3259"/>
              <a:gd name="T19" fmla="*/ 2147483646 h 3469"/>
              <a:gd name="T20" fmla="*/ 2147483646 w 3259"/>
              <a:gd name="T21" fmla="*/ 2147483646 h 3469"/>
              <a:gd name="T22" fmla="*/ 2147483646 w 3259"/>
              <a:gd name="T23" fmla="*/ 2147483646 h 3469"/>
              <a:gd name="T24" fmla="*/ 2147483646 w 3259"/>
              <a:gd name="T25" fmla="*/ 2147483646 h 3469"/>
              <a:gd name="T26" fmla="*/ 0 w 3259"/>
              <a:gd name="T27" fmla="*/ 2147483646 h 3469"/>
              <a:gd name="T28" fmla="*/ 2147483646 w 3259"/>
              <a:gd name="T29" fmla="*/ 2147483646 h 3469"/>
              <a:gd name="T30" fmla="*/ 2147483646 w 3259"/>
              <a:gd name="T31" fmla="*/ 2147483646 h 3469"/>
              <a:gd name="T32" fmla="*/ 2147483646 w 3259"/>
              <a:gd name="T33" fmla="*/ 2147483646 h 3469"/>
              <a:gd name="T34" fmla="*/ 2147483646 w 3259"/>
              <a:gd name="T35" fmla="*/ 2147483646 h 3469"/>
              <a:gd name="T36" fmla="*/ 2147483646 w 3259"/>
              <a:gd name="T37" fmla="*/ 2147483646 h 3469"/>
              <a:gd name="T38" fmla="*/ 2147483646 w 3259"/>
              <a:gd name="T39" fmla="*/ 2147483646 h 3469"/>
              <a:gd name="T40" fmla="*/ 2147483646 w 3259"/>
              <a:gd name="T41" fmla="*/ 2147483646 h 3469"/>
              <a:gd name="T42" fmla="*/ 2147483646 w 3259"/>
              <a:gd name="T43" fmla="*/ 2147483646 h 3469"/>
              <a:gd name="T44" fmla="*/ 2147483646 w 3259"/>
              <a:gd name="T45" fmla="*/ 2147483646 h 3469"/>
              <a:gd name="T46" fmla="*/ 2147483646 w 3259"/>
              <a:gd name="T47" fmla="*/ 2147483646 h 3469"/>
              <a:gd name="T48" fmla="*/ 2147483646 w 3259"/>
              <a:gd name="T49" fmla="*/ 2147483646 h 3469"/>
              <a:gd name="T50" fmla="*/ 2147483646 w 3259"/>
              <a:gd name="T51" fmla="*/ 2147483646 h 3469"/>
              <a:gd name="T52" fmla="*/ 2147483646 w 3259"/>
              <a:gd name="T53" fmla="*/ 2147483646 h 3469"/>
              <a:gd name="T54" fmla="*/ 2147483646 w 3259"/>
              <a:gd name="T55" fmla="*/ 0 h 3469"/>
              <a:gd name="T56" fmla="*/ 2147483646 w 3259"/>
              <a:gd name="T57" fmla="*/ 0 h 3469"/>
              <a:gd name="T58" fmla="*/ 2147483646 w 3259"/>
              <a:gd name="T59" fmla="*/ 2147483646 h 3469"/>
              <a:gd name="T60" fmla="*/ 2147483646 w 3259"/>
              <a:gd name="T61" fmla="*/ 2147483646 h 3469"/>
              <a:gd name="T62" fmla="*/ 2147483646 w 3259"/>
              <a:gd name="T63" fmla="*/ 2147483646 h 3469"/>
              <a:gd name="T64" fmla="*/ 2147483646 w 3259"/>
              <a:gd name="T65" fmla="*/ 2147483646 h 3469"/>
              <a:gd name="T66" fmla="*/ 2147483646 w 3259"/>
              <a:gd name="T67" fmla="*/ 2147483646 h 3469"/>
              <a:gd name="T68" fmla="*/ 2147483646 w 3259"/>
              <a:gd name="T69" fmla="*/ 2147483646 h 3469"/>
              <a:gd name="T70" fmla="*/ 2147483646 w 3259"/>
              <a:gd name="T71" fmla="*/ 2147483646 h 3469"/>
              <a:gd name="T72" fmla="*/ 2147483646 w 3259"/>
              <a:gd name="T73" fmla="*/ 2147483646 h 3469"/>
              <a:gd name="T74" fmla="*/ 2147483646 w 3259"/>
              <a:gd name="T75" fmla="*/ 2147483646 h 3469"/>
              <a:gd name="T76" fmla="*/ 2147483646 w 3259"/>
              <a:gd name="T77" fmla="*/ 2147483646 h 3469"/>
              <a:gd name="T78" fmla="*/ 2147483646 w 3259"/>
              <a:gd name="T79" fmla="*/ 2147483646 h 3469"/>
              <a:gd name="T80" fmla="*/ 2147483646 w 3259"/>
              <a:gd name="T81" fmla="*/ 2147483646 h 3469"/>
              <a:gd name="T82" fmla="*/ 2147483646 w 3259"/>
              <a:gd name="T83" fmla="*/ 2147483646 h 3469"/>
              <a:gd name="T84" fmla="*/ 2147483646 w 3259"/>
              <a:gd name="T85" fmla="*/ 2147483646 h 3469"/>
              <a:gd name="T86" fmla="*/ 2147483646 w 3259"/>
              <a:gd name="T87" fmla="*/ 2147483646 h 3469"/>
              <a:gd name="T88" fmla="*/ 2147483646 w 3259"/>
              <a:gd name="T89" fmla="*/ 2147483646 h 3469"/>
              <a:gd name="T90" fmla="*/ 2147483646 w 3259"/>
              <a:gd name="T91" fmla="*/ 2147483646 h 3469"/>
              <a:gd name="T92" fmla="*/ 2147483646 w 3259"/>
              <a:gd name="T93" fmla="*/ 2147483646 h 3469"/>
              <a:gd name="T94" fmla="*/ 2147483646 w 3259"/>
              <a:gd name="T95" fmla="*/ 2147483646 h 3469"/>
              <a:gd name="T96" fmla="*/ 2147483646 w 3259"/>
              <a:gd name="T97" fmla="*/ 2147483646 h 3469"/>
              <a:gd name="T98" fmla="*/ 2147483646 w 3259"/>
              <a:gd name="T99" fmla="*/ 2147483646 h 3469"/>
              <a:gd name="T100" fmla="*/ 2147483646 w 3259"/>
              <a:gd name="T101" fmla="*/ 2147483646 h 3469"/>
              <a:gd name="T102" fmla="*/ 2147483646 w 3259"/>
              <a:gd name="T103" fmla="*/ 2147483646 h 3469"/>
              <a:gd name="T104" fmla="*/ 2147483646 w 3259"/>
              <a:gd name="T105" fmla="*/ 2147483646 h 3469"/>
              <a:gd name="T106" fmla="*/ 2147483646 w 3259"/>
              <a:gd name="T107" fmla="*/ 2147483646 h 3469"/>
              <a:gd name="T108" fmla="*/ 2147483646 w 3259"/>
              <a:gd name="T109" fmla="*/ 2147483646 h 3469"/>
              <a:gd name="T110" fmla="*/ 2147483646 w 3259"/>
              <a:gd name="T111" fmla="*/ 2147483646 h 346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259"/>
              <a:gd name="T169" fmla="*/ 0 h 3469"/>
              <a:gd name="T170" fmla="*/ 3259 w 3259"/>
              <a:gd name="T171" fmla="*/ 3469 h 346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259" h="3469">
                <a:moveTo>
                  <a:pt x="1629" y="3469"/>
                </a:moveTo>
                <a:lnTo>
                  <a:pt x="1588" y="3468"/>
                </a:lnTo>
                <a:lnTo>
                  <a:pt x="1545" y="3466"/>
                </a:lnTo>
                <a:lnTo>
                  <a:pt x="1504" y="3463"/>
                </a:lnTo>
                <a:lnTo>
                  <a:pt x="1463" y="3459"/>
                </a:lnTo>
                <a:lnTo>
                  <a:pt x="1422" y="3454"/>
                </a:lnTo>
                <a:lnTo>
                  <a:pt x="1381" y="3449"/>
                </a:lnTo>
                <a:lnTo>
                  <a:pt x="1341" y="3441"/>
                </a:lnTo>
                <a:lnTo>
                  <a:pt x="1300" y="3432"/>
                </a:lnTo>
                <a:lnTo>
                  <a:pt x="1261" y="3424"/>
                </a:lnTo>
                <a:lnTo>
                  <a:pt x="1223" y="3413"/>
                </a:lnTo>
                <a:lnTo>
                  <a:pt x="1183" y="3403"/>
                </a:lnTo>
                <a:lnTo>
                  <a:pt x="1145" y="3390"/>
                </a:lnTo>
                <a:lnTo>
                  <a:pt x="1069" y="3364"/>
                </a:lnTo>
                <a:lnTo>
                  <a:pt x="995" y="3331"/>
                </a:lnTo>
                <a:lnTo>
                  <a:pt x="923" y="3298"/>
                </a:lnTo>
                <a:lnTo>
                  <a:pt x="853" y="3258"/>
                </a:lnTo>
                <a:lnTo>
                  <a:pt x="784" y="3217"/>
                </a:lnTo>
                <a:lnTo>
                  <a:pt x="718" y="3172"/>
                </a:lnTo>
                <a:lnTo>
                  <a:pt x="654" y="3124"/>
                </a:lnTo>
                <a:lnTo>
                  <a:pt x="592" y="3073"/>
                </a:lnTo>
                <a:lnTo>
                  <a:pt x="534" y="3018"/>
                </a:lnTo>
                <a:lnTo>
                  <a:pt x="478" y="2960"/>
                </a:lnTo>
                <a:lnTo>
                  <a:pt x="424" y="2900"/>
                </a:lnTo>
                <a:lnTo>
                  <a:pt x="372" y="2837"/>
                </a:lnTo>
                <a:lnTo>
                  <a:pt x="324" y="2771"/>
                </a:lnTo>
                <a:lnTo>
                  <a:pt x="278" y="2704"/>
                </a:lnTo>
                <a:lnTo>
                  <a:pt x="236" y="2634"/>
                </a:lnTo>
                <a:lnTo>
                  <a:pt x="196" y="2560"/>
                </a:lnTo>
                <a:lnTo>
                  <a:pt x="161" y="2486"/>
                </a:lnTo>
                <a:lnTo>
                  <a:pt x="127" y="2410"/>
                </a:lnTo>
                <a:lnTo>
                  <a:pt x="98" y="2331"/>
                </a:lnTo>
                <a:lnTo>
                  <a:pt x="73" y="2250"/>
                </a:lnTo>
                <a:lnTo>
                  <a:pt x="51" y="2167"/>
                </a:lnTo>
                <a:lnTo>
                  <a:pt x="34" y="2083"/>
                </a:lnTo>
                <a:lnTo>
                  <a:pt x="25" y="2041"/>
                </a:lnTo>
                <a:lnTo>
                  <a:pt x="19" y="1999"/>
                </a:lnTo>
                <a:lnTo>
                  <a:pt x="13" y="1955"/>
                </a:lnTo>
                <a:lnTo>
                  <a:pt x="9" y="1911"/>
                </a:lnTo>
                <a:lnTo>
                  <a:pt x="4" y="1867"/>
                </a:lnTo>
                <a:lnTo>
                  <a:pt x="1" y="1823"/>
                </a:lnTo>
                <a:lnTo>
                  <a:pt x="0" y="1779"/>
                </a:lnTo>
                <a:lnTo>
                  <a:pt x="0" y="1734"/>
                </a:lnTo>
                <a:lnTo>
                  <a:pt x="0" y="1690"/>
                </a:lnTo>
                <a:lnTo>
                  <a:pt x="1" y="1644"/>
                </a:lnTo>
                <a:lnTo>
                  <a:pt x="4" y="1601"/>
                </a:lnTo>
                <a:lnTo>
                  <a:pt x="9" y="1557"/>
                </a:lnTo>
                <a:lnTo>
                  <a:pt x="13" y="1513"/>
                </a:lnTo>
                <a:lnTo>
                  <a:pt x="19" y="1470"/>
                </a:lnTo>
                <a:lnTo>
                  <a:pt x="25" y="1426"/>
                </a:lnTo>
                <a:lnTo>
                  <a:pt x="34" y="1384"/>
                </a:lnTo>
                <a:lnTo>
                  <a:pt x="51" y="1301"/>
                </a:lnTo>
                <a:lnTo>
                  <a:pt x="73" y="1219"/>
                </a:lnTo>
                <a:lnTo>
                  <a:pt x="98" y="1138"/>
                </a:lnTo>
                <a:lnTo>
                  <a:pt x="127" y="1059"/>
                </a:lnTo>
                <a:lnTo>
                  <a:pt x="161" y="982"/>
                </a:lnTo>
                <a:lnTo>
                  <a:pt x="196" y="907"/>
                </a:lnTo>
                <a:lnTo>
                  <a:pt x="236" y="835"/>
                </a:lnTo>
                <a:lnTo>
                  <a:pt x="278" y="764"/>
                </a:lnTo>
                <a:lnTo>
                  <a:pt x="324" y="696"/>
                </a:lnTo>
                <a:lnTo>
                  <a:pt x="372" y="630"/>
                </a:lnTo>
                <a:lnTo>
                  <a:pt x="424" y="568"/>
                </a:lnTo>
                <a:lnTo>
                  <a:pt x="476" y="508"/>
                </a:lnTo>
                <a:lnTo>
                  <a:pt x="534" y="450"/>
                </a:lnTo>
                <a:lnTo>
                  <a:pt x="592" y="395"/>
                </a:lnTo>
                <a:lnTo>
                  <a:pt x="654" y="344"/>
                </a:lnTo>
                <a:lnTo>
                  <a:pt x="718" y="295"/>
                </a:lnTo>
                <a:lnTo>
                  <a:pt x="784" y="250"/>
                </a:lnTo>
                <a:lnTo>
                  <a:pt x="853" y="209"/>
                </a:lnTo>
                <a:lnTo>
                  <a:pt x="922" y="171"/>
                </a:lnTo>
                <a:lnTo>
                  <a:pt x="995" y="136"/>
                </a:lnTo>
                <a:lnTo>
                  <a:pt x="1069" y="105"/>
                </a:lnTo>
                <a:lnTo>
                  <a:pt x="1145" y="77"/>
                </a:lnTo>
                <a:lnTo>
                  <a:pt x="1183" y="66"/>
                </a:lnTo>
                <a:lnTo>
                  <a:pt x="1223" y="54"/>
                </a:lnTo>
                <a:lnTo>
                  <a:pt x="1261" y="44"/>
                </a:lnTo>
                <a:lnTo>
                  <a:pt x="1300" y="35"/>
                </a:lnTo>
                <a:lnTo>
                  <a:pt x="1341" y="26"/>
                </a:lnTo>
                <a:lnTo>
                  <a:pt x="1381" y="19"/>
                </a:lnTo>
                <a:lnTo>
                  <a:pt x="1422" y="13"/>
                </a:lnTo>
                <a:lnTo>
                  <a:pt x="1463" y="9"/>
                </a:lnTo>
                <a:lnTo>
                  <a:pt x="1504" y="4"/>
                </a:lnTo>
                <a:lnTo>
                  <a:pt x="1545" y="1"/>
                </a:lnTo>
                <a:lnTo>
                  <a:pt x="1588" y="0"/>
                </a:lnTo>
                <a:lnTo>
                  <a:pt x="1629" y="0"/>
                </a:lnTo>
                <a:lnTo>
                  <a:pt x="1671" y="0"/>
                </a:lnTo>
                <a:lnTo>
                  <a:pt x="1712" y="1"/>
                </a:lnTo>
                <a:lnTo>
                  <a:pt x="1755" y="4"/>
                </a:lnTo>
                <a:lnTo>
                  <a:pt x="1796" y="9"/>
                </a:lnTo>
                <a:lnTo>
                  <a:pt x="1837" y="13"/>
                </a:lnTo>
                <a:lnTo>
                  <a:pt x="1878" y="19"/>
                </a:lnTo>
                <a:lnTo>
                  <a:pt x="1917" y="26"/>
                </a:lnTo>
                <a:lnTo>
                  <a:pt x="1957" y="35"/>
                </a:lnTo>
                <a:lnTo>
                  <a:pt x="1997" y="44"/>
                </a:lnTo>
                <a:lnTo>
                  <a:pt x="2036" y="54"/>
                </a:lnTo>
                <a:lnTo>
                  <a:pt x="2074" y="66"/>
                </a:lnTo>
                <a:lnTo>
                  <a:pt x="2114" y="77"/>
                </a:lnTo>
                <a:lnTo>
                  <a:pt x="2189" y="105"/>
                </a:lnTo>
                <a:lnTo>
                  <a:pt x="2263" y="136"/>
                </a:lnTo>
                <a:lnTo>
                  <a:pt x="2335" y="171"/>
                </a:lnTo>
                <a:lnTo>
                  <a:pt x="2406" y="209"/>
                </a:lnTo>
                <a:lnTo>
                  <a:pt x="2475" y="250"/>
                </a:lnTo>
                <a:lnTo>
                  <a:pt x="2541" y="295"/>
                </a:lnTo>
                <a:lnTo>
                  <a:pt x="2604" y="344"/>
                </a:lnTo>
                <a:lnTo>
                  <a:pt x="2665" y="395"/>
                </a:lnTo>
                <a:lnTo>
                  <a:pt x="2724" y="450"/>
                </a:lnTo>
                <a:lnTo>
                  <a:pt x="2781" y="508"/>
                </a:lnTo>
                <a:lnTo>
                  <a:pt x="2835" y="568"/>
                </a:lnTo>
                <a:lnTo>
                  <a:pt x="2887" y="630"/>
                </a:lnTo>
                <a:lnTo>
                  <a:pt x="2935" y="696"/>
                </a:lnTo>
                <a:lnTo>
                  <a:pt x="2980" y="764"/>
                </a:lnTo>
                <a:lnTo>
                  <a:pt x="3023" y="835"/>
                </a:lnTo>
                <a:lnTo>
                  <a:pt x="3061" y="907"/>
                </a:lnTo>
                <a:lnTo>
                  <a:pt x="3098" y="982"/>
                </a:lnTo>
                <a:lnTo>
                  <a:pt x="3130" y="1059"/>
                </a:lnTo>
                <a:lnTo>
                  <a:pt x="3159" y="1138"/>
                </a:lnTo>
                <a:lnTo>
                  <a:pt x="3186" y="1219"/>
                </a:lnTo>
                <a:lnTo>
                  <a:pt x="3208" y="1301"/>
                </a:lnTo>
                <a:lnTo>
                  <a:pt x="3225" y="1384"/>
                </a:lnTo>
                <a:lnTo>
                  <a:pt x="3233" y="1426"/>
                </a:lnTo>
                <a:lnTo>
                  <a:pt x="3240" y="1470"/>
                </a:lnTo>
                <a:lnTo>
                  <a:pt x="3246" y="1513"/>
                </a:lnTo>
                <a:lnTo>
                  <a:pt x="3250" y="1557"/>
                </a:lnTo>
                <a:lnTo>
                  <a:pt x="3253" y="1601"/>
                </a:lnTo>
                <a:lnTo>
                  <a:pt x="3256" y="1644"/>
                </a:lnTo>
                <a:lnTo>
                  <a:pt x="3257" y="1690"/>
                </a:lnTo>
                <a:lnTo>
                  <a:pt x="3259" y="1734"/>
                </a:lnTo>
                <a:lnTo>
                  <a:pt x="3257" y="1779"/>
                </a:lnTo>
                <a:lnTo>
                  <a:pt x="3256" y="1823"/>
                </a:lnTo>
                <a:lnTo>
                  <a:pt x="3253" y="1867"/>
                </a:lnTo>
                <a:lnTo>
                  <a:pt x="3250" y="1911"/>
                </a:lnTo>
                <a:lnTo>
                  <a:pt x="3246" y="1955"/>
                </a:lnTo>
                <a:lnTo>
                  <a:pt x="3240" y="1999"/>
                </a:lnTo>
                <a:lnTo>
                  <a:pt x="3233" y="2041"/>
                </a:lnTo>
                <a:lnTo>
                  <a:pt x="3225" y="2083"/>
                </a:lnTo>
                <a:lnTo>
                  <a:pt x="3208" y="2167"/>
                </a:lnTo>
                <a:lnTo>
                  <a:pt x="3186" y="2250"/>
                </a:lnTo>
                <a:lnTo>
                  <a:pt x="3159" y="2331"/>
                </a:lnTo>
                <a:lnTo>
                  <a:pt x="3130" y="2410"/>
                </a:lnTo>
                <a:lnTo>
                  <a:pt x="3098" y="2486"/>
                </a:lnTo>
                <a:lnTo>
                  <a:pt x="3061" y="2560"/>
                </a:lnTo>
                <a:lnTo>
                  <a:pt x="3023" y="2634"/>
                </a:lnTo>
                <a:lnTo>
                  <a:pt x="2980" y="2704"/>
                </a:lnTo>
                <a:lnTo>
                  <a:pt x="2935" y="2771"/>
                </a:lnTo>
                <a:lnTo>
                  <a:pt x="2887" y="2837"/>
                </a:lnTo>
                <a:lnTo>
                  <a:pt x="2835" y="2900"/>
                </a:lnTo>
                <a:lnTo>
                  <a:pt x="2781" y="2960"/>
                </a:lnTo>
                <a:lnTo>
                  <a:pt x="2724" y="3018"/>
                </a:lnTo>
                <a:lnTo>
                  <a:pt x="2665" y="3073"/>
                </a:lnTo>
                <a:lnTo>
                  <a:pt x="2604" y="3124"/>
                </a:lnTo>
                <a:lnTo>
                  <a:pt x="2541" y="3172"/>
                </a:lnTo>
                <a:lnTo>
                  <a:pt x="2475" y="3217"/>
                </a:lnTo>
                <a:lnTo>
                  <a:pt x="2406" y="3258"/>
                </a:lnTo>
                <a:lnTo>
                  <a:pt x="2335" y="3298"/>
                </a:lnTo>
                <a:lnTo>
                  <a:pt x="2263" y="3331"/>
                </a:lnTo>
                <a:lnTo>
                  <a:pt x="2189" y="3364"/>
                </a:lnTo>
                <a:lnTo>
                  <a:pt x="2114" y="3390"/>
                </a:lnTo>
                <a:lnTo>
                  <a:pt x="2074" y="3403"/>
                </a:lnTo>
                <a:lnTo>
                  <a:pt x="2036" y="3413"/>
                </a:lnTo>
                <a:lnTo>
                  <a:pt x="1997" y="3424"/>
                </a:lnTo>
                <a:lnTo>
                  <a:pt x="1957" y="3432"/>
                </a:lnTo>
                <a:lnTo>
                  <a:pt x="1917" y="3441"/>
                </a:lnTo>
                <a:lnTo>
                  <a:pt x="1878" y="3449"/>
                </a:lnTo>
                <a:lnTo>
                  <a:pt x="1837" y="3454"/>
                </a:lnTo>
                <a:lnTo>
                  <a:pt x="1796" y="3459"/>
                </a:lnTo>
                <a:lnTo>
                  <a:pt x="1755" y="3463"/>
                </a:lnTo>
                <a:lnTo>
                  <a:pt x="1712" y="3466"/>
                </a:lnTo>
                <a:lnTo>
                  <a:pt x="1671" y="3468"/>
                </a:lnTo>
                <a:lnTo>
                  <a:pt x="1629" y="3469"/>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64" name="Freeform 10">
            <a:extLst>
              <a:ext uri="{FF2B5EF4-FFF2-40B4-BE49-F238E27FC236}">
                <a16:creationId xmlns:a16="http://schemas.microsoft.com/office/drawing/2014/main" id="{5F2C9E1D-9256-4D22-A7B7-5EA967A3F2CE}"/>
              </a:ext>
            </a:extLst>
          </p:cNvPr>
          <p:cNvSpPr>
            <a:spLocks/>
          </p:cNvSpPr>
          <p:nvPr/>
        </p:nvSpPr>
        <p:spPr bwMode="auto">
          <a:xfrm>
            <a:off x="3421063" y="1544638"/>
            <a:ext cx="1477962" cy="1574800"/>
          </a:xfrm>
          <a:custGeom>
            <a:avLst/>
            <a:gdLst>
              <a:gd name="T0" fmla="*/ 2147483646 w 1862"/>
              <a:gd name="T1" fmla="*/ 2147483646 h 1983"/>
              <a:gd name="T2" fmla="*/ 2147483646 w 1862"/>
              <a:gd name="T3" fmla="*/ 2147483646 h 1983"/>
              <a:gd name="T4" fmla="*/ 2147483646 w 1862"/>
              <a:gd name="T5" fmla="*/ 2147483646 h 1983"/>
              <a:gd name="T6" fmla="*/ 2147483646 w 1862"/>
              <a:gd name="T7" fmla="*/ 2147483646 h 1983"/>
              <a:gd name="T8" fmla="*/ 2147483646 w 1862"/>
              <a:gd name="T9" fmla="*/ 2147483646 h 1983"/>
              <a:gd name="T10" fmla="*/ 2147483646 w 1862"/>
              <a:gd name="T11" fmla="*/ 2147483646 h 1983"/>
              <a:gd name="T12" fmla="*/ 2147483646 w 1862"/>
              <a:gd name="T13" fmla="*/ 2147483646 h 1983"/>
              <a:gd name="T14" fmla="*/ 2147483646 w 1862"/>
              <a:gd name="T15" fmla="*/ 2147483646 h 1983"/>
              <a:gd name="T16" fmla="*/ 2147483646 w 1862"/>
              <a:gd name="T17" fmla="*/ 2147483646 h 1983"/>
              <a:gd name="T18" fmla="*/ 2147483646 w 1862"/>
              <a:gd name="T19" fmla="*/ 2147483646 h 1983"/>
              <a:gd name="T20" fmla="*/ 2147483646 w 1862"/>
              <a:gd name="T21" fmla="*/ 2147483646 h 1983"/>
              <a:gd name="T22" fmla="*/ 2147483646 w 1862"/>
              <a:gd name="T23" fmla="*/ 2147483646 h 1983"/>
              <a:gd name="T24" fmla="*/ 0 w 1862"/>
              <a:gd name="T25" fmla="*/ 2147483646 h 1983"/>
              <a:gd name="T26" fmla="*/ 2147483646 w 1862"/>
              <a:gd name="T27" fmla="*/ 2147483646 h 1983"/>
              <a:gd name="T28" fmla="*/ 2147483646 w 1862"/>
              <a:gd name="T29" fmla="*/ 2147483646 h 1983"/>
              <a:gd name="T30" fmla="*/ 2147483646 w 1862"/>
              <a:gd name="T31" fmla="*/ 2147483646 h 1983"/>
              <a:gd name="T32" fmla="*/ 2147483646 w 1862"/>
              <a:gd name="T33" fmla="*/ 2147483646 h 1983"/>
              <a:gd name="T34" fmla="*/ 2147483646 w 1862"/>
              <a:gd name="T35" fmla="*/ 2147483646 h 1983"/>
              <a:gd name="T36" fmla="*/ 2147483646 w 1862"/>
              <a:gd name="T37" fmla="*/ 2147483646 h 1983"/>
              <a:gd name="T38" fmla="*/ 2147483646 w 1862"/>
              <a:gd name="T39" fmla="*/ 2147483646 h 1983"/>
              <a:gd name="T40" fmla="*/ 2147483646 w 1862"/>
              <a:gd name="T41" fmla="*/ 2147483646 h 1983"/>
              <a:gd name="T42" fmla="*/ 2147483646 w 1862"/>
              <a:gd name="T43" fmla="*/ 2147483646 h 1983"/>
              <a:gd name="T44" fmla="*/ 2147483646 w 1862"/>
              <a:gd name="T45" fmla="*/ 2147483646 h 1983"/>
              <a:gd name="T46" fmla="*/ 2147483646 w 1862"/>
              <a:gd name="T47" fmla="*/ 2147483646 h 1983"/>
              <a:gd name="T48" fmla="*/ 2147483646 w 1862"/>
              <a:gd name="T49" fmla="*/ 2147483646 h 1983"/>
              <a:gd name="T50" fmla="*/ 2147483646 w 1862"/>
              <a:gd name="T51" fmla="*/ 0 h 1983"/>
              <a:gd name="T52" fmla="*/ 2147483646 w 1862"/>
              <a:gd name="T53" fmla="*/ 2147483646 h 1983"/>
              <a:gd name="T54" fmla="*/ 2147483646 w 1862"/>
              <a:gd name="T55" fmla="*/ 2147483646 h 1983"/>
              <a:gd name="T56" fmla="*/ 2147483646 w 1862"/>
              <a:gd name="T57" fmla="*/ 2147483646 h 1983"/>
              <a:gd name="T58" fmla="*/ 2147483646 w 1862"/>
              <a:gd name="T59" fmla="*/ 2147483646 h 1983"/>
              <a:gd name="T60" fmla="*/ 2147483646 w 1862"/>
              <a:gd name="T61" fmla="*/ 2147483646 h 1983"/>
              <a:gd name="T62" fmla="*/ 2147483646 w 1862"/>
              <a:gd name="T63" fmla="*/ 2147483646 h 1983"/>
              <a:gd name="T64" fmla="*/ 2147483646 w 1862"/>
              <a:gd name="T65" fmla="*/ 2147483646 h 1983"/>
              <a:gd name="T66" fmla="*/ 2147483646 w 1862"/>
              <a:gd name="T67" fmla="*/ 2147483646 h 1983"/>
              <a:gd name="T68" fmla="*/ 2147483646 w 1862"/>
              <a:gd name="T69" fmla="*/ 2147483646 h 1983"/>
              <a:gd name="T70" fmla="*/ 2147483646 w 1862"/>
              <a:gd name="T71" fmla="*/ 2147483646 h 1983"/>
              <a:gd name="T72" fmla="*/ 2147483646 w 1862"/>
              <a:gd name="T73" fmla="*/ 2147483646 h 1983"/>
              <a:gd name="T74" fmla="*/ 2147483646 w 1862"/>
              <a:gd name="T75" fmla="*/ 2147483646 h 1983"/>
              <a:gd name="T76" fmla="*/ 2147483646 w 1862"/>
              <a:gd name="T77" fmla="*/ 2147483646 h 1983"/>
              <a:gd name="T78" fmla="*/ 2147483646 w 1862"/>
              <a:gd name="T79" fmla="*/ 2147483646 h 1983"/>
              <a:gd name="T80" fmla="*/ 2147483646 w 1862"/>
              <a:gd name="T81" fmla="*/ 2147483646 h 1983"/>
              <a:gd name="T82" fmla="*/ 2147483646 w 1862"/>
              <a:gd name="T83" fmla="*/ 2147483646 h 1983"/>
              <a:gd name="T84" fmla="*/ 2147483646 w 1862"/>
              <a:gd name="T85" fmla="*/ 2147483646 h 1983"/>
              <a:gd name="T86" fmla="*/ 2147483646 w 1862"/>
              <a:gd name="T87" fmla="*/ 2147483646 h 1983"/>
              <a:gd name="T88" fmla="*/ 2147483646 w 1862"/>
              <a:gd name="T89" fmla="*/ 2147483646 h 1983"/>
              <a:gd name="T90" fmla="*/ 2147483646 w 1862"/>
              <a:gd name="T91" fmla="*/ 2147483646 h 1983"/>
              <a:gd name="T92" fmla="*/ 2147483646 w 1862"/>
              <a:gd name="T93" fmla="*/ 2147483646 h 1983"/>
              <a:gd name="T94" fmla="*/ 2147483646 w 1862"/>
              <a:gd name="T95" fmla="*/ 2147483646 h 1983"/>
              <a:gd name="T96" fmla="*/ 2147483646 w 1862"/>
              <a:gd name="T97" fmla="*/ 2147483646 h 1983"/>
              <a:gd name="T98" fmla="*/ 2147483646 w 1862"/>
              <a:gd name="T99" fmla="*/ 2147483646 h 1983"/>
              <a:gd name="T100" fmla="*/ 2147483646 w 1862"/>
              <a:gd name="T101" fmla="*/ 2147483646 h 198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62"/>
              <a:gd name="T154" fmla="*/ 0 h 1983"/>
              <a:gd name="T155" fmla="*/ 1862 w 1862"/>
              <a:gd name="T156" fmla="*/ 1983 h 198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62" h="1983">
                <a:moveTo>
                  <a:pt x="932" y="1983"/>
                </a:moveTo>
                <a:lnTo>
                  <a:pt x="907" y="1983"/>
                </a:lnTo>
                <a:lnTo>
                  <a:pt x="884" y="1981"/>
                </a:lnTo>
                <a:lnTo>
                  <a:pt x="860" y="1980"/>
                </a:lnTo>
                <a:lnTo>
                  <a:pt x="837" y="1978"/>
                </a:lnTo>
                <a:lnTo>
                  <a:pt x="813" y="1975"/>
                </a:lnTo>
                <a:lnTo>
                  <a:pt x="790" y="1971"/>
                </a:lnTo>
                <a:lnTo>
                  <a:pt x="766" y="1968"/>
                </a:lnTo>
                <a:lnTo>
                  <a:pt x="744" y="1962"/>
                </a:lnTo>
                <a:lnTo>
                  <a:pt x="721" y="1958"/>
                </a:lnTo>
                <a:lnTo>
                  <a:pt x="699" y="1952"/>
                </a:lnTo>
                <a:lnTo>
                  <a:pt x="677" y="1944"/>
                </a:lnTo>
                <a:lnTo>
                  <a:pt x="655" y="1939"/>
                </a:lnTo>
                <a:lnTo>
                  <a:pt x="633" y="1931"/>
                </a:lnTo>
                <a:lnTo>
                  <a:pt x="611" y="1923"/>
                </a:lnTo>
                <a:lnTo>
                  <a:pt x="590" y="1914"/>
                </a:lnTo>
                <a:lnTo>
                  <a:pt x="568" y="1905"/>
                </a:lnTo>
                <a:lnTo>
                  <a:pt x="548" y="1895"/>
                </a:lnTo>
                <a:lnTo>
                  <a:pt x="527" y="1884"/>
                </a:lnTo>
                <a:lnTo>
                  <a:pt x="507" y="1874"/>
                </a:lnTo>
                <a:lnTo>
                  <a:pt x="488" y="1863"/>
                </a:lnTo>
                <a:lnTo>
                  <a:pt x="467" y="1851"/>
                </a:lnTo>
                <a:lnTo>
                  <a:pt x="448" y="1839"/>
                </a:lnTo>
                <a:lnTo>
                  <a:pt x="429" y="1826"/>
                </a:lnTo>
                <a:lnTo>
                  <a:pt x="412" y="1813"/>
                </a:lnTo>
                <a:lnTo>
                  <a:pt x="393" y="1800"/>
                </a:lnTo>
                <a:lnTo>
                  <a:pt x="375" y="1786"/>
                </a:lnTo>
                <a:lnTo>
                  <a:pt x="357" y="1772"/>
                </a:lnTo>
                <a:lnTo>
                  <a:pt x="340" y="1756"/>
                </a:lnTo>
                <a:lnTo>
                  <a:pt x="322" y="1741"/>
                </a:lnTo>
                <a:lnTo>
                  <a:pt x="306" y="1725"/>
                </a:lnTo>
                <a:lnTo>
                  <a:pt x="288" y="1709"/>
                </a:lnTo>
                <a:lnTo>
                  <a:pt x="274" y="1693"/>
                </a:lnTo>
                <a:lnTo>
                  <a:pt x="258" y="1675"/>
                </a:lnTo>
                <a:lnTo>
                  <a:pt x="242" y="1658"/>
                </a:lnTo>
                <a:lnTo>
                  <a:pt x="227" y="1640"/>
                </a:lnTo>
                <a:lnTo>
                  <a:pt x="214" y="1623"/>
                </a:lnTo>
                <a:lnTo>
                  <a:pt x="199" y="1604"/>
                </a:lnTo>
                <a:lnTo>
                  <a:pt x="186" y="1585"/>
                </a:lnTo>
                <a:lnTo>
                  <a:pt x="173" y="1566"/>
                </a:lnTo>
                <a:lnTo>
                  <a:pt x="159" y="1545"/>
                </a:lnTo>
                <a:lnTo>
                  <a:pt x="148" y="1526"/>
                </a:lnTo>
                <a:lnTo>
                  <a:pt x="134" y="1506"/>
                </a:lnTo>
                <a:lnTo>
                  <a:pt x="124" y="1485"/>
                </a:lnTo>
                <a:lnTo>
                  <a:pt x="112" y="1465"/>
                </a:lnTo>
                <a:lnTo>
                  <a:pt x="102" y="1443"/>
                </a:lnTo>
                <a:lnTo>
                  <a:pt x="92" y="1421"/>
                </a:lnTo>
                <a:lnTo>
                  <a:pt x="83" y="1399"/>
                </a:lnTo>
                <a:lnTo>
                  <a:pt x="73" y="1377"/>
                </a:lnTo>
                <a:lnTo>
                  <a:pt x="66" y="1355"/>
                </a:lnTo>
                <a:lnTo>
                  <a:pt x="57" y="1333"/>
                </a:lnTo>
                <a:lnTo>
                  <a:pt x="49" y="1309"/>
                </a:lnTo>
                <a:lnTo>
                  <a:pt x="42" y="1286"/>
                </a:lnTo>
                <a:lnTo>
                  <a:pt x="36" y="1263"/>
                </a:lnTo>
                <a:lnTo>
                  <a:pt x="29" y="1239"/>
                </a:lnTo>
                <a:lnTo>
                  <a:pt x="25" y="1216"/>
                </a:lnTo>
                <a:lnTo>
                  <a:pt x="19" y="1191"/>
                </a:lnTo>
                <a:lnTo>
                  <a:pt x="14" y="1168"/>
                </a:lnTo>
                <a:lnTo>
                  <a:pt x="11" y="1143"/>
                </a:lnTo>
                <a:lnTo>
                  <a:pt x="8" y="1118"/>
                </a:lnTo>
                <a:lnTo>
                  <a:pt x="5" y="1093"/>
                </a:lnTo>
                <a:lnTo>
                  <a:pt x="3" y="1068"/>
                </a:lnTo>
                <a:lnTo>
                  <a:pt x="1" y="1042"/>
                </a:lnTo>
                <a:lnTo>
                  <a:pt x="1" y="1017"/>
                </a:lnTo>
                <a:lnTo>
                  <a:pt x="0" y="992"/>
                </a:lnTo>
                <a:lnTo>
                  <a:pt x="1" y="966"/>
                </a:lnTo>
                <a:lnTo>
                  <a:pt x="1" y="941"/>
                </a:lnTo>
                <a:lnTo>
                  <a:pt x="3" y="916"/>
                </a:lnTo>
                <a:lnTo>
                  <a:pt x="5" y="891"/>
                </a:lnTo>
                <a:lnTo>
                  <a:pt x="8" y="865"/>
                </a:lnTo>
                <a:lnTo>
                  <a:pt x="11" y="841"/>
                </a:lnTo>
                <a:lnTo>
                  <a:pt x="14" y="816"/>
                </a:lnTo>
                <a:lnTo>
                  <a:pt x="19" y="791"/>
                </a:lnTo>
                <a:lnTo>
                  <a:pt x="25" y="768"/>
                </a:lnTo>
                <a:lnTo>
                  <a:pt x="30" y="743"/>
                </a:lnTo>
                <a:lnTo>
                  <a:pt x="36" y="720"/>
                </a:lnTo>
                <a:lnTo>
                  <a:pt x="42" y="696"/>
                </a:lnTo>
                <a:lnTo>
                  <a:pt x="49" y="674"/>
                </a:lnTo>
                <a:lnTo>
                  <a:pt x="57" y="651"/>
                </a:lnTo>
                <a:lnTo>
                  <a:pt x="66" y="628"/>
                </a:lnTo>
                <a:lnTo>
                  <a:pt x="73" y="606"/>
                </a:lnTo>
                <a:lnTo>
                  <a:pt x="83" y="584"/>
                </a:lnTo>
                <a:lnTo>
                  <a:pt x="92" y="562"/>
                </a:lnTo>
                <a:lnTo>
                  <a:pt x="102" y="540"/>
                </a:lnTo>
                <a:lnTo>
                  <a:pt x="112" y="519"/>
                </a:lnTo>
                <a:lnTo>
                  <a:pt x="124" y="499"/>
                </a:lnTo>
                <a:lnTo>
                  <a:pt x="134" y="478"/>
                </a:lnTo>
                <a:lnTo>
                  <a:pt x="148" y="458"/>
                </a:lnTo>
                <a:lnTo>
                  <a:pt x="159" y="437"/>
                </a:lnTo>
                <a:lnTo>
                  <a:pt x="173" y="418"/>
                </a:lnTo>
                <a:lnTo>
                  <a:pt x="186" y="398"/>
                </a:lnTo>
                <a:lnTo>
                  <a:pt x="199" y="380"/>
                </a:lnTo>
                <a:lnTo>
                  <a:pt x="214" y="361"/>
                </a:lnTo>
                <a:lnTo>
                  <a:pt x="227" y="342"/>
                </a:lnTo>
                <a:lnTo>
                  <a:pt x="242" y="325"/>
                </a:lnTo>
                <a:lnTo>
                  <a:pt x="258" y="307"/>
                </a:lnTo>
                <a:lnTo>
                  <a:pt x="274" y="291"/>
                </a:lnTo>
                <a:lnTo>
                  <a:pt x="288" y="274"/>
                </a:lnTo>
                <a:lnTo>
                  <a:pt x="306" y="257"/>
                </a:lnTo>
                <a:lnTo>
                  <a:pt x="322" y="243"/>
                </a:lnTo>
                <a:lnTo>
                  <a:pt x="340" y="227"/>
                </a:lnTo>
                <a:lnTo>
                  <a:pt x="356" y="212"/>
                </a:lnTo>
                <a:lnTo>
                  <a:pt x="375" y="197"/>
                </a:lnTo>
                <a:lnTo>
                  <a:pt x="393" y="183"/>
                </a:lnTo>
                <a:lnTo>
                  <a:pt x="410" y="170"/>
                </a:lnTo>
                <a:lnTo>
                  <a:pt x="429" y="156"/>
                </a:lnTo>
                <a:lnTo>
                  <a:pt x="448" y="143"/>
                </a:lnTo>
                <a:lnTo>
                  <a:pt x="467" y="132"/>
                </a:lnTo>
                <a:lnTo>
                  <a:pt x="488" y="120"/>
                </a:lnTo>
                <a:lnTo>
                  <a:pt x="507" y="108"/>
                </a:lnTo>
                <a:lnTo>
                  <a:pt x="527" y="98"/>
                </a:lnTo>
                <a:lnTo>
                  <a:pt x="548" y="88"/>
                </a:lnTo>
                <a:lnTo>
                  <a:pt x="568" y="79"/>
                </a:lnTo>
                <a:lnTo>
                  <a:pt x="590" y="69"/>
                </a:lnTo>
                <a:lnTo>
                  <a:pt x="611" y="60"/>
                </a:lnTo>
                <a:lnTo>
                  <a:pt x="633" y="53"/>
                </a:lnTo>
                <a:lnTo>
                  <a:pt x="655" y="45"/>
                </a:lnTo>
                <a:lnTo>
                  <a:pt x="677" y="38"/>
                </a:lnTo>
                <a:lnTo>
                  <a:pt x="699" y="32"/>
                </a:lnTo>
                <a:lnTo>
                  <a:pt x="721" y="26"/>
                </a:lnTo>
                <a:lnTo>
                  <a:pt x="744" y="20"/>
                </a:lnTo>
                <a:lnTo>
                  <a:pt x="766" y="16"/>
                </a:lnTo>
                <a:lnTo>
                  <a:pt x="790" y="12"/>
                </a:lnTo>
                <a:lnTo>
                  <a:pt x="813" y="9"/>
                </a:lnTo>
                <a:lnTo>
                  <a:pt x="837" y="6"/>
                </a:lnTo>
                <a:lnTo>
                  <a:pt x="860" y="3"/>
                </a:lnTo>
                <a:lnTo>
                  <a:pt x="884" y="1"/>
                </a:lnTo>
                <a:lnTo>
                  <a:pt x="907" y="0"/>
                </a:lnTo>
                <a:lnTo>
                  <a:pt x="931" y="0"/>
                </a:lnTo>
                <a:lnTo>
                  <a:pt x="932" y="0"/>
                </a:lnTo>
                <a:lnTo>
                  <a:pt x="955" y="1"/>
                </a:lnTo>
                <a:lnTo>
                  <a:pt x="979" y="1"/>
                </a:lnTo>
                <a:lnTo>
                  <a:pt x="1002" y="3"/>
                </a:lnTo>
                <a:lnTo>
                  <a:pt x="1026" y="6"/>
                </a:lnTo>
                <a:lnTo>
                  <a:pt x="1049" y="9"/>
                </a:lnTo>
                <a:lnTo>
                  <a:pt x="1073" y="12"/>
                </a:lnTo>
                <a:lnTo>
                  <a:pt x="1096" y="16"/>
                </a:lnTo>
                <a:lnTo>
                  <a:pt x="1120" y="20"/>
                </a:lnTo>
                <a:lnTo>
                  <a:pt x="1142" y="26"/>
                </a:lnTo>
                <a:lnTo>
                  <a:pt x="1164" y="32"/>
                </a:lnTo>
                <a:lnTo>
                  <a:pt x="1186" y="38"/>
                </a:lnTo>
                <a:lnTo>
                  <a:pt x="1208" y="45"/>
                </a:lnTo>
                <a:lnTo>
                  <a:pt x="1230" y="53"/>
                </a:lnTo>
                <a:lnTo>
                  <a:pt x="1252" y="60"/>
                </a:lnTo>
                <a:lnTo>
                  <a:pt x="1272" y="69"/>
                </a:lnTo>
                <a:lnTo>
                  <a:pt x="1294" y="79"/>
                </a:lnTo>
                <a:lnTo>
                  <a:pt x="1315" y="88"/>
                </a:lnTo>
                <a:lnTo>
                  <a:pt x="1335" y="98"/>
                </a:lnTo>
                <a:lnTo>
                  <a:pt x="1356" y="108"/>
                </a:lnTo>
                <a:lnTo>
                  <a:pt x="1375" y="120"/>
                </a:lnTo>
                <a:lnTo>
                  <a:pt x="1395" y="132"/>
                </a:lnTo>
                <a:lnTo>
                  <a:pt x="1414" y="143"/>
                </a:lnTo>
                <a:lnTo>
                  <a:pt x="1433" y="156"/>
                </a:lnTo>
                <a:lnTo>
                  <a:pt x="1452" y="170"/>
                </a:lnTo>
                <a:lnTo>
                  <a:pt x="1470" y="183"/>
                </a:lnTo>
                <a:lnTo>
                  <a:pt x="1488" y="197"/>
                </a:lnTo>
                <a:lnTo>
                  <a:pt x="1507" y="212"/>
                </a:lnTo>
                <a:lnTo>
                  <a:pt x="1523" y="227"/>
                </a:lnTo>
                <a:lnTo>
                  <a:pt x="1540" y="243"/>
                </a:lnTo>
                <a:lnTo>
                  <a:pt x="1557" y="257"/>
                </a:lnTo>
                <a:lnTo>
                  <a:pt x="1574" y="274"/>
                </a:lnTo>
                <a:lnTo>
                  <a:pt x="1590" y="291"/>
                </a:lnTo>
                <a:lnTo>
                  <a:pt x="1605" y="307"/>
                </a:lnTo>
                <a:lnTo>
                  <a:pt x="1621" y="325"/>
                </a:lnTo>
                <a:lnTo>
                  <a:pt x="1636" y="342"/>
                </a:lnTo>
                <a:lnTo>
                  <a:pt x="1650" y="361"/>
                </a:lnTo>
                <a:lnTo>
                  <a:pt x="1664" y="380"/>
                </a:lnTo>
                <a:lnTo>
                  <a:pt x="1677" y="398"/>
                </a:lnTo>
                <a:lnTo>
                  <a:pt x="1690" y="418"/>
                </a:lnTo>
                <a:lnTo>
                  <a:pt x="1703" y="437"/>
                </a:lnTo>
                <a:lnTo>
                  <a:pt x="1715" y="458"/>
                </a:lnTo>
                <a:lnTo>
                  <a:pt x="1728" y="477"/>
                </a:lnTo>
                <a:lnTo>
                  <a:pt x="1738" y="499"/>
                </a:lnTo>
                <a:lnTo>
                  <a:pt x="1750" y="519"/>
                </a:lnTo>
                <a:lnTo>
                  <a:pt x="1760" y="540"/>
                </a:lnTo>
                <a:lnTo>
                  <a:pt x="1771" y="562"/>
                </a:lnTo>
                <a:lnTo>
                  <a:pt x="1779" y="584"/>
                </a:lnTo>
                <a:lnTo>
                  <a:pt x="1790" y="606"/>
                </a:lnTo>
                <a:lnTo>
                  <a:pt x="1797" y="628"/>
                </a:lnTo>
                <a:lnTo>
                  <a:pt x="1806" y="651"/>
                </a:lnTo>
                <a:lnTo>
                  <a:pt x="1813" y="673"/>
                </a:lnTo>
                <a:lnTo>
                  <a:pt x="1820" y="696"/>
                </a:lnTo>
                <a:lnTo>
                  <a:pt x="1826" y="720"/>
                </a:lnTo>
                <a:lnTo>
                  <a:pt x="1834" y="743"/>
                </a:lnTo>
                <a:lnTo>
                  <a:pt x="1838" y="768"/>
                </a:lnTo>
                <a:lnTo>
                  <a:pt x="1844" y="791"/>
                </a:lnTo>
                <a:lnTo>
                  <a:pt x="1848" y="816"/>
                </a:lnTo>
                <a:lnTo>
                  <a:pt x="1851" y="841"/>
                </a:lnTo>
                <a:lnTo>
                  <a:pt x="1854" y="865"/>
                </a:lnTo>
                <a:lnTo>
                  <a:pt x="1857" y="890"/>
                </a:lnTo>
                <a:lnTo>
                  <a:pt x="1860" y="916"/>
                </a:lnTo>
                <a:lnTo>
                  <a:pt x="1862" y="941"/>
                </a:lnTo>
                <a:lnTo>
                  <a:pt x="1862" y="966"/>
                </a:lnTo>
                <a:lnTo>
                  <a:pt x="1862" y="992"/>
                </a:lnTo>
                <a:lnTo>
                  <a:pt x="1862" y="1017"/>
                </a:lnTo>
                <a:lnTo>
                  <a:pt x="1862" y="1043"/>
                </a:lnTo>
                <a:lnTo>
                  <a:pt x="1860" y="1068"/>
                </a:lnTo>
                <a:lnTo>
                  <a:pt x="1857" y="1093"/>
                </a:lnTo>
                <a:lnTo>
                  <a:pt x="1854" y="1118"/>
                </a:lnTo>
                <a:lnTo>
                  <a:pt x="1851" y="1143"/>
                </a:lnTo>
                <a:lnTo>
                  <a:pt x="1848" y="1168"/>
                </a:lnTo>
                <a:lnTo>
                  <a:pt x="1844" y="1191"/>
                </a:lnTo>
                <a:lnTo>
                  <a:pt x="1838" y="1216"/>
                </a:lnTo>
                <a:lnTo>
                  <a:pt x="1834" y="1239"/>
                </a:lnTo>
                <a:lnTo>
                  <a:pt x="1826" y="1263"/>
                </a:lnTo>
                <a:lnTo>
                  <a:pt x="1820" y="1286"/>
                </a:lnTo>
                <a:lnTo>
                  <a:pt x="1813" y="1309"/>
                </a:lnTo>
                <a:lnTo>
                  <a:pt x="1806" y="1333"/>
                </a:lnTo>
                <a:lnTo>
                  <a:pt x="1797" y="1355"/>
                </a:lnTo>
                <a:lnTo>
                  <a:pt x="1790" y="1377"/>
                </a:lnTo>
                <a:lnTo>
                  <a:pt x="1779" y="1399"/>
                </a:lnTo>
                <a:lnTo>
                  <a:pt x="1771" y="1421"/>
                </a:lnTo>
                <a:lnTo>
                  <a:pt x="1760" y="1443"/>
                </a:lnTo>
                <a:lnTo>
                  <a:pt x="1750" y="1465"/>
                </a:lnTo>
                <a:lnTo>
                  <a:pt x="1738" y="1485"/>
                </a:lnTo>
                <a:lnTo>
                  <a:pt x="1728" y="1506"/>
                </a:lnTo>
                <a:lnTo>
                  <a:pt x="1715" y="1526"/>
                </a:lnTo>
                <a:lnTo>
                  <a:pt x="1703" y="1545"/>
                </a:lnTo>
                <a:lnTo>
                  <a:pt x="1690" y="1566"/>
                </a:lnTo>
                <a:lnTo>
                  <a:pt x="1677" y="1585"/>
                </a:lnTo>
                <a:lnTo>
                  <a:pt x="1664" y="1604"/>
                </a:lnTo>
                <a:lnTo>
                  <a:pt x="1650" y="1623"/>
                </a:lnTo>
                <a:lnTo>
                  <a:pt x="1636" y="1640"/>
                </a:lnTo>
                <a:lnTo>
                  <a:pt x="1621" y="1658"/>
                </a:lnTo>
                <a:lnTo>
                  <a:pt x="1605" y="1675"/>
                </a:lnTo>
                <a:lnTo>
                  <a:pt x="1590" y="1693"/>
                </a:lnTo>
                <a:lnTo>
                  <a:pt x="1574" y="1709"/>
                </a:lnTo>
                <a:lnTo>
                  <a:pt x="1557" y="1725"/>
                </a:lnTo>
                <a:lnTo>
                  <a:pt x="1540" y="1741"/>
                </a:lnTo>
                <a:lnTo>
                  <a:pt x="1523" y="1756"/>
                </a:lnTo>
                <a:lnTo>
                  <a:pt x="1507" y="1772"/>
                </a:lnTo>
                <a:lnTo>
                  <a:pt x="1488" y="1786"/>
                </a:lnTo>
                <a:lnTo>
                  <a:pt x="1470" y="1800"/>
                </a:lnTo>
                <a:lnTo>
                  <a:pt x="1452" y="1813"/>
                </a:lnTo>
                <a:lnTo>
                  <a:pt x="1433" y="1826"/>
                </a:lnTo>
                <a:lnTo>
                  <a:pt x="1414" y="1839"/>
                </a:lnTo>
                <a:lnTo>
                  <a:pt x="1395" y="1851"/>
                </a:lnTo>
                <a:lnTo>
                  <a:pt x="1375" y="1863"/>
                </a:lnTo>
                <a:lnTo>
                  <a:pt x="1356" y="1874"/>
                </a:lnTo>
                <a:lnTo>
                  <a:pt x="1335" y="1884"/>
                </a:lnTo>
                <a:lnTo>
                  <a:pt x="1315" y="1895"/>
                </a:lnTo>
                <a:lnTo>
                  <a:pt x="1294" y="1905"/>
                </a:lnTo>
                <a:lnTo>
                  <a:pt x="1272" y="1914"/>
                </a:lnTo>
                <a:lnTo>
                  <a:pt x="1252" y="1923"/>
                </a:lnTo>
                <a:lnTo>
                  <a:pt x="1230" y="1930"/>
                </a:lnTo>
                <a:lnTo>
                  <a:pt x="1208" y="1939"/>
                </a:lnTo>
                <a:lnTo>
                  <a:pt x="1186" y="1944"/>
                </a:lnTo>
                <a:lnTo>
                  <a:pt x="1164" y="1952"/>
                </a:lnTo>
                <a:lnTo>
                  <a:pt x="1142" y="1958"/>
                </a:lnTo>
                <a:lnTo>
                  <a:pt x="1118" y="1962"/>
                </a:lnTo>
                <a:lnTo>
                  <a:pt x="1096" y="1966"/>
                </a:lnTo>
                <a:lnTo>
                  <a:pt x="1073" y="1971"/>
                </a:lnTo>
                <a:lnTo>
                  <a:pt x="1049" y="1975"/>
                </a:lnTo>
                <a:lnTo>
                  <a:pt x="1026" y="1978"/>
                </a:lnTo>
                <a:lnTo>
                  <a:pt x="1002" y="1980"/>
                </a:lnTo>
                <a:lnTo>
                  <a:pt x="979" y="1981"/>
                </a:lnTo>
                <a:lnTo>
                  <a:pt x="955" y="1983"/>
                </a:lnTo>
                <a:lnTo>
                  <a:pt x="931" y="1983"/>
                </a:lnTo>
                <a:lnTo>
                  <a:pt x="932" y="1983"/>
                </a:lnTo>
                <a:close/>
              </a:path>
            </a:pathLst>
          </a:custGeom>
          <a:solidFill>
            <a:srgbClr val="CDCD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65" name="Freeform 11">
            <a:extLst>
              <a:ext uri="{FF2B5EF4-FFF2-40B4-BE49-F238E27FC236}">
                <a16:creationId xmlns:a16="http://schemas.microsoft.com/office/drawing/2014/main" id="{75FD6C01-DED2-4E67-93E9-E4D12035385E}"/>
              </a:ext>
            </a:extLst>
          </p:cNvPr>
          <p:cNvSpPr>
            <a:spLocks/>
          </p:cNvSpPr>
          <p:nvPr/>
        </p:nvSpPr>
        <p:spPr bwMode="auto">
          <a:xfrm>
            <a:off x="3421063" y="1544638"/>
            <a:ext cx="1477962" cy="1574800"/>
          </a:xfrm>
          <a:custGeom>
            <a:avLst/>
            <a:gdLst>
              <a:gd name="T0" fmla="*/ 2147483646 w 1862"/>
              <a:gd name="T1" fmla="*/ 2147483646 h 1983"/>
              <a:gd name="T2" fmla="*/ 2147483646 w 1862"/>
              <a:gd name="T3" fmla="*/ 2147483646 h 1983"/>
              <a:gd name="T4" fmla="*/ 2147483646 w 1862"/>
              <a:gd name="T5" fmla="*/ 2147483646 h 1983"/>
              <a:gd name="T6" fmla="*/ 2147483646 w 1862"/>
              <a:gd name="T7" fmla="*/ 2147483646 h 1983"/>
              <a:gd name="T8" fmla="*/ 2147483646 w 1862"/>
              <a:gd name="T9" fmla="*/ 2147483646 h 1983"/>
              <a:gd name="T10" fmla="*/ 2147483646 w 1862"/>
              <a:gd name="T11" fmla="*/ 2147483646 h 1983"/>
              <a:gd name="T12" fmla="*/ 2147483646 w 1862"/>
              <a:gd name="T13" fmla="*/ 2147483646 h 1983"/>
              <a:gd name="T14" fmla="*/ 2147483646 w 1862"/>
              <a:gd name="T15" fmla="*/ 2147483646 h 1983"/>
              <a:gd name="T16" fmla="*/ 2147483646 w 1862"/>
              <a:gd name="T17" fmla="*/ 2147483646 h 1983"/>
              <a:gd name="T18" fmla="*/ 2147483646 w 1862"/>
              <a:gd name="T19" fmla="*/ 2147483646 h 1983"/>
              <a:gd name="T20" fmla="*/ 2147483646 w 1862"/>
              <a:gd name="T21" fmla="*/ 2147483646 h 1983"/>
              <a:gd name="T22" fmla="*/ 2147483646 w 1862"/>
              <a:gd name="T23" fmla="*/ 2147483646 h 1983"/>
              <a:gd name="T24" fmla="*/ 0 w 1862"/>
              <a:gd name="T25" fmla="*/ 2147483646 h 1983"/>
              <a:gd name="T26" fmla="*/ 2147483646 w 1862"/>
              <a:gd name="T27" fmla="*/ 2147483646 h 1983"/>
              <a:gd name="T28" fmla="*/ 2147483646 w 1862"/>
              <a:gd name="T29" fmla="*/ 2147483646 h 1983"/>
              <a:gd name="T30" fmla="*/ 2147483646 w 1862"/>
              <a:gd name="T31" fmla="*/ 2147483646 h 1983"/>
              <a:gd name="T32" fmla="*/ 2147483646 w 1862"/>
              <a:gd name="T33" fmla="*/ 2147483646 h 1983"/>
              <a:gd name="T34" fmla="*/ 2147483646 w 1862"/>
              <a:gd name="T35" fmla="*/ 2147483646 h 1983"/>
              <a:gd name="T36" fmla="*/ 2147483646 w 1862"/>
              <a:gd name="T37" fmla="*/ 2147483646 h 1983"/>
              <a:gd name="T38" fmla="*/ 2147483646 w 1862"/>
              <a:gd name="T39" fmla="*/ 2147483646 h 1983"/>
              <a:gd name="T40" fmla="*/ 2147483646 w 1862"/>
              <a:gd name="T41" fmla="*/ 2147483646 h 1983"/>
              <a:gd name="T42" fmla="*/ 2147483646 w 1862"/>
              <a:gd name="T43" fmla="*/ 2147483646 h 1983"/>
              <a:gd name="T44" fmla="*/ 2147483646 w 1862"/>
              <a:gd name="T45" fmla="*/ 2147483646 h 1983"/>
              <a:gd name="T46" fmla="*/ 2147483646 w 1862"/>
              <a:gd name="T47" fmla="*/ 2147483646 h 1983"/>
              <a:gd name="T48" fmla="*/ 2147483646 w 1862"/>
              <a:gd name="T49" fmla="*/ 2147483646 h 1983"/>
              <a:gd name="T50" fmla="*/ 2147483646 w 1862"/>
              <a:gd name="T51" fmla="*/ 0 h 1983"/>
              <a:gd name="T52" fmla="*/ 2147483646 w 1862"/>
              <a:gd name="T53" fmla="*/ 2147483646 h 1983"/>
              <a:gd name="T54" fmla="*/ 2147483646 w 1862"/>
              <a:gd name="T55" fmla="*/ 2147483646 h 1983"/>
              <a:gd name="T56" fmla="*/ 2147483646 w 1862"/>
              <a:gd name="T57" fmla="*/ 2147483646 h 1983"/>
              <a:gd name="T58" fmla="*/ 2147483646 w 1862"/>
              <a:gd name="T59" fmla="*/ 2147483646 h 1983"/>
              <a:gd name="T60" fmla="*/ 2147483646 w 1862"/>
              <a:gd name="T61" fmla="*/ 2147483646 h 1983"/>
              <a:gd name="T62" fmla="*/ 2147483646 w 1862"/>
              <a:gd name="T63" fmla="*/ 2147483646 h 1983"/>
              <a:gd name="T64" fmla="*/ 2147483646 w 1862"/>
              <a:gd name="T65" fmla="*/ 2147483646 h 1983"/>
              <a:gd name="T66" fmla="*/ 2147483646 w 1862"/>
              <a:gd name="T67" fmla="*/ 2147483646 h 1983"/>
              <a:gd name="T68" fmla="*/ 2147483646 w 1862"/>
              <a:gd name="T69" fmla="*/ 2147483646 h 1983"/>
              <a:gd name="T70" fmla="*/ 2147483646 w 1862"/>
              <a:gd name="T71" fmla="*/ 2147483646 h 1983"/>
              <a:gd name="T72" fmla="*/ 2147483646 w 1862"/>
              <a:gd name="T73" fmla="*/ 2147483646 h 1983"/>
              <a:gd name="T74" fmla="*/ 2147483646 w 1862"/>
              <a:gd name="T75" fmla="*/ 2147483646 h 1983"/>
              <a:gd name="T76" fmla="*/ 2147483646 w 1862"/>
              <a:gd name="T77" fmla="*/ 2147483646 h 1983"/>
              <a:gd name="T78" fmla="*/ 2147483646 w 1862"/>
              <a:gd name="T79" fmla="*/ 2147483646 h 1983"/>
              <a:gd name="T80" fmla="*/ 2147483646 w 1862"/>
              <a:gd name="T81" fmla="*/ 2147483646 h 1983"/>
              <a:gd name="T82" fmla="*/ 2147483646 w 1862"/>
              <a:gd name="T83" fmla="*/ 2147483646 h 1983"/>
              <a:gd name="T84" fmla="*/ 2147483646 w 1862"/>
              <a:gd name="T85" fmla="*/ 2147483646 h 1983"/>
              <a:gd name="T86" fmla="*/ 2147483646 w 1862"/>
              <a:gd name="T87" fmla="*/ 2147483646 h 1983"/>
              <a:gd name="T88" fmla="*/ 2147483646 w 1862"/>
              <a:gd name="T89" fmla="*/ 2147483646 h 1983"/>
              <a:gd name="T90" fmla="*/ 2147483646 w 1862"/>
              <a:gd name="T91" fmla="*/ 2147483646 h 1983"/>
              <a:gd name="T92" fmla="*/ 2147483646 w 1862"/>
              <a:gd name="T93" fmla="*/ 2147483646 h 1983"/>
              <a:gd name="T94" fmla="*/ 2147483646 w 1862"/>
              <a:gd name="T95" fmla="*/ 2147483646 h 1983"/>
              <a:gd name="T96" fmla="*/ 2147483646 w 1862"/>
              <a:gd name="T97" fmla="*/ 2147483646 h 1983"/>
              <a:gd name="T98" fmla="*/ 2147483646 w 1862"/>
              <a:gd name="T99" fmla="*/ 2147483646 h 1983"/>
              <a:gd name="T100" fmla="*/ 2147483646 w 1862"/>
              <a:gd name="T101" fmla="*/ 2147483646 h 198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62"/>
              <a:gd name="T154" fmla="*/ 0 h 1983"/>
              <a:gd name="T155" fmla="*/ 1862 w 1862"/>
              <a:gd name="T156" fmla="*/ 1983 h 198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62" h="1983">
                <a:moveTo>
                  <a:pt x="932" y="1983"/>
                </a:moveTo>
                <a:lnTo>
                  <a:pt x="907" y="1983"/>
                </a:lnTo>
                <a:lnTo>
                  <a:pt x="884" y="1981"/>
                </a:lnTo>
                <a:lnTo>
                  <a:pt x="860" y="1980"/>
                </a:lnTo>
                <a:lnTo>
                  <a:pt x="837" y="1978"/>
                </a:lnTo>
                <a:lnTo>
                  <a:pt x="813" y="1975"/>
                </a:lnTo>
                <a:lnTo>
                  <a:pt x="790" y="1971"/>
                </a:lnTo>
                <a:lnTo>
                  <a:pt x="766" y="1968"/>
                </a:lnTo>
                <a:lnTo>
                  <a:pt x="744" y="1962"/>
                </a:lnTo>
                <a:lnTo>
                  <a:pt x="721" y="1958"/>
                </a:lnTo>
                <a:lnTo>
                  <a:pt x="699" y="1952"/>
                </a:lnTo>
                <a:lnTo>
                  <a:pt x="677" y="1944"/>
                </a:lnTo>
                <a:lnTo>
                  <a:pt x="655" y="1939"/>
                </a:lnTo>
                <a:lnTo>
                  <a:pt x="633" y="1931"/>
                </a:lnTo>
                <a:lnTo>
                  <a:pt x="611" y="1923"/>
                </a:lnTo>
                <a:lnTo>
                  <a:pt x="590" y="1914"/>
                </a:lnTo>
                <a:lnTo>
                  <a:pt x="568" y="1905"/>
                </a:lnTo>
                <a:lnTo>
                  <a:pt x="548" y="1895"/>
                </a:lnTo>
                <a:lnTo>
                  <a:pt x="527" y="1884"/>
                </a:lnTo>
                <a:lnTo>
                  <a:pt x="507" y="1874"/>
                </a:lnTo>
                <a:lnTo>
                  <a:pt x="488" y="1863"/>
                </a:lnTo>
                <a:lnTo>
                  <a:pt x="467" y="1851"/>
                </a:lnTo>
                <a:lnTo>
                  <a:pt x="448" y="1839"/>
                </a:lnTo>
                <a:lnTo>
                  <a:pt x="429" y="1826"/>
                </a:lnTo>
                <a:lnTo>
                  <a:pt x="412" y="1813"/>
                </a:lnTo>
                <a:lnTo>
                  <a:pt x="393" y="1800"/>
                </a:lnTo>
                <a:lnTo>
                  <a:pt x="375" y="1786"/>
                </a:lnTo>
                <a:lnTo>
                  <a:pt x="357" y="1772"/>
                </a:lnTo>
                <a:lnTo>
                  <a:pt x="340" y="1756"/>
                </a:lnTo>
                <a:lnTo>
                  <a:pt x="322" y="1741"/>
                </a:lnTo>
                <a:lnTo>
                  <a:pt x="306" y="1725"/>
                </a:lnTo>
                <a:lnTo>
                  <a:pt x="288" y="1709"/>
                </a:lnTo>
                <a:lnTo>
                  <a:pt x="274" y="1693"/>
                </a:lnTo>
                <a:lnTo>
                  <a:pt x="258" y="1675"/>
                </a:lnTo>
                <a:lnTo>
                  <a:pt x="242" y="1658"/>
                </a:lnTo>
                <a:lnTo>
                  <a:pt x="227" y="1640"/>
                </a:lnTo>
                <a:lnTo>
                  <a:pt x="214" y="1623"/>
                </a:lnTo>
                <a:lnTo>
                  <a:pt x="199" y="1604"/>
                </a:lnTo>
                <a:lnTo>
                  <a:pt x="186" y="1585"/>
                </a:lnTo>
                <a:lnTo>
                  <a:pt x="173" y="1566"/>
                </a:lnTo>
                <a:lnTo>
                  <a:pt x="159" y="1545"/>
                </a:lnTo>
                <a:lnTo>
                  <a:pt x="148" y="1526"/>
                </a:lnTo>
                <a:lnTo>
                  <a:pt x="134" y="1506"/>
                </a:lnTo>
                <a:lnTo>
                  <a:pt x="124" y="1485"/>
                </a:lnTo>
                <a:lnTo>
                  <a:pt x="112" y="1465"/>
                </a:lnTo>
                <a:lnTo>
                  <a:pt x="102" y="1443"/>
                </a:lnTo>
                <a:lnTo>
                  <a:pt x="92" y="1421"/>
                </a:lnTo>
                <a:lnTo>
                  <a:pt x="83" y="1399"/>
                </a:lnTo>
                <a:lnTo>
                  <a:pt x="73" y="1377"/>
                </a:lnTo>
                <a:lnTo>
                  <a:pt x="66" y="1355"/>
                </a:lnTo>
                <a:lnTo>
                  <a:pt x="57" y="1333"/>
                </a:lnTo>
                <a:lnTo>
                  <a:pt x="49" y="1309"/>
                </a:lnTo>
                <a:lnTo>
                  <a:pt x="42" y="1286"/>
                </a:lnTo>
                <a:lnTo>
                  <a:pt x="36" y="1263"/>
                </a:lnTo>
                <a:lnTo>
                  <a:pt x="29" y="1239"/>
                </a:lnTo>
                <a:lnTo>
                  <a:pt x="25" y="1216"/>
                </a:lnTo>
                <a:lnTo>
                  <a:pt x="19" y="1191"/>
                </a:lnTo>
                <a:lnTo>
                  <a:pt x="14" y="1168"/>
                </a:lnTo>
                <a:lnTo>
                  <a:pt x="11" y="1143"/>
                </a:lnTo>
                <a:lnTo>
                  <a:pt x="8" y="1118"/>
                </a:lnTo>
                <a:lnTo>
                  <a:pt x="5" y="1093"/>
                </a:lnTo>
                <a:lnTo>
                  <a:pt x="3" y="1068"/>
                </a:lnTo>
                <a:lnTo>
                  <a:pt x="1" y="1042"/>
                </a:lnTo>
                <a:lnTo>
                  <a:pt x="1" y="1017"/>
                </a:lnTo>
                <a:lnTo>
                  <a:pt x="0" y="992"/>
                </a:lnTo>
                <a:lnTo>
                  <a:pt x="1" y="966"/>
                </a:lnTo>
                <a:lnTo>
                  <a:pt x="1" y="941"/>
                </a:lnTo>
                <a:lnTo>
                  <a:pt x="3" y="916"/>
                </a:lnTo>
                <a:lnTo>
                  <a:pt x="5" y="891"/>
                </a:lnTo>
                <a:lnTo>
                  <a:pt x="8" y="865"/>
                </a:lnTo>
                <a:lnTo>
                  <a:pt x="11" y="841"/>
                </a:lnTo>
                <a:lnTo>
                  <a:pt x="14" y="816"/>
                </a:lnTo>
                <a:lnTo>
                  <a:pt x="19" y="791"/>
                </a:lnTo>
                <a:lnTo>
                  <a:pt x="25" y="768"/>
                </a:lnTo>
                <a:lnTo>
                  <a:pt x="30" y="743"/>
                </a:lnTo>
                <a:lnTo>
                  <a:pt x="36" y="720"/>
                </a:lnTo>
                <a:lnTo>
                  <a:pt x="42" y="696"/>
                </a:lnTo>
                <a:lnTo>
                  <a:pt x="49" y="674"/>
                </a:lnTo>
                <a:lnTo>
                  <a:pt x="57" y="651"/>
                </a:lnTo>
                <a:lnTo>
                  <a:pt x="66" y="628"/>
                </a:lnTo>
                <a:lnTo>
                  <a:pt x="73" y="606"/>
                </a:lnTo>
                <a:lnTo>
                  <a:pt x="83" y="584"/>
                </a:lnTo>
                <a:lnTo>
                  <a:pt x="92" y="562"/>
                </a:lnTo>
                <a:lnTo>
                  <a:pt x="102" y="540"/>
                </a:lnTo>
                <a:lnTo>
                  <a:pt x="112" y="519"/>
                </a:lnTo>
                <a:lnTo>
                  <a:pt x="124" y="499"/>
                </a:lnTo>
                <a:lnTo>
                  <a:pt x="134" y="478"/>
                </a:lnTo>
                <a:lnTo>
                  <a:pt x="148" y="458"/>
                </a:lnTo>
                <a:lnTo>
                  <a:pt x="159" y="437"/>
                </a:lnTo>
                <a:lnTo>
                  <a:pt x="173" y="418"/>
                </a:lnTo>
                <a:lnTo>
                  <a:pt x="186" y="398"/>
                </a:lnTo>
                <a:lnTo>
                  <a:pt x="199" y="380"/>
                </a:lnTo>
                <a:lnTo>
                  <a:pt x="214" y="361"/>
                </a:lnTo>
                <a:lnTo>
                  <a:pt x="227" y="342"/>
                </a:lnTo>
                <a:lnTo>
                  <a:pt x="242" y="325"/>
                </a:lnTo>
                <a:lnTo>
                  <a:pt x="258" y="307"/>
                </a:lnTo>
                <a:lnTo>
                  <a:pt x="274" y="291"/>
                </a:lnTo>
                <a:lnTo>
                  <a:pt x="288" y="274"/>
                </a:lnTo>
                <a:lnTo>
                  <a:pt x="306" y="257"/>
                </a:lnTo>
                <a:lnTo>
                  <a:pt x="322" y="243"/>
                </a:lnTo>
                <a:lnTo>
                  <a:pt x="340" y="227"/>
                </a:lnTo>
                <a:lnTo>
                  <a:pt x="356" y="212"/>
                </a:lnTo>
                <a:lnTo>
                  <a:pt x="375" y="197"/>
                </a:lnTo>
                <a:lnTo>
                  <a:pt x="393" y="183"/>
                </a:lnTo>
                <a:lnTo>
                  <a:pt x="410" y="170"/>
                </a:lnTo>
                <a:lnTo>
                  <a:pt x="429" y="156"/>
                </a:lnTo>
                <a:lnTo>
                  <a:pt x="448" y="143"/>
                </a:lnTo>
                <a:lnTo>
                  <a:pt x="467" y="132"/>
                </a:lnTo>
                <a:lnTo>
                  <a:pt x="488" y="120"/>
                </a:lnTo>
                <a:lnTo>
                  <a:pt x="507" y="108"/>
                </a:lnTo>
                <a:lnTo>
                  <a:pt x="527" y="98"/>
                </a:lnTo>
                <a:lnTo>
                  <a:pt x="548" y="88"/>
                </a:lnTo>
                <a:lnTo>
                  <a:pt x="568" y="79"/>
                </a:lnTo>
                <a:lnTo>
                  <a:pt x="590" y="69"/>
                </a:lnTo>
                <a:lnTo>
                  <a:pt x="611" y="60"/>
                </a:lnTo>
                <a:lnTo>
                  <a:pt x="633" y="53"/>
                </a:lnTo>
                <a:lnTo>
                  <a:pt x="655" y="45"/>
                </a:lnTo>
                <a:lnTo>
                  <a:pt x="677" y="38"/>
                </a:lnTo>
                <a:lnTo>
                  <a:pt x="699" y="32"/>
                </a:lnTo>
                <a:lnTo>
                  <a:pt x="721" y="26"/>
                </a:lnTo>
                <a:lnTo>
                  <a:pt x="744" y="20"/>
                </a:lnTo>
                <a:lnTo>
                  <a:pt x="766" y="16"/>
                </a:lnTo>
                <a:lnTo>
                  <a:pt x="790" y="12"/>
                </a:lnTo>
                <a:lnTo>
                  <a:pt x="813" y="9"/>
                </a:lnTo>
                <a:lnTo>
                  <a:pt x="837" y="6"/>
                </a:lnTo>
                <a:lnTo>
                  <a:pt x="860" y="3"/>
                </a:lnTo>
                <a:lnTo>
                  <a:pt x="884" y="1"/>
                </a:lnTo>
                <a:lnTo>
                  <a:pt x="907" y="0"/>
                </a:lnTo>
                <a:lnTo>
                  <a:pt x="931" y="0"/>
                </a:lnTo>
                <a:lnTo>
                  <a:pt x="932" y="0"/>
                </a:lnTo>
                <a:lnTo>
                  <a:pt x="955" y="1"/>
                </a:lnTo>
                <a:lnTo>
                  <a:pt x="979" y="1"/>
                </a:lnTo>
                <a:lnTo>
                  <a:pt x="1002" y="3"/>
                </a:lnTo>
                <a:lnTo>
                  <a:pt x="1026" y="6"/>
                </a:lnTo>
                <a:lnTo>
                  <a:pt x="1049" y="9"/>
                </a:lnTo>
                <a:lnTo>
                  <a:pt x="1073" y="12"/>
                </a:lnTo>
                <a:lnTo>
                  <a:pt x="1096" y="16"/>
                </a:lnTo>
                <a:lnTo>
                  <a:pt x="1120" y="20"/>
                </a:lnTo>
                <a:lnTo>
                  <a:pt x="1142" y="26"/>
                </a:lnTo>
                <a:lnTo>
                  <a:pt x="1164" y="32"/>
                </a:lnTo>
                <a:lnTo>
                  <a:pt x="1186" y="38"/>
                </a:lnTo>
                <a:lnTo>
                  <a:pt x="1208" y="45"/>
                </a:lnTo>
                <a:lnTo>
                  <a:pt x="1230" y="53"/>
                </a:lnTo>
                <a:lnTo>
                  <a:pt x="1252" y="60"/>
                </a:lnTo>
                <a:lnTo>
                  <a:pt x="1272" y="69"/>
                </a:lnTo>
                <a:lnTo>
                  <a:pt x="1294" y="79"/>
                </a:lnTo>
                <a:lnTo>
                  <a:pt x="1315" y="88"/>
                </a:lnTo>
                <a:lnTo>
                  <a:pt x="1335" y="98"/>
                </a:lnTo>
                <a:lnTo>
                  <a:pt x="1356" y="108"/>
                </a:lnTo>
                <a:lnTo>
                  <a:pt x="1375" y="120"/>
                </a:lnTo>
                <a:lnTo>
                  <a:pt x="1395" y="132"/>
                </a:lnTo>
                <a:lnTo>
                  <a:pt x="1414" y="143"/>
                </a:lnTo>
                <a:lnTo>
                  <a:pt x="1433" y="156"/>
                </a:lnTo>
                <a:lnTo>
                  <a:pt x="1452" y="170"/>
                </a:lnTo>
                <a:lnTo>
                  <a:pt x="1470" y="183"/>
                </a:lnTo>
                <a:lnTo>
                  <a:pt x="1488" y="197"/>
                </a:lnTo>
                <a:lnTo>
                  <a:pt x="1507" y="212"/>
                </a:lnTo>
                <a:lnTo>
                  <a:pt x="1523" y="227"/>
                </a:lnTo>
                <a:lnTo>
                  <a:pt x="1540" y="243"/>
                </a:lnTo>
                <a:lnTo>
                  <a:pt x="1557" y="257"/>
                </a:lnTo>
                <a:lnTo>
                  <a:pt x="1574" y="274"/>
                </a:lnTo>
                <a:lnTo>
                  <a:pt x="1590" y="291"/>
                </a:lnTo>
                <a:lnTo>
                  <a:pt x="1605" y="307"/>
                </a:lnTo>
                <a:lnTo>
                  <a:pt x="1621" y="325"/>
                </a:lnTo>
                <a:lnTo>
                  <a:pt x="1636" y="342"/>
                </a:lnTo>
                <a:lnTo>
                  <a:pt x="1650" y="361"/>
                </a:lnTo>
                <a:lnTo>
                  <a:pt x="1664" y="380"/>
                </a:lnTo>
                <a:lnTo>
                  <a:pt x="1677" y="398"/>
                </a:lnTo>
                <a:lnTo>
                  <a:pt x="1690" y="418"/>
                </a:lnTo>
                <a:lnTo>
                  <a:pt x="1703" y="437"/>
                </a:lnTo>
                <a:lnTo>
                  <a:pt x="1715" y="458"/>
                </a:lnTo>
                <a:lnTo>
                  <a:pt x="1728" y="477"/>
                </a:lnTo>
                <a:lnTo>
                  <a:pt x="1738" y="499"/>
                </a:lnTo>
                <a:lnTo>
                  <a:pt x="1750" y="519"/>
                </a:lnTo>
                <a:lnTo>
                  <a:pt x="1760" y="540"/>
                </a:lnTo>
                <a:lnTo>
                  <a:pt x="1771" y="562"/>
                </a:lnTo>
                <a:lnTo>
                  <a:pt x="1779" y="584"/>
                </a:lnTo>
                <a:lnTo>
                  <a:pt x="1790" y="606"/>
                </a:lnTo>
                <a:lnTo>
                  <a:pt x="1797" y="628"/>
                </a:lnTo>
                <a:lnTo>
                  <a:pt x="1806" y="651"/>
                </a:lnTo>
                <a:lnTo>
                  <a:pt x="1813" y="673"/>
                </a:lnTo>
                <a:lnTo>
                  <a:pt x="1820" y="696"/>
                </a:lnTo>
                <a:lnTo>
                  <a:pt x="1826" y="720"/>
                </a:lnTo>
                <a:lnTo>
                  <a:pt x="1834" y="743"/>
                </a:lnTo>
                <a:lnTo>
                  <a:pt x="1838" y="768"/>
                </a:lnTo>
                <a:lnTo>
                  <a:pt x="1844" y="791"/>
                </a:lnTo>
                <a:lnTo>
                  <a:pt x="1848" y="816"/>
                </a:lnTo>
                <a:lnTo>
                  <a:pt x="1851" y="841"/>
                </a:lnTo>
                <a:lnTo>
                  <a:pt x="1854" y="865"/>
                </a:lnTo>
                <a:lnTo>
                  <a:pt x="1857" y="890"/>
                </a:lnTo>
                <a:lnTo>
                  <a:pt x="1860" y="916"/>
                </a:lnTo>
                <a:lnTo>
                  <a:pt x="1862" y="941"/>
                </a:lnTo>
                <a:lnTo>
                  <a:pt x="1862" y="966"/>
                </a:lnTo>
                <a:lnTo>
                  <a:pt x="1862" y="992"/>
                </a:lnTo>
                <a:lnTo>
                  <a:pt x="1862" y="1017"/>
                </a:lnTo>
                <a:lnTo>
                  <a:pt x="1862" y="1043"/>
                </a:lnTo>
                <a:lnTo>
                  <a:pt x="1860" y="1068"/>
                </a:lnTo>
                <a:lnTo>
                  <a:pt x="1857" y="1093"/>
                </a:lnTo>
                <a:lnTo>
                  <a:pt x="1854" y="1118"/>
                </a:lnTo>
                <a:lnTo>
                  <a:pt x="1851" y="1143"/>
                </a:lnTo>
                <a:lnTo>
                  <a:pt x="1848" y="1168"/>
                </a:lnTo>
                <a:lnTo>
                  <a:pt x="1844" y="1191"/>
                </a:lnTo>
                <a:lnTo>
                  <a:pt x="1838" y="1216"/>
                </a:lnTo>
                <a:lnTo>
                  <a:pt x="1834" y="1239"/>
                </a:lnTo>
                <a:lnTo>
                  <a:pt x="1826" y="1263"/>
                </a:lnTo>
                <a:lnTo>
                  <a:pt x="1820" y="1286"/>
                </a:lnTo>
                <a:lnTo>
                  <a:pt x="1813" y="1309"/>
                </a:lnTo>
                <a:lnTo>
                  <a:pt x="1806" y="1333"/>
                </a:lnTo>
                <a:lnTo>
                  <a:pt x="1797" y="1355"/>
                </a:lnTo>
                <a:lnTo>
                  <a:pt x="1790" y="1377"/>
                </a:lnTo>
                <a:lnTo>
                  <a:pt x="1779" y="1399"/>
                </a:lnTo>
                <a:lnTo>
                  <a:pt x="1771" y="1421"/>
                </a:lnTo>
                <a:lnTo>
                  <a:pt x="1760" y="1443"/>
                </a:lnTo>
                <a:lnTo>
                  <a:pt x="1750" y="1465"/>
                </a:lnTo>
                <a:lnTo>
                  <a:pt x="1738" y="1485"/>
                </a:lnTo>
                <a:lnTo>
                  <a:pt x="1728" y="1506"/>
                </a:lnTo>
                <a:lnTo>
                  <a:pt x="1715" y="1526"/>
                </a:lnTo>
                <a:lnTo>
                  <a:pt x="1703" y="1545"/>
                </a:lnTo>
                <a:lnTo>
                  <a:pt x="1690" y="1566"/>
                </a:lnTo>
                <a:lnTo>
                  <a:pt x="1677" y="1585"/>
                </a:lnTo>
                <a:lnTo>
                  <a:pt x="1664" y="1604"/>
                </a:lnTo>
                <a:lnTo>
                  <a:pt x="1650" y="1623"/>
                </a:lnTo>
                <a:lnTo>
                  <a:pt x="1636" y="1640"/>
                </a:lnTo>
                <a:lnTo>
                  <a:pt x="1621" y="1658"/>
                </a:lnTo>
                <a:lnTo>
                  <a:pt x="1605" y="1675"/>
                </a:lnTo>
                <a:lnTo>
                  <a:pt x="1590" y="1693"/>
                </a:lnTo>
                <a:lnTo>
                  <a:pt x="1574" y="1709"/>
                </a:lnTo>
                <a:lnTo>
                  <a:pt x="1557" y="1725"/>
                </a:lnTo>
                <a:lnTo>
                  <a:pt x="1540" y="1741"/>
                </a:lnTo>
                <a:lnTo>
                  <a:pt x="1523" y="1756"/>
                </a:lnTo>
                <a:lnTo>
                  <a:pt x="1507" y="1772"/>
                </a:lnTo>
                <a:lnTo>
                  <a:pt x="1488" y="1786"/>
                </a:lnTo>
                <a:lnTo>
                  <a:pt x="1470" y="1800"/>
                </a:lnTo>
                <a:lnTo>
                  <a:pt x="1452" y="1813"/>
                </a:lnTo>
                <a:lnTo>
                  <a:pt x="1433" y="1826"/>
                </a:lnTo>
                <a:lnTo>
                  <a:pt x="1414" y="1839"/>
                </a:lnTo>
                <a:lnTo>
                  <a:pt x="1395" y="1851"/>
                </a:lnTo>
                <a:lnTo>
                  <a:pt x="1375" y="1863"/>
                </a:lnTo>
                <a:lnTo>
                  <a:pt x="1356" y="1874"/>
                </a:lnTo>
                <a:lnTo>
                  <a:pt x="1335" y="1884"/>
                </a:lnTo>
                <a:lnTo>
                  <a:pt x="1315" y="1895"/>
                </a:lnTo>
                <a:lnTo>
                  <a:pt x="1294" y="1905"/>
                </a:lnTo>
                <a:lnTo>
                  <a:pt x="1272" y="1914"/>
                </a:lnTo>
                <a:lnTo>
                  <a:pt x="1252" y="1923"/>
                </a:lnTo>
                <a:lnTo>
                  <a:pt x="1230" y="1930"/>
                </a:lnTo>
                <a:lnTo>
                  <a:pt x="1208" y="1939"/>
                </a:lnTo>
                <a:lnTo>
                  <a:pt x="1186" y="1944"/>
                </a:lnTo>
                <a:lnTo>
                  <a:pt x="1164" y="1952"/>
                </a:lnTo>
                <a:lnTo>
                  <a:pt x="1142" y="1958"/>
                </a:lnTo>
                <a:lnTo>
                  <a:pt x="1118" y="1962"/>
                </a:lnTo>
                <a:lnTo>
                  <a:pt x="1096" y="1966"/>
                </a:lnTo>
                <a:lnTo>
                  <a:pt x="1073" y="1971"/>
                </a:lnTo>
                <a:lnTo>
                  <a:pt x="1049" y="1975"/>
                </a:lnTo>
                <a:lnTo>
                  <a:pt x="1026" y="1978"/>
                </a:lnTo>
                <a:lnTo>
                  <a:pt x="1002" y="1980"/>
                </a:lnTo>
                <a:lnTo>
                  <a:pt x="979" y="1981"/>
                </a:lnTo>
                <a:lnTo>
                  <a:pt x="955" y="1983"/>
                </a:lnTo>
                <a:lnTo>
                  <a:pt x="931" y="1983"/>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66" name="Freeform 12">
            <a:extLst>
              <a:ext uri="{FF2B5EF4-FFF2-40B4-BE49-F238E27FC236}">
                <a16:creationId xmlns:a16="http://schemas.microsoft.com/office/drawing/2014/main" id="{C0CA039E-1D4C-49B0-9D0F-35ACA8359029}"/>
              </a:ext>
            </a:extLst>
          </p:cNvPr>
          <p:cNvSpPr>
            <a:spLocks/>
          </p:cNvSpPr>
          <p:nvPr/>
        </p:nvSpPr>
        <p:spPr bwMode="auto">
          <a:xfrm>
            <a:off x="3568700" y="2017714"/>
            <a:ext cx="1182688" cy="1258887"/>
          </a:xfrm>
          <a:custGeom>
            <a:avLst/>
            <a:gdLst>
              <a:gd name="T0" fmla="*/ 2147483646 w 1489"/>
              <a:gd name="T1" fmla="*/ 2147483646 h 1587"/>
              <a:gd name="T2" fmla="*/ 2147483646 w 1489"/>
              <a:gd name="T3" fmla="*/ 2147483646 h 1587"/>
              <a:gd name="T4" fmla="*/ 2147483646 w 1489"/>
              <a:gd name="T5" fmla="*/ 2147483646 h 1587"/>
              <a:gd name="T6" fmla="*/ 2147483646 w 1489"/>
              <a:gd name="T7" fmla="*/ 2147483646 h 1587"/>
              <a:gd name="T8" fmla="*/ 2147483646 w 1489"/>
              <a:gd name="T9" fmla="*/ 2147483646 h 1587"/>
              <a:gd name="T10" fmla="*/ 2147483646 w 1489"/>
              <a:gd name="T11" fmla="*/ 2147483646 h 1587"/>
              <a:gd name="T12" fmla="*/ 2147483646 w 1489"/>
              <a:gd name="T13" fmla="*/ 2147483646 h 1587"/>
              <a:gd name="T14" fmla="*/ 2147483646 w 1489"/>
              <a:gd name="T15" fmla="*/ 2147483646 h 1587"/>
              <a:gd name="T16" fmla="*/ 2147483646 w 1489"/>
              <a:gd name="T17" fmla="*/ 2147483646 h 1587"/>
              <a:gd name="T18" fmla="*/ 2147483646 w 1489"/>
              <a:gd name="T19" fmla="*/ 2147483646 h 1587"/>
              <a:gd name="T20" fmla="*/ 2147483646 w 1489"/>
              <a:gd name="T21" fmla="*/ 2147483646 h 1587"/>
              <a:gd name="T22" fmla="*/ 2147483646 w 1489"/>
              <a:gd name="T23" fmla="*/ 2147483646 h 1587"/>
              <a:gd name="T24" fmla="*/ 2147483646 w 1489"/>
              <a:gd name="T25" fmla="*/ 2147483646 h 1587"/>
              <a:gd name="T26" fmla="*/ 2147483646 w 1489"/>
              <a:gd name="T27" fmla="*/ 2147483646 h 1587"/>
              <a:gd name="T28" fmla="*/ 2147483646 w 1489"/>
              <a:gd name="T29" fmla="*/ 2147483646 h 1587"/>
              <a:gd name="T30" fmla="*/ 2147483646 w 1489"/>
              <a:gd name="T31" fmla="*/ 2147483646 h 1587"/>
              <a:gd name="T32" fmla="*/ 2147483646 w 1489"/>
              <a:gd name="T33" fmla="*/ 2147483646 h 1587"/>
              <a:gd name="T34" fmla="*/ 2147483646 w 1489"/>
              <a:gd name="T35" fmla="*/ 2147483646 h 1587"/>
              <a:gd name="T36" fmla="*/ 2147483646 w 1489"/>
              <a:gd name="T37" fmla="*/ 2147483646 h 1587"/>
              <a:gd name="T38" fmla="*/ 2147483646 w 1489"/>
              <a:gd name="T39" fmla="*/ 2147483646 h 1587"/>
              <a:gd name="T40" fmla="*/ 2147483646 w 1489"/>
              <a:gd name="T41" fmla="*/ 2147483646 h 1587"/>
              <a:gd name="T42" fmla="*/ 2147483646 w 1489"/>
              <a:gd name="T43" fmla="*/ 2147483646 h 1587"/>
              <a:gd name="T44" fmla="*/ 2147483646 w 1489"/>
              <a:gd name="T45" fmla="*/ 2147483646 h 1587"/>
              <a:gd name="T46" fmla="*/ 2147483646 w 1489"/>
              <a:gd name="T47" fmla="*/ 2147483646 h 1587"/>
              <a:gd name="T48" fmla="*/ 2147483646 w 1489"/>
              <a:gd name="T49" fmla="*/ 2147483646 h 1587"/>
              <a:gd name="T50" fmla="*/ 2147483646 w 1489"/>
              <a:gd name="T51" fmla="*/ 2147483646 h 1587"/>
              <a:gd name="T52" fmla="*/ 2147483646 w 1489"/>
              <a:gd name="T53" fmla="*/ 2147483646 h 1587"/>
              <a:gd name="T54" fmla="*/ 2147483646 w 1489"/>
              <a:gd name="T55" fmla="*/ 0 h 1587"/>
              <a:gd name="T56" fmla="*/ 2147483646 w 1489"/>
              <a:gd name="T57" fmla="*/ 0 h 1587"/>
              <a:gd name="T58" fmla="*/ 2147483646 w 1489"/>
              <a:gd name="T59" fmla="*/ 2147483646 h 1587"/>
              <a:gd name="T60" fmla="*/ 2147483646 w 1489"/>
              <a:gd name="T61" fmla="*/ 2147483646 h 1587"/>
              <a:gd name="T62" fmla="*/ 2147483646 w 1489"/>
              <a:gd name="T63" fmla="*/ 2147483646 h 1587"/>
              <a:gd name="T64" fmla="*/ 2147483646 w 1489"/>
              <a:gd name="T65" fmla="*/ 2147483646 h 1587"/>
              <a:gd name="T66" fmla="*/ 2147483646 w 1489"/>
              <a:gd name="T67" fmla="*/ 2147483646 h 1587"/>
              <a:gd name="T68" fmla="*/ 2147483646 w 1489"/>
              <a:gd name="T69" fmla="*/ 2147483646 h 1587"/>
              <a:gd name="T70" fmla="*/ 2147483646 w 1489"/>
              <a:gd name="T71" fmla="*/ 2147483646 h 1587"/>
              <a:gd name="T72" fmla="*/ 2147483646 w 1489"/>
              <a:gd name="T73" fmla="*/ 2147483646 h 1587"/>
              <a:gd name="T74" fmla="*/ 2147483646 w 1489"/>
              <a:gd name="T75" fmla="*/ 2147483646 h 1587"/>
              <a:gd name="T76" fmla="*/ 2147483646 w 1489"/>
              <a:gd name="T77" fmla="*/ 2147483646 h 1587"/>
              <a:gd name="T78" fmla="*/ 2147483646 w 1489"/>
              <a:gd name="T79" fmla="*/ 2147483646 h 1587"/>
              <a:gd name="T80" fmla="*/ 2147483646 w 1489"/>
              <a:gd name="T81" fmla="*/ 2147483646 h 1587"/>
              <a:gd name="T82" fmla="*/ 2147483646 w 1489"/>
              <a:gd name="T83" fmla="*/ 2147483646 h 1587"/>
              <a:gd name="T84" fmla="*/ 2147483646 w 1489"/>
              <a:gd name="T85" fmla="*/ 2147483646 h 1587"/>
              <a:gd name="T86" fmla="*/ 2147483646 w 1489"/>
              <a:gd name="T87" fmla="*/ 2147483646 h 1587"/>
              <a:gd name="T88" fmla="*/ 2147483646 w 1489"/>
              <a:gd name="T89" fmla="*/ 2147483646 h 1587"/>
              <a:gd name="T90" fmla="*/ 2147483646 w 1489"/>
              <a:gd name="T91" fmla="*/ 2147483646 h 1587"/>
              <a:gd name="T92" fmla="*/ 2147483646 w 1489"/>
              <a:gd name="T93" fmla="*/ 2147483646 h 1587"/>
              <a:gd name="T94" fmla="*/ 2147483646 w 1489"/>
              <a:gd name="T95" fmla="*/ 2147483646 h 1587"/>
              <a:gd name="T96" fmla="*/ 2147483646 w 1489"/>
              <a:gd name="T97" fmla="*/ 2147483646 h 1587"/>
              <a:gd name="T98" fmla="*/ 2147483646 w 1489"/>
              <a:gd name="T99" fmla="*/ 2147483646 h 1587"/>
              <a:gd name="T100" fmla="*/ 2147483646 w 1489"/>
              <a:gd name="T101" fmla="*/ 2147483646 h 1587"/>
              <a:gd name="T102" fmla="*/ 2147483646 w 1489"/>
              <a:gd name="T103" fmla="*/ 2147483646 h 1587"/>
              <a:gd name="T104" fmla="*/ 2147483646 w 1489"/>
              <a:gd name="T105" fmla="*/ 2147483646 h 1587"/>
              <a:gd name="T106" fmla="*/ 2147483646 w 1489"/>
              <a:gd name="T107" fmla="*/ 2147483646 h 1587"/>
              <a:gd name="T108" fmla="*/ 2147483646 w 1489"/>
              <a:gd name="T109" fmla="*/ 2147483646 h 1587"/>
              <a:gd name="T110" fmla="*/ 2147483646 w 1489"/>
              <a:gd name="T111" fmla="*/ 2147483646 h 158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89"/>
              <a:gd name="T169" fmla="*/ 0 h 1587"/>
              <a:gd name="T170" fmla="*/ 1489 w 1489"/>
              <a:gd name="T171" fmla="*/ 1587 h 1587"/>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89" h="1587">
                <a:moveTo>
                  <a:pt x="746" y="1587"/>
                </a:moveTo>
                <a:lnTo>
                  <a:pt x="726" y="1585"/>
                </a:lnTo>
                <a:lnTo>
                  <a:pt x="706" y="1585"/>
                </a:lnTo>
                <a:lnTo>
                  <a:pt x="687" y="1584"/>
                </a:lnTo>
                <a:lnTo>
                  <a:pt x="670" y="1582"/>
                </a:lnTo>
                <a:lnTo>
                  <a:pt x="651" y="1579"/>
                </a:lnTo>
                <a:lnTo>
                  <a:pt x="632" y="1576"/>
                </a:lnTo>
                <a:lnTo>
                  <a:pt x="614" y="1573"/>
                </a:lnTo>
                <a:lnTo>
                  <a:pt x="595" y="1570"/>
                </a:lnTo>
                <a:lnTo>
                  <a:pt x="577" y="1566"/>
                </a:lnTo>
                <a:lnTo>
                  <a:pt x="560" y="1560"/>
                </a:lnTo>
                <a:lnTo>
                  <a:pt x="541" y="1556"/>
                </a:lnTo>
                <a:lnTo>
                  <a:pt x="523" y="1550"/>
                </a:lnTo>
                <a:lnTo>
                  <a:pt x="507" y="1544"/>
                </a:lnTo>
                <a:lnTo>
                  <a:pt x="489" y="1538"/>
                </a:lnTo>
                <a:lnTo>
                  <a:pt x="472" y="1531"/>
                </a:lnTo>
                <a:lnTo>
                  <a:pt x="456" y="1524"/>
                </a:lnTo>
                <a:lnTo>
                  <a:pt x="438" y="1516"/>
                </a:lnTo>
                <a:lnTo>
                  <a:pt x="422" y="1507"/>
                </a:lnTo>
                <a:lnTo>
                  <a:pt x="406" y="1499"/>
                </a:lnTo>
                <a:lnTo>
                  <a:pt x="390" y="1490"/>
                </a:lnTo>
                <a:lnTo>
                  <a:pt x="375" y="1481"/>
                </a:lnTo>
                <a:lnTo>
                  <a:pt x="359" y="1471"/>
                </a:lnTo>
                <a:lnTo>
                  <a:pt x="344" y="1461"/>
                </a:lnTo>
                <a:lnTo>
                  <a:pt x="330" y="1450"/>
                </a:lnTo>
                <a:lnTo>
                  <a:pt x="314" y="1440"/>
                </a:lnTo>
                <a:lnTo>
                  <a:pt x="300" y="1428"/>
                </a:lnTo>
                <a:lnTo>
                  <a:pt x="271" y="1405"/>
                </a:lnTo>
                <a:lnTo>
                  <a:pt x="245" y="1380"/>
                </a:lnTo>
                <a:lnTo>
                  <a:pt x="218" y="1354"/>
                </a:lnTo>
                <a:lnTo>
                  <a:pt x="195" y="1326"/>
                </a:lnTo>
                <a:lnTo>
                  <a:pt x="171" y="1297"/>
                </a:lnTo>
                <a:lnTo>
                  <a:pt x="148" y="1268"/>
                </a:lnTo>
                <a:lnTo>
                  <a:pt x="127" y="1237"/>
                </a:lnTo>
                <a:lnTo>
                  <a:pt x="108" y="1205"/>
                </a:lnTo>
                <a:lnTo>
                  <a:pt x="99" y="1187"/>
                </a:lnTo>
                <a:lnTo>
                  <a:pt x="91" y="1171"/>
                </a:lnTo>
                <a:lnTo>
                  <a:pt x="82" y="1153"/>
                </a:lnTo>
                <a:lnTo>
                  <a:pt x="75" y="1137"/>
                </a:lnTo>
                <a:lnTo>
                  <a:pt x="66" y="1120"/>
                </a:lnTo>
                <a:lnTo>
                  <a:pt x="58" y="1102"/>
                </a:lnTo>
                <a:lnTo>
                  <a:pt x="53" y="1083"/>
                </a:lnTo>
                <a:lnTo>
                  <a:pt x="45" y="1066"/>
                </a:lnTo>
                <a:lnTo>
                  <a:pt x="39" y="1047"/>
                </a:lnTo>
                <a:lnTo>
                  <a:pt x="34" y="1029"/>
                </a:lnTo>
                <a:lnTo>
                  <a:pt x="29" y="1010"/>
                </a:lnTo>
                <a:lnTo>
                  <a:pt x="23" y="991"/>
                </a:lnTo>
                <a:lnTo>
                  <a:pt x="19" y="972"/>
                </a:lnTo>
                <a:lnTo>
                  <a:pt x="16" y="953"/>
                </a:lnTo>
                <a:lnTo>
                  <a:pt x="12" y="934"/>
                </a:lnTo>
                <a:lnTo>
                  <a:pt x="9" y="913"/>
                </a:lnTo>
                <a:lnTo>
                  <a:pt x="7" y="894"/>
                </a:lnTo>
                <a:lnTo>
                  <a:pt x="4" y="874"/>
                </a:lnTo>
                <a:lnTo>
                  <a:pt x="3" y="853"/>
                </a:lnTo>
                <a:lnTo>
                  <a:pt x="1" y="834"/>
                </a:lnTo>
                <a:lnTo>
                  <a:pt x="1" y="814"/>
                </a:lnTo>
                <a:lnTo>
                  <a:pt x="0" y="793"/>
                </a:lnTo>
                <a:lnTo>
                  <a:pt x="1" y="773"/>
                </a:lnTo>
                <a:lnTo>
                  <a:pt x="1" y="752"/>
                </a:lnTo>
                <a:lnTo>
                  <a:pt x="3" y="732"/>
                </a:lnTo>
                <a:lnTo>
                  <a:pt x="4" y="712"/>
                </a:lnTo>
                <a:lnTo>
                  <a:pt x="7" y="692"/>
                </a:lnTo>
                <a:lnTo>
                  <a:pt x="9" y="672"/>
                </a:lnTo>
                <a:lnTo>
                  <a:pt x="12" y="653"/>
                </a:lnTo>
                <a:lnTo>
                  <a:pt x="16" y="633"/>
                </a:lnTo>
                <a:lnTo>
                  <a:pt x="20" y="613"/>
                </a:lnTo>
                <a:lnTo>
                  <a:pt x="25" y="594"/>
                </a:lnTo>
                <a:lnTo>
                  <a:pt x="29" y="575"/>
                </a:lnTo>
                <a:lnTo>
                  <a:pt x="34" y="558"/>
                </a:lnTo>
                <a:lnTo>
                  <a:pt x="39" y="539"/>
                </a:lnTo>
                <a:lnTo>
                  <a:pt x="45" y="520"/>
                </a:lnTo>
                <a:lnTo>
                  <a:pt x="53" y="502"/>
                </a:lnTo>
                <a:lnTo>
                  <a:pt x="58" y="485"/>
                </a:lnTo>
                <a:lnTo>
                  <a:pt x="66" y="467"/>
                </a:lnTo>
                <a:lnTo>
                  <a:pt x="75" y="450"/>
                </a:lnTo>
                <a:lnTo>
                  <a:pt x="82" y="432"/>
                </a:lnTo>
                <a:lnTo>
                  <a:pt x="91" y="414"/>
                </a:lnTo>
                <a:lnTo>
                  <a:pt x="99" y="398"/>
                </a:lnTo>
                <a:lnTo>
                  <a:pt x="108" y="382"/>
                </a:lnTo>
                <a:lnTo>
                  <a:pt x="127" y="350"/>
                </a:lnTo>
                <a:lnTo>
                  <a:pt x="148" y="318"/>
                </a:lnTo>
                <a:lnTo>
                  <a:pt x="171" y="289"/>
                </a:lnTo>
                <a:lnTo>
                  <a:pt x="193" y="259"/>
                </a:lnTo>
                <a:lnTo>
                  <a:pt x="218" y="232"/>
                </a:lnTo>
                <a:lnTo>
                  <a:pt x="245" y="207"/>
                </a:lnTo>
                <a:lnTo>
                  <a:pt x="271" y="182"/>
                </a:lnTo>
                <a:lnTo>
                  <a:pt x="300" y="157"/>
                </a:lnTo>
                <a:lnTo>
                  <a:pt x="314" y="147"/>
                </a:lnTo>
                <a:lnTo>
                  <a:pt x="328" y="135"/>
                </a:lnTo>
                <a:lnTo>
                  <a:pt x="344" y="125"/>
                </a:lnTo>
                <a:lnTo>
                  <a:pt x="359" y="115"/>
                </a:lnTo>
                <a:lnTo>
                  <a:pt x="375" y="106"/>
                </a:lnTo>
                <a:lnTo>
                  <a:pt x="390" y="96"/>
                </a:lnTo>
                <a:lnTo>
                  <a:pt x="406" y="87"/>
                </a:lnTo>
                <a:lnTo>
                  <a:pt x="422" y="78"/>
                </a:lnTo>
                <a:lnTo>
                  <a:pt x="438" y="71"/>
                </a:lnTo>
                <a:lnTo>
                  <a:pt x="456" y="62"/>
                </a:lnTo>
                <a:lnTo>
                  <a:pt x="472" y="55"/>
                </a:lnTo>
                <a:lnTo>
                  <a:pt x="489" y="49"/>
                </a:lnTo>
                <a:lnTo>
                  <a:pt x="507" y="41"/>
                </a:lnTo>
                <a:lnTo>
                  <a:pt x="523" y="36"/>
                </a:lnTo>
                <a:lnTo>
                  <a:pt x="541" y="30"/>
                </a:lnTo>
                <a:lnTo>
                  <a:pt x="558" y="25"/>
                </a:lnTo>
                <a:lnTo>
                  <a:pt x="577" y="21"/>
                </a:lnTo>
                <a:lnTo>
                  <a:pt x="595" y="17"/>
                </a:lnTo>
                <a:lnTo>
                  <a:pt x="613" y="12"/>
                </a:lnTo>
                <a:lnTo>
                  <a:pt x="632" y="9"/>
                </a:lnTo>
                <a:lnTo>
                  <a:pt x="651" y="6"/>
                </a:lnTo>
                <a:lnTo>
                  <a:pt x="668" y="5"/>
                </a:lnTo>
                <a:lnTo>
                  <a:pt x="687" y="2"/>
                </a:lnTo>
                <a:lnTo>
                  <a:pt x="706" y="0"/>
                </a:lnTo>
                <a:lnTo>
                  <a:pt x="726" y="0"/>
                </a:lnTo>
                <a:lnTo>
                  <a:pt x="745" y="0"/>
                </a:lnTo>
                <a:lnTo>
                  <a:pt x="746" y="0"/>
                </a:lnTo>
                <a:lnTo>
                  <a:pt x="765" y="0"/>
                </a:lnTo>
                <a:lnTo>
                  <a:pt x="784" y="0"/>
                </a:lnTo>
                <a:lnTo>
                  <a:pt x="803" y="2"/>
                </a:lnTo>
                <a:lnTo>
                  <a:pt x="821" y="5"/>
                </a:lnTo>
                <a:lnTo>
                  <a:pt x="840" y="6"/>
                </a:lnTo>
                <a:lnTo>
                  <a:pt x="859" y="9"/>
                </a:lnTo>
                <a:lnTo>
                  <a:pt x="877" y="12"/>
                </a:lnTo>
                <a:lnTo>
                  <a:pt x="896" y="17"/>
                </a:lnTo>
                <a:lnTo>
                  <a:pt x="913" y="21"/>
                </a:lnTo>
                <a:lnTo>
                  <a:pt x="931" y="25"/>
                </a:lnTo>
                <a:lnTo>
                  <a:pt x="950" y="30"/>
                </a:lnTo>
                <a:lnTo>
                  <a:pt x="967" y="36"/>
                </a:lnTo>
                <a:lnTo>
                  <a:pt x="984" y="41"/>
                </a:lnTo>
                <a:lnTo>
                  <a:pt x="1001" y="49"/>
                </a:lnTo>
                <a:lnTo>
                  <a:pt x="1019" y="55"/>
                </a:lnTo>
                <a:lnTo>
                  <a:pt x="1035" y="62"/>
                </a:lnTo>
                <a:lnTo>
                  <a:pt x="1052" y="71"/>
                </a:lnTo>
                <a:lnTo>
                  <a:pt x="1069" y="78"/>
                </a:lnTo>
                <a:lnTo>
                  <a:pt x="1085" y="87"/>
                </a:lnTo>
                <a:lnTo>
                  <a:pt x="1101" y="96"/>
                </a:lnTo>
                <a:lnTo>
                  <a:pt x="1115" y="106"/>
                </a:lnTo>
                <a:lnTo>
                  <a:pt x="1132" y="115"/>
                </a:lnTo>
                <a:lnTo>
                  <a:pt x="1146" y="125"/>
                </a:lnTo>
                <a:lnTo>
                  <a:pt x="1162" y="135"/>
                </a:lnTo>
                <a:lnTo>
                  <a:pt x="1177" y="147"/>
                </a:lnTo>
                <a:lnTo>
                  <a:pt x="1190" y="157"/>
                </a:lnTo>
                <a:lnTo>
                  <a:pt x="1220" y="182"/>
                </a:lnTo>
                <a:lnTo>
                  <a:pt x="1246" y="207"/>
                </a:lnTo>
                <a:lnTo>
                  <a:pt x="1272" y="232"/>
                </a:lnTo>
                <a:lnTo>
                  <a:pt x="1297" y="259"/>
                </a:lnTo>
                <a:lnTo>
                  <a:pt x="1321" y="289"/>
                </a:lnTo>
                <a:lnTo>
                  <a:pt x="1343" y="318"/>
                </a:lnTo>
                <a:lnTo>
                  <a:pt x="1363" y="350"/>
                </a:lnTo>
                <a:lnTo>
                  <a:pt x="1382" y="382"/>
                </a:lnTo>
                <a:lnTo>
                  <a:pt x="1391" y="398"/>
                </a:lnTo>
                <a:lnTo>
                  <a:pt x="1400" y="414"/>
                </a:lnTo>
                <a:lnTo>
                  <a:pt x="1409" y="432"/>
                </a:lnTo>
                <a:lnTo>
                  <a:pt x="1416" y="450"/>
                </a:lnTo>
                <a:lnTo>
                  <a:pt x="1425" y="467"/>
                </a:lnTo>
                <a:lnTo>
                  <a:pt x="1432" y="485"/>
                </a:lnTo>
                <a:lnTo>
                  <a:pt x="1438" y="502"/>
                </a:lnTo>
                <a:lnTo>
                  <a:pt x="1445" y="520"/>
                </a:lnTo>
                <a:lnTo>
                  <a:pt x="1451" y="539"/>
                </a:lnTo>
                <a:lnTo>
                  <a:pt x="1457" y="558"/>
                </a:lnTo>
                <a:lnTo>
                  <a:pt x="1461" y="575"/>
                </a:lnTo>
                <a:lnTo>
                  <a:pt x="1466" y="594"/>
                </a:lnTo>
                <a:lnTo>
                  <a:pt x="1470" y="613"/>
                </a:lnTo>
                <a:lnTo>
                  <a:pt x="1475" y="633"/>
                </a:lnTo>
                <a:lnTo>
                  <a:pt x="1479" y="653"/>
                </a:lnTo>
                <a:lnTo>
                  <a:pt x="1482" y="672"/>
                </a:lnTo>
                <a:lnTo>
                  <a:pt x="1483" y="692"/>
                </a:lnTo>
                <a:lnTo>
                  <a:pt x="1486" y="712"/>
                </a:lnTo>
                <a:lnTo>
                  <a:pt x="1488" y="732"/>
                </a:lnTo>
                <a:lnTo>
                  <a:pt x="1489" y="752"/>
                </a:lnTo>
                <a:lnTo>
                  <a:pt x="1489" y="773"/>
                </a:lnTo>
                <a:lnTo>
                  <a:pt x="1489" y="793"/>
                </a:lnTo>
                <a:lnTo>
                  <a:pt x="1489" y="814"/>
                </a:lnTo>
                <a:lnTo>
                  <a:pt x="1489" y="834"/>
                </a:lnTo>
                <a:lnTo>
                  <a:pt x="1488" y="853"/>
                </a:lnTo>
                <a:lnTo>
                  <a:pt x="1486" y="874"/>
                </a:lnTo>
                <a:lnTo>
                  <a:pt x="1483" y="894"/>
                </a:lnTo>
                <a:lnTo>
                  <a:pt x="1482" y="913"/>
                </a:lnTo>
                <a:lnTo>
                  <a:pt x="1479" y="934"/>
                </a:lnTo>
                <a:lnTo>
                  <a:pt x="1475" y="953"/>
                </a:lnTo>
                <a:lnTo>
                  <a:pt x="1472" y="972"/>
                </a:lnTo>
                <a:lnTo>
                  <a:pt x="1467" y="991"/>
                </a:lnTo>
                <a:lnTo>
                  <a:pt x="1461" y="1010"/>
                </a:lnTo>
                <a:lnTo>
                  <a:pt x="1457" y="1029"/>
                </a:lnTo>
                <a:lnTo>
                  <a:pt x="1451" y="1047"/>
                </a:lnTo>
                <a:lnTo>
                  <a:pt x="1445" y="1066"/>
                </a:lnTo>
                <a:lnTo>
                  <a:pt x="1438" y="1083"/>
                </a:lnTo>
                <a:lnTo>
                  <a:pt x="1432" y="1102"/>
                </a:lnTo>
                <a:lnTo>
                  <a:pt x="1425" y="1120"/>
                </a:lnTo>
                <a:lnTo>
                  <a:pt x="1416" y="1137"/>
                </a:lnTo>
                <a:lnTo>
                  <a:pt x="1409" y="1153"/>
                </a:lnTo>
                <a:lnTo>
                  <a:pt x="1400" y="1171"/>
                </a:lnTo>
                <a:lnTo>
                  <a:pt x="1391" y="1187"/>
                </a:lnTo>
                <a:lnTo>
                  <a:pt x="1382" y="1205"/>
                </a:lnTo>
                <a:lnTo>
                  <a:pt x="1363" y="1237"/>
                </a:lnTo>
                <a:lnTo>
                  <a:pt x="1343" y="1268"/>
                </a:lnTo>
                <a:lnTo>
                  <a:pt x="1321" y="1297"/>
                </a:lnTo>
                <a:lnTo>
                  <a:pt x="1297" y="1326"/>
                </a:lnTo>
                <a:lnTo>
                  <a:pt x="1272" y="1354"/>
                </a:lnTo>
                <a:lnTo>
                  <a:pt x="1246" y="1380"/>
                </a:lnTo>
                <a:lnTo>
                  <a:pt x="1220" y="1405"/>
                </a:lnTo>
                <a:lnTo>
                  <a:pt x="1190" y="1428"/>
                </a:lnTo>
                <a:lnTo>
                  <a:pt x="1177" y="1440"/>
                </a:lnTo>
                <a:lnTo>
                  <a:pt x="1162" y="1450"/>
                </a:lnTo>
                <a:lnTo>
                  <a:pt x="1146" y="1461"/>
                </a:lnTo>
                <a:lnTo>
                  <a:pt x="1132" y="1471"/>
                </a:lnTo>
                <a:lnTo>
                  <a:pt x="1115" y="1481"/>
                </a:lnTo>
                <a:lnTo>
                  <a:pt x="1101" y="1490"/>
                </a:lnTo>
                <a:lnTo>
                  <a:pt x="1085" y="1499"/>
                </a:lnTo>
                <a:lnTo>
                  <a:pt x="1069" y="1507"/>
                </a:lnTo>
                <a:lnTo>
                  <a:pt x="1052" y="1516"/>
                </a:lnTo>
                <a:lnTo>
                  <a:pt x="1035" y="1524"/>
                </a:lnTo>
                <a:lnTo>
                  <a:pt x="1019" y="1531"/>
                </a:lnTo>
                <a:lnTo>
                  <a:pt x="1001" y="1538"/>
                </a:lnTo>
                <a:lnTo>
                  <a:pt x="984" y="1544"/>
                </a:lnTo>
                <a:lnTo>
                  <a:pt x="967" y="1550"/>
                </a:lnTo>
                <a:lnTo>
                  <a:pt x="950" y="1556"/>
                </a:lnTo>
                <a:lnTo>
                  <a:pt x="931" y="1560"/>
                </a:lnTo>
                <a:lnTo>
                  <a:pt x="913" y="1566"/>
                </a:lnTo>
                <a:lnTo>
                  <a:pt x="896" y="1570"/>
                </a:lnTo>
                <a:lnTo>
                  <a:pt x="877" y="1573"/>
                </a:lnTo>
                <a:lnTo>
                  <a:pt x="859" y="1576"/>
                </a:lnTo>
                <a:lnTo>
                  <a:pt x="840" y="1579"/>
                </a:lnTo>
                <a:lnTo>
                  <a:pt x="821" y="1582"/>
                </a:lnTo>
                <a:lnTo>
                  <a:pt x="803" y="1584"/>
                </a:lnTo>
                <a:lnTo>
                  <a:pt x="784" y="1585"/>
                </a:lnTo>
                <a:lnTo>
                  <a:pt x="765" y="1585"/>
                </a:lnTo>
                <a:lnTo>
                  <a:pt x="745" y="1587"/>
                </a:lnTo>
                <a:lnTo>
                  <a:pt x="746" y="1587"/>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67" name="Freeform 13">
            <a:extLst>
              <a:ext uri="{FF2B5EF4-FFF2-40B4-BE49-F238E27FC236}">
                <a16:creationId xmlns:a16="http://schemas.microsoft.com/office/drawing/2014/main" id="{8572F790-DDF6-4B5C-BD1E-CD3D0CC93AFD}"/>
              </a:ext>
            </a:extLst>
          </p:cNvPr>
          <p:cNvSpPr>
            <a:spLocks/>
          </p:cNvSpPr>
          <p:nvPr/>
        </p:nvSpPr>
        <p:spPr bwMode="auto">
          <a:xfrm>
            <a:off x="3568700" y="2017714"/>
            <a:ext cx="1182688" cy="1258887"/>
          </a:xfrm>
          <a:custGeom>
            <a:avLst/>
            <a:gdLst>
              <a:gd name="T0" fmla="*/ 2147483646 w 1489"/>
              <a:gd name="T1" fmla="*/ 2147483646 h 1587"/>
              <a:gd name="T2" fmla="*/ 2147483646 w 1489"/>
              <a:gd name="T3" fmla="*/ 2147483646 h 1587"/>
              <a:gd name="T4" fmla="*/ 2147483646 w 1489"/>
              <a:gd name="T5" fmla="*/ 2147483646 h 1587"/>
              <a:gd name="T6" fmla="*/ 2147483646 w 1489"/>
              <a:gd name="T7" fmla="*/ 2147483646 h 1587"/>
              <a:gd name="T8" fmla="*/ 2147483646 w 1489"/>
              <a:gd name="T9" fmla="*/ 2147483646 h 1587"/>
              <a:gd name="T10" fmla="*/ 2147483646 w 1489"/>
              <a:gd name="T11" fmla="*/ 2147483646 h 1587"/>
              <a:gd name="T12" fmla="*/ 2147483646 w 1489"/>
              <a:gd name="T13" fmla="*/ 2147483646 h 1587"/>
              <a:gd name="T14" fmla="*/ 2147483646 w 1489"/>
              <a:gd name="T15" fmla="*/ 2147483646 h 1587"/>
              <a:gd name="T16" fmla="*/ 2147483646 w 1489"/>
              <a:gd name="T17" fmla="*/ 2147483646 h 1587"/>
              <a:gd name="T18" fmla="*/ 2147483646 w 1489"/>
              <a:gd name="T19" fmla="*/ 2147483646 h 1587"/>
              <a:gd name="T20" fmla="*/ 2147483646 w 1489"/>
              <a:gd name="T21" fmla="*/ 2147483646 h 1587"/>
              <a:gd name="T22" fmla="*/ 2147483646 w 1489"/>
              <a:gd name="T23" fmla="*/ 2147483646 h 1587"/>
              <a:gd name="T24" fmla="*/ 2147483646 w 1489"/>
              <a:gd name="T25" fmla="*/ 2147483646 h 1587"/>
              <a:gd name="T26" fmla="*/ 2147483646 w 1489"/>
              <a:gd name="T27" fmla="*/ 2147483646 h 1587"/>
              <a:gd name="T28" fmla="*/ 2147483646 w 1489"/>
              <a:gd name="T29" fmla="*/ 2147483646 h 1587"/>
              <a:gd name="T30" fmla="*/ 2147483646 w 1489"/>
              <a:gd name="T31" fmla="*/ 2147483646 h 1587"/>
              <a:gd name="T32" fmla="*/ 2147483646 w 1489"/>
              <a:gd name="T33" fmla="*/ 2147483646 h 1587"/>
              <a:gd name="T34" fmla="*/ 2147483646 w 1489"/>
              <a:gd name="T35" fmla="*/ 2147483646 h 1587"/>
              <a:gd name="T36" fmla="*/ 2147483646 w 1489"/>
              <a:gd name="T37" fmla="*/ 2147483646 h 1587"/>
              <a:gd name="T38" fmla="*/ 2147483646 w 1489"/>
              <a:gd name="T39" fmla="*/ 2147483646 h 1587"/>
              <a:gd name="T40" fmla="*/ 2147483646 w 1489"/>
              <a:gd name="T41" fmla="*/ 2147483646 h 1587"/>
              <a:gd name="T42" fmla="*/ 2147483646 w 1489"/>
              <a:gd name="T43" fmla="*/ 2147483646 h 1587"/>
              <a:gd name="T44" fmla="*/ 2147483646 w 1489"/>
              <a:gd name="T45" fmla="*/ 2147483646 h 1587"/>
              <a:gd name="T46" fmla="*/ 2147483646 w 1489"/>
              <a:gd name="T47" fmla="*/ 2147483646 h 1587"/>
              <a:gd name="T48" fmla="*/ 2147483646 w 1489"/>
              <a:gd name="T49" fmla="*/ 2147483646 h 1587"/>
              <a:gd name="T50" fmla="*/ 2147483646 w 1489"/>
              <a:gd name="T51" fmla="*/ 2147483646 h 1587"/>
              <a:gd name="T52" fmla="*/ 2147483646 w 1489"/>
              <a:gd name="T53" fmla="*/ 2147483646 h 1587"/>
              <a:gd name="T54" fmla="*/ 2147483646 w 1489"/>
              <a:gd name="T55" fmla="*/ 0 h 1587"/>
              <a:gd name="T56" fmla="*/ 2147483646 w 1489"/>
              <a:gd name="T57" fmla="*/ 0 h 1587"/>
              <a:gd name="T58" fmla="*/ 2147483646 w 1489"/>
              <a:gd name="T59" fmla="*/ 2147483646 h 1587"/>
              <a:gd name="T60" fmla="*/ 2147483646 w 1489"/>
              <a:gd name="T61" fmla="*/ 2147483646 h 1587"/>
              <a:gd name="T62" fmla="*/ 2147483646 w 1489"/>
              <a:gd name="T63" fmla="*/ 2147483646 h 1587"/>
              <a:gd name="T64" fmla="*/ 2147483646 w 1489"/>
              <a:gd name="T65" fmla="*/ 2147483646 h 1587"/>
              <a:gd name="T66" fmla="*/ 2147483646 w 1489"/>
              <a:gd name="T67" fmla="*/ 2147483646 h 1587"/>
              <a:gd name="T68" fmla="*/ 2147483646 w 1489"/>
              <a:gd name="T69" fmla="*/ 2147483646 h 1587"/>
              <a:gd name="T70" fmla="*/ 2147483646 w 1489"/>
              <a:gd name="T71" fmla="*/ 2147483646 h 1587"/>
              <a:gd name="T72" fmla="*/ 2147483646 w 1489"/>
              <a:gd name="T73" fmla="*/ 2147483646 h 1587"/>
              <a:gd name="T74" fmla="*/ 2147483646 w 1489"/>
              <a:gd name="T75" fmla="*/ 2147483646 h 1587"/>
              <a:gd name="T76" fmla="*/ 2147483646 w 1489"/>
              <a:gd name="T77" fmla="*/ 2147483646 h 1587"/>
              <a:gd name="T78" fmla="*/ 2147483646 w 1489"/>
              <a:gd name="T79" fmla="*/ 2147483646 h 1587"/>
              <a:gd name="T80" fmla="*/ 2147483646 w 1489"/>
              <a:gd name="T81" fmla="*/ 2147483646 h 1587"/>
              <a:gd name="T82" fmla="*/ 2147483646 w 1489"/>
              <a:gd name="T83" fmla="*/ 2147483646 h 1587"/>
              <a:gd name="T84" fmla="*/ 2147483646 w 1489"/>
              <a:gd name="T85" fmla="*/ 2147483646 h 1587"/>
              <a:gd name="T86" fmla="*/ 2147483646 w 1489"/>
              <a:gd name="T87" fmla="*/ 2147483646 h 1587"/>
              <a:gd name="T88" fmla="*/ 2147483646 w 1489"/>
              <a:gd name="T89" fmla="*/ 2147483646 h 1587"/>
              <a:gd name="T90" fmla="*/ 2147483646 w 1489"/>
              <a:gd name="T91" fmla="*/ 2147483646 h 1587"/>
              <a:gd name="T92" fmla="*/ 2147483646 w 1489"/>
              <a:gd name="T93" fmla="*/ 2147483646 h 1587"/>
              <a:gd name="T94" fmla="*/ 2147483646 w 1489"/>
              <a:gd name="T95" fmla="*/ 2147483646 h 1587"/>
              <a:gd name="T96" fmla="*/ 2147483646 w 1489"/>
              <a:gd name="T97" fmla="*/ 2147483646 h 1587"/>
              <a:gd name="T98" fmla="*/ 2147483646 w 1489"/>
              <a:gd name="T99" fmla="*/ 2147483646 h 1587"/>
              <a:gd name="T100" fmla="*/ 2147483646 w 1489"/>
              <a:gd name="T101" fmla="*/ 2147483646 h 1587"/>
              <a:gd name="T102" fmla="*/ 2147483646 w 1489"/>
              <a:gd name="T103" fmla="*/ 2147483646 h 1587"/>
              <a:gd name="T104" fmla="*/ 2147483646 w 1489"/>
              <a:gd name="T105" fmla="*/ 2147483646 h 1587"/>
              <a:gd name="T106" fmla="*/ 2147483646 w 1489"/>
              <a:gd name="T107" fmla="*/ 2147483646 h 1587"/>
              <a:gd name="T108" fmla="*/ 2147483646 w 1489"/>
              <a:gd name="T109" fmla="*/ 2147483646 h 1587"/>
              <a:gd name="T110" fmla="*/ 2147483646 w 1489"/>
              <a:gd name="T111" fmla="*/ 2147483646 h 158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89"/>
              <a:gd name="T169" fmla="*/ 0 h 1587"/>
              <a:gd name="T170" fmla="*/ 1489 w 1489"/>
              <a:gd name="T171" fmla="*/ 1587 h 1587"/>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89" h="1587">
                <a:moveTo>
                  <a:pt x="746" y="1587"/>
                </a:moveTo>
                <a:lnTo>
                  <a:pt x="726" y="1585"/>
                </a:lnTo>
                <a:lnTo>
                  <a:pt x="706" y="1585"/>
                </a:lnTo>
                <a:lnTo>
                  <a:pt x="687" y="1584"/>
                </a:lnTo>
                <a:lnTo>
                  <a:pt x="670" y="1582"/>
                </a:lnTo>
                <a:lnTo>
                  <a:pt x="651" y="1579"/>
                </a:lnTo>
                <a:lnTo>
                  <a:pt x="632" y="1576"/>
                </a:lnTo>
                <a:lnTo>
                  <a:pt x="614" y="1573"/>
                </a:lnTo>
                <a:lnTo>
                  <a:pt x="595" y="1570"/>
                </a:lnTo>
                <a:lnTo>
                  <a:pt x="577" y="1566"/>
                </a:lnTo>
                <a:lnTo>
                  <a:pt x="560" y="1560"/>
                </a:lnTo>
                <a:lnTo>
                  <a:pt x="541" y="1556"/>
                </a:lnTo>
                <a:lnTo>
                  <a:pt x="523" y="1550"/>
                </a:lnTo>
                <a:lnTo>
                  <a:pt x="507" y="1544"/>
                </a:lnTo>
                <a:lnTo>
                  <a:pt x="489" y="1538"/>
                </a:lnTo>
                <a:lnTo>
                  <a:pt x="472" y="1531"/>
                </a:lnTo>
                <a:lnTo>
                  <a:pt x="456" y="1524"/>
                </a:lnTo>
                <a:lnTo>
                  <a:pt x="438" y="1516"/>
                </a:lnTo>
                <a:lnTo>
                  <a:pt x="422" y="1507"/>
                </a:lnTo>
                <a:lnTo>
                  <a:pt x="406" y="1499"/>
                </a:lnTo>
                <a:lnTo>
                  <a:pt x="390" y="1490"/>
                </a:lnTo>
                <a:lnTo>
                  <a:pt x="375" y="1481"/>
                </a:lnTo>
                <a:lnTo>
                  <a:pt x="359" y="1471"/>
                </a:lnTo>
                <a:lnTo>
                  <a:pt x="344" y="1461"/>
                </a:lnTo>
                <a:lnTo>
                  <a:pt x="330" y="1450"/>
                </a:lnTo>
                <a:lnTo>
                  <a:pt x="314" y="1440"/>
                </a:lnTo>
                <a:lnTo>
                  <a:pt x="300" y="1428"/>
                </a:lnTo>
                <a:lnTo>
                  <a:pt x="271" y="1405"/>
                </a:lnTo>
                <a:lnTo>
                  <a:pt x="245" y="1380"/>
                </a:lnTo>
                <a:lnTo>
                  <a:pt x="218" y="1354"/>
                </a:lnTo>
                <a:lnTo>
                  <a:pt x="195" y="1326"/>
                </a:lnTo>
                <a:lnTo>
                  <a:pt x="171" y="1297"/>
                </a:lnTo>
                <a:lnTo>
                  <a:pt x="148" y="1268"/>
                </a:lnTo>
                <a:lnTo>
                  <a:pt x="127" y="1237"/>
                </a:lnTo>
                <a:lnTo>
                  <a:pt x="108" y="1205"/>
                </a:lnTo>
                <a:lnTo>
                  <a:pt x="99" y="1187"/>
                </a:lnTo>
                <a:lnTo>
                  <a:pt x="91" y="1171"/>
                </a:lnTo>
                <a:lnTo>
                  <a:pt x="82" y="1153"/>
                </a:lnTo>
                <a:lnTo>
                  <a:pt x="75" y="1137"/>
                </a:lnTo>
                <a:lnTo>
                  <a:pt x="66" y="1120"/>
                </a:lnTo>
                <a:lnTo>
                  <a:pt x="58" y="1102"/>
                </a:lnTo>
                <a:lnTo>
                  <a:pt x="53" y="1083"/>
                </a:lnTo>
                <a:lnTo>
                  <a:pt x="45" y="1066"/>
                </a:lnTo>
                <a:lnTo>
                  <a:pt x="39" y="1047"/>
                </a:lnTo>
                <a:lnTo>
                  <a:pt x="34" y="1029"/>
                </a:lnTo>
                <a:lnTo>
                  <a:pt x="29" y="1010"/>
                </a:lnTo>
                <a:lnTo>
                  <a:pt x="23" y="991"/>
                </a:lnTo>
                <a:lnTo>
                  <a:pt x="19" y="972"/>
                </a:lnTo>
                <a:lnTo>
                  <a:pt x="16" y="953"/>
                </a:lnTo>
                <a:lnTo>
                  <a:pt x="12" y="934"/>
                </a:lnTo>
                <a:lnTo>
                  <a:pt x="9" y="913"/>
                </a:lnTo>
                <a:lnTo>
                  <a:pt x="7" y="894"/>
                </a:lnTo>
                <a:lnTo>
                  <a:pt x="4" y="874"/>
                </a:lnTo>
                <a:lnTo>
                  <a:pt x="3" y="853"/>
                </a:lnTo>
                <a:lnTo>
                  <a:pt x="1" y="834"/>
                </a:lnTo>
                <a:lnTo>
                  <a:pt x="1" y="814"/>
                </a:lnTo>
                <a:lnTo>
                  <a:pt x="0" y="793"/>
                </a:lnTo>
                <a:lnTo>
                  <a:pt x="1" y="773"/>
                </a:lnTo>
                <a:lnTo>
                  <a:pt x="1" y="752"/>
                </a:lnTo>
                <a:lnTo>
                  <a:pt x="3" y="732"/>
                </a:lnTo>
                <a:lnTo>
                  <a:pt x="4" y="712"/>
                </a:lnTo>
                <a:lnTo>
                  <a:pt x="7" y="692"/>
                </a:lnTo>
                <a:lnTo>
                  <a:pt x="9" y="672"/>
                </a:lnTo>
                <a:lnTo>
                  <a:pt x="12" y="653"/>
                </a:lnTo>
                <a:lnTo>
                  <a:pt x="16" y="633"/>
                </a:lnTo>
                <a:lnTo>
                  <a:pt x="20" y="613"/>
                </a:lnTo>
                <a:lnTo>
                  <a:pt x="25" y="594"/>
                </a:lnTo>
                <a:lnTo>
                  <a:pt x="29" y="575"/>
                </a:lnTo>
                <a:lnTo>
                  <a:pt x="34" y="558"/>
                </a:lnTo>
                <a:lnTo>
                  <a:pt x="39" y="539"/>
                </a:lnTo>
                <a:lnTo>
                  <a:pt x="45" y="520"/>
                </a:lnTo>
                <a:lnTo>
                  <a:pt x="53" y="502"/>
                </a:lnTo>
                <a:lnTo>
                  <a:pt x="58" y="485"/>
                </a:lnTo>
                <a:lnTo>
                  <a:pt x="66" y="467"/>
                </a:lnTo>
                <a:lnTo>
                  <a:pt x="75" y="450"/>
                </a:lnTo>
                <a:lnTo>
                  <a:pt x="82" y="432"/>
                </a:lnTo>
                <a:lnTo>
                  <a:pt x="91" y="414"/>
                </a:lnTo>
                <a:lnTo>
                  <a:pt x="99" y="398"/>
                </a:lnTo>
                <a:lnTo>
                  <a:pt x="108" y="382"/>
                </a:lnTo>
                <a:lnTo>
                  <a:pt x="127" y="350"/>
                </a:lnTo>
                <a:lnTo>
                  <a:pt x="148" y="318"/>
                </a:lnTo>
                <a:lnTo>
                  <a:pt x="171" y="289"/>
                </a:lnTo>
                <a:lnTo>
                  <a:pt x="193" y="259"/>
                </a:lnTo>
                <a:lnTo>
                  <a:pt x="218" y="232"/>
                </a:lnTo>
                <a:lnTo>
                  <a:pt x="245" y="207"/>
                </a:lnTo>
                <a:lnTo>
                  <a:pt x="271" y="182"/>
                </a:lnTo>
                <a:lnTo>
                  <a:pt x="300" y="157"/>
                </a:lnTo>
                <a:lnTo>
                  <a:pt x="314" y="147"/>
                </a:lnTo>
                <a:lnTo>
                  <a:pt x="328" y="135"/>
                </a:lnTo>
                <a:lnTo>
                  <a:pt x="344" y="125"/>
                </a:lnTo>
                <a:lnTo>
                  <a:pt x="359" y="115"/>
                </a:lnTo>
                <a:lnTo>
                  <a:pt x="375" y="106"/>
                </a:lnTo>
                <a:lnTo>
                  <a:pt x="390" y="96"/>
                </a:lnTo>
                <a:lnTo>
                  <a:pt x="406" y="87"/>
                </a:lnTo>
                <a:lnTo>
                  <a:pt x="422" y="78"/>
                </a:lnTo>
                <a:lnTo>
                  <a:pt x="438" y="71"/>
                </a:lnTo>
                <a:lnTo>
                  <a:pt x="456" y="62"/>
                </a:lnTo>
                <a:lnTo>
                  <a:pt x="472" y="55"/>
                </a:lnTo>
                <a:lnTo>
                  <a:pt x="489" y="49"/>
                </a:lnTo>
                <a:lnTo>
                  <a:pt x="507" y="41"/>
                </a:lnTo>
                <a:lnTo>
                  <a:pt x="523" y="36"/>
                </a:lnTo>
                <a:lnTo>
                  <a:pt x="541" y="30"/>
                </a:lnTo>
                <a:lnTo>
                  <a:pt x="558" y="25"/>
                </a:lnTo>
                <a:lnTo>
                  <a:pt x="577" y="21"/>
                </a:lnTo>
                <a:lnTo>
                  <a:pt x="595" y="17"/>
                </a:lnTo>
                <a:lnTo>
                  <a:pt x="613" y="12"/>
                </a:lnTo>
                <a:lnTo>
                  <a:pt x="632" y="9"/>
                </a:lnTo>
                <a:lnTo>
                  <a:pt x="651" y="6"/>
                </a:lnTo>
                <a:lnTo>
                  <a:pt x="668" y="5"/>
                </a:lnTo>
                <a:lnTo>
                  <a:pt x="687" y="2"/>
                </a:lnTo>
                <a:lnTo>
                  <a:pt x="706" y="0"/>
                </a:lnTo>
                <a:lnTo>
                  <a:pt x="726" y="0"/>
                </a:lnTo>
                <a:lnTo>
                  <a:pt x="745" y="0"/>
                </a:lnTo>
                <a:lnTo>
                  <a:pt x="746" y="0"/>
                </a:lnTo>
                <a:lnTo>
                  <a:pt x="765" y="0"/>
                </a:lnTo>
                <a:lnTo>
                  <a:pt x="784" y="0"/>
                </a:lnTo>
                <a:lnTo>
                  <a:pt x="803" y="2"/>
                </a:lnTo>
                <a:lnTo>
                  <a:pt x="821" y="5"/>
                </a:lnTo>
                <a:lnTo>
                  <a:pt x="840" y="6"/>
                </a:lnTo>
                <a:lnTo>
                  <a:pt x="859" y="9"/>
                </a:lnTo>
                <a:lnTo>
                  <a:pt x="877" y="12"/>
                </a:lnTo>
                <a:lnTo>
                  <a:pt x="896" y="17"/>
                </a:lnTo>
                <a:lnTo>
                  <a:pt x="913" y="21"/>
                </a:lnTo>
                <a:lnTo>
                  <a:pt x="931" y="25"/>
                </a:lnTo>
                <a:lnTo>
                  <a:pt x="950" y="30"/>
                </a:lnTo>
                <a:lnTo>
                  <a:pt x="967" y="36"/>
                </a:lnTo>
                <a:lnTo>
                  <a:pt x="984" y="41"/>
                </a:lnTo>
                <a:lnTo>
                  <a:pt x="1001" y="49"/>
                </a:lnTo>
                <a:lnTo>
                  <a:pt x="1019" y="55"/>
                </a:lnTo>
                <a:lnTo>
                  <a:pt x="1035" y="62"/>
                </a:lnTo>
                <a:lnTo>
                  <a:pt x="1052" y="71"/>
                </a:lnTo>
                <a:lnTo>
                  <a:pt x="1069" y="78"/>
                </a:lnTo>
                <a:lnTo>
                  <a:pt x="1085" y="87"/>
                </a:lnTo>
                <a:lnTo>
                  <a:pt x="1101" y="96"/>
                </a:lnTo>
                <a:lnTo>
                  <a:pt x="1115" y="106"/>
                </a:lnTo>
                <a:lnTo>
                  <a:pt x="1132" y="115"/>
                </a:lnTo>
                <a:lnTo>
                  <a:pt x="1146" y="125"/>
                </a:lnTo>
                <a:lnTo>
                  <a:pt x="1162" y="135"/>
                </a:lnTo>
                <a:lnTo>
                  <a:pt x="1177" y="147"/>
                </a:lnTo>
                <a:lnTo>
                  <a:pt x="1190" y="157"/>
                </a:lnTo>
                <a:lnTo>
                  <a:pt x="1220" y="182"/>
                </a:lnTo>
                <a:lnTo>
                  <a:pt x="1246" y="207"/>
                </a:lnTo>
                <a:lnTo>
                  <a:pt x="1272" y="232"/>
                </a:lnTo>
                <a:lnTo>
                  <a:pt x="1297" y="259"/>
                </a:lnTo>
                <a:lnTo>
                  <a:pt x="1321" y="289"/>
                </a:lnTo>
                <a:lnTo>
                  <a:pt x="1343" y="318"/>
                </a:lnTo>
                <a:lnTo>
                  <a:pt x="1363" y="350"/>
                </a:lnTo>
                <a:lnTo>
                  <a:pt x="1382" y="382"/>
                </a:lnTo>
                <a:lnTo>
                  <a:pt x="1391" y="398"/>
                </a:lnTo>
                <a:lnTo>
                  <a:pt x="1400" y="414"/>
                </a:lnTo>
                <a:lnTo>
                  <a:pt x="1409" y="432"/>
                </a:lnTo>
                <a:lnTo>
                  <a:pt x="1416" y="450"/>
                </a:lnTo>
                <a:lnTo>
                  <a:pt x="1425" y="467"/>
                </a:lnTo>
                <a:lnTo>
                  <a:pt x="1432" y="485"/>
                </a:lnTo>
                <a:lnTo>
                  <a:pt x="1438" y="502"/>
                </a:lnTo>
                <a:lnTo>
                  <a:pt x="1445" y="520"/>
                </a:lnTo>
                <a:lnTo>
                  <a:pt x="1451" y="539"/>
                </a:lnTo>
                <a:lnTo>
                  <a:pt x="1457" y="558"/>
                </a:lnTo>
                <a:lnTo>
                  <a:pt x="1461" y="575"/>
                </a:lnTo>
                <a:lnTo>
                  <a:pt x="1466" y="594"/>
                </a:lnTo>
                <a:lnTo>
                  <a:pt x="1470" y="613"/>
                </a:lnTo>
                <a:lnTo>
                  <a:pt x="1475" y="633"/>
                </a:lnTo>
                <a:lnTo>
                  <a:pt x="1479" y="653"/>
                </a:lnTo>
                <a:lnTo>
                  <a:pt x="1482" y="672"/>
                </a:lnTo>
                <a:lnTo>
                  <a:pt x="1483" y="692"/>
                </a:lnTo>
                <a:lnTo>
                  <a:pt x="1486" y="712"/>
                </a:lnTo>
                <a:lnTo>
                  <a:pt x="1488" y="732"/>
                </a:lnTo>
                <a:lnTo>
                  <a:pt x="1489" y="752"/>
                </a:lnTo>
                <a:lnTo>
                  <a:pt x="1489" y="773"/>
                </a:lnTo>
                <a:lnTo>
                  <a:pt x="1489" y="793"/>
                </a:lnTo>
                <a:lnTo>
                  <a:pt x="1489" y="814"/>
                </a:lnTo>
                <a:lnTo>
                  <a:pt x="1489" y="834"/>
                </a:lnTo>
                <a:lnTo>
                  <a:pt x="1488" y="853"/>
                </a:lnTo>
                <a:lnTo>
                  <a:pt x="1486" y="874"/>
                </a:lnTo>
                <a:lnTo>
                  <a:pt x="1483" y="894"/>
                </a:lnTo>
                <a:lnTo>
                  <a:pt x="1482" y="913"/>
                </a:lnTo>
                <a:lnTo>
                  <a:pt x="1479" y="934"/>
                </a:lnTo>
                <a:lnTo>
                  <a:pt x="1475" y="953"/>
                </a:lnTo>
                <a:lnTo>
                  <a:pt x="1472" y="972"/>
                </a:lnTo>
                <a:lnTo>
                  <a:pt x="1467" y="991"/>
                </a:lnTo>
                <a:lnTo>
                  <a:pt x="1461" y="1010"/>
                </a:lnTo>
                <a:lnTo>
                  <a:pt x="1457" y="1029"/>
                </a:lnTo>
                <a:lnTo>
                  <a:pt x="1451" y="1047"/>
                </a:lnTo>
                <a:lnTo>
                  <a:pt x="1445" y="1066"/>
                </a:lnTo>
                <a:lnTo>
                  <a:pt x="1438" y="1083"/>
                </a:lnTo>
                <a:lnTo>
                  <a:pt x="1432" y="1102"/>
                </a:lnTo>
                <a:lnTo>
                  <a:pt x="1425" y="1120"/>
                </a:lnTo>
                <a:lnTo>
                  <a:pt x="1416" y="1137"/>
                </a:lnTo>
                <a:lnTo>
                  <a:pt x="1409" y="1153"/>
                </a:lnTo>
                <a:lnTo>
                  <a:pt x="1400" y="1171"/>
                </a:lnTo>
                <a:lnTo>
                  <a:pt x="1391" y="1187"/>
                </a:lnTo>
                <a:lnTo>
                  <a:pt x="1382" y="1205"/>
                </a:lnTo>
                <a:lnTo>
                  <a:pt x="1363" y="1237"/>
                </a:lnTo>
                <a:lnTo>
                  <a:pt x="1343" y="1268"/>
                </a:lnTo>
                <a:lnTo>
                  <a:pt x="1321" y="1297"/>
                </a:lnTo>
                <a:lnTo>
                  <a:pt x="1297" y="1326"/>
                </a:lnTo>
                <a:lnTo>
                  <a:pt x="1272" y="1354"/>
                </a:lnTo>
                <a:lnTo>
                  <a:pt x="1246" y="1380"/>
                </a:lnTo>
                <a:lnTo>
                  <a:pt x="1220" y="1405"/>
                </a:lnTo>
                <a:lnTo>
                  <a:pt x="1190" y="1428"/>
                </a:lnTo>
                <a:lnTo>
                  <a:pt x="1177" y="1440"/>
                </a:lnTo>
                <a:lnTo>
                  <a:pt x="1162" y="1450"/>
                </a:lnTo>
                <a:lnTo>
                  <a:pt x="1146" y="1461"/>
                </a:lnTo>
                <a:lnTo>
                  <a:pt x="1132" y="1471"/>
                </a:lnTo>
                <a:lnTo>
                  <a:pt x="1115" y="1481"/>
                </a:lnTo>
                <a:lnTo>
                  <a:pt x="1101" y="1490"/>
                </a:lnTo>
                <a:lnTo>
                  <a:pt x="1085" y="1499"/>
                </a:lnTo>
                <a:lnTo>
                  <a:pt x="1069" y="1507"/>
                </a:lnTo>
                <a:lnTo>
                  <a:pt x="1052" y="1516"/>
                </a:lnTo>
                <a:lnTo>
                  <a:pt x="1035" y="1524"/>
                </a:lnTo>
                <a:lnTo>
                  <a:pt x="1019" y="1531"/>
                </a:lnTo>
                <a:lnTo>
                  <a:pt x="1001" y="1538"/>
                </a:lnTo>
                <a:lnTo>
                  <a:pt x="984" y="1544"/>
                </a:lnTo>
                <a:lnTo>
                  <a:pt x="967" y="1550"/>
                </a:lnTo>
                <a:lnTo>
                  <a:pt x="950" y="1556"/>
                </a:lnTo>
                <a:lnTo>
                  <a:pt x="931" y="1560"/>
                </a:lnTo>
                <a:lnTo>
                  <a:pt x="913" y="1566"/>
                </a:lnTo>
                <a:lnTo>
                  <a:pt x="896" y="1570"/>
                </a:lnTo>
                <a:lnTo>
                  <a:pt x="877" y="1573"/>
                </a:lnTo>
                <a:lnTo>
                  <a:pt x="859" y="1576"/>
                </a:lnTo>
                <a:lnTo>
                  <a:pt x="840" y="1579"/>
                </a:lnTo>
                <a:lnTo>
                  <a:pt x="821" y="1582"/>
                </a:lnTo>
                <a:lnTo>
                  <a:pt x="803" y="1584"/>
                </a:lnTo>
                <a:lnTo>
                  <a:pt x="784" y="1585"/>
                </a:lnTo>
                <a:lnTo>
                  <a:pt x="765" y="1585"/>
                </a:lnTo>
                <a:lnTo>
                  <a:pt x="745" y="1587"/>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68" name="Freeform 14">
            <a:extLst>
              <a:ext uri="{FF2B5EF4-FFF2-40B4-BE49-F238E27FC236}">
                <a16:creationId xmlns:a16="http://schemas.microsoft.com/office/drawing/2014/main" id="{CEDFE02B-B0C4-4964-A224-7D15F5A96371}"/>
              </a:ext>
            </a:extLst>
          </p:cNvPr>
          <p:cNvSpPr>
            <a:spLocks/>
          </p:cNvSpPr>
          <p:nvPr/>
        </p:nvSpPr>
        <p:spPr bwMode="auto">
          <a:xfrm>
            <a:off x="4087814" y="2017714"/>
            <a:ext cx="295275" cy="1258887"/>
          </a:xfrm>
          <a:custGeom>
            <a:avLst/>
            <a:gdLst>
              <a:gd name="T0" fmla="*/ 2147483646 w 373"/>
              <a:gd name="T1" fmla="*/ 2147483646 h 1587"/>
              <a:gd name="T2" fmla="*/ 2147483646 w 373"/>
              <a:gd name="T3" fmla="*/ 2147483646 h 1587"/>
              <a:gd name="T4" fmla="*/ 2147483646 w 373"/>
              <a:gd name="T5" fmla="*/ 2147483646 h 1587"/>
              <a:gd name="T6" fmla="*/ 2147483646 w 373"/>
              <a:gd name="T7" fmla="*/ 2147483646 h 1587"/>
              <a:gd name="T8" fmla="*/ 2147483646 w 373"/>
              <a:gd name="T9" fmla="*/ 2147483646 h 1587"/>
              <a:gd name="T10" fmla="*/ 2147483646 w 373"/>
              <a:gd name="T11" fmla="*/ 2147483646 h 1587"/>
              <a:gd name="T12" fmla="*/ 2147483646 w 373"/>
              <a:gd name="T13" fmla="*/ 2147483646 h 1587"/>
              <a:gd name="T14" fmla="*/ 2147483646 w 373"/>
              <a:gd name="T15" fmla="*/ 2147483646 h 1587"/>
              <a:gd name="T16" fmla="*/ 2147483646 w 373"/>
              <a:gd name="T17" fmla="*/ 2147483646 h 1587"/>
              <a:gd name="T18" fmla="*/ 2147483646 w 373"/>
              <a:gd name="T19" fmla="*/ 2147483646 h 1587"/>
              <a:gd name="T20" fmla="*/ 2147483646 w 373"/>
              <a:gd name="T21" fmla="*/ 2147483646 h 1587"/>
              <a:gd name="T22" fmla="*/ 2147483646 w 373"/>
              <a:gd name="T23" fmla="*/ 2147483646 h 1587"/>
              <a:gd name="T24" fmla="*/ 2147483646 w 373"/>
              <a:gd name="T25" fmla="*/ 2147483646 h 1587"/>
              <a:gd name="T26" fmla="*/ 2147483646 w 373"/>
              <a:gd name="T27" fmla="*/ 2147483646 h 1587"/>
              <a:gd name="T28" fmla="*/ 2147483646 w 373"/>
              <a:gd name="T29" fmla="*/ 2147483646 h 1587"/>
              <a:gd name="T30" fmla="*/ 2147483646 w 373"/>
              <a:gd name="T31" fmla="*/ 2147483646 h 1587"/>
              <a:gd name="T32" fmla="*/ 2147483646 w 373"/>
              <a:gd name="T33" fmla="*/ 2147483646 h 1587"/>
              <a:gd name="T34" fmla="*/ 2147483646 w 373"/>
              <a:gd name="T35" fmla="*/ 2147483646 h 1587"/>
              <a:gd name="T36" fmla="*/ 2147483646 w 373"/>
              <a:gd name="T37" fmla="*/ 2147483646 h 1587"/>
              <a:gd name="T38" fmla="*/ 2147483646 w 373"/>
              <a:gd name="T39" fmla="*/ 2147483646 h 1587"/>
              <a:gd name="T40" fmla="*/ 2147483646 w 373"/>
              <a:gd name="T41" fmla="*/ 2147483646 h 1587"/>
              <a:gd name="T42" fmla="*/ 2147483646 w 373"/>
              <a:gd name="T43" fmla="*/ 2147483646 h 1587"/>
              <a:gd name="T44" fmla="*/ 2147483646 w 373"/>
              <a:gd name="T45" fmla="*/ 2147483646 h 1587"/>
              <a:gd name="T46" fmla="*/ 2147483646 w 373"/>
              <a:gd name="T47" fmla="*/ 2147483646 h 1587"/>
              <a:gd name="T48" fmla="*/ 2147483646 w 373"/>
              <a:gd name="T49" fmla="*/ 2147483646 h 1587"/>
              <a:gd name="T50" fmla="*/ 2147483646 w 373"/>
              <a:gd name="T51" fmla="*/ 2147483646 h 1587"/>
              <a:gd name="T52" fmla="*/ 2147483646 w 373"/>
              <a:gd name="T53" fmla="*/ 2147483646 h 1587"/>
              <a:gd name="T54" fmla="*/ 2147483646 w 373"/>
              <a:gd name="T55" fmla="*/ 2147483646 h 1587"/>
              <a:gd name="T56" fmla="*/ 2147483646 w 373"/>
              <a:gd name="T57" fmla="*/ 2147483646 h 1587"/>
              <a:gd name="T58" fmla="*/ 2147483646 w 373"/>
              <a:gd name="T59" fmla="*/ 2147483646 h 1587"/>
              <a:gd name="T60" fmla="*/ 2147483646 w 373"/>
              <a:gd name="T61" fmla="*/ 2147483646 h 1587"/>
              <a:gd name="T62" fmla="*/ 2147483646 w 373"/>
              <a:gd name="T63" fmla="*/ 2147483646 h 1587"/>
              <a:gd name="T64" fmla="*/ 2147483646 w 373"/>
              <a:gd name="T65" fmla="*/ 2147483646 h 1587"/>
              <a:gd name="T66" fmla="*/ 2147483646 w 373"/>
              <a:gd name="T67" fmla="*/ 2147483646 h 1587"/>
              <a:gd name="T68" fmla="*/ 2147483646 w 373"/>
              <a:gd name="T69" fmla="*/ 2147483646 h 1587"/>
              <a:gd name="T70" fmla="*/ 2147483646 w 373"/>
              <a:gd name="T71" fmla="*/ 2147483646 h 1587"/>
              <a:gd name="T72" fmla="*/ 2147483646 w 373"/>
              <a:gd name="T73" fmla="*/ 2147483646 h 1587"/>
              <a:gd name="T74" fmla="*/ 2147483646 w 373"/>
              <a:gd name="T75" fmla="*/ 2147483646 h 1587"/>
              <a:gd name="T76" fmla="*/ 2147483646 w 373"/>
              <a:gd name="T77" fmla="*/ 2147483646 h 1587"/>
              <a:gd name="T78" fmla="*/ 2147483646 w 373"/>
              <a:gd name="T79" fmla="*/ 2147483646 h 1587"/>
              <a:gd name="T80" fmla="*/ 2147483646 w 373"/>
              <a:gd name="T81" fmla="*/ 2147483646 h 1587"/>
              <a:gd name="T82" fmla="*/ 2147483646 w 373"/>
              <a:gd name="T83" fmla="*/ 2147483646 h 1587"/>
              <a:gd name="T84" fmla="*/ 2147483646 w 373"/>
              <a:gd name="T85" fmla="*/ 2147483646 h 1587"/>
              <a:gd name="T86" fmla="*/ 2147483646 w 373"/>
              <a:gd name="T87" fmla="*/ 2147483646 h 1587"/>
              <a:gd name="T88" fmla="*/ 2147483646 w 373"/>
              <a:gd name="T89" fmla="*/ 0 h 1587"/>
              <a:gd name="T90" fmla="*/ 0 w 373"/>
              <a:gd name="T91" fmla="*/ 0 h 158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73"/>
              <a:gd name="T139" fmla="*/ 0 h 1587"/>
              <a:gd name="T140" fmla="*/ 373 w 373"/>
              <a:gd name="T141" fmla="*/ 1587 h 158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73" h="1587">
                <a:moveTo>
                  <a:pt x="0" y="1587"/>
                </a:moveTo>
                <a:lnTo>
                  <a:pt x="10" y="1585"/>
                </a:lnTo>
                <a:lnTo>
                  <a:pt x="19" y="1585"/>
                </a:lnTo>
                <a:lnTo>
                  <a:pt x="30" y="1584"/>
                </a:lnTo>
                <a:lnTo>
                  <a:pt x="38" y="1582"/>
                </a:lnTo>
                <a:lnTo>
                  <a:pt x="47" y="1579"/>
                </a:lnTo>
                <a:lnTo>
                  <a:pt x="57" y="1576"/>
                </a:lnTo>
                <a:lnTo>
                  <a:pt x="66" y="1573"/>
                </a:lnTo>
                <a:lnTo>
                  <a:pt x="75" y="1570"/>
                </a:lnTo>
                <a:lnTo>
                  <a:pt x="84" y="1566"/>
                </a:lnTo>
                <a:lnTo>
                  <a:pt x="94" y="1560"/>
                </a:lnTo>
                <a:lnTo>
                  <a:pt x="103" y="1556"/>
                </a:lnTo>
                <a:lnTo>
                  <a:pt x="112" y="1550"/>
                </a:lnTo>
                <a:lnTo>
                  <a:pt x="120" y="1544"/>
                </a:lnTo>
                <a:lnTo>
                  <a:pt x="128" y="1538"/>
                </a:lnTo>
                <a:lnTo>
                  <a:pt x="137" y="1531"/>
                </a:lnTo>
                <a:lnTo>
                  <a:pt x="145" y="1524"/>
                </a:lnTo>
                <a:lnTo>
                  <a:pt x="154" y="1516"/>
                </a:lnTo>
                <a:lnTo>
                  <a:pt x="161" y="1507"/>
                </a:lnTo>
                <a:lnTo>
                  <a:pt x="170" y="1499"/>
                </a:lnTo>
                <a:lnTo>
                  <a:pt x="178" y="1490"/>
                </a:lnTo>
                <a:lnTo>
                  <a:pt x="185" y="1481"/>
                </a:lnTo>
                <a:lnTo>
                  <a:pt x="194" y="1471"/>
                </a:lnTo>
                <a:lnTo>
                  <a:pt x="201" y="1461"/>
                </a:lnTo>
                <a:lnTo>
                  <a:pt x="208" y="1450"/>
                </a:lnTo>
                <a:lnTo>
                  <a:pt x="216" y="1440"/>
                </a:lnTo>
                <a:lnTo>
                  <a:pt x="223" y="1428"/>
                </a:lnTo>
                <a:lnTo>
                  <a:pt x="238" y="1405"/>
                </a:lnTo>
                <a:lnTo>
                  <a:pt x="251" y="1380"/>
                </a:lnTo>
                <a:lnTo>
                  <a:pt x="264" y="1354"/>
                </a:lnTo>
                <a:lnTo>
                  <a:pt x="276" y="1326"/>
                </a:lnTo>
                <a:lnTo>
                  <a:pt x="288" y="1297"/>
                </a:lnTo>
                <a:lnTo>
                  <a:pt x="299" y="1268"/>
                </a:lnTo>
                <a:lnTo>
                  <a:pt x="310" y="1237"/>
                </a:lnTo>
                <a:lnTo>
                  <a:pt x="318" y="1205"/>
                </a:lnTo>
                <a:lnTo>
                  <a:pt x="327" y="1171"/>
                </a:lnTo>
                <a:lnTo>
                  <a:pt x="336" y="1137"/>
                </a:lnTo>
                <a:lnTo>
                  <a:pt x="343" y="1102"/>
                </a:lnTo>
                <a:lnTo>
                  <a:pt x="351" y="1066"/>
                </a:lnTo>
                <a:lnTo>
                  <a:pt x="356" y="1029"/>
                </a:lnTo>
                <a:lnTo>
                  <a:pt x="361" y="991"/>
                </a:lnTo>
                <a:lnTo>
                  <a:pt x="365" y="953"/>
                </a:lnTo>
                <a:lnTo>
                  <a:pt x="368" y="913"/>
                </a:lnTo>
                <a:lnTo>
                  <a:pt x="371" y="874"/>
                </a:lnTo>
                <a:lnTo>
                  <a:pt x="373" y="834"/>
                </a:lnTo>
                <a:lnTo>
                  <a:pt x="373" y="793"/>
                </a:lnTo>
                <a:lnTo>
                  <a:pt x="373" y="752"/>
                </a:lnTo>
                <a:lnTo>
                  <a:pt x="371" y="712"/>
                </a:lnTo>
                <a:lnTo>
                  <a:pt x="368" y="672"/>
                </a:lnTo>
                <a:lnTo>
                  <a:pt x="365" y="633"/>
                </a:lnTo>
                <a:lnTo>
                  <a:pt x="361" y="594"/>
                </a:lnTo>
                <a:lnTo>
                  <a:pt x="356" y="558"/>
                </a:lnTo>
                <a:lnTo>
                  <a:pt x="351" y="520"/>
                </a:lnTo>
                <a:lnTo>
                  <a:pt x="343" y="485"/>
                </a:lnTo>
                <a:lnTo>
                  <a:pt x="336" y="450"/>
                </a:lnTo>
                <a:lnTo>
                  <a:pt x="327" y="414"/>
                </a:lnTo>
                <a:lnTo>
                  <a:pt x="318" y="382"/>
                </a:lnTo>
                <a:lnTo>
                  <a:pt x="310" y="350"/>
                </a:lnTo>
                <a:lnTo>
                  <a:pt x="299" y="318"/>
                </a:lnTo>
                <a:lnTo>
                  <a:pt x="288" y="289"/>
                </a:lnTo>
                <a:lnTo>
                  <a:pt x="276" y="259"/>
                </a:lnTo>
                <a:lnTo>
                  <a:pt x="264" y="232"/>
                </a:lnTo>
                <a:lnTo>
                  <a:pt x="251" y="207"/>
                </a:lnTo>
                <a:lnTo>
                  <a:pt x="238" y="182"/>
                </a:lnTo>
                <a:lnTo>
                  <a:pt x="223" y="157"/>
                </a:lnTo>
                <a:lnTo>
                  <a:pt x="216" y="147"/>
                </a:lnTo>
                <a:lnTo>
                  <a:pt x="208" y="135"/>
                </a:lnTo>
                <a:lnTo>
                  <a:pt x="201" y="125"/>
                </a:lnTo>
                <a:lnTo>
                  <a:pt x="194" y="115"/>
                </a:lnTo>
                <a:lnTo>
                  <a:pt x="185" y="106"/>
                </a:lnTo>
                <a:lnTo>
                  <a:pt x="178" y="96"/>
                </a:lnTo>
                <a:lnTo>
                  <a:pt x="170" y="87"/>
                </a:lnTo>
                <a:lnTo>
                  <a:pt x="161" y="78"/>
                </a:lnTo>
                <a:lnTo>
                  <a:pt x="154" y="71"/>
                </a:lnTo>
                <a:lnTo>
                  <a:pt x="145" y="62"/>
                </a:lnTo>
                <a:lnTo>
                  <a:pt x="137" y="55"/>
                </a:lnTo>
                <a:lnTo>
                  <a:pt x="128" y="49"/>
                </a:lnTo>
                <a:lnTo>
                  <a:pt x="120" y="41"/>
                </a:lnTo>
                <a:lnTo>
                  <a:pt x="112" y="36"/>
                </a:lnTo>
                <a:lnTo>
                  <a:pt x="103" y="30"/>
                </a:lnTo>
                <a:lnTo>
                  <a:pt x="94" y="25"/>
                </a:lnTo>
                <a:lnTo>
                  <a:pt x="84" y="21"/>
                </a:lnTo>
                <a:lnTo>
                  <a:pt x="75" y="17"/>
                </a:lnTo>
                <a:lnTo>
                  <a:pt x="66" y="12"/>
                </a:lnTo>
                <a:lnTo>
                  <a:pt x="57" y="9"/>
                </a:lnTo>
                <a:lnTo>
                  <a:pt x="47" y="6"/>
                </a:lnTo>
                <a:lnTo>
                  <a:pt x="38" y="5"/>
                </a:lnTo>
                <a:lnTo>
                  <a:pt x="30" y="2"/>
                </a:lnTo>
                <a:lnTo>
                  <a:pt x="19" y="0"/>
                </a:lnTo>
                <a:lnTo>
                  <a:pt x="10" y="0"/>
                </a:lnTo>
                <a:lnTo>
                  <a:pt x="0"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69" name="Rectangle 15">
            <a:extLst>
              <a:ext uri="{FF2B5EF4-FFF2-40B4-BE49-F238E27FC236}">
                <a16:creationId xmlns:a16="http://schemas.microsoft.com/office/drawing/2014/main" id="{E0C95C6A-5C20-451C-97FC-97312A7EF611}"/>
              </a:ext>
            </a:extLst>
          </p:cNvPr>
          <p:cNvSpPr>
            <a:spLocks noChangeArrowheads="1"/>
          </p:cNvSpPr>
          <p:nvPr/>
        </p:nvSpPr>
        <p:spPr bwMode="auto">
          <a:xfrm>
            <a:off x="3763671" y="1684338"/>
            <a:ext cx="104515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solidFill>
                  <a:srgbClr val="000000"/>
                </a:solidFill>
                <a:ea typeface="新細明體" panose="02020500000000000000" pitchFamily="18" charset="-120"/>
              </a:rPr>
              <a:t>Privileged</a:t>
            </a:r>
            <a:endParaRPr lang="en-US" altLang="zh-TW" sz="2000" b="1">
              <a:solidFill>
                <a:srgbClr val="000066"/>
              </a:solidFill>
              <a:ea typeface="新細明體" panose="02020500000000000000" pitchFamily="18" charset="-120"/>
            </a:endParaRPr>
          </a:p>
        </p:txBody>
      </p:sp>
      <p:sp>
        <p:nvSpPr>
          <p:cNvPr id="45070" name="Rectangle 16">
            <a:extLst>
              <a:ext uri="{FF2B5EF4-FFF2-40B4-BE49-F238E27FC236}">
                <a16:creationId xmlns:a16="http://schemas.microsoft.com/office/drawing/2014/main" id="{388639A3-8203-413F-8E61-AA85B58A9CF6}"/>
              </a:ext>
            </a:extLst>
          </p:cNvPr>
          <p:cNvSpPr>
            <a:spLocks noChangeArrowheads="1"/>
          </p:cNvSpPr>
          <p:nvPr/>
        </p:nvSpPr>
        <p:spPr bwMode="auto">
          <a:xfrm>
            <a:off x="4363230" y="930275"/>
            <a:ext cx="49532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solidFill>
                  <a:srgbClr val="000000"/>
                </a:solidFill>
                <a:ea typeface="新細明體" panose="02020500000000000000" pitchFamily="18" charset="-120"/>
              </a:rPr>
              <a:t>Non-</a:t>
            </a:r>
            <a:endParaRPr lang="en-US" altLang="zh-TW" sz="2000" b="1">
              <a:solidFill>
                <a:srgbClr val="000066"/>
              </a:solidFill>
              <a:ea typeface="新細明體" panose="02020500000000000000" pitchFamily="18" charset="-120"/>
            </a:endParaRPr>
          </a:p>
        </p:txBody>
      </p:sp>
      <p:sp>
        <p:nvSpPr>
          <p:cNvPr id="45071" name="Rectangle 17">
            <a:extLst>
              <a:ext uri="{FF2B5EF4-FFF2-40B4-BE49-F238E27FC236}">
                <a16:creationId xmlns:a16="http://schemas.microsoft.com/office/drawing/2014/main" id="{4A73F640-3547-4AD3-B21E-E74E5334DC43}"/>
              </a:ext>
            </a:extLst>
          </p:cNvPr>
          <p:cNvSpPr>
            <a:spLocks noChangeArrowheads="1"/>
          </p:cNvSpPr>
          <p:nvPr/>
        </p:nvSpPr>
        <p:spPr bwMode="auto">
          <a:xfrm>
            <a:off x="4108159" y="1182688"/>
            <a:ext cx="104515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solidFill>
                  <a:srgbClr val="000000"/>
                </a:solidFill>
                <a:ea typeface="新細明體" panose="02020500000000000000" pitchFamily="18" charset="-120"/>
              </a:rPr>
              <a:t>Privileged</a:t>
            </a:r>
            <a:endParaRPr lang="en-US" altLang="zh-TW" sz="2000" b="1">
              <a:solidFill>
                <a:srgbClr val="000066"/>
              </a:solidFill>
              <a:ea typeface="新細明體" panose="02020500000000000000" pitchFamily="18" charset="-120"/>
            </a:endParaRPr>
          </a:p>
        </p:txBody>
      </p:sp>
      <p:sp>
        <p:nvSpPr>
          <p:cNvPr id="45072" name="Rectangle 18">
            <a:extLst>
              <a:ext uri="{FF2B5EF4-FFF2-40B4-BE49-F238E27FC236}">
                <a16:creationId xmlns:a16="http://schemas.microsoft.com/office/drawing/2014/main" id="{FE432E83-8872-4D13-A04F-31F1F7806AB1}"/>
              </a:ext>
            </a:extLst>
          </p:cNvPr>
          <p:cNvSpPr>
            <a:spLocks noChangeArrowheads="1"/>
          </p:cNvSpPr>
          <p:nvPr/>
        </p:nvSpPr>
        <p:spPr bwMode="auto">
          <a:xfrm>
            <a:off x="3803771" y="2628900"/>
            <a:ext cx="96019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solidFill>
                  <a:srgbClr val="000000"/>
                </a:solidFill>
                <a:ea typeface="新細明體" panose="02020500000000000000" pitchFamily="18" charset="-120"/>
              </a:rPr>
              <a:t>Sensitive</a:t>
            </a:r>
            <a:endParaRPr lang="en-US" altLang="zh-TW" sz="2000" b="1">
              <a:solidFill>
                <a:srgbClr val="000066"/>
              </a:solidFill>
              <a:ea typeface="新細明體" panose="02020500000000000000" pitchFamily="18" charset="-120"/>
            </a:endParaRPr>
          </a:p>
        </p:txBody>
      </p:sp>
      <p:sp>
        <p:nvSpPr>
          <p:cNvPr id="45073" name="Rectangle 19">
            <a:extLst>
              <a:ext uri="{FF2B5EF4-FFF2-40B4-BE49-F238E27FC236}">
                <a16:creationId xmlns:a16="http://schemas.microsoft.com/office/drawing/2014/main" id="{646158F0-6900-45C5-9D9C-385C053AB4FE}"/>
              </a:ext>
            </a:extLst>
          </p:cNvPr>
          <p:cNvSpPr>
            <a:spLocks noChangeArrowheads="1"/>
          </p:cNvSpPr>
          <p:nvPr/>
        </p:nvSpPr>
        <p:spPr bwMode="auto">
          <a:xfrm>
            <a:off x="2009776" y="2636839"/>
            <a:ext cx="1006475"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ea typeface="新細明體" panose="02020500000000000000" pitchFamily="18" charset="-120"/>
              </a:rPr>
              <a:t>Behavior-</a:t>
            </a:r>
            <a:endParaRPr lang="en-US" altLang="zh-TW" sz="2000" b="1">
              <a:ea typeface="新細明體" panose="02020500000000000000" pitchFamily="18" charset="-120"/>
            </a:endParaRPr>
          </a:p>
        </p:txBody>
      </p:sp>
      <p:sp>
        <p:nvSpPr>
          <p:cNvPr id="45074" name="Rectangle 20">
            <a:extLst>
              <a:ext uri="{FF2B5EF4-FFF2-40B4-BE49-F238E27FC236}">
                <a16:creationId xmlns:a16="http://schemas.microsoft.com/office/drawing/2014/main" id="{F5CE1114-CEAB-4BC9-B060-D4030A4C8D7A}"/>
              </a:ext>
            </a:extLst>
          </p:cNvPr>
          <p:cNvSpPr>
            <a:spLocks noChangeArrowheads="1"/>
          </p:cNvSpPr>
          <p:nvPr/>
        </p:nvSpPr>
        <p:spPr bwMode="auto">
          <a:xfrm>
            <a:off x="2039939" y="2887664"/>
            <a:ext cx="936625"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ea typeface="新細明體" panose="02020500000000000000" pitchFamily="18" charset="-120"/>
              </a:rPr>
              <a:t>sensitive</a:t>
            </a:r>
            <a:endParaRPr lang="en-US" altLang="zh-TW" sz="2000" b="1">
              <a:ea typeface="新細明體" panose="02020500000000000000" pitchFamily="18" charset="-120"/>
            </a:endParaRPr>
          </a:p>
        </p:txBody>
      </p:sp>
      <p:sp>
        <p:nvSpPr>
          <p:cNvPr id="45075" name="Rectangle 21">
            <a:extLst>
              <a:ext uri="{FF2B5EF4-FFF2-40B4-BE49-F238E27FC236}">
                <a16:creationId xmlns:a16="http://schemas.microsoft.com/office/drawing/2014/main" id="{B6F0EE89-EE89-4766-B2A9-7E55BDE81836}"/>
              </a:ext>
            </a:extLst>
          </p:cNvPr>
          <p:cNvSpPr>
            <a:spLocks noChangeArrowheads="1"/>
          </p:cNvSpPr>
          <p:nvPr/>
        </p:nvSpPr>
        <p:spPr bwMode="auto">
          <a:xfrm>
            <a:off x="5999164" y="2679700"/>
            <a:ext cx="84772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ea typeface="新細明體" panose="02020500000000000000" pitchFamily="18" charset="-120"/>
              </a:rPr>
              <a:t>Control</a:t>
            </a:r>
            <a:r>
              <a:rPr lang="en-US" altLang="zh-TW" sz="1700" b="1">
                <a:solidFill>
                  <a:srgbClr val="000000"/>
                </a:solidFill>
                <a:ea typeface="新細明體" panose="02020500000000000000" pitchFamily="18" charset="-120"/>
              </a:rPr>
              <a:t>-</a:t>
            </a:r>
            <a:endParaRPr lang="en-US" altLang="zh-TW" sz="2000" b="1">
              <a:solidFill>
                <a:srgbClr val="000066"/>
              </a:solidFill>
              <a:ea typeface="新細明體" panose="02020500000000000000" pitchFamily="18" charset="-120"/>
            </a:endParaRPr>
          </a:p>
        </p:txBody>
      </p:sp>
      <p:sp>
        <p:nvSpPr>
          <p:cNvPr id="45076" name="Rectangle 22">
            <a:extLst>
              <a:ext uri="{FF2B5EF4-FFF2-40B4-BE49-F238E27FC236}">
                <a16:creationId xmlns:a16="http://schemas.microsoft.com/office/drawing/2014/main" id="{2A8BD2D8-BF65-4E2A-B4CA-AA6C9422267D}"/>
              </a:ext>
            </a:extLst>
          </p:cNvPr>
          <p:cNvSpPr>
            <a:spLocks noChangeArrowheads="1"/>
          </p:cNvSpPr>
          <p:nvPr/>
        </p:nvSpPr>
        <p:spPr bwMode="auto">
          <a:xfrm>
            <a:off x="5956301" y="2932114"/>
            <a:ext cx="936625"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ea typeface="新細明體" panose="02020500000000000000" pitchFamily="18" charset="-120"/>
              </a:rPr>
              <a:t>sensitive</a:t>
            </a:r>
            <a:endParaRPr lang="en-US" altLang="zh-TW" sz="2000" b="1">
              <a:ea typeface="新細明體" panose="02020500000000000000" pitchFamily="18" charset="-120"/>
            </a:endParaRPr>
          </a:p>
        </p:txBody>
      </p:sp>
      <p:sp>
        <p:nvSpPr>
          <p:cNvPr id="45077" name="Line 23">
            <a:extLst>
              <a:ext uri="{FF2B5EF4-FFF2-40B4-BE49-F238E27FC236}">
                <a16:creationId xmlns:a16="http://schemas.microsoft.com/office/drawing/2014/main" id="{2594CB1C-5C8A-4C7A-B936-B29ED9915858}"/>
              </a:ext>
            </a:extLst>
          </p:cNvPr>
          <p:cNvSpPr>
            <a:spLocks noChangeShapeType="1"/>
          </p:cNvSpPr>
          <p:nvPr/>
        </p:nvSpPr>
        <p:spPr bwMode="auto">
          <a:xfrm flipV="1">
            <a:off x="2941638" y="2578101"/>
            <a:ext cx="895350" cy="309563"/>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78" name="Freeform 24">
            <a:extLst>
              <a:ext uri="{FF2B5EF4-FFF2-40B4-BE49-F238E27FC236}">
                <a16:creationId xmlns:a16="http://schemas.microsoft.com/office/drawing/2014/main" id="{BB18C7DC-3C1A-410A-9861-B716F1FA4EC1}"/>
              </a:ext>
            </a:extLst>
          </p:cNvPr>
          <p:cNvSpPr>
            <a:spLocks/>
          </p:cNvSpPr>
          <p:nvPr/>
        </p:nvSpPr>
        <p:spPr bwMode="auto">
          <a:xfrm>
            <a:off x="3808414" y="2527300"/>
            <a:ext cx="168275" cy="107950"/>
          </a:xfrm>
          <a:custGeom>
            <a:avLst/>
            <a:gdLst>
              <a:gd name="T0" fmla="*/ 0 w 213"/>
              <a:gd name="T1" fmla="*/ 0 h 136"/>
              <a:gd name="T2" fmla="*/ 2147483646 w 213"/>
              <a:gd name="T3" fmla="*/ 2147483646 h 136"/>
              <a:gd name="T4" fmla="*/ 2147483646 w 213"/>
              <a:gd name="T5" fmla="*/ 2147483646 h 136"/>
              <a:gd name="T6" fmla="*/ 0 w 213"/>
              <a:gd name="T7" fmla="*/ 0 h 136"/>
              <a:gd name="T8" fmla="*/ 0 60000 65536"/>
              <a:gd name="T9" fmla="*/ 0 60000 65536"/>
              <a:gd name="T10" fmla="*/ 0 60000 65536"/>
              <a:gd name="T11" fmla="*/ 0 60000 65536"/>
              <a:gd name="T12" fmla="*/ 0 w 213"/>
              <a:gd name="T13" fmla="*/ 0 h 136"/>
              <a:gd name="T14" fmla="*/ 213 w 213"/>
              <a:gd name="T15" fmla="*/ 136 h 136"/>
            </a:gdLst>
            <a:ahLst/>
            <a:cxnLst>
              <a:cxn ang="T8">
                <a:pos x="T0" y="T1"/>
              </a:cxn>
              <a:cxn ang="T9">
                <a:pos x="T2" y="T3"/>
              </a:cxn>
              <a:cxn ang="T10">
                <a:pos x="T4" y="T5"/>
              </a:cxn>
              <a:cxn ang="T11">
                <a:pos x="T6" y="T7"/>
              </a:cxn>
            </a:cxnLst>
            <a:rect l="T12" t="T13" r="T14" b="T15"/>
            <a:pathLst>
              <a:path w="213" h="136">
                <a:moveTo>
                  <a:pt x="0" y="0"/>
                </a:moveTo>
                <a:lnTo>
                  <a:pt x="213" y="1"/>
                </a:lnTo>
                <a:lnTo>
                  <a:pt x="43" y="13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79" name="Line 25">
            <a:extLst>
              <a:ext uri="{FF2B5EF4-FFF2-40B4-BE49-F238E27FC236}">
                <a16:creationId xmlns:a16="http://schemas.microsoft.com/office/drawing/2014/main" id="{9D90D1E9-52F0-409F-AF4C-61900F46CC63}"/>
              </a:ext>
            </a:extLst>
          </p:cNvPr>
          <p:cNvSpPr>
            <a:spLocks noChangeShapeType="1"/>
          </p:cNvSpPr>
          <p:nvPr/>
        </p:nvSpPr>
        <p:spPr bwMode="auto">
          <a:xfrm flipH="1" flipV="1">
            <a:off x="4633914" y="2571751"/>
            <a:ext cx="1189037" cy="360363"/>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80" name="Freeform 26">
            <a:extLst>
              <a:ext uri="{FF2B5EF4-FFF2-40B4-BE49-F238E27FC236}">
                <a16:creationId xmlns:a16="http://schemas.microsoft.com/office/drawing/2014/main" id="{930106F3-E9B5-46F8-8E5E-33A715D742D4}"/>
              </a:ext>
            </a:extLst>
          </p:cNvPr>
          <p:cNvSpPr>
            <a:spLocks/>
          </p:cNvSpPr>
          <p:nvPr/>
        </p:nvSpPr>
        <p:spPr bwMode="auto">
          <a:xfrm>
            <a:off x="4492626" y="2520950"/>
            <a:ext cx="169863" cy="109538"/>
          </a:xfrm>
          <a:custGeom>
            <a:avLst/>
            <a:gdLst>
              <a:gd name="T0" fmla="*/ 2147483646 w 212"/>
              <a:gd name="T1" fmla="*/ 2147483646 h 138"/>
              <a:gd name="T2" fmla="*/ 0 w 212"/>
              <a:gd name="T3" fmla="*/ 2147483646 h 138"/>
              <a:gd name="T4" fmla="*/ 2147483646 w 212"/>
              <a:gd name="T5" fmla="*/ 0 h 138"/>
              <a:gd name="T6" fmla="*/ 2147483646 w 212"/>
              <a:gd name="T7" fmla="*/ 2147483646 h 138"/>
              <a:gd name="T8" fmla="*/ 0 60000 65536"/>
              <a:gd name="T9" fmla="*/ 0 60000 65536"/>
              <a:gd name="T10" fmla="*/ 0 60000 65536"/>
              <a:gd name="T11" fmla="*/ 0 60000 65536"/>
              <a:gd name="T12" fmla="*/ 0 w 212"/>
              <a:gd name="T13" fmla="*/ 0 h 138"/>
              <a:gd name="T14" fmla="*/ 212 w 212"/>
              <a:gd name="T15" fmla="*/ 138 h 138"/>
            </a:gdLst>
            <a:ahLst/>
            <a:cxnLst>
              <a:cxn ang="T8">
                <a:pos x="T0" y="T1"/>
              </a:cxn>
              <a:cxn ang="T9">
                <a:pos x="T2" y="T3"/>
              </a:cxn>
              <a:cxn ang="T10">
                <a:pos x="T4" y="T5"/>
              </a:cxn>
              <a:cxn ang="T11">
                <a:pos x="T6" y="T7"/>
              </a:cxn>
            </a:cxnLst>
            <a:rect l="T12" t="T13" r="T14" b="T15"/>
            <a:pathLst>
              <a:path w="212" h="138">
                <a:moveTo>
                  <a:pt x="176" y="138"/>
                </a:moveTo>
                <a:lnTo>
                  <a:pt x="0" y="10"/>
                </a:lnTo>
                <a:lnTo>
                  <a:pt x="212" y="0"/>
                </a:lnTo>
                <a:lnTo>
                  <a:pt x="176" y="1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81" name="Freeform 27">
            <a:extLst>
              <a:ext uri="{FF2B5EF4-FFF2-40B4-BE49-F238E27FC236}">
                <a16:creationId xmlns:a16="http://schemas.microsoft.com/office/drawing/2014/main" id="{3962CC31-B452-46BA-B9CB-B24ACADCC3F0}"/>
              </a:ext>
            </a:extLst>
          </p:cNvPr>
          <p:cNvSpPr>
            <a:spLocks/>
          </p:cNvSpPr>
          <p:nvPr/>
        </p:nvSpPr>
        <p:spPr bwMode="auto">
          <a:xfrm>
            <a:off x="7375526" y="877889"/>
            <a:ext cx="2513013" cy="2674937"/>
          </a:xfrm>
          <a:custGeom>
            <a:avLst/>
            <a:gdLst>
              <a:gd name="T0" fmla="*/ 2147483646 w 3166"/>
              <a:gd name="T1" fmla="*/ 2147483646 h 3369"/>
              <a:gd name="T2" fmla="*/ 2147483646 w 3166"/>
              <a:gd name="T3" fmla="*/ 2147483646 h 3369"/>
              <a:gd name="T4" fmla="*/ 2147483646 w 3166"/>
              <a:gd name="T5" fmla="*/ 2147483646 h 3369"/>
              <a:gd name="T6" fmla="*/ 2147483646 w 3166"/>
              <a:gd name="T7" fmla="*/ 2147483646 h 3369"/>
              <a:gd name="T8" fmla="*/ 2147483646 w 3166"/>
              <a:gd name="T9" fmla="*/ 2147483646 h 3369"/>
              <a:gd name="T10" fmla="*/ 2147483646 w 3166"/>
              <a:gd name="T11" fmla="*/ 2147483646 h 3369"/>
              <a:gd name="T12" fmla="*/ 2147483646 w 3166"/>
              <a:gd name="T13" fmla="*/ 2147483646 h 3369"/>
              <a:gd name="T14" fmla="*/ 2147483646 w 3166"/>
              <a:gd name="T15" fmla="*/ 2147483646 h 3369"/>
              <a:gd name="T16" fmla="*/ 2147483646 w 3166"/>
              <a:gd name="T17" fmla="*/ 2147483646 h 3369"/>
              <a:gd name="T18" fmla="*/ 2147483646 w 3166"/>
              <a:gd name="T19" fmla="*/ 2147483646 h 3369"/>
              <a:gd name="T20" fmla="*/ 2147483646 w 3166"/>
              <a:gd name="T21" fmla="*/ 2147483646 h 3369"/>
              <a:gd name="T22" fmla="*/ 2147483646 w 3166"/>
              <a:gd name="T23" fmla="*/ 2147483646 h 3369"/>
              <a:gd name="T24" fmla="*/ 2147483646 w 3166"/>
              <a:gd name="T25" fmla="*/ 2147483646 h 3369"/>
              <a:gd name="T26" fmla="*/ 0 w 3166"/>
              <a:gd name="T27" fmla="*/ 2147483646 h 3369"/>
              <a:gd name="T28" fmla="*/ 2147483646 w 3166"/>
              <a:gd name="T29" fmla="*/ 2147483646 h 3369"/>
              <a:gd name="T30" fmla="*/ 2147483646 w 3166"/>
              <a:gd name="T31" fmla="*/ 2147483646 h 3369"/>
              <a:gd name="T32" fmla="*/ 2147483646 w 3166"/>
              <a:gd name="T33" fmla="*/ 2147483646 h 3369"/>
              <a:gd name="T34" fmla="*/ 2147483646 w 3166"/>
              <a:gd name="T35" fmla="*/ 2147483646 h 3369"/>
              <a:gd name="T36" fmla="*/ 2147483646 w 3166"/>
              <a:gd name="T37" fmla="*/ 2147483646 h 3369"/>
              <a:gd name="T38" fmla="*/ 2147483646 w 3166"/>
              <a:gd name="T39" fmla="*/ 2147483646 h 3369"/>
              <a:gd name="T40" fmla="*/ 2147483646 w 3166"/>
              <a:gd name="T41" fmla="*/ 2147483646 h 3369"/>
              <a:gd name="T42" fmla="*/ 2147483646 w 3166"/>
              <a:gd name="T43" fmla="*/ 2147483646 h 3369"/>
              <a:gd name="T44" fmla="*/ 2147483646 w 3166"/>
              <a:gd name="T45" fmla="*/ 2147483646 h 3369"/>
              <a:gd name="T46" fmla="*/ 2147483646 w 3166"/>
              <a:gd name="T47" fmla="*/ 2147483646 h 3369"/>
              <a:gd name="T48" fmla="*/ 2147483646 w 3166"/>
              <a:gd name="T49" fmla="*/ 2147483646 h 3369"/>
              <a:gd name="T50" fmla="*/ 2147483646 w 3166"/>
              <a:gd name="T51" fmla="*/ 2147483646 h 3369"/>
              <a:gd name="T52" fmla="*/ 2147483646 w 3166"/>
              <a:gd name="T53" fmla="*/ 0 h 3369"/>
              <a:gd name="T54" fmla="*/ 2147483646 w 3166"/>
              <a:gd name="T55" fmla="*/ 2147483646 h 3369"/>
              <a:gd name="T56" fmla="*/ 2147483646 w 3166"/>
              <a:gd name="T57" fmla="*/ 2147483646 h 3369"/>
              <a:gd name="T58" fmla="*/ 2147483646 w 3166"/>
              <a:gd name="T59" fmla="*/ 2147483646 h 3369"/>
              <a:gd name="T60" fmla="*/ 2147483646 w 3166"/>
              <a:gd name="T61" fmla="*/ 2147483646 h 3369"/>
              <a:gd name="T62" fmla="*/ 2147483646 w 3166"/>
              <a:gd name="T63" fmla="*/ 2147483646 h 3369"/>
              <a:gd name="T64" fmla="*/ 2147483646 w 3166"/>
              <a:gd name="T65" fmla="*/ 2147483646 h 3369"/>
              <a:gd name="T66" fmla="*/ 2147483646 w 3166"/>
              <a:gd name="T67" fmla="*/ 2147483646 h 3369"/>
              <a:gd name="T68" fmla="*/ 2147483646 w 3166"/>
              <a:gd name="T69" fmla="*/ 2147483646 h 3369"/>
              <a:gd name="T70" fmla="*/ 2147483646 w 3166"/>
              <a:gd name="T71" fmla="*/ 2147483646 h 3369"/>
              <a:gd name="T72" fmla="*/ 2147483646 w 3166"/>
              <a:gd name="T73" fmla="*/ 2147483646 h 3369"/>
              <a:gd name="T74" fmla="*/ 2147483646 w 3166"/>
              <a:gd name="T75" fmla="*/ 2147483646 h 3369"/>
              <a:gd name="T76" fmla="*/ 2147483646 w 3166"/>
              <a:gd name="T77" fmla="*/ 2147483646 h 3369"/>
              <a:gd name="T78" fmla="*/ 2147483646 w 3166"/>
              <a:gd name="T79" fmla="*/ 2147483646 h 3369"/>
              <a:gd name="T80" fmla="*/ 2147483646 w 3166"/>
              <a:gd name="T81" fmla="*/ 2147483646 h 3369"/>
              <a:gd name="T82" fmla="*/ 2147483646 w 3166"/>
              <a:gd name="T83" fmla="*/ 2147483646 h 3369"/>
              <a:gd name="T84" fmla="*/ 2147483646 w 3166"/>
              <a:gd name="T85" fmla="*/ 2147483646 h 3369"/>
              <a:gd name="T86" fmla="*/ 2147483646 w 3166"/>
              <a:gd name="T87" fmla="*/ 2147483646 h 3369"/>
              <a:gd name="T88" fmla="*/ 2147483646 w 3166"/>
              <a:gd name="T89" fmla="*/ 2147483646 h 3369"/>
              <a:gd name="T90" fmla="*/ 2147483646 w 3166"/>
              <a:gd name="T91" fmla="*/ 2147483646 h 3369"/>
              <a:gd name="T92" fmla="*/ 2147483646 w 3166"/>
              <a:gd name="T93" fmla="*/ 2147483646 h 3369"/>
              <a:gd name="T94" fmla="*/ 2147483646 w 3166"/>
              <a:gd name="T95" fmla="*/ 2147483646 h 3369"/>
              <a:gd name="T96" fmla="*/ 2147483646 w 3166"/>
              <a:gd name="T97" fmla="*/ 2147483646 h 3369"/>
              <a:gd name="T98" fmla="*/ 2147483646 w 3166"/>
              <a:gd name="T99" fmla="*/ 2147483646 h 3369"/>
              <a:gd name="T100" fmla="*/ 2147483646 w 3166"/>
              <a:gd name="T101" fmla="*/ 2147483646 h 3369"/>
              <a:gd name="T102" fmla="*/ 2147483646 w 3166"/>
              <a:gd name="T103" fmla="*/ 2147483646 h 3369"/>
              <a:gd name="T104" fmla="*/ 2147483646 w 3166"/>
              <a:gd name="T105" fmla="*/ 2147483646 h 3369"/>
              <a:gd name="T106" fmla="*/ 2147483646 w 3166"/>
              <a:gd name="T107" fmla="*/ 2147483646 h 336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166"/>
              <a:gd name="T163" fmla="*/ 0 h 3369"/>
              <a:gd name="T164" fmla="*/ 3166 w 3166"/>
              <a:gd name="T165" fmla="*/ 3369 h 3369"/>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166" h="3369">
                <a:moveTo>
                  <a:pt x="1582" y="3369"/>
                </a:moveTo>
                <a:lnTo>
                  <a:pt x="1541" y="3368"/>
                </a:lnTo>
                <a:lnTo>
                  <a:pt x="1502" y="3366"/>
                </a:lnTo>
                <a:lnTo>
                  <a:pt x="1461" y="3363"/>
                </a:lnTo>
                <a:lnTo>
                  <a:pt x="1421" y="3361"/>
                </a:lnTo>
                <a:lnTo>
                  <a:pt x="1381" y="3356"/>
                </a:lnTo>
                <a:lnTo>
                  <a:pt x="1342" y="3350"/>
                </a:lnTo>
                <a:lnTo>
                  <a:pt x="1302" y="3343"/>
                </a:lnTo>
                <a:lnTo>
                  <a:pt x="1264" y="3334"/>
                </a:lnTo>
                <a:lnTo>
                  <a:pt x="1226" y="3325"/>
                </a:lnTo>
                <a:lnTo>
                  <a:pt x="1188" y="3317"/>
                </a:lnTo>
                <a:lnTo>
                  <a:pt x="1112" y="3293"/>
                </a:lnTo>
                <a:lnTo>
                  <a:pt x="1038" y="3267"/>
                </a:lnTo>
                <a:lnTo>
                  <a:pt x="966" y="3236"/>
                </a:lnTo>
                <a:lnTo>
                  <a:pt x="896" y="3202"/>
                </a:lnTo>
                <a:lnTo>
                  <a:pt x="829" y="3166"/>
                </a:lnTo>
                <a:lnTo>
                  <a:pt x="763" y="3125"/>
                </a:lnTo>
                <a:lnTo>
                  <a:pt x="698" y="3081"/>
                </a:lnTo>
                <a:lnTo>
                  <a:pt x="635" y="3034"/>
                </a:lnTo>
                <a:lnTo>
                  <a:pt x="577" y="2984"/>
                </a:lnTo>
                <a:lnTo>
                  <a:pt x="519" y="2932"/>
                </a:lnTo>
                <a:lnTo>
                  <a:pt x="464" y="2876"/>
                </a:lnTo>
                <a:lnTo>
                  <a:pt x="411" y="2818"/>
                </a:lnTo>
                <a:lnTo>
                  <a:pt x="361" y="2756"/>
                </a:lnTo>
                <a:lnTo>
                  <a:pt x="314" y="2692"/>
                </a:lnTo>
                <a:lnTo>
                  <a:pt x="270" y="2626"/>
                </a:lnTo>
                <a:lnTo>
                  <a:pt x="229" y="2557"/>
                </a:lnTo>
                <a:lnTo>
                  <a:pt x="191" y="2487"/>
                </a:lnTo>
                <a:lnTo>
                  <a:pt x="156" y="2415"/>
                </a:lnTo>
                <a:lnTo>
                  <a:pt x="125" y="2341"/>
                </a:lnTo>
                <a:lnTo>
                  <a:pt x="96" y="2263"/>
                </a:lnTo>
                <a:lnTo>
                  <a:pt x="71" y="2186"/>
                </a:lnTo>
                <a:lnTo>
                  <a:pt x="50" y="2105"/>
                </a:lnTo>
                <a:lnTo>
                  <a:pt x="33" y="2023"/>
                </a:lnTo>
                <a:lnTo>
                  <a:pt x="18" y="1941"/>
                </a:lnTo>
                <a:lnTo>
                  <a:pt x="12" y="1899"/>
                </a:lnTo>
                <a:lnTo>
                  <a:pt x="8" y="1856"/>
                </a:lnTo>
                <a:lnTo>
                  <a:pt x="5" y="1814"/>
                </a:lnTo>
                <a:lnTo>
                  <a:pt x="2" y="1771"/>
                </a:lnTo>
                <a:lnTo>
                  <a:pt x="0" y="1728"/>
                </a:lnTo>
                <a:lnTo>
                  <a:pt x="0" y="1684"/>
                </a:lnTo>
                <a:lnTo>
                  <a:pt x="0" y="1641"/>
                </a:lnTo>
                <a:lnTo>
                  <a:pt x="2" y="1597"/>
                </a:lnTo>
                <a:lnTo>
                  <a:pt x="5" y="1555"/>
                </a:lnTo>
                <a:lnTo>
                  <a:pt x="8" y="1512"/>
                </a:lnTo>
                <a:lnTo>
                  <a:pt x="12" y="1470"/>
                </a:lnTo>
                <a:lnTo>
                  <a:pt x="18" y="1428"/>
                </a:lnTo>
                <a:lnTo>
                  <a:pt x="33" y="1344"/>
                </a:lnTo>
                <a:lnTo>
                  <a:pt x="50" y="1262"/>
                </a:lnTo>
                <a:lnTo>
                  <a:pt x="71" y="1183"/>
                </a:lnTo>
                <a:lnTo>
                  <a:pt x="96" y="1104"/>
                </a:lnTo>
                <a:lnTo>
                  <a:pt x="125" y="1028"/>
                </a:lnTo>
                <a:lnTo>
                  <a:pt x="156" y="954"/>
                </a:lnTo>
                <a:lnTo>
                  <a:pt x="191" y="880"/>
                </a:lnTo>
                <a:lnTo>
                  <a:pt x="229" y="810"/>
                </a:lnTo>
                <a:lnTo>
                  <a:pt x="270" y="741"/>
                </a:lnTo>
                <a:lnTo>
                  <a:pt x="314" y="676"/>
                </a:lnTo>
                <a:lnTo>
                  <a:pt x="361" y="613"/>
                </a:lnTo>
                <a:lnTo>
                  <a:pt x="411" y="551"/>
                </a:lnTo>
                <a:lnTo>
                  <a:pt x="464" y="493"/>
                </a:lnTo>
                <a:lnTo>
                  <a:pt x="519" y="437"/>
                </a:lnTo>
                <a:lnTo>
                  <a:pt x="577" y="384"/>
                </a:lnTo>
                <a:lnTo>
                  <a:pt x="635" y="335"/>
                </a:lnTo>
                <a:lnTo>
                  <a:pt x="698" y="286"/>
                </a:lnTo>
                <a:lnTo>
                  <a:pt x="763" y="242"/>
                </a:lnTo>
                <a:lnTo>
                  <a:pt x="829" y="203"/>
                </a:lnTo>
                <a:lnTo>
                  <a:pt x="896" y="165"/>
                </a:lnTo>
                <a:lnTo>
                  <a:pt x="966" y="131"/>
                </a:lnTo>
                <a:lnTo>
                  <a:pt x="1038" y="102"/>
                </a:lnTo>
                <a:lnTo>
                  <a:pt x="1112" y="76"/>
                </a:lnTo>
                <a:lnTo>
                  <a:pt x="1188" y="52"/>
                </a:lnTo>
                <a:lnTo>
                  <a:pt x="1226" y="42"/>
                </a:lnTo>
                <a:lnTo>
                  <a:pt x="1264" y="33"/>
                </a:lnTo>
                <a:lnTo>
                  <a:pt x="1302" y="26"/>
                </a:lnTo>
                <a:lnTo>
                  <a:pt x="1342" y="19"/>
                </a:lnTo>
                <a:lnTo>
                  <a:pt x="1381" y="13"/>
                </a:lnTo>
                <a:lnTo>
                  <a:pt x="1421" y="8"/>
                </a:lnTo>
                <a:lnTo>
                  <a:pt x="1461" y="4"/>
                </a:lnTo>
                <a:lnTo>
                  <a:pt x="1502" y="1"/>
                </a:lnTo>
                <a:lnTo>
                  <a:pt x="1541" y="0"/>
                </a:lnTo>
                <a:lnTo>
                  <a:pt x="1582" y="0"/>
                </a:lnTo>
                <a:lnTo>
                  <a:pt x="1623" y="0"/>
                </a:lnTo>
                <a:lnTo>
                  <a:pt x="1664" y="1"/>
                </a:lnTo>
                <a:lnTo>
                  <a:pt x="1704" y="4"/>
                </a:lnTo>
                <a:lnTo>
                  <a:pt x="1745" y="8"/>
                </a:lnTo>
                <a:lnTo>
                  <a:pt x="1785" y="13"/>
                </a:lnTo>
                <a:lnTo>
                  <a:pt x="1824" y="19"/>
                </a:lnTo>
                <a:lnTo>
                  <a:pt x="1862" y="26"/>
                </a:lnTo>
                <a:lnTo>
                  <a:pt x="1902" y="33"/>
                </a:lnTo>
                <a:lnTo>
                  <a:pt x="1940" y="42"/>
                </a:lnTo>
                <a:lnTo>
                  <a:pt x="1978" y="52"/>
                </a:lnTo>
                <a:lnTo>
                  <a:pt x="2053" y="76"/>
                </a:lnTo>
                <a:lnTo>
                  <a:pt x="2126" y="102"/>
                </a:lnTo>
                <a:lnTo>
                  <a:pt x="2198" y="131"/>
                </a:lnTo>
                <a:lnTo>
                  <a:pt x="2268" y="165"/>
                </a:lnTo>
                <a:lnTo>
                  <a:pt x="2337" y="203"/>
                </a:lnTo>
                <a:lnTo>
                  <a:pt x="2403" y="242"/>
                </a:lnTo>
                <a:lnTo>
                  <a:pt x="2468" y="286"/>
                </a:lnTo>
                <a:lnTo>
                  <a:pt x="2529" y="335"/>
                </a:lnTo>
                <a:lnTo>
                  <a:pt x="2589" y="384"/>
                </a:lnTo>
                <a:lnTo>
                  <a:pt x="2647" y="437"/>
                </a:lnTo>
                <a:lnTo>
                  <a:pt x="2702" y="493"/>
                </a:lnTo>
                <a:lnTo>
                  <a:pt x="2754" y="551"/>
                </a:lnTo>
                <a:lnTo>
                  <a:pt x="2803" y="613"/>
                </a:lnTo>
                <a:lnTo>
                  <a:pt x="2850" y="676"/>
                </a:lnTo>
                <a:lnTo>
                  <a:pt x="2894" y="741"/>
                </a:lnTo>
                <a:lnTo>
                  <a:pt x="2937" y="810"/>
                </a:lnTo>
                <a:lnTo>
                  <a:pt x="2974" y="880"/>
                </a:lnTo>
                <a:lnTo>
                  <a:pt x="3009" y="954"/>
                </a:lnTo>
                <a:lnTo>
                  <a:pt x="3041" y="1028"/>
                </a:lnTo>
                <a:lnTo>
                  <a:pt x="3069" y="1104"/>
                </a:lnTo>
                <a:lnTo>
                  <a:pt x="3094" y="1183"/>
                </a:lnTo>
                <a:lnTo>
                  <a:pt x="3116" y="1262"/>
                </a:lnTo>
                <a:lnTo>
                  <a:pt x="3133" y="1344"/>
                </a:lnTo>
                <a:lnTo>
                  <a:pt x="3147" y="1428"/>
                </a:lnTo>
                <a:lnTo>
                  <a:pt x="3152" y="1470"/>
                </a:lnTo>
                <a:lnTo>
                  <a:pt x="3157" y="1512"/>
                </a:lnTo>
                <a:lnTo>
                  <a:pt x="3161" y="1555"/>
                </a:lnTo>
                <a:lnTo>
                  <a:pt x="3163" y="1597"/>
                </a:lnTo>
                <a:lnTo>
                  <a:pt x="3164" y="1641"/>
                </a:lnTo>
                <a:lnTo>
                  <a:pt x="3166" y="1684"/>
                </a:lnTo>
                <a:lnTo>
                  <a:pt x="3164" y="1728"/>
                </a:lnTo>
                <a:lnTo>
                  <a:pt x="3163" y="1771"/>
                </a:lnTo>
                <a:lnTo>
                  <a:pt x="3161" y="1814"/>
                </a:lnTo>
                <a:lnTo>
                  <a:pt x="3157" y="1856"/>
                </a:lnTo>
                <a:lnTo>
                  <a:pt x="3152" y="1899"/>
                </a:lnTo>
                <a:lnTo>
                  <a:pt x="3147" y="1941"/>
                </a:lnTo>
                <a:lnTo>
                  <a:pt x="3133" y="2023"/>
                </a:lnTo>
                <a:lnTo>
                  <a:pt x="3116" y="2105"/>
                </a:lnTo>
                <a:lnTo>
                  <a:pt x="3094" y="2186"/>
                </a:lnTo>
                <a:lnTo>
                  <a:pt x="3069" y="2263"/>
                </a:lnTo>
                <a:lnTo>
                  <a:pt x="3041" y="2341"/>
                </a:lnTo>
                <a:lnTo>
                  <a:pt x="3009" y="2415"/>
                </a:lnTo>
                <a:lnTo>
                  <a:pt x="2974" y="2487"/>
                </a:lnTo>
                <a:lnTo>
                  <a:pt x="2937" y="2557"/>
                </a:lnTo>
                <a:lnTo>
                  <a:pt x="2894" y="2626"/>
                </a:lnTo>
                <a:lnTo>
                  <a:pt x="2850" y="2692"/>
                </a:lnTo>
                <a:lnTo>
                  <a:pt x="2803" y="2756"/>
                </a:lnTo>
                <a:lnTo>
                  <a:pt x="2754" y="2818"/>
                </a:lnTo>
                <a:lnTo>
                  <a:pt x="2702" y="2876"/>
                </a:lnTo>
                <a:lnTo>
                  <a:pt x="2647" y="2932"/>
                </a:lnTo>
                <a:lnTo>
                  <a:pt x="2589" y="2984"/>
                </a:lnTo>
                <a:lnTo>
                  <a:pt x="2529" y="3034"/>
                </a:lnTo>
                <a:lnTo>
                  <a:pt x="2468" y="3081"/>
                </a:lnTo>
                <a:lnTo>
                  <a:pt x="2403" y="3125"/>
                </a:lnTo>
                <a:lnTo>
                  <a:pt x="2337" y="3166"/>
                </a:lnTo>
                <a:lnTo>
                  <a:pt x="2268" y="3202"/>
                </a:lnTo>
                <a:lnTo>
                  <a:pt x="2198" y="3236"/>
                </a:lnTo>
                <a:lnTo>
                  <a:pt x="2126" y="3267"/>
                </a:lnTo>
                <a:lnTo>
                  <a:pt x="2053" y="3293"/>
                </a:lnTo>
                <a:lnTo>
                  <a:pt x="1978" y="3317"/>
                </a:lnTo>
                <a:lnTo>
                  <a:pt x="1940" y="3325"/>
                </a:lnTo>
                <a:lnTo>
                  <a:pt x="1902" y="3334"/>
                </a:lnTo>
                <a:lnTo>
                  <a:pt x="1862" y="3343"/>
                </a:lnTo>
                <a:lnTo>
                  <a:pt x="1824" y="3350"/>
                </a:lnTo>
                <a:lnTo>
                  <a:pt x="1785" y="3356"/>
                </a:lnTo>
                <a:lnTo>
                  <a:pt x="1745" y="3361"/>
                </a:lnTo>
                <a:lnTo>
                  <a:pt x="1704" y="3363"/>
                </a:lnTo>
                <a:lnTo>
                  <a:pt x="1664" y="3366"/>
                </a:lnTo>
                <a:lnTo>
                  <a:pt x="1623" y="3368"/>
                </a:lnTo>
                <a:lnTo>
                  <a:pt x="1582" y="336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82" name="Freeform 28">
            <a:extLst>
              <a:ext uri="{FF2B5EF4-FFF2-40B4-BE49-F238E27FC236}">
                <a16:creationId xmlns:a16="http://schemas.microsoft.com/office/drawing/2014/main" id="{DF3344A4-3E35-4409-BA4B-12E2F53C0C44}"/>
              </a:ext>
            </a:extLst>
          </p:cNvPr>
          <p:cNvSpPr>
            <a:spLocks/>
          </p:cNvSpPr>
          <p:nvPr/>
        </p:nvSpPr>
        <p:spPr bwMode="auto">
          <a:xfrm>
            <a:off x="7375526" y="877889"/>
            <a:ext cx="2513013" cy="2674937"/>
          </a:xfrm>
          <a:custGeom>
            <a:avLst/>
            <a:gdLst>
              <a:gd name="T0" fmla="*/ 2147483646 w 3166"/>
              <a:gd name="T1" fmla="*/ 2147483646 h 3369"/>
              <a:gd name="T2" fmla="*/ 2147483646 w 3166"/>
              <a:gd name="T3" fmla="*/ 2147483646 h 3369"/>
              <a:gd name="T4" fmla="*/ 2147483646 w 3166"/>
              <a:gd name="T5" fmla="*/ 2147483646 h 3369"/>
              <a:gd name="T6" fmla="*/ 2147483646 w 3166"/>
              <a:gd name="T7" fmla="*/ 2147483646 h 3369"/>
              <a:gd name="T8" fmla="*/ 2147483646 w 3166"/>
              <a:gd name="T9" fmla="*/ 2147483646 h 3369"/>
              <a:gd name="T10" fmla="*/ 2147483646 w 3166"/>
              <a:gd name="T11" fmla="*/ 2147483646 h 3369"/>
              <a:gd name="T12" fmla="*/ 2147483646 w 3166"/>
              <a:gd name="T13" fmla="*/ 2147483646 h 3369"/>
              <a:gd name="T14" fmla="*/ 2147483646 w 3166"/>
              <a:gd name="T15" fmla="*/ 2147483646 h 3369"/>
              <a:gd name="T16" fmla="*/ 2147483646 w 3166"/>
              <a:gd name="T17" fmla="*/ 2147483646 h 3369"/>
              <a:gd name="T18" fmla="*/ 2147483646 w 3166"/>
              <a:gd name="T19" fmla="*/ 2147483646 h 3369"/>
              <a:gd name="T20" fmla="*/ 2147483646 w 3166"/>
              <a:gd name="T21" fmla="*/ 2147483646 h 3369"/>
              <a:gd name="T22" fmla="*/ 2147483646 w 3166"/>
              <a:gd name="T23" fmla="*/ 2147483646 h 3369"/>
              <a:gd name="T24" fmla="*/ 2147483646 w 3166"/>
              <a:gd name="T25" fmla="*/ 2147483646 h 3369"/>
              <a:gd name="T26" fmla="*/ 0 w 3166"/>
              <a:gd name="T27" fmla="*/ 2147483646 h 3369"/>
              <a:gd name="T28" fmla="*/ 2147483646 w 3166"/>
              <a:gd name="T29" fmla="*/ 2147483646 h 3369"/>
              <a:gd name="T30" fmla="*/ 2147483646 w 3166"/>
              <a:gd name="T31" fmla="*/ 2147483646 h 3369"/>
              <a:gd name="T32" fmla="*/ 2147483646 w 3166"/>
              <a:gd name="T33" fmla="*/ 2147483646 h 3369"/>
              <a:gd name="T34" fmla="*/ 2147483646 w 3166"/>
              <a:gd name="T35" fmla="*/ 2147483646 h 3369"/>
              <a:gd name="T36" fmla="*/ 2147483646 w 3166"/>
              <a:gd name="T37" fmla="*/ 2147483646 h 3369"/>
              <a:gd name="T38" fmla="*/ 2147483646 w 3166"/>
              <a:gd name="T39" fmla="*/ 2147483646 h 3369"/>
              <a:gd name="T40" fmla="*/ 2147483646 w 3166"/>
              <a:gd name="T41" fmla="*/ 2147483646 h 3369"/>
              <a:gd name="T42" fmla="*/ 2147483646 w 3166"/>
              <a:gd name="T43" fmla="*/ 2147483646 h 3369"/>
              <a:gd name="T44" fmla="*/ 2147483646 w 3166"/>
              <a:gd name="T45" fmla="*/ 2147483646 h 3369"/>
              <a:gd name="T46" fmla="*/ 2147483646 w 3166"/>
              <a:gd name="T47" fmla="*/ 2147483646 h 3369"/>
              <a:gd name="T48" fmla="*/ 2147483646 w 3166"/>
              <a:gd name="T49" fmla="*/ 2147483646 h 3369"/>
              <a:gd name="T50" fmla="*/ 2147483646 w 3166"/>
              <a:gd name="T51" fmla="*/ 2147483646 h 3369"/>
              <a:gd name="T52" fmla="*/ 2147483646 w 3166"/>
              <a:gd name="T53" fmla="*/ 0 h 3369"/>
              <a:gd name="T54" fmla="*/ 2147483646 w 3166"/>
              <a:gd name="T55" fmla="*/ 2147483646 h 3369"/>
              <a:gd name="T56" fmla="*/ 2147483646 w 3166"/>
              <a:gd name="T57" fmla="*/ 2147483646 h 3369"/>
              <a:gd name="T58" fmla="*/ 2147483646 w 3166"/>
              <a:gd name="T59" fmla="*/ 2147483646 h 3369"/>
              <a:gd name="T60" fmla="*/ 2147483646 w 3166"/>
              <a:gd name="T61" fmla="*/ 2147483646 h 3369"/>
              <a:gd name="T62" fmla="*/ 2147483646 w 3166"/>
              <a:gd name="T63" fmla="*/ 2147483646 h 3369"/>
              <a:gd name="T64" fmla="*/ 2147483646 w 3166"/>
              <a:gd name="T65" fmla="*/ 2147483646 h 3369"/>
              <a:gd name="T66" fmla="*/ 2147483646 w 3166"/>
              <a:gd name="T67" fmla="*/ 2147483646 h 3369"/>
              <a:gd name="T68" fmla="*/ 2147483646 w 3166"/>
              <a:gd name="T69" fmla="*/ 2147483646 h 3369"/>
              <a:gd name="T70" fmla="*/ 2147483646 w 3166"/>
              <a:gd name="T71" fmla="*/ 2147483646 h 3369"/>
              <a:gd name="T72" fmla="*/ 2147483646 w 3166"/>
              <a:gd name="T73" fmla="*/ 2147483646 h 3369"/>
              <a:gd name="T74" fmla="*/ 2147483646 w 3166"/>
              <a:gd name="T75" fmla="*/ 2147483646 h 3369"/>
              <a:gd name="T76" fmla="*/ 2147483646 w 3166"/>
              <a:gd name="T77" fmla="*/ 2147483646 h 3369"/>
              <a:gd name="T78" fmla="*/ 2147483646 w 3166"/>
              <a:gd name="T79" fmla="*/ 2147483646 h 3369"/>
              <a:gd name="T80" fmla="*/ 2147483646 w 3166"/>
              <a:gd name="T81" fmla="*/ 2147483646 h 3369"/>
              <a:gd name="T82" fmla="*/ 2147483646 w 3166"/>
              <a:gd name="T83" fmla="*/ 2147483646 h 3369"/>
              <a:gd name="T84" fmla="*/ 2147483646 w 3166"/>
              <a:gd name="T85" fmla="*/ 2147483646 h 3369"/>
              <a:gd name="T86" fmla="*/ 2147483646 w 3166"/>
              <a:gd name="T87" fmla="*/ 2147483646 h 3369"/>
              <a:gd name="T88" fmla="*/ 2147483646 w 3166"/>
              <a:gd name="T89" fmla="*/ 2147483646 h 3369"/>
              <a:gd name="T90" fmla="*/ 2147483646 w 3166"/>
              <a:gd name="T91" fmla="*/ 2147483646 h 3369"/>
              <a:gd name="T92" fmla="*/ 2147483646 w 3166"/>
              <a:gd name="T93" fmla="*/ 2147483646 h 3369"/>
              <a:gd name="T94" fmla="*/ 2147483646 w 3166"/>
              <a:gd name="T95" fmla="*/ 2147483646 h 3369"/>
              <a:gd name="T96" fmla="*/ 2147483646 w 3166"/>
              <a:gd name="T97" fmla="*/ 2147483646 h 3369"/>
              <a:gd name="T98" fmla="*/ 2147483646 w 3166"/>
              <a:gd name="T99" fmla="*/ 2147483646 h 3369"/>
              <a:gd name="T100" fmla="*/ 2147483646 w 3166"/>
              <a:gd name="T101" fmla="*/ 2147483646 h 3369"/>
              <a:gd name="T102" fmla="*/ 2147483646 w 3166"/>
              <a:gd name="T103" fmla="*/ 2147483646 h 3369"/>
              <a:gd name="T104" fmla="*/ 2147483646 w 3166"/>
              <a:gd name="T105" fmla="*/ 2147483646 h 3369"/>
              <a:gd name="T106" fmla="*/ 2147483646 w 3166"/>
              <a:gd name="T107" fmla="*/ 2147483646 h 336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166"/>
              <a:gd name="T163" fmla="*/ 0 h 3369"/>
              <a:gd name="T164" fmla="*/ 3166 w 3166"/>
              <a:gd name="T165" fmla="*/ 3369 h 3369"/>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166" h="3369">
                <a:moveTo>
                  <a:pt x="1582" y="3369"/>
                </a:moveTo>
                <a:lnTo>
                  <a:pt x="1541" y="3368"/>
                </a:lnTo>
                <a:lnTo>
                  <a:pt x="1502" y="3366"/>
                </a:lnTo>
                <a:lnTo>
                  <a:pt x="1461" y="3363"/>
                </a:lnTo>
                <a:lnTo>
                  <a:pt x="1421" y="3361"/>
                </a:lnTo>
                <a:lnTo>
                  <a:pt x="1381" y="3356"/>
                </a:lnTo>
                <a:lnTo>
                  <a:pt x="1342" y="3350"/>
                </a:lnTo>
                <a:lnTo>
                  <a:pt x="1302" y="3343"/>
                </a:lnTo>
                <a:lnTo>
                  <a:pt x="1264" y="3334"/>
                </a:lnTo>
                <a:lnTo>
                  <a:pt x="1226" y="3325"/>
                </a:lnTo>
                <a:lnTo>
                  <a:pt x="1188" y="3317"/>
                </a:lnTo>
                <a:lnTo>
                  <a:pt x="1112" y="3293"/>
                </a:lnTo>
                <a:lnTo>
                  <a:pt x="1038" y="3267"/>
                </a:lnTo>
                <a:lnTo>
                  <a:pt x="966" y="3236"/>
                </a:lnTo>
                <a:lnTo>
                  <a:pt x="896" y="3202"/>
                </a:lnTo>
                <a:lnTo>
                  <a:pt x="829" y="3166"/>
                </a:lnTo>
                <a:lnTo>
                  <a:pt x="763" y="3125"/>
                </a:lnTo>
                <a:lnTo>
                  <a:pt x="698" y="3081"/>
                </a:lnTo>
                <a:lnTo>
                  <a:pt x="635" y="3034"/>
                </a:lnTo>
                <a:lnTo>
                  <a:pt x="577" y="2984"/>
                </a:lnTo>
                <a:lnTo>
                  <a:pt x="519" y="2932"/>
                </a:lnTo>
                <a:lnTo>
                  <a:pt x="464" y="2876"/>
                </a:lnTo>
                <a:lnTo>
                  <a:pt x="411" y="2818"/>
                </a:lnTo>
                <a:lnTo>
                  <a:pt x="361" y="2756"/>
                </a:lnTo>
                <a:lnTo>
                  <a:pt x="314" y="2692"/>
                </a:lnTo>
                <a:lnTo>
                  <a:pt x="270" y="2626"/>
                </a:lnTo>
                <a:lnTo>
                  <a:pt x="229" y="2557"/>
                </a:lnTo>
                <a:lnTo>
                  <a:pt x="191" y="2487"/>
                </a:lnTo>
                <a:lnTo>
                  <a:pt x="156" y="2415"/>
                </a:lnTo>
                <a:lnTo>
                  <a:pt x="125" y="2341"/>
                </a:lnTo>
                <a:lnTo>
                  <a:pt x="96" y="2263"/>
                </a:lnTo>
                <a:lnTo>
                  <a:pt x="71" y="2186"/>
                </a:lnTo>
                <a:lnTo>
                  <a:pt x="50" y="2105"/>
                </a:lnTo>
                <a:lnTo>
                  <a:pt x="33" y="2023"/>
                </a:lnTo>
                <a:lnTo>
                  <a:pt x="18" y="1941"/>
                </a:lnTo>
                <a:lnTo>
                  <a:pt x="12" y="1899"/>
                </a:lnTo>
                <a:lnTo>
                  <a:pt x="8" y="1856"/>
                </a:lnTo>
                <a:lnTo>
                  <a:pt x="5" y="1814"/>
                </a:lnTo>
                <a:lnTo>
                  <a:pt x="2" y="1771"/>
                </a:lnTo>
                <a:lnTo>
                  <a:pt x="0" y="1728"/>
                </a:lnTo>
                <a:lnTo>
                  <a:pt x="0" y="1684"/>
                </a:lnTo>
                <a:lnTo>
                  <a:pt x="0" y="1641"/>
                </a:lnTo>
                <a:lnTo>
                  <a:pt x="2" y="1597"/>
                </a:lnTo>
                <a:lnTo>
                  <a:pt x="5" y="1555"/>
                </a:lnTo>
                <a:lnTo>
                  <a:pt x="8" y="1512"/>
                </a:lnTo>
                <a:lnTo>
                  <a:pt x="12" y="1470"/>
                </a:lnTo>
                <a:lnTo>
                  <a:pt x="18" y="1428"/>
                </a:lnTo>
                <a:lnTo>
                  <a:pt x="33" y="1344"/>
                </a:lnTo>
                <a:lnTo>
                  <a:pt x="50" y="1262"/>
                </a:lnTo>
                <a:lnTo>
                  <a:pt x="71" y="1183"/>
                </a:lnTo>
                <a:lnTo>
                  <a:pt x="96" y="1104"/>
                </a:lnTo>
                <a:lnTo>
                  <a:pt x="125" y="1028"/>
                </a:lnTo>
                <a:lnTo>
                  <a:pt x="156" y="954"/>
                </a:lnTo>
                <a:lnTo>
                  <a:pt x="191" y="880"/>
                </a:lnTo>
                <a:lnTo>
                  <a:pt x="229" y="810"/>
                </a:lnTo>
                <a:lnTo>
                  <a:pt x="270" y="741"/>
                </a:lnTo>
                <a:lnTo>
                  <a:pt x="314" y="676"/>
                </a:lnTo>
                <a:lnTo>
                  <a:pt x="361" y="613"/>
                </a:lnTo>
                <a:lnTo>
                  <a:pt x="411" y="551"/>
                </a:lnTo>
                <a:lnTo>
                  <a:pt x="464" y="493"/>
                </a:lnTo>
                <a:lnTo>
                  <a:pt x="519" y="437"/>
                </a:lnTo>
                <a:lnTo>
                  <a:pt x="577" y="384"/>
                </a:lnTo>
                <a:lnTo>
                  <a:pt x="635" y="335"/>
                </a:lnTo>
                <a:lnTo>
                  <a:pt x="698" y="286"/>
                </a:lnTo>
                <a:lnTo>
                  <a:pt x="763" y="242"/>
                </a:lnTo>
                <a:lnTo>
                  <a:pt x="829" y="203"/>
                </a:lnTo>
                <a:lnTo>
                  <a:pt x="896" y="165"/>
                </a:lnTo>
                <a:lnTo>
                  <a:pt x="966" y="131"/>
                </a:lnTo>
                <a:lnTo>
                  <a:pt x="1038" y="102"/>
                </a:lnTo>
                <a:lnTo>
                  <a:pt x="1112" y="76"/>
                </a:lnTo>
                <a:lnTo>
                  <a:pt x="1188" y="52"/>
                </a:lnTo>
                <a:lnTo>
                  <a:pt x="1226" y="42"/>
                </a:lnTo>
                <a:lnTo>
                  <a:pt x="1264" y="33"/>
                </a:lnTo>
                <a:lnTo>
                  <a:pt x="1302" y="26"/>
                </a:lnTo>
                <a:lnTo>
                  <a:pt x="1342" y="19"/>
                </a:lnTo>
                <a:lnTo>
                  <a:pt x="1381" y="13"/>
                </a:lnTo>
                <a:lnTo>
                  <a:pt x="1421" y="8"/>
                </a:lnTo>
                <a:lnTo>
                  <a:pt x="1461" y="4"/>
                </a:lnTo>
                <a:lnTo>
                  <a:pt x="1502" y="1"/>
                </a:lnTo>
                <a:lnTo>
                  <a:pt x="1541" y="0"/>
                </a:lnTo>
                <a:lnTo>
                  <a:pt x="1582" y="0"/>
                </a:lnTo>
                <a:lnTo>
                  <a:pt x="1623" y="0"/>
                </a:lnTo>
                <a:lnTo>
                  <a:pt x="1664" y="1"/>
                </a:lnTo>
                <a:lnTo>
                  <a:pt x="1704" y="4"/>
                </a:lnTo>
                <a:lnTo>
                  <a:pt x="1745" y="8"/>
                </a:lnTo>
                <a:lnTo>
                  <a:pt x="1785" y="13"/>
                </a:lnTo>
                <a:lnTo>
                  <a:pt x="1824" y="19"/>
                </a:lnTo>
                <a:lnTo>
                  <a:pt x="1862" y="26"/>
                </a:lnTo>
                <a:lnTo>
                  <a:pt x="1902" y="33"/>
                </a:lnTo>
                <a:lnTo>
                  <a:pt x="1940" y="42"/>
                </a:lnTo>
                <a:lnTo>
                  <a:pt x="1978" y="52"/>
                </a:lnTo>
                <a:lnTo>
                  <a:pt x="2053" y="76"/>
                </a:lnTo>
                <a:lnTo>
                  <a:pt x="2126" y="102"/>
                </a:lnTo>
                <a:lnTo>
                  <a:pt x="2198" y="131"/>
                </a:lnTo>
                <a:lnTo>
                  <a:pt x="2268" y="165"/>
                </a:lnTo>
                <a:lnTo>
                  <a:pt x="2337" y="203"/>
                </a:lnTo>
                <a:lnTo>
                  <a:pt x="2403" y="242"/>
                </a:lnTo>
                <a:lnTo>
                  <a:pt x="2468" y="286"/>
                </a:lnTo>
                <a:lnTo>
                  <a:pt x="2529" y="335"/>
                </a:lnTo>
                <a:lnTo>
                  <a:pt x="2589" y="384"/>
                </a:lnTo>
                <a:lnTo>
                  <a:pt x="2647" y="437"/>
                </a:lnTo>
                <a:lnTo>
                  <a:pt x="2702" y="493"/>
                </a:lnTo>
                <a:lnTo>
                  <a:pt x="2754" y="551"/>
                </a:lnTo>
                <a:lnTo>
                  <a:pt x="2803" y="613"/>
                </a:lnTo>
                <a:lnTo>
                  <a:pt x="2850" y="676"/>
                </a:lnTo>
                <a:lnTo>
                  <a:pt x="2894" y="741"/>
                </a:lnTo>
                <a:lnTo>
                  <a:pt x="2937" y="810"/>
                </a:lnTo>
                <a:lnTo>
                  <a:pt x="2974" y="880"/>
                </a:lnTo>
                <a:lnTo>
                  <a:pt x="3009" y="954"/>
                </a:lnTo>
                <a:lnTo>
                  <a:pt x="3041" y="1028"/>
                </a:lnTo>
                <a:lnTo>
                  <a:pt x="3069" y="1104"/>
                </a:lnTo>
                <a:lnTo>
                  <a:pt x="3094" y="1183"/>
                </a:lnTo>
                <a:lnTo>
                  <a:pt x="3116" y="1262"/>
                </a:lnTo>
                <a:lnTo>
                  <a:pt x="3133" y="1344"/>
                </a:lnTo>
                <a:lnTo>
                  <a:pt x="3147" y="1428"/>
                </a:lnTo>
                <a:lnTo>
                  <a:pt x="3152" y="1470"/>
                </a:lnTo>
                <a:lnTo>
                  <a:pt x="3157" y="1512"/>
                </a:lnTo>
                <a:lnTo>
                  <a:pt x="3161" y="1555"/>
                </a:lnTo>
                <a:lnTo>
                  <a:pt x="3163" y="1597"/>
                </a:lnTo>
                <a:lnTo>
                  <a:pt x="3164" y="1641"/>
                </a:lnTo>
                <a:lnTo>
                  <a:pt x="3166" y="1684"/>
                </a:lnTo>
                <a:lnTo>
                  <a:pt x="3164" y="1728"/>
                </a:lnTo>
                <a:lnTo>
                  <a:pt x="3163" y="1771"/>
                </a:lnTo>
                <a:lnTo>
                  <a:pt x="3161" y="1814"/>
                </a:lnTo>
                <a:lnTo>
                  <a:pt x="3157" y="1856"/>
                </a:lnTo>
                <a:lnTo>
                  <a:pt x="3152" y="1899"/>
                </a:lnTo>
                <a:lnTo>
                  <a:pt x="3147" y="1941"/>
                </a:lnTo>
                <a:lnTo>
                  <a:pt x="3133" y="2023"/>
                </a:lnTo>
                <a:lnTo>
                  <a:pt x="3116" y="2105"/>
                </a:lnTo>
                <a:lnTo>
                  <a:pt x="3094" y="2186"/>
                </a:lnTo>
                <a:lnTo>
                  <a:pt x="3069" y="2263"/>
                </a:lnTo>
                <a:lnTo>
                  <a:pt x="3041" y="2341"/>
                </a:lnTo>
                <a:lnTo>
                  <a:pt x="3009" y="2415"/>
                </a:lnTo>
                <a:lnTo>
                  <a:pt x="2974" y="2487"/>
                </a:lnTo>
                <a:lnTo>
                  <a:pt x="2937" y="2557"/>
                </a:lnTo>
                <a:lnTo>
                  <a:pt x="2894" y="2626"/>
                </a:lnTo>
                <a:lnTo>
                  <a:pt x="2850" y="2692"/>
                </a:lnTo>
                <a:lnTo>
                  <a:pt x="2803" y="2756"/>
                </a:lnTo>
                <a:lnTo>
                  <a:pt x="2754" y="2818"/>
                </a:lnTo>
                <a:lnTo>
                  <a:pt x="2702" y="2876"/>
                </a:lnTo>
                <a:lnTo>
                  <a:pt x="2647" y="2932"/>
                </a:lnTo>
                <a:lnTo>
                  <a:pt x="2589" y="2984"/>
                </a:lnTo>
                <a:lnTo>
                  <a:pt x="2529" y="3034"/>
                </a:lnTo>
                <a:lnTo>
                  <a:pt x="2468" y="3081"/>
                </a:lnTo>
                <a:lnTo>
                  <a:pt x="2403" y="3125"/>
                </a:lnTo>
                <a:lnTo>
                  <a:pt x="2337" y="3166"/>
                </a:lnTo>
                <a:lnTo>
                  <a:pt x="2268" y="3202"/>
                </a:lnTo>
                <a:lnTo>
                  <a:pt x="2198" y="3236"/>
                </a:lnTo>
                <a:lnTo>
                  <a:pt x="2126" y="3267"/>
                </a:lnTo>
                <a:lnTo>
                  <a:pt x="2053" y="3293"/>
                </a:lnTo>
                <a:lnTo>
                  <a:pt x="1978" y="3317"/>
                </a:lnTo>
                <a:lnTo>
                  <a:pt x="1940" y="3325"/>
                </a:lnTo>
                <a:lnTo>
                  <a:pt x="1902" y="3334"/>
                </a:lnTo>
                <a:lnTo>
                  <a:pt x="1862" y="3343"/>
                </a:lnTo>
                <a:lnTo>
                  <a:pt x="1824" y="3350"/>
                </a:lnTo>
                <a:lnTo>
                  <a:pt x="1785" y="3356"/>
                </a:lnTo>
                <a:lnTo>
                  <a:pt x="1745" y="3361"/>
                </a:lnTo>
                <a:lnTo>
                  <a:pt x="1704" y="3363"/>
                </a:lnTo>
                <a:lnTo>
                  <a:pt x="1664" y="3366"/>
                </a:lnTo>
                <a:lnTo>
                  <a:pt x="1623" y="3368"/>
                </a:lnTo>
                <a:lnTo>
                  <a:pt x="1582" y="3369"/>
                </a:lnTo>
              </a:path>
            </a:pathLst>
          </a:custGeom>
          <a:solidFill>
            <a:srgbClr val="FFFF99"/>
          </a:solidFill>
          <a:ln w="4763">
            <a:solidFill>
              <a:srgbClr val="000000"/>
            </a:solidFill>
            <a:round/>
            <a:headEnd/>
            <a:tailEnd/>
          </a:ln>
        </p:spPr>
        <p:txBody>
          <a:bodyPr/>
          <a:lstStyle/>
          <a:p>
            <a:endParaRPr lang="en-US"/>
          </a:p>
        </p:txBody>
      </p:sp>
      <p:sp>
        <p:nvSpPr>
          <p:cNvPr id="45083" name="Freeform 29">
            <a:extLst>
              <a:ext uri="{FF2B5EF4-FFF2-40B4-BE49-F238E27FC236}">
                <a16:creationId xmlns:a16="http://schemas.microsoft.com/office/drawing/2014/main" id="{8C3B2E61-837A-40EF-900F-70257111CD57}"/>
              </a:ext>
            </a:extLst>
          </p:cNvPr>
          <p:cNvSpPr>
            <a:spLocks/>
          </p:cNvSpPr>
          <p:nvPr/>
        </p:nvSpPr>
        <p:spPr bwMode="auto">
          <a:xfrm>
            <a:off x="7781925" y="1978025"/>
            <a:ext cx="1182688" cy="1258888"/>
          </a:xfrm>
          <a:custGeom>
            <a:avLst/>
            <a:gdLst>
              <a:gd name="T0" fmla="*/ 2147483646 w 1490"/>
              <a:gd name="T1" fmla="*/ 2147483646 h 1586"/>
              <a:gd name="T2" fmla="*/ 2147483646 w 1490"/>
              <a:gd name="T3" fmla="*/ 2147483646 h 1586"/>
              <a:gd name="T4" fmla="*/ 2147483646 w 1490"/>
              <a:gd name="T5" fmla="*/ 2147483646 h 1586"/>
              <a:gd name="T6" fmla="*/ 2147483646 w 1490"/>
              <a:gd name="T7" fmla="*/ 2147483646 h 1586"/>
              <a:gd name="T8" fmla="*/ 2147483646 w 1490"/>
              <a:gd name="T9" fmla="*/ 2147483646 h 1586"/>
              <a:gd name="T10" fmla="*/ 2147483646 w 1490"/>
              <a:gd name="T11" fmla="*/ 2147483646 h 1586"/>
              <a:gd name="T12" fmla="*/ 2147483646 w 1490"/>
              <a:gd name="T13" fmla="*/ 2147483646 h 1586"/>
              <a:gd name="T14" fmla="*/ 2147483646 w 1490"/>
              <a:gd name="T15" fmla="*/ 2147483646 h 1586"/>
              <a:gd name="T16" fmla="*/ 2147483646 w 1490"/>
              <a:gd name="T17" fmla="*/ 2147483646 h 1586"/>
              <a:gd name="T18" fmla="*/ 2147483646 w 1490"/>
              <a:gd name="T19" fmla="*/ 2147483646 h 1586"/>
              <a:gd name="T20" fmla="*/ 2147483646 w 1490"/>
              <a:gd name="T21" fmla="*/ 2147483646 h 1586"/>
              <a:gd name="T22" fmla="*/ 2147483646 w 1490"/>
              <a:gd name="T23" fmla="*/ 2147483646 h 1586"/>
              <a:gd name="T24" fmla="*/ 2147483646 w 1490"/>
              <a:gd name="T25" fmla="*/ 2147483646 h 1586"/>
              <a:gd name="T26" fmla="*/ 0 w 1490"/>
              <a:gd name="T27" fmla="*/ 2147483646 h 1586"/>
              <a:gd name="T28" fmla="*/ 2147483646 w 1490"/>
              <a:gd name="T29" fmla="*/ 2147483646 h 1586"/>
              <a:gd name="T30" fmla="*/ 2147483646 w 1490"/>
              <a:gd name="T31" fmla="*/ 2147483646 h 1586"/>
              <a:gd name="T32" fmla="*/ 2147483646 w 1490"/>
              <a:gd name="T33" fmla="*/ 2147483646 h 1586"/>
              <a:gd name="T34" fmla="*/ 2147483646 w 1490"/>
              <a:gd name="T35" fmla="*/ 2147483646 h 1586"/>
              <a:gd name="T36" fmla="*/ 2147483646 w 1490"/>
              <a:gd name="T37" fmla="*/ 2147483646 h 1586"/>
              <a:gd name="T38" fmla="*/ 2147483646 w 1490"/>
              <a:gd name="T39" fmla="*/ 2147483646 h 1586"/>
              <a:gd name="T40" fmla="*/ 2147483646 w 1490"/>
              <a:gd name="T41" fmla="*/ 2147483646 h 1586"/>
              <a:gd name="T42" fmla="*/ 2147483646 w 1490"/>
              <a:gd name="T43" fmla="*/ 2147483646 h 1586"/>
              <a:gd name="T44" fmla="*/ 2147483646 w 1490"/>
              <a:gd name="T45" fmla="*/ 2147483646 h 1586"/>
              <a:gd name="T46" fmla="*/ 2147483646 w 1490"/>
              <a:gd name="T47" fmla="*/ 2147483646 h 1586"/>
              <a:gd name="T48" fmla="*/ 2147483646 w 1490"/>
              <a:gd name="T49" fmla="*/ 2147483646 h 1586"/>
              <a:gd name="T50" fmla="*/ 2147483646 w 1490"/>
              <a:gd name="T51" fmla="*/ 2147483646 h 1586"/>
              <a:gd name="T52" fmla="*/ 2147483646 w 1490"/>
              <a:gd name="T53" fmla="*/ 2147483646 h 1586"/>
              <a:gd name="T54" fmla="*/ 2147483646 w 1490"/>
              <a:gd name="T55" fmla="*/ 0 h 1586"/>
              <a:gd name="T56" fmla="*/ 2147483646 w 1490"/>
              <a:gd name="T57" fmla="*/ 2147483646 h 1586"/>
              <a:gd name="T58" fmla="*/ 2147483646 w 1490"/>
              <a:gd name="T59" fmla="*/ 2147483646 h 1586"/>
              <a:gd name="T60" fmla="*/ 2147483646 w 1490"/>
              <a:gd name="T61" fmla="*/ 2147483646 h 1586"/>
              <a:gd name="T62" fmla="*/ 2147483646 w 1490"/>
              <a:gd name="T63" fmla="*/ 2147483646 h 1586"/>
              <a:gd name="T64" fmla="*/ 2147483646 w 1490"/>
              <a:gd name="T65" fmla="*/ 2147483646 h 1586"/>
              <a:gd name="T66" fmla="*/ 2147483646 w 1490"/>
              <a:gd name="T67" fmla="*/ 2147483646 h 1586"/>
              <a:gd name="T68" fmla="*/ 2147483646 w 1490"/>
              <a:gd name="T69" fmla="*/ 2147483646 h 1586"/>
              <a:gd name="T70" fmla="*/ 2147483646 w 1490"/>
              <a:gd name="T71" fmla="*/ 2147483646 h 1586"/>
              <a:gd name="T72" fmla="*/ 2147483646 w 1490"/>
              <a:gd name="T73" fmla="*/ 2147483646 h 1586"/>
              <a:gd name="T74" fmla="*/ 2147483646 w 1490"/>
              <a:gd name="T75" fmla="*/ 2147483646 h 1586"/>
              <a:gd name="T76" fmla="*/ 2147483646 w 1490"/>
              <a:gd name="T77" fmla="*/ 2147483646 h 1586"/>
              <a:gd name="T78" fmla="*/ 2147483646 w 1490"/>
              <a:gd name="T79" fmla="*/ 2147483646 h 1586"/>
              <a:gd name="T80" fmla="*/ 2147483646 w 1490"/>
              <a:gd name="T81" fmla="*/ 2147483646 h 1586"/>
              <a:gd name="T82" fmla="*/ 2147483646 w 1490"/>
              <a:gd name="T83" fmla="*/ 2147483646 h 1586"/>
              <a:gd name="T84" fmla="*/ 2147483646 w 1490"/>
              <a:gd name="T85" fmla="*/ 2147483646 h 1586"/>
              <a:gd name="T86" fmla="*/ 2147483646 w 1490"/>
              <a:gd name="T87" fmla="*/ 2147483646 h 1586"/>
              <a:gd name="T88" fmla="*/ 2147483646 w 1490"/>
              <a:gd name="T89" fmla="*/ 2147483646 h 1586"/>
              <a:gd name="T90" fmla="*/ 2147483646 w 1490"/>
              <a:gd name="T91" fmla="*/ 2147483646 h 1586"/>
              <a:gd name="T92" fmla="*/ 2147483646 w 1490"/>
              <a:gd name="T93" fmla="*/ 2147483646 h 1586"/>
              <a:gd name="T94" fmla="*/ 2147483646 w 1490"/>
              <a:gd name="T95" fmla="*/ 2147483646 h 1586"/>
              <a:gd name="T96" fmla="*/ 2147483646 w 1490"/>
              <a:gd name="T97" fmla="*/ 2147483646 h 1586"/>
              <a:gd name="T98" fmla="*/ 2147483646 w 1490"/>
              <a:gd name="T99" fmla="*/ 2147483646 h 1586"/>
              <a:gd name="T100" fmla="*/ 2147483646 w 1490"/>
              <a:gd name="T101" fmla="*/ 2147483646 h 1586"/>
              <a:gd name="T102" fmla="*/ 2147483646 w 1490"/>
              <a:gd name="T103" fmla="*/ 2147483646 h 1586"/>
              <a:gd name="T104" fmla="*/ 2147483646 w 1490"/>
              <a:gd name="T105" fmla="*/ 2147483646 h 1586"/>
              <a:gd name="T106" fmla="*/ 2147483646 w 1490"/>
              <a:gd name="T107" fmla="*/ 2147483646 h 1586"/>
              <a:gd name="T108" fmla="*/ 2147483646 w 1490"/>
              <a:gd name="T109" fmla="*/ 2147483646 h 1586"/>
              <a:gd name="T110" fmla="*/ 2147483646 w 1490"/>
              <a:gd name="T111" fmla="*/ 2147483646 h 158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90"/>
              <a:gd name="T169" fmla="*/ 0 h 1586"/>
              <a:gd name="T170" fmla="*/ 1490 w 1490"/>
              <a:gd name="T171" fmla="*/ 1586 h 158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90" h="1586">
                <a:moveTo>
                  <a:pt x="745" y="1586"/>
                </a:moveTo>
                <a:lnTo>
                  <a:pt x="726" y="1586"/>
                </a:lnTo>
                <a:lnTo>
                  <a:pt x="707" y="1584"/>
                </a:lnTo>
                <a:lnTo>
                  <a:pt x="688" y="1583"/>
                </a:lnTo>
                <a:lnTo>
                  <a:pt x="669" y="1581"/>
                </a:lnTo>
                <a:lnTo>
                  <a:pt x="649" y="1578"/>
                </a:lnTo>
                <a:lnTo>
                  <a:pt x="632" y="1577"/>
                </a:lnTo>
                <a:lnTo>
                  <a:pt x="613" y="1573"/>
                </a:lnTo>
                <a:lnTo>
                  <a:pt x="595" y="1570"/>
                </a:lnTo>
                <a:lnTo>
                  <a:pt x="576" y="1565"/>
                </a:lnTo>
                <a:lnTo>
                  <a:pt x="559" y="1561"/>
                </a:lnTo>
                <a:lnTo>
                  <a:pt x="541" y="1555"/>
                </a:lnTo>
                <a:lnTo>
                  <a:pt x="523" y="1549"/>
                </a:lnTo>
                <a:lnTo>
                  <a:pt x="506" y="1543"/>
                </a:lnTo>
                <a:lnTo>
                  <a:pt x="488" y="1537"/>
                </a:lnTo>
                <a:lnTo>
                  <a:pt x="472" y="1530"/>
                </a:lnTo>
                <a:lnTo>
                  <a:pt x="454" y="1523"/>
                </a:lnTo>
                <a:lnTo>
                  <a:pt x="438" y="1516"/>
                </a:lnTo>
                <a:lnTo>
                  <a:pt x="422" y="1507"/>
                </a:lnTo>
                <a:lnTo>
                  <a:pt x="406" y="1498"/>
                </a:lnTo>
                <a:lnTo>
                  <a:pt x="390" y="1489"/>
                </a:lnTo>
                <a:lnTo>
                  <a:pt x="374" y="1480"/>
                </a:lnTo>
                <a:lnTo>
                  <a:pt x="359" y="1470"/>
                </a:lnTo>
                <a:lnTo>
                  <a:pt x="343" y="1460"/>
                </a:lnTo>
                <a:lnTo>
                  <a:pt x="328" y="1450"/>
                </a:lnTo>
                <a:lnTo>
                  <a:pt x="314" y="1439"/>
                </a:lnTo>
                <a:lnTo>
                  <a:pt x="299" y="1428"/>
                </a:lnTo>
                <a:lnTo>
                  <a:pt x="271" y="1404"/>
                </a:lnTo>
                <a:lnTo>
                  <a:pt x="243" y="1379"/>
                </a:lnTo>
                <a:lnTo>
                  <a:pt x="218" y="1353"/>
                </a:lnTo>
                <a:lnTo>
                  <a:pt x="194" y="1325"/>
                </a:lnTo>
                <a:lnTo>
                  <a:pt x="170" y="1296"/>
                </a:lnTo>
                <a:lnTo>
                  <a:pt x="148" y="1267"/>
                </a:lnTo>
                <a:lnTo>
                  <a:pt x="128" y="1236"/>
                </a:lnTo>
                <a:lnTo>
                  <a:pt x="108" y="1204"/>
                </a:lnTo>
                <a:lnTo>
                  <a:pt x="98" y="1188"/>
                </a:lnTo>
                <a:lnTo>
                  <a:pt x="89" y="1170"/>
                </a:lnTo>
                <a:lnTo>
                  <a:pt x="82" y="1153"/>
                </a:lnTo>
                <a:lnTo>
                  <a:pt x="73" y="1137"/>
                </a:lnTo>
                <a:lnTo>
                  <a:pt x="66" y="1119"/>
                </a:lnTo>
                <a:lnTo>
                  <a:pt x="59" y="1101"/>
                </a:lnTo>
                <a:lnTo>
                  <a:pt x="51" y="1082"/>
                </a:lnTo>
                <a:lnTo>
                  <a:pt x="45" y="1065"/>
                </a:lnTo>
                <a:lnTo>
                  <a:pt x="40" y="1047"/>
                </a:lnTo>
                <a:lnTo>
                  <a:pt x="34" y="1028"/>
                </a:lnTo>
                <a:lnTo>
                  <a:pt x="28" y="1009"/>
                </a:lnTo>
                <a:lnTo>
                  <a:pt x="23" y="990"/>
                </a:lnTo>
                <a:lnTo>
                  <a:pt x="19" y="971"/>
                </a:lnTo>
                <a:lnTo>
                  <a:pt x="15" y="952"/>
                </a:lnTo>
                <a:lnTo>
                  <a:pt x="12" y="933"/>
                </a:lnTo>
                <a:lnTo>
                  <a:pt x="9" y="913"/>
                </a:lnTo>
                <a:lnTo>
                  <a:pt x="6" y="894"/>
                </a:lnTo>
                <a:lnTo>
                  <a:pt x="4" y="873"/>
                </a:lnTo>
                <a:lnTo>
                  <a:pt x="1" y="853"/>
                </a:lnTo>
                <a:lnTo>
                  <a:pt x="1" y="834"/>
                </a:lnTo>
                <a:lnTo>
                  <a:pt x="0" y="813"/>
                </a:lnTo>
                <a:lnTo>
                  <a:pt x="0" y="793"/>
                </a:lnTo>
                <a:lnTo>
                  <a:pt x="0" y="772"/>
                </a:lnTo>
                <a:lnTo>
                  <a:pt x="1" y="752"/>
                </a:lnTo>
                <a:lnTo>
                  <a:pt x="3" y="731"/>
                </a:lnTo>
                <a:lnTo>
                  <a:pt x="4" y="711"/>
                </a:lnTo>
                <a:lnTo>
                  <a:pt x="6" y="692"/>
                </a:lnTo>
                <a:lnTo>
                  <a:pt x="9" y="671"/>
                </a:lnTo>
                <a:lnTo>
                  <a:pt x="12" y="652"/>
                </a:lnTo>
                <a:lnTo>
                  <a:pt x="15" y="633"/>
                </a:lnTo>
                <a:lnTo>
                  <a:pt x="19" y="613"/>
                </a:lnTo>
                <a:lnTo>
                  <a:pt x="23" y="594"/>
                </a:lnTo>
                <a:lnTo>
                  <a:pt x="28" y="575"/>
                </a:lnTo>
                <a:lnTo>
                  <a:pt x="34" y="557"/>
                </a:lnTo>
                <a:lnTo>
                  <a:pt x="40" y="538"/>
                </a:lnTo>
                <a:lnTo>
                  <a:pt x="45" y="519"/>
                </a:lnTo>
                <a:lnTo>
                  <a:pt x="51" y="502"/>
                </a:lnTo>
                <a:lnTo>
                  <a:pt x="59" y="484"/>
                </a:lnTo>
                <a:lnTo>
                  <a:pt x="66" y="466"/>
                </a:lnTo>
                <a:lnTo>
                  <a:pt x="73" y="449"/>
                </a:lnTo>
                <a:lnTo>
                  <a:pt x="82" y="431"/>
                </a:lnTo>
                <a:lnTo>
                  <a:pt x="89" y="415"/>
                </a:lnTo>
                <a:lnTo>
                  <a:pt x="98" y="398"/>
                </a:lnTo>
                <a:lnTo>
                  <a:pt x="108" y="382"/>
                </a:lnTo>
                <a:lnTo>
                  <a:pt x="128" y="349"/>
                </a:lnTo>
                <a:lnTo>
                  <a:pt x="148" y="319"/>
                </a:lnTo>
                <a:lnTo>
                  <a:pt x="170" y="288"/>
                </a:lnTo>
                <a:lnTo>
                  <a:pt x="194" y="259"/>
                </a:lnTo>
                <a:lnTo>
                  <a:pt x="218" y="232"/>
                </a:lnTo>
                <a:lnTo>
                  <a:pt x="243" y="206"/>
                </a:lnTo>
                <a:lnTo>
                  <a:pt x="271" y="181"/>
                </a:lnTo>
                <a:lnTo>
                  <a:pt x="299" y="158"/>
                </a:lnTo>
                <a:lnTo>
                  <a:pt x="314" y="146"/>
                </a:lnTo>
                <a:lnTo>
                  <a:pt x="328" y="134"/>
                </a:lnTo>
                <a:lnTo>
                  <a:pt x="343" y="124"/>
                </a:lnTo>
                <a:lnTo>
                  <a:pt x="359" y="114"/>
                </a:lnTo>
                <a:lnTo>
                  <a:pt x="374" y="105"/>
                </a:lnTo>
                <a:lnTo>
                  <a:pt x="390" y="95"/>
                </a:lnTo>
                <a:lnTo>
                  <a:pt x="406" y="86"/>
                </a:lnTo>
                <a:lnTo>
                  <a:pt x="422" y="77"/>
                </a:lnTo>
                <a:lnTo>
                  <a:pt x="438" y="70"/>
                </a:lnTo>
                <a:lnTo>
                  <a:pt x="454" y="63"/>
                </a:lnTo>
                <a:lnTo>
                  <a:pt x="472" y="55"/>
                </a:lnTo>
                <a:lnTo>
                  <a:pt x="488" y="48"/>
                </a:lnTo>
                <a:lnTo>
                  <a:pt x="506" y="41"/>
                </a:lnTo>
                <a:lnTo>
                  <a:pt x="523" y="35"/>
                </a:lnTo>
                <a:lnTo>
                  <a:pt x="541" y="29"/>
                </a:lnTo>
                <a:lnTo>
                  <a:pt x="559" y="25"/>
                </a:lnTo>
                <a:lnTo>
                  <a:pt x="576" y="20"/>
                </a:lnTo>
                <a:lnTo>
                  <a:pt x="595" y="16"/>
                </a:lnTo>
                <a:lnTo>
                  <a:pt x="613" y="11"/>
                </a:lnTo>
                <a:lnTo>
                  <a:pt x="632" y="8"/>
                </a:lnTo>
                <a:lnTo>
                  <a:pt x="649" y="6"/>
                </a:lnTo>
                <a:lnTo>
                  <a:pt x="669" y="4"/>
                </a:lnTo>
                <a:lnTo>
                  <a:pt x="688" y="1"/>
                </a:lnTo>
                <a:lnTo>
                  <a:pt x="707" y="1"/>
                </a:lnTo>
                <a:lnTo>
                  <a:pt x="726" y="0"/>
                </a:lnTo>
                <a:lnTo>
                  <a:pt x="745" y="0"/>
                </a:lnTo>
                <a:lnTo>
                  <a:pt x="764" y="0"/>
                </a:lnTo>
                <a:lnTo>
                  <a:pt x="783" y="1"/>
                </a:lnTo>
                <a:lnTo>
                  <a:pt x="802" y="3"/>
                </a:lnTo>
                <a:lnTo>
                  <a:pt x="821" y="4"/>
                </a:lnTo>
                <a:lnTo>
                  <a:pt x="840" y="6"/>
                </a:lnTo>
                <a:lnTo>
                  <a:pt x="858" y="8"/>
                </a:lnTo>
                <a:lnTo>
                  <a:pt x="877" y="11"/>
                </a:lnTo>
                <a:lnTo>
                  <a:pt x="894" y="16"/>
                </a:lnTo>
                <a:lnTo>
                  <a:pt x="913" y="20"/>
                </a:lnTo>
                <a:lnTo>
                  <a:pt x="931" y="25"/>
                </a:lnTo>
                <a:lnTo>
                  <a:pt x="949" y="30"/>
                </a:lnTo>
                <a:lnTo>
                  <a:pt x="966" y="35"/>
                </a:lnTo>
                <a:lnTo>
                  <a:pt x="984" y="41"/>
                </a:lnTo>
                <a:lnTo>
                  <a:pt x="1001" y="48"/>
                </a:lnTo>
                <a:lnTo>
                  <a:pt x="1017" y="55"/>
                </a:lnTo>
                <a:lnTo>
                  <a:pt x="1035" y="63"/>
                </a:lnTo>
                <a:lnTo>
                  <a:pt x="1051" y="70"/>
                </a:lnTo>
                <a:lnTo>
                  <a:pt x="1067" y="77"/>
                </a:lnTo>
                <a:lnTo>
                  <a:pt x="1083" y="86"/>
                </a:lnTo>
                <a:lnTo>
                  <a:pt x="1100" y="95"/>
                </a:lnTo>
                <a:lnTo>
                  <a:pt x="1116" y="105"/>
                </a:lnTo>
                <a:lnTo>
                  <a:pt x="1132" y="114"/>
                </a:lnTo>
                <a:lnTo>
                  <a:pt x="1146" y="124"/>
                </a:lnTo>
                <a:lnTo>
                  <a:pt x="1161" y="136"/>
                </a:lnTo>
                <a:lnTo>
                  <a:pt x="1176" y="146"/>
                </a:lnTo>
                <a:lnTo>
                  <a:pt x="1190" y="158"/>
                </a:lnTo>
                <a:lnTo>
                  <a:pt x="1218" y="181"/>
                </a:lnTo>
                <a:lnTo>
                  <a:pt x="1246" y="206"/>
                </a:lnTo>
                <a:lnTo>
                  <a:pt x="1271" y="232"/>
                </a:lnTo>
                <a:lnTo>
                  <a:pt x="1296" y="259"/>
                </a:lnTo>
                <a:lnTo>
                  <a:pt x="1319" y="288"/>
                </a:lnTo>
                <a:lnTo>
                  <a:pt x="1341" y="319"/>
                </a:lnTo>
                <a:lnTo>
                  <a:pt x="1362" y="349"/>
                </a:lnTo>
                <a:lnTo>
                  <a:pt x="1383" y="382"/>
                </a:lnTo>
                <a:lnTo>
                  <a:pt x="1391" y="398"/>
                </a:lnTo>
                <a:lnTo>
                  <a:pt x="1400" y="415"/>
                </a:lnTo>
                <a:lnTo>
                  <a:pt x="1407" y="431"/>
                </a:lnTo>
                <a:lnTo>
                  <a:pt x="1416" y="449"/>
                </a:lnTo>
                <a:lnTo>
                  <a:pt x="1424" y="466"/>
                </a:lnTo>
                <a:lnTo>
                  <a:pt x="1431" y="484"/>
                </a:lnTo>
                <a:lnTo>
                  <a:pt x="1438" y="502"/>
                </a:lnTo>
                <a:lnTo>
                  <a:pt x="1444" y="519"/>
                </a:lnTo>
                <a:lnTo>
                  <a:pt x="1450" y="538"/>
                </a:lnTo>
                <a:lnTo>
                  <a:pt x="1456" y="557"/>
                </a:lnTo>
                <a:lnTo>
                  <a:pt x="1462" y="575"/>
                </a:lnTo>
                <a:lnTo>
                  <a:pt x="1466" y="594"/>
                </a:lnTo>
                <a:lnTo>
                  <a:pt x="1470" y="613"/>
                </a:lnTo>
                <a:lnTo>
                  <a:pt x="1475" y="633"/>
                </a:lnTo>
                <a:lnTo>
                  <a:pt x="1478" y="652"/>
                </a:lnTo>
                <a:lnTo>
                  <a:pt x="1481" y="671"/>
                </a:lnTo>
                <a:lnTo>
                  <a:pt x="1484" y="692"/>
                </a:lnTo>
                <a:lnTo>
                  <a:pt x="1485" y="711"/>
                </a:lnTo>
                <a:lnTo>
                  <a:pt x="1488" y="731"/>
                </a:lnTo>
                <a:lnTo>
                  <a:pt x="1488" y="752"/>
                </a:lnTo>
                <a:lnTo>
                  <a:pt x="1490" y="772"/>
                </a:lnTo>
                <a:lnTo>
                  <a:pt x="1490" y="793"/>
                </a:lnTo>
                <a:lnTo>
                  <a:pt x="1490" y="813"/>
                </a:lnTo>
                <a:lnTo>
                  <a:pt x="1488" y="834"/>
                </a:lnTo>
                <a:lnTo>
                  <a:pt x="1488" y="853"/>
                </a:lnTo>
                <a:lnTo>
                  <a:pt x="1485" y="873"/>
                </a:lnTo>
                <a:lnTo>
                  <a:pt x="1484" y="894"/>
                </a:lnTo>
                <a:lnTo>
                  <a:pt x="1481" y="913"/>
                </a:lnTo>
                <a:lnTo>
                  <a:pt x="1478" y="933"/>
                </a:lnTo>
                <a:lnTo>
                  <a:pt x="1475" y="952"/>
                </a:lnTo>
                <a:lnTo>
                  <a:pt x="1470" y="971"/>
                </a:lnTo>
                <a:lnTo>
                  <a:pt x="1466" y="990"/>
                </a:lnTo>
                <a:lnTo>
                  <a:pt x="1462" y="1009"/>
                </a:lnTo>
                <a:lnTo>
                  <a:pt x="1456" y="1028"/>
                </a:lnTo>
                <a:lnTo>
                  <a:pt x="1450" y="1047"/>
                </a:lnTo>
                <a:lnTo>
                  <a:pt x="1444" y="1065"/>
                </a:lnTo>
                <a:lnTo>
                  <a:pt x="1438" y="1082"/>
                </a:lnTo>
                <a:lnTo>
                  <a:pt x="1431" y="1101"/>
                </a:lnTo>
                <a:lnTo>
                  <a:pt x="1424" y="1119"/>
                </a:lnTo>
                <a:lnTo>
                  <a:pt x="1416" y="1137"/>
                </a:lnTo>
                <a:lnTo>
                  <a:pt x="1407" y="1153"/>
                </a:lnTo>
                <a:lnTo>
                  <a:pt x="1400" y="1170"/>
                </a:lnTo>
                <a:lnTo>
                  <a:pt x="1391" y="1188"/>
                </a:lnTo>
                <a:lnTo>
                  <a:pt x="1383" y="1204"/>
                </a:lnTo>
                <a:lnTo>
                  <a:pt x="1362" y="1236"/>
                </a:lnTo>
                <a:lnTo>
                  <a:pt x="1341" y="1267"/>
                </a:lnTo>
                <a:lnTo>
                  <a:pt x="1319" y="1296"/>
                </a:lnTo>
                <a:lnTo>
                  <a:pt x="1296" y="1325"/>
                </a:lnTo>
                <a:lnTo>
                  <a:pt x="1271" y="1353"/>
                </a:lnTo>
                <a:lnTo>
                  <a:pt x="1246" y="1379"/>
                </a:lnTo>
                <a:lnTo>
                  <a:pt x="1218" y="1404"/>
                </a:lnTo>
                <a:lnTo>
                  <a:pt x="1190" y="1428"/>
                </a:lnTo>
                <a:lnTo>
                  <a:pt x="1176" y="1439"/>
                </a:lnTo>
                <a:lnTo>
                  <a:pt x="1161" y="1450"/>
                </a:lnTo>
                <a:lnTo>
                  <a:pt x="1146" y="1460"/>
                </a:lnTo>
                <a:lnTo>
                  <a:pt x="1130" y="1470"/>
                </a:lnTo>
                <a:lnTo>
                  <a:pt x="1116" y="1480"/>
                </a:lnTo>
                <a:lnTo>
                  <a:pt x="1100" y="1489"/>
                </a:lnTo>
                <a:lnTo>
                  <a:pt x="1083" y="1498"/>
                </a:lnTo>
                <a:lnTo>
                  <a:pt x="1067" y="1507"/>
                </a:lnTo>
                <a:lnTo>
                  <a:pt x="1051" y="1516"/>
                </a:lnTo>
                <a:lnTo>
                  <a:pt x="1035" y="1523"/>
                </a:lnTo>
                <a:lnTo>
                  <a:pt x="1017" y="1530"/>
                </a:lnTo>
                <a:lnTo>
                  <a:pt x="1001" y="1537"/>
                </a:lnTo>
                <a:lnTo>
                  <a:pt x="984" y="1543"/>
                </a:lnTo>
                <a:lnTo>
                  <a:pt x="966" y="1549"/>
                </a:lnTo>
                <a:lnTo>
                  <a:pt x="949" y="1555"/>
                </a:lnTo>
                <a:lnTo>
                  <a:pt x="931" y="1561"/>
                </a:lnTo>
                <a:lnTo>
                  <a:pt x="913" y="1565"/>
                </a:lnTo>
                <a:lnTo>
                  <a:pt x="894" y="1570"/>
                </a:lnTo>
                <a:lnTo>
                  <a:pt x="877" y="1573"/>
                </a:lnTo>
                <a:lnTo>
                  <a:pt x="858" y="1576"/>
                </a:lnTo>
                <a:lnTo>
                  <a:pt x="840" y="1578"/>
                </a:lnTo>
                <a:lnTo>
                  <a:pt x="821" y="1581"/>
                </a:lnTo>
                <a:lnTo>
                  <a:pt x="802" y="1583"/>
                </a:lnTo>
                <a:lnTo>
                  <a:pt x="783" y="1584"/>
                </a:lnTo>
                <a:lnTo>
                  <a:pt x="764" y="1584"/>
                </a:lnTo>
                <a:lnTo>
                  <a:pt x="745" y="1586"/>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84" name="Freeform 30">
            <a:extLst>
              <a:ext uri="{FF2B5EF4-FFF2-40B4-BE49-F238E27FC236}">
                <a16:creationId xmlns:a16="http://schemas.microsoft.com/office/drawing/2014/main" id="{13C150DC-E8EB-442C-8207-0484693F20C7}"/>
              </a:ext>
            </a:extLst>
          </p:cNvPr>
          <p:cNvSpPr>
            <a:spLocks/>
          </p:cNvSpPr>
          <p:nvPr/>
        </p:nvSpPr>
        <p:spPr bwMode="auto">
          <a:xfrm>
            <a:off x="7781925" y="1978025"/>
            <a:ext cx="1182688" cy="1258888"/>
          </a:xfrm>
          <a:custGeom>
            <a:avLst/>
            <a:gdLst>
              <a:gd name="T0" fmla="*/ 2147483646 w 1490"/>
              <a:gd name="T1" fmla="*/ 2147483646 h 1586"/>
              <a:gd name="T2" fmla="*/ 2147483646 w 1490"/>
              <a:gd name="T3" fmla="*/ 2147483646 h 1586"/>
              <a:gd name="T4" fmla="*/ 2147483646 w 1490"/>
              <a:gd name="T5" fmla="*/ 2147483646 h 1586"/>
              <a:gd name="T6" fmla="*/ 2147483646 w 1490"/>
              <a:gd name="T7" fmla="*/ 2147483646 h 1586"/>
              <a:gd name="T8" fmla="*/ 2147483646 w 1490"/>
              <a:gd name="T9" fmla="*/ 2147483646 h 1586"/>
              <a:gd name="T10" fmla="*/ 2147483646 w 1490"/>
              <a:gd name="T11" fmla="*/ 2147483646 h 1586"/>
              <a:gd name="T12" fmla="*/ 2147483646 w 1490"/>
              <a:gd name="T13" fmla="*/ 2147483646 h 1586"/>
              <a:gd name="T14" fmla="*/ 2147483646 w 1490"/>
              <a:gd name="T15" fmla="*/ 2147483646 h 1586"/>
              <a:gd name="T16" fmla="*/ 2147483646 w 1490"/>
              <a:gd name="T17" fmla="*/ 2147483646 h 1586"/>
              <a:gd name="T18" fmla="*/ 2147483646 w 1490"/>
              <a:gd name="T19" fmla="*/ 2147483646 h 1586"/>
              <a:gd name="T20" fmla="*/ 2147483646 w 1490"/>
              <a:gd name="T21" fmla="*/ 2147483646 h 1586"/>
              <a:gd name="T22" fmla="*/ 2147483646 w 1490"/>
              <a:gd name="T23" fmla="*/ 2147483646 h 1586"/>
              <a:gd name="T24" fmla="*/ 2147483646 w 1490"/>
              <a:gd name="T25" fmla="*/ 2147483646 h 1586"/>
              <a:gd name="T26" fmla="*/ 0 w 1490"/>
              <a:gd name="T27" fmla="*/ 2147483646 h 1586"/>
              <a:gd name="T28" fmla="*/ 2147483646 w 1490"/>
              <a:gd name="T29" fmla="*/ 2147483646 h 1586"/>
              <a:gd name="T30" fmla="*/ 2147483646 w 1490"/>
              <a:gd name="T31" fmla="*/ 2147483646 h 1586"/>
              <a:gd name="T32" fmla="*/ 2147483646 w 1490"/>
              <a:gd name="T33" fmla="*/ 2147483646 h 1586"/>
              <a:gd name="T34" fmla="*/ 2147483646 w 1490"/>
              <a:gd name="T35" fmla="*/ 2147483646 h 1586"/>
              <a:gd name="T36" fmla="*/ 2147483646 w 1490"/>
              <a:gd name="T37" fmla="*/ 2147483646 h 1586"/>
              <a:gd name="T38" fmla="*/ 2147483646 w 1490"/>
              <a:gd name="T39" fmla="*/ 2147483646 h 1586"/>
              <a:gd name="T40" fmla="*/ 2147483646 w 1490"/>
              <a:gd name="T41" fmla="*/ 2147483646 h 1586"/>
              <a:gd name="T42" fmla="*/ 2147483646 w 1490"/>
              <a:gd name="T43" fmla="*/ 2147483646 h 1586"/>
              <a:gd name="T44" fmla="*/ 2147483646 w 1490"/>
              <a:gd name="T45" fmla="*/ 2147483646 h 1586"/>
              <a:gd name="T46" fmla="*/ 2147483646 w 1490"/>
              <a:gd name="T47" fmla="*/ 2147483646 h 1586"/>
              <a:gd name="T48" fmla="*/ 2147483646 w 1490"/>
              <a:gd name="T49" fmla="*/ 2147483646 h 1586"/>
              <a:gd name="T50" fmla="*/ 2147483646 w 1490"/>
              <a:gd name="T51" fmla="*/ 2147483646 h 1586"/>
              <a:gd name="T52" fmla="*/ 2147483646 w 1490"/>
              <a:gd name="T53" fmla="*/ 2147483646 h 1586"/>
              <a:gd name="T54" fmla="*/ 2147483646 w 1490"/>
              <a:gd name="T55" fmla="*/ 0 h 1586"/>
              <a:gd name="T56" fmla="*/ 2147483646 w 1490"/>
              <a:gd name="T57" fmla="*/ 2147483646 h 1586"/>
              <a:gd name="T58" fmla="*/ 2147483646 w 1490"/>
              <a:gd name="T59" fmla="*/ 2147483646 h 1586"/>
              <a:gd name="T60" fmla="*/ 2147483646 w 1490"/>
              <a:gd name="T61" fmla="*/ 2147483646 h 1586"/>
              <a:gd name="T62" fmla="*/ 2147483646 w 1490"/>
              <a:gd name="T63" fmla="*/ 2147483646 h 1586"/>
              <a:gd name="T64" fmla="*/ 2147483646 w 1490"/>
              <a:gd name="T65" fmla="*/ 2147483646 h 1586"/>
              <a:gd name="T66" fmla="*/ 2147483646 w 1490"/>
              <a:gd name="T67" fmla="*/ 2147483646 h 1586"/>
              <a:gd name="T68" fmla="*/ 2147483646 w 1490"/>
              <a:gd name="T69" fmla="*/ 2147483646 h 1586"/>
              <a:gd name="T70" fmla="*/ 2147483646 w 1490"/>
              <a:gd name="T71" fmla="*/ 2147483646 h 1586"/>
              <a:gd name="T72" fmla="*/ 2147483646 w 1490"/>
              <a:gd name="T73" fmla="*/ 2147483646 h 1586"/>
              <a:gd name="T74" fmla="*/ 2147483646 w 1490"/>
              <a:gd name="T75" fmla="*/ 2147483646 h 1586"/>
              <a:gd name="T76" fmla="*/ 2147483646 w 1490"/>
              <a:gd name="T77" fmla="*/ 2147483646 h 1586"/>
              <a:gd name="T78" fmla="*/ 2147483646 w 1490"/>
              <a:gd name="T79" fmla="*/ 2147483646 h 1586"/>
              <a:gd name="T80" fmla="*/ 2147483646 w 1490"/>
              <a:gd name="T81" fmla="*/ 2147483646 h 1586"/>
              <a:gd name="T82" fmla="*/ 2147483646 w 1490"/>
              <a:gd name="T83" fmla="*/ 2147483646 h 1586"/>
              <a:gd name="T84" fmla="*/ 2147483646 w 1490"/>
              <a:gd name="T85" fmla="*/ 2147483646 h 1586"/>
              <a:gd name="T86" fmla="*/ 2147483646 w 1490"/>
              <a:gd name="T87" fmla="*/ 2147483646 h 1586"/>
              <a:gd name="T88" fmla="*/ 2147483646 w 1490"/>
              <a:gd name="T89" fmla="*/ 2147483646 h 1586"/>
              <a:gd name="T90" fmla="*/ 2147483646 w 1490"/>
              <a:gd name="T91" fmla="*/ 2147483646 h 1586"/>
              <a:gd name="T92" fmla="*/ 2147483646 w 1490"/>
              <a:gd name="T93" fmla="*/ 2147483646 h 1586"/>
              <a:gd name="T94" fmla="*/ 2147483646 w 1490"/>
              <a:gd name="T95" fmla="*/ 2147483646 h 1586"/>
              <a:gd name="T96" fmla="*/ 2147483646 w 1490"/>
              <a:gd name="T97" fmla="*/ 2147483646 h 1586"/>
              <a:gd name="T98" fmla="*/ 2147483646 w 1490"/>
              <a:gd name="T99" fmla="*/ 2147483646 h 1586"/>
              <a:gd name="T100" fmla="*/ 2147483646 w 1490"/>
              <a:gd name="T101" fmla="*/ 2147483646 h 1586"/>
              <a:gd name="T102" fmla="*/ 2147483646 w 1490"/>
              <a:gd name="T103" fmla="*/ 2147483646 h 1586"/>
              <a:gd name="T104" fmla="*/ 2147483646 w 1490"/>
              <a:gd name="T105" fmla="*/ 2147483646 h 1586"/>
              <a:gd name="T106" fmla="*/ 2147483646 w 1490"/>
              <a:gd name="T107" fmla="*/ 2147483646 h 1586"/>
              <a:gd name="T108" fmla="*/ 2147483646 w 1490"/>
              <a:gd name="T109" fmla="*/ 2147483646 h 1586"/>
              <a:gd name="T110" fmla="*/ 2147483646 w 1490"/>
              <a:gd name="T111" fmla="*/ 2147483646 h 158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90"/>
              <a:gd name="T169" fmla="*/ 0 h 1586"/>
              <a:gd name="T170" fmla="*/ 1490 w 1490"/>
              <a:gd name="T171" fmla="*/ 1586 h 158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90" h="1586">
                <a:moveTo>
                  <a:pt x="745" y="1586"/>
                </a:moveTo>
                <a:lnTo>
                  <a:pt x="726" y="1586"/>
                </a:lnTo>
                <a:lnTo>
                  <a:pt x="707" y="1584"/>
                </a:lnTo>
                <a:lnTo>
                  <a:pt x="688" y="1583"/>
                </a:lnTo>
                <a:lnTo>
                  <a:pt x="669" y="1581"/>
                </a:lnTo>
                <a:lnTo>
                  <a:pt x="649" y="1578"/>
                </a:lnTo>
                <a:lnTo>
                  <a:pt x="632" y="1577"/>
                </a:lnTo>
                <a:lnTo>
                  <a:pt x="613" y="1573"/>
                </a:lnTo>
                <a:lnTo>
                  <a:pt x="595" y="1570"/>
                </a:lnTo>
                <a:lnTo>
                  <a:pt x="576" y="1565"/>
                </a:lnTo>
                <a:lnTo>
                  <a:pt x="559" y="1561"/>
                </a:lnTo>
                <a:lnTo>
                  <a:pt x="541" y="1555"/>
                </a:lnTo>
                <a:lnTo>
                  <a:pt x="523" y="1549"/>
                </a:lnTo>
                <a:lnTo>
                  <a:pt x="506" y="1543"/>
                </a:lnTo>
                <a:lnTo>
                  <a:pt x="488" y="1537"/>
                </a:lnTo>
                <a:lnTo>
                  <a:pt x="472" y="1530"/>
                </a:lnTo>
                <a:lnTo>
                  <a:pt x="454" y="1523"/>
                </a:lnTo>
                <a:lnTo>
                  <a:pt x="438" y="1516"/>
                </a:lnTo>
                <a:lnTo>
                  <a:pt x="422" y="1507"/>
                </a:lnTo>
                <a:lnTo>
                  <a:pt x="406" y="1498"/>
                </a:lnTo>
                <a:lnTo>
                  <a:pt x="390" y="1489"/>
                </a:lnTo>
                <a:lnTo>
                  <a:pt x="374" y="1480"/>
                </a:lnTo>
                <a:lnTo>
                  <a:pt x="359" y="1470"/>
                </a:lnTo>
                <a:lnTo>
                  <a:pt x="343" y="1460"/>
                </a:lnTo>
                <a:lnTo>
                  <a:pt x="328" y="1450"/>
                </a:lnTo>
                <a:lnTo>
                  <a:pt x="314" y="1439"/>
                </a:lnTo>
                <a:lnTo>
                  <a:pt x="299" y="1428"/>
                </a:lnTo>
                <a:lnTo>
                  <a:pt x="271" y="1404"/>
                </a:lnTo>
                <a:lnTo>
                  <a:pt x="243" y="1379"/>
                </a:lnTo>
                <a:lnTo>
                  <a:pt x="218" y="1353"/>
                </a:lnTo>
                <a:lnTo>
                  <a:pt x="194" y="1325"/>
                </a:lnTo>
                <a:lnTo>
                  <a:pt x="170" y="1296"/>
                </a:lnTo>
                <a:lnTo>
                  <a:pt x="148" y="1267"/>
                </a:lnTo>
                <a:lnTo>
                  <a:pt x="128" y="1236"/>
                </a:lnTo>
                <a:lnTo>
                  <a:pt x="108" y="1204"/>
                </a:lnTo>
                <a:lnTo>
                  <a:pt x="98" y="1188"/>
                </a:lnTo>
                <a:lnTo>
                  <a:pt x="89" y="1170"/>
                </a:lnTo>
                <a:lnTo>
                  <a:pt x="82" y="1153"/>
                </a:lnTo>
                <a:lnTo>
                  <a:pt x="73" y="1137"/>
                </a:lnTo>
                <a:lnTo>
                  <a:pt x="66" y="1119"/>
                </a:lnTo>
                <a:lnTo>
                  <a:pt x="59" y="1101"/>
                </a:lnTo>
                <a:lnTo>
                  <a:pt x="51" y="1082"/>
                </a:lnTo>
                <a:lnTo>
                  <a:pt x="45" y="1065"/>
                </a:lnTo>
                <a:lnTo>
                  <a:pt x="40" y="1047"/>
                </a:lnTo>
                <a:lnTo>
                  <a:pt x="34" y="1028"/>
                </a:lnTo>
                <a:lnTo>
                  <a:pt x="28" y="1009"/>
                </a:lnTo>
                <a:lnTo>
                  <a:pt x="23" y="990"/>
                </a:lnTo>
                <a:lnTo>
                  <a:pt x="19" y="971"/>
                </a:lnTo>
                <a:lnTo>
                  <a:pt x="15" y="952"/>
                </a:lnTo>
                <a:lnTo>
                  <a:pt x="12" y="933"/>
                </a:lnTo>
                <a:lnTo>
                  <a:pt x="9" y="913"/>
                </a:lnTo>
                <a:lnTo>
                  <a:pt x="6" y="894"/>
                </a:lnTo>
                <a:lnTo>
                  <a:pt x="4" y="873"/>
                </a:lnTo>
                <a:lnTo>
                  <a:pt x="1" y="853"/>
                </a:lnTo>
                <a:lnTo>
                  <a:pt x="1" y="834"/>
                </a:lnTo>
                <a:lnTo>
                  <a:pt x="0" y="813"/>
                </a:lnTo>
                <a:lnTo>
                  <a:pt x="0" y="793"/>
                </a:lnTo>
                <a:lnTo>
                  <a:pt x="0" y="772"/>
                </a:lnTo>
                <a:lnTo>
                  <a:pt x="1" y="752"/>
                </a:lnTo>
                <a:lnTo>
                  <a:pt x="3" y="731"/>
                </a:lnTo>
                <a:lnTo>
                  <a:pt x="4" y="711"/>
                </a:lnTo>
                <a:lnTo>
                  <a:pt x="6" y="692"/>
                </a:lnTo>
                <a:lnTo>
                  <a:pt x="9" y="671"/>
                </a:lnTo>
                <a:lnTo>
                  <a:pt x="12" y="652"/>
                </a:lnTo>
                <a:lnTo>
                  <a:pt x="15" y="633"/>
                </a:lnTo>
                <a:lnTo>
                  <a:pt x="19" y="613"/>
                </a:lnTo>
                <a:lnTo>
                  <a:pt x="23" y="594"/>
                </a:lnTo>
                <a:lnTo>
                  <a:pt x="28" y="575"/>
                </a:lnTo>
                <a:lnTo>
                  <a:pt x="34" y="557"/>
                </a:lnTo>
                <a:lnTo>
                  <a:pt x="40" y="538"/>
                </a:lnTo>
                <a:lnTo>
                  <a:pt x="45" y="519"/>
                </a:lnTo>
                <a:lnTo>
                  <a:pt x="51" y="502"/>
                </a:lnTo>
                <a:lnTo>
                  <a:pt x="59" y="484"/>
                </a:lnTo>
                <a:lnTo>
                  <a:pt x="66" y="466"/>
                </a:lnTo>
                <a:lnTo>
                  <a:pt x="73" y="449"/>
                </a:lnTo>
                <a:lnTo>
                  <a:pt x="82" y="431"/>
                </a:lnTo>
                <a:lnTo>
                  <a:pt x="89" y="415"/>
                </a:lnTo>
                <a:lnTo>
                  <a:pt x="98" y="398"/>
                </a:lnTo>
                <a:lnTo>
                  <a:pt x="108" y="382"/>
                </a:lnTo>
                <a:lnTo>
                  <a:pt x="128" y="349"/>
                </a:lnTo>
                <a:lnTo>
                  <a:pt x="148" y="319"/>
                </a:lnTo>
                <a:lnTo>
                  <a:pt x="170" y="288"/>
                </a:lnTo>
                <a:lnTo>
                  <a:pt x="194" y="259"/>
                </a:lnTo>
                <a:lnTo>
                  <a:pt x="218" y="232"/>
                </a:lnTo>
                <a:lnTo>
                  <a:pt x="243" y="206"/>
                </a:lnTo>
                <a:lnTo>
                  <a:pt x="271" y="181"/>
                </a:lnTo>
                <a:lnTo>
                  <a:pt x="299" y="158"/>
                </a:lnTo>
                <a:lnTo>
                  <a:pt x="314" y="146"/>
                </a:lnTo>
                <a:lnTo>
                  <a:pt x="328" y="134"/>
                </a:lnTo>
                <a:lnTo>
                  <a:pt x="343" y="124"/>
                </a:lnTo>
                <a:lnTo>
                  <a:pt x="359" y="114"/>
                </a:lnTo>
                <a:lnTo>
                  <a:pt x="374" y="105"/>
                </a:lnTo>
                <a:lnTo>
                  <a:pt x="390" y="95"/>
                </a:lnTo>
                <a:lnTo>
                  <a:pt x="406" y="86"/>
                </a:lnTo>
                <a:lnTo>
                  <a:pt x="422" y="77"/>
                </a:lnTo>
                <a:lnTo>
                  <a:pt x="438" y="70"/>
                </a:lnTo>
                <a:lnTo>
                  <a:pt x="454" y="63"/>
                </a:lnTo>
                <a:lnTo>
                  <a:pt x="472" y="55"/>
                </a:lnTo>
                <a:lnTo>
                  <a:pt x="488" y="48"/>
                </a:lnTo>
                <a:lnTo>
                  <a:pt x="506" y="41"/>
                </a:lnTo>
                <a:lnTo>
                  <a:pt x="523" y="35"/>
                </a:lnTo>
                <a:lnTo>
                  <a:pt x="541" y="29"/>
                </a:lnTo>
                <a:lnTo>
                  <a:pt x="559" y="25"/>
                </a:lnTo>
                <a:lnTo>
                  <a:pt x="576" y="20"/>
                </a:lnTo>
                <a:lnTo>
                  <a:pt x="595" y="16"/>
                </a:lnTo>
                <a:lnTo>
                  <a:pt x="613" y="11"/>
                </a:lnTo>
                <a:lnTo>
                  <a:pt x="632" y="8"/>
                </a:lnTo>
                <a:lnTo>
                  <a:pt x="649" y="6"/>
                </a:lnTo>
                <a:lnTo>
                  <a:pt x="669" y="4"/>
                </a:lnTo>
                <a:lnTo>
                  <a:pt x="688" y="1"/>
                </a:lnTo>
                <a:lnTo>
                  <a:pt x="707" y="1"/>
                </a:lnTo>
                <a:lnTo>
                  <a:pt x="726" y="0"/>
                </a:lnTo>
                <a:lnTo>
                  <a:pt x="745" y="0"/>
                </a:lnTo>
                <a:lnTo>
                  <a:pt x="764" y="0"/>
                </a:lnTo>
                <a:lnTo>
                  <a:pt x="783" y="1"/>
                </a:lnTo>
                <a:lnTo>
                  <a:pt x="802" y="3"/>
                </a:lnTo>
                <a:lnTo>
                  <a:pt x="821" y="4"/>
                </a:lnTo>
                <a:lnTo>
                  <a:pt x="840" y="6"/>
                </a:lnTo>
                <a:lnTo>
                  <a:pt x="858" y="8"/>
                </a:lnTo>
                <a:lnTo>
                  <a:pt x="877" y="11"/>
                </a:lnTo>
                <a:lnTo>
                  <a:pt x="894" y="16"/>
                </a:lnTo>
                <a:lnTo>
                  <a:pt x="913" y="20"/>
                </a:lnTo>
                <a:lnTo>
                  <a:pt x="931" y="25"/>
                </a:lnTo>
                <a:lnTo>
                  <a:pt x="949" y="30"/>
                </a:lnTo>
                <a:lnTo>
                  <a:pt x="966" y="35"/>
                </a:lnTo>
                <a:lnTo>
                  <a:pt x="984" y="41"/>
                </a:lnTo>
                <a:lnTo>
                  <a:pt x="1001" y="48"/>
                </a:lnTo>
                <a:lnTo>
                  <a:pt x="1017" y="55"/>
                </a:lnTo>
                <a:lnTo>
                  <a:pt x="1035" y="63"/>
                </a:lnTo>
                <a:lnTo>
                  <a:pt x="1051" y="70"/>
                </a:lnTo>
                <a:lnTo>
                  <a:pt x="1067" y="77"/>
                </a:lnTo>
                <a:lnTo>
                  <a:pt x="1083" y="86"/>
                </a:lnTo>
                <a:lnTo>
                  <a:pt x="1100" y="95"/>
                </a:lnTo>
                <a:lnTo>
                  <a:pt x="1116" y="105"/>
                </a:lnTo>
                <a:lnTo>
                  <a:pt x="1132" y="114"/>
                </a:lnTo>
                <a:lnTo>
                  <a:pt x="1146" y="124"/>
                </a:lnTo>
                <a:lnTo>
                  <a:pt x="1161" y="136"/>
                </a:lnTo>
                <a:lnTo>
                  <a:pt x="1176" y="146"/>
                </a:lnTo>
                <a:lnTo>
                  <a:pt x="1190" y="158"/>
                </a:lnTo>
                <a:lnTo>
                  <a:pt x="1218" y="181"/>
                </a:lnTo>
                <a:lnTo>
                  <a:pt x="1246" y="206"/>
                </a:lnTo>
                <a:lnTo>
                  <a:pt x="1271" y="232"/>
                </a:lnTo>
                <a:lnTo>
                  <a:pt x="1296" y="259"/>
                </a:lnTo>
                <a:lnTo>
                  <a:pt x="1319" y="288"/>
                </a:lnTo>
                <a:lnTo>
                  <a:pt x="1341" y="319"/>
                </a:lnTo>
                <a:lnTo>
                  <a:pt x="1362" y="349"/>
                </a:lnTo>
                <a:lnTo>
                  <a:pt x="1383" y="382"/>
                </a:lnTo>
                <a:lnTo>
                  <a:pt x="1391" y="398"/>
                </a:lnTo>
                <a:lnTo>
                  <a:pt x="1400" y="415"/>
                </a:lnTo>
                <a:lnTo>
                  <a:pt x="1407" y="431"/>
                </a:lnTo>
                <a:lnTo>
                  <a:pt x="1416" y="449"/>
                </a:lnTo>
                <a:lnTo>
                  <a:pt x="1424" y="466"/>
                </a:lnTo>
                <a:lnTo>
                  <a:pt x="1431" y="484"/>
                </a:lnTo>
                <a:lnTo>
                  <a:pt x="1438" y="502"/>
                </a:lnTo>
                <a:lnTo>
                  <a:pt x="1444" y="519"/>
                </a:lnTo>
                <a:lnTo>
                  <a:pt x="1450" y="538"/>
                </a:lnTo>
                <a:lnTo>
                  <a:pt x="1456" y="557"/>
                </a:lnTo>
                <a:lnTo>
                  <a:pt x="1462" y="575"/>
                </a:lnTo>
                <a:lnTo>
                  <a:pt x="1466" y="594"/>
                </a:lnTo>
                <a:lnTo>
                  <a:pt x="1470" y="613"/>
                </a:lnTo>
                <a:lnTo>
                  <a:pt x="1475" y="633"/>
                </a:lnTo>
                <a:lnTo>
                  <a:pt x="1478" y="652"/>
                </a:lnTo>
                <a:lnTo>
                  <a:pt x="1481" y="671"/>
                </a:lnTo>
                <a:lnTo>
                  <a:pt x="1484" y="692"/>
                </a:lnTo>
                <a:lnTo>
                  <a:pt x="1485" y="711"/>
                </a:lnTo>
                <a:lnTo>
                  <a:pt x="1488" y="731"/>
                </a:lnTo>
                <a:lnTo>
                  <a:pt x="1488" y="752"/>
                </a:lnTo>
                <a:lnTo>
                  <a:pt x="1490" y="772"/>
                </a:lnTo>
                <a:lnTo>
                  <a:pt x="1490" y="793"/>
                </a:lnTo>
                <a:lnTo>
                  <a:pt x="1490" y="813"/>
                </a:lnTo>
                <a:lnTo>
                  <a:pt x="1488" y="834"/>
                </a:lnTo>
                <a:lnTo>
                  <a:pt x="1488" y="853"/>
                </a:lnTo>
                <a:lnTo>
                  <a:pt x="1485" y="873"/>
                </a:lnTo>
                <a:lnTo>
                  <a:pt x="1484" y="894"/>
                </a:lnTo>
                <a:lnTo>
                  <a:pt x="1481" y="913"/>
                </a:lnTo>
                <a:lnTo>
                  <a:pt x="1478" y="933"/>
                </a:lnTo>
                <a:lnTo>
                  <a:pt x="1475" y="952"/>
                </a:lnTo>
                <a:lnTo>
                  <a:pt x="1470" y="971"/>
                </a:lnTo>
                <a:lnTo>
                  <a:pt x="1466" y="990"/>
                </a:lnTo>
                <a:lnTo>
                  <a:pt x="1462" y="1009"/>
                </a:lnTo>
                <a:lnTo>
                  <a:pt x="1456" y="1028"/>
                </a:lnTo>
                <a:lnTo>
                  <a:pt x="1450" y="1047"/>
                </a:lnTo>
                <a:lnTo>
                  <a:pt x="1444" y="1065"/>
                </a:lnTo>
                <a:lnTo>
                  <a:pt x="1438" y="1082"/>
                </a:lnTo>
                <a:lnTo>
                  <a:pt x="1431" y="1101"/>
                </a:lnTo>
                <a:lnTo>
                  <a:pt x="1424" y="1119"/>
                </a:lnTo>
                <a:lnTo>
                  <a:pt x="1416" y="1137"/>
                </a:lnTo>
                <a:lnTo>
                  <a:pt x="1407" y="1153"/>
                </a:lnTo>
                <a:lnTo>
                  <a:pt x="1400" y="1170"/>
                </a:lnTo>
                <a:lnTo>
                  <a:pt x="1391" y="1188"/>
                </a:lnTo>
                <a:lnTo>
                  <a:pt x="1383" y="1204"/>
                </a:lnTo>
                <a:lnTo>
                  <a:pt x="1362" y="1236"/>
                </a:lnTo>
                <a:lnTo>
                  <a:pt x="1341" y="1267"/>
                </a:lnTo>
                <a:lnTo>
                  <a:pt x="1319" y="1296"/>
                </a:lnTo>
                <a:lnTo>
                  <a:pt x="1296" y="1325"/>
                </a:lnTo>
                <a:lnTo>
                  <a:pt x="1271" y="1353"/>
                </a:lnTo>
                <a:lnTo>
                  <a:pt x="1246" y="1379"/>
                </a:lnTo>
                <a:lnTo>
                  <a:pt x="1218" y="1404"/>
                </a:lnTo>
                <a:lnTo>
                  <a:pt x="1190" y="1428"/>
                </a:lnTo>
                <a:lnTo>
                  <a:pt x="1176" y="1439"/>
                </a:lnTo>
                <a:lnTo>
                  <a:pt x="1161" y="1450"/>
                </a:lnTo>
                <a:lnTo>
                  <a:pt x="1146" y="1460"/>
                </a:lnTo>
                <a:lnTo>
                  <a:pt x="1130" y="1470"/>
                </a:lnTo>
                <a:lnTo>
                  <a:pt x="1116" y="1480"/>
                </a:lnTo>
                <a:lnTo>
                  <a:pt x="1100" y="1489"/>
                </a:lnTo>
                <a:lnTo>
                  <a:pt x="1083" y="1498"/>
                </a:lnTo>
                <a:lnTo>
                  <a:pt x="1067" y="1507"/>
                </a:lnTo>
                <a:lnTo>
                  <a:pt x="1051" y="1516"/>
                </a:lnTo>
                <a:lnTo>
                  <a:pt x="1035" y="1523"/>
                </a:lnTo>
                <a:lnTo>
                  <a:pt x="1017" y="1530"/>
                </a:lnTo>
                <a:lnTo>
                  <a:pt x="1001" y="1537"/>
                </a:lnTo>
                <a:lnTo>
                  <a:pt x="984" y="1543"/>
                </a:lnTo>
                <a:lnTo>
                  <a:pt x="966" y="1549"/>
                </a:lnTo>
                <a:lnTo>
                  <a:pt x="949" y="1555"/>
                </a:lnTo>
                <a:lnTo>
                  <a:pt x="931" y="1561"/>
                </a:lnTo>
                <a:lnTo>
                  <a:pt x="913" y="1565"/>
                </a:lnTo>
                <a:lnTo>
                  <a:pt x="894" y="1570"/>
                </a:lnTo>
                <a:lnTo>
                  <a:pt x="877" y="1573"/>
                </a:lnTo>
                <a:lnTo>
                  <a:pt x="858" y="1576"/>
                </a:lnTo>
                <a:lnTo>
                  <a:pt x="840" y="1578"/>
                </a:lnTo>
                <a:lnTo>
                  <a:pt x="821" y="1581"/>
                </a:lnTo>
                <a:lnTo>
                  <a:pt x="802" y="1583"/>
                </a:lnTo>
                <a:lnTo>
                  <a:pt x="783" y="1584"/>
                </a:lnTo>
                <a:lnTo>
                  <a:pt x="764" y="1584"/>
                </a:lnTo>
                <a:lnTo>
                  <a:pt x="745" y="1586"/>
                </a:lnTo>
              </a:path>
            </a:pathLst>
          </a:custGeom>
          <a:noFill/>
          <a:ln w="476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85" name="Freeform 31">
            <a:extLst>
              <a:ext uri="{FF2B5EF4-FFF2-40B4-BE49-F238E27FC236}">
                <a16:creationId xmlns:a16="http://schemas.microsoft.com/office/drawing/2014/main" id="{D7809B58-3909-4550-9BE1-F1C86BB7A201}"/>
              </a:ext>
            </a:extLst>
          </p:cNvPr>
          <p:cNvSpPr>
            <a:spLocks/>
          </p:cNvSpPr>
          <p:nvPr/>
        </p:nvSpPr>
        <p:spPr bwMode="auto">
          <a:xfrm>
            <a:off x="8299451" y="1978025"/>
            <a:ext cx="295275" cy="1258888"/>
          </a:xfrm>
          <a:custGeom>
            <a:avLst/>
            <a:gdLst>
              <a:gd name="T0" fmla="*/ 2147483646 w 373"/>
              <a:gd name="T1" fmla="*/ 2147483646 h 1586"/>
              <a:gd name="T2" fmla="*/ 2147483646 w 373"/>
              <a:gd name="T3" fmla="*/ 2147483646 h 1586"/>
              <a:gd name="T4" fmla="*/ 2147483646 w 373"/>
              <a:gd name="T5" fmla="*/ 2147483646 h 1586"/>
              <a:gd name="T6" fmla="*/ 2147483646 w 373"/>
              <a:gd name="T7" fmla="*/ 2147483646 h 1586"/>
              <a:gd name="T8" fmla="*/ 2147483646 w 373"/>
              <a:gd name="T9" fmla="*/ 2147483646 h 1586"/>
              <a:gd name="T10" fmla="*/ 2147483646 w 373"/>
              <a:gd name="T11" fmla="*/ 2147483646 h 1586"/>
              <a:gd name="T12" fmla="*/ 2147483646 w 373"/>
              <a:gd name="T13" fmla="*/ 2147483646 h 1586"/>
              <a:gd name="T14" fmla="*/ 2147483646 w 373"/>
              <a:gd name="T15" fmla="*/ 2147483646 h 1586"/>
              <a:gd name="T16" fmla="*/ 2147483646 w 373"/>
              <a:gd name="T17" fmla="*/ 2147483646 h 1586"/>
              <a:gd name="T18" fmla="*/ 2147483646 w 373"/>
              <a:gd name="T19" fmla="*/ 2147483646 h 1586"/>
              <a:gd name="T20" fmla="*/ 2147483646 w 373"/>
              <a:gd name="T21" fmla="*/ 2147483646 h 1586"/>
              <a:gd name="T22" fmla="*/ 2147483646 w 373"/>
              <a:gd name="T23" fmla="*/ 2147483646 h 1586"/>
              <a:gd name="T24" fmla="*/ 2147483646 w 373"/>
              <a:gd name="T25" fmla="*/ 2147483646 h 1586"/>
              <a:gd name="T26" fmla="*/ 2147483646 w 373"/>
              <a:gd name="T27" fmla="*/ 2147483646 h 1586"/>
              <a:gd name="T28" fmla="*/ 2147483646 w 373"/>
              <a:gd name="T29" fmla="*/ 2147483646 h 1586"/>
              <a:gd name="T30" fmla="*/ 2147483646 w 373"/>
              <a:gd name="T31" fmla="*/ 2147483646 h 1586"/>
              <a:gd name="T32" fmla="*/ 2147483646 w 373"/>
              <a:gd name="T33" fmla="*/ 2147483646 h 1586"/>
              <a:gd name="T34" fmla="*/ 2147483646 w 373"/>
              <a:gd name="T35" fmla="*/ 2147483646 h 1586"/>
              <a:gd name="T36" fmla="*/ 2147483646 w 373"/>
              <a:gd name="T37" fmla="*/ 2147483646 h 1586"/>
              <a:gd name="T38" fmla="*/ 2147483646 w 373"/>
              <a:gd name="T39" fmla="*/ 2147483646 h 1586"/>
              <a:gd name="T40" fmla="*/ 2147483646 w 373"/>
              <a:gd name="T41" fmla="*/ 2147483646 h 1586"/>
              <a:gd name="T42" fmla="*/ 2147483646 w 373"/>
              <a:gd name="T43" fmla="*/ 2147483646 h 1586"/>
              <a:gd name="T44" fmla="*/ 2147483646 w 373"/>
              <a:gd name="T45" fmla="*/ 2147483646 h 1586"/>
              <a:gd name="T46" fmla="*/ 2147483646 w 373"/>
              <a:gd name="T47" fmla="*/ 2147483646 h 1586"/>
              <a:gd name="T48" fmla="*/ 2147483646 w 373"/>
              <a:gd name="T49" fmla="*/ 2147483646 h 1586"/>
              <a:gd name="T50" fmla="*/ 2147483646 w 373"/>
              <a:gd name="T51" fmla="*/ 2147483646 h 1586"/>
              <a:gd name="T52" fmla="*/ 2147483646 w 373"/>
              <a:gd name="T53" fmla="*/ 2147483646 h 1586"/>
              <a:gd name="T54" fmla="*/ 2147483646 w 373"/>
              <a:gd name="T55" fmla="*/ 2147483646 h 1586"/>
              <a:gd name="T56" fmla="*/ 2147483646 w 373"/>
              <a:gd name="T57" fmla="*/ 2147483646 h 1586"/>
              <a:gd name="T58" fmla="*/ 2147483646 w 373"/>
              <a:gd name="T59" fmla="*/ 2147483646 h 1586"/>
              <a:gd name="T60" fmla="*/ 2147483646 w 373"/>
              <a:gd name="T61" fmla="*/ 2147483646 h 1586"/>
              <a:gd name="T62" fmla="*/ 2147483646 w 373"/>
              <a:gd name="T63" fmla="*/ 2147483646 h 1586"/>
              <a:gd name="T64" fmla="*/ 2147483646 w 373"/>
              <a:gd name="T65" fmla="*/ 2147483646 h 1586"/>
              <a:gd name="T66" fmla="*/ 2147483646 w 373"/>
              <a:gd name="T67" fmla="*/ 2147483646 h 1586"/>
              <a:gd name="T68" fmla="*/ 2147483646 w 373"/>
              <a:gd name="T69" fmla="*/ 2147483646 h 1586"/>
              <a:gd name="T70" fmla="*/ 2147483646 w 373"/>
              <a:gd name="T71" fmla="*/ 2147483646 h 1586"/>
              <a:gd name="T72" fmla="*/ 2147483646 w 373"/>
              <a:gd name="T73" fmla="*/ 2147483646 h 1586"/>
              <a:gd name="T74" fmla="*/ 2147483646 w 373"/>
              <a:gd name="T75" fmla="*/ 2147483646 h 1586"/>
              <a:gd name="T76" fmla="*/ 2147483646 w 373"/>
              <a:gd name="T77" fmla="*/ 2147483646 h 1586"/>
              <a:gd name="T78" fmla="*/ 2147483646 w 373"/>
              <a:gd name="T79" fmla="*/ 2147483646 h 1586"/>
              <a:gd name="T80" fmla="*/ 2147483646 w 373"/>
              <a:gd name="T81" fmla="*/ 2147483646 h 1586"/>
              <a:gd name="T82" fmla="*/ 2147483646 w 373"/>
              <a:gd name="T83" fmla="*/ 2147483646 h 1586"/>
              <a:gd name="T84" fmla="*/ 2147483646 w 373"/>
              <a:gd name="T85" fmla="*/ 2147483646 h 1586"/>
              <a:gd name="T86" fmla="*/ 2147483646 w 373"/>
              <a:gd name="T87" fmla="*/ 2147483646 h 1586"/>
              <a:gd name="T88" fmla="*/ 2147483646 w 373"/>
              <a:gd name="T89" fmla="*/ 2147483646 h 1586"/>
              <a:gd name="T90" fmla="*/ 0 w 373"/>
              <a:gd name="T91" fmla="*/ 0 h 158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73"/>
              <a:gd name="T139" fmla="*/ 0 h 1586"/>
              <a:gd name="T140" fmla="*/ 373 w 373"/>
              <a:gd name="T141" fmla="*/ 1586 h 158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73" h="1586">
                <a:moveTo>
                  <a:pt x="0" y="1586"/>
                </a:moveTo>
                <a:lnTo>
                  <a:pt x="9" y="1586"/>
                </a:lnTo>
                <a:lnTo>
                  <a:pt x="19" y="1584"/>
                </a:lnTo>
                <a:lnTo>
                  <a:pt x="28" y="1583"/>
                </a:lnTo>
                <a:lnTo>
                  <a:pt x="39" y="1581"/>
                </a:lnTo>
                <a:lnTo>
                  <a:pt x="47" y="1578"/>
                </a:lnTo>
                <a:lnTo>
                  <a:pt x="56" y="1577"/>
                </a:lnTo>
                <a:lnTo>
                  <a:pt x="66" y="1573"/>
                </a:lnTo>
                <a:lnTo>
                  <a:pt x="75" y="1570"/>
                </a:lnTo>
                <a:lnTo>
                  <a:pt x="84" y="1565"/>
                </a:lnTo>
                <a:lnTo>
                  <a:pt x="93" y="1561"/>
                </a:lnTo>
                <a:lnTo>
                  <a:pt x="102" y="1555"/>
                </a:lnTo>
                <a:lnTo>
                  <a:pt x="110" y="1549"/>
                </a:lnTo>
                <a:lnTo>
                  <a:pt x="119" y="1543"/>
                </a:lnTo>
                <a:lnTo>
                  <a:pt x="128" y="1537"/>
                </a:lnTo>
                <a:lnTo>
                  <a:pt x="137" y="1530"/>
                </a:lnTo>
                <a:lnTo>
                  <a:pt x="144" y="1523"/>
                </a:lnTo>
                <a:lnTo>
                  <a:pt x="153" y="1516"/>
                </a:lnTo>
                <a:lnTo>
                  <a:pt x="162" y="1507"/>
                </a:lnTo>
                <a:lnTo>
                  <a:pt x="169" y="1498"/>
                </a:lnTo>
                <a:lnTo>
                  <a:pt x="178" y="1489"/>
                </a:lnTo>
                <a:lnTo>
                  <a:pt x="185" y="1480"/>
                </a:lnTo>
                <a:lnTo>
                  <a:pt x="192" y="1470"/>
                </a:lnTo>
                <a:lnTo>
                  <a:pt x="201" y="1460"/>
                </a:lnTo>
                <a:lnTo>
                  <a:pt x="209" y="1450"/>
                </a:lnTo>
                <a:lnTo>
                  <a:pt x="216" y="1439"/>
                </a:lnTo>
                <a:lnTo>
                  <a:pt x="223" y="1428"/>
                </a:lnTo>
                <a:lnTo>
                  <a:pt x="236" y="1404"/>
                </a:lnTo>
                <a:lnTo>
                  <a:pt x="250" y="1379"/>
                </a:lnTo>
                <a:lnTo>
                  <a:pt x="263" y="1353"/>
                </a:lnTo>
                <a:lnTo>
                  <a:pt x="276" y="1325"/>
                </a:lnTo>
                <a:lnTo>
                  <a:pt x="288" y="1296"/>
                </a:lnTo>
                <a:lnTo>
                  <a:pt x="298" y="1267"/>
                </a:lnTo>
                <a:lnTo>
                  <a:pt x="308" y="1236"/>
                </a:lnTo>
                <a:lnTo>
                  <a:pt x="319" y="1204"/>
                </a:lnTo>
                <a:lnTo>
                  <a:pt x="327" y="1170"/>
                </a:lnTo>
                <a:lnTo>
                  <a:pt x="335" y="1137"/>
                </a:lnTo>
                <a:lnTo>
                  <a:pt x="343" y="1101"/>
                </a:lnTo>
                <a:lnTo>
                  <a:pt x="349" y="1065"/>
                </a:lnTo>
                <a:lnTo>
                  <a:pt x="355" y="1028"/>
                </a:lnTo>
                <a:lnTo>
                  <a:pt x="360" y="990"/>
                </a:lnTo>
                <a:lnTo>
                  <a:pt x="364" y="952"/>
                </a:lnTo>
                <a:lnTo>
                  <a:pt x="367" y="913"/>
                </a:lnTo>
                <a:lnTo>
                  <a:pt x="370" y="873"/>
                </a:lnTo>
                <a:lnTo>
                  <a:pt x="371" y="834"/>
                </a:lnTo>
                <a:lnTo>
                  <a:pt x="371" y="793"/>
                </a:lnTo>
                <a:lnTo>
                  <a:pt x="373" y="793"/>
                </a:lnTo>
                <a:lnTo>
                  <a:pt x="371" y="752"/>
                </a:lnTo>
                <a:lnTo>
                  <a:pt x="370" y="711"/>
                </a:lnTo>
                <a:lnTo>
                  <a:pt x="368" y="671"/>
                </a:lnTo>
                <a:lnTo>
                  <a:pt x="364" y="633"/>
                </a:lnTo>
                <a:lnTo>
                  <a:pt x="361" y="594"/>
                </a:lnTo>
                <a:lnTo>
                  <a:pt x="355" y="557"/>
                </a:lnTo>
                <a:lnTo>
                  <a:pt x="349" y="519"/>
                </a:lnTo>
                <a:lnTo>
                  <a:pt x="343" y="484"/>
                </a:lnTo>
                <a:lnTo>
                  <a:pt x="336" y="449"/>
                </a:lnTo>
                <a:lnTo>
                  <a:pt x="327" y="415"/>
                </a:lnTo>
                <a:lnTo>
                  <a:pt x="319" y="382"/>
                </a:lnTo>
                <a:lnTo>
                  <a:pt x="308" y="349"/>
                </a:lnTo>
                <a:lnTo>
                  <a:pt x="298" y="319"/>
                </a:lnTo>
                <a:lnTo>
                  <a:pt x="288" y="288"/>
                </a:lnTo>
                <a:lnTo>
                  <a:pt x="276" y="259"/>
                </a:lnTo>
                <a:lnTo>
                  <a:pt x="263" y="232"/>
                </a:lnTo>
                <a:lnTo>
                  <a:pt x="250" y="206"/>
                </a:lnTo>
                <a:lnTo>
                  <a:pt x="236" y="181"/>
                </a:lnTo>
                <a:lnTo>
                  <a:pt x="223" y="158"/>
                </a:lnTo>
                <a:lnTo>
                  <a:pt x="216" y="146"/>
                </a:lnTo>
                <a:lnTo>
                  <a:pt x="209" y="136"/>
                </a:lnTo>
                <a:lnTo>
                  <a:pt x="201" y="124"/>
                </a:lnTo>
                <a:lnTo>
                  <a:pt x="192" y="114"/>
                </a:lnTo>
                <a:lnTo>
                  <a:pt x="185" y="105"/>
                </a:lnTo>
                <a:lnTo>
                  <a:pt x="178" y="95"/>
                </a:lnTo>
                <a:lnTo>
                  <a:pt x="169" y="86"/>
                </a:lnTo>
                <a:lnTo>
                  <a:pt x="162" y="77"/>
                </a:lnTo>
                <a:lnTo>
                  <a:pt x="153" y="70"/>
                </a:lnTo>
                <a:lnTo>
                  <a:pt x="144" y="63"/>
                </a:lnTo>
                <a:lnTo>
                  <a:pt x="137" y="55"/>
                </a:lnTo>
                <a:lnTo>
                  <a:pt x="128" y="48"/>
                </a:lnTo>
                <a:lnTo>
                  <a:pt x="119" y="41"/>
                </a:lnTo>
                <a:lnTo>
                  <a:pt x="110" y="35"/>
                </a:lnTo>
                <a:lnTo>
                  <a:pt x="102" y="30"/>
                </a:lnTo>
                <a:lnTo>
                  <a:pt x="93" y="25"/>
                </a:lnTo>
                <a:lnTo>
                  <a:pt x="84" y="20"/>
                </a:lnTo>
                <a:lnTo>
                  <a:pt x="75" y="16"/>
                </a:lnTo>
                <a:lnTo>
                  <a:pt x="66" y="11"/>
                </a:lnTo>
                <a:lnTo>
                  <a:pt x="56" y="8"/>
                </a:lnTo>
                <a:lnTo>
                  <a:pt x="47" y="6"/>
                </a:lnTo>
                <a:lnTo>
                  <a:pt x="39" y="4"/>
                </a:lnTo>
                <a:lnTo>
                  <a:pt x="28" y="3"/>
                </a:lnTo>
                <a:lnTo>
                  <a:pt x="19" y="1"/>
                </a:lnTo>
                <a:lnTo>
                  <a:pt x="9" y="0"/>
                </a:lnTo>
                <a:lnTo>
                  <a:pt x="0"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86" name="Rectangle 32">
            <a:extLst>
              <a:ext uri="{FF2B5EF4-FFF2-40B4-BE49-F238E27FC236}">
                <a16:creationId xmlns:a16="http://schemas.microsoft.com/office/drawing/2014/main" id="{8D502C4F-DE4D-4629-89E3-BEE4DB8679E6}"/>
              </a:ext>
            </a:extLst>
          </p:cNvPr>
          <p:cNvSpPr>
            <a:spLocks noChangeArrowheads="1"/>
          </p:cNvSpPr>
          <p:nvPr/>
        </p:nvSpPr>
        <p:spPr bwMode="auto">
          <a:xfrm>
            <a:off x="8430642" y="1370013"/>
            <a:ext cx="110286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solidFill>
                  <a:srgbClr val="000000"/>
                </a:solidFill>
                <a:ea typeface="新細明體" panose="02020500000000000000" pitchFamily="18" charset="-120"/>
              </a:rPr>
              <a:t>Innocuous</a:t>
            </a:r>
            <a:endParaRPr lang="en-US" altLang="zh-TW" sz="2000" b="1">
              <a:solidFill>
                <a:srgbClr val="000066"/>
              </a:solidFill>
              <a:ea typeface="新細明體" panose="02020500000000000000" pitchFamily="18" charset="-120"/>
            </a:endParaRPr>
          </a:p>
        </p:txBody>
      </p:sp>
      <p:sp>
        <p:nvSpPr>
          <p:cNvPr id="45087" name="Rectangle 33">
            <a:extLst>
              <a:ext uri="{FF2B5EF4-FFF2-40B4-BE49-F238E27FC236}">
                <a16:creationId xmlns:a16="http://schemas.microsoft.com/office/drawing/2014/main" id="{5561663F-32BB-4BC6-B8BF-71F318B3A5D3}"/>
              </a:ext>
            </a:extLst>
          </p:cNvPr>
          <p:cNvSpPr>
            <a:spLocks noChangeArrowheads="1"/>
          </p:cNvSpPr>
          <p:nvPr/>
        </p:nvSpPr>
        <p:spPr bwMode="auto">
          <a:xfrm>
            <a:off x="8015408" y="2589213"/>
            <a:ext cx="96019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solidFill>
                  <a:srgbClr val="000000"/>
                </a:solidFill>
                <a:ea typeface="新細明體" panose="02020500000000000000" pitchFamily="18" charset="-120"/>
              </a:rPr>
              <a:t>Sensitive</a:t>
            </a:r>
            <a:endParaRPr lang="en-US" altLang="zh-TW" sz="2000" b="1">
              <a:solidFill>
                <a:srgbClr val="000066"/>
              </a:solidFill>
              <a:ea typeface="新細明體" panose="02020500000000000000" pitchFamily="18" charset="-120"/>
            </a:endParaRPr>
          </a:p>
        </p:txBody>
      </p:sp>
      <p:sp>
        <p:nvSpPr>
          <p:cNvPr id="45088" name="Freeform 36">
            <a:extLst>
              <a:ext uri="{FF2B5EF4-FFF2-40B4-BE49-F238E27FC236}">
                <a16:creationId xmlns:a16="http://schemas.microsoft.com/office/drawing/2014/main" id="{85BCB476-25FE-4EAA-9E35-F3ED0104135E}"/>
              </a:ext>
            </a:extLst>
          </p:cNvPr>
          <p:cNvSpPr>
            <a:spLocks/>
          </p:cNvSpPr>
          <p:nvPr/>
        </p:nvSpPr>
        <p:spPr bwMode="auto">
          <a:xfrm>
            <a:off x="3421063" y="1544638"/>
            <a:ext cx="1477962" cy="1574800"/>
          </a:xfrm>
          <a:custGeom>
            <a:avLst/>
            <a:gdLst>
              <a:gd name="T0" fmla="*/ 2147483646 w 1862"/>
              <a:gd name="T1" fmla="*/ 2147483646 h 1983"/>
              <a:gd name="T2" fmla="*/ 2147483646 w 1862"/>
              <a:gd name="T3" fmla="*/ 2147483646 h 1983"/>
              <a:gd name="T4" fmla="*/ 2147483646 w 1862"/>
              <a:gd name="T5" fmla="*/ 2147483646 h 1983"/>
              <a:gd name="T6" fmla="*/ 2147483646 w 1862"/>
              <a:gd name="T7" fmla="*/ 2147483646 h 1983"/>
              <a:gd name="T8" fmla="*/ 2147483646 w 1862"/>
              <a:gd name="T9" fmla="*/ 2147483646 h 1983"/>
              <a:gd name="T10" fmla="*/ 2147483646 w 1862"/>
              <a:gd name="T11" fmla="*/ 2147483646 h 1983"/>
              <a:gd name="T12" fmla="*/ 2147483646 w 1862"/>
              <a:gd name="T13" fmla="*/ 2147483646 h 1983"/>
              <a:gd name="T14" fmla="*/ 2147483646 w 1862"/>
              <a:gd name="T15" fmla="*/ 2147483646 h 1983"/>
              <a:gd name="T16" fmla="*/ 2147483646 w 1862"/>
              <a:gd name="T17" fmla="*/ 2147483646 h 1983"/>
              <a:gd name="T18" fmla="*/ 2147483646 w 1862"/>
              <a:gd name="T19" fmla="*/ 2147483646 h 1983"/>
              <a:gd name="T20" fmla="*/ 2147483646 w 1862"/>
              <a:gd name="T21" fmla="*/ 2147483646 h 1983"/>
              <a:gd name="T22" fmla="*/ 2147483646 w 1862"/>
              <a:gd name="T23" fmla="*/ 2147483646 h 1983"/>
              <a:gd name="T24" fmla="*/ 0 w 1862"/>
              <a:gd name="T25" fmla="*/ 2147483646 h 1983"/>
              <a:gd name="T26" fmla="*/ 2147483646 w 1862"/>
              <a:gd name="T27" fmla="*/ 2147483646 h 1983"/>
              <a:gd name="T28" fmla="*/ 2147483646 w 1862"/>
              <a:gd name="T29" fmla="*/ 2147483646 h 1983"/>
              <a:gd name="T30" fmla="*/ 2147483646 w 1862"/>
              <a:gd name="T31" fmla="*/ 2147483646 h 1983"/>
              <a:gd name="T32" fmla="*/ 2147483646 w 1862"/>
              <a:gd name="T33" fmla="*/ 2147483646 h 1983"/>
              <a:gd name="T34" fmla="*/ 2147483646 w 1862"/>
              <a:gd name="T35" fmla="*/ 2147483646 h 1983"/>
              <a:gd name="T36" fmla="*/ 2147483646 w 1862"/>
              <a:gd name="T37" fmla="*/ 2147483646 h 1983"/>
              <a:gd name="T38" fmla="*/ 2147483646 w 1862"/>
              <a:gd name="T39" fmla="*/ 2147483646 h 1983"/>
              <a:gd name="T40" fmla="*/ 2147483646 w 1862"/>
              <a:gd name="T41" fmla="*/ 2147483646 h 1983"/>
              <a:gd name="T42" fmla="*/ 2147483646 w 1862"/>
              <a:gd name="T43" fmla="*/ 2147483646 h 1983"/>
              <a:gd name="T44" fmla="*/ 2147483646 w 1862"/>
              <a:gd name="T45" fmla="*/ 2147483646 h 1983"/>
              <a:gd name="T46" fmla="*/ 2147483646 w 1862"/>
              <a:gd name="T47" fmla="*/ 2147483646 h 1983"/>
              <a:gd name="T48" fmla="*/ 2147483646 w 1862"/>
              <a:gd name="T49" fmla="*/ 2147483646 h 1983"/>
              <a:gd name="T50" fmla="*/ 2147483646 w 1862"/>
              <a:gd name="T51" fmla="*/ 0 h 1983"/>
              <a:gd name="T52" fmla="*/ 2147483646 w 1862"/>
              <a:gd name="T53" fmla="*/ 2147483646 h 1983"/>
              <a:gd name="T54" fmla="*/ 2147483646 w 1862"/>
              <a:gd name="T55" fmla="*/ 2147483646 h 1983"/>
              <a:gd name="T56" fmla="*/ 2147483646 w 1862"/>
              <a:gd name="T57" fmla="*/ 2147483646 h 1983"/>
              <a:gd name="T58" fmla="*/ 2147483646 w 1862"/>
              <a:gd name="T59" fmla="*/ 2147483646 h 1983"/>
              <a:gd name="T60" fmla="*/ 2147483646 w 1862"/>
              <a:gd name="T61" fmla="*/ 2147483646 h 1983"/>
              <a:gd name="T62" fmla="*/ 2147483646 w 1862"/>
              <a:gd name="T63" fmla="*/ 2147483646 h 1983"/>
              <a:gd name="T64" fmla="*/ 2147483646 w 1862"/>
              <a:gd name="T65" fmla="*/ 2147483646 h 1983"/>
              <a:gd name="T66" fmla="*/ 2147483646 w 1862"/>
              <a:gd name="T67" fmla="*/ 2147483646 h 1983"/>
              <a:gd name="T68" fmla="*/ 2147483646 w 1862"/>
              <a:gd name="T69" fmla="*/ 2147483646 h 1983"/>
              <a:gd name="T70" fmla="*/ 2147483646 w 1862"/>
              <a:gd name="T71" fmla="*/ 2147483646 h 1983"/>
              <a:gd name="T72" fmla="*/ 2147483646 w 1862"/>
              <a:gd name="T73" fmla="*/ 2147483646 h 1983"/>
              <a:gd name="T74" fmla="*/ 2147483646 w 1862"/>
              <a:gd name="T75" fmla="*/ 2147483646 h 1983"/>
              <a:gd name="T76" fmla="*/ 2147483646 w 1862"/>
              <a:gd name="T77" fmla="*/ 2147483646 h 1983"/>
              <a:gd name="T78" fmla="*/ 2147483646 w 1862"/>
              <a:gd name="T79" fmla="*/ 2147483646 h 1983"/>
              <a:gd name="T80" fmla="*/ 2147483646 w 1862"/>
              <a:gd name="T81" fmla="*/ 2147483646 h 1983"/>
              <a:gd name="T82" fmla="*/ 2147483646 w 1862"/>
              <a:gd name="T83" fmla="*/ 2147483646 h 1983"/>
              <a:gd name="T84" fmla="*/ 2147483646 w 1862"/>
              <a:gd name="T85" fmla="*/ 2147483646 h 1983"/>
              <a:gd name="T86" fmla="*/ 2147483646 w 1862"/>
              <a:gd name="T87" fmla="*/ 2147483646 h 1983"/>
              <a:gd name="T88" fmla="*/ 2147483646 w 1862"/>
              <a:gd name="T89" fmla="*/ 2147483646 h 1983"/>
              <a:gd name="T90" fmla="*/ 2147483646 w 1862"/>
              <a:gd name="T91" fmla="*/ 2147483646 h 1983"/>
              <a:gd name="T92" fmla="*/ 2147483646 w 1862"/>
              <a:gd name="T93" fmla="*/ 2147483646 h 1983"/>
              <a:gd name="T94" fmla="*/ 2147483646 w 1862"/>
              <a:gd name="T95" fmla="*/ 2147483646 h 1983"/>
              <a:gd name="T96" fmla="*/ 2147483646 w 1862"/>
              <a:gd name="T97" fmla="*/ 2147483646 h 1983"/>
              <a:gd name="T98" fmla="*/ 2147483646 w 1862"/>
              <a:gd name="T99" fmla="*/ 2147483646 h 1983"/>
              <a:gd name="T100" fmla="*/ 2147483646 w 1862"/>
              <a:gd name="T101" fmla="*/ 2147483646 h 198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62"/>
              <a:gd name="T154" fmla="*/ 0 h 1983"/>
              <a:gd name="T155" fmla="*/ 1862 w 1862"/>
              <a:gd name="T156" fmla="*/ 1983 h 198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62" h="1983">
                <a:moveTo>
                  <a:pt x="932" y="1983"/>
                </a:moveTo>
                <a:lnTo>
                  <a:pt x="907" y="1983"/>
                </a:lnTo>
                <a:lnTo>
                  <a:pt x="884" y="1981"/>
                </a:lnTo>
                <a:lnTo>
                  <a:pt x="860" y="1980"/>
                </a:lnTo>
                <a:lnTo>
                  <a:pt x="837" y="1978"/>
                </a:lnTo>
                <a:lnTo>
                  <a:pt x="813" y="1975"/>
                </a:lnTo>
                <a:lnTo>
                  <a:pt x="790" y="1971"/>
                </a:lnTo>
                <a:lnTo>
                  <a:pt x="766" y="1968"/>
                </a:lnTo>
                <a:lnTo>
                  <a:pt x="744" y="1962"/>
                </a:lnTo>
                <a:lnTo>
                  <a:pt x="721" y="1958"/>
                </a:lnTo>
                <a:lnTo>
                  <a:pt x="699" y="1952"/>
                </a:lnTo>
                <a:lnTo>
                  <a:pt x="677" y="1944"/>
                </a:lnTo>
                <a:lnTo>
                  <a:pt x="655" y="1939"/>
                </a:lnTo>
                <a:lnTo>
                  <a:pt x="633" y="1931"/>
                </a:lnTo>
                <a:lnTo>
                  <a:pt x="611" y="1923"/>
                </a:lnTo>
                <a:lnTo>
                  <a:pt x="590" y="1914"/>
                </a:lnTo>
                <a:lnTo>
                  <a:pt x="568" y="1905"/>
                </a:lnTo>
                <a:lnTo>
                  <a:pt x="548" y="1895"/>
                </a:lnTo>
                <a:lnTo>
                  <a:pt x="527" y="1884"/>
                </a:lnTo>
                <a:lnTo>
                  <a:pt x="507" y="1874"/>
                </a:lnTo>
                <a:lnTo>
                  <a:pt x="488" y="1863"/>
                </a:lnTo>
                <a:lnTo>
                  <a:pt x="467" y="1851"/>
                </a:lnTo>
                <a:lnTo>
                  <a:pt x="448" y="1839"/>
                </a:lnTo>
                <a:lnTo>
                  <a:pt x="429" y="1826"/>
                </a:lnTo>
                <a:lnTo>
                  <a:pt x="412" y="1813"/>
                </a:lnTo>
                <a:lnTo>
                  <a:pt x="393" y="1800"/>
                </a:lnTo>
                <a:lnTo>
                  <a:pt x="375" y="1786"/>
                </a:lnTo>
                <a:lnTo>
                  <a:pt x="357" y="1772"/>
                </a:lnTo>
                <a:lnTo>
                  <a:pt x="340" y="1756"/>
                </a:lnTo>
                <a:lnTo>
                  <a:pt x="322" y="1741"/>
                </a:lnTo>
                <a:lnTo>
                  <a:pt x="306" y="1725"/>
                </a:lnTo>
                <a:lnTo>
                  <a:pt x="288" y="1709"/>
                </a:lnTo>
                <a:lnTo>
                  <a:pt x="274" y="1693"/>
                </a:lnTo>
                <a:lnTo>
                  <a:pt x="258" y="1675"/>
                </a:lnTo>
                <a:lnTo>
                  <a:pt x="242" y="1658"/>
                </a:lnTo>
                <a:lnTo>
                  <a:pt x="227" y="1640"/>
                </a:lnTo>
                <a:lnTo>
                  <a:pt x="214" y="1623"/>
                </a:lnTo>
                <a:lnTo>
                  <a:pt x="199" y="1604"/>
                </a:lnTo>
                <a:lnTo>
                  <a:pt x="186" y="1585"/>
                </a:lnTo>
                <a:lnTo>
                  <a:pt x="173" y="1566"/>
                </a:lnTo>
                <a:lnTo>
                  <a:pt x="159" y="1545"/>
                </a:lnTo>
                <a:lnTo>
                  <a:pt x="148" y="1526"/>
                </a:lnTo>
                <a:lnTo>
                  <a:pt x="134" y="1506"/>
                </a:lnTo>
                <a:lnTo>
                  <a:pt x="124" y="1485"/>
                </a:lnTo>
                <a:lnTo>
                  <a:pt x="112" y="1465"/>
                </a:lnTo>
                <a:lnTo>
                  <a:pt x="102" y="1443"/>
                </a:lnTo>
                <a:lnTo>
                  <a:pt x="92" y="1421"/>
                </a:lnTo>
                <a:lnTo>
                  <a:pt x="83" y="1399"/>
                </a:lnTo>
                <a:lnTo>
                  <a:pt x="73" y="1377"/>
                </a:lnTo>
                <a:lnTo>
                  <a:pt x="66" y="1355"/>
                </a:lnTo>
                <a:lnTo>
                  <a:pt x="57" y="1333"/>
                </a:lnTo>
                <a:lnTo>
                  <a:pt x="49" y="1309"/>
                </a:lnTo>
                <a:lnTo>
                  <a:pt x="42" y="1286"/>
                </a:lnTo>
                <a:lnTo>
                  <a:pt x="36" y="1263"/>
                </a:lnTo>
                <a:lnTo>
                  <a:pt x="29" y="1239"/>
                </a:lnTo>
                <a:lnTo>
                  <a:pt x="25" y="1216"/>
                </a:lnTo>
                <a:lnTo>
                  <a:pt x="19" y="1191"/>
                </a:lnTo>
                <a:lnTo>
                  <a:pt x="14" y="1168"/>
                </a:lnTo>
                <a:lnTo>
                  <a:pt x="11" y="1143"/>
                </a:lnTo>
                <a:lnTo>
                  <a:pt x="8" y="1118"/>
                </a:lnTo>
                <a:lnTo>
                  <a:pt x="5" y="1093"/>
                </a:lnTo>
                <a:lnTo>
                  <a:pt x="3" y="1068"/>
                </a:lnTo>
                <a:lnTo>
                  <a:pt x="1" y="1042"/>
                </a:lnTo>
                <a:lnTo>
                  <a:pt x="1" y="1017"/>
                </a:lnTo>
                <a:lnTo>
                  <a:pt x="0" y="992"/>
                </a:lnTo>
                <a:lnTo>
                  <a:pt x="1" y="966"/>
                </a:lnTo>
                <a:lnTo>
                  <a:pt x="1" y="941"/>
                </a:lnTo>
                <a:lnTo>
                  <a:pt x="3" y="916"/>
                </a:lnTo>
                <a:lnTo>
                  <a:pt x="5" y="891"/>
                </a:lnTo>
                <a:lnTo>
                  <a:pt x="8" y="865"/>
                </a:lnTo>
                <a:lnTo>
                  <a:pt x="11" y="841"/>
                </a:lnTo>
                <a:lnTo>
                  <a:pt x="14" y="816"/>
                </a:lnTo>
                <a:lnTo>
                  <a:pt x="19" y="791"/>
                </a:lnTo>
                <a:lnTo>
                  <a:pt x="25" y="768"/>
                </a:lnTo>
                <a:lnTo>
                  <a:pt x="30" y="743"/>
                </a:lnTo>
                <a:lnTo>
                  <a:pt x="36" y="720"/>
                </a:lnTo>
                <a:lnTo>
                  <a:pt x="42" y="696"/>
                </a:lnTo>
                <a:lnTo>
                  <a:pt x="49" y="674"/>
                </a:lnTo>
                <a:lnTo>
                  <a:pt x="57" y="651"/>
                </a:lnTo>
                <a:lnTo>
                  <a:pt x="66" y="628"/>
                </a:lnTo>
                <a:lnTo>
                  <a:pt x="73" y="606"/>
                </a:lnTo>
                <a:lnTo>
                  <a:pt x="83" y="584"/>
                </a:lnTo>
                <a:lnTo>
                  <a:pt x="92" y="562"/>
                </a:lnTo>
                <a:lnTo>
                  <a:pt x="102" y="540"/>
                </a:lnTo>
                <a:lnTo>
                  <a:pt x="112" y="519"/>
                </a:lnTo>
                <a:lnTo>
                  <a:pt x="124" y="499"/>
                </a:lnTo>
                <a:lnTo>
                  <a:pt x="134" y="478"/>
                </a:lnTo>
                <a:lnTo>
                  <a:pt x="148" y="458"/>
                </a:lnTo>
                <a:lnTo>
                  <a:pt x="159" y="437"/>
                </a:lnTo>
                <a:lnTo>
                  <a:pt x="173" y="418"/>
                </a:lnTo>
                <a:lnTo>
                  <a:pt x="186" y="398"/>
                </a:lnTo>
                <a:lnTo>
                  <a:pt x="199" y="380"/>
                </a:lnTo>
                <a:lnTo>
                  <a:pt x="214" y="361"/>
                </a:lnTo>
                <a:lnTo>
                  <a:pt x="227" y="342"/>
                </a:lnTo>
                <a:lnTo>
                  <a:pt x="242" y="325"/>
                </a:lnTo>
                <a:lnTo>
                  <a:pt x="258" y="307"/>
                </a:lnTo>
                <a:lnTo>
                  <a:pt x="274" y="291"/>
                </a:lnTo>
                <a:lnTo>
                  <a:pt x="288" y="274"/>
                </a:lnTo>
                <a:lnTo>
                  <a:pt x="306" y="257"/>
                </a:lnTo>
                <a:lnTo>
                  <a:pt x="322" y="243"/>
                </a:lnTo>
                <a:lnTo>
                  <a:pt x="340" y="227"/>
                </a:lnTo>
                <a:lnTo>
                  <a:pt x="356" y="212"/>
                </a:lnTo>
                <a:lnTo>
                  <a:pt x="375" y="197"/>
                </a:lnTo>
                <a:lnTo>
                  <a:pt x="393" y="183"/>
                </a:lnTo>
                <a:lnTo>
                  <a:pt x="410" y="170"/>
                </a:lnTo>
                <a:lnTo>
                  <a:pt x="429" y="156"/>
                </a:lnTo>
                <a:lnTo>
                  <a:pt x="448" y="143"/>
                </a:lnTo>
                <a:lnTo>
                  <a:pt x="467" y="132"/>
                </a:lnTo>
                <a:lnTo>
                  <a:pt x="488" y="120"/>
                </a:lnTo>
                <a:lnTo>
                  <a:pt x="507" y="108"/>
                </a:lnTo>
                <a:lnTo>
                  <a:pt x="527" y="98"/>
                </a:lnTo>
                <a:lnTo>
                  <a:pt x="548" y="88"/>
                </a:lnTo>
                <a:lnTo>
                  <a:pt x="568" y="79"/>
                </a:lnTo>
                <a:lnTo>
                  <a:pt x="590" y="69"/>
                </a:lnTo>
                <a:lnTo>
                  <a:pt x="611" y="60"/>
                </a:lnTo>
                <a:lnTo>
                  <a:pt x="633" y="53"/>
                </a:lnTo>
                <a:lnTo>
                  <a:pt x="655" y="45"/>
                </a:lnTo>
                <a:lnTo>
                  <a:pt x="677" y="38"/>
                </a:lnTo>
                <a:lnTo>
                  <a:pt x="699" y="32"/>
                </a:lnTo>
                <a:lnTo>
                  <a:pt x="721" y="26"/>
                </a:lnTo>
                <a:lnTo>
                  <a:pt x="744" y="20"/>
                </a:lnTo>
                <a:lnTo>
                  <a:pt x="766" y="16"/>
                </a:lnTo>
                <a:lnTo>
                  <a:pt x="790" y="12"/>
                </a:lnTo>
                <a:lnTo>
                  <a:pt x="813" y="9"/>
                </a:lnTo>
                <a:lnTo>
                  <a:pt x="837" y="6"/>
                </a:lnTo>
                <a:lnTo>
                  <a:pt x="860" y="3"/>
                </a:lnTo>
                <a:lnTo>
                  <a:pt x="884" y="1"/>
                </a:lnTo>
                <a:lnTo>
                  <a:pt x="907" y="0"/>
                </a:lnTo>
                <a:lnTo>
                  <a:pt x="931" y="0"/>
                </a:lnTo>
                <a:lnTo>
                  <a:pt x="932" y="0"/>
                </a:lnTo>
                <a:lnTo>
                  <a:pt x="955" y="1"/>
                </a:lnTo>
                <a:lnTo>
                  <a:pt x="979" y="1"/>
                </a:lnTo>
                <a:lnTo>
                  <a:pt x="1002" y="3"/>
                </a:lnTo>
                <a:lnTo>
                  <a:pt x="1026" y="6"/>
                </a:lnTo>
                <a:lnTo>
                  <a:pt x="1049" y="9"/>
                </a:lnTo>
                <a:lnTo>
                  <a:pt x="1073" y="12"/>
                </a:lnTo>
                <a:lnTo>
                  <a:pt x="1096" y="16"/>
                </a:lnTo>
                <a:lnTo>
                  <a:pt x="1120" y="20"/>
                </a:lnTo>
                <a:lnTo>
                  <a:pt x="1142" y="26"/>
                </a:lnTo>
                <a:lnTo>
                  <a:pt x="1164" y="32"/>
                </a:lnTo>
                <a:lnTo>
                  <a:pt x="1186" y="38"/>
                </a:lnTo>
                <a:lnTo>
                  <a:pt x="1208" y="45"/>
                </a:lnTo>
                <a:lnTo>
                  <a:pt x="1230" y="53"/>
                </a:lnTo>
                <a:lnTo>
                  <a:pt x="1252" y="60"/>
                </a:lnTo>
                <a:lnTo>
                  <a:pt x="1272" y="69"/>
                </a:lnTo>
                <a:lnTo>
                  <a:pt x="1294" y="79"/>
                </a:lnTo>
                <a:lnTo>
                  <a:pt x="1315" y="88"/>
                </a:lnTo>
                <a:lnTo>
                  <a:pt x="1335" y="98"/>
                </a:lnTo>
                <a:lnTo>
                  <a:pt x="1356" y="108"/>
                </a:lnTo>
                <a:lnTo>
                  <a:pt x="1375" y="120"/>
                </a:lnTo>
                <a:lnTo>
                  <a:pt x="1395" y="132"/>
                </a:lnTo>
                <a:lnTo>
                  <a:pt x="1414" y="143"/>
                </a:lnTo>
                <a:lnTo>
                  <a:pt x="1433" y="156"/>
                </a:lnTo>
                <a:lnTo>
                  <a:pt x="1452" y="170"/>
                </a:lnTo>
                <a:lnTo>
                  <a:pt x="1470" y="183"/>
                </a:lnTo>
                <a:lnTo>
                  <a:pt x="1488" y="197"/>
                </a:lnTo>
                <a:lnTo>
                  <a:pt x="1507" y="212"/>
                </a:lnTo>
                <a:lnTo>
                  <a:pt x="1523" y="227"/>
                </a:lnTo>
                <a:lnTo>
                  <a:pt x="1540" y="243"/>
                </a:lnTo>
                <a:lnTo>
                  <a:pt x="1557" y="257"/>
                </a:lnTo>
                <a:lnTo>
                  <a:pt x="1574" y="274"/>
                </a:lnTo>
                <a:lnTo>
                  <a:pt x="1590" y="291"/>
                </a:lnTo>
                <a:lnTo>
                  <a:pt x="1605" y="307"/>
                </a:lnTo>
                <a:lnTo>
                  <a:pt x="1621" y="325"/>
                </a:lnTo>
                <a:lnTo>
                  <a:pt x="1636" y="342"/>
                </a:lnTo>
                <a:lnTo>
                  <a:pt x="1650" y="361"/>
                </a:lnTo>
                <a:lnTo>
                  <a:pt x="1664" y="380"/>
                </a:lnTo>
                <a:lnTo>
                  <a:pt x="1677" y="398"/>
                </a:lnTo>
                <a:lnTo>
                  <a:pt x="1690" y="418"/>
                </a:lnTo>
                <a:lnTo>
                  <a:pt x="1703" y="437"/>
                </a:lnTo>
                <a:lnTo>
                  <a:pt x="1715" y="458"/>
                </a:lnTo>
                <a:lnTo>
                  <a:pt x="1728" y="477"/>
                </a:lnTo>
                <a:lnTo>
                  <a:pt x="1738" y="499"/>
                </a:lnTo>
                <a:lnTo>
                  <a:pt x="1750" y="519"/>
                </a:lnTo>
                <a:lnTo>
                  <a:pt x="1760" y="540"/>
                </a:lnTo>
                <a:lnTo>
                  <a:pt x="1771" y="562"/>
                </a:lnTo>
                <a:lnTo>
                  <a:pt x="1779" y="584"/>
                </a:lnTo>
                <a:lnTo>
                  <a:pt x="1790" y="606"/>
                </a:lnTo>
                <a:lnTo>
                  <a:pt x="1797" y="628"/>
                </a:lnTo>
                <a:lnTo>
                  <a:pt x="1806" y="651"/>
                </a:lnTo>
                <a:lnTo>
                  <a:pt x="1813" y="673"/>
                </a:lnTo>
                <a:lnTo>
                  <a:pt x="1820" y="696"/>
                </a:lnTo>
                <a:lnTo>
                  <a:pt x="1826" y="720"/>
                </a:lnTo>
                <a:lnTo>
                  <a:pt x="1834" y="743"/>
                </a:lnTo>
                <a:lnTo>
                  <a:pt x="1838" y="768"/>
                </a:lnTo>
                <a:lnTo>
                  <a:pt x="1844" y="791"/>
                </a:lnTo>
                <a:lnTo>
                  <a:pt x="1848" y="816"/>
                </a:lnTo>
                <a:lnTo>
                  <a:pt x="1851" y="841"/>
                </a:lnTo>
                <a:lnTo>
                  <a:pt x="1854" y="865"/>
                </a:lnTo>
                <a:lnTo>
                  <a:pt x="1857" y="890"/>
                </a:lnTo>
                <a:lnTo>
                  <a:pt x="1860" y="916"/>
                </a:lnTo>
                <a:lnTo>
                  <a:pt x="1862" y="941"/>
                </a:lnTo>
                <a:lnTo>
                  <a:pt x="1862" y="966"/>
                </a:lnTo>
                <a:lnTo>
                  <a:pt x="1862" y="992"/>
                </a:lnTo>
                <a:lnTo>
                  <a:pt x="1862" y="1017"/>
                </a:lnTo>
                <a:lnTo>
                  <a:pt x="1862" y="1043"/>
                </a:lnTo>
                <a:lnTo>
                  <a:pt x="1860" y="1068"/>
                </a:lnTo>
                <a:lnTo>
                  <a:pt x="1857" y="1093"/>
                </a:lnTo>
                <a:lnTo>
                  <a:pt x="1854" y="1118"/>
                </a:lnTo>
                <a:lnTo>
                  <a:pt x="1851" y="1143"/>
                </a:lnTo>
                <a:lnTo>
                  <a:pt x="1848" y="1168"/>
                </a:lnTo>
                <a:lnTo>
                  <a:pt x="1844" y="1191"/>
                </a:lnTo>
                <a:lnTo>
                  <a:pt x="1838" y="1216"/>
                </a:lnTo>
                <a:lnTo>
                  <a:pt x="1834" y="1239"/>
                </a:lnTo>
                <a:lnTo>
                  <a:pt x="1826" y="1263"/>
                </a:lnTo>
                <a:lnTo>
                  <a:pt x="1820" y="1286"/>
                </a:lnTo>
                <a:lnTo>
                  <a:pt x="1813" y="1309"/>
                </a:lnTo>
                <a:lnTo>
                  <a:pt x="1806" y="1333"/>
                </a:lnTo>
                <a:lnTo>
                  <a:pt x="1797" y="1355"/>
                </a:lnTo>
                <a:lnTo>
                  <a:pt x="1790" y="1377"/>
                </a:lnTo>
                <a:lnTo>
                  <a:pt x="1779" y="1399"/>
                </a:lnTo>
                <a:lnTo>
                  <a:pt x="1771" y="1421"/>
                </a:lnTo>
                <a:lnTo>
                  <a:pt x="1760" y="1443"/>
                </a:lnTo>
                <a:lnTo>
                  <a:pt x="1750" y="1465"/>
                </a:lnTo>
                <a:lnTo>
                  <a:pt x="1738" y="1485"/>
                </a:lnTo>
                <a:lnTo>
                  <a:pt x="1728" y="1506"/>
                </a:lnTo>
                <a:lnTo>
                  <a:pt x="1715" y="1526"/>
                </a:lnTo>
                <a:lnTo>
                  <a:pt x="1703" y="1545"/>
                </a:lnTo>
                <a:lnTo>
                  <a:pt x="1690" y="1566"/>
                </a:lnTo>
                <a:lnTo>
                  <a:pt x="1677" y="1585"/>
                </a:lnTo>
                <a:lnTo>
                  <a:pt x="1664" y="1604"/>
                </a:lnTo>
                <a:lnTo>
                  <a:pt x="1650" y="1623"/>
                </a:lnTo>
                <a:lnTo>
                  <a:pt x="1636" y="1640"/>
                </a:lnTo>
                <a:lnTo>
                  <a:pt x="1621" y="1658"/>
                </a:lnTo>
                <a:lnTo>
                  <a:pt x="1605" y="1675"/>
                </a:lnTo>
                <a:lnTo>
                  <a:pt x="1590" y="1693"/>
                </a:lnTo>
                <a:lnTo>
                  <a:pt x="1574" y="1709"/>
                </a:lnTo>
                <a:lnTo>
                  <a:pt x="1557" y="1725"/>
                </a:lnTo>
                <a:lnTo>
                  <a:pt x="1540" y="1741"/>
                </a:lnTo>
                <a:lnTo>
                  <a:pt x="1523" y="1756"/>
                </a:lnTo>
                <a:lnTo>
                  <a:pt x="1507" y="1772"/>
                </a:lnTo>
                <a:lnTo>
                  <a:pt x="1488" y="1786"/>
                </a:lnTo>
                <a:lnTo>
                  <a:pt x="1470" y="1800"/>
                </a:lnTo>
                <a:lnTo>
                  <a:pt x="1452" y="1813"/>
                </a:lnTo>
                <a:lnTo>
                  <a:pt x="1433" y="1826"/>
                </a:lnTo>
                <a:lnTo>
                  <a:pt x="1414" y="1839"/>
                </a:lnTo>
                <a:lnTo>
                  <a:pt x="1395" y="1851"/>
                </a:lnTo>
                <a:lnTo>
                  <a:pt x="1375" y="1863"/>
                </a:lnTo>
                <a:lnTo>
                  <a:pt x="1356" y="1874"/>
                </a:lnTo>
                <a:lnTo>
                  <a:pt x="1335" y="1884"/>
                </a:lnTo>
                <a:lnTo>
                  <a:pt x="1315" y="1895"/>
                </a:lnTo>
                <a:lnTo>
                  <a:pt x="1294" y="1905"/>
                </a:lnTo>
                <a:lnTo>
                  <a:pt x="1272" y="1914"/>
                </a:lnTo>
                <a:lnTo>
                  <a:pt x="1252" y="1923"/>
                </a:lnTo>
                <a:lnTo>
                  <a:pt x="1230" y="1930"/>
                </a:lnTo>
                <a:lnTo>
                  <a:pt x="1208" y="1939"/>
                </a:lnTo>
                <a:lnTo>
                  <a:pt x="1186" y="1944"/>
                </a:lnTo>
                <a:lnTo>
                  <a:pt x="1164" y="1952"/>
                </a:lnTo>
                <a:lnTo>
                  <a:pt x="1142" y="1958"/>
                </a:lnTo>
                <a:lnTo>
                  <a:pt x="1118" y="1962"/>
                </a:lnTo>
                <a:lnTo>
                  <a:pt x="1096" y="1966"/>
                </a:lnTo>
                <a:lnTo>
                  <a:pt x="1073" y="1971"/>
                </a:lnTo>
                <a:lnTo>
                  <a:pt x="1049" y="1975"/>
                </a:lnTo>
                <a:lnTo>
                  <a:pt x="1026" y="1978"/>
                </a:lnTo>
                <a:lnTo>
                  <a:pt x="1002" y="1980"/>
                </a:lnTo>
                <a:lnTo>
                  <a:pt x="979" y="1981"/>
                </a:lnTo>
                <a:lnTo>
                  <a:pt x="955" y="1983"/>
                </a:lnTo>
                <a:lnTo>
                  <a:pt x="931" y="1983"/>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89" name="Rectangle 40">
            <a:extLst>
              <a:ext uri="{FF2B5EF4-FFF2-40B4-BE49-F238E27FC236}">
                <a16:creationId xmlns:a16="http://schemas.microsoft.com/office/drawing/2014/main" id="{D0D83BAF-C7F0-47E3-8594-09545078B6A0}"/>
              </a:ext>
            </a:extLst>
          </p:cNvPr>
          <p:cNvSpPr>
            <a:spLocks noChangeArrowheads="1"/>
          </p:cNvSpPr>
          <p:nvPr/>
        </p:nvSpPr>
        <p:spPr bwMode="auto">
          <a:xfrm>
            <a:off x="2054225" y="3660190"/>
            <a:ext cx="8207375" cy="2319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764" tIns="47883" rIns="95764" bIns="47883"/>
          <a:lstStyle>
            <a:lvl1pPr marL="342900" indent="-342900">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buClr>
                <a:schemeClr val="tx1"/>
              </a:buClr>
              <a:buSzPct val="70000"/>
              <a:buFont typeface="Wingdings" panose="05000000000000000000" pitchFamily="2" charset="2"/>
              <a:buNone/>
            </a:pPr>
            <a:r>
              <a:rPr lang="en-US" altLang="zh-TW" sz="2400" dirty="0">
                <a:ea typeface="新細明體" panose="02020500000000000000" pitchFamily="18" charset="-120"/>
              </a:rPr>
              <a:t>Ideally, we would like to trap those sensitive instructions.</a:t>
            </a:r>
          </a:p>
          <a:p>
            <a:pPr eaLnBrk="1" hangingPunct="1">
              <a:buClr>
                <a:schemeClr val="tx1"/>
              </a:buClr>
              <a:buSzPct val="70000"/>
              <a:buFont typeface="Wingdings" panose="05000000000000000000" pitchFamily="2" charset="2"/>
              <a:buNone/>
            </a:pPr>
            <a:r>
              <a:rPr lang="en-US" altLang="zh-TW" sz="2400" dirty="0">
                <a:ea typeface="新細明體" panose="02020500000000000000" pitchFamily="18" charset="-120"/>
              </a:rPr>
              <a:t>Running guest OS in de-privileged mode has two problems</a:t>
            </a:r>
          </a:p>
          <a:p>
            <a:pPr eaLnBrk="1" hangingPunct="1">
              <a:buClr>
                <a:schemeClr val="tx1"/>
              </a:buClr>
              <a:buSzPct val="70000"/>
              <a:buFont typeface="Wingdings" panose="05000000000000000000" pitchFamily="2" charset="2"/>
              <a:buNone/>
            </a:pPr>
            <a:endParaRPr lang="en-US" altLang="zh-TW" sz="2400" dirty="0">
              <a:ea typeface="新細明體" panose="02020500000000000000" pitchFamily="18" charset="-120"/>
            </a:endParaRPr>
          </a:p>
          <a:p>
            <a:pPr eaLnBrk="1" hangingPunct="1">
              <a:buClr>
                <a:schemeClr val="tx1"/>
              </a:buClr>
              <a:buSzPct val="70000"/>
            </a:pPr>
            <a:r>
              <a:rPr lang="en-US" altLang="zh-TW" sz="2000" dirty="0">
                <a:solidFill>
                  <a:schemeClr val="tx2"/>
                </a:solidFill>
                <a:ea typeface="新細明體" panose="02020500000000000000" pitchFamily="18" charset="-120"/>
              </a:rPr>
              <a:t> Trapping too many – no need to trap on all privileged instructions </a:t>
            </a:r>
          </a:p>
          <a:p>
            <a:pPr eaLnBrk="1" hangingPunct="1">
              <a:buClr>
                <a:schemeClr val="tx1"/>
              </a:buClr>
              <a:buSzPct val="70000"/>
            </a:pPr>
            <a:r>
              <a:rPr lang="en-US" altLang="zh-TW" sz="2000" dirty="0">
                <a:solidFill>
                  <a:schemeClr val="tx2"/>
                </a:solidFill>
                <a:ea typeface="新細明體" panose="02020500000000000000" pitchFamily="18" charset="-120"/>
              </a:rPr>
              <a:t> Trapping too few  -- some sensitive instructions are not trapped</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日期版面配置區 3">
            <a:extLst>
              <a:ext uri="{FF2B5EF4-FFF2-40B4-BE49-F238E27FC236}">
                <a16:creationId xmlns:a16="http://schemas.microsoft.com/office/drawing/2014/main" id="{6AA9B2E3-3213-4563-B6BF-5C96F4E50351}"/>
              </a:ext>
            </a:extLst>
          </p:cNvPr>
          <p:cNvSpPr>
            <a:spLocks noGrp="1"/>
          </p:cNvSpPr>
          <p:nvPr>
            <p:ph type="dt" sz="quarter" idx="10"/>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spcBef>
                <a:spcPct val="20000"/>
              </a:spcBef>
              <a:buClr>
                <a:schemeClr val="tx1"/>
              </a:buClr>
              <a:buSzPct val="70000"/>
              <a:buFont typeface="Wingdings" panose="05000000000000000000" pitchFamily="2" charset="2"/>
              <a:buChar char="q"/>
              <a:defRPr sz="2800" b="1">
                <a:solidFill>
                  <a:schemeClr val="tx1"/>
                </a:solidFill>
                <a:latin typeface="Arial" panose="020B0604020202020204" pitchFamily="34" charset="0"/>
              </a:defRPr>
            </a:lvl1pPr>
            <a:lvl2pPr marL="742950" indent="-285750" defTabSz="958850">
              <a:spcBef>
                <a:spcPct val="20000"/>
              </a:spcBef>
              <a:buClr>
                <a:schemeClr val="tx1"/>
              </a:buClr>
              <a:buSzPct val="65000"/>
              <a:buChar char="•"/>
              <a:defRPr sz="2500">
                <a:solidFill>
                  <a:schemeClr val="tx1"/>
                </a:solidFill>
                <a:latin typeface="Arial" panose="020B0604020202020204" pitchFamily="34" charset="0"/>
              </a:defRPr>
            </a:lvl2pPr>
            <a:lvl3pPr marL="1143000" indent="-228600" defTabSz="958850">
              <a:spcBef>
                <a:spcPct val="20000"/>
              </a:spcBef>
              <a:buClr>
                <a:schemeClr val="tx1"/>
              </a:buClr>
              <a:buSzPct val="65000"/>
              <a:buFont typeface="Wingdings" panose="05000000000000000000" pitchFamily="2" charset="2"/>
              <a:buChar char="•"/>
              <a:defRPr sz="2500">
                <a:solidFill>
                  <a:schemeClr val="tx1"/>
                </a:solidFill>
                <a:latin typeface="Arial" panose="020B0604020202020204" pitchFamily="34" charset="0"/>
              </a:defRPr>
            </a:lvl3pPr>
            <a:lvl4pPr marL="1600200" indent="-228600" defTabSz="958850">
              <a:spcBef>
                <a:spcPct val="20000"/>
              </a:spcBef>
              <a:buClr>
                <a:schemeClr val="tx2"/>
              </a:buClr>
              <a:buSzPct val="75000"/>
              <a:buFont typeface="Wingdings" panose="05000000000000000000" pitchFamily="2" charset="2"/>
              <a:buChar char="–"/>
              <a:defRPr sz="2100">
                <a:solidFill>
                  <a:schemeClr val="tx1"/>
                </a:solidFill>
                <a:latin typeface="Arial" panose="020B0604020202020204" pitchFamily="34" charset="0"/>
              </a:defRPr>
            </a:lvl4pPr>
            <a:lvl5pPr marL="2057400" indent="-228600" defTabSz="958850">
              <a:spcBef>
                <a:spcPct val="20000"/>
              </a:spcBef>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9pPr>
          </a:lstStyle>
          <a:p>
            <a:pPr>
              <a:spcBef>
                <a:spcPct val="0"/>
              </a:spcBef>
              <a:buClrTx/>
              <a:buSzTx/>
              <a:buFontTx/>
              <a:buNone/>
              <a:defRPr/>
            </a:pPr>
            <a:r>
              <a:rPr lang="en-US" altLang="zh-TW" sz="1500" b="0"/>
              <a:t>System VMs</a:t>
            </a:r>
          </a:p>
        </p:txBody>
      </p:sp>
      <p:sp>
        <p:nvSpPr>
          <p:cNvPr id="55299" name="投影片編號版面配置區 5">
            <a:extLst>
              <a:ext uri="{FF2B5EF4-FFF2-40B4-BE49-F238E27FC236}">
                <a16:creationId xmlns:a16="http://schemas.microsoft.com/office/drawing/2014/main" id="{86A83943-AD7B-4F6A-84C7-95368363CAFA}"/>
              </a:ext>
            </a:extLst>
          </p:cNvPr>
          <p:cNvSpPr>
            <a:spLocks noGrp="1"/>
          </p:cNvSpPr>
          <p:nvPr>
            <p:ph type="sldNum" sz="quarter" idx="12"/>
          </p:nvPr>
        </p:nvSpPr>
        <p:spPr bwMode="auto">
          <a:xfrm>
            <a:off x="6553200" y="6245225"/>
            <a:ext cx="22860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ClrTx/>
              <a:buFontTx/>
              <a:buNone/>
            </a:pPr>
            <a:fld id="{12D1D4BD-4255-4DDC-B1F1-D70870340338}" type="slidenum">
              <a:rPr lang="en-US" altLang="zh-TW" smtClean="0"/>
              <a:pPr>
                <a:spcBef>
                  <a:spcPct val="0"/>
                </a:spcBef>
                <a:buClrTx/>
                <a:buFontTx/>
                <a:buNone/>
              </a:pPr>
              <a:t>50</a:t>
            </a:fld>
            <a:endParaRPr lang="en-US" altLang="zh-TW" sz="1200"/>
          </a:p>
        </p:txBody>
      </p:sp>
      <p:sp>
        <p:nvSpPr>
          <p:cNvPr id="536578" name="Rectangle 2">
            <a:extLst>
              <a:ext uri="{FF2B5EF4-FFF2-40B4-BE49-F238E27FC236}">
                <a16:creationId xmlns:a16="http://schemas.microsoft.com/office/drawing/2014/main" id="{BA39CCA5-4354-45C3-AEF5-C81DCD42DA7A}"/>
              </a:ext>
            </a:extLst>
          </p:cNvPr>
          <p:cNvSpPr>
            <a:spLocks noGrp="1" noChangeArrowheads="1"/>
          </p:cNvSpPr>
          <p:nvPr>
            <p:ph type="title"/>
          </p:nvPr>
        </p:nvSpPr>
        <p:spPr>
          <a:xfrm>
            <a:off x="1777206" y="57150"/>
            <a:ext cx="8637588" cy="628650"/>
          </a:xfrm>
          <a:solidFill>
            <a:schemeClr val="bg1">
              <a:lumMod val="60000"/>
              <a:lumOff val="40000"/>
            </a:schemeClr>
          </a:solidFill>
        </p:spPr>
        <p:txBody>
          <a:bodyPr/>
          <a:lstStyle/>
          <a:p>
            <a:pPr eaLnBrk="1" hangingPunct="1">
              <a:defRPr/>
            </a:pPr>
            <a:r>
              <a:rPr lang="en-US" altLang="zh-TW" sz="4000" dirty="0">
                <a:ea typeface="新細明體" charset="-120"/>
              </a:rPr>
              <a:t>Quick Review</a:t>
            </a:r>
          </a:p>
        </p:txBody>
      </p:sp>
      <p:sp>
        <p:nvSpPr>
          <p:cNvPr id="55301" name="Rectangle 3">
            <a:extLst>
              <a:ext uri="{FF2B5EF4-FFF2-40B4-BE49-F238E27FC236}">
                <a16:creationId xmlns:a16="http://schemas.microsoft.com/office/drawing/2014/main" id="{AEFD53FB-9BCD-451B-8DD5-38B8D31C9798}"/>
              </a:ext>
            </a:extLst>
          </p:cNvPr>
          <p:cNvSpPr>
            <a:spLocks noGrp="1" noChangeArrowheads="1"/>
          </p:cNvSpPr>
          <p:nvPr>
            <p:ph type="body" idx="1"/>
          </p:nvPr>
        </p:nvSpPr>
        <p:spPr>
          <a:xfrm>
            <a:off x="-126458" y="990599"/>
            <a:ext cx="12192000" cy="5254625"/>
          </a:xfrm>
        </p:spPr>
        <p:txBody>
          <a:bodyPr/>
          <a:lstStyle/>
          <a:p>
            <a:pPr marL="955675" lvl="1" indent="-476250">
              <a:lnSpc>
                <a:spcPct val="90000"/>
              </a:lnSpc>
              <a:buNone/>
              <a:defRPr/>
            </a:pPr>
            <a:r>
              <a:rPr lang="en-US" altLang="zh-TW" sz="2800" dirty="0">
                <a:solidFill>
                  <a:srgbClr val="000066"/>
                </a:solidFill>
                <a:ea typeface="新細明體" panose="02020500000000000000" pitchFamily="18" charset="-120"/>
              </a:rPr>
              <a:t>Why System Virtual Machines: </a:t>
            </a:r>
          </a:p>
          <a:p>
            <a:pPr marL="955675" lvl="1" indent="-476250">
              <a:lnSpc>
                <a:spcPct val="90000"/>
              </a:lnSpc>
              <a:buFont typeface="Arial" panose="020B0604020202020204" pitchFamily="34" charset="0"/>
              <a:buChar char="•"/>
              <a:defRPr/>
            </a:pPr>
            <a:r>
              <a:rPr lang="en-US" altLang="zh-TW" sz="2800" dirty="0">
                <a:solidFill>
                  <a:srgbClr val="000066"/>
                </a:solidFill>
                <a:ea typeface="新細明體" panose="02020500000000000000" pitchFamily="18" charset="-120"/>
              </a:rPr>
              <a:t>want to run multiple OSes on the same machine at the same time</a:t>
            </a:r>
          </a:p>
          <a:p>
            <a:pPr marL="955675" lvl="1" indent="-476250">
              <a:lnSpc>
                <a:spcPct val="90000"/>
              </a:lnSpc>
              <a:buFont typeface="Arial" panose="020B0604020202020204" pitchFamily="34" charset="0"/>
              <a:buChar char="•"/>
              <a:defRPr/>
            </a:pPr>
            <a:r>
              <a:rPr lang="en-US" altLang="zh-TW" sz="2800" dirty="0">
                <a:solidFill>
                  <a:srgbClr val="000066"/>
                </a:solidFill>
                <a:ea typeface="新細明體" panose="02020500000000000000" pitchFamily="18" charset="-120"/>
              </a:rPr>
              <a:t>server/client consolidation, isolation, encapsulation, migration, interposition, … many advantages</a:t>
            </a:r>
          </a:p>
          <a:p>
            <a:pPr marL="479425" lvl="1" indent="0">
              <a:lnSpc>
                <a:spcPct val="90000"/>
              </a:lnSpc>
              <a:buNone/>
              <a:defRPr/>
            </a:pPr>
            <a:r>
              <a:rPr lang="en-US" altLang="zh-TW" sz="2800" dirty="0">
                <a:solidFill>
                  <a:srgbClr val="000066"/>
                </a:solidFill>
                <a:ea typeface="新細明體" panose="02020500000000000000" pitchFamily="18" charset="-120"/>
              </a:rPr>
              <a:t>How to implement System VM efficiently?</a:t>
            </a:r>
          </a:p>
          <a:p>
            <a:pPr marL="936625" lvl="1" indent="-457200">
              <a:lnSpc>
                <a:spcPct val="90000"/>
              </a:lnSpc>
              <a:buFont typeface="Arial" panose="020B0604020202020204" pitchFamily="34" charset="0"/>
              <a:buChar char="•"/>
              <a:defRPr/>
            </a:pPr>
            <a:r>
              <a:rPr lang="en-US" altLang="zh-TW" sz="2800" dirty="0">
                <a:solidFill>
                  <a:srgbClr val="000066"/>
                </a:solidFill>
                <a:ea typeface="新細明體" panose="02020500000000000000" pitchFamily="18" charset="-120"/>
              </a:rPr>
              <a:t>De-privilege a guest OS, so system sensitive instructions should trap.</a:t>
            </a:r>
          </a:p>
          <a:p>
            <a:pPr marL="936625" lvl="1" indent="-457200">
              <a:lnSpc>
                <a:spcPct val="90000"/>
              </a:lnSpc>
              <a:buFont typeface="Arial" panose="020B0604020202020204" pitchFamily="34" charset="0"/>
              <a:buChar char="•"/>
              <a:defRPr/>
            </a:pPr>
            <a:r>
              <a:rPr lang="en-US" altLang="zh-TW" sz="2800" dirty="0">
                <a:solidFill>
                  <a:srgbClr val="000066"/>
                </a:solidFill>
                <a:ea typeface="新細明體" panose="02020500000000000000" pitchFamily="18" charset="-120"/>
              </a:rPr>
              <a:t>Some instructions are sensitive, but not privileged, what to do for them? Many popular machines (x86, ARM, MIPS, …) have such instructions.</a:t>
            </a:r>
          </a:p>
          <a:p>
            <a:pPr marL="936625" lvl="1" indent="-457200">
              <a:lnSpc>
                <a:spcPct val="90000"/>
              </a:lnSpc>
              <a:buFont typeface="Arial" panose="020B0604020202020204" pitchFamily="34" charset="0"/>
              <a:buChar char="•"/>
              <a:defRPr/>
            </a:pPr>
            <a:r>
              <a:rPr lang="en-US" altLang="zh-TW" sz="2800" dirty="0">
                <a:solidFill>
                  <a:srgbClr val="000066"/>
                </a:solidFill>
                <a:ea typeface="新細明體" panose="02020500000000000000" pitchFamily="18" charset="-120"/>
              </a:rPr>
              <a:t>Can we tell the hardware to trap these instructions? You may trap too many instructions, since they are ordinary instructions, and should not be trapped unless executing in kernel mode.</a:t>
            </a:r>
          </a:p>
          <a:p>
            <a:pPr marL="936625" lvl="1" indent="-457200">
              <a:lnSpc>
                <a:spcPct val="90000"/>
              </a:lnSpc>
              <a:buFont typeface="Arial" panose="020B0604020202020204" pitchFamily="34" charset="0"/>
              <a:buChar char="•"/>
              <a:defRPr/>
            </a:pPr>
            <a:r>
              <a:rPr lang="en-US" altLang="zh-TW" sz="2400" dirty="0">
                <a:solidFill>
                  <a:srgbClr val="000066"/>
                </a:solidFill>
                <a:ea typeface="新細明體" panose="02020500000000000000" pitchFamily="18" charset="-120"/>
              </a:rPr>
              <a:t>Can we trap them when they are in kernel mode? but the guest OS is now in user mode.</a:t>
            </a:r>
          </a:p>
          <a:p>
            <a:pPr marL="533400" indent="-533400">
              <a:lnSpc>
                <a:spcPct val="90000"/>
              </a:lnSpc>
              <a:buNone/>
              <a:defRPr/>
            </a:pPr>
            <a:endParaRPr lang="en-US" altLang="zh-TW" dirty="0">
              <a:ea typeface="新細明體" panose="02020500000000000000" pitchFamily="18" charset="-120"/>
            </a:endParaRPr>
          </a:p>
        </p:txBody>
      </p:sp>
    </p:spTree>
    <p:extLst>
      <p:ext uri="{BB962C8B-B14F-4D97-AF65-F5344CB8AC3E}">
        <p14:creationId xmlns:p14="http://schemas.microsoft.com/office/powerpoint/2010/main" val="1201188799"/>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reeform 8">
            <a:extLst>
              <a:ext uri="{FF2B5EF4-FFF2-40B4-BE49-F238E27FC236}">
                <a16:creationId xmlns:a16="http://schemas.microsoft.com/office/drawing/2014/main" id="{1F01B6AE-9EA1-4287-9F4A-974FAB09F673}"/>
              </a:ext>
            </a:extLst>
          </p:cNvPr>
          <p:cNvSpPr>
            <a:spLocks/>
          </p:cNvSpPr>
          <p:nvPr/>
        </p:nvSpPr>
        <p:spPr bwMode="auto">
          <a:xfrm>
            <a:off x="3124200" y="1439863"/>
            <a:ext cx="2586038" cy="2754312"/>
          </a:xfrm>
          <a:custGeom>
            <a:avLst/>
            <a:gdLst>
              <a:gd name="T0" fmla="*/ 2147483646 w 3259"/>
              <a:gd name="T1" fmla="*/ 2147483646 h 3469"/>
              <a:gd name="T2" fmla="*/ 2147483646 w 3259"/>
              <a:gd name="T3" fmla="*/ 2147483646 h 3469"/>
              <a:gd name="T4" fmla="*/ 2147483646 w 3259"/>
              <a:gd name="T5" fmla="*/ 2147483646 h 3469"/>
              <a:gd name="T6" fmla="*/ 2147483646 w 3259"/>
              <a:gd name="T7" fmla="*/ 2147483646 h 3469"/>
              <a:gd name="T8" fmla="*/ 2147483646 w 3259"/>
              <a:gd name="T9" fmla="*/ 2147483646 h 3469"/>
              <a:gd name="T10" fmla="*/ 2147483646 w 3259"/>
              <a:gd name="T11" fmla="*/ 2147483646 h 3469"/>
              <a:gd name="T12" fmla="*/ 2147483646 w 3259"/>
              <a:gd name="T13" fmla="*/ 2147483646 h 3469"/>
              <a:gd name="T14" fmla="*/ 2147483646 w 3259"/>
              <a:gd name="T15" fmla="*/ 2147483646 h 3469"/>
              <a:gd name="T16" fmla="*/ 2147483646 w 3259"/>
              <a:gd name="T17" fmla="*/ 2147483646 h 3469"/>
              <a:gd name="T18" fmla="*/ 2147483646 w 3259"/>
              <a:gd name="T19" fmla="*/ 2147483646 h 3469"/>
              <a:gd name="T20" fmla="*/ 2147483646 w 3259"/>
              <a:gd name="T21" fmla="*/ 2147483646 h 3469"/>
              <a:gd name="T22" fmla="*/ 2147483646 w 3259"/>
              <a:gd name="T23" fmla="*/ 2147483646 h 3469"/>
              <a:gd name="T24" fmla="*/ 2147483646 w 3259"/>
              <a:gd name="T25" fmla="*/ 2147483646 h 3469"/>
              <a:gd name="T26" fmla="*/ 0 w 3259"/>
              <a:gd name="T27" fmla="*/ 2147483646 h 3469"/>
              <a:gd name="T28" fmla="*/ 2147483646 w 3259"/>
              <a:gd name="T29" fmla="*/ 2147483646 h 3469"/>
              <a:gd name="T30" fmla="*/ 2147483646 w 3259"/>
              <a:gd name="T31" fmla="*/ 2147483646 h 3469"/>
              <a:gd name="T32" fmla="*/ 2147483646 w 3259"/>
              <a:gd name="T33" fmla="*/ 2147483646 h 3469"/>
              <a:gd name="T34" fmla="*/ 2147483646 w 3259"/>
              <a:gd name="T35" fmla="*/ 2147483646 h 3469"/>
              <a:gd name="T36" fmla="*/ 2147483646 w 3259"/>
              <a:gd name="T37" fmla="*/ 2147483646 h 3469"/>
              <a:gd name="T38" fmla="*/ 2147483646 w 3259"/>
              <a:gd name="T39" fmla="*/ 2147483646 h 3469"/>
              <a:gd name="T40" fmla="*/ 2147483646 w 3259"/>
              <a:gd name="T41" fmla="*/ 2147483646 h 3469"/>
              <a:gd name="T42" fmla="*/ 2147483646 w 3259"/>
              <a:gd name="T43" fmla="*/ 2147483646 h 3469"/>
              <a:gd name="T44" fmla="*/ 2147483646 w 3259"/>
              <a:gd name="T45" fmla="*/ 2147483646 h 3469"/>
              <a:gd name="T46" fmla="*/ 2147483646 w 3259"/>
              <a:gd name="T47" fmla="*/ 2147483646 h 3469"/>
              <a:gd name="T48" fmla="*/ 2147483646 w 3259"/>
              <a:gd name="T49" fmla="*/ 2147483646 h 3469"/>
              <a:gd name="T50" fmla="*/ 2147483646 w 3259"/>
              <a:gd name="T51" fmla="*/ 2147483646 h 3469"/>
              <a:gd name="T52" fmla="*/ 2147483646 w 3259"/>
              <a:gd name="T53" fmla="*/ 2147483646 h 3469"/>
              <a:gd name="T54" fmla="*/ 2147483646 w 3259"/>
              <a:gd name="T55" fmla="*/ 0 h 3469"/>
              <a:gd name="T56" fmla="*/ 2147483646 w 3259"/>
              <a:gd name="T57" fmla="*/ 0 h 3469"/>
              <a:gd name="T58" fmla="*/ 2147483646 w 3259"/>
              <a:gd name="T59" fmla="*/ 2147483646 h 3469"/>
              <a:gd name="T60" fmla="*/ 2147483646 w 3259"/>
              <a:gd name="T61" fmla="*/ 2147483646 h 3469"/>
              <a:gd name="T62" fmla="*/ 2147483646 w 3259"/>
              <a:gd name="T63" fmla="*/ 2147483646 h 3469"/>
              <a:gd name="T64" fmla="*/ 2147483646 w 3259"/>
              <a:gd name="T65" fmla="*/ 2147483646 h 3469"/>
              <a:gd name="T66" fmla="*/ 2147483646 w 3259"/>
              <a:gd name="T67" fmla="*/ 2147483646 h 3469"/>
              <a:gd name="T68" fmla="*/ 2147483646 w 3259"/>
              <a:gd name="T69" fmla="*/ 2147483646 h 3469"/>
              <a:gd name="T70" fmla="*/ 2147483646 w 3259"/>
              <a:gd name="T71" fmla="*/ 2147483646 h 3469"/>
              <a:gd name="T72" fmla="*/ 2147483646 w 3259"/>
              <a:gd name="T73" fmla="*/ 2147483646 h 3469"/>
              <a:gd name="T74" fmla="*/ 2147483646 w 3259"/>
              <a:gd name="T75" fmla="*/ 2147483646 h 3469"/>
              <a:gd name="T76" fmla="*/ 2147483646 w 3259"/>
              <a:gd name="T77" fmla="*/ 2147483646 h 3469"/>
              <a:gd name="T78" fmla="*/ 2147483646 w 3259"/>
              <a:gd name="T79" fmla="*/ 2147483646 h 3469"/>
              <a:gd name="T80" fmla="*/ 2147483646 w 3259"/>
              <a:gd name="T81" fmla="*/ 2147483646 h 3469"/>
              <a:gd name="T82" fmla="*/ 2147483646 w 3259"/>
              <a:gd name="T83" fmla="*/ 2147483646 h 3469"/>
              <a:gd name="T84" fmla="*/ 2147483646 w 3259"/>
              <a:gd name="T85" fmla="*/ 2147483646 h 3469"/>
              <a:gd name="T86" fmla="*/ 2147483646 w 3259"/>
              <a:gd name="T87" fmla="*/ 2147483646 h 3469"/>
              <a:gd name="T88" fmla="*/ 2147483646 w 3259"/>
              <a:gd name="T89" fmla="*/ 2147483646 h 3469"/>
              <a:gd name="T90" fmla="*/ 2147483646 w 3259"/>
              <a:gd name="T91" fmla="*/ 2147483646 h 3469"/>
              <a:gd name="T92" fmla="*/ 2147483646 w 3259"/>
              <a:gd name="T93" fmla="*/ 2147483646 h 3469"/>
              <a:gd name="T94" fmla="*/ 2147483646 w 3259"/>
              <a:gd name="T95" fmla="*/ 2147483646 h 3469"/>
              <a:gd name="T96" fmla="*/ 2147483646 w 3259"/>
              <a:gd name="T97" fmla="*/ 2147483646 h 3469"/>
              <a:gd name="T98" fmla="*/ 2147483646 w 3259"/>
              <a:gd name="T99" fmla="*/ 2147483646 h 3469"/>
              <a:gd name="T100" fmla="*/ 2147483646 w 3259"/>
              <a:gd name="T101" fmla="*/ 2147483646 h 3469"/>
              <a:gd name="T102" fmla="*/ 2147483646 w 3259"/>
              <a:gd name="T103" fmla="*/ 2147483646 h 3469"/>
              <a:gd name="T104" fmla="*/ 2147483646 w 3259"/>
              <a:gd name="T105" fmla="*/ 2147483646 h 3469"/>
              <a:gd name="T106" fmla="*/ 2147483646 w 3259"/>
              <a:gd name="T107" fmla="*/ 2147483646 h 3469"/>
              <a:gd name="T108" fmla="*/ 2147483646 w 3259"/>
              <a:gd name="T109" fmla="*/ 2147483646 h 3469"/>
              <a:gd name="T110" fmla="*/ 2147483646 w 3259"/>
              <a:gd name="T111" fmla="*/ 2147483646 h 346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259"/>
              <a:gd name="T169" fmla="*/ 0 h 3469"/>
              <a:gd name="T170" fmla="*/ 3259 w 3259"/>
              <a:gd name="T171" fmla="*/ 3469 h 346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259" h="3469">
                <a:moveTo>
                  <a:pt x="1629" y="3469"/>
                </a:moveTo>
                <a:lnTo>
                  <a:pt x="1588" y="3468"/>
                </a:lnTo>
                <a:lnTo>
                  <a:pt x="1545" y="3466"/>
                </a:lnTo>
                <a:lnTo>
                  <a:pt x="1504" y="3463"/>
                </a:lnTo>
                <a:lnTo>
                  <a:pt x="1463" y="3459"/>
                </a:lnTo>
                <a:lnTo>
                  <a:pt x="1422" y="3454"/>
                </a:lnTo>
                <a:lnTo>
                  <a:pt x="1381" y="3449"/>
                </a:lnTo>
                <a:lnTo>
                  <a:pt x="1341" y="3441"/>
                </a:lnTo>
                <a:lnTo>
                  <a:pt x="1300" y="3432"/>
                </a:lnTo>
                <a:lnTo>
                  <a:pt x="1261" y="3424"/>
                </a:lnTo>
                <a:lnTo>
                  <a:pt x="1223" y="3413"/>
                </a:lnTo>
                <a:lnTo>
                  <a:pt x="1183" y="3403"/>
                </a:lnTo>
                <a:lnTo>
                  <a:pt x="1145" y="3390"/>
                </a:lnTo>
                <a:lnTo>
                  <a:pt x="1069" y="3364"/>
                </a:lnTo>
                <a:lnTo>
                  <a:pt x="995" y="3331"/>
                </a:lnTo>
                <a:lnTo>
                  <a:pt x="923" y="3298"/>
                </a:lnTo>
                <a:lnTo>
                  <a:pt x="853" y="3258"/>
                </a:lnTo>
                <a:lnTo>
                  <a:pt x="784" y="3217"/>
                </a:lnTo>
                <a:lnTo>
                  <a:pt x="718" y="3172"/>
                </a:lnTo>
                <a:lnTo>
                  <a:pt x="654" y="3124"/>
                </a:lnTo>
                <a:lnTo>
                  <a:pt x="592" y="3073"/>
                </a:lnTo>
                <a:lnTo>
                  <a:pt x="534" y="3018"/>
                </a:lnTo>
                <a:lnTo>
                  <a:pt x="478" y="2960"/>
                </a:lnTo>
                <a:lnTo>
                  <a:pt x="424" y="2900"/>
                </a:lnTo>
                <a:lnTo>
                  <a:pt x="372" y="2837"/>
                </a:lnTo>
                <a:lnTo>
                  <a:pt x="324" y="2771"/>
                </a:lnTo>
                <a:lnTo>
                  <a:pt x="278" y="2704"/>
                </a:lnTo>
                <a:lnTo>
                  <a:pt x="236" y="2634"/>
                </a:lnTo>
                <a:lnTo>
                  <a:pt x="196" y="2560"/>
                </a:lnTo>
                <a:lnTo>
                  <a:pt x="161" y="2486"/>
                </a:lnTo>
                <a:lnTo>
                  <a:pt x="127" y="2410"/>
                </a:lnTo>
                <a:lnTo>
                  <a:pt x="98" y="2331"/>
                </a:lnTo>
                <a:lnTo>
                  <a:pt x="73" y="2250"/>
                </a:lnTo>
                <a:lnTo>
                  <a:pt x="51" y="2167"/>
                </a:lnTo>
                <a:lnTo>
                  <a:pt x="34" y="2083"/>
                </a:lnTo>
                <a:lnTo>
                  <a:pt x="25" y="2041"/>
                </a:lnTo>
                <a:lnTo>
                  <a:pt x="19" y="1999"/>
                </a:lnTo>
                <a:lnTo>
                  <a:pt x="13" y="1955"/>
                </a:lnTo>
                <a:lnTo>
                  <a:pt x="9" y="1911"/>
                </a:lnTo>
                <a:lnTo>
                  <a:pt x="4" y="1867"/>
                </a:lnTo>
                <a:lnTo>
                  <a:pt x="1" y="1823"/>
                </a:lnTo>
                <a:lnTo>
                  <a:pt x="0" y="1779"/>
                </a:lnTo>
                <a:lnTo>
                  <a:pt x="0" y="1734"/>
                </a:lnTo>
                <a:lnTo>
                  <a:pt x="0" y="1690"/>
                </a:lnTo>
                <a:lnTo>
                  <a:pt x="1" y="1644"/>
                </a:lnTo>
                <a:lnTo>
                  <a:pt x="4" y="1601"/>
                </a:lnTo>
                <a:lnTo>
                  <a:pt x="9" y="1557"/>
                </a:lnTo>
                <a:lnTo>
                  <a:pt x="13" y="1513"/>
                </a:lnTo>
                <a:lnTo>
                  <a:pt x="19" y="1470"/>
                </a:lnTo>
                <a:lnTo>
                  <a:pt x="25" y="1426"/>
                </a:lnTo>
                <a:lnTo>
                  <a:pt x="34" y="1384"/>
                </a:lnTo>
                <a:lnTo>
                  <a:pt x="51" y="1301"/>
                </a:lnTo>
                <a:lnTo>
                  <a:pt x="73" y="1219"/>
                </a:lnTo>
                <a:lnTo>
                  <a:pt x="98" y="1138"/>
                </a:lnTo>
                <a:lnTo>
                  <a:pt x="127" y="1059"/>
                </a:lnTo>
                <a:lnTo>
                  <a:pt x="161" y="982"/>
                </a:lnTo>
                <a:lnTo>
                  <a:pt x="196" y="907"/>
                </a:lnTo>
                <a:lnTo>
                  <a:pt x="236" y="835"/>
                </a:lnTo>
                <a:lnTo>
                  <a:pt x="278" y="764"/>
                </a:lnTo>
                <a:lnTo>
                  <a:pt x="324" y="696"/>
                </a:lnTo>
                <a:lnTo>
                  <a:pt x="372" y="630"/>
                </a:lnTo>
                <a:lnTo>
                  <a:pt x="424" y="568"/>
                </a:lnTo>
                <a:lnTo>
                  <a:pt x="476" y="508"/>
                </a:lnTo>
                <a:lnTo>
                  <a:pt x="534" y="450"/>
                </a:lnTo>
                <a:lnTo>
                  <a:pt x="592" y="395"/>
                </a:lnTo>
                <a:lnTo>
                  <a:pt x="654" y="344"/>
                </a:lnTo>
                <a:lnTo>
                  <a:pt x="718" y="295"/>
                </a:lnTo>
                <a:lnTo>
                  <a:pt x="784" y="250"/>
                </a:lnTo>
                <a:lnTo>
                  <a:pt x="853" y="209"/>
                </a:lnTo>
                <a:lnTo>
                  <a:pt x="922" y="171"/>
                </a:lnTo>
                <a:lnTo>
                  <a:pt x="995" y="136"/>
                </a:lnTo>
                <a:lnTo>
                  <a:pt x="1069" y="105"/>
                </a:lnTo>
                <a:lnTo>
                  <a:pt x="1145" y="77"/>
                </a:lnTo>
                <a:lnTo>
                  <a:pt x="1183" y="66"/>
                </a:lnTo>
                <a:lnTo>
                  <a:pt x="1223" y="54"/>
                </a:lnTo>
                <a:lnTo>
                  <a:pt x="1261" y="44"/>
                </a:lnTo>
                <a:lnTo>
                  <a:pt x="1300" y="35"/>
                </a:lnTo>
                <a:lnTo>
                  <a:pt x="1341" y="26"/>
                </a:lnTo>
                <a:lnTo>
                  <a:pt x="1381" y="19"/>
                </a:lnTo>
                <a:lnTo>
                  <a:pt x="1422" y="13"/>
                </a:lnTo>
                <a:lnTo>
                  <a:pt x="1463" y="9"/>
                </a:lnTo>
                <a:lnTo>
                  <a:pt x="1504" y="4"/>
                </a:lnTo>
                <a:lnTo>
                  <a:pt x="1545" y="1"/>
                </a:lnTo>
                <a:lnTo>
                  <a:pt x="1588" y="0"/>
                </a:lnTo>
                <a:lnTo>
                  <a:pt x="1629" y="0"/>
                </a:lnTo>
                <a:lnTo>
                  <a:pt x="1671" y="0"/>
                </a:lnTo>
                <a:lnTo>
                  <a:pt x="1712" y="1"/>
                </a:lnTo>
                <a:lnTo>
                  <a:pt x="1755" y="4"/>
                </a:lnTo>
                <a:lnTo>
                  <a:pt x="1796" y="9"/>
                </a:lnTo>
                <a:lnTo>
                  <a:pt x="1837" y="13"/>
                </a:lnTo>
                <a:lnTo>
                  <a:pt x="1878" y="19"/>
                </a:lnTo>
                <a:lnTo>
                  <a:pt x="1917" y="26"/>
                </a:lnTo>
                <a:lnTo>
                  <a:pt x="1957" y="35"/>
                </a:lnTo>
                <a:lnTo>
                  <a:pt x="1997" y="44"/>
                </a:lnTo>
                <a:lnTo>
                  <a:pt x="2036" y="54"/>
                </a:lnTo>
                <a:lnTo>
                  <a:pt x="2074" y="66"/>
                </a:lnTo>
                <a:lnTo>
                  <a:pt x="2114" y="77"/>
                </a:lnTo>
                <a:lnTo>
                  <a:pt x="2189" y="105"/>
                </a:lnTo>
                <a:lnTo>
                  <a:pt x="2263" y="136"/>
                </a:lnTo>
                <a:lnTo>
                  <a:pt x="2335" y="171"/>
                </a:lnTo>
                <a:lnTo>
                  <a:pt x="2406" y="209"/>
                </a:lnTo>
                <a:lnTo>
                  <a:pt x="2475" y="250"/>
                </a:lnTo>
                <a:lnTo>
                  <a:pt x="2541" y="295"/>
                </a:lnTo>
                <a:lnTo>
                  <a:pt x="2604" y="344"/>
                </a:lnTo>
                <a:lnTo>
                  <a:pt x="2665" y="395"/>
                </a:lnTo>
                <a:lnTo>
                  <a:pt x="2724" y="450"/>
                </a:lnTo>
                <a:lnTo>
                  <a:pt x="2781" y="508"/>
                </a:lnTo>
                <a:lnTo>
                  <a:pt x="2835" y="568"/>
                </a:lnTo>
                <a:lnTo>
                  <a:pt x="2887" y="630"/>
                </a:lnTo>
                <a:lnTo>
                  <a:pt x="2935" y="696"/>
                </a:lnTo>
                <a:lnTo>
                  <a:pt x="2980" y="764"/>
                </a:lnTo>
                <a:lnTo>
                  <a:pt x="3023" y="835"/>
                </a:lnTo>
                <a:lnTo>
                  <a:pt x="3061" y="907"/>
                </a:lnTo>
                <a:lnTo>
                  <a:pt x="3098" y="982"/>
                </a:lnTo>
                <a:lnTo>
                  <a:pt x="3130" y="1059"/>
                </a:lnTo>
                <a:lnTo>
                  <a:pt x="3159" y="1138"/>
                </a:lnTo>
                <a:lnTo>
                  <a:pt x="3186" y="1219"/>
                </a:lnTo>
                <a:lnTo>
                  <a:pt x="3208" y="1301"/>
                </a:lnTo>
                <a:lnTo>
                  <a:pt x="3225" y="1384"/>
                </a:lnTo>
                <a:lnTo>
                  <a:pt x="3233" y="1426"/>
                </a:lnTo>
                <a:lnTo>
                  <a:pt x="3240" y="1470"/>
                </a:lnTo>
                <a:lnTo>
                  <a:pt x="3246" y="1513"/>
                </a:lnTo>
                <a:lnTo>
                  <a:pt x="3250" y="1557"/>
                </a:lnTo>
                <a:lnTo>
                  <a:pt x="3253" y="1601"/>
                </a:lnTo>
                <a:lnTo>
                  <a:pt x="3256" y="1644"/>
                </a:lnTo>
                <a:lnTo>
                  <a:pt x="3257" y="1690"/>
                </a:lnTo>
                <a:lnTo>
                  <a:pt x="3259" y="1734"/>
                </a:lnTo>
                <a:lnTo>
                  <a:pt x="3257" y="1779"/>
                </a:lnTo>
                <a:lnTo>
                  <a:pt x="3256" y="1823"/>
                </a:lnTo>
                <a:lnTo>
                  <a:pt x="3253" y="1867"/>
                </a:lnTo>
                <a:lnTo>
                  <a:pt x="3250" y="1911"/>
                </a:lnTo>
                <a:lnTo>
                  <a:pt x="3246" y="1955"/>
                </a:lnTo>
                <a:lnTo>
                  <a:pt x="3240" y="1999"/>
                </a:lnTo>
                <a:lnTo>
                  <a:pt x="3233" y="2041"/>
                </a:lnTo>
                <a:lnTo>
                  <a:pt x="3225" y="2083"/>
                </a:lnTo>
                <a:lnTo>
                  <a:pt x="3208" y="2167"/>
                </a:lnTo>
                <a:lnTo>
                  <a:pt x="3186" y="2250"/>
                </a:lnTo>
                <a:lnTo>
                  <a:pt x="3159" y="2331"/>
                </a:lnTo>
                <a:lnTo>
                  <a:pt x="3130" y="2410"/>
                </a:lnTo>
                <a:lnTo>
                  <a:pt x="3098" y="2486"/>
                </a:lnTo>
                <a:lnTo>
                  <a:pt x="3061" y="2560"/>
                </a:lnTo>
                <a:lnTo>
                  <a:pt x="3023" y="2634"/>
                </a:lnTo>
                <a:lnTo>
                  <a:pt x="2980" y="2704"/>
                </a:lnTo>
                <a:lnTo>
                  <a:pt x="2935" y="2771"/>
                </a:lnTo>
                <a:lnTo>
                  <a:pt x="2887" y="2837"/>
                </a:lnTo>
                <a:lnTo>
                  <a:pt x="2835" y="2900"/>
                </a:lnTo>
                <a:lnTo>
                  <a:pt x="2781" y="2960"/>
                </a:lnTo>
                <a:lnTo>
                  <a:pt x="2724" y="3018"/>
                </a:lnTo>
                <a:lnTo>
                  <a:pt x="2665" y="3073"/>
                </a:lnTo>
                <a:lnTo>
                  <a:pt x="2604" y="3124"/>
                </a:lnTo>
                <a:lnTo>
                  <a:pt x="2541" y="3172"/>
                </a:lnTo>
                <a:lnTo>
                  <a:pt x="2475" y="3217"/>
                </a:lnTo>
                <a:lnTo>
                  <a:pt x="2406" y="3258"/>
                </a:lnTo>
                <a:lnTo>
                  <a:pt x="2335" y="3298"/>
                </a:lnTo>
                <a:lnTo>
                  <a:pt x="2263" y="3331"/>
                </a:lnTo>
                <a:lnTo>
                  <a:pt x="2189" y="3364"/>
                </a:lnTo>
                <a:lnTo>
                  <a:pt x="2114" y="3390"/>
                </a:lnTo>
                <a:lnTo>
                  <a:pt x="2074" y="3403"/>
                </a:lnTo>
                <a:lnTo>
                  <a:pt x="2036" y="3413"/>
                </a:lnTo>
                <a:lnTo>
                  <a:pt x="1997" y="3424"/>
                </a:lnTo>
                <a:lnTo>
                  <a:pt x="1957" y="3432"/>
                </a:lnTo>
                <a:lnTo>
                  <a:pt x="1917" y="3441"/>
                </a:lnTo>
                <a:lnTo>
                  <a:pt x="1878" y="3449"/>
                </a:lnTo>
                <a:lnTo>
                  <a:pt x="1837" y="3454"/>
                </a:lnTo>
                <a:lnTo>
                  <a:pt x="1796" y="3459"/>
                </a:lnTo>
                <a:lnTo>
                  <a:pt x="1755" y="3463"/>
                </a:lnTo>
                <a:lnTo>
                  <a:pt x="1712" y="3466"/>
                </a:lnTo>
                <a:lnTo>
                  <a:pt x="1671" y="3468"/>
                </a:lnTo>
                <a:lnTo>
                  <a:pt x="1629" y="3469"/>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083" name="Freeform 12">
            <a:extLst>
              <a:ext uri="{FF2B5EF4-FFF2-40B4-BE49-F238E27FC236}">
                <a16:creationId xmlns:a16="http://schemas.microsoft.com/office/drawing/2014/main" id="{4D4BB394-8863-41F1-B351-12A31D89B974}"/>
              </a:ext>
            </a:extLst>
          </p:cNvPr>
          <p:cNvSpPr>
            <a:spLocks/>
          </p:cNvSpPr>
          <p:nvPr/>
        </p:nvSpPr>
        <p:spPr bwMode="auto">
          <a:xfrm>
            <a:off x="3640139" y="2619375"/>
            <a:ext cx="1182687" cy="1258888"/>
          </a:xfrm>
          <a:custGeom>
            <a:avLst/>
            <a:gdLst>
              <a:gd name="T0" fmla="*/ 2147483646 w 1489"/>
              <a:gd name="T1" fmla="*/ 2147483646 h 1587"/>
              <a:gd name="T2" fmla="*/ 2147483646 w 1489"/>
              <a:gd name="T3" fmla="*/ 2147483646 h 1587"/>
              <a:gd name="T4" fmla="*/ 2147483646 w 1489"/>
              <a:gd name="T5" fmla="*/ 2147483646 h 1587"/>
              <a:gd name="T6" fmla="*/ 2147483646 w 1489"/>
              <a:gd name="T7" fmla="*/ 2147483646 h 1587"/>
              <a:gd name="T8" fmla="*/ 2147483646 w 1489"/>
              <a:gd name="T9" fmla="*/ 2147483646 h 1587"/>
              <a:gd name="T10" fmla="*/ 2147483646 w 1489"/>
              <a:gd name="T11" fmla="*/ 2147483646 h 1587"/>
              <a:gd name="T12" fmla="*/ 2147483646 w 1489"/>
              <a:gd name="T13" fmla="*/ 2147483646 h 1587"/>
              <a:gd name="T14" fmla="*/ 2147483646 w 1489"/>
              <a:gd name="T15" fmla="*/ 2147483646 h 1587"/>
              <a:gd name="T16" fmla="*/ 2147483646 w 1489"/>
              <a:gd name="T17" fmla="*/ 2147483646 h 1587"/>
              <a:gd name="T18" fmla="*/ 2147483646 w 1489"/>
              <a:gd name="T19" fmla="*/ 2147483646 h 1587"/>
              <a:gd name="T20" fmla="*/ 2147483646 w 1489"/>
              <a:gd name="T21" fmla="*/ 2147483646 h 1587"/>
              <a:gd name="T22" fmla="*/ 2147483646 w 1489"/>
              <a:gd name="T23" fmla="*/ 2147483646 h 1587"/>
              <a:gd name="T24" fmla="*/ 2147483646 w 1489"/>
              <a:gd name="T25" fmla="*/ 2147483646 h 1587"/>
              <a:gd name="T26" fmla="*/ 2147483646 w 1489"/>
              <a:gd name="T27" fmla="*/ 2147483646 h 1587"/>
              <a:gd name="T28" fmla="*/ 2147483646 w 1489"/>
              <a:gd name="T29" fmla="*/ 2147483646 h 1587"/>
              <a:gd name="T30" fmla="*/ 2147483646 w 1489"/>
              <a:gd name="T31" fmla="*/ 2147483646 h 1587"/>
              <a:gd name="T32" fmla="*/ 2147483646 w 1489"/>
              <a:gd name="T33" fmla="*/ 2147483646 h 1587"/>
              <a:gd name="T34" fmla="*/ 2147483646 w 1489"/>
              <a:gd name="T35" fmla="*/ 2147483646 h 1587"/>
              <a:gd name="T36" fmla="*/ 2147483646 w 1489"/>
              <a:gd name="T37" fmla="*/ 2147483646 h 1587"/>
              <a:gd name="T38" fmla="*/ 2147483646 w 1489"/>
              <a:gd name="T39" fmla="*/ 2147483646 h 1587"/>
              <a:gd name="T40" fmla="*/ 2147483646 w 1489"/>
              <a:gd name="T41" fmla="*/ 2147483646 h 1587"/>
              <a:gd name="T42" fmla="*/ 2147483646 w 1489"/>
              <a:gd name="T43" fmla="*/ 2147483646 h 1587"/>
              <a:gd name="T44" fmla="*/ 2147483646 w 1489"/>
              <a:gd name="T45" fmla="*/ 2147483646 h 1587"/>
              <a:gd name="T46" fmla="*/ 2147483646 w 1489"/>
              <a:gd name="T47" fmla="*/ 2147483646 h 1587"/>
              <a:gd name="T48" fmla="*/ 2147483646 w 1489"/>
              <a:gd name="T49" fmla="*/ 2147483646 h 1587"/>
              <a:gd name="T50" fmla="*/ 2147483646 w 1489"/>
              <a:gd name="T51" fmla="*/ 2147483646 h 1587"/>
              <a:gd name="T52" fmla="*/ 2147483646 w 1489"/>
              <a:gd name="T53" fmla="*/ 2147483646 h 1587"/>
              <a:gd name="T54" fmla="*/ 2147483646 w 1489"/>
              <a:gd name="T55" fmla="*/ 0 h 1587"/>
              <a:gd name="T56" fmla="*/ 2147483646 w 1489"/>
              <a:gd name="T57" fmla="*/ 0 h 1587"/>
              <a:gd name="T58" fmla="*/ 2147483646 w 1489"/>
              <a:gd name="T59" fmla="*/ 2147483646 h 1587"/>
              <a:gd name="T60" fmla="*/ 2147483646 w 1489"/>
              <a:gd name="T61" fmla="*/ 2147483646 h 1587"/>
              <a:gd name="T62" fmla="*/ 2147483646 w 1489"/>
              <a:gd name="T63" fmla="*/ 2147483646 h 1587"/>
              <a:gd name="T64" fmla="*/ 2147483646 w 1489"/>
              <a:gd name="T65" fmla="*/ 2147483646 h 1587"/>
              <a:gd name="T66" fmla="*/ 2147483646 w 1489"/>
              <a:gd name="T67" fmla="*/ 2147483646 h 1587"/>
              <a:gd name="T68" fmla="*/ 2147483646 w 1489"/>
              <a:gd name="T69" fmla="*/ 2147483646 h 1587"/>
              <a:gd name="T70" fmla="*/ 2147483646 w 1489"/>
              <a:gd name="T71" fmla="*/ 2147483646 h 1587"/>
              <a:gd name="T72" fmla="*/ 2147483646 w 1489"/>
              <a:gd name="T73" fmla="*/ 2147483646 h 1587"/>
              <a:gd name="T74" fmla="*/ 2147483646 w 1489"/>
              <a:gd name="T75" fmla="*/ 2147483646 h 1587"/>
              <a:gd name="T76" fmla="*/ 2147483646 w 1489"/>
              <a:gd name="T77" fmla="*/ 2147483646 h 1587"/>
              <a:gd name="T78" fmla="*/ 2147483646 w 1489"/>
              <a:gd name="T79" fmla="*/ 2147483646 h 1587"/>
              <a:gd name="T80" fmla="*/ 2147483646 w 1489"/>
              <a:gd name="T81" fmla="*/ 2147483646 h 1587"/>
              <a:gd name="T82" fmla="*/ 2147483646 w 1489"/>
              <a:gd name="T83" fmla="*/ 2147483646 h 1587"/>
              <a:gd name="T84" fmla="*/ 2147483646 w 1489"/>
              <a:gd name="T85" fmla="*/ 2147483646 h 1587"/>
              <a:gd name="T86" fmla="*/ 2147483646 w 1489"/>
              <a:gd name="T87" fmla="*/ 2147483646 h 1587"/>
              <a:gd name="T88" fmla="*/ 2147483646 w 1489"/>
              <a:gd name="T89" fmla="*/ 2147483646 h 1587"/>
              <a:gd name="T90" fmla="*/ 2147483646 w 1489"/>
              <a:gd name="T91" fmla="*/ 2147483646 h 1587"/>
              <a:gd name="T92" fmla="*/ 2147483646 w 1489"/>
              <a:gd name="T93" fmla="*/ 2147483646 h 1587"/>
              <a:gd name="T94" fmla="*/ 2147483646 w 1489"/>
              <a:gd name="T95" fmla="*/ 2147483646 h 1587"/>
              <a:gd name="T96" fmla="*/ 2147483646 w 1489"/>
              <a:gd name="T97" fmla="*/ 2147483646 h 1587"/>
              <a:gd name="T98" fmla="*/ 2147483646 w 1489"/>
              <a:gd name="T99" fmla="*/ 2147483646 h 1587"/>
              <a:gd name="T100" fmla="*/ 2147483646 w 1489"/>
              <a:gd name="T101" fmla="*/ 2147483646 h 1587"/>
              <a:gd name="T102" fmla="*/ 2147483646 w 1489"/>
              <a:gd name="T103" fmla="*/ 2147483646 h 1587"/>
              <a:gd name="T104" fmla="*/ 2147483646 w 1489"/>
              <a:gd name="T105" fmla="*/ 2147483646 h 1587"/>
              <a:gd name="T106" fmla="*/ 2147483646 w 1489"/>
              <a:gd name="T107" fmla="*/ 2147483646 h 1587"/>
              <a:gd name="T108" fmla="*/ 2147483646 w 1489"/>
              <a:gd name="T109" fmla="*/ 2147483646 h 1587"/>
              <a:gd name="T110" fmla="*/ 2147483646 w 1489"/>
              <a:gd name="T111" fmla="*/ 2147483646 h 158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89"/>
              <a:gd name="T169" fmla="*/ 0 h 1587"/>
              <a:gd name="T170" fmla="*/ 1489 w 1489"/>
              <a:gd name="T171" fmla="*/ 1587 h 1587"/>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89" h="1587">
                <a:moveTo>
                  <a:pt x="746" y="1587"/>
                </a:moveTo>
                <a:lnTo>
                  <a:pt x="726" y="1585"/>
                </a:lnTo>
                <a:lnTo>
                  <a:pt x="706" y="1585"/>
                </a:lnTo>
                <a:lnTo>
                  <a:pt x="687" y="1584"/>
                </a:lnTo>
                <a:lnTo>
                  <a:pt x="670" y="1582"/>
                </a:lnTo>
                <a:lnTo>
                  <a:pt x="651" y="1579"/>
                </a:lnTo>
                <a:lnTo>
                  <a:pt x="632" y="1576"/>
                </a:lnTo>
                <a:lnTo>
                  <a:pt x="614" y="1573"/>
                </a:lnTo>
                <a:lnTo>
                  <a:pt x="595" y="1570"/>
                </a:lnTo>
                <a:lnTo>
                  <a:pt x="577" y="1566"/>
                </a:lnTo>
                <a:lnTo>
                  <a:pt x="560" y="1560"/>
                </a:lnTo>
                <a:lnTo>
                  <a:pt x="541" y="1556"/>
                </a:lnTo>
                <a:lnTo>
                  <a:pt x="523" y="1550"/>
                </a:lnTo>
                <a:lnTo>
                  <a:pt x="507" y="1544"/>
                </a:lnTo>
                <a:lnTo>
                  <a:pt x="489" y="1538"/>
                </a:lnTo>
                <a:lnTo>
                  <a:pt x="472" y="1531"/>
                </a:lnTo>
                <a:lnTo>
                  <a:pt x="456" y="1524"/>
                </a:lnTo>
                <a:lnTo>
                  <a:pt x="438" y="1516"/>
                </a:lnTo>
                <a:lnTo>
                  <a:pt x="422" y="1507"/>
                </a:lnTo>
                <a:lnTo>
                  <a:pt x="406" y="1499"/>
                </a:lnTo>
                <a:lnTo>
                  <a:pt x="390" y="1490"/>
                </a:lnTo>
                <a:lnTo>
                  <a:pt x="375" y="1481"/>
                </a:lnTo>
                <a:lnTo>
                  <a:pt x="359" y="1471"/>
                </a:lnTo>
                <a:lnTo>
                  <a:pt x="344" y="1461"/>
                </a:lnTo>
                <a:lnTo>
                  <a:pt x="330" y="1450"/>
                </a:lnTo>
                <a:lnTo>
                  <a:pt x="314" y="1440"/>
                </a:lnTo>
                <a:lnTo>
                  <a:pt x="300" y="1428"/>
                </a:lnTo>
                <a:lnTo>
                  <a:pt x="271" y="1405"/>
                </a:lnTo>
                <a:lnTo>
                  <a:pt x="245" y="1380"/>
                </a:lnTo>
                <a:lnTo>
                  <a:pt x="218" y="1354"/>
                </a:lnTo>
                <a:lnTo>
                  <a:pt x="195" y="1326"/>
                </a:lnTo>
                <a:lnTo>
                  <a:pt x="171" y="1297"/>
                </a:lnTo>
                <a:lnTo>
                  <a:pt x="148" y="1268"/>
                </a:lnTo>
                <a:lnTo>
                  <a:pt x="127" y="1237"/>
                </a:lnTo>
                <a:lnTo>
                  <a:pt x="108" y="1205"/>
                </a:lnTo>
                <a:lnTo>
                  <a:pt x="99" y="1187"/>
                </a:lnTo>
                <a:lnTo>
                  <a:pt x="91" y="1171"/>
                </a:lnTo>
                <a:lnTo>
                  <a:pt x="82" y="1153"/>
                </a:lnTo>
                <a:lnTo>
                  <a:pt x="75" y="1137"/>
                </a:lnTo>
                <a:lnTo>
                  <a:pt x="66" y="1120"/>
                </a:lnTo>
                <a:lnTo>
                  <a:pt x="58" y="1102"/>
                </a:lnTo>
                <a:lnTo>
                  <a:pt x="53" y="1083"/>
                </a:lnTo>
                <a:lnTo>
                  <a:pt x="45" y="1066"/>
                </a:lnTo>
                <a:lnTo>
                  <a:pt x="39" y="1047"/>
                </a:lnTo>
                <a:lnTo>
                  <a:pt x="34" y="1029"/>
                </a:lnTo>
                <a:lnTo>
                  <a:pt x="29" y="1010"/>
                </a:lnTo>
                <a:lnTo>
                  <a:pt x="23" y="991"/>
                </a:lnTo>
                <a:lnTo>
                  <a:pt x="19" y="972"/>
                </a:lnTo>
                <a:lnTo>
                  <a:pt x="16" y="953"/>
                </a:lnTo>
                <a:lnTo>
                  <a:pt x="12" y="934"/>
                </a:lnTo>
                <a:lnTo>
                  <a:pt x="9" y="913"/>
                </a:lnTo>
                <a:lnTo>
                  <a:pt x="7" y="894"/>
                </a:lnTo>
                <a:lnTo>
                  <a:pt x="4" y="874"/>
                </a:lnTo>
                <a:lnTo>
                  <a:pt x="3" y="853"/>
                </a:lnTo>
                <a:lnTo>
                  <a:pt x="1" y="834"/>
                </a:lnTo>
                <a:lnTo>
                  <a:pt x="1" y="814"/>
                </a:lnTo>
                <a:lnTo>
                  <a:pt x="0" y="793"/>
                </a:lnTo>
                <a:lnTo>
                  <a:pt x="1" y="773"/>
                </a:lnTo>
                <a:lnTo>
                  <a:pt x="1" y="752"/>
                </a:lnTo>
                <a:lnTo>
                  <a:pt x="3" y="732"/>
                </a:lnTo>
                <a:lnTo>
                  <a:pt x="4" y="712"/>
                </a:lnTo>
                <a:lnTo>
                  <a:pt x="7" y="692"/>
                </a:lnTo>
                <a:lnTo>
                  <a:pt x="9" y="672"/>
                </a:lnTo>
                <a:lnTo>
                  <a:pt x="12" y="653"/>
                </a:lnTo>
                <a:lnTo>
                  <a:pt x="16" y="633"/>
                </a:lnTo>
                <a:lnTo>
                  <a:pt x="20" y="613"/>
                </a:lnTo>
                <a:lnTo>
                  <a:pt x="25" y="594"/>
                </a:lnTo>
                <a:lnTo>
                  <a:pt x="29" y="575"/>
                </a:lnTo>
                <a:lnTo>
                  <a:pt x="34" y="558"/>
                </a:lnTo>
                <a:lnTo>
                  <a:pt x="39" y="539"/>
                </a:lnTo>
                <a:lnTo>
                  <a:pt x="45" y="520"/>
                </a:lnTo>
                <a:lnTo>
                  <a:pt x="53" y="502"/>
                </a:lnTo>
                <a:lnTo>
                  <a:pt x="58" y="485"/>
                </a:lnTo>
                <a:lnTo>
                  <a:pt x="66" y="467"/>
                </a:lnTo>
                <a:lnTo>
                  <a:pt x="75" y="450"/>
                </a:lnTo>
                <a:lnTo>
                  <a:pt x="82" y="432"/>
                </a:lnTo>
                <a:lnTo>
                  <a:pt x="91" y="414"/>
                </a:lnTo>
                <a:lnTo>
                  <a:pt x="99" y="398"/>
                </a:lnTo>
                <a:lnTo>
                  <a:pt x="108" y="382"/>
                </a:lnTo>
                <a:lnTo>
                  <a:pt x="127" y="350"/>
                </a:lnTo>
                <a:lnTo>
                  <a:pt x="148" y="318"/>
                </a:lnTo>
                <a:lnTo>
                  <a:pt x="171" y="289"/>
                </a:lnTo>
                <a:lnTo>
                  <a:pt x="193" y="259"/>
                </a:lnTo>
                <a:lnTo>
                  <a:pt x="218" y="232"/>
                </a:lnTo>
                <a:lnTo>
                  <a:pt x="245" y="207"/>
                </a:lnTo>
                <a:lnTo>
                  <a:pt x="271" y="182"/>
                </a:lnTo>
                <a:lnTo>
                  <a:pt x="300" y="157"/>
                </a:lnTo>
                <a:lnTo>
                  <a:pt x="314" y="147"/>
                </a:lnTo>
                <a:lnTo>
                  <a:pt x="328" y="135"/>
                </a:lnTo>
                <a:lnTo>
                  <a:pt x="344" y="125"/>
                </a:lnTo>
                <a:lnTo>
                  <a:pt x="359" y="115"/>
                </a:lnTo>
                <a:lnTo>
                  <a:pt x="375" y="106"/>
                </a:lnTo>
                <a:lnTo>
                  <a:pt x="390" y="96"/>
                </a:lnTo>
                <a:lnTo>
                  <a:pt x="406" y="87"/>
                </a:lnTo>
                <a:lnTo>
                  <a:pt x="422" y="78"/>
                </a:lnTo>
                <a:lnTo>
                  <a:pt x="438" y="71"/>
                </a:lnTo>
                <a:lnTo>
                  <a:pt x="456" y="62"/>
                </a:lnTo>
                <a:lnTo>
                  <a:pt x="472" y="55"/>
                </a:lnTo>
                <a:lnTo>
                  <a:pt x="489" y="49"/>
                </a:lnTo>
                <a:lnTo>
                  <a:pt x="507" y="41"/>
                </a:lnTo>
                <a:lnTo>
                  <a:pt x="523" y="36"/>
                </a:lnTo>
                <a:lnTo>
                  <a:pt x="541" y="30"/>
                </a:lnTo>
                <a:lnTo>
                  <a:pt x="558" y="25"/>
                </a:lnTo>
                <a:lnTo>
                  <a:pt x="577" y="21"/>
                </a:lnTo>
                <a:lnTo>
                  <a:pt x="595" y="17"/>
                </a:lnTo>
                <a:lnTo>
                  <a:pt x="613" y="12"/>
                </a:lnTo>
                <a:lnTo>
                  <a:pt x="632" y="9"/>
                </a:lnTo>
                <a:lnTo>
                  <a:pt x="651" y="6"/>
                </a:lnTo>
                <a:lnTo>
                  <a:pt x="668" y="5"/>
                </a:lnTo>
                <a:lnTo>
                  <a:pt x="687" y="2"/>
                </a:lnTo>
                <a:lnTo>
                  <a:pt x="706" y="0"/>
                </a:lnTo>
                <a:lnTo>
                  <a:pt x="726" y="0"/>
                </a:lnTo>
                <a:lnTo>
                  <a:pt x="745" y="0"/>
                </a:lnTo>
                <a:lnTo>
                  <a:pt x="746" y="0"/>
                </a:lnTo>
                <a:lnTo>
                  <a:pt x="765" y="0"/>
                </a:lnTo>
                <a:lnTo>
                  <a:pt x="784" y="0"/>
                </a:lnTo>
                <a:lnTo>
                  <a:pt x="803" y="2"/>
                </a:lnTo>
                <a:lnTo>
                  <a:pt x="821" y="5"/>
                </a:lnTo>
                <a:lnTo>
                  <a:pt x="840" y="6"/>
                </a:lnTo>
                <a:lnTo>
                  <a:pt x="859" y="9"/>
                </a:lnTo>
                <a:lnTo>
                  <a:pt x="877" y="12"/>
                </a:lnTo>
                <a:lnTo>
                  <a:pt x="896" y="17"/>
                </a:lnTo>
                <a:lnTo>
                  <a:pt x="913" y="21"/>
                </a:lnTo>
                <a:lnTo>
                  <a:pt x="931" y="25"/>
                </a:lnTo>
                <a:lnTo>
                  <a:pt x="950" y="30"/>
                </a:lnTo>
                <a:lnTo>
                  <a:pt x="967" y="36"/>
                </a:lnTo>
                <a:lnTo>
                  <a:pt x="984" y="41"/>
                </a:lnTo>
                <a:lnTo>
                  <a:pt x="1001" y="49"/>
                </a:lnTo>
                <a:lnTo>
                  <a:pt x="1019" y="55"/>
                </a:lnTo>
                <a:lnTo>
                  <a:pt x="1035" y="62"/>
                </a:lnTo>
                <a:lnTo>
                  <a:pt x="1052" y="71"/>
                </a:lnTo>
                <a:lnTo>
                  <a:pt x="1069" y="78"/>
                </a:lnTo>
                <a:lnTo>
                  <a:pt x="1085" y="87"/>
                </a:lnTo>
                <a:lnTo>
                  <a:pt x="1101" y="96"/>
                </a:lnTo>
                <a:lnTo>
                  <a:pt x="1115" y="106"/>
                </a:lnTo>
                <a:lnTo>
                  <a:pt x="1132" y="115"/>
                </a:lnTo>
                <a:lnTo>
                  <a:pt x="1146" y="125"/>
                </a:lnTo>
                <a:lnTo>
                  <a:pt x="1162" y="135"/>
                </a:lnTo>
                <a:lnTo>
                  <a:pt x="1177" y="147"/>
                </a:lnTo>
                <a:lnTo>
                  <a:pt x="1190" y="157"/>
                </a:lnTo>
                <a:lnTo>
                  <a:pt x="1220" y="182"/>
                </a:lnTo>
                <a:lnTo>
                  <a:pt x="1246" y="207"/>
                </a:lnTo>
                <a:lnTo>
                  <a:pt x="1272" y="232"/>
                </a:lnTo>
                <a:lnTo>
                  <a:pt x="1297" y="259"/>
                </a:lnTo>
                <a:lnTo>
                  <a:pt x="1321" y="289"/>
                </a:lnTo>
                <a:lnTo>
                  <a:pt x="1343" y="318"/>
                </a:lnTo>
                <a:lnTo>
                  <a:pt x="1363" y="350"/>
                </a:lnTo>
                <a:lnTo>
                  <a:pt x="1382" y="382"/>
                </a:lnTo>
                <a:lnTo>
                  <a:pt x="1391" y="398"/>
                </a:lnTo>
                <a:lnTo>
                  <a:pt x="1400" y="414"/>
                </a:lnTo>
                <a:lnTo>
                  <a:pt x="1409" y="432"/>
                </a:lnTo>
                <a:lnTo>
                  <a:pt x="1416" y="450"/>
                </a:lnTo>
                <a:lnTo>
                  <a:pt x="1425" y="467"/>
                </a:lnTo>
                <a:lnTo>
                  <a:pt x="1432" y="485"/>
                </a:lnTo>
                <a:lnTo>
                  <a:pt x="1438" y="502"/>
                </a:lnTo>
                <a:lnTo>
                  <a:pt x="1445" y="520"/>
                </a:lnTo>
                <a:lnTo>
                  <a:pt x="1451" y="539"/>
                </a:lnTo>
                <a:lnTo>
                  <a:pt x="1457" y="558"/>
                </a:lnTo>
                <a:lnTo>
                  <a:pt x="1461" y="575"/>
                </a:lnTo>
                <a:lnTo>
                  <a:pt x="1466" y="594"/>
                </a:lnTo>
                <a:lnTo>
                  <a:pt x="1470" y="613"/>
                </a:lnTo>
                <a:lnTo>
                  <a:pt x="1475" y="633"/>
                </a:lnTo>
                <a:lnTo>
                  <a:pt x="1479" y="653"/>
                </a:lnTo>
                <a:lnTo>
                  <a:pt x="1482" y="672"/>
                </a:lnTo>
                <a:lnTo>
                  <a:pt x="1483" y="692"/>
                </a:lnTo>
                <a:lnTo>
                  <a:pt x="1486" y="712"/>
                </a:lnTo>
                <a:lnTo>
                  <a:pt x="1488" y="732"/>
                </a:lnTo>
                <a:lnTo>
                  <a:pt x="1489" y="752"/>
                </a:lnTo>
                <a:lnTo>
                  <a:pt x="1489" y="773"/>
                </a:lnTo>
                <a:lnTo>
                  <a:pt x="1489" y="793"/>
                </a:lnTo>
                <a:lnTo>
                  <a:pt x="1489" y="814"/>
                </a:lnTo>
                <a:lnTo>
                  <a:pt x="1489" y="834"/>
                </a:lnTo>
                <a:lnTo>
                  <a:pt x="1488" y="853"/>
                </a:lnTo>
                <a:lnTo>
                  <a:pt x="1486" y="874"/>
                </a:lnTo>
                <a:lnTo>
                  <a:pt x="1483" y="894"/>
                </a:lnTo>
                <a:lnTo>
                  <a:pt x="1482" y="913"/>
                </a:lnTo>
                <a:lnTo>
                  <a:pt x="1479" y="934"/>
                </a:lnTo>
                <a:lnTo>
                  <a:pt x="1475" y="953"/>
                </a:lnTo>
                <a:lnTo>
                  <a:pt x="1472" y="972"/>
                </a:lnTo>
                <a:lnTo>
                  <a:pt x="1467" y="991"/>
                </a:lnTo>
                <a:lnTo>
                  <a:pt x="1461" y="1010"/>
                </a:lnTo>
                <a:lnTo>
                  <a:pt x="1457" y="1029"/>
                </a:lnTo>
                <a:lnTo>
                  <a:pt x="1451" y="1047"/>
                </a:lnTo>
                <a:lnTo>
                  <a:pt x="1445" y="1066"/>
                </a:lnTo>
                <a:lnTo>
                  <a:pt x="1438" y="1083"/>
                </a:lnTo>
                <a:lnTo>
                  <a:pt x="1432" y="1102"/>
                </a:lnTo>
                <a:lnTo>
                  <a:pt x="1425" y="1120"/>
                </a:lnTo>
                <a:lnTo>
                  <a:pt x="1416" y="1137"/>
                </a:lnTo>
                <a:lnTo>
                  <a:pt x="1409" y="1153"/>
                </a:lnTo>
                <a:lnTo>
                  <a:pt x="1400" y="1171"/>
                </a:lnTo>
                <a:lnTo>
                  <a:pt x="1391" y="1187"/>
                </a:lnTo>
                <a:lnTo>
                  <a:pt x="1382" y="1205"/>
                </a:lnTo>
                <a:lnTo>
                  <a:pt x="1363" y="1237"/>
                </a:lnTo>
                <a:lnTo>
                  <a:pt x="1343" y="1268"/>
                </a:lnTo>
                <a:lnTo>
                  <a:pt x="1321" y="1297"/>
                </a:lnTo>
                <a:lnTo>
                  <a:pt x="1297" y="1326"/>
                </a:lnTo>
                <a:lnTo>
                  <a:pt x="1272" y="1354"/>
                </a:lnTo>
                <a:lnTo>
                  <a:pt x="1246" y="1380"/>
                </a:lnTo>
                <a:lnTo>
                  <a:pt x="1220" y="1405"/>
                </a:lnTo>
                <a:lnTo>
                  <a:pt x="1190" y="1428"/>
                </a:lnTo>
                <a:lnTo>
                  <a:pt x="1177" y="1440"/>
                </a:lnTo>
                <a:lnTo>
                  <a:pt x="1162" y="1450"/>
                </a:lnTo>
                <a:lnTo>
                  <a:pt x="1146" y="1461"/>
                </a:lnTo>
                <a:lnTo>
                  <a:pt x="1132" y="1471"/>
                </a:lnTo>
                <a:lnTo>
                  <a:pt x="1115" y="1481"/>
                </a:lnTo>
                <a:lnTo>
                  <a:pt x="1101" y="1490"/>
                </a:lnTo>
                <a:lnTo>
                  <a:pt x="1085" y="1499"/>
                </a:lnTo>
                <a:lnTo>
                  <a:pt x="1069" y="1507"/>
                </a:lnTo>
                <a:lnTo>
                  <a:pt x="1052" y="1516"/>
                </a:lnTo>
                <a:lnTo>
                  <a:pt x="1035" y="1524"/>
                </a:lnTo>
                <a:lnTo>
                  <a:pt x="1019" y="1531"/>
                </a:lnTo>
                <a:lnTo>
                  <a:pt x="1001" y="1538"/>
                </a:lnTo>
                <a:lnTo>
                  <a:pt x="984" y="1544"/>
                </a:lnTo>
                <a:lnTo>
                  <a:pt x="967" y="1550"/>
                </a:lnTo>
                <a:lnTo>
                  <a:pt x="950" y="1556"/>
                </a:lnTo>
                <a:lnTo>
                  <a:pt x="931" y="1560"/>
                </a:lnTo>
                <a:lnTo>
                  <a:pt x="913" y="1566"/>
                </a:lnTo>
                <a:lnTo>
                  <a:pt x="896" y="1570"/>
                </a:lnTo>
                <a:lnTo>
                  <a:pt x="877" y="1573"/>
                </a:lnTo>
                <a:lnTo>
                  <a:pt x="859" y="1576"/>
                </a:lnTo>
                <a:lnTo>
                  <a:pt x="840" y="1579"/>
                </a:lnTo>
                <a:lnTo>
                  <a:pt x="821" y="1582"/>
                </a:lnTo>
                <a:lnTo>
                  <a:pt x="803" y="1584"/>
                </a:lnTo>
                <a:lnTo>
                  <a:pt x="784" y="1585"/>
                </a:lnTo>
                <a:lnTo>
                  <a:pt x="765" y="1585"/>
                </a:lnTo>
                <a:lnTo>
                  <a:pt x="745" y="1587"/>
                </a:lnTo>
                <a:lnTo>
                  <a:pt x="746" y="158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370" name="日期版面配置區 4">
            <a:extLst>
              <a:ext uri="{FF2B5EF4-FFF2-40B4-BE49-F238E27FC236}">
                <a16:creationId xmlns:a16="http://schemas.microsoft.com/office/drawing/2014/main" id="{D79B5861-9F56-4144-A462-890E03955134}"/>
              </a:ext>
            </a:extLst>
          </p:cNvPr>
          <p:cNvSpPr>
            <a:spLocks noGrp="1"/>
          </p:cNvSpPr>
          <p:nvPr>
            <p:ph type="dt" sz="quarter" idx="10"/>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spcBef>
                <a:spcPct val="20000"/>
              </a:spcBef>
              <a:buClr>
                <a:schemeClr val="tx1"/>
              </a:buClr>
              <a:buSzPct val="70000"/>
              <a:buFont typeface="Wingdings" panose="05000000000000000000" pitchFamily="2" charset="2"/>
              <a:buChar char="q"/>
              <a:defRPr sz="2800" b="1">
                <a:solidFill>
                  <a:schemeClr val="tx1"/>
                </a:solidFill>
                <a:latin typeface="Arial" panose="020B0604020202020204" pitchFamily="34" charset="0"/>
              </a:defRPr>
            </a:lvl1pPr>
            <a:lvl2pPr marL="742950" indent="-285750" defTabSz="958850">
              <a:spcBef>
                <a:spcPct val="20000"/>
              </a:spcBef>
              <a:buClr>
                <a:schemeClr val="tx1"/>
              </a:buClr>
              <a:buSzPct val="65000"/>
              <a:buChar char="•"/>
              <a:defRPr sz="2500">
                <a:solidFill>
                  <a:schemeClr val="tx1"/>
                </a:solidFill>
                <a:latin typeface="Arial" panose="020B0604020202020204" pitchFamily="34" charset="0"/>
              </a:defRPr>
            </a:lvl2pPr>
            <a:lvl3pPr marL="1143000" indent="-228600" defTabSz="958850">
              <a:spcBef>
                <a:spcPct val="20000"/>
              </a:spcBef>
              <a:buClr>
                <a:schemeClr val="tx1"/>
              </a:buClr>
              <a:buSzPct val="65000"/>
              <a:buFont typeface="Wingdings" panose="05000000000000000000" pitchFamily="2" charset="2"/>
              <a:buChar char="•"/>
              <a:defRPr sz="2500">
                <a:solidFill>
                  <a:schemeClr val="tx1"/>
                </a:solidFill>
                <a:latin typeface="Arial" panose="020B0604020202020204" pitchFamily="34" charset="0"/>
              </a:defRPr>
            </a:lvl3pPr>
            <a:lvl4pPr marL="1600200" indent="-228600" defTabSz="958850">
              <a:spcBef>
                <a:spcPct val="20000"/>
              </a:spcBef>
              <a:buClr>
                <a:schemeClr val="tx2"/>
              </a:buClr>
              <a:buSzPct val="75000"/>
              <a:buFont typeface="Wingdings" panose="05000000000000000000" pitchFamily="2" charset="2"/>
              <a:buChar char="–"/>
              <a:defRPr sz="2100">
                <a:solidFill>
                  <a:schemeClr val="tx1"/>
                </a:solidFill>
                <a:latin typeface="Arial" panose="020B0604020202020204" pitchFamily="34" charset="0"/>
              </a:defRPr>
            </a:lvl4pPr>
            <a:lvl5pPr marL="2057400" indent="-228600" defTabSz="958850">
              <a:spcBef>
                <a:spcPct val="20000"/>
              </a:spcBef>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9pPr>
          </a:lstStyle>
          <a:p>
            <a:pPr>
              <a:spcBef>
                <a:spcPct val="0"/>
              </a:spcBef>
              <a:buClrTx/>
              <a:buSzTx/>
              <a:buFontTx/>
              <a:buNone/>
              <a:defRPr/>
            </a:pPr>
            <a:endParaRPr lang="en-US" altLang="zh-TW" sz="1500" b="0" dirty="0"/>
          </a:p>
        </p:txBody>
      </p:sp>
      <p:sp>
        <p:nvSpPr>
          <p:cNvPr id="58371" name="投影片編號版面配置區 6">
            <a:extLst>
              <a:ext uri="{FF2B5EF4-FFF2-40B4-BE49-F238E27FC236}">
                <a16:creationId xmlns:a16="http://schemas.microsoft.com/office/drawing/2014/main" id="{26F5B41F-E53F-43FA-A8B9-C3FA183F0C84}"/>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defTabSz="958850">
              <a:spcBef>
                <a:spcPct val="20000"/>
              </a:spcBef>
              <a:buChar char="–"/>
              <a:defRPr sz="2800">
                <a:solidFill>
                  <a:schemeClr val="tx1"/>
                </a:solidFill>
                <a:latin typeface="Arial" panose="020B0604020202020204" pitchFamily="34" charset="0"/>
              </a:defRPr>
            </a:lvl2pPr>
            <a:lvl3pPr marL="1143000" indent="-228600" defTabSz="95885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defTabSz="958850">
              <a:spcBef>
                <a:spcPct val="20000"/>
              </a:spcBef>
              <a:buChar char="–"/>
              <a:defRPr sz="2000">
                <a:solidFill>
                  <a:schemeClr val="tx1"/>
                </a:solidFill>
                <a:latin typeface="Arial" panose="020B0604020202020204" pitchFamily="34" charset="0"/>
              </a:defRPr>
            </a:lvl4pPr>
            <a:lvl5pPr marL="2057400" indent="-228600" defTabSz="95885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FontTx/>
              <a:buNone/>
            </a:pPr>
            <a:fld id="{F14DD4F8-9085-43A9-8CBD-158BBB4BB148}" type="slidenum">
              <a:rPr lang="en-US" altLang="zh-TW" sz="1200"/>
              <a:pPr>
                <a:spcBef>
                  <a:spcPct val="0"/>
                </a:spcBef>
                <a:buClrTx/>
                <a:buFontTx/>
                <a:buNone/>
              </a:pPr>
              <a:t>51</a:t>
            </a:fld>
            <a:endParaRPr lang="en-US" altLang="zh-TW" sz="1200"/>
          </a:p>
        </p:txBody>
      </p:sp>
      <p:sp>
        <p:nvSpPr>
          <p:cNvPr id="625666" name="Rectangle 2">
            <a:extLst>
              <a:ext uri="{FF2B5EF4-FFF2-40B4-BE49-F238E27FC236}">
                <a16:creationId xmlns:a16="http://schemas.microsoft.com/office/drawing/2014/main" id="{23524A84-4FD5-4F30-A757-A1AFB7EF95DC}"/>
              </a:ext>
            </a:extLst>
          </p:cNvPr>
          <p:cNvSpPr>
            <a:spLocks noGrp="1" noChangeArrowheads="1"/>
          </p:cNvSpPr>
          <p:nvPr>
            <p:ph type="title"/>
          </p:nvPr>
        </p:nvSpPr>
        <p:spPr>
          <a:xfrm>
            <a:off x="1828800" y="325438"/>
            <a:ext cx="8637588" cy="635000"/>
          </a:xfrm>
        </p:spPr>
        <p:txBody>
          <a:bodyPr/>
          <a:lstStyle/>
          <a:p>
            <a:pPr eaLnBrk="1" hangingPunct="1">
              <a:defRPr/>
            </a:pPr>
            <a:r>
              <a:rPr lang="en-US" altLang="zh-TW" sz="3500" dirty="0">
                <a:ea typeface="新細明體" charset="-120"/>
              </a:rPr>
              <a:t>How to Trap Sensitive Instructions</a:t>
            </a:r>
          </a:p>
        </p:txBody>
      </p:sp>
      <p:sp>
        <p:nvSpPr>
          <p:cNvPr id="58373" name="Rectangle 3">
            <a:extLst>
              <a:ext uri="{FF2B5EF4-FFF2-40B4-BE49-F238E27FC236}">
                <a16:creationId xmlns:a16="http://schemas.microsoft.com/office/drawing/2014/main" id="{8167F394-CCEF-475C-9D06-F39D0AB2E5AB}"/>
              </a:ext>
            </a:extLst>
          </p:cNvPr>
          <p:cNvSpPr>
            <a:spLocks noGrp="1" noChangeArrowheads="1"/>
          </p:cNvSpPr>
          <p:nvPr>
            <p:ph type="body" sz="half" idx="1"/>
          </p:nvPr>
        </p:nvSpPr>
        <p:spPr>
          <a:xfrm>
            <a:off x="1679576" y="1209675"/>
            <a:ext cx="5407025" cy="4114800"/>
          </a:xfrm>
        </p:spPr>
        <p:txBody>
          <a:bodyPr/>
          <a:lstStyle/>
          <a:p>
            <a:pPr eaLnBrk="1" hangingPunct="1">
              <a:buFont typeface="Wingdings" panose="05000000000000000000" pitchFamily="2" charset="2"/>
              <a:buNone/>
              <a:defRPr/>
            </a:pPr>
            <a:endParaRPr lang="en-US" altLang="zh-TW" sz="2500" dirty="0">
              <a:ea typeface="新細明體" panose="02020500000000000000" pitchFamily="18" charset="-120"/>
            </a:endParaRPr>
          </a:p>
          <a:p>
            <a:pPr eaLnBrk="1" hangingPunct="1">
              <a:buFont typeface="Wingdings" panose="05000000000000000000" pitchFamily="2" charset="2"/>
              <a:buNone/>
              <a:defRPr/>
            </a:pPr>
            <a:endParaRPr lang="en-US" altLang="zh-TW" sz="2500" dirty="0">
              <a:ea typeface="新細明體" panose="02020500000000000000" pitchFamily="18" charset="-120"/>
            </a:endParaRPr>
          </a:p>
        </p:txBody>
      </p:sp>
      <p:sp>
        <p:nvSpPr>
          <p:cNvPr id="46088" name="AutoShape 6">
            <a:extLst>
              <a:ext uri="{FF2B5EF4-FFF2-40B4-BE49-F238E27FC236}">
                <a16:creationId xmlns:a16="http://schemas.microsoft.com/office/drawing/2014/main" id="{CFD36274-6E9E-4D39-9C0A-FC513C2525C4}"/>
              </a:ext>
            </a:extLst>
          </p:cNvPr>
          <p:cNvSpPr>
            <a:spLocks noChangeAspect="1" noChangeArrowheads="1" noTextEdit="1"/>
          </p:cNvSpPr>
          <p:nvPr/>
        </p:nvSpPr>
        <p:spPr bwMode="auto">
          <a:xfrm>
            <a:off x="1981200" y="1989138"/>
            <a:ext cx="7924800" cy="334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6089" name="Freeform 9">
            <a:extLst>
              <a:ext uri="{FF2B5EF4-FFF2-40B4-BE49-F238E27FC236}">
                <a16:creationId xmlns:a16="http://schemas.microsoft.com/office/drawing/2014/main" id="{AD09535B-8A07-4768-BC66-E5B537D1868A}"/>
              </a:ext>
            </a:extLst>
          </p:cNvPr>
          <p:cNvSpPr>
            <a:spLocks/>
          </p:cNvSpPr>
          <p:nvPr/>
        </p:nvSpPr>
        <p:spPr bwMode="auto">
          <a:xfrm>
            <a:off x="3124200" y="1439863"/>
            <a:ext cx="2586038" cy="2754312"/>
          </a:xfrm>
          <a:custGeom>
            <a:avLst/>
            <a:gdLst>
              <a:gd name="T0" fmla="*/ 2147483646 w 3259"/>
              <a:gd name="T1" fmla="*/ 2147483646 h 3469"/>
              <a:gd name="T2" fmla="*/ 2147483646 w 3259"/>
              <a:gd name="T3" fmla="*/ 2147483646 h 3469"/>
              <a:gd name="T4" fmla="*/ 2147483646 w 3259"/>
              <a:gd name="T5" fmla="*/ 2147483646 h 3469"/>
              <a:gd name="T6" fmla="*/ 2147483646 w 3259"/>
              <a:gd name="T7" fmla="*/ 2147483646 h 3469"/>
              <a:gd name="T8" fmla="*/ 2147483646 w 3259"/>
              <a:gd name="T9" fmla="*/ 2147483646 h 3469"/>
              <a:gd name="T10" fmla="*/ 2147483646 w 3259"/>
              <a:gd name="T11" fmla="*/ 2147483646 h 3469"/>
              <a:gd name="T12" fmla="*/ 2147483646 w 3259"/>
              <a:gd name="T13" fmla="*/ 2147483646 h 3469"/>
              <a:gd name="T14" fmla="*/ 2147483646 w 3259"/>
              <a:gd name="T15" fmla="*/ 2147483646 h 3469"/>
              <a:gd name="T16" fmla="*/ 2147483646 w 3259"/>
              <a:gd name="T17" fmla="*/ 2147483646 h 3469"/>
              <a:gd name="T18" fmla="*/ 2147483646 w 3259"/>
              <a:gd name="T19" fmla="*/ 2147483646 h 3469"/>
              <a:gd name="T20" fmla="*/ 2147483646 w 3259"/>
              <a:gd name="T21" fmla="*/ 2147483646 h 3469"/>
              <a:gd name="T22" fmla="*/ 2147483646 w 3259"/>
              <a:gd name="T23" fmla="*/ 2147483646 h 3469"/>
              <a:gd name="T24" fmla="*/ 2147483646 w 3259"/>
              <a:gd name="T25" fmla="*/ 2147483646 h 3469"/>
              <a:gd name="T26" fmla="*/ 0 w 3259"/>
              <a:gd name="T27" fmla="*/ 2147483646 h 3469"/>
              <a:gd name="T28" fmla="*/ 2147483646 w 3259"/>
              <a:gd name="T29" fmla="*/ 2147483646 h 3469"/>
              <a:gd name="T30" fmla="*/ 2147483646 w 3259"/>
              <a:gd name="T31" fmla="*/ 2147483646 h 3469"/>
              <a:gd name="T32" fmla="*/ 2147483646 w 3259"/>
              <a:gd name="T33" fmla="*/ 2147483646 h 3469"/>
              <a:gd name="T34" fmla="*/ 2147483646 w 3259"/>
              <a:gd name="T35" fmla="*/ 2147483646 h 3469"/>
              <a:gd name="T36" fmla="*/ 2147483646 w 3259"/>
              <a:gd name="T37" fmla="*/ 2147483646 h 3469"/>
              <a:gd name="T38" fmla="*/ 2147483646 w 3259"/>
              <a:gd name="T39" fmla="*/ 2147483646 h 3469"/>
              <a:gd name="T40" fmla="*/ 2147483646 w 3259"/>
              <a:gd name="T41" fmla="*/ 2147483646 h 3469"/>
              <a:gd name="T42" fmla="*/ 2147483646 w 3259"/>
              <a:gd name="T43" fmla="*/ 2147483646 h 3469"/>
              <a:gd name="T44" fmla="*/ 2147483646 w 3259"/>
              <a:gd name="T45" fmla="*/ 2147483646 h 3469"/>
              <a:gd name="T46" fmla="*/ 2147483646 w 3259"/>
              <a:gd name="T47" fmla="*/ 2147483646 h 3469"/>
              <a:gd name="T48" fmla="*/ 2147483646 w 3259"/>
              <a:gd name="T49" fmla="*/ 2147483646 h 3469"/>
              <a:gd name="T50" fmla="*/ 2147483646 w 3259"/>
              <a:gd name="T51" fmla="*/ 2147483646 h 3469"/>
              <a:gd name="T52" fmla="*/ 2147483646 w 3259"/>
              <a:gd name="T53" fmla="*/ 2147483646 h 3469"/>
              <a:gd name="T54" fmla="*/ 2147483646 w 3259"/>
              <a:gd name="T55" fmla="*/ 0 h 3469"/>
              <a:gd name="T56" fmla="*/ 2147483646 w 3259"/>
              <a:gd name="T57" fmla="*/ 0 h 3469"/>
              <a:gd name="T58" fmla="*/ 2147483646 w 3259"/>
              <a:gd name="T59" fmla="*/ 2147483646 h 3469"/>
              <a:gd name="T60" fmla="*/ 2147483646 w 3259"/>
              <a:gd name="T61" fmla="*/ 2147483646 h 3469"/>
              <a:gd name="T62" fmla="*/ 2147483646 w 3259"/>
              <a:gd name="T63" fmla="*/ 2147483646 h 3469"/>
              <a:gd name="T64" fmla="*/ 2147483646 w 3259"/>
              <a:gd name="T65" fmla="*/ 2147483646 h 3469"/>
              <a:gd name="T66" fmla="*/ 2147483646 w 3259"/>
              <a:gd name="T67" fmla="*/ 2147483646 h 3469"/>
              <a:gd name="T68" fmla="*/ 2147483646 w 3259"/>
              <a:gd name="T69" fmla="*/ 2147483646 h 3469"/>
              <a:gd name="T70" fmla="*/ 2147483646 w 3259"/>
              <a:gd name="T71" fmla="*/ 2147483646 h 3469"/>
              <a:gd name="T72" fmla="*/ 2147483646 w 3259"/>
              <a:gd name="T73" fmla="*/ 2147483646 h 3469"/>
              <a:gd name="T74" fmla="*/ 2147483646 w 3259"/>
              <a:gd name="T75" fmla="*/ 2147483646 h 3469"/>
              <a:gd name="T76" fmla="*/ 2147483646 w 3259"/>
              <a:gd name="T77" fmla="*/ 2147483646 h 3469"/>
              <a:gd name="T78" fmla="*/ 2147483646 w 3259"/>
              <a:gd name="T79" fmla="*/ 2147483646 h 3469"/>
              <a:gd name="T80" fmla="*/ 2147483646 w 3259"/>
              <a:gd name="T81" fmla="*/ 2147483646 h 3469"/>
              <a:gd name="T82" fmla="*/ 2147483646 w 3259"/>
              <a:gd name="T83" fmla="*/ 2147483646 h 3469"/>
              <a:gd name="T84" fmla="*/ 2147483646 w 3259"/>
              <a:gd name="T85" fmla="*/ 2147483646 h 3469"/>
              <a:gd name="T86" fmla="*/ 2147483646 w 3259"/>
              <a:gd name="T87" fmla="*/ 2147483646 h 3469"/>
              <a:gd name="T88" fmla="*/ 2147483646 w 3259"/>
              <a:gd name="T89" fmla="*/ 2147483646 h 3469"/>
              <a:gd name="T90" fmla="*/ 2147483646 w 3259"/>
              <a:gd name="T91" fmla="*/ 2147483646 h 3469"/>
              <a:gd name="T92" fmla="*/ 2147483646 w 3259"/>
              <a:gd name="T93" fmla="*/ 2147483646 h 3469"/>
              <a:gd name="T94" fmla="*/ 2147483646 w 3259"/>
              <a:gd name="T95" fmla="*/ 2147483646 h 3469"/>
              <a:gd name="T96" fmla="*/ 2147483646 w 3259"/>
              <a:gd name="T97" fmla="*/ 2147483646 h 3469"/>
              <a:gd name="T98" fmla="*/ 2147483646 w 3259"/>
              <a:gd name="T99" fmla="*/ 2147483646 h 3469"/>
              <a:gd name="T100" fmla="*/ 2147483646 w 3259"/>
              <a:gd name="T101" fmla="*/ 2147483646 h 3469"/>
              <a:gd name="T102" fmla="*/ 2147483646 w 3259"/>
              <a:gd name="T103" fmla="*/ 2147483646 h 3469"/>
              <a:gd name="T104" fmla="*/ 2147483646 w 3259"/>
              <a:gd name="T105" fmla="*/ 2147483646 h 3469"/>
              <a:gd name="T106" fmla="*/ 2147483646 w 3259"/>
              <a:gd name="T107" fmla="*/ 2147483646 h 3469"/>
              <a:gd name="T108" fmla="*/ 2147483646 w 3259"/>
              <a:gd name="T109" fmla="*/ 2147483646 h 3469"/>
              <a:gd name="T110" fmla="*/ 2147483646 w 3259"/>
              <a:gd name="T111" fmla="*/ 2147483646 h 346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259"/>
              <a:gd name="T169" fmla="*/ 0 h 3469"/>
              <a:gd name="T170" fmla="*/ 3259 w 3259"/>
              <a:gd name="T171" fmla="*/ 3469 h 346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259" h="3469">
                <a:moveTo>
                  <a:pt x="1629" y="3469"/>
                </a:moveTo>
                <a:lnTo>
                  <a:pt x="1588" y="3468"/>
                </a:lnTo>
                <a:lnTo>
                  <a:pt x="1545" y="3466"/>
                </a:lnTo>
                <a:lnTo>
                  <a:pt x="1504" y="3463"/>
                </a:lnTo>
                <a:lnTo>
                  <a:pt x="1463" y="3459"/>
                </a:lnTo>
                <a:lnTo>
                  <a:pt x="1422" y="3454"/>
                </a:lnTo>
                <a:lnTo>
                  <a:pt x="1381" y="3449"/>
                </a:lnTo>
                <a:lnTo>
                  <a:pt x="1341" y="3441"/>
                </a:lnTo>
                <a:lnTo>
                  <a:pt x="1300" y="3432"/>
                </a:lnTo>
                <a:lnTo>
                  <a:pt x="1261" y="3424"/>
                </a:lnTo>
                <a:lnTo>
                  <a:pt x="1223" y="3413"/>
                </a:lnTo>
                <a:lnTo>
                  <a:pt x="1183" y="3403"/>
                </a:lnTo>
                <a:lnTo>
                  <a:pt x="1145" y="3390"/>
                </a:lnTo>
                <a:lnTo>
                  <a:pt x="1069" y="3364"/>
                </a:lnTo>
                <a:lnTo>
                  <a:pt x="995" y="3331"/>
                </a:lnTo>
                <a:lnTo>
                  <a:pt x="923" y="3298"/>
                </a:lnTo>
                <a:lnTo>
                  <a:pt x="853" y="3258"/>
                </a:lnTo>
                <a:lnTo>
                  <a:pt x="784" y="3217"/>
                </a:lnTo>
                <a:lnTo>
                  <a:pt x="718" y="3172"/>
                </a:lnTo>
                <a:lnTo>
                  <a:pt x="654" y="3124"/>
                </a:lnTo>
                <a:lnTo>
                  <a:pt x="592" y="3073"/>
                </a:lnTo>
                <a:lnTo>
                  <a:pt x="534" y="3018"/>
                </a:lnTo>
                <a:lnTo>
                  <a:pt x="478" y="2960"/>
                </a:lnTo>
                <a:lnTo>
                  <a:pt x="424" y="2900"/>
                </a:lnTo>
                <a:lnTo>
                  <a:pt x="372" y="2837"/>
                </a:lnTo>
                <a:lnTo>
                  <a:pt x="324" y="2771"/>
                </a:lnTo>
                <a:lnTo>
                  <a:pt x="278" y="2704"/>
                </a:lnTo>
                <a:lnTo>
                  <a:pt x="236" y="2634"/>
                </a:lnTo>
                <a:lnTo>
                  <a:pt x="196" y="2560"/>
                </a:lnTo>
                <a:lnTo>
                  <a:pt x="161" y="2486"/>
                </a:lnTo>
                <a:lnTo>
                  <a:pt x="127" y="2410"/>
                </a:lnTo>
                <a:lnTo>
                  <a:pt x="98" y="2331"/>
                </a:lnTo>
                <a:lnTo>
                  <a:pt x="73" y="2250"/>
                </a:lnTo>
                <a:lnTo>
                  <a:pt x="51" y="2167"/>
                </a:lnTo>
                <a:lnTo>
                  <a:pt x="34" y="2083"/>
                </a:lnTo>
                <a:lnTo>
                  <a:pt x="25" y="2041"/>
                </a:lnTo>
                <a:lnTo>
                  <a:pt x="19" y="1999"/>
                </a:lnTo>
                <a:lnTo>
                  <a:pt x="13" y="1955"/>
                </a:lnTo>
                <a:lnTo>
                  <a:pt x="9" y="1911"/>
                </a:lnTo>
                <a:lnTo>
                  <a:pt x="4" y="1867"/>
                </a:lnTo>
                <a:lnTo>
                  <a:pt x="1" y="1823"/>
                </a:lnTo>
                <a:lnTo>
                  <a:pt x="0" y="1779"/>
                </a:lnTo>
                <a:lnTo>
                  <a:pt x="0" y="1734"/>
                </a:lnTo>
                <a:lnTo>
                  <a:pt x="0" y="1690"/>
                </a:lnTo>
                <a:lnTo>
                  <a:pt x="1" y="1644"/>
                </a:lnTo>
                <a:lnTo>
                  <a:pt x="4" y="1601"/>
                </a:lnTo>
                <a:lnTo>
                  <a:pt x="9" y="1557"/>
                </a:lnTo>
                <a:lnTo>
                  <a:pt x="13" y="1513"/>
                </a:lnTo>
                <a:lnTo>
                  <a:pt x="19" y="1470"/>
                </a:lnTo>
                <a:lnTo>
                  <a:pt x="25" y="1426"/>
                </a:lnTo>
                <a:lnTo>
                  <a:pt x="34" y="1384"/>
                </a:lnTo>
                <a:lnTo>
                  <a:pt x="51" y="1301"/>
                </a:lnTo>
                <a:lnTo>
                  <a:pt x="73" y="1219"/>
                </a:lnTo>
                <a:lnTo>
                  <a:pt x="98" y="1138"/>
                </a:lnTo>
                <a:lnTo>
                  <a:pt x="127" y="1059"/>
                </a:lnTo>
                <a:lnTo>
                  <a:pt x="161" y="982"/>
                </a:lnTo>
                <a:lnTo>
                  <a:pt x="196" y="907"/>
                </a:lnTo>
                <a:lnTo>
                  <a:pt x="236" y="835"/>
                </a:lnTo>
                <a:lnTo>
                  <a:pt x="278" y="764"/>
                </a:lnTo>
                <a:lnTo>
                  <a:pt x="324" y="696"/>
                </a:lnTo>
                <a:lnTo>
                  <a:pt x="372" y="630"/>
                </a:lnTo>
                <a:lnTo>
                  <a:pt x="424" y="568"/>
                </a:lnTo>
                <a:lnTo>
                  <a:pt x="476" y="508"/>
                </a:lnTo>
                <a:lnTo>
                  <a:pt x="534" y="450"/>
                </a:lnTo>
                <a:lnTo>
                  <a:pt x="592" y="395"/>
                </a:lnTo>
                <a:lnTo>
                  <a:pt x="654" y="344"/>
                </a:lnTo>
                <a:lnTo>
                  <a:pt x="718" y="295"/>
                </a:lnTo>
                <a:lnTo>
                  <a:pt x="784" y="250"/>
                </a:lnTo>
                <a:lnTo>
                  <a:pt x="853" y="209"/>
                </a:lnTo>
                <a:lnTo>
                  <a:pt x="922" y="171"/>
                </a:lnTo>
                <a:lnTo>
                  <a:pt x="995" y="136"/>
                </a:lnTo>
                <a:lnTo>
                  <a:pt x="1069" y="105"/>
                </a:lnTo>
                <a:lnTo>
                  <a:pt x="1145" y="77"/>
                </a:lnTo>
                <a:lnTo>
                  <a:pt x="1183" y="66"/>
                </a:lnTo>
                <a:lnTo>
                  <a:pt x="1223" y="54"/>
                </a:lnTo>
                <a:lnTo>
                  <a:pt x="1261" y="44"/>
                </a:lnTo>
                <a:lnTo>
                  <a:pt x="1300" y="35"/>
                </a:lnTo>
                <a:lnTo>
                  <a:pt x="1341" y="26"/>
                </a:lnTo>
                <a:lnTo>
                  <a:pt x="1381" y="19"/>
                </a:lnTo>
                <a:lnTo>
                  <a:pt x="1422" y="13"/>
                </a:lnTo>
                <a:lnTo>
                  <a:pt x="1463" y="9"/>
                </a:lnTo>
                <a:lnTo>
                  <a:pt x="1504" y="4"/>
                </a:lnTo>
                <a:lnTo>
                  <a:pt x="1545" y="1"/>
                </a:lnTo>
                <a:lnTo>
                  <a:pt x="1588" y="0"/>
                </a:lnTo>
                <a:lnTo>
                  <a:pt x="1629" y="0"/>
                </a:lnTo>
                <a:lnTo>
                  <a:pt x="1671" y="0"/>
                </a:lnTo>
                <a:lnTo>
                  <a:pt x="1712" y="1"/>
                </a:lnTo>
                <a:lnTo>
                  <a:pt x="1755" y="4"/>
                </a:lnTo>
                <a:lnTo>
                  <a:pt x="1796" y="9"/>
                </a:lnTo>
                <a:lnTo>
                  <a:pt x="1837" y="13"/>
                </a:lnTo>
                <a:lnTo>
                  <a:pt x="1878" y="19"/>
                </a:lnTo>
                <a:lnTo>
                  <a:pt x="1917" y="26"/>
                </a:lnTo>
                <a:lnTo>
                  <a:pt x="1957" y="35"/>
                </a:lnTo>
                <a:lnTo>
                  <a:pt x="1997" y="44"/>
                </a:lnTo>
                <a:lnTo>
                  <a:pt x="2036" y="54"/>
                </a:lnTo>
                <a:lnTo>
                  <a:pt x="2074" y="66"/>
                </a:lnTo>
                <a:lnTo>
                  <a:pt x="2114" y="77"/>
                </a:lnTo>
                <a:lnTo>
                  <a:pt x="2189" y="105"/>
                </a:lnTo>
                <a:lnTo>
                  <a:pt x="2263" y="136"/>
                </a:lnTo>
                <a:lnTo>
                  <a:pt x="2335" y="171"/>
                </a:lnTo>
                <a:lnTo>
                  <a:pt x="2406" y="209"/>
                </a:lnTo>
                <a:lnTo>
                  <a:pt x="2475" y="250"/>
                </a:lnTo>
                <a:lnTo>
                  <a:pt x="2541" y="295"/>
                </a:lnTo>
                <a:lnTo>
                  <a:pt x="2604" y="344"/>
                </a:lnTo>
                <a:lnTo>
                  <a:pt x="2665" y="395"/>
                </a:lnTo>
                <a:lnTo>
                  <a:pt x="2724" y="450"/>
                </a:lnTo>
                <a:lnTo>
                  <a:pt x="2781" y="508"/>
                </a:lnTo>
                <a:lnTo>
                  <a:pt x="2835" y="568"/>
                </a:lnTo>
                <a:lnTo>
                  <a:pt x="2887" y="630"/>
                </a:lnTo>
                <a:lnTo>
                  <a:pt x="2935" y="696"/>
                </a:lnTo>
                <a:lnTo>
                  <a:pt x="2980" y="764"/>
                </a:lnTo>
                <a:lnTo>
                  <a:pt x="3023" y="835"/>
                </a:lnTo>
                <a:lnTo>
                  <a:pt x="3061" y="907"/>
                </a:lnTo>
                <a:lnTo>
                  <a:pt x="3098" y="982"/>
                </a:lnTo>
                <a:lnTo>
                  <a:pt x="3130" y="1059"/>
                </a:lnTo>
                <a:lnTo>
                  <a:pt x="3159" y="1138"/>
                </a:lnTo>
                <a:lnTo>
                  <a:pt x="3186" y="1219"/>
                </a:lnTo>
                <a:lnTo>
                  <a:pt x="3208" y="1301"/>
                </a:lnTo>
                <a:lnTo>
                  <a:pt x="3225" y="1384"/>
                </a:lnTo>
                <a:lnTo>
                  <a:pt x="3233" y="1426"/>
                </a:lnTo>
                <a:lnTo>
                  <a:pt x="3240" y="1470"/>
                </a:lnTo>
                <a:lnTo>
                  <a:pt x="3246" y="1513"/>
                </a:lnTo>
                <a:lnTo>
                  <a:pt x="3250" y="1557"/>
                </a:lnTo>
                <a:lnTo>
                  <a:pt x="3253" y="1601"/>
                </a:lnTo>
                <a:lnTo>
                  <a:pt x="3256" y="1644"/>
                </a:lnTo>
                <a:lnTo>
                  <a:pt x="3257" y="1690"/>
                </a:lnTo>
                <a:lnTo>
                  <a:pt x="3259" y="1734"/>
                </a:lnTo>
                <a:lnTo>
                  <a:pt x="3257" y="1779"/>
                </a:lnTo>
                <a:lnTo>
                  <a:pt x="3256" y="1823"/>
                </a:lnTo>
                <a:lnTo>
                  <a:pt x="3253" y="1867"/>
                </a:lnTo>
                <a:lnTo>
                  <a:pt x="3250" y="1911"/>
                </a:lnTo>
                <a:lnTo>
                  <a:pt x="3246" y="1955"/>
                </a:lnTo>
                <a:lnTo>
                  <a:pt x="3240" y="1999"/>
                </a:lnTo>
                <a:lnTo>
                  <a:pt x="3233" y="2041"/>
                </a:lnTo>
                <a:lnTo>
                  <a:pt x="3225" y="2083"/>
                </a:lnTo>
                <a:lnTo>
                  <a:pt x="3208" y="2167"/>
                </a:lnTo>
                <a:lnTo>
                  <a:pt x="3186" y="2250"/>
                </a:lnTo>
                <a:lnTo>
                  <a:pt x="3159" y="2331"/>
                </a:lnTo>
                <a:lnTo>
                  <a:pt x="3130" y="2410"/>
                </a:lnTo>
                <a:lnTo>
                  <a:pt x="3098" y="2486"/>
                </a:lnTo>
                <a:lnTo>
                  <a:pt x="3061" y="2560"/>
                </a:lnTo>
                <a:lnTo>
                  <a:pt x="3023" y="2634"/>
                </a:lnTo>
                <a:lnTo>
                  <a:pt x="2980" y="2704"/>
                </a:lnTo>
                <a:lnTo>
                  <a:pt x="2935" y="2771"/>
                </a:lnTo>
                <a:lnTo>
                  <a:pt x="2887" y="2837"/>
                </a:lnTo>
                <a:lnTo>
                  <a:pt x="2835" y="2900"/>
                </a:lnTo>
                <a:lnTo>
                  <a:pt x="2781" y="2960"/>
                </a:lnTo>
                <a:lnTo>
                  <a:pt x="2724" y="3018"/>
                </a:lnTo>
                <a:lnTo>
                  <a:pt x="2665" y="3073"/>
                </a:lnTo>
                <a:lnTo>
                  <a:pt x="2604" y="3124"/>
                </a:lnTo>
                <a:lnTo>
                  <a:pt x="2541" y="3172"/>
                </a:lnTo>
                <a:lnTo>
                  <a:pt x="2475" y="3217"/>
                </a:lnTo>
                <a:lnTo>
                  <a:pt x="2406" y="3258"/>
                </a:lnTo>
                <a:lnTo>
                  <a:pt x="2335" y="3298"/>
                </a:lnTo>
                <a:lnTo>
                  <a:pt x="2263" y="3331"/>
                </a:lnTo>
                <a:lnTo>
                  <a:pt x="2189" y="3364"/>
                </a:lnTo>
                <a:lnTo>
                  <a:pt x="2114" y="3390"/>
                </a:lnTo>
                <a:lnTo>
                  <a:pt x="2074" y="3403"/>
                </a:lnTo>
                <a:lnTo>
                  <a:pt x="2036" y="3413"/>
                </a:lnTo>
                <a:lnTo>
                  <a:pt x="1997" y="3424"/>
                </a:lnTo>
                <a:lnTo>
                  <a:pt x="1957" y="3432"/>
                </a:lnTo>
                <a:lnTo>
                  <a:pt x="1917" y="3441"/>
                </a:lnTo>
                <a:lnTo>
                  <a:pt x="1878" y="3449"/>
                </a:lnTo>
                <a:lnTo>
                  <a:pt x="1837" y="3454"/>
                </a:lnTo>
                <a:lnTo>
                  <a:pt x="1796" y="3459"/>
                </a:lnTo>
                <a:lnTo>
                  <a:pt x="1755" y="3463"/>
                </a:lnTo>
                <a:lnTo>
                  <a:pt x="1712" y="3466"/>
                </a:lnTo>
                <a:lnTo>
                  <a:pt x="1671" y="3468"/>
                </a:lnTo>
                <a:lnTo>
                  <a:pt x="1629" y="3469"/>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090" name="Freeform 10">
            <a:extLst>
              <a:ext uri="{FF2B5EF4-FFF2-40B4-BE49-F238E27FC236}">
                <a16:creationId xmlns:a16="http://schemas.microsoft.com/office/drawing/2014/main" id="{E8C4AC63-3A61-44C5-8A69-E323468DDE56}"/>
              </a:ext>
            </a:extLst>
          </p:cNvPr>
          <p:cNvSpPr>
            <a:spLocks/>
          </p:cNvSpPr>
          <p:nvPr/>
        </p:nvSpPr>
        <p:spPr bwMode="auto">
          <a:xfrm>
            <a:off x="3492501" y="2146300"/>
            <a:ext cx="1477963" cy="1574800"/>
          </a:xfrm>
          <a:custGeom>
            <a:avLst/>
            <a:gdLst>
              <a:gd name="T0" fmla="*/ 2147483646 w 1862"/>
              <a:gd name="T1" fmla="*/ 2147483646 h 1983"/>
              <a:gd name="T2" fmla="*/ 2147483646 w 1862"/>
              <a:gd name="T3" fmla="*/ 2147483646 h 1983"/>
              <a:gd name="T4" fmla="*/ 2147483646 w 1862"/>
              <a:gd name="T5" fmla="*/ 2147483646 h 1983"/>
              <a:gd name="T6" fmla="*/ 2147483646 w 1862"/>
              <a:gd name="T7" fmla="*/ 2147483646 h 1983"/>
              <a:gd name="T8" fmla="*/ 2147483646 w 1862"/>
              <a:gd name="T9" fmla="*/ 2147483646 h 1983"/>
              <a:gd name="T10" fmla="*/ 2147483646 w 1862"/>
              <a:gd name="T11" fmla="*/ 2147483646 h 1983"/>
              <a:gd name="T12" fmla="*/ 2147483646 w 1862"/>
              <a:gd name="T13" fmla="*/ 2147483646 h 1983"/>
              <a:gd name="T14" fmla="*/ 2147483646 w 1862"/>
              <a:gd name="T15" fmla="*/ 2147483646 h 1983"/>
              <a:gd name="T16" fmla="*/ 2147483646 w 1862"/>
              <a:gd name="T17" fmla="*/ 2147483646 h 1983"/>
              <a:gd name="T18" fmla="*/ 2147483646 w 1862"/>
              <a:gd name="T19" fmla="*/ 2147483646 h 1983"/>
              <a:gd name="T20" fmla="*/ 2147483646 w 1862"/>
              <a:gd name="T21" fmla="*/ 2147483646 h 1983"/>
              <a:gd name="T22" fmla="*/ 2147483646 w 1862"/>
              <a:gd name="T23" fmla="*/ 2147483646 h 1983"/>
              <a:gd name="T24" fmla="*/ 0 w 1862"/>
              <a:gd name="T25" fmla="*/ 2147483646 h 1983"/>
              <a:gd name="T26" fmla="*/ 2147483646 w 1862"/>
              <a:gd name="T27" fmla="*/ 2147483646 h 1983"/>
              <a:gd name="T28" fmla="*/ 2147483646 w 1862"/>
              <a:gd name="T29" fmla="*/ 2147483646 h 1983"/>
              <a:gd name="T30" fmla="*/ 2147483646 w 1862"/>
              <a:gd name="T31" fmla="*/ 2147483646 h 1983"/>
              <a:gd name="T32" fmla="*/ 2147483646 w 1862"/>
              <a:gd name="T33" fmla="*/ 2147483646 h 1983"/>
              <a:gd name="T34" fmla="*/ 2147483646 w 1862"/>
              <a:gd name="T35" fmla="*/ 2147483646 h 1983"/>
              <a:gd name="T36" fmla="*/ 2147483646 w 1862"/>
              <a:gd name="T37" fmla="*/ 2147483646 h 1983"/>
              <a:gd name="T38" fmla="*/ 2147483646 w 1862"/>
              <a:gd name="T39" fmla="*/ 2147483646 h 1983"/>
              <a:gd name="T40" fmla="*/ 2147483646 w 1862"/>
              <a:gd name="T41" fmla="*/ 2147483646 h 1983"/>
              <a:gd name="T42" fmla="*/ 2147483646 w 1862"/>
              <a:gd name="T43" fmla="*/ 2147483646 h 1983"/>
              <a:gd name="T44" fmla="*/ 2147483646 w 1862"/>
              <a:gd name="T45" fmla="*/ 2147483646 h 1983"/>
              <a:gd name="T46" fmla="*/ 2147483646 w 1862"/>
              <a:gd name="T47" fmla="*/ 2147483646 h 1983"/>
              <a:gd name="T48" fmla="*/ 2147483646 w 1862"/>
              <a:gd name="T49" fmla="*/ 2147483646 h 1983"/>
              <a:gd name="T50" fmla="*/ 2147483646 w 1862"/>
              <a:gd name="T51" fmla="*/ 0 h 1983"/>
              <a:gd name="T52" fmla="*/ 2147483646 w 1862"/>
              <a:gd name="T53" fmla="*/ 2147483646 h 1983"/>
              <a:gd name="T54" fmla="*/ 2147483646 w 1862"/>
              <a:gd name="T55" fmla="*/ 2147483646 h 1983"/>
              <a:gd name="T56" fmla="*/ 2147483646 w 1862"/>
              <a:gd name="T57" fmla="*/ 2147483646 h 1983"/>
              <a:gd name="T58" fmla="*/ 2147483646 w 1862"/>
              <a:gd name="T59" fmla="*/ 2147483646 h 1983"/>
              <a:gd name="T60" fmla="*/ 2147483646 w 1862"/>
              <a:gd name="T61" fmla="*/ 2147483646 h 1983"/>
              <a:gd name="T62" fmla="*/ 2147483646 w 1862"/>
              <a:gd name="T63" fmla="*/ 2147483646 h 1983"/>
              <a:gd name="T64" fmla="*/ 2147483646 w 1862"/>
              <a:gd name="T65" fmla="*/ 2147483646 h 1983"/>
              <a:gd name="T66" fmla="*/ 2147483646 w 1862"/>
              <a:gd name="T67" fmla="*/ 2147483646 h 1983"/>
              <a:gd name="T68" fmla="*/ 2147483646 w 1862"/>
              <a:gd name="T69" fmla="*/ 2147483646 h 1983"/>
              <a:gd name="T70" fmla="*/ 2147483646 w 1862"/>
              <a:gd name="T71" fmla="*/ 2147483646 h 1983"/>
              <a:gd name="T72" fmla="*/ 2147483646 w 1862"/>
              <a:gd name="T73" fmla="*/ 2147483646 h 1983"/>
              <a:gd name="T74" fmla="*/ 2147483646 w 1862"/>
              <a:gd name="T75" fmla="*/ 2147483646 h 1983"/>
              <a:gd name="T76" fmla="*/ 2147483646 w 1862"/>
              <a:gd name="T77" fmla="*/ 2147483646 h 1983"/>
              <a:gd name="T78" fmla="*/ 2147483646 w 1862"/>
              <a:gd name="T79" fmla="*/ 2147483646 h 1983"/>
              <a:gd name="T80" fmla="*/ 2147483646 w 1862"/>
              <a:gd name="T81" fmla="*/ 2147483646 h 1983"/>
              <a:gd name="T82" fmla="*/ 2147483646 w 1862"/>
              <a:gd name="T83" fmla="*/ 2147483646 h 1983"/>
              <a:gd name="T84" fmla="*/ 2147483646 w 1862"/>
              <a:gd name="T85" fmla="*/ 2147483646 h 1983"/>
              <a:gd name="T86" fmla="*/ 2147483646 w 1862"/>
              <a:gd name="T87" fmla="*/ 2147483646 h 1983"/>
              <a:gd name="T88" fmla="*/ 2147483646 w 1862"/>
              <a:gd name="T89" fmla="*/ 2147483646 h 1983"/>
              <a:gd name="T90" fmla="*/ 2147483646 w 1862"/>
              <a:gd name="T91" fmla="*/ 2147483646 h 1983"/>
              <a:gd name="T92" fmla="*/ 2147483646 w 1862"/>
              <a:gd name="T93" fmla="*/ 2147483646 h 1983"/>
              <a:gd name="T94" fmla="*/ 2147483646 w 1862"/>
              <a:gd name="T95" fmla="*/ 2147483646 h 1983"/>
              <a:gd name="T96" fmla="*/ 2147483646 w 1862"/>
              <a:gd name="T97" fmla="*/ 2147483646 h 1983"/>
              <a:gd name="T98" fmla="*/ 2147483646 w 1862"/>
              <a:gd name="T99" fmla="*/ 2147483646 h 1983"/>
              <a:gd name="T100" fmla="*/ 2147483646 w 1862"/>
              <a:gd name="T101" fmla="*/ 2147483646 h 198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62"/>
              <a:gd name="T154" fmla="*/ 0 h 1983"/>
              <a:gd name="T155" fmla="*/ 1862 w 1862"/>
              <a:gd name="T156" fmla="*/ 1983 h 198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62" h="1983">
                <a:moveTo>
                  <a:pt x="932" y="1983"/>
                </a:moveTo>
                <a:lnTo>
                  <a:pt x="907" y="1983"/>
                </a:lnTo>
                <a:lnTo>
                  <a:pt x="884" y="1981"/>
                </a:lnTo>
                <a:lnTo>
                  <a:pt x="860" y="1980"/>
                </a:lnTo>
                <a:lnTo>
                  <a:pt x="837" y="1978"/>
                </a:lnTo>
                <a:lnTo>
                  <a:pt x="813" y="1975"/>
                </a:lnTo>
                <a:lnTo>
                  <a:pt x="790" y="1971"/>
                </a:lnTo>
                <a:lnTo>
                  <a:pt x="766" y="1968"/>
                </a:lnTo>
                <a:lnTo>
                  <a:pt x="744" y="1962"/>
                </a:lnTo>
                <a:lnTo>
                  <a:pt x="721" y="1958"/>
                </a:lnTo>
                <a:lnTo>
                  <a:pt x="699" y="1952"/>
                </a:lnTo>
                <a:lnTo>
                  <a:pt x="677" y="1944"/>
                </a:lnTo>
                <a:lnTo>
                  <a:pt x="655" y="1939"/>
                </a:lnTo>
                <a:lnTo>
                  <a:pt x="633" y="1931"/>
                </a:lnTo>
                <a:lnTo>
                  <a:pt x="611" y="1923"/>
                </a:lnTo>
                <a:lnTo>
                  <a:pt x="590" y="1914"/>
                </a:lnTo>
                <a:lnTo>
                  <a:pt x="568" y="1905"/>
                </a:lnTo>
                <a:lnTo>
                  <a:pt x="548" y="1895"/>
                </a:lnTo>
                <a:lnTo>
                  <a:pt x="527" y="1884"/>
                </a:lnTo>
                <a:lnTo>
                  <a:pt x="507" y="1874"/>
                </a:lnTo>
                <a:lnTo>
                  <a:pt x="488" y="1863"/>
                </a:lnTo>
                <a:lnTo>
                  <a:pt x="467" y="1851"/>
                </a:lnTo>
                <a:lnTo>
                  <a:pt x="448" y="1839"/>
                </a:lnTo>
                <a:lnTo>
                  <a:pt x="429" y="1826"/>
                </a:lnTo>
                <a:lnTo>
                  <a:pt x="412" y="1813"/>
                </a:lnTo>
                <a:lnTo>
                  <a:pt x="393" y="1800"/>
                </a:lnTo>
                <a:lnTo>
                  <a:pt x="375" y="1786"/>
                </a:lnTo>
                <a:lnTo>
                  <a:pt x="357" y="1772"/>
                </a:lnTo>
                <a:lnTo>
                  <a:pt x="340" y="1756"/>
                </a:lnTo>
                <a:lnTo>
                  <a:pt x="322" y="1741"/>
                </a:lnTo>
                <a:lnTo>
                  <a:pt x="306" y="1725"/>
                </a:lnTo>
                <a:lnTo>
                  <a:pt x="288" y="1709"/>
                </a:lnTo>
                <a:lnTo>
                  <a:pt x="274" y="1693"/>
                </a:lnTo>
                <a:lnTo>
                  <a:pt x="258" y="1675"/>
                </a:lnTo>
                <a:lnTo>
                  <a:pt x="242" y="1658"/>
                </a:lnTo>
                <a:lnTo>
                  <a:pt x="227" y="1640"/>
                </a:lnTo>
                <a:lnTo>
                  <a:pt x="214" y="1623"/>
                </a:lnTo>
                <a:lnTo>
                  <a:pt x="199" y="1604"/>
                </a:lnTo>
                <a:lnTo>
                  <a:pt x="186" y="1585"/>
                </a:lnTo>
                <a:lnTo>
                  <a:pt x="173" y="1566"/>
                </a:lnTo>
                <a:lnTo>
                  <a:pt x="159" y="1545"/>
                </a:lnTo>
                <a:lnTo>
                  <a:pt x="148" y="1526"/>
                </a:lnTo>
                <a:lnTo>
                  <a:pt x="134" y="1506"/>
                </a:lnTo>
                <a:lnTo>
                  <a:pt x="124" y="1485"/>
                </a:lnTo>
                <a:lnTo>
                  <a:pt x="112" y="1465"/>
                </a:lnTo>
                <a:lnTo>
                  <a:pt x="102" y="1443"/>
                </a:lnTo>
                <a:lnTo>
                  <a:pt x="92" y="1421"/>
                </a:lnTo>
                <a:lnTo>
                  <a:pt x="83" y="1399"/>
                </a:lnTo>
                <a:lnTo>
                  <a:pt x="73" y="1377"/>
                </a:lnTo>
                <a:lnTo>
                  <a:pt x="66" y="1355"/>
                </a:lnTo>
                <a:lnTo>
                  <a:pt x="57" y="1333"/>
                </a:lnTo>
                <a:lnTo>
                  <a:pt x="49" y="1309"/>
                </a:lnTo>
                <a:lnTo>
                  <a:pt x="42" y="1286"/>
                </a:lnTo>
                <a:lnTo>
                  <a:pt x="36" y="1263"/>
                </a:lnTo>
                <a:lnTo>
                  <a:pt x="29" y="1239"/>
                </a:lnTo>
                <a:lnTo>
                  <a:pt x="25" y="1216"/>
                </a:lnTo>
                <a:lnTo>
                  <a:pt x="19" y="1191"/>
                </a:lnTo>
                <a:lnTo>
                  <a:pt x="14" y="1168"/>
                </a:lnTo>
                <a:lnTo>
                  <a:pt x="11" y="1143"/>
                </a:lnTo>
                <a:lnTo>
                  <a:pt x="8" y="1118"/>
                </a:lnTo>
                <a:lnTo>
                  <a:pt x="5" y="1093"/>
                </a:lnTo>
                <a:lnTo>
                  <a:pt x="3" y="1068"/>
                </a:lnTo>
                <a:lnTo>
                  <a:pt x="1" y="1042"/>
                </a:lnTo>
                <a:lnTo>
                  <a:pt x="1" y="1017"/>
                </a:lnTo>
                <a:lnTo>
                  <a:pt x="0" y="992"/>
                </a:lnTo>
                <a:lnTo>
                  <a:pt x="1" y="966"/>
                </a:lnTo>
                <a:lnTo>
                  <a:pt x="1" y="941"/>
                </a:lnTo>
                <a:lnTo>
                  <a:pt x="3" y="916"/>
                </a:lnTo>
                <a:lnTo>
                  <a:pt x="5" y="891"/>
                </a:lnTo>
                <a:lnTo>
                  <a:pt x="8" y="865"/>
                </a:lnTo>
                <a:lnTo>
                  <a:pt x="11" y="841"/>
                </a:lnTo>
                <a:lnTo>
                  <a:pt x="14" y="816"/>
                </a:lnTo>
                <a:lnTo>
                  <a:pt x="19" y="791"/>
                </a:lnTo>
                <a:lnTo>
                  <a:pt x="25" y="768"/>
                </a:lnTo>
                <a:lnTo>
                  <a:pt x="30" y="743"/>
                </a:lnTo>
                <a:lnTo>
                  <a:pt x="36" y="720"/>
                </a:lnTo>
                <a:lnTo>
                  <a:pt x="42" y="696"/>
                </a:lnTo>
                <a:lnTo>
                  <a:pt x="49" y="674"/>
                </a:lnTo>
                <a:lnTo>
                  <a:pt x="57" y="651"/>
                </a:lnTo>
                <a:lnTo>
                  <a:pt x="66" y="628"/>
                </a:lnTo>
                <a:lnTo>
                  <a:pt x="73" y="606"/>
                </a:lnTo>
                <a:lnTo>
                  <a:pt x="83" y="584"/>
                </a:lnTo>
                <a:lnTo>
                  <a:pt x="92" y="562"/>
                </a:lnTo>
                <a:lnTo>
                  <a:pt x="102" y="540"/>
                </a:lnTo>
                <a:lnTo>
                  <a:pt x="112" y="519"/>
                </a:lnTo>
                <a:lnTo>
                  <a:pt x="124" y="499"/>
                </a:lnTo>
                <a:lnTo>
                  <a:pt x="134" y="478"/>
                </a:lnTo>
                <a:lnTo>
                  <a:pt x="148" y="458"/>
                </a:lnTo>
                <a:lnTo>
                  <a:pt x="159" y="437"/>
                </a:lnTo>
                <a:lnTo>
                  <a:pt x="173" y="418"/>
                </a:lnTo>
                <a:lnTo>
                  <a:pt x="186" y="398"/>
                </a:lnTo>
                <a:lnTo>
                  <a:pt x="199" y="380"/>
                </a:lnTo>
                <a:lnTo>
                  <a:pt x="214" y="361"/>
                </a:lnTo>
                <a:lnTo>
                  <a:pt x="227" y="342"/>
                </a:lnTo>
                <a:lnTo>
                  <a:pt x="242" y="325"/>
                </a:lnTo>
                <a:lnTo>
                  <a:pt x="258" y="307"/>
                </a:lnTo>
                <a:lnTo>
                  <a:pt x="274" y="291"/>
                </a:lnTo>
                <a:lnTo>
                  <a:pt x="288" y="274"/>
                </a:lnTo>
                <a:lnTo>
                  <a:pt x="306" y="257"/>
                </a:lnTo>
                <a:lnTo>
                  <a:pt x="322" y="243"/>
                </a:lnTo>
                <a:lnTo>
                  <a:pt x="340" y="227"/>
                </a:lnTo>
                <a:lnTo>
                  <a:pt x="356" y="212"/>
                </a:lnTo>
                <a:lnTo>
                  <a:pt x="375" y="197"/>
                </a:lnTo>
                <a:lnTo>
                  <a:pt x="393" y="183"/>
                </a:lnTo>
                <a:lnTo>
                  <a:pt x="410" y="170"/>
                </a:lnTo>
                <a:lnTo>
                  <a:pt x="429" y="156"/>
                </a:lnTo>
                <a:lnTo>
                  <a:pt x="448" y="143"/>
                </a:lnTo>
                <a:lnTo>
                  <a:pt x="467" y="132"/>
                </a:lnTo>
                <a:lnTo>
                  <a:pt x="488" y="120"/>
                </a:lnTo>
                <a:lnTo>
                  <a:pt x="507" y="108"/>
                </a:lnTo>
                <a:lnTo>
                  <a:pt x="527" y="98"/>
                </a:lnTo>
                <a:lnTo>
                  <a:pt x="548" y="88"/>
                </a:lnTo>
                <a:lnTo>
                  <a:pt x="568" y="79"/>
                </a:lnTo>
                <a:lnTo>
                  <a:pt x="590" y="69"/>
                </a:lnTo>
                <a:lnTo>
                  <a:pt x="611" y="60"/>
                </a:lnTo>
                <a:lnTo>
                  <a:pt x="633" y="53"/>
                </a:lnTo>
                <a:lnTo>
                  <a:pt x="655" y="45"/>
                </a:lnTo>
                <a:lnTo>
                  <a:pt x="677" y="38"/>
                </a:lnTo>
                <a:lnTo>
                  <a:pt x="699" y="32"/>
                </a:lnTo>
                <a:lnTo>
                  <a:pt x="721" y="26"/>
                </a:lnTo>
                <a:lnTo>
                  <a:pt x="744" y="20"/>
                </a:lnTo>
                <a:lnTo>
                  <a:pt x="766" y="16"/>
                </a:lnTo>
                <a:lnTo>
                  <a:pt x="790" y="12"/>
                </a:lnTo>
                <a:lnTo>
                  <a:pt x="813" y="9"/>
                </a:lnTo>
                <a:lnTo>
                  <a:pt x="837" y="6"/>
                </a:lnTo>
                <a:lnTo>
                  <a:pt x="860" y="3"/>
                </a:lnTo>
                <a:lnTo>
                  <a:pt x="884" y="1"/>
                </a:lnTo>
                <a:lnTo>
                  <a:pt x="907" y="0"/>
                </a:lnTo>
                <a:lnTo>
                  <a:pt x="931" y="0"/>
                </a:lnTo>
                <a:lnTo>
                  <a:pt x="932" y="0"/>
                </a:lnTo>
                <a:lnTo>
                  <a:pt x="955" y="1"/>
                </a:lnTo>
                <a:lnTo>
                  <a:pt x="979" y="1"/>
                </a:lnTo>
                <a:lnTo>
                  <a:pt x="1002" y="3"/>
                </a:lnTo>
                <a:lnTo>
                  <a:pt x="1026" y="6"/>
                </a:lnTo>
                <a:lnTo>
                  <a:pt x="1049" y="9"/>
                </a:lnTo>
                <a:lnTo>
                  <a:pt x="1073" y="12"/>
                </a:lnTo>
                <a:lnTo>
                  <a:pt x="1096" y="16"/>
                </a:lnTo>
                <a:lnTo>
                  <a:pt x="1120" y="20"/>
                </a:lnTo>
                <a:lnTo>
                  <a:pt x="1142" y="26"/>
                </a:lnTo>
                <a:lnTo>
                  <a:pt x="1164" y="32"/>
                </a:lnTo>
                <a:lnTo>
                  <a:pt x="1186" y="38"/>
                </a:lnTo>
                <a:lnTo>
                  <a:pt x="1208" y="45"/>
                </a:lnTo>
                <a:lnTo>
                  <a:pt x="1230" y="53"/>
                </a:lnTo>
                <a:lnTo>
                  <a:pt x="1252" y="60"/>
                </a:lnTo>
                <a:lnTo>
                  <a:pt x="1272" y="69"/>
                </a:lnTo>
                <a:lnTo>
                  <a:pt x="1294" y="79"/>
                </a:lnTo>
                <a:lnTo>
                  <a:pt x="1315" y="88"/>
                </a:lnTo>
                <a:lnTo>
                  <a:pt x="1335" y="98"/>
                </a:lnTo>
                <a:lnTo>
                  <a:pt x="1356" y="108"/>
                </a:lnTo>
                <a:lnTo>
                  <a:pt x="1375" y="120"/>
                </a:lnTo>
                <a:lnTo>
                  <a:pt x="1395" y="132"/>
                </a:lnTo>
                <a:lnTo>
                  <a:pt x="1414" y="143"/>
                </a:lnTo>
                <a:lnTo>
                  <a:pt x="1433" y="156"/>
                </a:lnTo>
                <a:lnTo>
                  <a:pt x="1452" y="170"/>
                </a:lnTo>
                <a:lnTo>
                  <a:pt x="1470" y="183"/>
                </a:lnTo>
                <a:lnTo>
                  <a:pt x="1488" y="197"/>
                </a:lnTo>
                <a:lnTo>
                  <a:pt x="1507" y="212"/>
                </a:lnTo>
                <a:lnTo>
                  <a:pt x="1523" y="227"/>
                </a:lnTo>
                <a:lnTo>
                  <a:pt x="1540" y="243"/>
                </a:lnTo>
                <a:lnTo>
                  <a:pt x="1557" y="257"/>
                </a:lnTo>
                <a:lnTo>
                  <a:pt x="1574" y="274"/>
                </a:lnTo>
                <a:lnTo>
                  <a:pt x="1590" y="291"/>
                </a:lnTo>
                <a:lnTo>
                  <a:pt x="1605" y="307"/>
                </a:lnTo>
                <a:lnTo>
                  <a:pt x="1621" y="325"/>
                </a:lnTo>
                <a:lnTo>
                  <a:pt x="1636" y="342"/>
                </a:lnTo>
                <a:lnTo>
                  <a:pt x="1650" y="361"/>
                </a:lnTo>
                <a:lnTo>
                  <a:pt x="1664" y="380"/>
                </a:lnTo>
                <a:lnTo>
                  <a:pt x="1677" y="398"/>
                </a:lnTo>
                <a:lnTo>
                  <a:pt x="1690" y="418"/>
                </a:lnTo>
                <a:lnTo>
                  <a:pt x="1703" y="437"/>
                </a:lnTo>
                <a:lnTo>
                  <a:pt x="1715" y="458"/>
                </a:lnTo>
                <a:lnTo>
                  <a:pt x="1728" y="477"/>
                </a:lnTo>
                <a:lnTo>
                  <a:pt x="1738" y="499"/>
                </a:lnTo>
                <a:lnTo>
                  <a:pt x="1750" y="519"/>
                </a:lnTo>
                <a:lnTo>
                  <a:pt x="1760" y="540"/>
                </a:lnTo>
                <a:lnTo>
                  <a:pt x="1771" y="562"/>
                </a:lnTo>
                <a:lnTo>
                  <a:pt x="1779" y="584"/>
                </a:lnTo>
                <a:lnTo>
                  <a:pt x="1790" y="606"/>
                </a:lnTo>
                <a:lnTo>
                  <a:pt x="1797" y="628"/>
                </a:lnTo>
                <a:lnTo>
                  <a:pt x="1806" y="651"/>
                </a:lnTo>
                <a:lnTo>
                  <a:pt x="1813" y="673"/>
                </a:lnTo>
                <a:lnTo>
                  <a:pt x="1820" y="696"/>
                </a:lnTo>
                <a:lnTo>
                  <a:pt x="1826" y="720"/>
                </a:lnTo>
                <a:lnTo>
                  <a:pt x="1834" y="743"/>
                </a:lnTo>
                <a:lnTo>
                  <a:pt x="1838" y="768"/>
                </a:lnTo>
                <a:lnTo>
                  <a:pt x="1844" y="791"/>
                </a:lnTo>
                <a:lnTo>
                  <a:pt x="1848" y="816"/>
                </a:lnTo>
                <a:lnTo>
                  <a:pt x="1851" y="841"/>
                </a:lnTo>
                <a:lnTo>
                  <a:pt x="1854" y="865"/>
                </a:lnTo>
                <a:lnTo>
                  <a:pt x="1857" y="890"/>
                </a:lnTo>
                <a:lnTo>
                  <a:pt x="1860" y="916"/>
                </a:lnTo>
                <a:lnTo>
                  <a:pt x="1862" y="941"/>
                </a:lnTo>
                <a:lnTo>
                  <a:pt x="1862" y="966"/>
                </a:lnTo>
                <a:lnTo>
                  <a:pt x="1862" y="992"/>
                </a:lnTo>
                <a:lnTo>
                  <a:pt x="1862" y="1017"/>
                </a:lnTo>
                <a:lnTo>
                  <a:pt x="1862" y="1043"/>
                </a:lnTo>
                <a:lnTo>
                  <a:pt x="1860" y="1068"/>
                </a:lnTo>
                <a:lnTo>
                  <a:pt x="1857" y="1093"/>
                </a:lnTo>
                <a:lnTo>
                  <a:pt x="1854" y="1118"/>
                </a:lnTo>
                <a:lnTo>
                  <a:pt x="1851" y="1143"/>
                </a:lnTo>
                <a:lnTo>
                  <a:pt x="1848" y="1168"/>
                </a:lnTo>
                <a:lnTo>
                  <a:pt x="1844" y="1191"/>
                </a:lnTo>
                <a:lnTo>
                  <a:pt x="1838" y="1216"/>
                </a:lnTo>
                <a:lnTo>
                  <a:pt x="1834" y="1239"/>
                </a:lnTo>
                <a:lnTo>
                  <a:pt x="1826" y="1263"/>
                </a:lnTo>
                <a:lnTo>
                  <a:pt x="1820" y="1286"/>
                </a:lnTo>
                <a:lnTo>
                  <a:pt x="1813" y="1309"/>
                </a:lnTo>
                <a:lnTo>
                  <a:pt x="1806" y="1333"/>
                </a:lnTo>
                <a:lnTo>
                  <a:pt x="1797" y="1355"/>
                </a:lnTo>
                <a:lnTo>
                  <a:pt x="1790" y="1377"/>
                </a:lnTo>
                <a:lnTo>
                  <a:pt x="1779" y="1399"/>
                </a:lnTo>
                <a:lnTo>
                  <a:pt x="1771" y="1421"/>
                </a:lnTo>
                <a:lnTo>
                  <a:pt x="1760" y="1443"/>
                </a:lnTo>
                <a:lnTo>
                  <a:pt x="1750" y="1465"/>
                </a:lnTo>
                <a:lnTo>
                  <a:pt x="1738" y="1485"/>
                </a:lnTo>
                <a:lnTo>
                  <a:pt x="1728" y="1506"/>
                </a:lnTo>
                <a:lnTo>
                  <a:pt x="1715" y="1526"/>
                </a:lnTo>
                <a:lnTo>
                  <a:pt x="1703" y="1545"/>
                </a:lnTo>
                <a:lnTo>
                  <a:pt x="1690" y="1566"/>
                </a:lnTo>
                <a:lnTo>
                  <a:pt x="1677" y="1585"/>
                </a:lnTo>
                <a:lnTo>
                  <a:pt x="1664" y="1604"/>
                </a:lnTo>
                <a:lnTo>
                  <a:pt x="1650" y="1623"/>
                </a:lnTo>
                <a:lnTo>
                  <a:pt x="1636" y="1640"/>
                </a:lnTo>
                <a:lnTo>
                  <a:pt x="1621" y="1658"/>
                </a:lnTo>
                <a:lnTo>
                  <a:pt x="1605" y="1675"/>
                </a:lnTo>
                <a:lnTo>
                  <a:pt x="1590" y="1693"/>
                </a:lnTo>
                <a:lnTo>
                  <a:pt x="1574" y="1709"/>
                </a:lnTo>
                <a:lnTo>
                  <a:pt x="1557" y="1725"/>
                </a:lnTo>
                <a:lnTo>
                  <a:pt x="1540" y="1741"/>
                </a:lnTo>
                <a:lnTo>
                  <a:pt x="1523" y="1756"/>
                </a:lnTo>
                <a:lnTo>
                  <a:pt x="1507" y="1772"/>
                </a:lnTo>
                <a:lnTo>
                  <a:pt x="1488" y="1786"/>
                </a:lnTo>
                <a:lnTo>
                  <a:pt x="1470" y="1800"/>
                </a:lnTo>
                <a:lnTo>
                  <a:pt x="1452" y="1813"/>
                </a:lnTo>
                <a:lnTo>
                  <a:pt x="1433" y="1826"/>
                </a:lnTo>
                <a:lnTo>
                  <a:pt x="1414" y="1839"/>
                </a:lnTo>
                <a:lnTo>
                  <a:pt x="1395" y="1851"/>
                </a:lnTo>
                <a:lnTo>
                  <a:pt x="1375" y="1863"/>
                </a:lnTo>
                <a:lnTo>
                  <a:pt x="1356" y="1874"/>
                </a:lnTo>
                <a:lnTo>
                  <a:pt x="1335" y="1884"/>
                </a:lnTo>
                <a:lnTo>
                  <a:pt x="1315" y="1895"/>
                </a:lnTo>
                <a:lnTo>
                  <a:pt x="1294" y="1905"/>
                </a:lnTo>
                <a:lnTo>
                  <a:pt x="1272" y="1914"/>
                </a:lnTo>
                <a:lnTo>
                  <a:pt x="1252" y="1923"/>
                </a:lnTo>
                <a:lnTo>
                  <a:pt x="1230" y="1930"/>
                </a:lnTo>
                <a:lnTo>
                  <a:pt x="1208" y="1939"/>
                </a:lnTo>
                <a:lnTo>
                  <a:pt x="1186" y="1944"/>
                </a:lnTo>
                <a:lnTo>
                  <a:pt x="1164" y="1952"/>
                </a:lnTo>
                <a:lnTo>
                  <a:pt x="1142" y="1958"/>
                </a:lnTo>
                <a:lnTo>
                  <a:pt x="1118" y="1962"/>
                </a:lnTo>
                <a:lnTo>
                  <a:pt x="1096" y="1966"/>
                </a:lnTo>
                <a:lnTo>
                  <a:pt x="1073" y="1971"/>
                </a:lnTo>
                <a:lnTo>
                  <a:pt x="1049" y="1975"/>
                </a:lnTo>
                <a:lnTo>
                  <a:pt x="1026" y="1978"/>
                </a:lnTo>
                <a:lnTo>
                  <a:pt x="1002" y="1980"/>
                </a:lnTo>
                <a:lnTo>
                  <a:pt x="979" y="1981"/>
                </a:lnTo>
                <a:lnTo>
                  <a:pt x="955" y="1983"/>
                </a:lnTo>
                <a:lnTo>
                  <a:pt x="931" y="1983"/>
                </a:lnTo>
                <a:lnTo>
                  <a:pt x="932" y="1983"/>
                </a:ln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091" name="Freeform 11">
            <a:extLst>
              <a:ext uri="{FF2B5EF4-FFF2-40B4-BE49-F238E27FC236}">
                <a16:creationId xmlns:a16="http://schemas.microsoft.com/office/drawing/2014/main" id="{86C7DCC0-F265-46BD-9E50-E045FA92C587}"/>
              </a:ext>
            </a:extLst>
          </p:cNvPr>
          <p:cNvSpPr>
            <a:spLocks/>
          </p:cNvSpPr>
          <p:nvPr/>
        </p:nvSpPr>
        <p:spPr bwMode="auto">
          <a:xfrm>
            <a:off x="3492501" y="2146300"/>
            <a:ext cx="1477963" cy="1574800"/>
          </a:xfrm>
          <a:custGeom>
            <a:avLst/>
            <a:gdLst>
              <a:gd name="T0" fmla="*/ 2147483646 w 1862"/>
              <a:gd name="T1" fmla="*/ 2147483646 h 1983"/>
              <a:gd name="T2" fmla="*/ 2147483646 w 1862"/>
              <a:gd name="T3" fmla="*/ 2147483646 h 1983"/>
              <a:gd name="T4" fmla="*/ 2147483646 w 1862"/>
              <a:gd name="T5" fmla="*/ 2147483646 h 1983"/>
              <a:gd name="T6" fmla="*/ 2147483646 w 1862"/>
              <a:gd name="T7" fmla="*/ 2147483646 h 1983"/>
              <a:gd name="T8" fmla="*/ 2147483646 w 1862"/>
              <a:gd name="T9" fmla="*/ 2147483646 h 1983"/>
              <a:gd name="T10" fmla="*/ 2147483646 w 1862"/>
              <a:gd name="T11" fmla="*/ 2147483646 h 1983"/>
              <a:gd name="T12" fmla="*/ 2147483646 w 1862"/>
              <a:gd name="T13" fmla="*/ 2147483646 h 1983"/>
              <a:gd name="T14" fmla="*/ 2147483646 w 1862"/>
              <a:gd name="T15" fmla="*/ 2147483646 h 1983"/>
              <a:gd name="T16" fmla="*/ 2147483646 w 1862"/>
              <a:gd name="T17" fmla="*/ 2147483646 h 1983"/>
              <a:gd name="T18" fmla="*/ 2147483646 w 1862"/>
              <a:gd name="T19" fmla="*/ 2147483646 h 1983"/>
              <a:gd name="T20" fmla="*/ 2147483646 w 1862"/>
              <a:gd name="T21" fmla="*/ 2147483646 h 1983"/>
              <a:gd name="T22" fmla="*/ 2147483646 w 1862"/>
              <a:gd name="T23" fmla="*/ 2147483646 h 1983"/>
              <a:gd name="T24" fmla="*/ 0 w 1862"/>
              <a:gd name="T25" fmla="*/ 2147483646 h 1983"/>
              <a:gd name="T26" fmla="*/ 2147483646 w 1862"/>
              <a:gd name="T27" fmla="*/ 2147483646 h 1983"/>
              <a:gd name="T28" fmla="*/ 2147483646 w 1862"/>
              <a:gd name="T29" fmla="*/ 2147483646 h 1983"/>
              <a:gd name="T30" fmla="*/ 2147483646 w 1862"/>
              <a:gd name="T31" fmla="*/ 2147483646 h 1983"/>
              <a:gd name="T32" fmla="*/ 2147483646 w 1862"/>
              <a:gd name="T33" fmla="*/ 2147483646 h 1983"/>
              <a:gd name="T34" fmla="*/ 2147483646 w 1862"/>
              <a:gd name="T35" fmla="*/ 2147483646 h 1983"/>
              <a:gd name="T36" fmla="*/ 2147483646 w 1862"/>
              <a:gd name="T37" fmla="*/ 2147483646 h 1983"/>
              <a:gd name="T38" fmla="*/ 2147483646 w 1862"/>
              <a:gd name="T39" fmla="*/ 2147483646 h 1983"/>
              <a:gd name="T40" fmla="*/ 2147483646 w 1862"/>
              <a:gd name="T41" fmla="*/ 2147483646 h 1983"/>
              <a:gd name="T42" fmla="*/ 2147483646 w 1862"/>
              <a:gd name="T43" fmla="*/ 2147483646 h 1983"/>
              <a:gd name="T44" fmla="*/ 2147483646 w 1862"/>
              <a:gd name="T45" fmla="*/ 2147483646 h 1983"/>
              <a:gd name="T46" fmla="*/ 2147483646 w 1862"/>
              <a:gd name="T47" fmla="*/ 2147483646 h 1983"/>
              <a:gd name="T48" fmla="*/ 2147483646 w 1862"/>
              <a:gd name="T49" fmla="*/ 2147483646 h 1983"/>
              <a:gd name="T50" fmla="*/ 2147483646 w 1862"/>
              <a:gd name="T51" fmla="*/ 0 h 1983"/>
              <a:gd name="T52" fmla="*/ 2147483646 w 1862"/>
              <a:gd name="T53" fmla="*/ 2147483646 h 1983"/>
              <a:gd name="T54" fmla="*/ 2147483646 w 1862"/>
              <a:gd name="T55" fmla="*/ 2147483646 h 1983"/>
              <a:gd name="T56" fmla="*/ 2147483646 w 1862"/>
              <a:gd name="T57" fmla="*/ 2147483646 h 1983"/>
              <a:gd name="T58" fmla="*/ 2147483646 w 1862"/>
              <a:gd name="T59" fmla="*/ 2147483646 h 1983"/>
              <a:gd name="T60" fmla="*/ 2147483646 w 1862"/>
              <a:gd name="T61" fmla="*/ 2147483646 h 1983"/>
              <a:gd name="T62" fmla="*/ 2147483646 w 1862"/>
              <a:gd name="T63" fmla="*/ 2147483646 h 1983"/>
              <a:gd name="T64" fmla="*/ 2147483646 w 1862"/>
              <a:gd name="T65" fmla="*/ 2147483646 h 1983"/>
              <a:gd name="T66" fmla="*/ 2147483646 w 1862"/>
              <a:gd name="T67" fmla="*/ 2147483646 h 1983"/>
              <a:gd name="T68" fmla="*/ 2147483646 w 1862"/>
              <a:gd name="T69" fmla="*/ 2147483646 h 1983"/>
              <a:gd name="T70" fmla="*/ 2147483646 w 1862"/>
              <a:gd name="T71" fmla="*/ 2147483646 h 1983"/>
              <a:gd name="T72" fmla="*/ 2147483646 w 1862"/>
              <a:gd name="T73" fmla="*/ 2147483646 h 1983"/>
              <a:gd name="T74" fmla="*/ 2147483646 w 1862"/>
              <a:gd name="T75" fmla="*/ 2147483646 h 1983"/>
              <a:gd name="T76" fmla="*/ 2147483646 w 1862"/>
              <a:gd name="T77" fmla="*/ 2147483646 h 1983"/>
              <a:gd name="T78" fmla="*/ 2147483646 w 1862"/>
              <a:gd name="T79" fmla="*/ 2147483646 h 1983"/>
              <a:gd name="T80" fmla="*/ 2147483646 w 1862"/>
              <a:gd name="T81" fmla="*/ 2147483646 h 1983"/>
              <a:gd name="T82" fmla="*/ 2147483646 w 1862"/>
              <a:gd name="T83" fmla="*/ 2147483646 h 1983"/>
              <a:gd name="T84" fmla="*/ 2147483646 w 1862"/>
              <a:gd name="T85" fmla="*/ 2147483646 h 1983"/>
              <a:gd name="T86" fmla="*/ 2147483646 w 1862"/>
              <a:gd name="T87" fmla="*/ 2147483646 h 1983"/>
              <a:gd name="T88" fmla="*/ 2147483646 w 1862"/>
              <a:gd name="T89" fmla="*/ 2147483646 h 1983"/>
              <a:gd name="T90" fmla="*/ 2147483646 w 1862"/>
              <a:gd name="T91" fmla="*/ 2147483646 h 1983"/>
              <a:gd name="T92" fmla="*/ 2147483646 w 1862"/>
              <a:gd name="T93" fmla="*/ 2147483646 h 1983"/>
              <a:gd name="T94" fmla="*/ 2147483646 w 1862"/>
              <a:gd name="T95" fmla="*/ 2147483646 h 1983"/>
              <a:gd name="T96" fmla="*/ 2147483646 w 1862"/>
              <a:gd name="T97" fmla="*/ 2147483646 h 1983"/>
              <a:gd name="T98" fmla="*/ 2147483646 w 1862"/>
              <a:gd name="T99" fmla="*/ 2147483646 h 1983"/>
              <a:gd name="T100" fmla="*/ 2147483646 w 1862"/>
              <a:gd name="T101" fmla="*/ 2147483646 h 198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62"/>
              <a:gd name="T154" fmla="*/ 0 h 1983"/>
              <a:gd name="T155" fmla="*/ 1862 w 1862"/>
              <a:gd name="T156" fmla="*/ 1983 h 198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62" h="1983">
                <a:moveTo>
                  <a:pt x="932" y="1983"/>
                </a:moveTo>
                <a:lnTo>
                  <a:pt x="907" y="1983"/>
                </a:lnTo>
                <a:lnTo>
                  <a:pt x="884" y="1981"/>
                </a:lnTo>
                <a:lnTo>
                  <a:pt x="860" y="1980"/>
                </a:lnTo>
                <a:lnTo>
                  <a:pt x="837" y="1978"/>
                </a:lnTo>
                <a:lnTo>
                  <a:pt x="813" y="1975"/>
                </a:lnTo>
                <a:lnTo>
                  <a:pt x="790" y="1971"/>
                </a:lnTo>
                <a:lnTo>
                  <a:pt x="766" y="1968"/>
                </a:lnTo>
                <a:lnTo>
                  <a:pt x="744" y="1962"/>
                </a:lnTo>
                <a:lnTo>
                  <a:pt x="721" y="1958"/>
                </a:lnTo>
                <a:lnTo>
                  <a:pt x="699" y="1952"/>
                </a:lnTo>
                <a:lnTo>
                  <a:pt x="677" y="1944"/>
                </a:lnTo>
                <a:lnTo>
                  <a:pt x="655" y="1939"/>
                </a:lnTo>
                <a:lnTo>
                  <a:pt x="633" y="1931"/>
                </a:lnTo>
                <a:lnTo>
                  <a:pt x="611" y="1923"/>
                </a:lnTo>
                <a:lnTo>
                  <a:pt x="590" y="1914"/>
                </a:lnTo>
                <a:lnTo>
                  <a:pt x="568" y="1905"/>
                </a:lnTo>
                <a:lnTo>
                  <a:pt x="548" y="1895"/>
                </a:lnTo>
                <a:lnTo>
                  <a:pt x="527" y="1884"/>
                </a:lnTo>
                <a:lnTo>
                  <a:pt x="507" y="1874"/>
                </a:lnTo>
                <a:lnTo>
                  <a:pt x="488" y="1863"/>
                </a:lnTo>
                <a:lnTo>
                  <a:pt x="467" y="1851"/>
                </a:lnTo>
                <a:lnTo>
                  <a:pt x="448" y="1839"/>
                </a:lnTo>
                <a:lnTo>
                  <a:pt x="429" y="1826"/>
                </a:lnTo>
                <a:lnTo>
                  <a:pt x="412" y="1813"/>
                </a:lnTo>
                <a:lnTo>
                  <a:pt x="393" y="1800"/>
                </a:lnTo>
                <a:lnTo>
                  <a:pt x="375" y="1786"/>
                </a:lnTo>
                <a:lnTo>
                  <a:pt x="357" y="1772"/>
                </a:lnTo>
                <a:lnTo>
                  <a:pt x="340" y="1756"/>
                </a:lnTo>
                <a:lnTo>
                  <a:pt x="322" y="1741"/>
                </a:lnTo>
                <a:lnTo>
                  <a:pt x="306" y="1725"/>
                </a:lnTo>
                <a:lnTo>
                  <a:pt x="288" y="1709"/>
                </a:lnTo>
                <a:lnTo>
                  <a:pt x="274" y="1693"/>
                </a:lnTo>
                <a:lnTo>
                  <a:pt x="258" y="1675"/>
                </a:lnTo>
                <a:lnTo>
                  <a:pt x="242" y="1658"/>
                </a:lnTo>
                <a:lnTo>
                  <a:pt x="227" y="1640"/>
                </a:lnTo>
                <a:lnTo>
                  <a:pt x="214" y="1623"/>
                </a:lnTo>
                <a:lnTo>
                  <a:pt x="199" y="1604"/>
                </a:lnTo>
                <a:lnTo>
                  <a:pt x="186" y="1585"/>
                </a:lnTo>
                <a:lnTo>
                  <a:pt x="173" y="1566"/>
                </a:lnTo>
                <a:lnTo>
                  <a:pt x="159" y="1545"/>
                </a:lnTo>
                <a:lnTo>
                  <a:pt x="148" y="1526"/>
                </a:lnTo>
                <a:lnTo>
                  <a:pt x="134" y="1506"/>
                </a:lnTo>
                <a:lnTo>
                  <a:pt x="124" y="1485"/>
                </a:lnTo>
                <a:lnTo>
                  <a:pt x="112" y="1465"/>
                </a:lnTo>
                <a:lnTo>
                  <a:pt x="102" y="1443"/>
                </a:lnTo>
                <a:lnTo>
                  <a:pt x="92" y="1421"/>
                </a:lnTo>
                <a:lnTo>
                  <a:pt x="83" y="1399"/>
                </a:lnTo>
                <a:lnTo>
                  <a:pt x="73" y="1377"/>
                </a:lnTo>
                <a:lnTo>
                  <a:pt x="66" y="1355"/>
                </a:lnTo>
                <a:lnTo>
                  <a:pt x="57" y="1333"/>
                </a:lnTo>
                <a:lnTo>
                  <a:pt x="49" y="1309"/>
                </a:lnTo>
                <a:lnTo>
                  <a:pt x="42" y="1286"/>
                </a:lnTo>
                <a:lnTo>
                  <a:pt x="36" y="1263"/>
                </a:lnTo>
                <a:lnTo>
                  <a:pt x="29" y="1239"/>
                </a:lnTo>
                <a:lnTo>
                  <a:pt x="25" y="1216"/>
                </a:lnTo>
                <a:lnTo>
                  <a:pt x="19" y="1191"/>
                </a:lnTo>
                <a:lnTo>
                  <a:pt x="14" y="1168"/>
                </a:lnTo>
                <a:lnTo>
                  <a:pt x="11" y="1143"/>
                </a:lnTo>
                <a:lnTo>
                  <a:pt x="8" y="1118"/>
                </a:lnTo>
                <a:lnTo>
                  <a:pt x="5" y="1093"/>
                </a:lnTo>
                <a:lnTo>
                  <a:pt x="3" y="1068"/>
                </a:lnTo>
                <a:lnTo>
                  <a:pt x="1" y="1042"/>
                </a:lnTo>
                <a:lnTo>
                  <a:pt x="1" y="1017"/>
                </a:lnTo>
                <a:lnTo>
                  <a:pt x="0" y="992"/>
                </a:lnTo>
                <a:lnTo>
                  <a:pt x="1" y="966"/>
                </a:lnTo>
                <a:lnTo>
                  <a:pt x="1" y="941"/>
                </a:lnTo>
                <a:lnTo>
                  <a:pt x="3" y="916"/>
                </a:lnTo>
                <a:lnTo>
                  <a:pt x="5" y="891"/>
                </a:lnTo>
                <a:lnTo>
                  <a:pt x="8" y="865"/>
                </a:lnTo>
                <a:lnTo>
                  <a:pt x="11" y="841"/>
                </a:lnTo>
                <a:lnTo>
                  <a:pt x="14" y="816"/>
                </a:lnTo>
                <a:lnTo>
                  <a:pt x="19" y="791"/>
                </a:lnTo>
                <a:lnTo>
                  <a:pt x="25" y="768"/>
                </a:lnTo>
                <a:lnTo>
                  <a:pt x="30" y="743"/>
                </a:lnTo>
                <a:lnTo>
                  <a:pt x="36" y="720"/>
                </a:lnTo>
                <a:lnTo>
                  <a:pt x="42" y="696"/>
                </a:lnTo>
                <a:lnTo>
                  <a:pt x="49" y="674"/>
                </a:lnTo>
                <a:lnTo>
                  <a:pt x="57" y="651"/>
                </a:lnTo>
                <a:lnTo>
                  <a:pt x="66" y="628"/>
                </a:lnTo>
                <a:lnTo>
                  <a:pt x="73" y="606"/>
                </a:lnTo>
                <a:lnTo>
                  <a:pt x="83" y="584"/>
                </a:lnTo>
                <a:lnTo>
                  <a:pt x="92" y="562"/>
                </a:lnTo>
                <a:lnTo>
                  <a:pt x="102" y="540"/>
                </a:lnTo>
                <a:lnTo>
                  <a:pt x="112" y="519"/>
                </a:lnTo>
                <a:lnTo>
                  <a:pt x="124" y="499"/>
                </a:lnTo>
                <a:lnTo>
                  <a:pt x="134" y="478"/>
                </a:lnTo>
                <a:lnTo>
                  <a:pt x="148" y="458"/>
                </a:lnTo>
                <a:lnTo>
                  <a:pt x="159" y="437"/>
                </a:lnTo>
                <a:lnTo>
                  <a:pt x="173" y="418"/>
                </a:lnTo>
                <a:lnTo>
                  <a:pt x="186" y="398"/>
                </a:lnTo>
                <a:lnTo>
                  <a:pt x="199" y="380"/>
                </a:lnTo>
                <a:lnTo>
                  <a:pt x="214" y="361"/>
                </a:lnTo>
                <a:lnTo>
                  <a:pt x="227" y="342"/>
                </a:lnTo>
                <a:lnTo>
                  <a:pt x="242" y="325"/>
                </a:lnTo>
                <a:lnTo>
                  <a:pt x="258" y="307"/>
                </a:lnTo>
                <a:lnTo>
                  <a:pt x="274" y="291"/>
                </a:lnTo>
                <a:lnTo>
                  <a:pt x="288" y="274"/>
                </a:lnTo>
                <a:lnTo>
                  <a:pt x="306" y="257"/>
                </a:lnTo>
                <a:lnTo>
                  <a:pt x="322" y="243"/>
                </a:lnTo>
                <a:lnTo>
                  <a:pt x="340" y="227"/>
                </a:lnTo>
                <a:lnTo>
                  <a:pt x="356" y="212"/>
                </a:lnTo>
                <a:lnTo>
                  <a:pt x="375" y="197"/>
                </a:lnTo>
                <a:lnTo>
                  <a:pt x="393" y="183"/>
                </a:lnTo>
                <a:lnTo>
                  <a:pt x="410" y="170"/>
                </a:lnTo>
                <a:lnTo>
                  <a:pt x="429" y="156"/>
                </a:lnTo>
                <a:lnTo>
                  <a:pt x="448" y="143"/>
                </a:lnTo>
                <a:lnTo>
                  <a:pt x="467" y="132"/>
                </a:lnTo>
                <a:lnTo>
                  <a:pt x="488" y="120"/>
                </a:lnTo>
                <a:lnTo>
                  <a:pt x="507" y="108"/>
                </a:lnTo>
                <a:lnTo>
                  <a:pt x="527" y="98"/>
                </a:lnTo>
                <a:lnTo>
                  <a:pt x="548" y="88"/>
                </a:lnTo>
                <a:lnTo>
                  <a:pt x="568" y="79"/>
                </a:lnTo>
                <a:lnTo>
                  <a:pt x="590" y="69"/>
                </a:lnTo>
                <a:lnTo>
                  <a:pt x="611" y="60"/>
                </a:lnTo>
                <a:lnTo>
                  <a:pt x="633" y="53"/>
                </a:lnTo>
                <a:lnTo>
                  <a:pt x="655" y="45"/>
                </a:lnTo>
                <a:lnTo>
                  <a:pt x="677" y="38"/>
                </a:lnTo>
                <a:lnTo>
                  <a:pt x="699" y="32"/>
                </a:lnTo>
                <a:lnTo>
                  <a:pt x="721" y="26"/>
                </a:lnTo>
                <a:lnTo>
                  <a:pt x="744" y="20"/>
                </a:lnTo>
                <a:lnTo>
                  <a:pt x="766" y="16"/>
                </a:lnTo>
                <a:lnTo>
                  <a:pt x="790" y="12"/>
                </a:lnTo>
                <a:lnTo>
                  <a:pt x="813" y="9"/>
                </a:lnTo>
                <a:lnTo>
                  <a:pt x="837" y="6"/>
                </a:lnTo>
                <a:lnTo>
                  <a:pt x="860" y="3"/>
                </a:lnTo>
                <a:lnTo>
                  <a:pt x="884" y="1"/>
                </a:lnTo>
                <a:lnTo>
                  <a:pt x="907" y="0"/>
                </a:lnTo>
                <a:lnTo>
                  <a:pt x="931" y="0"/>
                </a:lnTo>
                <a:lnTo>
                  <a:pt x="932" y="0"/>
                </a:lnTo>
                <a:lnTo>
                  <a:pt x="955" y="1"/>
                </a:lnTo>
                <a:lnTo>
                  <a:pt x="979" y="1"/>
                </a:lnTo>
                <a:lnTo>
                  <a:pt x="1002" y="3"/>
                </a:lnTo>
                <a:lnTo>
                  <a:pt x="1026" y="6"/>
                </a:lnTo>
                <a:lnTo>
                  <a:pt x="1049" y="9"/>
                </a:lnTo>
                <a:lnTo>
                  <a:pt x="1073" y="12"/>
                </a:lnTo>
                <a:lnTo>
                  <a:pt x="1096" y="16"/>
                </a:lnTo>
                <a:lnTo>
                  <a:pt x="1120" y="20"/>
                </a:lnTo>
                <a:lnTo>
                  <a:pt x="1142" y="26"/>
                </a:lnTo>
                <a:lnTo>
                  <a:pt x="1164" y="32"/>
                </a:lnTo>
                <a:lnTo>
                  <a:pt x="1186" y="38"/>
                </a:lnTo>
                <a:lnTo>
                  <a:pt x="1208" y="45"/>
                </a:lnTo>
                <a:lnTo>
                  <a:pt x="1230" y="53"/>
                </a:lnTo>
                <a:lnTo>
                  <a:pt x="1252" y="60"/>
                </a:lnTo>
                <a:lnTo>
                  <a:pt x="1272" y="69"/>
                </a:lnTo>
                <a:lnTo>
                  <a:pt x="1294" y="79"/>
                </a:lnTo>
                <a:lnTo>
                  <a:pt x="1315" y="88"/>
                </a:lnTo>
                <a:lnTo>
                  <a:pt x="1335" y="98"/>
                </a:lnTo>
                <a:lnTo>
                  <a:pt x="1356" y="108"/>
                </a:lnTo>
                <a:lnTo>
                  <a:pt x="1375" y="120"/>
                </a:lnTo>
                <a:lnTo>
                  <a:pt x="1395" y="132"/>
                </a:lnTo>
                <a:lnTo>
                  <a:pt x="1414" y="143"/>
                </a:lnTo>
                <a:lnTo>
                  <a:pt x="1433" y="156"/>
                </a:lnTo>
                <a:lnTo>
                  <a:pt x="1452" y="170"/>
                </a:lnTo>
                <a:lnTo>
                  <a:pt x="1470" y="183"/>
                </a:lnTo>
                <a:lnTo>
                  <a:pt x="1488" y="197"/>
                </a:lnTo>
                <a:lnTo>
                  <a:pt x="1507" y="212"/>
                </a:lnTo>
                <a:lnTo>
                  <a:pt x="1523" y="227"/>
                </a:lnTo>
                <a:lnTo>
                  <a:pt x="1540" y="243"/>
                </a:lnTo>
                <a:lnTo>
                  <a:pt x="1557" y="257"/>
                </a:lnTo>
                <a:lnTo>
                  <a:pt x="1574" y="274"/>
                </a:lnTo>
                <a:lnTo>
                  <a:pt x="1590" y="291"/>
                </a:lnTo>
                <a:lnTo>
                  <a:pt x="1605" y="307"/>
                </a:lnTo>
                <a:lnTo>
                  <a:pt x="1621" y="325"/>
                </a:lnTo>
                <a:lnTo>
                  <a:pt x="1636" y="342"/>
                </a:lnTo>
                <a:lnTo>
                  <a:pt x="1650" y="361"/>
                </a:lnTo>
                <a:lnTo>
                  <a:pt x="1664" y="380"/>
                </a:lnTo>
                <a:lnTo>
                  <a:pt x="1677" y="398"/>
                </a:lnTo>
                <a:lnTo>
                  <a:pt x="1690" y="418"/>
                </a:lnTo>
                <a:lnTo>
                  <a:pt x="1703" y="437"/>
                </a:lnTo>
                <a:lnTo>
                  <a:pt x="1715" y="458"/>
                </a:lnTo>
                <a:lnTo>
                  <a:pt x="1728" y="477"/>
                </a:lnTo>
                <a:lnTo>
                  <a:pt x="1738" y="499"/>
                </a:lnTo>
                <a:lnTo>
                  <a:pt x="1750" y="519"/>
                </a:lnTo>
                <a:lnTo>
                  <a:pt x="1760" y="540"/>
                </a:lnTo>
                <a:lnTo>
                  <a:pt x="1771" y="562"/>
                </a:lnTo>
                <a:lnTo>
                  <a:pt x="1779" y="584"/>
                </a:lnTo>
                <a:lnTo>
                  <a:pt x="1790" y="606"/>
                </a:lnTo>
                <a:lnTo>
                  <a:pt x="1797" y="628"/>
                </a:lnTo>
                <a:lnTo>
                  <a:pt x="1806" y="651"/>
                </a:lnTo>
                <a:lnTo>
                  <a:pt x="1813" y="673"/>
                </a:lnTo>
                <a:lnTo>
                  <a:pt x="1820" y="696"/>
                </a:lnTo>
                <a:lnTo>
                  <a:pt x="1826" y="720"/>
                </a:lnTo>
                <a:lnTo>
                  <a:pt x="1834" y="743"/>
                </a:lnTo>
                <a:lnTo>
                  <a:pt x="1838" y="768"/>
                </a:lnTo>
                <a:lnTo>
                  <a:pt x="1844" y="791"/>
                </a:lnTo>
                <a:lnTo>
                  <a:pt x="1848" y="816"/>
                </a:lnTo>
                <a:lnTo>
                  <a:pt x="1851" y="841"/>
                </a:lnTo>
                <a:lnTo>
                  <a:pt x="1854" y="865"/>
                </a:lnTo>
                <a:lnTo>
                  <a:pt x="1857" y="890"/>
                </a:lnTo>
                <a:lnTo>
                  <a:pt x="1860" y="916"/>
                </a:lnTo>
                <a:lnTo>
                  <a:pt x="1862" y="941"/>
                </a:lnTo>
                <a:lnTo>
                  <a:pt x="1862" y="966"/>
                </a:lnTo>
                <a:lnTo>
                  <a:pt x="1862" y="992"/>
                </a:lnTo>
                <a:lnTo>
                  <a:pt x="1862" y="1017"/>
                </a:lnTo>
                <a:lnTo>
                  <a:pt x="1862" y="1043"/>
                </a:lnTo>
                <a:lnTo>
                  <a:pt x="1860" y="1068"/>
                </a:lnTo>
                <a:lnTo>
                  <a:pt x="1857" y="1093"/>
                </a:lnTo>
                <a:lnTo>
                  <a:pt x="1854" y="1118"/>
                </a:lnTo>
                <a:lnTo>
                  <a:pt x="1851" y="1143"/>
                </a:lnTo>
                <a:lnTo>
                  <a:pt x="1848" y="1168"/>
                </a:lnTo>
                <a:lnTo>
                  <a:pt x="1844" y="1191"/>
                </a:lnTo>
                <a:lnTo>
                  <a:pt x="1838" y="1216"/>
                </a:lnTo>
                <a:lnTo>
                  <a:pt x="1834" y="1239"/>
                </a:lnTo>
                <a:lnTo>
                  <a:pt x="1826" y="1263"/>
                </a:lnTo>
                <a:lnTo>
                  <a:pt x="1820" y="1286"/>
                </a:lnTo>
                <a:lnTo>
                  <a:pt x="1813" y="1309"/>
                </a:lnTo>
                <a:lnTo>
                  <a:pt x="1806" y="1333"/>
                </a:lnTo>
                <a:lnTo>
                  <a:pt x="1797" y="1355"/>
                </a:lnTo>
                <a:lnTo>
                  <a:pt x="1790" y="1377"/>
                </a:lnTo>
                <a:lnTo>
                  <a:pt x="1779" y="1399"/>
                </a:lnTo>
                <a:lnTo>
                  <a:pt x="1771" y="1421"/>
                </a:lnTo>
                <a:lnTo>
                  <a:pt x="1760" y="1443"/>
                </a:lnTo>
                <a:lnTo>
                  <a:pt x="1750" y="1465"/>
                </a:lnTo>
                <a:lnTo>
                  <a:pt x="1738" y="1485"/>
                </a:lnTo>
                <a:lnTo>
                  <a:pt x="1728" y="1506"/>
                </a:lnTo>
                <a:lnTo>
                  <a:pt x="1715" y="1526"/>
                </a:lnTo>
                <a:lnTo>
                  <a:pt x="1703" y="1545"/>
                </a:lnTo>
                <a:lnTo>
                  <a:pt x="1690" y="1566"/>
                </a:lnTo>
                <a:lnTo>
                  <a:pt x="1677" y="1585"/>
                </a:lnTo>
                <a:lnTo>
                  <a:pt x="1664" y="1604"/>
                </a:lnTo>
                <a:lnTo>
                  <a:pt x="1650" y="1623"/>
                </a:lnTo>
                <a:lnTo>
                  <a:pt x="1636" y="1640"/>
                </a:lnTo>
                <a:lnTo>
                  <a:pt x="1621" y="1658"/>
                </a:lnTo>
                <a:lnTo>
                  <a:pt x="1605" y="1675"/>
                </a:lnTo>
                <a:lnTo>
                  <a:pt x="1590" y="1693"/>
                </a:lnTo>
                <a:lnTo>
                  <a:pt x="1574" y="1709"/>
                </a:lnTo>
                <a:lnTo>
                  <a:pt x="1557" y="1725"/>
                </a:lnTo>
                <a:lnTo>
                  <a:pt x="1540" y="1741"/>
                </a:lnTo>
                <a:lnTo>
                  <a:pt x="1523" y="1756"/>
                </a:lnTo>
                <a:lnTo>
                  <a:pt x="1507" y="1772"/>
                </a:lnTo>
                <a:lnTo>
                  <a:pt x="1488" y="1786"/>
                </a:lnTo>
                <a:lnTo>
                  <a:pt x="1470" y="1800"/>
                </a:lnTo>
                <a:lnTo>
                  <a:pt x="1452" y="1813"/>
                </a:lnTo>
                <a:lnTo>
                  <a:pt x="1433" y="1826"/>
                </a:lnTo>
                <a:lnTo>
                  <a:pt x="1414" y="1839"/>
                </a:lnTo>
                <a:lnTo>
                  <a:pt x="1395" y="1851"/>
                </a:lnTo>
                <a:lnTo>
                  <a:pt x="1375" y="1863"/>
                </a:lnTo>
                <a:lnTo>
                  <a:pt x="1356" y="1874"/>
                </a:lnTo>
                <a:lnTo>
                  <a:pt x="1335" y="1884"/>
                </a:lnTo>
                <a:lnTo>
                  <a:pt x="1315" y="1895"/>
                </a:lnTo>
                <a:lnTo>
                  <a:pt x="1294" y="1905"/>
                </a:lnTo>
                <a:lnTo>
                  <a:pt x="1272" y="1914"/>
                </a:lnTo>
                <a:lnTo>
                  <a:pt x="1252" y="1923"/>
                </a:lnTo>
                <a:lnTo>
                  <a:pt x="1230" y="1930"/>
                </a:lnTo>
                <a:lnTo>
                  <a:pt x="1208" y="1939"/>
                </a:lnTo>
                <a:lnTo>
                  <a:pt x="1186" y="1944"/>
                </a:lnTo>
                <a:lnTo>
                  <a:pt x="1164" y="1952"/>
                </a:lnTo>
                <a:lnTo>
                  <a:pt x="1142" y="1958"/>
                </a:lnTo>
                <a:lnTo>
                  <a:pt x="1118" y="1962"/>
                </a:lnTo>
                <a:lnTo>
                  <a:pt x="1096" y="1966"/>
                </a:lnTo>
                <a:lnTo>
                  <a:pt x="1073" y="1971"/>
                </a:lnTo>
                <a:lnTo>
                  <a:pt x="1049" y="1975"/>
                </a:lnTo>
                <a:lnTo>
                  <a:pt x="1026" y="1978"/>
                </a:lnTo>
                <a:lnTo>
                  <a:pt x="1002" y="1980"/>
                </a:lnTo>
                <a:lnTo>
                  <a:pt x="979" y="1981"/>
                </a:lnTo>
                <a:lnTo>
                  <a:pt x="955" y="1983"/>
                </a:lnTo>
                <a:lnTo>
                  <a:pt x="931" y="1983"/>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092" name="Freeform 13">
            <a:extLst>
              <a:ext uri="{FF2B5EF4-FFF2-40B4-BE49-F238E27FC236}">
                <a16:creationId xmlns:a16="http://schemas.microsoft.com/office/drawing/2014/main" id="{CDE0EAD6-C22D-4B57-AA10-C136DAC70AEB}"/>
              </a:ext>
            </a:extLst>
          </p:cNvPr>
          <p:cNvSpPr>
            <a:spLocks/>
          </p:cNvSpPr>
          <p:nvPr/>
        </p:nvSpPr>
        <p:spPr bwMode="auto">
          <a:xfrm>
            <a:off x="3640139" y="2619375"/>
            <a:ext cx="1182687" cy="1258888"/>
          </a:xfrm>
          <a:custGeom>
            <a:avLst/>
            <a:gdLst>
              <a:gd name="T0" fmla="*/ 2147483646 w 1489"/>
              <a:gd name="T1" fmla="*/ 2147483646 h 1587"/>
              <a:gd name="T2" fmla="*/ 2147483646 w 1489"/>
              <a:gd name="T3" fmla="*/ 2147483646 h 1587"/>
              <a:gd name="T4" fmla="*/ 2147483646 w 1489"/>
              <a:gd name="T5" fmla="*/ 2147483646 h 1587"/>
              <a:gd name="T6" fmla="*/ 2147483646 w 1489"/>
              <a:gd name="T7" fmla="*/ 2147483646 h 1587"/>
              <a:gd name="T8" fmla="*/ 2147483646 w 1489"/>
              <a:gd name="T9" fmla="*/ 2147483646 h 1587"/>
              <a:gd name="T10" fmla="*/ 2147483646 w 1489"/>
              <a:gd name="T11" fmla="*/ 2147483646 h 1587"/>
              <a:gd name="T12" fmla="*/ 2147483646 w 1489"/>
              <a:gd name="T13" fmla="*/ 2147483646 h 1587"/>
              <a:gd name="T14" fmla="*/ 2147483646 w 1489"/>
              <a:gd name="T15" fmla="*/ 2147483646 h 1587"/>
              <a:gd name="T16" fmla="*/ 2147483646 w 1489"/>
              <a:gd name="T17" fmla="*/ 2147483646 h 1587"/>
              <a:gd name="T18" fmla="*/ 2147483646 w 1489"/>
              <a:gd name="T19" fmla="*/ 2147483646 h 1587"/>
              <a:gd name="T20" fmla="*/ 2147483646 w 1489"/>
              <a:gd name="T21" fmla="*/ 2147483646 h 1587"/>
              <a:gd name="T22" fmla="*/ 2147483646 w 1489"/>
              <a:gd name="T23" fmla="*/ 2147483646 h 1587"/>
              <a:gd name="T24" fmla="*/ 2147483646 w 1489"/>
              <a:gd name="T25" fmla="*/ 2147483646 h 1587"/>
              <a:gd name="T26" fmla="*/ 2147483646 w 1489"/>
              <a:gd name="T27" fmla="*/ 2147483646 h 1587"/>
              <a:gd name="T28" fmla="*/ 2147483646 w 1489"/>
              <a:gd name="T29" fmla="*/ 2147483646 h 1587"/>
              <a:gd name="T30" fmla="*/ 2147483646 w 1489"/>
              <a:gd name="T31" fmla="*/ 2147483646 h 1587"/>
              <a:gd name="T32" fmla="*/ 2147483646 w 1489"/>
              <a:gd name="T33" fmla="*/ 2147483646 h 1587"/>
              <a:gd name="T34" fmla="*/ 2147483646 w 1489"/>
              <a:gd name="T35" fmla="*/ 2147483646 h 1587"/>
              <a:gd name="T36" fmla="*/ 2147483646 w 1489"/>
              <a:gd name="T37" fmla="*/ 2147483646 h 1587"/>
              <a:gd name="T38" fmla="*/ 2147483646 w 1489"/>
              <a:gd name="T39" fmla="*/ 2147483646 h 1587"/>
              <a:gd name="T40" fmla="*/ 2147483646 w 1489"/>
              <a:gd name="T41" fmla="*/ 2147483646 h 1587"/>
              <a:gd name="T42" fmla="*/ 2147483646 w 1489"/>
              <a:gd name="T43" fmla="*/ 2147483646 h 1587"/>
              <a:gd name="T44" fmla="*/ 2147483646 w 1489"/>
              <a:gd name="T45" fmla="*/ 2147483646 h 1587"/>
              <a:gd name="T46" fmla="*/ 2147483646 w 1489"/>
              <a:gd name="T47" fmla="*/ 2147483646 h 1587"/>
              <a:gd name="T48" fmla="*/ 2147483646 w 1489"/>
              <a:gd name="T49" fmla="*/ 2147483646 h 1587"/>
              <a:gd name="T50" fmla="*/ 2147483646 w 1489"/>
              <a:gd name="T51" fmla="*/ 2147483646 h 1587"/>
              <a:gd name="T52" fmla="*/ 2147483646 w 1489"/>
              <a:gd name="T53" fmla="*/ 2147483646 h 1587"/>
              <a:gd name="T54" fmla="*/ 2147483646 w 1489"/>
              <a:gd name="T55" fmla="*/ 0 h 1587"/>
              <a:gd name="T56" fmla="*/ 2147483646 w 1489"/>
              <a:gd name="T57" fmla="*/ 0 h 1587"/>
              <a:gd name="T58" fmla="*/ 2147483646 w 1489"/>
              <a:gd name="T59" fmla="*/ 2147483646 h 1587"/>
              <a:gd name="T60" fmla="*/ 2147483646 w 1489"/>
              <a:gd name="T61" fmla="*/ 2147483646 h 1587"/>
              <a:gd name="T62" fmla="*/ 2147483646 w 1489"/>
              <a:gd name="T63" fmla="*/ 2147483646 h 1587"/>
              <a:gd name="T64" fmla="*/ 2147483646 w 1489"/>
              <a:gd name="T65" fmla="*/ 2147483646 h 1587"/>
              <a:gd name="T66" fmla="*/ 2147483646 w 1489"/>
              <a:gd name="T67" fmla="*/ 2147483646 h 1587"/>
              <a:gd name="T68" fmla="*/ 2147483646 w 1489"/>
              <a:gd name="T69" fmla="*/ 2147483646 h 1587"/>
              <a:gd name="T70" fmla="*/ 2147483646 w 1489"/>
              <a:gd name="T71" fmla="*/ 2147483646 h 1587"/>
              <a:gd name="T72" fmla="*/ 2147483646 w 1489"/>
              <a:gd name="T73" fmla="*/ 2147483646 h 1587"/>
              <a:gd name="T74" fmla="*/ 2147483646 w 1489"/>
              <a:gd name="T75" fmla="*/ 2147483646 h 1587"/>
              <a:gd name="T76" fmla="*/ 2147483646 w 1489"/>
              <a:gd name="T77" fmla="*/ 2147483646 h 1587"/>
              <a:gd name="T78" fmla="*/ 2147483646 w 1489"/>
              <a:gd name="T79" fmla="*/ 2147483646 h 1587"/>
              <a:gd name="T80" fmla="*/ 2147483646 w 1489"/>
              <a:gd name="T81" fmla="*/ 2147483646 h 1587"/>
              <a:gd name="T82" fmla="*/ 2147483646 w 1489"/>
              <a:gd name="T83" fmla="*/ 2147483646 h 1587"/>
              <a:gd name="T84" fmla="*/ 2147483646 w 1489"/>
              <a:gd name="T85" fmla="*/ 2147483646 h 1587"/>
              <a:gd name="T86" fmla="*/ 2147483646 w 1489"/>
              <a:gd name="T87" fmla="*/ 2147483646 h 1587"/>
              <a:gd name="T88" fmla="*/ 2147483646 w 1489"/>
              <a:gd name="T89" fmla="*/ 2147483646 h 1587"/>
              <a:gd name="T90" fmla="*/ 2147483646 w 1489"/>
              <a:gd name="T91" fmla="*/ 2147483646 h 1587"/>
              <a:gd name="T92" fmla="*/ 2147483646 w 1489"/>
              <a:gd name="T93" fmla="*/ 2147483646 h 1587"/>
              <a:gd name="T94" fmla="*/ 2147483646 w 1489"/>
              <a:gd name="T95" fmla="*/ 2147483646 h 1587"/>
              <a:gd name="T96" fmla="*/ 2147483646 w 1489"/>
              <a:gd name="T97" fmla="*/ 2147483646 h 1587"/>
              <a:gd name="T98" fmla="*/ 2147483646 w 1489"/>
              <a:gd name="T99" fmla="*/ 2147483646 h 1587"/>
              <a:gd name="T100" fmla="*/ 2147483646 w 1489"/>
              <a:gd name="T101" fmla="*/ 2147483646 h 1587"/>
              <a:gd name="T102" fmla="*/ 2147483646 w 1489"/>
              <a:gd name="T103" fmla="*/ 2147483646 h 1587"/>
              <a:gd name="T104" fmla="*/ 2147483646 w 1489"/>
              <a:gd name="T105" fmla="*/ 2147483646 h 1587"/>
              <a:gd name="T106" fmla="*/ 2147483646 w 1489"/>
              <a:gd name="T107" fmla="*/ 2147483646 h 1587"/>
              <a:gd name="T108" fmla="*/ 2147483646 w 1489"/>
              <a:gd name="T109" fmla="*/ 2147483646 h 1587"/>
              <a:gd name="T110" fmla="*/ 2147483646 w 1489"/>
              <a:gd name="T111" fmla="*/ 2147483646 h 158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89"/>
              <a:gd name="T169" fmla="*/ 0 h 1587"/>
              <a:gd name="T170" fmla="*/ 1489 w 1489"/>
              <a:gd name="T171" fmla="*/ 1587 h 1587"/>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89" h="1587">
                <a:moveTo>
                  <a:pt x="746" y="1587"/>
                </a:moveTo>
                <a:lnTo>
                  <a:pt x="726" y="1585"/>
                </a:lnTo>
                <a:lnTo>
                  <a:pt x="706" y="1585"/>
                </a:lnTo>
                <a:lnTo>
                  <a:pt x="687" y="1584"/>
                </a:lnTo>
                <a:lnTo>
                  <a:pt x="670" y="1582"/>
                </a:lnTo>
                <a:lnTo>
                  <a:pt x="651" y="1579"/>
                </a:lnTo>
                <a:lnTo>
                  <a:pt x="632" y="1576"/>
                </a:lnTo>
                <a:lnTo>
                  <a:pt x="614" y="1573"/>
                </a:lnTo>
                <a:lnTo>
                  <a:pt x="595" y="1570"/>
                </a:lnTo>
                <a:lnTo>
                  <a:pt x="577" y="1566"/>
                </a:lnTo>
                <a:lnTo>
                  <a:pt x="560" y="1560"/>
                </a:lnTo>
                <a:lnTo>
                  <a:pt x="541" y="1556"/>
                </a:lnTo>
                <a:lnTo>
                  <a:pt x="523" y="1550"/>
                </a:lnTo>
                <a:lnTo>
                  <a:pt x="507" y="1544"/>
                </a:lnTo>
                <a:lnTo>
                  <a:pt x="489" y="1538"/>
                </a:lnTo>
                <a:lnTo>
                  <a:pt x="472" y="1531"/>
                </a:lnTo>
                <a:lnTo>
                  <a:pt x="456" y="1524"/>
                </a:lnTo>
                <a:lnTo>
                  <a:pt x="438" y="1516"/>
                </a:lnTo>
                <a:lnTo>
                  <a:pt x="422" y="1507"/>
                </a:lnTo>
                <a:lnTo>
                  <a:pt x="406" y="1499"/>
                </a:lnTo>
                <a:lnTo>
                  <a:pt x="390" y="1490"/>
                </a:lnTo>
                <a:lnTo>
                  <a:pt x="375" y="1481"/>
                </a:lnTo>
                <a:lnTo>
                  <a:pt x="359" y="1471"/>
                </a:lnTo>
                <a:lnTo>
                  <a:pt x="344" y="1461"/>
                </a:lnTo>
                <a:lnTo>
                  <a:pt x="330" y="1450"/>
                </a:lnTo>
                <a:lnTo>
                  <a:pt x="314" y="1440"/>
                </a:lnTo>
                <a:lnTo>
                  <a:pt x="300" y="1428"/>
                </a:lnTo>
                <a:lnTo>
                  <a:pt x="271" y="1405"/>
                </a:lnTo>
                <a:lnTo>
                  <a:pt x="245" y="1380"/>
                </a:lnTo>
                <a:lnTo>
                  <a:pt x="218" y="1354"/>
                </a:lnTo>
                <a:lnTo>
                  <a:pt x="195" y="1326"/>
                </a:lnTo>
                <a:lnTo>
                  <a:pt x="171" y="1297"/>
                </a:lnTo>
                <a:lnTo>
                  <a:pt x="148" y="1268"/>
                </a:lnTo>
                <a:lnTo>
                  <a:pt x="127" y="1237"/>
                </a:lnTo>
                <a:lnTo>
                  <a:pt x="108" y="1205"/>
                </a:lnTo>
                <a:lnTo>
                  <a:pt x="99" y="1187"/>
                </a:lnTo>
                <a:lnTo>
                  <a:pt x="91" y="1171"/>
                </a:lnTo>
                <a:lnTo>
                  <a:pt x="82" y="1153"/>
                </a:lnTo>
                <a:lnTo>
                  <a:pt x="75" y="1137"/>
                </a:lnTo>
                <a:lnTo>
                  <a:pt x="66" y="1120"/>
                </a:lnTo>
                <a:lnTo>
                  <a:pt x="58" y="1102"/>
                </a:lnTo>
                <a:lnTo>
                  <a:pt x="53" y="1083"/>
                </a:lnTo>
                <a:lnTo>
                  <a:pt x="45" y="1066"/>
                </a:lnTo>
                <a:lnTo>
                  <a:pt x="39" y="1047"/>
                </a:lnTo>
                <a:lnTo>
                  <a:pt x="34" y="1029"/>
                </a:lnTo>
                <a:lnTo>
                  <a:pt x="29" y="1010"/>
                </a:lnTo>
                <a:lnTo>
                  <a:pt x="23" y="991"/>
                </a:lnTo>
                <a:lnTo>
                  <a:pt x="19" y="972"/>
                </a:lnTo>
                <a:lnTo>
                  <a:pt x="16" y="953"/>
                </a:lnTo>
                <a:lnTo>
                  <a:pt x="12" y="934"/>
                </a:lnTo>
                <a:lnTo>
                  <a:pt x="9" y="913"/>
                </a:lnTo>
                <a:lnTo>
                  <a:pt x="7" y="894"/>
                </a:lnTo>
                <a:lnTo>
                  <a:pt x="4" y="874"/>
                </a:lnTo>
                <a:lnTo>
                  <a:pt x="3" y="853"/>
                </a:lnTo>
                <a:lnTo>
                  <a:pt x="1" y="834"/>
                </a:lnTo>
                <a:lnTo>
                  <a:pt x="1" y="814"/>
                </a:lnTo>
                <a:lnTo>
                  <a:pt x="0" y="793"/>
                </a:lnTo>
                <a:lnTo>
                  <a:pt x="1" y="773"/>
                </a:lnTo>
                <a:lnTo>
                  <a:pt x="1" y="752"/>
                </a:lnTo>
                <a:lnTo>
                  <a:pt x="3" y="732"/>
                </a:lnTo>
                <a:lnTo>
                  <a:pt x="4" y="712"/>
                </a:lnTo>
                <a:lnTo>
                  <a:pt x="7" y="692"/>
                </a:lnTo>
                <a:lnTo>
                  <a:pt x="9" y="672"/>
                </a:lnTo>
                <a:lnTo>
                  <a:pt x="12" y="653"/>
                </a:lnTo>
                <a:lnTo>
                  <a:pt x="16" y="633"/>
                </a:lnTo>
                <a:lnTo>
                  <a:pt x="20" y="613"/>
                </a:lnTo>
                <a:lnTo>
                  <a:pt x="25" y="594"/>
                </a:lnTo>
                <a:lnTo>
                  <a:pt x="29" y="575"/>
                </a:lnTo>
                <a:lnTo>
                  <a:pt x="34" y="558"/>
                </a:lnTo>
                <a:lnTo>
                  <a:pt x="39" y="539"/>
                </a:lnTo>
                <a:lnTo>
                  <a:pt x="45" y="520"/>
                </a:lnTo>
                <a:lnTo>
                  <a:pt x="53" y="502"/>
                </a:lnTo>
                <a:lnTo>
                  <a:pt x="58" y="485"/>
                </a:lnTo>
                <a:lnTo>
                  <a:pt x="66" y="467"/>
                </a:lnTo>
                <a:lnTo>
                  <a:pt x="75" y="450"/>
                </a:lnTo>
                <a:lnTo>
                  <a:pt x="82" y="432"/>
                </a:lnTo>
                <a:lnTo>
                  <a:pt x="91" y="414"/>
                </a:lnTo>
                <a:lnTo>
                  <a:pt x="99" y="398"/>
                </a:lnTo>
                <a:lnTo>
                  <a:pt x="108" y="382"/>
                </a:lnTo>
                <a:lnTo>
                  <a:pt x="127" y="350"/>
                </a:lnTo>
                <a:lnTo>
                  <a:pt x="148" y="318"/>
                </a:lnTo>
                <a:lnTo>
                  <a:pt x="171" y="289"/>
                </a:lnTo>
                <a:lnTo>
                  <a:pt x="193" y="259"/>
                </a:lnTo>
                <a:lnTo>
                  <a:pt x="218" y="232"/>
                </a:lnTo>
                <a:lnTo>
                  <a:pt x="245" y="207"/>
                </a:lnTo>
                <a:lnTo>
                  <a:pt x="271" y="182"/>
                </a:lnTo>
                <a:lnTo>
                  <a:pt x="300" y="157"/>
                </a:lnTo>
                <a:lnTo>
                  <a:pt x="314" y="147"/>
                </a:lnTo>
                <a:lnTo>
                  <a:pt x="328" y="135"/>
                </a:lnTo>
                <a:lnTo>
                  <a:pt x="344" y="125"/>
                </a:lnTo>
                <a:lnTo>
                  <a:pt x="359" y="115"/>
                </a:lnTo>
                <a:lnTo>
                  <a:pt x="375" y="106"/>
                </a:lnTo>
                <a:lnTo>
                  <a:pt x="390" y="96"/>
                </a:lnTo>
                <a:lnTo>
                  <a:pt x="406" y="87"/>
                </a:lnTo>
                <a:lnTo>
                  <a:pt x="422" y="78"/>
                </a:lnTo>
                <a:lnTo>
                  <a:pt x="438" y="71"/>
                </a:lnTo>
                <a:lnTo>
                  <a:pt x="456" y="62"/>
                </a:lnTo>
                <a:lnTo>
                  <a:pt x="472" y="55"/>
                </a:lnTo>
                <a:lnTo>
                  <a:pt x="489" y="49"/>
                </a:lnTo>
                <a:lnTo>
                  <a:pt x="507" y="41"/>
                </a:lnTo>
                <a:lnTo>
                  <a:pt x="523" y="36"/>
                </a:lnTo>
                <a:lnTo>
                  <a:pt x="541" y="30"/>
                </a:lnTo>
                <a:lnTo>
                  <a:pt x="558" y="25"/>
                </a:lnTo>
                <a:lnTo>
                  <a:pt x="577" y="21"/>
                </a:lnTo>
                <a:lnTo>
                  <a:pt x="595" y="17"/>
                </a:lnTo>
                <a:lnTo>
                  <a:pt x="613" y="12"/>
                </a:lnTo>
                <a:lnTo>
                  <a:pt x="632" y="9"/>
                </a:lnTo>
                <a:lnTo>
                  <a:pt x="651" y="6"/>
                </a:lnTo>
                <a:lnTo>
                  <a:pt x="668" y="5"/>
                </a:lnTo>
                <a:lnTo>
                  <a:pt x="687" y="2"/>
                </a:lnTo>
                <a:lnTo>
                  <a:pt x="706" y="0"/>
                </a:lnTo>
                <a:lnTo>
                  <a:pt x="726" y="0"/>
                </a:lnTo>
                <a:lnTo>
                  <a:pt x="745" y="0"/>
                </a:lnTo>
                <a:lnTo>
                  <a:pt x="746" y="0"/>
                </a:lnTo>
                <a:lnTo>
                  <a:pt x="765" y="0"/>
                </a:lnTo>
                <a:lnTo>
                  <a:pt x="784" y="0"/>
                </a:lnTo>
                <a:lnTo>
                  <a:pt x="803" y="2"/>
                </a:lnTo>
                <a:lnTo>
                  <a:pt x="821" y="5"/>
                </a:lnTo>
                <a:lnTo>
                  <a:pt x="840" y="6"/>
                </a:lnTo>
                <a:lnTo>
                  <a:pt x="859" y="9"/>
                </a:lnTo>
                <a:lnTo>
                  <a:pt x="877" y="12"/>
                </a:lnTo>
                <a:lnTo>
                  <a:pt x="896" y="17"/>
                </a:lnTo>
                <a:lnTo>
                  <a:pt x="913" y="21"/>
                </a:lnTo>
                <a:lnTo>
                  <a:pt x="931" y="25"/>
                </a:lnTo>
                <a:lnTo>
                  <a:pt x="950" y="30"/>
                </a:lnTo>
                <a:lnTo>
                  <a:pt x="967" y="36"/>
                </a:lnTo>
                <a:lnTo>
                  <a:pt x="984" y="41"/>
                </a:lnTo>
                <a:lnTo>
                  <a:pt x="1001" y="49"/>
                </a:lnTo>
                <a:lnTo>
                  <a:pt x="1019" y="55"/>
                </a:lnTo>
                <a:lnTo>
                  <a:pt x="1035" y="62"/>
                </a:lnTo>
                <a:lnTo>
                  <a:pt x="1052" y="71"/>
                </a:lnTo>
                <a:lnTo>
                  <a:pt x="1069" y="78"/>
                </a:lnTo>
                <a:lnTo>
                  <a:pt x="1085" y="87"/>
                </a:lnTo>
                <a:lnTo>
                  <a:pt x="1101" y="96"/>
                </a:lnTo>
                <a:lnTo>
                  <a:pt x="1115" y="106"/>
                </a:lnTo>
                <a:lnTo>
                  <a:pt x="1132" y="115"/>
                </a:lnTo>
                <a:lnTo>
                  <a:pt x="1146" y="125"/>
                </a:lnTo>
                <a:lnTo>
                  <a:pt x="1162" y="135"/>
                </a:lnTo>
                <a:lnTo>
                  <a:pt x="1177" y="147"/>
                </a:lnTo>
                <a:lnTo>
                  <a:pt x="1190" y="157"/>
                </a:lnTo>
                <a:lnTo>
                  <a:pt x="1220" y="182"/>
                </a:lnTo>
                <a:lnTo>
                  <a:pt x="1246" y="207"/>
                </a:lnTo>
                <a:lnTo>
                  <a:pt x="1272" y="232"/>
                </a:lnTo>
                <a:lnTo>
                  <a:pt x="1297" y="259"/>
                </a:lnTo>
                <a:lnTo>
                  <a:pt x="1321" y="289"/>
                </a:lnTo>
                <a:lnTo>
                  <a:pt x="1343" y="318"/>
                </a:lnTo>
                <a:lnTo>
                  <a:pt x="1363" y="350"/>
                </a:lnTo>
                <a:lnTo>
                  <a:pt x="1382" y="382"/>
                </a:lnTo>
                <a:lnTo>
                  <a:pt x="1391" y="398"/>
                </a:lnTo>
                <a:lnTo>
                  <a:pt x="1400" y="414"/>
                </a:lnTo>
                <a:lnTo>
                  <a:pt x="1409" y="432"/>
                </a:lnTo>
                <a:lnTo>
                  <a:pt x="1416" y="450"/>
                </a:lnTo>
                <a:lnTo>
                  <a:pt x="1425" y="467"/>
                </a:lnTo>
                <a:lnTo>
                  <a:pt x="1432" y="485"/>
                </a:lnTo>
                <a:lnTo>
                  <a:pt x="1438" y="502"/>
                </a:lnTo>
                <a:lnTo>
                  <a:pt x="1445" y="520"/>
                </a:lnTo>
                <a:lnTo>
                  <a:pt x="1451" y="539"/>
                </a:lnTo>
                <a:lnTo>
                  <a:pt x="1457" y="558"/>
                </a:lnTo>
                <a:lnTo>
                  <a:pt x="1461" y="575"/>
                </a:lnTo>
                <a:lnTo>
                  <a:pt x="1466" y="594"/>
                </a:lnTo>
                <a:lnTo>
                  <a:pt x="1470" y="613"/>
                </a:lnTo>
                <a:lnTo>
                  <a:pt x="1475" y="633"/>
                </a:lnTo>
                <a:lnTo>
                  <a:pt x="1479" y="653"/>
                </a:lnTo>
                <a:lnTo>
                  <a:pt x="1482" y="672"/>
                </a:lnTo>
                <a:lnTo>
                  <a:pt x="1483" y="692"/>
                </a:lnTo>
                <a:lnTo>
                  <a:pt x="1486" y="712"/>
                </a:lnTo>
                <a:lnTo>
                  <a:pt x="1488" y="732"/>
                </a:lnTo>
                <a:lnTo>
                  <a:pt x="1489" y="752"/>
                </a:lnTo>
                <a:lnTo>
                  <a:pt x="1489" y="773"/>
                </a:lnTo>
                <a:lnTo>
                  <a:pt x="1489" y="793"/>
                </a:lnTo>
                <a:lnTo>
                  <a:pt x="1489" y="814"/>
                </a:lnTo>
                <a:lnTo>
                  <a:pt x="1489" y="834"/>
                </a:lnTo>
                <a:lnTo>
                  <a:pt x="1488" y="853"/>
                </a:lnTo>
                <a:lnTo>
                  <a:pt x="1486" y="874"/>
                </a:lnTo>
                <a:lnTo>
                  <a:pt x="1483" y="894"/>
                </a:lnTo>
                <a:lnTo>
                  <a:pt x="1482" y="913"/>
                </a:lnTo>
                <a:lnTo>
                  <a:pt x="1479" y="934"/>
                </a:lnTo>
                <a:lnTo>
                  <a:pt x="1475" y="953"/>
                </a:lnTo>
                <a:lnTo>
                  <a:pt x="1472" y="972"/>
                </a:lnTo>
                <a:lnTo>
                  <a:pt x="1467" y="991"/>
                </a:lnTo>
                <a:lnTo>
                  <a:pt x="1461" y="1010"/>
                </a:lnTo>
                <a:lnTo>
                  <a:pt x="1457" y="1029"/>
                </a:lnTo>
                <a:lnTo>
                  <a:pt x="1451" y="1047"/>
                </a:lnTo>
                <a:lnTo>
                  <a:pt x="1445" y="1066"/>
                </a:lnTo>
                <a:lnTo>
                  <a:pt x="1438" y="1083"/>
                </a:lnTo>
                <a:lnTo>
                  <a:pt x="1432" y="1102"/>
                </a:lnTo>
                <a:lnTo>
                  <a:pt x="1425" y="1120"/>
                </a:lnTo>
                <a:lnTo>
                  <a:pt x="1416" y="1137"/>
                </a:lnTo>
                <a:lnTo>
                  <a:pt x="1409" y="1153"/>
                </a:lnTo>
                <a:lnTo>
                  <a:pt x="1400" y="1171"/>
                </a:lnTo>
                <a:lnTo>
                  <a:pt x="1391" y="1187"/>
                </a:lnTo>
                <a:lnTo>
                  <a:pt x="1382" y="1205"/>
                </a:lnTo>
                <a:lnTo>
                  <a:pt x="1363" y="1237"/>
                </a:lnTo>
                <a:lnTo>
                  <a:pt x="1343" y="1268"/>
                </a:lnTo>
                <a:lnTo>
                  <a:pt x="1321" y="1297"/>
                </a:lnTo>
                <a:lnTo>
                  <a:pt x="1297" y="1326"/>
                </a:lnTo>
                <a:lnTo>
                  <a:pt x="1272" y="1354"/>
                </a:lnTo>
                <a:lnTo>
                  <a:pt x="1246" y="1380"/>
                </a:lnTo>
                <a:lnTo>
                  <a:pt x="1220" y="1405"/>
                </a:lnTo>
                <a:lnTo>
                  <a:pt x="1190" y="1428"/>
                </a:lnTo>
                <a:lnTo>
                  <a:pt x="1177" y="1440"/>
                </a:lnTo>
                <a:lnTo>
                  <a:pt x="1162" y="1450"/>
                </a:lnTo>
                <a:lnTo>
                  <a:pt x="1146" y="1461"/>
                </a:lnTo>
                <a:lnTo>
                  <a:pt x="1132" y="1471"/>
                </a:lnTo>
                <a:lnTo>
                  <a:pt x="1115" y="1481"/>
                </a:lnTo>
                <a:lnTo>
                  <a:pt x="1101" y="1490"/>
                </a:lnTo>
                <a:lnTo>
                  <a:pt x="1085" y="1499"/>
                </a:lnTo>
                <a:lnTo>
                  <a:pt x="1069" y="1507"/>
                </a:lnTo>
                <a:lnTo>
                  <a:pt x="1052" y="1516"/>
                </a:lnTo>
                <a:lnTo>
                  <a:pt x="1035" y="1524"/>
                </a:lnTo>
                <a:lnTo>
                  <a:pt x="1019" y="1531"/>
                </a:lnTo>
                <a:lnTo>
                  <a:pt x="1001" y="1538"/>
                </a:lnTo>
                <a:lnTo>
                  <a:pt x="984" y="1544"/>
                </a:lnTo>
                <a:lnTo>
                  <a:pt x="967" y="1550"/>
                </a:lnTo>
                <a:lnTo>
                  <a:pt x="950" y="1556"/>
                </a:lnTo>
                <a:lnTo>
                  <a:pt x="931" y="1560"/>
                </a:lnTo>
                <a:lnTo>
                  <a:pt x="913" y="1566"/>
                </a:lnTo>
                <a:lnTo>
                  <a:pt x="896" y="1570"/>
                </a:lnTo>
                <a:lnTo>
                  <a:pt x="877" y="1573"/>
                </a:lnTo>
                <a:lnTo>
                  <a:pt x="859" y="1576"/>
                </a:lnTo>
                <a:lnTo>
                  <a:pt x="840" y="1579"/>
                </a:lnTo>
                <a:lnTo>
                  <a:pt x="821" y="1582"/>
                </a:lnTo>
                <a:lnTo>
                  <a:pt x="803" y="1584"/>
                </a:lnTo>
                <a:lnTo>
                  <a:pt x="784" y="1585"/>
                </a:lnTo>
                <a:lnTo>
                  <a:pt x="765" y="1585"/>
                </a:lnTo>
                <a:lnTo>
                  <a:pt x="745" y="1587"/>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093" name="Freeform 14">
            <a:extLst>
              <a:ext uri="{FF2B5EF4-FFF2-40B4-BE49-F238E27FC236}">
                <a16:creationId xmlns:a16="http://schemas.microsoft.com/office/drawing/2014/main" id="{7CFF0E6B-F1CA-4F05-AC0C-1A4187A2BC30}"/>
              </a:ext>
            </a:extLst>
          </p:cNvPr>
          <p:cNvSpPr>
            <a:spLocks/>
          </p:cNvSpPr>
          <p:nvPr/>
        </p:nvSpPr>
        <p:spPr bwMode="auto">
          <a:xfrm>
            <a:off x="4159251" y="2619375"/>
            <a:ext cx="295275" cy="1258888"/>
          </a:xfrm>
          <a:custGeom>
            <a:avLst/>
            <a:gdLst>
              <a:gd name="T0" fmla="*/ 2147483646 w 373"/>
              <a:gd name="T1" fmla="*/ 2147483646 h 1587"/>
              <a:gd name="T2" fmla="*/ 2147483646 w 373"/>
              <a:gd name="T3" fmla="*/ 2147483646 h 1587"/>
              <a:gd name="T4" fmla="*/ 2147483646 w 373"/>
              <a:gd name="T5" fmla="*/ 2147483646 h 1587"/>
              <a:gd name="T6" fmla="*/ 2147483646 w 373"/>
              <a:gd name="T7" fmla="*/ 2147483646 h 1587"/>
              <a:gd name="T8" fmla="*/ 2147483646 w 373"/>
              <a:gd name="T9" fmla="*/ 2147483646 h 1587"/>
              <a:gd name="T10" fmla="*/ 2147483646 w 373"/>
              <a:gd name="T11" fmla="*/ 2147483646 h 1587"/>
              <a:gd name="T12" fmla="*/ 2147483646 w 373"/>
              <a:gd name="T13" fmla="*/ 2147483646 h 1587"/>
              <a:gd name="T14" fmla="*/ 2147483646 w 373"/>
              <a:gd name="T15" fmla="*/ 2147483646 h 1587"/>
              <a:gd name="T16" fmla="*/ 2147483646 w 373"/>
              <a:gd name="T17" fmla="*/ 2147483646 h 1587"/>
              <a:gd name="T18" fmla="*/ 2147483646 w 373"/>
              <a:gd name="T19" fmla="*/ 2147483646 h 1587"/>
              <a:gd name="T20" fmla="*/ 2147483646 w 373"/>
              <a:gd name="T21" fmla="*/ 2147483646 h 1587"/>
              <a:gd name="T22" fmla="*/ 2147483646 w 373"/>
              <a:gd name="T23" fmla="*/ 2147483646 h 1587"/>
              <a:gd name="T24" fmla="*/ 2147483646 w 373"/>
              <a:gd name="T25" fmla="*/ 2147483646 h 1587"/>
              <a:gd name="T26" fmla="*/ 2147483646 w 373"/>
              <a:gd name="T27" fmla="*/ 2147483646 h 1587"/>
              <a:gd name="T28" fmla="*/ 2147483646 w 373"/>
              <a:gd name="T29" fmla="*/ 2147483646 h 1587"/>
              <a:gd name="T30" fmla="*/ 2147483646 w 373"/>
              <a:gd name="T31" fmla="*/ 2147483646 h 1587"/>
              <a:gd name="T32" fmla="*/ 2147483646 w 373"/>
              <a:gd name="T33" fmla="*/ 2147483646 h 1587"/>
              <a:gd name="T34" fmla="*/ 2147483646 w 373"/>
              <a:gd name="T35" fmla="*/ 2147483646 h 1587"/>
              <a:gd name="T36" fmla="*/ 2147483646 w 373"/>
              <a:gd name="T37" fmla="*/ 2147483646 h 1587"/>
              <a:gd name="T38" fmla="*/ 2147483646 w 373"/>
              <a:gd name="T39" fmla="*/ 2147483646 h 1587"/>
              <a:gd name="T40" fmla="*/ 2147483646 w 373"/>
              <a:gd name="T41" fmla="*/ 2147483646 h 1587"/>
              <a:gd name="T42" fmla="*/ 2147483646 w 373"/>
              <a:gd name="T43" fmla="*/ 2147483646 h 1587"/>
              <a:gd name="T44" fmla="*/ 2147483646 w 373"/>
              <a:gd name="T45" fmla="*/ 2147483646 h 1587"/>
              <a:gd name="T46" fmla="*/ 2147483646 w 373"/>
              <a:gd name="T47" fmla="*/ 2147483646 h 1587"/>
              <a:gd name="T48" fmla="*/ 2147483646 w 373"/>
              <a:gd name="T49" fmla="*/ 2147483646 h 1587"/>
              <a:gd name="T50" fmla="*/ 2147483646 w 373"/>
              <a:gd name="T51" fmla="*/ 2147483646 h 1587"/>
              <a:gd name="T52" fmla="*/ 2147483646 w 373"/>
              <a:gd name="T53" fmla="*/ 2147483646 h 1587"/>
              <a:gd name="T54" fmla="*/ 2147483646 w 373"/>
              <a:gd name="T55" fmla="*/ 2147483646 h 1587"/>
              <a:gd name="T56" fmla="*/ 2147483646 w 373"/>
              <a:gd name="T57" fmla="*/ 2147483646 h 1587"/>
              <a:gd name="T58" fmla="*/ 2147483646 w 373"/>
              <a:gd name="T59" fmla="*/ 2147483646 h 1587"/>
              <a:gd name="T60" fmla="*/ 2147483646 w 373"/>
              <a:gd name="T61" fmla="*/ 2147483646 h 1587"/>
              <a:gd name="T62" fmla="*/ 2147483646 w 373"/>
              <a:gd name="T63" fmla="*/ 2147483646 h 1587"/>
              <a:gd name="T64" fmla="*/ 2147483646 w 373"/>
              <a:gd name="T65" fmla="*/ 2147483646 h 1587"/>
              <a:gd name="T66" fmla="*/ 2147483646 w 373"/>
              <a:gd name="T67" fmla="*/ 2147483646 h 1587"/>
              <a:gd name="T68" fmla="*/ 2147483646 w 373"/>
              <a:gd name="T69" fmla="*/ 2147483646 h 1587"/>
              <a:gd name="T70" fmla="*/ 2147483646 w 373"/>
              <a:gd name="T71" fmla="*/ 2147483646 h 1587"/>
              <a:gd name="T72" fmla="*/ 2147483646 w 373"/>
              <a:gd name="T73" fmla="*/ 2147483646 h 1587"/>
              <a:gd name="T74" fmla="*/ 2147483646 w 373"/>
              <a:gd name="T75" fmla="*/ 2147483646 h 1587"/>
              <a:gd name="T76" fmla="*/ 2147483646 w 373"/>
              <a:gd name="T77" fmla="*/ 2147483646 h 1587"/>
              <a:gd name="T78" fmla="*/ 2147483646 w 373"/>
              <a:gd name="T79" fmla="*/ 2147483646 h 1587"/>
              <a:gd name="T80" fmla="*/ 2147483646 w 373"/>
              <a:gd name="T81" fmla="*/ 2147483646 h 1587"/>
              <a:gd name="T82" fmla="*/ 2147483646 w 373"/>
              <a:gd name="T83" fmla="*/ 2147483646 h 1587"/>
              <a:gd name="T84" fmla="*/ 2147483646 w 373"/>
              <a:gd name="T85" fmla="*/ 2147483646 h 1587"/>
              <a:gd name="T86" fmla="*/ 2147483646 w 373"/>
              <a:gd name="T87" fmla="*/ 2147483646 h 1587"/>
              <a:gd name="T88" fmla="*/ 2147483646 w 373"/>
              <a:gd name="T89" fmla="*/ 0 h 1587"/>
              <a:gd name="T90" fmla="*/ 0 w 373"/>
              <a:gd name="T91" fmla="*/ 0 h 158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73"/>
              <a:gd name="T139" fmla="*/ 0 h 1587"/>
              <a:gd name="T140" fmla="*/ 373 w 373"/>
              <a:gd name="T141" fmla="*/ 1587 h 158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73" h="1587">
                <a:moveTo>
                  <a:pt x="0" y="1587"/>
                </a:moveTo>
                <a:lnTo>
                  <a:pt x="10" y="1585"/>
                </a:lnTo>
                <a:lnTo>
                  <a:pt x="19" y="1585"/>
                </a:lnTo>
                <a:lnTo>
                  <a:pt x="30" y="1584"/>
                </a:lnTo>
                <a:lnTo>
                  <a:pt x="38" y="1582"/>
                </a:lnTo>
                <a:lnTo>
                  <a:pt x="47" y="1579"/>
                </a:lnTo>
                <a:lnTo>
                  <a:pt x="57" y="1576"/>
                </a:lnTo>
                <a:lnTo>
                  <a:pt x="66" y="1573"/>
                </a:lnTo>
                <a:lnTo>
                  <a:pt x="75" y="1570"/>
                </a:lnTo>
                <a:lnTo>
                  <a:pt x="84" y="1566"/>
                </a:lnTo>
                <a:lnTo>
                  <a:pt x="94" y="1560"/>
                </a:lnTo>
                <a:lnTo>
                  <a:pt x="103" y="1556"/>
                </a:lnTo>
                <a:lnTo>
                  <a:pt x="112" y="1550"/>
                </a:lnTo>
                <a:lnTo>
                  <a:pt x="120" y="1544"/>
                </a:lnTo>
                <a:lnTo>
                  <a:pt x="128" y="1538"/>
                </a:lnTo>
                <a:lnTo>
                  <a:pt x="137" y="1531"/>
                </a:lnTo>
                <a:lnTo>
                  <a:pt x="145" y="1524"/>
                </a:lnTo>
                <a:lnTo>
                  <a:pt x="154" y="1516"/>
                </a:lnTo>
                <a:lnTo>
                  <a:pt x="161" y="1507"/>
                </a:lnTo>
                <a:lnTo>
                  <a:pt x="170" y="1499"/>
                </a:lnTo>
                <a:lnTo>
                  <a:pt x="178" y="1490"/>
                </a:lnTo>
                <a:lnTo>
                  <a:pt x="185" y="1481"/>
                </a:lnTo>
                <a:lnTo>
                  <a:pt x="194" y="1471"/>
                </a:lnTo>
                <a:lnTo>
                  <a:pt x="201" y="1461"/>
                </a:lnTo>
                <a:lnTo>
                  <a:pt x="208" y="1450"/>
                </a:lnTo>
                <a:lnTo>
                  <a:pt x="216" y="1440"/>
                </a:lnTo>
                <a:lnTo>
                  <a:pt x="223" y="1428"/>
                </a:lnTo>
                <a:lnTo>
                  <a:pt x="238" y="1405"/>
                </a:lnTo>
                <a:lnTo>
                  <a:pt x="251" y="1380"/>
                </a:lnTo>
                <a:lnTo>
                  <a:pt x="264" y="1354"/>
                </a:lnTo>
                <a:lnTo>
                  <a:pt x="276" y="1326"/>
                </a:lnTo>
                <a:lnTo>
                  <a:pt x="288" y="1297"/>
                </a:lnTo>
                <a:lnTo>
                  <a:pt x="299" y="1268"/>
                </a:lnTo>
                <a:lnTo>
                  <a:pt x="310" y="1237"/>
                </a:lnTo>
                <a:lnTo>
                  <a:pt x="318" y="1205"/>
                </a:lnTo>
                <a:lnTo>
                  <a:pt x="327" y="1171"/>
                </a:lnTo>
                <a:lnTo>
                  <a:pt x="336" y="1137"/>
                </a:lnTo>
                <a:lnTo>
                  <a:pt x="343" y="1102"/>
                </a:lnTo>
                <a:lnTo>
                  <a:pt x="351" y="1066"/>
                </a:lnTo>
                <a:lnTo>
                  <a:pt x="356" y="1029"/>
                </a:lnTo>
                <a:lnTo>
                  <a:pt x="361" y="991"/>
                </a:lnTo>
                <a:lnTo>
                  <a:pt x="365" y="953"/>
                </a:lnTo>
                <a:lnTo>
                  <a:pt x="368" y="913"/>
                </a:lnTo>
                <a:lnTo>
                  <a:pt x="371" y="874"/>
                </a:lnTo>
                <a:lnTo>
                  <a:pt x="373" y="834"/>
                </a:lnTo>
                <a:lnTo>
                  <a:pt x="373" y="793"/>
                </a:lnTo>
                <a:lnTo>
                  <a:pt x="373" y="752"/>
                </a:lnTo>
                <a:lnTo>
                  <a:pt x="371" y="712"/>
                </a:lnTo>
                <a:lnTo>
                  <a:pt x="368" y="672"/>
                </a:lnTo>
                <a:lnTo>
                  <a:pt x="365" y="633"/>
                </a:lnTo>
                <a:lnTo>
                  <a:pt x="361" y="594"/>
                </a:lnTo>
                <a:lnTo>
                  <a:pt x="356" y="558"/>
                </a:lnTo>
                <a:lnTo>
                  <a:pt x="351" y="520"/>
                </a:lnTo>
                <a:lnTo>
                  <a:pt x="343" y="485"/>
                </a:lnTo>
                <a:lnTo>
                  <a:pt x="336" y="450"/>
                </a:lnTo>
                <a:lnTo>
                  <a:pt x="327" y="414"/>
                </a:lnTo>
                <a:lnTo>
                  <a:pt x="318" y="382"/>
                </a:lnTo>
                <a:lnTo>
                  <a:pt x="310" y="350"/>
                </a:lnTo>
                <a:lnTo>
                  <a:pt x="299" y="318"/>
                </a:lnTo>
                <a:lnTo>
                  <a:pt x="288" y="289"/>
                </a:lnTo>
                <a:lnTo>
                  <a:pt x="276" y="259"/>
                </a:lnTo>
                <a:lnTo>
                  <a:pt x="264" y="232"/>
                </a:lnTo>
                <a:lnTo>
                  <a:pt x="251" y="207"/>
                </a:lnTo>
                <a:lnTo>
                  <a:pt x="238" y="182"/>
                </a:lnTo>
                <a:lnTo>
                  <a:pt x="223" y="157"/>
                </a:lnTo>
                <a:lnTo>
                  <a:pt x="216" y="147"/>
                </a:lnTo>
                <a:lnTo>
                  <a:pt x="208" y="135"/>
                </a:lnTo>
                <a:lnTo>
                  <a:pt x="201" y="125"/>
                </a:lnTo>
                <a:lnTo>
                  <a:pt x="194" y="115"/>
                </a:lnTo>
                <a:lnTo>
                  <a:pt x="185" y="106"/>
                </a:lnTo>
                <a:lnTo>
                  <a:pt x="178" y="96"/>
                </a:lnTo>
                <a:lnTo>
                  <a:pt x="170" y="87"/>
                </a:lnTo>
                <a:lnTo>
                  <a:pt x="161" y="78"/>
                </a:lnTo>
                <a:lnTo>
                  <a:pt x="154" y="71"/>
                </a:lnTo>
                <a:lnTo>
                  <a:pt x="145" y="62"/>
                </a:lnTo>
                <a:lnTo>
                  <a:pt x="137" y="55"/>
                </a:lnTo>
                <a:lnTo>
                  <a:pt x="128" y="49"/>
                </a:lnTo>
                <a:lnTo>
                  <a:pt x="120" y="41"/>
                </a:lnTo>
                <a:lnTo>
                  <a:pt x="112" y="36"/>
                </a:lnTo>
                <a:lnTo>
                  <a:pt x="103" y="30"/>
                </a:lnTo>
                <a:lnTo>
                  <a:pt x="94" y="25"/>
                </a:lnTo>
                <a:lnTo>
                  <a:pt x="84" y="21"/>
                </a:lnTo>
                <a:lnTo>
                  <a:pt x="75" y="17"/>
                </a:lnTo>
                <a:lnTo>
                  <a:pt x="66" y="12"/>
                </a:lnTo>
                <a:lnTo>
                  <a:pt x="57" y="9"/>
                </a:lnTo>
                <a:lnTo>
                  <a:pt x="47" y="6"/>
                </a:lnTo>
                <a:lnTo>
                  <a:pt x="38" y="5"/>
                </a:lnTo>
                <a:lnTo>
                  <a:pt x="30" y="2"/>
                </a:lnTo>
                <a:lnTo>
                  <a:pt x="19" y="0"/>
                </a:lnTo>
                <a:lnTo>
                  <a:pt x="10" y="0"/>
                </a:lnTo>
                <a:lnTo>
                  <a:pt x="0"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094" name="Rectangle 15">
            <a:extLst>
              <a:ext uri="{FF2B5EF4-FFF2-40B4-BE49-F238E27FC236}">
                <a16:creationId xmlns:a16="http://schemas.microsoft.com/office/drawing/2014/main" id="{CA8A0A9B-03A8-42CC-A681-6CC8AE0CDB01}"/>
              </a:ext>
            </a:extLst>
          </p:cNvPr>
          <p:cNvSpPr>
            <a:spLocks noChangeArrowheads="1"/>
          </p:cNvSpPr>
          <p:nvPr/>
        </p:nvSpPr>
        <p:spPr bwMode="auto">
          <a:xfrm>
            <a:off x="3835109" y="2286000"/>
            <a:ext cx="104515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solidFill>
                  <a:srgbClr val="000000"/>
                </a:solidFill>
                <a:ea typeface="新細明體" panose="02020500000000000000" pitchFamily="18" charset="-120"/>
              </a:rPr>
              <a:t>Privileged</a:t>
            </a:r>
            <a:endParaRPr lang="en-US" altLang="zh-TW" sz="2000" b="1">
              <a:solidFill>
                <a:srgbClr val="000066"/>
              </a:solidFill>
              <a:ea typeface="新細明體" panose="02020500000000000000" pitchFamily="18" charset="-120"/>
            </a:endParaRPr>
          </a:p>
        </p:txBody>
      </p:sp>
      <p:sp>
        <p:nvSpPr>
          <p:cNvPr id="46095" name="Rectangle 16">
            <a:extLst>
              <a:ext uri="{FF2B5EF4-FFF2-40B4-BE49-F238E27FC236}">
                <a16:creationId xmlns:a16="http://schemas.microsoft.com/office/drawing/2014/main" id="{11AA0C68-4ABD-4A0E-91E9-FD55F76D9A06}"/>
              </a:ext>
            </a:extLst>
          </p:cNvPr>
          <p:cNvSpPr>
            <a:spLocks noChangeArrowheads="1"/>
          </p:cNvSpPr>
          <p:nvPr/>
        </p:nvSpPr>
        <p:spPr bwMode="auto">
          <a:xfrm>
            <a:off x="4434668" y="1531938"/>
            <a:ext cx="49532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solidFill>
                  <a:srgbClr val="000000"/>
                </a:solidFill>
                <a:ea typeface="新細明體" panose="02020500000000000000" pitchFamily="18" charset="-120"/>
              </a:rPr>
              <a:t>Non-</a:t>
            </a:r>
            <a:endParaRPr lang="en-US" altLang="zh-TW" sz="2000" b="1">
              <a:solidFill>
                <a:srgbClr val="000066"/>
              </a:solidFill>
              <a:ea typeface="新細明體" panose="02020500000000000000" pitchFamily="18" charset="-120"/>
            </a:endParaRPr>
          </a:p>
        </p:txBody>
      </p:sp>
      <p:sp>
        <p:nvSpPr>
          <p:cNvPr id="46096" name="Rectangle 17">
            <a:extLst>
              <a:ext uri="{FF2B5EF4-FFF2-40B4-BE49-F238E27FC236}">
                <a16:creationId xmlns:a16="http://schemas.microsoft.com/office/drawing/2014/main" id="{FCFE9079-666F-4AA2-9891-41AD239EC08A}"/>
              </a:ext>
            </a:extLst>
          </p:cNvPr>
          <p:cNvSpPr>
            <a:spLocks noChangeArrowheads="1"/>
          </p:cNvSpPr>
          <p:nvPr/>
        </p:nvSpPr>
        <p:spPr bwMode="auto">
          <a:xfrm>
            <a:off x="4179596" y="1784350"/>
            <a:ext cx="104515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solidFill>
                  <a:srgbClr val="000000"/>
                </a:solidFill>
                <a:ea typeface="新細明體" panose="02020500000000000000" pitchFamily="18" charset="-120"/>
              </a:rPr>
              <a:t>Privileged</a:t>
            </a:r>
            <a:endParaRPr lang="en-US" altLang="zh-TW" sz="2000" b="1">
              <a:solidFill>
                <a:srgbClr val="000066"/>
              </a:solidFill>
              <a:ea typeface="新細明體" panose="02020500000000000000" pitchFamily="18" charset="-120"/>
            </a:endParaRPr>
          </a:p>
        </p:txBody>
      </p:sp>
      <p:sp>
        <p:nvSpPr>
          <p:cNvPr id="46097" name="Rectangle 18">
            <a:extLst>
              <a:ext uri="{FF2B5EF4-FFF2-40B4-BE49-F238E27FC236}">
                <a16:creationId xmlns:a16="http://schemas.microsoft.com/office/drawing/2014/main" id="{0774AD48-51ED-4325-80D7-9DD2ABAE77B0}"/>
              </a:ext>
            </a:extLst>
          </p:cNvPr>
          <p:cNvSpPr>
            <a:spLocks noChangeArrowheads="1"/>
          </p:cNvSpPr>
          <p:nvPr/>
        </p:nvSpPr>
        <p:spPr bwMode="auto">
          <a:xfrm>
            <a:off x="3875208" y="3230563"/>
            <a:ext cx="96019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solidFill>
                  <a:srgbClr val="000000"/>
                </a:solidFill>
                <a:ea typeface="新細明體" panose="02020500000000000000" pitchFamily="18" charset="-120"/>
              </a:rPr>
              <a:t>Sensitive</a:t>
            </a:r>
            <a:endParaRPr lang="en-US" altLang="zh-TW" sz="2000" b="1">
              <a:solidFill>
                <a:srgbClr val="000066"/>
              </a:solidFill>
              <a:ea typeface="新細明體" panose="02020500000000000000" pitchFamily="18" charset="-120"/>
            </a:endParaRPr>
          </a:p>
        </p:txBody>
      </p:sp>
      <p:sp>
        <p:nvSpPr>
          <p:cNvPr id="46098" name="Rectangle 19">
            <a:extLst>
              <a:ext uri="{FF2B5EF4-FFF2-40B4-BE49-F238E27FC236}">
                <a16:creationId xmlns:a16="http://schemas.microsoft.com/office/drawing/2014/main" id="{5287157F-EE98-421B-9E5D-9055992E29B7}"/>
              </a:ext>
            </a:extLst>
          </p:cNvPr>
          <p:cNvSpPr>
            <a:spLocks noChangeArrowheads="1"/>
          </p:cNvSpPr>
          <p:nvPr/>
        </p:nvSpPr>
        <p:spPr bwMode="auto">
          <a:xfrm>
            <a:off x="2081214" y="3238500"/>
            <a:ext cx="10064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ea typeface="新細明體" panose="02020500000000000000" pitchFamily="18" charset="-120"/>
              </a:rPr>
              <a:t>Behavior-</a:t>
            </a:r>
            <a:endParaRPr lang="en-US" altLang="zh-TW" sz="2000" b="1">
              <a:ea typeface="新細明體" panose="02020500000000000000" pitchFamily="18" charset="-120"/>
            </a:endParaRPr>
          </a:p>
        </p:txBody>
      </p:sp>
      <p:sp>
        <p:nvSpPr>
          <p:cNvPr id="46099" name="Rectangle 20">
            <a:extLst>
              <a:ext uri="{FF2B5EF4-FFF2-40B4-BE49-F238E27FC236}">
                <a16:creationId xmlns:a16="http://schemas.microsoft.com/office/drawing/2014/main" id="{9FB595BA-3CEF-44CD-99F0-943D921F9B95}"/>
              </a:ext>
            </a:extLst>
          </p:cNvPr>
          <p:cNvSpPr>
            <a:spLocks noChangeArrowheads="1"/>
          </p:cNvSpPr>
          <p:nvPr/>
        </p:nvSpPr>
        <p:spPr bwMode="auto">
          <a:xfrm>
            <a:off x="2111376" y="3489325"/>
            <a:ext cx="93662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ea typeface="新細明體" panose="02020500000000000000" pitchFamily="18" charset="-120"/>
              </a:rPr>
              <a:t>sensitive</a:t>
            </a:r>
            <a:endParaRPr lang="en-US" altLang="zh-TW" sz="2000" b="1">
              <a:ea typeface="新細明體" panose="02020500000000000000" pitchFamily="18" charset="-120"/>
            </a:endParaRPr>
          </a:p>
        </p:txBody>
      </p:sp>
      <p:sp>
        <p:nvSpPr>
          <p:cNvPr id="46100" name="Rectangle 21">
            <a:extLst>
              <a:ext uri="{FF2B5EF4-FFF2-40B4-BE49-F238E27FC236}">
                <a16:creationId xmlns:a16="http://schemas.microsoft.com/office/drawing/2014/main" id="{E8AB48EC-FC64-44D8-8B15-FDAA50F13C31}"/>
              </a:ext>
            </a:extLst>
          </p:cNvPr>
          <p:cNvSpPr>
            <a:spLocks noChangeArrowheads="1"/>
          </p:cNvSpPr>
          <p:nvPr/>
        </p:nvSpPr>
        <p:spPr bwMode="auto">
          <a:xfrm>
            <a:off x="6070601" y="3281364"/>
            <a:ext cx="847725"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ea typeface="新細明體" panose="02020500000000000000" pitchFamily="18" charset="-120"/>
              </a:rPr>
              <a:t>Control</a:t>
            </a:r>
            <a:r>
              <a:rPr lang="en-US" altLang="zh-TW" sz="1700" b="1">
                <a:solidFill>
                  <a:srgbClr val="000000"/>
                </a:solidFill>
                <a:ea typeface="新細明體" panose="02020500000000000000" pitchFamily="18" charset="-120"/>
              </a:rPr>
              <a:t>-</a:t>
            </a:r>
            <a:endParaRPr lang="en-US" altLang="zh-TW" sz="2000" b="1">
              <a:solidFill>
                <a:srgbClr val="000066"/>
              </a:solidFill>
              <a:ea typeface="新細明體" panose="02020500000000000000" pitchFamily="18" charset="-120"/>
            </a:endParaRPr>
          </a:p>
        </p:txBody>
      </p:sp>
      <p:sp>
        <p:nvSpPr>
          <p:cNvPr id="46101" name="Rectangle 22">
            <a:extLst>
              <a:ext uri="{FF2B5EF4-FFF2-40B4-BE49-F238E27FC236}">
                <a16:creationId xmlns:a16="http://schemas.microsoft.com/office/drawing/2014/main" id="{969A2EB1-0078-449A-BA21-917BFD0B5C1E}"/>
              </a:ext>
            </a:extLst>
          </p:cNvPr>
          <p:cNvSpPr>
            <a:spLocks noChangeArrowheads="1"/>
          </p:cNvSpPr>
          <p:nvPr/>
        </p:nvSpPr>
        <p:spPr bwMode="auto">
          <a:xfrm>
            <a:off x="6027739" y="3533775"/>
            <a:ext cx="93662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ea typeface="新細明體" panose="02020500000000000000" pitchFamily="18" charset="-120"/>
              </a:rPr>
              <a:t>sensitive</a:t>
            </a:r>
            <a:endParaRPr lang="en-US" altLang="zh-TW" sz="2000" b="1">
              <a:ea typeface="新細明體" panose="02020500000000000000" pitchFamily="18" charset="-120"/>
            </a:endParaRPr>
          </a:p>
        </p:txBody>
      </p:sp>
      <p:sp>
        <p:nvSpPr>
          <p:cNvPr id="46102" name="Line 23">
            <a:extLst>
              <a:ext uri="{FF2B5EF4-FFF2-40B4-BE49-F238E27FC236}">
                <a16:creationId xmlns:a16="http://schemas.microsoft.com/office/drawing/2014/main" id="{07223A80-1745-4538-8F58-26545DA71135}"/>
              </a:ext>
            </a:extLst>
          </p:cNvPr>
          <p:cNvSpPr>
            <a:spLocks noChangeShapeType="1"/>
          </p:cNvSpPr>
          <p:nvPr/>
        </p:nvSpPr>
        <p:spPr bwMode="auto">
          <a:xfrm flipV="1">
            <a:off x="3013075" y="3179763"/>
            <a:ext cx="895350" cy="30956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3" name="Freeform 24">
            <a:extLst>
              <a:ext uri="{FF2B5EF4-FFF2-40B4-BE49-F238E27FC236}">
                <a16:creationId xmlns:a16="http://schemas.microsoft.com/office/drawing/2014/main" id="{CD781F9B-C1B0-4E83-B775-0256B6885000}"/>
              </a:ext>
            </a:extLst>
          </p:cNvPr>
          <p:cNvSpPr>
            <a:spLocks/>
          </p:cNvSpPr>
          <p:nvPr/>
        </p:nvSpPr>
        <p:spPr bwMode="auto">
          <a:xfrm>
            <a:off x="3879851" y="3128963"/>
            <a:ext cx="168275" cy="107950"/>
          </a:xfrm>
          <a:custGeom>
            <a:avLst/>
            <a:gdLst>
              <a:gd name="T0" fmla="*/ 0 w 213"/>
              <a:gd name="T1" fmla="*/ 0 h 136"/>
              <a:gd name="T2" fmla="*/ 2147483646 w 213"/>
              <a:gd name="T3" fmla="*/ 2147483646 h 136"/>
              <a:gd name="T4" fmla="*/ 2147483646 w 213"/>
              <a:gd name="T5" fmla="*/ 2147483646 h 136"/>
              <a:gd name="T6" fmla="*/ 0 w 213"/>
              <a:gd name="T7" fmla="*/ 0 h 136"/>
              <a:gd name="T8" fmla="*/ 0 60000 65536"/>
              <a:gd name="T9" fmla="*/ 0 60000 65536"/>
              <a:gd name="T10" fmla="*/ 0 60000 65536"/>
              <a:gd name="T11" fmla="*/ 0 60000 65536"/>
              <a:gd name="T12" fmla="*/ 0 w 213"/>
              <a:gd name="T13" fmla="*/ 0 h 136"/>
              <a:gd name="T14" fmla="*/ 213 w 213"/>
              <a:gd name="T15" fmla="*/ 136 h 136"/>
            </a:gdLst>
            <a:ahLst/>
            <a:cxnLst>
              <a:cxn ang="T8">
                <a:pos x="T0" y="T1"/>
              </a:cxn>
              <a:cxn ang="T9">
                <a:pos x="T2" y="T3"/>
              </a:cxn>
              <a:cxn ang="T10">
                <a:pos x="T4" y="T5"/>
              </a:cxn>
              <a:cxn ang="T11">
                <a:pos x="T6" y="T7"/>
              </a:cxn>
            </a:cxnLst>
            <a:rect l="T12" t="T13" r="T14" b="T15"/>
            <a:pathLst>
              <a:path w="213" h="136">
                <a:moveTo>
                  <a:pt x="0" y="0"/>
                </a:moveTo>
                <a:lnTo>
                  <a:pt x="213" y="1"/>
                </a:lnTo>
                <a:lnTo>
                  <a:pt x="43" y="13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104" name="Line 25">
            <a:extLst>
              <a:ext uri="{FF2B5EF4-FFF2-40B4-BE49-F238E27FC236}">
                <a16:creationId xmlns:a16="http://schemas.microsoft.com/office/drawing/2014/main" id="{152EF045-E76F-4C9A-B1BF-F3A178EFBFD1}"/>
              </a:ext>
            </a:extLst>
          </p:cNvPr>
          <p:cNvSpPr>
            <a:spLocks noChangeShapeType="1"/>
          </p:cNvSpPr>
          <p:nvPr/>
        </p:nvSpPr>
        <p:spPr bwMode="auto">
          <a:xfrm flipH="1" flipV="1">
            <a:off x="4705350" y="3173413"/>
            <a:ext cx="1189038" cy="36036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5" name="Freeform 26">
            <a:extLst>
              <a:ext uri="{FF2B5EF4-FFF2-40B4-BE49-F238E27FC236}">
                <a16:creationId xmlns:a16="http://schemas.microsoft.com/office/drawing/2014/main" id="{57428166-50A1-45B3-ABAA-C6A7F6603C9B}"/>
              </a:ext>
            </a:extLst>
          </p:cNvPr>
          <p:cNvSpPr>
            <a:spLocks/>
          </p:cNvSpPr>
          <p:nvPr/>
        </p:nvSpPr>
        <p:spPr bwMode="auto">
          <a:xfrm>
            <a:off x="4564063" y="3122614"/>
            <a:ext cx="169862" cy="109537"/>
          </a:xfrm>
          <a:custGeom>
            <a:avLst/>
            <a:gdLst>
              <a:gd name="T0" fmla="*/ 2147483646 w 212"/>
              <a:gd name="T1" fmla="*/ 2147483646 h 138"/>
              <a:gd name="T2" fmla="*/ 0 w 212"/>
              <a:gd name="T3" fmla="*/ 2147483646 h 138"/>
              <a:gd name="T4" fmla="*/ 2147483646 w 212"/>
              <a:gd name="T5" fmla="*/ 0 h 138"/>
              <a:gd name="T6" fmla="*/ 2147483646 w 212"/>
              <a:gd name="T7" fmla="*/ 2147483646 h 138"/>
              <a:gd name="T8" fmla="*/ 0 60000 65536"/>
              <a:gd name="T9" fmla="*/ 0 60000 65536"/>
              <a:gd name="T10" fmla="*/ 0 60000 65536"/>
              <a:gd name="T11" fmla="*/ 0 60000 65536"/>
              <a:gd name="T12" fmla="*/ 0 w 212"/>
              <a:gd name="T13" fmla="*/ 0 h 138"/>
              <a:gd name="T14" fmla="*/ 212 w 212"/>
              <a:gd name="T15" fmla="*/ 138 h 138"/>
            </a:gdLst>
            <a:ahLst/>
            <a:cxnLst>
              <a:cxn ang="T8">
                <a:pos x="T0" y="T1"/>
              </a:cxn>
              <a:cxn ang="T9">
                <a:pos x="T2" y="T3"/>
              </a:cxn>
              <a:cxn ang="T10">
                <a:pos x="T4" y="T5"/>
              </a:cxn>
              <a:cxn ang="T11">
                <a:pos x="T6" y="T7"/>
              </a:cxn>
            </a:cxnLst>
            <a:rect l="T12" t="T13" r="T14" b="T15"/>
            <a:pathLst>
              <a:path w="212" h="138">
                <a:moveTo>
                  <a:pt x="176" y="138"/>
                </a:moveTo>
                <a:lnTo>
                  <a:pt x="0" y="10"/>
                </a:lnTo>
                <a:lnTo>
                  <a:pt x="212" y="0"/>
                </a:lnTo>
                <a:lnTo>
                  <a:pt x="176" y="1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106" name="Freeform 36">
            <a:extLst>
              <a:ext uri="{FF2B5EF4-FFF2-40B4-BE49-F238E27FC236}">
                <a16:creationId xmlns:a16="http://schemas.microsoft.com/office/drawing/2014/main" id="{D12D5710-738D-4473-967B-503F66A034DB}"/>
              </a:ext>
            </a:extLst>
          </p:cNvPr>
          <p:cNvSpPr>
            <a:spLocks/>
          </p:cNvSpPr>
          <p:nvPr/>
        </p:nvSpPr>
        <p:spPr bwMode="auto">
          <a:xfrm>
            <a:off x="3492501" y="2146300"/>
            <a:ext cx="1477963" cy="1574800"/>
          </a:xfrm>
          <a:custGeom>
            <a:avLst/>
            <a:gdLst>
              <a:gd name="T0" fmla="*/ 2147483646 w 1862"/>
              <a:gd name="T1" fmla="*/ 2147483646 h 1983"/>
              <a:gd name="T2" fmla="*/ 2147483646 w 1862"/>
              <a:gd name="T3" fmla="*/ 2147483646 h 1983"/>
              <a:gd name="T4" fmla="*/ 2147483646 w 1862"/>
              <a:gd name="T5" fmla="*/ 2147483646 h 1983"/>
              <a:gd name="T6" fmla="*/ 2147483646 w 1862"/>
              <a:gd name="T7" fmla="*/ 2147483646 h 1983"/>
              <a:gd name="T8" fmla="*/ 2147483646 w 1862"/>
              <a:gd name="T9" fmla="*/ 2147483646 h 1983"/>
              <a:gd name="T10" fmla="*/ 2147483646 w 1862"/>
              <a:gd name="T11" fmla="*/ 2147483646 h 1983"/>
              <a:gd name="T12" fmla="*/ 2147483646 w 1862"/>
              <a:gd name="T13" fmla="*/ 2147483646 h 1983"/>
              <a:gd name="T14" fmla="*/ 2147483646 w 1862"/>
              <a:gd name="T15" fmla="*/ 2147483646 h 1983"/>
              <a:gd name="T16" fmla="*/ 2147483646 w 1862"/>
              <a:gd name="T17" fmla="*/ 2147483646 h 1983"/>
              <a:gd name="T18" fmla="*/ 2147483646 w 1862"/>
              <a:gd name="T19" fmla="*/ 2147483646 h 1983"/>
              <a:gd name="T20" fmla="*/ 2147483646 w 1862"/>
              <a:gd name="T21" fmla="*/ 2147483646 h 1983"/>
              <a:gd name="T22" fmla="*/ 2147483646 w 1862"/>
              <a:gd name="T23" fmla="*/ 2147483646 h 1983"/>
              <a:gd name="T24" fmla="*/ 0 w 1862"/>
              <a:gd name="T25" fmla="*/ 2147483646 h 1983"/>
              <a:gd name="T26" fmla="*/ 2147483646 w 1862"/>
              <a:gd name="T27" fmla="*/ 2147483646 h 1983"/>
              <a:gd name="T28" fmla="*/ 2147483646 w 1862"/>
              <a:gd name="T29" fmla="*/ 2147483646 h 1983"/>
              <a:gd name="T30" fmla="*/ 2147483646 w 1862"/>
              <a:gd name="T31" fmla="*/ 2147483646 h 1983"/>
              <a:gd name="T32" fmla="*/ 2147483646 w 1862"/>
              <a:gd name="T33" fmla="*/ 2147483646 h 1983"/>
              <a:gd name="T34" fmla="*/ 2147483646 w 1862"/>
              <a:gd name="T35" fmla="*/ 2147483646 h 1983"/>
              <a:gd name="T36" fmla="*/ 2147483646 w 1862"/>
              <a:gd name="T37" fmla="*/ 2147483646 h 1983"/>
              <a:gd name="T38" fmla="*/ 2147483646 w 1862"/>
              <a:gd name="T39" fmla="*/ 2147483646 h 1983"/>
              <a:gd name="T40" fmla="*/ 2147483646 w 1862"/>
              <a:gd name="T41" fmla="*/ 2147483646 h 1983"/>
              <a:gd name="T42" fmla="*/ 2147483646 w 1862"/>
              <a:gd name="T43" fmla="*/ 2147483646 h 1983"/>
              <a:gd name="T44" fmla="*/ 2147483646 w 1862"/>
              <a:gd name="T45" fmla="*/ 2147483646 h 1983"/>
              <a:gd name="T46" fmla="*/ 2147483646 w 1862"/>
              <a:gd name="T47" fmla="*/ 2147483646 h 1983"/>
              <a:gd name="T48" fmla="*/ 2147483646 w 1862"/>
              <a:gd name="T49" fmla="*/ 2147483646 h 1983"/>
              <a:gd name="T50" fmla="*/ 2147483646 w 1862"/>
              <a:gd name="T51" fmla="*/ 0 h 1983"/>
              <a:gd name="T52" fmla="*/ 2147483646 w 1862"/>
              <a:gd name="T53" fmla="*/ 2147483646 h 1983"/>
              <a:gd name="T54" fmla="*/ 2147483646 w 1862"/>
              <a:gd name="T55" fmla="*/ 2147483646 h 1983"/>
              <a:gd name="T56" fmla="*/ 2147483646 w 1862"/>
              <a:gd name="T57" fmla="*/ 2147483646 h 1983"/>
              <a:gd name="T58" fmla="*/ 2147483646 w 1862"/>
              <a:gd name="T59" fmla="*/ 2147483646 h 1983"/>
              <a:gd name="T60" fmla="*/ 2147483646 w 1862"/>
              <a:gd name="T61" fmla="*/ 2147483646 h 1983"/>
              <a:gd name="T62" fmla="*/ 2147483646 w 1862"/>
              <a:gd name="T63" fmla="*/ 2147483646 h 1983"/>
              <a:gd name="T64" fmla="*/ 2147483646 w 1862"/>
              <a:gd name="T65" fmla="*/ 2147483646 h 1983"/>
              <a:gd name="T66" fmla="*/ 2147483646 w 1862"/>
              <a:gd name="T67" fmla="*/ 2147483646 h 1983"/>
              <a:gd name="T68" fmla="*/ 2147483646 w 1862"/>
              <a:gd name="T69" fmla="*/ 2147483646 h 1983"/>
              <a:gd name="T70" fmla="*/ 2147483646 w 1862"/>
              <a:gd name="T71" fmla="*/ 2147483646 h 1983"/>
              <a:gd name="T72" fmla="*/ 2147483646 w 1862"/>
              <a:gd name="T73" fmla="*/ 2147483646 h 1983"/>
              <a:gd name="T74" fmla="*/ 2147483646 w 1862"/>
              <a:gd name="T75" fmla="*/ 2147483646 h 1983"/>
              <a:gd name="T76" fmla="*/ 2147483646 w 1862"/>
              <a:gd name="T77" fmla="*/ 2147483646 h 1983"/>
              <a:gd name="T78" fmla="*/ 2147483646 w 1862"/>
              <a:gd name="T79" fmla="*/ 2147483646 h 1983"/>
              <a:gd name="T80" fmla="*/ 2147483646 w 1862"/>
              <a:gd name="T81" fmla="*/ 2147483646 h 1983"/>
              <a:gd name="T82" fmla="*/ 2147483646 w 1862"/>
              <a:gd name="T83" fmla="*/ 2147483646 h 1983"/>
              <a:gd name="T84" fmla="*/ 2147483646 w 1862"/>
              <a:gd name="T85" fmla="*/ 2147483646 h 1983"/>
              <a:gd name="T86" fmla="*/ 2147483646 w 1862"/>
              <a:gd name="T87" fmla="*/ 2147483646 h 1983"/>
              <a:gd name="T88" fmla="*/ 2147483646 w 1862"/>
              <a:gd name="T89" fmla="*/ 2147483646 h 1983"/>
              <a:gd name="T90" fmla="*/ 2147483646 w 1862"/>
              <a:gd name="T91" fmla="*/ 2147483646 h 1983"/>
              <a:gd name="T92" fmla="*/ 2147483646 w 1862"/>
              <a:gd name="T93" fmla="*/ 2147483646 h 1983"/>
              <a:gd name="T94" fmla="*/ 2147483646 w 1862"/>
              <a:gd name="T95" fmla="*/ 2147483646 h 1983"/>
              <a:gd name="T96" fmla="*/ 2147483646 w 1862"/>
              <a:gd name="T97" fmla="*/ 2147483646 h 1983"/>
              <a:gd name="T98" fmla="*/ 2147483646 w 1862"/>
              <a:gd name="T99" fmla="*/ 2147483646 h 1983"/>
              <a:gd name="T100" fmla="*/ 2147483646 w 1862"/>
              <a:gd name="T101" fmla="*/ 2147483646 h 198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62"/>
              <a:gd name="T154" fmla="*/ 0 h 1983"/>
              <a:gd name="T155" fmla="*/ 1862 w 1862"/>
              <a:gd name="T156" fmla="*/ 1983 h 198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62" h="1983">
                <a:moveTo>
                  <a:pt x="932" y="1983"/>
                </a:moveTo>
                <a:lnTo>
                  <a:pt x="907" y="1983"/>
                </a:lnTo>
                <a:lnTo>
                  <a:pt x="884" y="1981"/>
                </a:lnTo>
                <a:lnTo>
                  <a:pt x="860" y="1980"/>
                </a:lnTo>
                <a:lnTo>
                  <a:pt x="837" y="1978"/>
                </a:lnTo>
                <a:lnTo>
                  <a:pt x="813" y="1975"/>
                </a:lnTo>
                <a:lnTo>
                  <a:pt x="790" y="1971"/>
                </a:lnTo>
                <a:lnTo>
                  <a:pt x="766" y="1968"/>
                </a:lnTo>
                <a:lnTo>
                  <a:pt x="744" y="1962"/>
                </a:lnTo>
                <a:lnTo>
                  <a:pt x="721" y="1958"/>
                </a:lnTo>
                <a:lnTo>
                  <a:pt x="699" y="1952"/>
                </a:lnTo>
                <a:lnTo>
                  <a:pt x="677" y="1944"/>
                </a:lnTo>
                <a:lnTo>
                  <a:pt x="655" y="1939"/>
                </a:lnTo>
                <a:lnTo>
                  <a:pt x="633" y="1931"/>
                </a:lnTo>
                <a:lnTo>
                  <a:pt x="611" y="1923"/>
                </a:lnTo>
                <a:lnTo>
                  <a:pt x="590" y="1914"/>
                </a:lnTo>
                <a:lnTo>
                  <a:pt x="568" y="1905"/>
                </a:lnTo>
                <a:lnTo>
                  <a:pt x="548" y="1895"/>
                </a:lnTo>
                <a:lnTo>
                  <a:pt x="527" y="1884"/>
                </a:lnTo>
                <a:lnTo>
                  <a:pt x="507" y="1874"/>
                </a:lnTo>
                <a:lnTo>
                  <a:pt x="488" y="1863"/>
                </a:lnTo>
                <a:lnTo>
                  <a:pt x="467" y="1851"/>
                </a:lnTo>
                <a:lnTo>
                  <a:pt x="448" y="1839"/>
                </a:lnTo>
                <a:lnTo>
                  <a:pt x="429" y="1826"/>
                </a:lnTo>
                <a:lnTo>
                  <a:pt x="412" y="1813"/>
                </a:lnTo>
                <a:lnTo>
                  <a:pt x="393" y="1800"/>
                </a:lnTo>
                <a:lnTo>
                  <a:pt x="375" y="1786"/>
                </a:lnTo>
                <a:lnTo>
                  <a:pt x="357" y="1772"/>
                </a:lnTo>
                <a:lnTo>
                  <a:pt x="340" y="1756"/>
                </a:lnTo>
                <a:lnTo>
                  <a:pt x="322" y="1741"/>
                </a:lnTo>
                <a:lnTo>
                  <a:pt x="306" y="1725"/>
                </a:lnTo>
                <a:lnTo>
                  <a:pt x="288" y="1709"/>
                </a:lnTo>
                <a:lnTo>
                  <a:pt x="274" y="1693"/>
                </a:lnTo>
                <a:lnTo>
                  <a:pt x="258" y="1675"/>
                </a:lnTo>
                <a:lnTo>
                  <a:pt x="242" y="1658"/>
                </a:lnTo>
                <a:lnTo>
                  <a:pt x="227" y="1640"/>
                </a:lnTo>
                <a:lnTo>
                  <a:pt x="214" y="1623"/>
                </a:lnTo>
                <a:lnTo>
                  <a:pt x="199" y="1604"/>
                </a:lnTo>
                <a:lnTo>
                  <a:pt x="186" y="1585"/>
                </a:lnTo>
                <a:lnTo>
                  <a:pt x="173" y="1566"/>
                </a:lnTo>
                <a:lnTo>
                  <a:pt x="159" y="1545"/>
                </a:lnTo>
                <a:lnTo>
                  <a:pt x="148" y="1526"/>
                </a:lnTo>
                <a:lnTo>
                  <a:pt x="134" y="1506"/>
                </a:lnTo>
                <a:lnTo>
                  <a:pt x="124" y="1485"/>
                </a:lnTo>
                <a:lnTo>
                  <a:pt x="112" y="1465"/>
                </a:lnTo>
                <a:lnTo>
                  <a:pt x="102" y="1443"/>
                </a:lnTo>
                <a:lnTo>
                  <a:pt x="92" y="1421"/>
                </a:lnTo>
                <a:lnTo>
                  <a:pt x="83" y="1399"/>
                </a:lnTo>
                <a:lnTo>
                  <a:pt x="73" y="1377"/>
                </a:lnTo>
                <a:lnTo>
                  <a:pt x="66" y="1355"/>
                </a:lnTo>
                <a:lnTo>
                  <a:pt x="57" y="1333"/>
                </a:lnTo>
                <a:lnTo>
                  <a:pt x="49" y="1309"/>
                </a:lnTo>
                <a:lnTo>
                  <a:pt x="42" y="1286"/>
                </a:lnTo>
                <a:lnTo>
                  <a:pt x="36" y="1263"/>
                </a:lnTo>
                <a:lnTo>
                  <a:pt x="29" y="1239"/>
                </a:lnTo>
                <a:lnTo>
                  <a:pt x="25" y="1216"/>
                </a:lnTo>
                <a:lnTo>
                  <a:pt x="19" y="1191"/>
                </a:lnTo>
                <a:lnTo>
                  <a:pt x="14" y="1168"/>
                </a:lnTo>
                <a:lnTo>
                  <a:pt x="11" y="1143"/>
                </a:lnTo>
                <a:lnTo>
                  <a:pt x="8" y="1118"/>
                </a:lnTo>
                <a:lnTo>
                  <a:pt x="5" y="1093"/>
                </a:lnTo>
                <a:lnTo>
                  <a:pt x="3" y="1068"/>
                </a:lnTo>
                <a:lnTo>
                  <a:pt x="1" y="1042"/>
                </a:lnTo>
                <a:lnTo>
                  <a:pt x="1" y="1017"/>
                </a:lnTo>
                <a:lnTo>
                  <a:pt x="0" y="992"/>
                </a:lnTo>
                <a:lnTo>
                  <a:pt x="1" y="966"/>
                </a:lnTo>
                <a:lnTo>
                  <a:pt x="1" y="941"/>
                </a:lnTo>
                <a:lnTo>
                  <a:pt x="3" y="916"/>
                </a:lnTo>
                <a:lnTo>
                  <a:pt x="5" y="891"/>
                </a:lnTo>
                <a:lnTo>
                  <a:pt x="8" y="865"/>
                </a:lnTo>
                <a:lnTo>
                  <a:pt x="11" y="841"/>
                </a:lnTo>
                <a:lnTo>
                  <a:pt x="14" y="816"/>
                </a:lnTo>
                <a:lnTo>
                  <a:pt x="19" y="791"/>
                </a:lnTo>
                <a:lnTo>
                  <a:pt x="25" y="768"/>
                </a:lnTo>
                <a:lnTo>
                  <a:pt x="30" y="743"/>
                </a:lnTo>
                <a:lnTo>
                  <a:pt x="36" y="720"/>
                </a:lnTo>
                <a:lnTo>
                  <a:pt x="42" y="696"/>
                </a:lnTo>
                <a:lnTo>
                  <a:pt x="49" y="674"/>
                </a:lnTo>
                <a:lnTo>
                  <a:pt x="57" y="651"/>
                </a:lnTo>
                <a:lnTo>
                  <a:pt x="66" y="628"/>
                </a:lnTo>
                <a:lnTo>
                  <a:pt x="73" y="606"/>
                </a:lnTo>
                <a:lnTo>
                  <a:pt x="83" y="584"/>
                </a:lnTo>
                <a:lnTo>
                  <a:pt x="92" y="562"/>
                </a:lnTo>
                <a:lnTo>
                  <a:pt x="102" y="540"/>
                </a:lnTo>
                <a:lnTo>
                  <a:pt x="112" y="519"/>
                </a:lnTo>
                <a:lnTo>
                  <a:pt x="124" y="499"/>
                </a:lnTo>
                <a:lnTo>
                  <a:pt x="134" y="478"/>
                </a:lnTo>
                <a:lnTo>
                  <a:pt x="148" y="458"/>
                </a:lnTo>
                <a:lnTo>
                  <a:pt x="159" y="437"/>
                </a:lnTo>
                <a:lnTo>
                  <a:pt x="173" y="418"/>
                </a:lnTo>
                <a:lnTo>
                  <a:pt x="186" y="398"/>
                </a:lnTo>
                <a:lnTo>
                  <a:pt x="199" y="380"/>
                </a:lnTo>
                <a:lnTo>
                  <a:pt x="214" y="361"/>
                </a:lnTo>
                <a:lnTo>
                  <a:pt x="227" y="342"/>
                </a:lnTo>
                <a:lnTo>
                  <a:pt x="242" y="325"/>
                </a:lnTo>
                <a:lnTo>
                  <a:pt x="258" y="307"/>
                </a:lnTo>
                <a:lnTo>
                  <a:pt x="274" y="291"/>
                </a:lnTo>
                <a:lnTo>
                  <a:pt x="288" y="274"/>
                </a:lnTo>
                <a:lnTo>
                  <a:pt x="306" y="257"/>
                </a:lnTo>
                <a:lnTo>
                  <a:pt x="322" y="243"/>
                </a:lnTo>
                <a:lnTo>
                  <a:pt x="340" y="227"/>
                </a:lnTo>
                <a:lnTo>
                  <a:pt x="356" y="212"/>
                </a:lnTo>
                <a:lnTo>
                  <a:pt x="375" y="197"/>
                </a:lnTo>
                <a:lnTo>
                  <a:pt x="393" y="183"/>
                </a:lnTo>
                <a:lnTo>
                  <a:pt x="410" y="170"/>
                </a:lnTo>
                <a:lnTo>
                  <a:pt x="429" y="156"/>
                </a:lnTo>
                <a:lnTo>
                  <a:pt x="448" y="143"/>
                </a:lnTo>
                <a:lnTo>
                  <a:pt x="467" y="132"/>
                </a:lnTo>
                <a:lnTo>
                  <a:pt x="488" y="120"/>
                </a:lnTo>
                <a:lnTo>
                  <a:pt x="507" y="108"/>
                </a:lnTo>
                <a:lnTo>
                  <a:pt x="527" y="98"/>
                </a:lnTo>
                <a:lnTo>
                  <a:pt x="548" y="88"/>
                </a:lnTo>
                <a:lnTo>
                  <a:pt x="568" y="79"/>
                </a:lnTo>
                <a:lnTo>
                  <a:pt x="590" y="69"/>
                </a:lnTo>
                <a:lnTo>
                  <a:pt x="611" y="60"/>
                </a:lnTo>
                <a:lnTo>
                  <a:pt x="633" y="53"/>
                </a:lnTo>
                <a:lnTo>
                  <a:pt x="655" y="45"/>
                </a:lnTo>
                <a:lnTo>
                  <a:pt x="677" y="38"/>
                </a:lnTo>
                <a:lnTo>
                  <a:pt x="699" y="32"/>
                </a:lnTo>
                <a:lnTo>
                  <a:pt x="721" y="26"/>
                </a:lnTo>
                <a:lnTo>
                  <a:pt x="744" y="20"/>
                </a:lnTo>
                <a:lnTo>
                  <a:pt x="766" y="16"/>
                </a:lnTo>
                <a:lnTo>
                  <a:pt x="790" y="12"/>
                </a:lnTo>
                <a:lnTo>
                  <a:pt x="813" y="9"/>
                </a:lnTo>
                <a:lnTo>
                  <a:pt x="837" y="6"/>
                </a:lnTo>
                <a:lnTo>
                  <a:pt x="860" y="3"/>
                </a:lnTo>
                <a:lnTo>
                  <a:pt x="884" y="1"/>
                </a:lnTo>
                <a:lnTo>
                  <a:pt x="907" y="0"/>
                </a:lnTo>
                <a:lnTo>
                  <a:pt x="931" y="0"/>
                </a:lnTo>
                <a:lnTo>
                  <a:pt x="932" y="0"/>
                </a:lnTo>
                <a:lnTo>
                  <a:pt x="955" y="1"/>
                </a:lnTo>
                <a:lnTo>
                  <a:pt x="979" y="1"/>
                </a:lnTo>
                <a:lnTo>
                  <a:pt x="1002" y="3"/>
                </a:lnTo>
                <a:lnTo>
                  <a:pt x="1026" y="6"/>
                </a:lnTo>
                <a:lnTo>
                  <a:pt x="1049" y="9"/>
                </a:lnTo>
                <a:lnTo>
                  <a:pt x="1073" y="12"/>
                </a:lnTo>
                <a:lnTo>
                  <a:pt x="1096" y="16"/>
                </a:lnTo>
                <a:lnTo>
                  <a:pt x="1120" y="20"/>
                </a:lnTo>
                <a:lnTo>
                  <a:pt x="1142" y="26"/>
                </a:lnTo>
                <a:lnTo>
                  <a:pt x="1164" y="32"/>
                </a:lnTo>
                <a:lnTo>
                  <a:pt x="1186" y="38"/>
                </a:lnTo>
                <a:lnTo>
                  <a:pt x="1208" y="45"/>
                </a:lnTo>
                <a:lnTo>
                  <a:pt x="1230" y="53"/>
                </a:lnTo>
                <a:lnTo>
                  <a:pt x="1252" y="60"/>
                </a:lnTo>
                <a:lnTo>
                  <a:pt x="1272" y="69"/>
                </a:lnTo>
                <a:lnTo>
                  <a:pt x="1294" y="79"/>
                </a:lnTo>
                <a:lnTo>
                  <a:pt x="1315" y="88"/>
                </a:lnTo>
                <a:lnTo>
                  <a:pt x="1335" y="98"/>
                </a:lnTo>
                <a:lnTo>
                  <a:pt x="1356" y="108"/>
                </a:lnTo>
                <a:lnTo>
                  <a:pt x="1375" y="120"/>
                </a:lnTo>
                <a:lnTo>
                  <a:pt x="1395" y="132"/>
                </a:lnTo>
                <a:lnTo>
                  <a:pt x="1414" y="143"/>
                </a:lnTo>
                <a:lnTo>
                  <a:pt x="1433" y="156"/>
                </a:lnTo>
                <a:lnTo>
                  <a:pt x="1452" y="170"/>
                </a:lnTo>
                <a:lnTo>
                  <a:pt x="1470" y="183"/>
                </a:lnTo>
                <a:lnTo>
                  <a:pt x="1488" y="197"/>
                </a:lnTo>
                <a:lnTo>
                  <a:pt x="1507" y="212"/>
                </a:lnTo>
                <a:lnTo>
                  <a:pt x="1523" y="227"/>
                </a:lnTo>
                <a:lnTo>
                  <a:pt x="1540" y="243"/>
                </a:lnTo>
                <a:lnTo>
                  <a:pt x="1557" y="257"/>
                </a:lnTo>
                <a:lnTo>
                  <a:pt x="1574" y="274"/>
                </a:lnTo>
                <a:lnTo>
                  <a:pt x="1590" y="291"/>
                </a:lnTo>
                <a:lnTo>
                  <a:pt x="1605" y="307"/>
                </a:lnTo>
                <a:lnTo>
                  <a:pt x="1621" y="325"/>
                </a:lnTo>
                <a:lnTo>
                  <a:pt x="1636" y="342"/>
                </a:lnTo>
                <a:lnTo>
                  <a:pt x="1650" y="361"/>
                </a:lnTo>
                <a:lnTo>
                  <a:pt x="1664" y="380"/>
                </a:lnTo>
                <a:lnTo>
                  <a:pt x="1677" y="398"/>
                </a:lnTo>
                <a:lnTo>
                  <a:pt x="1690" y="418"/>
                </a:lnTo>
                <a:lnTo>
                  <a:pt x="1703" y="437"/>
                </a:lnTo>
                <a:lnTo>
                  <a:pt x="1715" y="458"/>
                </a:lnTo>
                <a:lnTo>
                  <a:pt x="1728" y="477"/>
                </a:lnTo>
                <a:lnTo>
                  <a:pt x="1738" y="499"/>
                </a:lnTo>
                <a:lnTo>
                  <a:pt x="1750" y="519"/>
                </a:lnTo>
                <a:lnTo>
                  <a:pt x="1760" y="540"/>
                </a:lnTo>
                <a:lnTo>
                  <a:pt x="1771" y="562"/>
                </a:lnTo>
                <a:lnTo>
                  <a:pt x="1779" y="584"/>
                </a:lnTo>
                <a:lnTo>
                  <a:pt x="1790" y="606"/>
                </a:lnTo>
                <a:lnTo>
                  <a:pt x="1797" y="628"/>
                </a:lnTo>
                <a:lnTo>
                  <a:pt x="1806" y="651"/>
                </a:lnTo>
                <a:lnTo>
                  <a:pt x="1813" y="673"/>
                </a:lnTo>
                <a:lnTo>
                  <a:pt x="1820" y="696"/>
                </a:lnTo>
                <a:lnTo>
                  <a:pt x="1826" y="720"/>
                </a:lnTo>
                <a:lnTo>
                  <a:pt x="1834" y="743"/>
                </a:lnTo>
                <a:lnTo>
                  <a:pt x="1838" y="768"/>
                </a:lnTo>
                <a:lnTo>
                  <a:pt x="1844" y="791"/>
                </a:lnTo>
                <a:lnTo>
                  <a:pt x="1848" y="816"/>
                </a:lnTo>
                <a:lnTo>
                  <a:pt x="1851" y="841"/>
                </a:lnTo>
                <a:lnTo>
                  <a:pt x="1854" y="865"/>
                </a:lnTo>
                <a:lnTo>
                  <a:pt x="1857" y="890"/>
                </a:lnTo>
                <a:lnTo>
                  <a:pt x="1860" y="916"/>
                </a:lnTo>
                <a:lnTo>
                  <a:pt x="1862" y="941"/>
                </a:lnTo>
                <a:lnTo>
                  <a:pt x="1862" y="966"/>
                </a:lnTo>
                <a:lnTo>
                  <a:pt x="1862" y="992"/>
                </a:lnTo>
                <a:lnTo>
                  <a:pt x="1862" y="1017"/>
                </a:lnTo>
                <a:lnTo>
                  <a:pt x="1862" y="1043"/>
                </a:lnTo>
                <a:lnTo>
                  <a:pt x="1860" y="1068"/>
                </a:lnTo>
                <a:lnTo>
                  <a:pt x="1857" y="1093"/>
                </a:lnTo>
                <a:lnTo>
                  <a:pt x="1854" y="1118"/>
                </a:lnTo>
                <a:lnTo>
                  <a:pt x="1851" y="1143"/>
                </a:lnTo>
                <a:lnTo>
                  <a:pt x="1848" y="1168"/>
                </a:lnTo>
                <a:lnTo>
                  <a:pt x="1844" y="1191"/>
                </a:lnTo>
                <a:lnTo>
                  <a:pt x="1838" y="1216"/>
                </a:lnTo>
                <a:lnTo>
                  <a:pt x="1834" y="1239"/>
                </a:lnTo>
                <a:lnTo>
                  <a:pt x="1826" y="1263"/>
                </a:lnTo>
                <a:lnTo>
                  <a:pt x="1820" y="1286"/>
                </a:lnTo>
                <a:lnTo>
                  <a:pt x="1813" y="1309"/>
                </a:lnTo>
                <a:lnTo>
                  <a:pt x="1806" y="1333"/>
                </a:lnTo>
                <a:lnTo>
                  <a:pt x="1797" y="1355"/>
                </a:lnTo>
                <a:lnTo>
                  <a:pt x="1790" y="1377"/>
                </a:lnTo>
                <a:lnTo>
                  <a:pt x="1779" y="1399"/>
                </a:lnTo>
                <a:lnTo>
                  <a:pt x="1771" y="1421"/>
                </a:lnTo>
                <a:lnTo>
                  <a:pt x="1760" y="1443"/>
                </a:lnTo>
                <a:lnTo>
                  <a:pt x="1750" y="1465"/>
                </a:lnTo>
                <a:lnTo>
                  <a:pt x="1738" y="1485"/>
                </a:lnTo>
                <a:lnTo>
                  <a:pt x="1728" y="1506"/>
                </a:lnTo>
                <a:lnTo>
                  <a:pt x="1715" y="1526"/>
                </a:lnTo>
                <a:lnTo>
                  <a:pt x="1703" y="1545"/>
                </a:lnTo>
                <a:lnTo>
                  <a:pt x="1690" y="1566"/>
                </a:lnTo>
                <a:lnTo>
                  <a:pt x="1677" y="1585"/>
                </a:lnTo>
                <a:lnTo>
                  <a:pt x="1664" y="1604"/>
                </a:lnTo>
                <a:lnTo>
                  <a:pt x="1650" y="1623"/>
                </a:lnTo>
                <a:lnTo>
                  <a:pt x="1636" y="1640"/>
                </a:lnTo>
                <a:lnTo>
                  <a:pt x="1621" y="1658"/>
                </a:lnTo>
                <a:lnTo>
                  <a:pt x="1605" y="1675"/>
                </a:lnTo>
                <a:lnTo>
                  <a:pt x="1590" y="1693"/>
                </a:lnTo>
                <a:lnTo>
                  <a:pt x="1574" y="1709"/>
                </a:lnTo>
                <a:lnTo>
                  <a:pt x="1557" y="1725"/>
                </a:lnTo>
                <a:lnTo>
                  <a:pt x="1540" y="1741"/>
                </a:lnTo>
                <a:lnTo>
                  <a:pt x="1523" y="1756"/>
                </a:lnTo>
                <a:lnTo>
                  <a:pt x="1507" y="1772"/>
                </a:lnTo>
                <a:lnTo>
                  <a:pt x="1488" y="1786"/>
                </a:lnTo>
                <a:lnTo>
                  <a:pt x="1470" y="1800"/>
                </a:lnTo>
                <a:lnTo>
                  <a:pt x="1452" y="1813"/>
                </a:lnTo>
                <a:lnTo>
                  <a:pt x="1433" y="1826"/>
                </a:lnTo>
                <a:lnTo>
                  <a:pt x="1414" y="1839"/>
                </a:lnTo>
                <a:lnTo>
                  <a:pt x="1395" y="1851"/>
                </a:lnTo>
                <a:lnTo>
                  <a:pt x="1375" y="1863"/>
                </a:lnTo>
                <a:lnTo>
                  <a:pt x="1356" y="1874"/>
                </a:lnTo>
                <a:lnTo>
                  <a:pt x="1335" y="1884"/>
                </a:lnTo>
                <a:lnTo>
                  <a:pt x="1315" y="1895"/>
                </a:lnTo>
                <a:lnTo>
                  <a:pt x="1294" y="1905"/>
                </a:lnTo>
                <a:lnTo>
                  <a:pt x="1272" y="1914"/>
                </a:lnTo>
                <a:lnTo>
                  <a:pt x="1252" y="1923"/>
                </a:lnTo>
                <a:lnTo>
                  <a:pt x="1230" y="1930"/>
                </a:lnTo>
                <a:lnTo>
                  <a:pt x="1208" y="1939"/>
                </a:lnTo>
                <a:lnTo>
                  <a:pt x="1186" y="1944"/>
                </a:lnTo>
                <a:lnTo>
                  <a:pt x="1164" y="1952"/>
                </a:lnTo>
                <a:lnTo>
                  <a:pt x="1142" y="1958"/>
                </a:lnTo>
                <a:lnTo>
                  <a:pt x="1118" y="1962"/>
                </a:lnTo>
                <a:lnTo>
                  <a:pt x="1096" y="1966"/>
                </a:lnTo>
                <a:lnTo>
                  <a:pt x="1073" y="1971"/>
                </a:lnTo>
                <a:lnTo>
                  <a:pt x="1049" y="1975"/>
                </a:lnTo>
                <a:lnTo>
                  <a:pt x="1026" y="1978"/>
                </a:lnTo>
                <a:lnTo>
                  <a:pt x="1002" y="1980"/>
                </a:lnTo>
                <a:lnTo>
                  <a:pt x="979" y="1981"/>
                </a:lnTo>
                <a:lnTo>
                  <a:pt x="955" y="1983"/>
                </a:lnTo>
                <a:lnTo>
                  <a:pt x="931" y="1983"/>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07" name="Rectangle 40">
            <a:extLst>
              <a:ext uri="{FF2B5EF4-FFF2-40B4-BE49-F238E27FC236}">
                <a16:creationId xmlns:a16="http://schemas.microsoft.com/office/drawing/2014/main" id="{D7B603C4-60F4-4F02-86E0-8ADA09DC104B}"/>
              </a:ext>
            </a:extLst>
          </p:cNvPr>
          <p:cNvSpPr>
            <a:spLocks noChangeArrowheads="1"/>
          </p:cNvSpPr>
          <p:nvPr/>
        </p:nvSpPr>
        <p:spPr bwMode="auto">
          <a:xfrm>
            <a:off x="1854201" y="5334001"/>
            <a:ext cx="8207375"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764" tIns="47883" rIns="95764" bIns="47883"/>
          <a:lstStyle>
            <a:lvl1pPr marL="342900" indent="-342900">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buClr>
                <a:schemeClr val="tx1"/>
              </a:buClr>
              <a:buSzPct val="70000"/>
              <a:buFont typeface="Wingdings" panose="05000000000000000000" pitchFamily="2" charset="2"/>
              <a:buNone/>
            </a:pPr>
            <a:endParaRPr lang="en-US" altLang="zh-TW" sz="2400">
              <a:ea typeface="新細明體" panose="02020500000000000000" pitchFamily="18" charset="-120"/>
            </a:endParaRPr>
          </a:p>
        </p:txBody>
      </p:sp>
      <p:sp>
        <p:nvSpPr>
          <p:cNvPr id="35" name="Rectangle 3">
            <a:extLst>
              <a:ext uri="{FF2B5EF4-FFF2-40B4-BE49-F238E27FC236}">
                <a16:creationId xmlns:a16="http://schemas.microsoft.com/office/drawing/2014/main" id="{3691936A-7CED-48C2-891D-298278B9331C}"/>
              </a:ext>
            </a:extLst>
          </p:cNvPr>
          <p:cNvSpPr txBox="1">
            <a:spLocks noChangeArrowheads="1"/>
          </p:cNvSpPr>
          <p:nvPr/>
        </p:nvSpPr>
        <p:spPr bwMode="auto">
          <a:xfrm>
            <a:off x="6055672" y="1035845"/>
            <a:ext cx="4730750" cy="210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764" tIns="47883" rIns="95764" bIns="47883"/>
          <a:lstStyle>
            <a:lvl1pPr marL="358775" indent="-358775" algn="l" defTabSz="958850" rtl="0" eaLnBrk="0" fontAlgn="base" hangingPunct="0">
              <a:spcBef>
                <a:spcPct val="20000"/>
              </a:spcBef>
              <a:spcAft>
                <a:spcPct val="0"/>
              </a:spcAft>
              <a:buClr>
                <a:schemeClr val="tx1"/>
              </a:buClr>
              <a:buSzPct val="70000"/>
              <a:buFont typeface="Wingdings" panose="05000000000000000000" pitchFamily="2" charset="2"/>
              <a:buChar char="q"/>
              <a:defRPr sz="2800" b="1">
                <a:solidFill>
                  <a:schemeClr val="tx1"/>
                </a:solidFill>
                <a:latin typeface="+mn-lt"/>
                <a:ea typeface="+mn-ea"/>
                <a:cs typeface="+mn-cs"/>
              </a:defRPr>
            </a:lvl1pPr>
            <a:lvl2pPr marL="777875" indent="-298450" algn="l" defTabSz="958850" rtl="0" eaLnBrk="0" fontAlgn="base" hangingPunct="0">
              <a:spcBef>
                <a:spcPct val="20000"/>
              </a:spcBef>
              <a:spcAft>
                <a:spcPct val="0"/>
              </a:spcAft>
              <a:buClr>
                <a:schemeClr val="tx1"/>
              </a:buClr>
              <a:buSzPct val="65000"/>
              <a:buChar char="•"/>
              <a:defRPr sz="2500">
                <a:solidFill>
                  <a:schemeClr val="tx1"/>
                </a:solidFill>
                <a:latin typeface="+mn-lt"/>
              </a:defRPr>
            </a:lvl2pPr>
            <a:lvl3pPr marL="1196975" indent="-238125" algn="l" defTabSz="958850" rtl="0" eaLnBrk="0" fontAlgn="base" hangingPunct="0">
              <a:spcBef>
                <a:spcPct val="20000"/>
              </a:spcBef>
              <a:spcAft>
                <a:spcPct val="0"/>
              </a:spcAft>
              <a:buClr>
                <a:schemeClr val="tx1"/>
              </a:buClr>
              <a:buSzPct val="65000"/>
              <a:buFont typeface="Wingdings" panose="05000000000000000000" pitchFamily="2" charset="2"/>
              <a:buChar char="•"/>
              <a:defRPr sz="2500">
                <a:solidFill>
                  <a:schemeClr val="tx1"/>
                </a:solidFill>
                <a:latin typeface="+mn-lt"/>
              </a:defRPr>
            </a:lvl3pPr>
            <a:lvl4pPr marL="1676400" indent="-239713" algn="l" defTabSz="958850" rtl="0" eaLnBrk="0" fontAlgn="base" hangingPunct="0">
              <a:spcBef>
                <a:spcPct val="20000"/>
              </a:spcBef>
              <a:spcAft>
                <a:spcPct val="0"/>
              </a:spcAft>
              <a:buClr>
                <a:schemeClr val="tx2"/>
              </a:buClr>
              <a:buSzPct val="75000"/>
              <a:buFont typeface="Wingdings" panose="05000000000000000000" pitchFamily="2" charset="2"/>
              <a:buChar char="–"/>
              <a:defRPr sz="2100">
                <a:solidFill>
                  <a:schemeClr val="tx1"/>
                </a:solidFill>
                <a:latin typeface="+mn-lt"/>
              </a:defRPr>
            </a:lvl4pPr>
            <a:lvl5pPr marL="2155825" indent="-241300" algn="l" defTabSz="958850" rtl="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mn-lt"/>
              </a:defRPr>
            </a:lvl5pPr>
            <a:lvl6pPr marL="2613025" indent="-241300" algn="l" defTabSz="958850" rtl="0" fontAlgn="base">
              <a:spcBef>
                <a:spcPct val="20000"/>
              </a:spcBef>
              <a:spcAft>
                <a:spcPct val="0"/>
              </a:spcAft>
              <a:buClr>
                <a:schemeClr val="tx1"/>
              </a:buClr>
              <a:buSzPct val="65000"/>
              <a:buFont typeface="Wingdings" pitchFamily="2" charset="2"/>
              <a:defRPr sz="2100" b="1">
                <a:solidFill>
                  <a:schemeClr val="tx1"/>
                </a:solidFill>
                <a:latin typeface="+mn-lt"/>
              </a:defRPr>
            </a:lvl6pPr>
            <a:lvl7pPr marL="3070225" indent="-241300" algn="l" defTabSz="958850" rtl="0" fontAlgn="base">
              <a:spcBef>
                <a:spcPct val="20000"/>
              </a:spcBef>
              <a:spcAft>
                <a:spcPct val="0"/>
              </a:spcAft>
              <a:buClr>
                <a:schemeClr val="tx1"/>
              </a:buClr>
              <a:buSzPct val="65000"/>
              <a:buFont typeface="Wingdings" pitchFamily="2" charset="2"/>
              <a:defRPr sz="2100" b="1">
                <a:solidFill>
                  <a:schemeClr val="tx1"/>
                </a:solidFill>
                <a:latin typeface="+mn-lt"/>
              </a:defRPr>
            </a:lvl7pPr>
            <a:lvl8pPr marL="3527425" indent="-241300" algn="l" defTabSz="958850" rtl="0" fontAlgn="base">
              <a:spcBef>
                <a:spcPct val="20000"/>
              </a:spcBef>
              <a:spcAft>
                <a:spcPct val="0"/>
              </a:spcAft>
              <a:buClr>
                <a:schemeClr val="tx1"/>
              </a:buClr>
              <a:buSzPct val="65000"/>
              <a:buFont typeface="Wingdings" pitchFamily="2" charset="2"/>
              <a:defRPr sz="2100" b="1">
                <a:solidFill>
                  <a:schemeClr val="tx1"/>
                </a:solidFill>
                <a:latin typeface="+mn-lt"/>
              </a:defRPr>
            </a:lvl8pPr>
            <a:lvl9pPr marL="3984625" indent="-241300" algn="l" defTabSz="958850" rtl="0" fontAlgn="base">
              <a:spcBef>
                <a:spcPct val="20000"/>
              </a:spcBef>
              <a:spcAft>
                <a:spcPct val="0"/>
              </a:spcAft>
              <a:buClr>
                <a:schemeClr val="tx1"/>
              </a:buClr>
              <a:buSzPct val="65000"/>
              <a:buFont typeface="Wingdings" pitchFamily="2" charset="2"/>
              <a:defRPr sz="2100" b="1">
                <a:solidFill>
                  <a:schemeClr val="tx1"/>
                </a:solidFill>
                <a:latin typeface="+mn-lt"/>
              </a:defRPr>
            </a:lvl9pPr>
          </a:lstStyle>
          <a:p>
            <a:pPr eaLnBrk="1" hangingPunct="1">
              <a:buFont typeface="Wingdings" panose="05000000000000000000" pitchFamily="2" charset="2"/>
              <a:buChar char="§"/>
              <a:defRPr/>
            </a:pPr>
            <a:r>
              <a:rPr lang="en-US" altLang="zh-TW" sz="2000" kern="0" dirty="0">
                <a:ea typeface="新細明體" panose="02020500000000000000" pitchFamily="18" charset="-120"/>
              </a:rPr>
              <a:t>Red instructions should trap</a:t>
            </a:r>
          </a:p>
          <a:p>
            <a:pPr eaLnBrk="1" hangingPunct="1">
              <a:buFont typeface="Wingdings" panose="05000000000000000000" pitchFamily="2" charset="2"/>
              <a:buChar char="§"/>
              <a:defRPr/>
            </a:pPr>
            <a:r>
              <a:rPr lang="en-US" altLang="zh-TW" sz="2000" kern="0" dirty="0">
                <a:solidFill>
                  <a:schemeClr val="tx2"/>
                </a:solidFill>
                <a:ea typeface="新細明體" panose="02020500000000000000" pitchFamily="18" charset="-120"/>
              </a:rPr>
              <a:t>If Guest OS in supervisor mode, no instructions trap</a:t>
            </a:r>
          </a:p>
          <a:p>
            <a:pPr eaLnBrk="1" hangingPunct="1">
              <a:buFont typeface="Wingdings" panose="05000000000000000000" pitchFamily="2" charset="2"/>
              <a:buChar char="§"/>
              <a:defRPr/>
            </a:pPr>
            <a:r>
              <a:rPr lang="en-US" altLang="zh-TW" sz="2000" kern="0" dirty="0">
                <a:solidFill>
                  <a:schemeClr val="tx2"/>
                </a:solidFill>
                <a:ea typeface="新細明體" panose="02020500000000000000" pitchFamily="18" charset="-120"/>
              </a:rPr>
              <a:t>If Guest OS in user mode, only blue instructions trap</a:t>
            </a:r>
          </a:p>
          <a:p>
            <a:pPr eaLnBrk="1" hangingPunct="1">
              <a:buFont typeface="Wingdings" panose="05000000000000000000" pitchFamily="2" charset="2"/>
              <a:buChar char="§"/>
              <a:defRPr/>
            </a:pPr>
            <a:endParaRPr lang="en-US" altLang="zh-TW" sz="2000" kern="0" dirty="0">
              <a:ea typeface="新細明體" panose="02020500000000000000" pitchFamily="18" charset="-120"/>
            </a:endParaRPr>
          </a:p>
        </p:txBody>
      </p:sp>
      <p:sp>
        <p:nvSpPr>
          <p:cNvPr id="36" name="Rectangle 3">
            <a:extLst>
              <a:ext uri="{FF2B5EF4-FFF2-40B4-BE49-F238E27FC236}">
                <a16:creationId xmlns:a16="http://schemas.microsoft.com/office/drawing/2014/main" id="{7BBEB139-291A-42AD-BC33-366CBF18FAA8}"/>
              </a:ext>
            </a:extLst>
          </p:cNvPr>
          <p:cNvSpPr txBox="1">
            <a:spLocks noChangeArrowheads="1"/>
          </p:cNvSpPr>
          <p:nvPr/>
        </p:nvSpPr>
        <p:spPr bwMode="auto">
          <a:xfrm>
            <a:off x="1679577" y="4079875"/>
            <a:ext cx="8528048" cy="203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764" tIns="47883" rIns="95764" bIns="47883"/>
          <a:lstStyle>
            <a:lvl1pPr marL="358775" indent="-358775" algn="l" defTabSz="958850" rtl="0" eaLnBrk="0" fontAlgn="base" hangingPunct="0">
              <a:spcBef>
                <a:spcPct val="20000"/>
              </a:spcBef>
              <a:spcAft>
                <a:spcPct val="0"/>
              </a:spcAft>
              <a:buClr>
                <a:schemeClr val="tx1"/>
              </a:buClr>
              <a:buSzPct val="70000"/>
              <a:buFont typeface="Wingdings" panose="05000000000000000000" pitchFamily="2" charset="2"/>
              <a:buChar char="q"/>
              <a:defRPr sz="2800" b="1">
                <a:solidFill>
                  <a:schemeClr val="tx1"/>
                </a:solidFill>
                <a:latin typeface="+mn-lt"/>
                <a:ea typeface="+mn-ea"/>
                <a:cs typeface="+mn-cs"/>
              </a:defRPr>
            </a:lvl1pPr>
            <a:lvl2pPr marL="777875" indent="-298450" algn="l" defTabSz="958850" rtl="0" eaLnBrk="0" fontAlgn="base" hangingPunct="0">
              <a:spcBef>
                <a:spcPct val="20000"/>
              </a:spcBef>
              <a:spcAft>
                <a:spcPct val="0"/>
              </a:spcAft>
              <a:buClr>
                <a:schemeClr val="tx1"/>
              </a:buClr>
              <a:buSzPct val="65000"/>
              <a:buChar char="•"/>
              <a:defRPr sz="2500">
                <a:solidFill>
                  <a:schemeClr val="tx1"/>
                </a:solidFill>
                <a:latin typeface="+mn-lt"/>
              </a:defRPr>
            </a:lvl2pPr>
            <a:lvl3pPr marL="1196975" indent="-238125" algn="l" defTabSz="958850" rtl="0" eaLnBrk="0" fontAlgn="base" hangingPunct="0">
              <a:spcBef>
                <a:spcPct val="20000"/>
              </a:spcBef>
              <a:spcAft>
                <a:spcPct val="0"/>
              </a:spcAft>
              <a:buClr>
                <a:schemeClr val="tx1"/>
              </a:buClr>
              <a:buSzPct val="65000"/>
              <a:buFont typeface="Wingdings" panose="05000000000000000000" pitchFamily="2" charset="2"/>
              <a:buChar char="•"/>
              <a:defRPr sz="2500">
                <a:solidFill>
                  <a:schemeClr val="tx1"/>
                </a:solidFill>
                <a:latin typeface="+mn-lt"/>
              </a:defRPr>
            </a:lvl3pPr>
            <a:lvl4pPr marL="1676400" indent="-239713" algn="l" defTabSz="958850" rtl="0" eaLnBrk="0" fontAlgn="base" hangingPunct="0">
              <a:spcBef>
                <a:spcPct val="20000"/>
              </a:spcBef>
              <a:spcAft>
                <a:spcPct val="0"/>
              </a:spcAft>
              <a:buClr>
                <a:schemeClr val="tx2"/>
              </a:buClr>
              <a:buSzPct val="75000"/>
              <a:buFont typeface="Wingdings" panose="05000000000000000000" pitchFamily="2" charset="2"/>
              <a:buChar char="–"/>
              <a:defRPr sz="2100">
                <a:solidFill>
                  <a:schemeClr val="tx1"/>
                </a:solidFill>
                <a:latin typeface="+mn-lt"/>
              </a:defRPr>
            </a:lvl4pPr>
            <a:lvl5pPr marL="2155825" indent="-241300" algn="l" defTabSz="958850" rtl="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mn-lt"/>
              </a:defRPr>
            </a:lvl5pPr>
            <a:lvl6pPr marL="2613025" indent="-241300" algn="l" defTabSz="958850" rtl="0" fontAlgn="base">
              <a:spcBef>
                <a:spcPct val="20000"/>
              </a:spcBef>
              <a:spcAft>
                <a:spcPct val="0"/>
              </a:spcAft>
              <a:buClr>
                <a:schemeClr val="tx1"/>
              </a:buClr>
              <a:buSzPct val="65000"/>
              <a:buFont typeface="Wingdings" pitchFamily="2" charset="2"/>
              <a:defRPr sz="2100" b="1">
                <a:solidFill>
                  <a:schemeClr val="tx1"/>
                </a:solidFill>
                <a:latin typeface="+mn-lt"/>
              </a:defRPr>
            </a:lvl6pPr>
            <a:lvl7pPr marL="3070225" indent="-241300" algn="l" defTabSz="958850" rtl="0" fontAlgn="base">
              <a:spcBef>
                <a:spcPct val="20000"/>
              </a:spcBef>
              <a:spcAft>
                <a:spcPct val="0"/>
              </a:spcAft>
              <a:buClr>
                <a:schemeClr val="tx1"/>
              </a:buClr>
              <a:buSzPct val="65000"/>
              <a:buFont typeface="Wingdings" pitchFamily="2" charset="2"/>
              <a:defRPr sz="2100" b="1">
                <a:solidFill>
                  <a:schemeClr val="tx1"/>
                </a:solidFill>
                <a:latin typeface="+mn-lt"/>
              </a:defRPr>
            </a:lvl7pPr>
            <a:lvl8pPr marL="3527425" indent="-241300" algn="l" defTabSz="958850" rtl="0" fontAlgn="base">
              <a:spcBef>
                <a:spcPct val="20000"/>
              </a:spcBef>
              <a:spcAft>
                <a:spcPct val="0"/>
              </a:spcAft>
              <a:buClr>
                <a:schemeClr val="tx1"/>
              </a:buClr>
              <a:buSzPct val="65000"/>
              <a:buFont typeface="Wingdings" pitchFamily="2" charset="2"/>
              <a:defRPr sz="2100" b="1">
                <a:solidFill>
                  <a:schemeClr val="tx1"/>
                </a:solidFill>
                <a:latin typeface="+mn-lt"/>
              </a:defRPr>
            </a:lvl8pPr>
            <a:lvl9pPr marL="3984625" indent="-241300" algn="l" defTabSz="958850" rtl="0" fontAlgn="base">
              <a:spcBef>
                <a:spcPct val="20000"/>
              </a:spcBef>
              <a:spcAft>
                <a:spcPct val="0"/>
              </a:spcAft>
              <a:buClr>
                <a:schemeClr val="tx1"/>
              </a:buClr>
              <a:buSzPct val="65000"/>
              <a:buFont typeface="Wingdings" pitchFamily="2" charset="2"/>
              <a:defRPr sz="2100" b="1">
                <a:solidFill>
                  <a:schemeClr val="tx1"/>
                </a:solidFill>
                <a:latin typeface="+mn-lt"/>
              </a:defRPr>
            </a:lvl9pPr>
          </a:lstStyle>
          <a:p>
            <a:pPr eaLnBrk="1" hangingPunct="1">
              <a:buFont typeface="Wingdings" panose="05000000000000000000" pitchFamily="2" charset="2"/>
              <a:buChar char="§"/>
              <a:defRPr/>
            </a:pPr>
            <a:r>
              <a:rPr lang="en-US" altLang="zh-TW" sz="2000" kern="0" dirty="0">
                <a:ea typeface="新細明體" panose="02020500000000000000" pitchFamily="18" charset="-120"/>
              </a:rPr>
              <a:t>If Guest OS in user mode, with </a:t>
            </a:r>
            <a:r>
              <a:rPr lang="en-US" altLang="zh-TW" sz="2400" kern="0" dirty="0">
                <a:solidFill>
                  <a:srgbClr val="FF0000"/>
                </a:solidFill>
                <a:ea typeface="新細明體" panose="02020500000000000000" pitchFamily="18" charset="-120"/>
              </a:rPr>
              <a:t>Para-virtualization</a:t>
            </a:r>
            <a:r>
              <a:rPr lang="en-US" altLang="zh-TW" sz="2000" kern="0" dirty="0">
                <a:ea typeface="新細明體" panose="02020500000000000000" pitchFamily="18" charset="-120"/>
              </a:rPr>
              <a:t>, we could force red instructions to trap</a:t>
            </a:r>
          </a:p>
          <a:p>
            <a:pPr eaLnBrk="1" hangingPunct="1">
              <a:buFont typeface="Wingdings" panose="05000000000000000000" pitchFamily="2" charset="2"/>
              <a:buChar char="§"/>
              <a:defRPr/>
            </a:pPr>
            <a:r>
              <a:rPr lang="en-US" altLang="zh-TW" sz="2000" kern="0" dirty="0">
                <a:ea typeface="新細明體" panose="02020500000000000000" pitchFamily="18" charset="-120"/>
              </a:rPr>
              <a:t>If </a:t>
            </a:r>
            <a:r>
              <a:rPr lang="en-US" altLang="zh-TW" sz="2400" kern="0" dirty="0">
                <a:solidFill>
                  <a:srgbClr val="FF0000"/>
                </a:solidFill>
                <a:ea typeface="新細明體" panose="02020500000000000000" pitchFamily="18" charset="-120"/>
              </a:rPr>
              <a:t>Full-virtualization</a:t>
            </a:r>
            <a:r>
              <a:rPr lang="en-US" altLang="zh-TW" sz="2000" kern="0" dirty="0">
                <a:ea typeface="新細明體" panose="02020500000000000000" pitchFamily="18" charset="-120"/>
              </a:rPr>
              <a:t> is needed, we may have to use</a:t>
            </a:r>
          </a:p>
          <a:p>
            <a:pPr lvl="1" eaLnBrk="1" hangingPunct="1">
              <a:buFont typeface="Wingdings" panose="05000000000000000000" pitchFamily="2" charset="2"/>
              <a:buChar char="§"/>
              <a:defRPr/>
            </a:pPr>
            <a:r>
              <a:rPr lang="en-US" altLang="zh-TW" sz="1700" kern="0" dirty="0">
                <a:ea typeface="新細明體" panose="02020500000000000000" pitchFamily="18" charset="-120"/>
              </a:rPr>
              <a:t>Interpretation</a:t>
            </a:r>
          </a:p>
          <a:p>
            <a:pPr lvl="1" eaLnBrk="1" hangingPunct="1">
              <a:buFont typeface="Wingdings" panose="05000000000000000000" pitchFamily="2" charset="2"/>
              <a:buChar char="§"/>
              <a:defRPr/>
            </a:pPr>
            <a:r>
              <a:rPr lang="en-US" altLang="zh-TW" sz="1700" kern="0" dirty="0">
                <a:ea typeface="新細明體" panose="02020500000000000000" pitchFamily="18" charset="-120"/>
              </a:rPr>
              <a:t>or DBT</a:t>
            </a:r>
          </a:p>
          <a:p>
            <a:pPr lvl="1" eaLnBrk="1" hangingPunct="1">
              <a:buFont typeface="Wingdings" panose="05000000000000000000" pitchFamily="2" charset="2"/>
              <a:buChar char="§"/>
              <a:defRPr/>
            </a:pPr>
            <a:r>
              <a:rPr lang="en-US" altLang="zh-TW" sz="1700" kern="0" dirty="0">
                <a:ea typeface="新細明體" panose="02020500000000000000" pitchFamily="18" charset="-120"/>
              </a:rPr>
              <a:t>or Hardware Support</a:t>
            </a:r>
          </a:p>
          <a:p>
            <a:pPr eaLnBrk="1" hangingPunct="1">
              <a:buFont typeface="Wingdings" panose="05000000000000000000" pitchFamily="2" charset="2"/>
              <a:buChar char="§"/>
              <a:defRPr/>
            </a:pPr>
            <a:endParaRPr lang="en-US" altLang="zh-TW" sz="2000" kern="0" dirty="0">
              <a:ea typeface="新細明體" panose="02020500000000000000" pitchFamily="18" charset="-120"/>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reeform 8">
            <a:extLst>
              <a:ext uri="{FF2B5EF4-FFF2-40B4-BE49-F238E27FC236}">
                <a16:creationId xmlns:a16="http://schemas.microsoft.com/office/drawing/2014/main" id="{BF9663D5-E27A-467B-A697-A041B939963B}"/>
              </a:ext>
            </a:extLst>
          </p:cNvPr>
          <p:cNvSpPr>
            <a:spLocks/>
          </p:cNvSpPr>
          <p:nvPr/>
        </p:nvSpPr>
        <p:spPr bwMode="auto">
          <a:xfrm>
            <a:off x="3124200" y="1439863"/>
            <a:ext cx="2586038" cy="2754312"/>
          </a:xfrm>
          <a:custGeom>
            <a:avLst/>
            <a:gdLst>
              <a:gd name="T0" fmla="*/ 2147483646 w 3259"/>
              <a:gd name="T1" fmla="*/ 2147483646 h 3469"/>
              <a:gd name="T2" fmla="*/ 2147483646 w 3259"/>
              <a:gd name="T3" fmla="*/ 2147483646 h 3469"/>
              <a:gd name="T4" fmla="*/ 2147483646 w 3259"/>
              <a:gd name="T5" fmla="*/ 2147483646 h 3469"/>
              <a:gd name="T6" fmla="*/ 2147483646 w 3259"/>
              <a:gd name="T7" fmla="*/ 2147483646 h 3469"/>
              <a:gd name="T8" fmla="*/ 2147483646 w 3259"/>
              <a:gd name="T9" fmla="*/ 2147483646 h 3469"/>
              <a:gd name="T10" fmla="*/ 2147483646 w 3259"/>
              <a:gd name="T11" fmla="*/ 2147483646 h 3469"/>
              <a:gd name="T12" fmla="*/ 2147483646 w 3259"/>
              <a:gd name="T13" fmla="*/ 2147483646 h 3469"/>
              <a:gd name="T14" fmla="*/ 2147483646 w 3259"/>
              <a:gd name="T15" fmla="*/ 2147483646 h 3469"/>
              <a:gd name="T16" fmla="*/ 2147483646 w 3259"/>
              <a:gd name="T17" fmla="*/ 2147483646 h 3469"/>
              <a:gd name="T18" fmla="*/ 2147483646 w 3259"/>
              <a:gd name="T19" fmla="*/ 2147483646 h 3469"/>
              <a:gd name="T20" fmla="*/ 2147483646 w 3259"/>
              <a:gd name="T21" fmla="*/ 2147483646 h 3469"/>
              <a:gd name="T22" fmla="*/ 2147483646 w 3259"/>
              <a:gd name="T23" fmla="*/ 2147483646 h 3469"/>
              <a:gd name="T24" fmla="*/ 2147483646 w 3259"/>
              <a:gd name="T25" fmla="*/ 2147483646 h 3469"/>
              <a:gd name="T26" fmla="*/ 0 w 3259"/>
              <a:gd name="T27" fmla="*/ 2147483646 h 3469"/>
              <a:gd name="T28" fmla="*/ 2147483646 w 3259"/>
              <a:gd name="T29" fmla="*/ 2147483646 h 3469"/>
              <a:gd name="T30" fmla="*/ 2147483646 w 3259"/>
              <a:gd name="T31" fmla="*/ 2147483646 h 3469"/>
              <a:gd name="T32" fmla="*/ 2147483646 w 3259"/>
              <a:gd name="T33" fmla="*/ 2147483646 h 3469"/>
              <a:gd name="T34" fmla="*/ 2147483646 w 3259"/>
              <a:gd name="T35" fmla="*/ 2147483646 h 3469"/>
              <a:gd name="T36" fmla="*/ 2147483646 w 3259"/>
              <a:gd name="T37" fmla="*/ 2147483646 h 3469"/>
              <a:gd name="T38" fmla="*/ 2147483646 w 3259"/>
              <a:gd name="T39" fmla="*/ 2147483646 h 3469"/>
              <a:gd name="T40" fmla="*/ 2147483646 w 3259"/>
              <a:gd name="T41" fmla="*/ 2147483646 h 3469"/>
              <a:gd name="T42" fmla="*/ 2147483646 w 3259"/>
              <a:gd name="T43" fmla="*/ 2147483646 h 3469"/>
              <a:gd name="T44" fmla="*/ 2147483646 w 3259"/>
              <a:gd name="T45" fmla="*/ 2147483646 h 3469"/>
              <a:gd name="T46" fmla="*/ 2147483646 w 3259"/>
              <a:gd name="T47" fmla="*/ 2147483646 h 3469"/>
              <a:gd name="T48" fmla="*/ 2147483646 w 3259"/>
              <a:gd name="T49" fmla="*/ 2147483646 h 3469"/>
              <a:gd name="T50" fmla="*/ 2147483646 w 3259"/>
              <a:gd name="T51" fmla="*/ 2147483646 h 3469"/>
              <a:gd name="T52" fmla="*/ 2147483646 w 3259"/>
              <a:gd name="T53" fmla="*/ 2147483646 h 3469"/>
              <a:gd name="T54" fmla="*/ 2147483646 w 3259"/>
              <a:gd name="T55" fmla="*/ 0 h 3469"/>
              <a:gd name="T56" fmla="*/ 2147483646 w 3259"/>
              <a:gd name="T57" fmla="*/ 0 h 3469"/>
              <a:gd name="T58" fmla="*/ 2147483646 w 3259"/>
              <a:gd name="T59" fmla="*/ 2147483646 h 3469"/>
              <a:gd name="T60" fmla="*/ 2147483646 w 3259"/>
              <a:gd name="T61" fmla="*/ 2147483646 h 3469"/>
              <a:gd name="T62" fmla="*/ 2147483646 w 3259"/>
              <a:gd name="T63" fmla="*/ 2147483646 h 3469"/>
              <a:gd name="T64" fmla="*/ 2147483646 w 3259"/>
              <a:gd name="T65" fmla="*/ 2147483646 h 3469"/>
              <a:gd name="T66" fmla="*/ 2147483646 w 3259"/>
              <a:gd name="T67" fmla="*/ 2147483646 h 3469"/>
              <a:gd name="T68" fmla="*/ 2147483646 w 3259"/>
              <a:gd name="T69" fmla="*/ 2147483646 h 3469"/>
              <a:gd name="T70" fmla="*/ 2147483646 w 3259"/>
              <a:gd name="T71" fmla="*/ 2147483646 h 3469"/>
              <a:gd name="T72" fmla="*/ 2147483646 w 3259"/>
              <a:gd name="T73" fmla="*/ 2147483646 h 3469"/>
              <a:gd name="T74" fmla="*/ 2147483646 w 3259"/>
              <a:gd name="T75" fmla="*/ 2147483646 h 3469"/>
              <a:gd name="T76" fmla="*/ 2147483646 w 3259"/>
              <a:gd name="T77" fmla="*/ 2147483646 h 3469"/>
              <a:gd name="T78" fmla="*/ 2147483646 w 3259"/>
              <a:gd name="T79" fmla="*/ 2147483646 h 3469"/>
              <a:gd name="T80" fmla="*/ 2147483646 w 3259"/>
              <a:gd name="T81" fmla="*/ 2147483646 h 3469"/>
              <a:gd name="T82" fmla="*/ 2147483646 w 3259"/>
              <a:gd name="T83" fmla="*/ 2147483646 h 3469"/>
              <a:gd name="T84" fmla="*/ 2147483646 w 3259"/>
              <a:gd name="T85" fmla="*/ 2147483646 h 3469"/>
              <a:gd name="T86" fmla="*/ 2147483646 w 3259"/>
              <a:gd name="T87" fmla="*/ 2147483646 h 3469"/>
              <a:gd name="T88" fmla="*/ 2147483646 w 3259"/>
              <a:gd name="T89" fmla="*/ 2147483646 h 3469"/>
              <a:gd name="T90" fmla="*/ 2147483646 w 3259"/>
              <a:gd name="T91" fmla="*/ 2147483646 h 3469"/>
              <a:gd name="T92" fmla="*/ 2147483646 w 3259"/>
              <a:gd name="T93" fmla="*/ 2147483646 h 3469"/>
              <a:gd name="T94" fmla="*/ 2147483646 w 3259"/>
              <a:gd name="T95" fmla="*/ 2147483646 h 3469"/>
              <a:gd name="T96" fmla="*/ 2147483646 w 3259"/>
              <a:gd name="T97" fmla="*/ 2147483646 h 3469"/>
              <a:gd name="T98" fmla="*/ 2147483646 w 3259"/>
              <a:gd name="T99" fmla="*/ 2147483646 h 3469"/>
              <a:gd name="T100" fmla="*/ 2147483646 w 3259"/>
              <a:gd name="T101" fmla="*/ 2147483646 h 3469"/>
              <a:gd name="T102" fmla="*/ 2147483646 w 3259"/>
              <a:gd name="T103" fmla="*/ 2147483646 h 3469"/>
              <a:gd name="T104" fmla="*/ 2147483646 w 3259"/>
              <a:gd name="T105" fmla="*/ 2147483646 h 3469"/>
              <a:gd name="T106" fmla="*/ 2147483646 w 3259"/>
              <a:gd name="T107" fmla="*/ 2147483646 h 3469"/>
              <a:gd name="T108" fmla="*/ 2147483646 w 3259"/>
              <a:gd name="T109" fmla="*/ 2147483646 h 3469"/>
              <a:gd name="T110" fmla="*/ 2147483646 w 3259"/>
              <a:gd name="T111" fmla="*/ 2147483646 h 346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259"/>
              <a:gd name="T169" fmla="*/ 0 h 3469"/>
              <a:gd name="T170" fmla="*/ 3259 w 3259"/>
              <a:gd name="T171" fmla="*/ 3469 h 346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259" h="3469">
                <a:moveTo>
                  <a:pt x="1629" y="3469"/>
                </a:moveTo>
                <a:lnTo>
                  <a:pt x="1588" y="3468"/>
                </a:lnTo>
                <a:lnTo>
                  <a:pt x="1545" y="3466"/>
                </a:lnTo>
                <a:lnTo>
                  <a:pt x="1504" y="3463"/>
                </a:lnTo>
                <a:lnTo>
                  <a:pt x="1463" y="3459"/>
                </a:lnTo>
                <a:lnTo>
                  <a:pt x="1422" y="3454"/>
                </a:lnTo>
                <a:lnTo>
                  <a:pt x="1381" y="3449"/>
                </a:lnTo>
                <a:lnTo>
                  <a:pt x="1341" y="3441"/>
                </a:lnTo>
                <a:lnTo>
                  <a:pt x="1300" y="3432"/>
                </a:lnTo>
                <a:lnTo>
                  <a:pt x="1261" y="3424"/>
                </a:lnTo>
                <a:lnTo>
                  <a:pt x="1223" y="3413"/>
                </a:lnTo>
                <a:lnTo>
                  <a:pt x="1183" y="3403"/>
                </a:lnTo>
                <a:lnTo>
                  <a:pt x="1145" y="3390"/>
                </a:lnTo>
                <a:lnTo>
                  <a:pt x="1069" y="3364"/>
                </a:lnTo>
                <a:lnTo>
                  <a:pt x="995" y="3331"/>
                </a:lnTo>
                <a:lnTo>
                  <a:pt x="923" y="3298"/>
                </a:lnTo>
                <a:lnTo>
                  <a:pt x="853" y="3258"/>
                </a:lnTo>
                <a:lnTo>
                  <a:pt x="784" y="3217"/>
                </a:lnTo>
                <a:lnTo>
                  <a:pt x="718" y="3172"/>
                </a:lnTo>
                <a:lnTo>
                  <a:pt x="654" y="3124"/>
                </a:lnTo>
                <a:lnTo>
                  <a:pt x="592" y="3073"/>
                </a:lnTo>
                <a:lnTo>
                  <a:pt x="534" y="3018"/>
                </a:lnTo>
                <a:lnTo>
                  <a:pt x="478" y="2960"/>
                </a:lnTo>
                <a:lnTo>
                  <a:pt x="424" y="2900"/>
                </a:lnTo>
                <a:lnTo>
                  <a:pt x="372" y="2837"/>
                </a:lnTo>
                <a:lnTo>
                  <a:pt x="324" y="2771"/>
                </a:lnTo>
                <a:lnTo>
                  <a:pt x="278" y="2704"/>
                </a:lnTo>
                <a:lnTo>
                  <a:pt x="236" y="2634"/>
                </a:lnTo>
                <a:lnTo>
                  <a:pt x="196" y="2560"/>
                </a:lnTo>
                <a:lnTo>
                  <a:pt x="161" y="2486"/>
                </a:lnTo>
                <a:lnTo>
                  <a:pt x="127" y="2410"/>
                </a:lnTo>
                <a:lnTo>
                  <a:pt x="98" y="2331"/>
                </a:lnTo>
                <a:lnTo>
                  <a:pt x="73" y="2250"/>
                </a:lnTo>
                <a:lnTo>
                  <a:pt x="51" y="2167"/>
                </a:lnTo>
                <a:lnTo>
                  <a:pt x="34" y="2083"/>
                </a:lnTo>
                <a:lnTo>
                  <a:pt x="25" y="2041"/>
                </a:lnTo>
                <a:lnTo>
                  <a:pt x="19" y="1999"/>
                </a:lnTo>
                <a:lnTo>
                  <a:pt x="13" y="1955"/>
                </a:lnTo>
                <a:lnTo>
                  <a:pt x="9" y="1911"/>
                </a:lnTo>
                <a:lnTo>
                  <a:pt x="4" y="1867"/>
                </a:lnTo>
                <a:lnTo>
                  <a:pt x="1" y="1823"/>
                </a:lnTo>
                <a:lnTo>
                  <a:pt x="0" y="1779"/>
                </a:lnTo>
                <a:lnTo>
                  <a:pt x="0" y="1734"/>
                </a:lnTo>
                <a:lnTo>
                  <a:pt x="0" y="1690"/>
                </a:lnTo>
                <a:lnTo>
                  <a:pt x="1" y="1644"/>
                </a:lnTo>
                <a:lnTo>
                  <a:pt x="4" y="1601"/>
                </a:lnTo>
                <a:lnTo>
                  <a:pt x="9" y="1557"/>
                </a:lnTo>
                <a:lnTo>
                  <a:pt x="13" y="1513"/>
                </a:lnTo>
                <a:lnTo>
                  <a:pt x="19" y="1470"/>
                </a:lnTo>
                <a:lnTo>
                  <a:pt x="25" y="1426"/>
                </a:lnTo>
                <a:lnTo>
                  <a:pt x="34" y="1384"/>
                </a:lnTo>
                <a:lnTo>
                  <a:pt x="51" y="1301"/>
                </a:lnTo>
                <a:lnTo>
                  <a:pt x="73" y="1219"/>
                </a:lnTo>
                <a:lnTo>
                  <a:pt x="98" y="1138"/>
                </a:lnTo>
                <a:lnTo>
                  <a:pt x="127" y="1059"/>
                </a:lnTo>
                <a:lnTo>
                  <a:pt x="161" y="982"/>
                </a:lnTo>
                <a:lnTo>
                  <a:pt x="196" y="907"/>
                </a:lnTo>
                <a:lnTo>
                  <a:pt x="236" y="835"/>
                </a:lnTo>
                <a:lnTo>
                  <a:pt x="278" y="764"/>
                </a:lnTo>
                <a:lnTo>
                  <a:pt x="324" y="696"/>
                </a:lnTo>
                <a:lnTo>
                  <a:pt x="372" y="630"/>
                </a:lnTo>
                <a:lnTo>
                  <a:pt x="424" y="568"/>
                </a:lnTo>
                <a:lnTo>
                  <a:pt x="476" y="508"/>
                </a:lnTo>
                <a:lnTo>
                  <a:pt x="534" y="450"/>
                </a:lnTo>
                <a:lnTo>
                  <a:pt x="592" y="395"/>
                </a:lnTo>
                <a:lnTo>
                  <a:pt x="654" y="344"/>
                </a:lnTo>
                <a:lnTo>
                  <a:pt x="718" y="295"/>
                </a:lnTo>
                <a:lnTo>
                  <a:pt x="784" y="250"/>
                </a:lnTo>
                <a:lnTo>
                  <a:pt x="853" y="209"/>
                </a:lnTo>
                <a:lnTo>
                  <a:pt x="922" y="171"/>
                </a:lnTo>
                <a:lnTo>
                  <a:pt x="995" y="136"/>
                </a:lnTo>
                <a:lnTo>
                  <a:pt x="1069" y="105"/>
                </a:lnTo>
                <a:lnTo>
                  <a:pt x="1145" y="77"/>
                </a:lnTo>
                <a:lnTo>
                  <a:pt x="1183" y="66"/>
                </a:lnTo>
                <a:lnTo>
                  <a:pt x="1223" y="54"/>
                </a:lnTo>
                <a:lnTo>
                  <a:pt x="1261" y="44"/>
                </a:lnTo>
                <a:lnTo>
                  <a:pt x="1300" y="35"/>
                </a:lnTo>
                <a:lnTo>
                  <a:pt x="1341" y="26"/>
                </a:lnTo>
                <a:lnTo>
                  <a:pt x="1381" y="19"/>
                </a:lnTo>
                <a:lnTo>
                  <a:pt x="1422" y="13"/>
                </a:lnTo>
                <a:lnTo>
                  <a:pt x="1463" y="9"/>
                </a:lnTo>
                <a:lnTo>
                  <a:pt x="1504" y="4"/>
                </a:lnTo>
                <a:lnTo>
                  <a:pt x="1545" y="1"/>
                </a:lnTo>
                <a:lnTo>
                  <a:pt x="1588" y="0"/>
                </a:lnTo>
                <a:lnTo>
                  <a:pt x="1629" y="0"/>
                </a:lnTo>
                <a:lnTo>
                  <a:pt x="1671" y="0"/>
                </a:lnTo>
                <a:lnTo>
                  <a:pt x="1712" y="1"/>
                </a:lnTo>
                <a:lnTo>
                  <a:pt x="1755" y="4"/>
                </a:lnTo>
                <a:lnTo>
                  <a:pt x="1796" y="9"/>
                </a:lnTo>
                <a:lnTo>
                  <a:pt x="1837" y="13"/>
                </a:lnTo>
                <a:lnTo>
                  <a:pt x="1878" y="19"/>
                </a:lnTo>
                <a:lnTo>
                  <a:pt x="1917" y="26"/>
                </a:lnTo>
                <a:lnTo>
                  <a:pt x="1957" y="35"/>
                </a:lnTo>
                <a:lnTo>
                  <a:pt x="1997" y="44"/>
                </a:lnTo>
                <a:lnTo>
                  <a:pt x="2036" y="54"/>
                </a:lnTo>
                <a:lnTo>
                  <a:pt x="2074" y="66"/>
                </a:lnTo>
                <a:lnTo>
                  <a:pt x="2114" y="77"/>
                </a:lnTo>
                <a:lnTo>
                  <a:pt x="2189" y="105"/>
                </a:lnTo>
                <a:lnTo>
                  <a:pt x="2263" y="136"/>
                </a:lnTo>
                <a:lnTo>
                  <a:pt x="2335" y="171"/>
                </a:lnTo>
                <a:lnTo>
                  <a:pt x="2406" y="209"/>
                </a:lnTo>
                <a:lnTo>
                  <a:pt x="2475" y="250"/>
                </a:lnTo>
                <a:lnTo>
                  <a:pt x="2541" y="295"/>
                </a:lnTo>
                <a:lnTo>
                  <a:pt x="2604" y="344"/>
                </a:lnTo>
                <a:lnTo>
                  <a:pt x="2665" y="395"/>
                </a:lnTo>
                <a:lnTo>
                  <a:pt x="2724" y="450"/>
                </a:lnTo>
                <a:lnTo>
                  <a:pt x="2781" y="508"/>
                </a:lnTo>
                <a:lnTo>
                  <a:pt x="2835" y="568"/>
                </a:lnTo>
                <a:lnTo>
                  <a:pt x="2887" y="630"/>
                </a:lnTo>
                <a:lnTo>
                  <a:pt x="2935" y="696"/>
                </a:lnTo>
                <a:lnTo>
                  <a:pt x="2980" y="764"/>
                </a:lnTo>
                <a:lnTo>
                  <a:pt x="3023" y="835"/>
                </a:lnTo>
                <a:lnTo>
                  <a:pt x="3061" y="907"/>
                </a:lnTo>
                <a:lnTo>
                  <a:pt x="3098" y="982"/>
                </a:lnTo>
                <a:lnTo>
                  <a:pt x="3130" y="1059"/>
                </a:lnTo>
                <a:lnTo>
                  <a:pt x="3159" y="1138"/>
                </a:lnTo>
                <a:lnTo>
                  <a:pt x="3186" y="1219"/>
                </a:lnTo>
                <a:lnTo>
                  <a:pt x="3208" y="1301"/>
                </a:lnTo>
                <a:lnTo>
                  <a:pt x="3225" y="1384"/>
                </a:lnTo>
                <a:lnTo>
                  <a:pt x="3233" y="1426"/>
                </a:lnTo>
                <a:lnTo>
                  <a:pt x="3240" y="1470"/>
                </a:lnTo>
                <a:lnTo>
                  <a:pt x="3246" y="1513"/>
                </a:lnTo>
                <a:lnTo>
                  <a:pt x="3250" y="1557"/>
                </a:lnTo>
                <a:lnTo>
                  <a:pt x="3253" y="1601"/>
                </a:lnTo>
                <a:lnTo>
                  <a:pt x="3256" y="1644"/>
                </a:lnTo>
                <a:lnTo>
                  <a:pt x="3257" y="1690"/>
                </a:lnTo>
                <a:lnTo>
                  <a:pt x="3259" y="1734"/>
                </a:lnTo>
                <a:lnTo>
                  <a:pt x="3257" y="1779"/>
                </a:lnTo>
                <a:lnTo>
                  <a:pt x="3256" y="1823"/>
                </a:lnTo>
                <a:lnTo>
                  <a:pt x="3253" y="1867"/>
                </a:lnTo>
                <a:lnTo>
                  <a:pt x="3250" y="1911"/>
                </a:lnTo>
                <a:lnTo>
                  <a:pt x="3246" y="1955"/>
                </a:lnTo>
                <a:lnTo>
                  <a:pt x="3240" y="1999"/>
                </a:lnTo>
                <a:lnTo>
                  <a:pt x="3233" y="2041"/>
                </a:lnTo>
                <a:lnTo>
                  <a:pt x="3225" y="2083"/>
                </a:lnTo>
                <a:lnTo>
                  <a:pt x="3208" y="2167"/>
                </a:lnTo>
                <a:lnTo>
                  <a:pt x="3186" y="2250"/>
                </a:lnTo>
                <a:lnTo>
                  <a:pt x="3159" y="2331"/>
                </a:lnTo>
                <a:lnTo>
                  <a:pt x="3130" y="2410"/>
                </a:lnTo>
                <a:lnTo>
                  <a:pt x="3098" y="2486"/>
                </a:lnTo>
                <a:lnTo>
                  <a:pt x="3061" y="2560"/>
                </a:lnTo>
                <a:lnTo>
                  <a:pt x="3023" y="2634"/>
                </a:lnTo>
                <a:lnTo>
                  <a:pt x="2980" y="2704"/>
                </a:lnTo>
                <a:lnTo>
                  <a:pt x="2935" y="2771"/>
                </a:lnTo>
                <a:lnTo>
                  <a:pt x="2887" y="2837"/>
                </a:lnTo>
                <a:lnTo>
                  <a:pt x="2835" y="2900"/>
                </a:lnTo>
                <a:lnTo>
                  <a:pt x="2781" y="2960"/>
                </a:lnTo>
                <a:lnTo>
                  <a:pt x="2724" y="3018"/>
                </a:lnTo>
                <a:lnTo>
                  <a:pt x="2665" y="3073"/>
                </a:lnTo>
                <a:lnTo>
                  <a:pt x="2604" y="3124"/>
                </a:lnTo>
                <a:lnTo>
                  <a:pt x="2541" y="3172"/>
                </a:lnTo>
                <a:lnTo>
                  <a:pt x="2475" y="3217"/>
                </a:lnTo>
                <a:lnTo>
                  <a:pt x="2406" y="3258"/>
                </a:lnTo>
                <a:lnTo>
                  <a:pt x="2335" y="3298"/>
                </a:lnTo>
                <a:lnTo>
                  <a:pt x="2263" y="3331"/>
                </a:lnTo>
                <a:lnTo>
                  <a:pt x="2189" y="3364"/>
                </a:lnTo>
                <a:lnTo>
                  <a:pt x="2114" y="3390"/>
                </a:lnTo>
                <a:lnTo>
                  <a:pt x="2074" y="3403"/>
                </a:lnTo>
                <a:lnTo>
                  <a:pt x="2036" y="3413"/>
                </a:lnTo>
                <a:lnTo>
                  <a:pt x="1997" y="3424"/>
                </a:lnTo>
                <a:lnTo>
                  <a:pt x="1957" y="3432"/>
                </a:lnTo>
                <a:lnTo>
                  <a:pt x="1917" y="3441"/>
                </a:lnTo>
                <a:lnTo>
                  <a:pt x="1878" y="3449"/>
                </a:lnTo>
                <a:lnTo>
                  <a:pt x="1837" y="3454"/>
                </a:lnTo>
                <a:lnTo>
                  <a:pt x="1796" y="3459"/>
                </a:lnTo>
                <a:lnTo>
                  <a:pt x="1755" y="3463"/>
                </a:lnTo>
                <a:lnTo>
                  <a:pt x="1712" y="3466"/>
                </a:lnTo>
                <a:lnTo>
                  <a:pt x="1671" y="3468"/>
                </a:lnTo>
                <a:lnTo>
                  <a:pt x="1629" y="3469"/>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107" name="Freeform 10">
            <a:extLst>
              <a:ext uri="{FF2B5EF4-FFF2-40B4-BE49-F238E27FC236}">
                <a16:creationId xmlns:a16="http://schemas.microsoft.com/office/drawing/2014/main" id="{D027918C-F294-487A-A89E-05FD1B9917BC}"/>
              </a:ext>
            </a:extLst>
          </p:cNvPr>
          <p:cNvSpPr>
            <a:spLocks/>
          </p:cNvSpPr>
          <p:nvPr/>
        </p:nvSpPr>
        <p:spPr bwMode="auto">
          <a:xfrm>
            <a:off x="3492501" y="2146300"/>
            <a:ext cx="1477963" cy="1574800"/>
          </a:xfrm>
          <a:custGeom>
            <a:avLst/>
            <a:gdLst>
              <a:gd name="T0" fmla="*/ 2147483646 w 1862"/>
              <a:gd name="T1" fmla="*/ 2147483646 h 1983"/>
              <a:gd name="T2" fmla="*/ 2147483646 w 1862"/>
              <a:gd name="T3" fmla="*/ 2147483646 h 1983"/>
              <a:gd name="T4" fmla="*/ 2147483646 w 1862"/>
              <a:gd name="T5" fmla="*/ 2147483646 h 1983"/>
              <a:gd name="T6" fmla="*/ 2147483646 w 1862"/>
              <a:gd name="T7" fmla="*/ 2147483646 h 1983"/>
              <a:gd name="T8" fmla="*/ 2147483646 w 1862"/>
              <a:gd name="T9" fmla="*/ 2147483646 h 1983"/>
              <a:gd name="T10" fmla="*/ 2147483646 w 1862"/>
              <a:gd name="T11" fmla="*/ 2147483646 h 1983"/>
              <a:gd name="T12" fmla="*/ 2147483646 w 1862"/>
              <a:gd name="T13" fmla="*/ 2147483646 h 1983"/>
              <a:gd name="T14" fmla="*/ 2147483646 w 1862"/>
              <a:gd name="T15" fmla="*/ 2147483646 h 1983"/>
              <a:gd name="T16" fmla="*/ 2147483646 w 1862"/>
              <a:gd name="T17" fmla="*/ 2147483646 h 1983"/>
              <a:gd name="T18" fmla="*/ 2147483646 w 1862"/>
              <a:gd name="T19" fmla="*/ 2147483646 h 1983"/>
              <a:gd name="T20" fmla="*/ 2147483646 w 1862"/>
              <a:gd name="T21" fmla="*/ 2147483646 h 1983"/>
              <a:gd name="T22" fmla="*/ 2147483646 w 1862"/>
              <a:gd name="T23" fmla="*/ 2147483646 h 1983"/>
              <a:gd name="T24" fmla="*/ 0 w 1862"/>
              <a:gd name="T25" fmla="*/ 2147483646 h 1983"/>
              <a:gd name="T26" fmla="*/ 2147483646 w 1862"/>
              <a:gd name="T27" fmla="*/ 2147483646 h 1983"/>
              <a:gd name="T28" fmla="*/ 2147483646 w 1862"/>
              <a:gd name="T29" fmla="*/ 2147483646 h 1983"/>
              <a:gd name="T30" fmla="*/ 2147483646 w 1862"/>
              <a:gd name="T31" fmla="*/ 2147483646 h 1983"/>
              <a:gd name="T32" fmla="*/ 2147483646 w 1862"/>
              <a:gd name="T33" fmla="*/ 2147483646 h 1983"/>
              <a:gd name="T34" fmla="*/ 2147483646 w 1862"/>
              <a:gd name="T35" fmla="*/ 2147483646 h 1983"/>
              <a:gd name="T36" fmla="*/ 2147483646 w 1862"/>
              <a:gd name="T37" fmla="*/ 2147483646 h 1983"/>
              <a:gd name="T38" fmla="*/ 2147483646 w 1862"/>
              <a:gd name="T39" fmla="*/ 2147483646 h 1983"/>
              <a:gd name="T40" fmla="*/ 2147483646 w 1862"/>
              <a:gd name="T41" fmla="*/ 2147483646 h 1983"/>
              <a:gd name="T42" fmla="*/ 2147483646 w 1862"/>
              <a:gd name="T43" fmla="*/ 2147483646 h 1983"/>
              <a:gd name="T44" fmla="*/ 2147483646 w 1862"/>
              <a:gd name="T45" fmla="*/ 2147483646 h 1983"/>
              <a:gd name="T46" fmla="*/ 2147483646 w 1862"/>
              <a:gd name="T47" fmla="*/ 2147483646 h 1983"/>
              <a:gd name="T48" fmla="*/ 2147483646 w 1862"/>
              <a:gd name="T49" fmla="*/ 2147483646 h 1983"/>
              <a:gd name="T50" fmla="*/ 2147483646 w 1862"/>
              <a:gd name="T51" fmla="*/ 0 h 1983"/>
              <a:gd name="T52" fmla="*/ 2147483646 w 1862"/>
              <a:gd name="T53" fmla="*/ 2147483646 h 1983"/>
              <a:gd name="T54" fmla="*/ 2147483646 w 1862"/>
              <a:gd name="T55" fmla="*/ 2147483646 h 1983"/>
              <a:gd name="T56" fmla="*/ 2147483646 w 1862"/>
              <a:gd name="T57" fmla="*/ 2147483646 h 1983"/>
              <a:gd name="T58" fmla="*/ 2147483646 w 1862"/>
              <a:gd name="T59" fmla="*/ 2147483646 h 1983"/>
              <a:gd name="T60" fmla="*/ 2147483646 w 1862"/>
              <a:gd name="T61" fmla="*/ 2147483646 h 1983"/>
              <a:gd name="T62" fmla="*/ 2147483646 w 1862"/>
              <a:gd name="T63" fmla="*/ 2147483646 h 1983"/>
              <a:gd name="T64" fmla="*/ 2147483646 w 1862"/>
              <a:gd name="T65" fmla="*/ 2147483646 h 1983"/>
              <a:gd name="T66" fmla="*/ 2147483646 w 1862"/>
              <a:gd name="T67" fmla="*/ 2147483646 h 1983"/>
              <a:gd name="T68" fmla="*/ 2147483646 w 1862"/>
              <a:gd name="T69" fmla="*/ 2147483646 h 1983"/>
              <a:gd name="T70" fmla="*/ 2147483646 w 1862"/>
              <a:gd name="T71" fmla="*/ 2147483646 h 1983"/>
              <a:gd name="T72" fmla="*/ 2147483646 w 1862"/>
              <a:gd name="T73" fmla="*/ 2147483646 h 1983"/>
              <a:gd name="T74" fmla="*/ 2147483646 w 1862"/>
              <a:gd name="T75" fmla="*/ 2147483646 h 1983"/>
              <a:gd name="T76" fmla="*/ 2147483646 w 1862"/>
              <a:gd name="T77" fmla="*/ 2147483646 h 1983"/>
              <a:gd name="T78" fmla="*/ 2147483646 w 1862"/>
              <a:gd name="T79" fmla="*/ 2147483646 h 1983"/>
              <a:gd name="T80" fmla="*/ 2147483646 w 1862"/>
              <a:gd name="T81" fmla="*/ 2147483646 h 1983"/>
              <a:gd name="T82" fmla="*/ 2147483646 w 1862"/>
              <a:gd name="T83" fmla="*/ 2147483646 h 1983"/>
              <a:gd name="T84" fmla="*/ 2147483646 w 1862"/>
              <a:gd name="T85" fmla="*/ 2147483646 h 1983"/>
              <a:gd name="T86" fmla="*/ 2147483646 w 1862"/>
              <a:gd name="T87" fmla="*/ 2147483646 h 1983"/>
              <a:gd name="T88" fmla="*/ 2147483646 w 1862"/>
              <a:gd name="T89" fmla="*/ 2147483646 h 1983"/>
              <a:gd name="T90" fmla="*/ 2147483646 w 1862"/>
              <a:gd name="T91" fmla="*/ 2147483646 h 1983"/>
              <a:gd name="T92" fmla="*/ 2147483646 w 1862"/>
              <a:gd name="T93" fmla="*/ 2147483646 h 1983"/>
              <a:gd name="T94" fmla="*/ 2147483646 w 1862"/>
              <a:gd name="T95" fmla="*/ 2147483646 h 1983"/>
              <a:gd name="T96" fmla="*/ 2147483646 w 1862"/>
              <a:gd name="T97" fmla="*/ 2147483646 h 1983"/>
              <a:gd name="T98" fmla="*/ 2147483646 w 1862"/>
              <a:gd name="T99" fmla="*/ 2147483646 h 1983"/>
              <a:gd name="T100" fmla="*/ 2147483646 w 1862"/>
              <a:gd name="T101" fmla="*/ 2147483646 h 198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62"/>
              <a:gd name="T154" fmla="*/ 0 h 1983"/>
              <a:gd name="T155" fmla="*/ 1862 w 1862"/>
              <a:gd name="T156" fmla="*/ 1983 h 198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62" h="1983">
                <a:moveTo>
                  <a:pt x="932" y="1983"/>
                </a:moveTo>
                <a:lnTo>
                  <a:pt x="907" y="1983"/>
                </a:lnTo>
                <a:lnTo>
                  <a:pt x="884" y="1981"/>
                </a:lnTo>
                <a:lnTo>
                  <a:pt x="860" y="1980"/>
                </a:lnTo>
                <a:lnTo>
                  <a:pt x="837" y="1978"/>
                </a:lnTo>
                <a:lnTo>
                  <a:pt x="813" y="1975"/>
                </a:lnTo>
                <a:lnTo>
                  <a:pt x="790" y="1971"/>
                </a:lnTo>
                <a:lnTo>
                  <a:pt x="766" y="1968"/>
                </a:lnTo>
                <a:lnTo>
                  <a:pt x="744" y="1962"/>
                </a:lnTo>
                <a:lnTo>
                  <a:pt x="721" y="1958"/>
                </a:lnTo>
                <a:lnTo>
                  <a:pt x="699" y="1952"/>
                </a:lnTo>
                <a:lnTo>
                  <a:pt x="677" y="1944"/>
                </a:lnTo>
                <a:lnTo>
                  <a:pt x="655" y="1939"/>
                </a:lnTo>
                <a:lnTo>
                  <a:pt x="633" y="1931"/>
                </a:lnTo>
                <a:lnTo>
                  <a:pt x="611" y="1923"/>
                </a:lnTo>
                <a:lnTo>
                  <a:pt x="590" y="1914"/>
                </a:lnTo>
                <a:lnTo>
                  <a:pt x="568" y="1905"/>
                </a:lnTo>
                <a:lnTo>
                  <a:pt x="548" y="1895"/>
                </a:lnTo>
                <a:lnTo>
                  <a:pt x="527" y="1884"/>
                </a:lnTo>
                <a:lnTo>
                  <a:pt x="507" y="1874"/>
                </a:lnTo>
                <a:lnTo>
                  <a:pt x="488" y="1863"/>
                </a:lnTo>
                <a:lnTo>
                  <a:pt x="467" y="1851"/>
                </a:lnTo>
                <a:lnTo>
                  <a:pt x="448" y="1839"/>
                </a:lnTo>
                <a:lnTo>
                  <a:pt x="429" y="1826"/>
                </a:lnTo>
                <a:lnTo>
                  <a:pt x="412" y="1813"/>
                </a:lnTo>
                <a:lnTo>
                  <a:pt x="393" y="1800"/>
                </a:lnTo>
                <a:lnTo>
                  <a:pt x="375" y="1786"/>
                </a:lnTo>
                <a:lnTo>
                  <a:pt x="357" y="1772"/>
                </a:lnTo>
                <a:lnTo>
                  <a:pt x="340" y="1756"/>
                </a:lnTo>
                <a:lnTo>
                  <a:pt x="322" y="1741"/>
                </a:lnTo>
                <a:lnTo>
                  <a:pt x="306" y="1725"/>
                </a:lnTo>
                <a:lnTo>
                  <a:pt x="288" y="1709"/>
                </a:lnTo>
                <a:lnTo>
                  <a:pt x="274" y="1693"/>
                </a:lnTo>
                <a:lnTo>
                  <a:pt x="258" y="1675"/>
                </a:lnTo>
                <a:lnTo>
                  <a:pt x="242" y="1658"/>
                </a:lnTo>
                <a:lnTo>
                  <a:pt x="227" y="1640"/>
                </a:lnTo>
                <a:lnTo>
                  <a:pt x="214" y="1623"/>
                </a:lnTo>
                <a:lnTo>
                  <a:pt x="199" y="1604"/>
                </a:lnTo>
                <a:lnTo>
                  <a:pt x="186" y="1585"/>
                </a:lnTo>
                <a:lnTo>
                  <a:pt x="173" y="1566"/>
                </a:lnTo>
                <a:lnTo>
                  <a:pt x="159" y="1545"/>
                </a:lnTo>
                <a:lnTo>
                  <a:pt x="148" y="1526"/>
                </a:lnTo>
                <a:lnTo>
                  <a:pt x="134" y="1506"/>
                </a:lnTo>
                <a:lnTo>
                  <a:pt x="124" y="1485"/>
                </a:lnTo>
                <a:lnTo>
                  <a:pt x="112" y="1465"/>
                </a:lnTo>
                <a:lnTo>
                  <a:pt x="102" y="1443"/>
                </a:lnTo>
                <a:lnTo>
                  <a:pt x="92" y="1421"/>
                </a:lnTo>
                <a:lnTo>
                  <a:pt x="83" y="1399"/>
                </a:lnTo>
                <a:lnTo>
                  <a:pt x="73" y="1377"/>
                </a:lnTo>
                <a:lnTo>
                  <a:pt x="66" y="1355"/>
                </a:lnTo>
                <a:lnTo>
                  <a:pt x="57" y="1333"/>
                </a:lnTo>
                <a:lnTo>
                  <a:pt x="49" y="1309"/>
                </a:lnTo>
                <a:lnTo>
                  <a:pt x="42" y="1286"/>
                </a:lnTo>
                <a:lnTo>
                  <a:pt x="36" y="1263"/>
                </a:lnTo>
                <a:lnTo>
                  <a:pt x="29" y="1239"/>
                </a:lnTo>
                <a:lnTo>
                  <a:pt x="25" y="1216"/>
                </a:lnTo>
                <a:lnTo>
                  <a:pt x="19" y="1191"/>
                </a:lnTo>
                <a:lnTo>
                  <a:pt x="14" y="1168"/>
                </a:lnTo>
                <a:lnTo>
                  <a:pt x="11" y="1143"/>
                </a:lnTo>
                <a:lnTo>
                  <a:pt x="8" y="1118"/>
                </a:lnTo>
                <a:lnTo>
                  <a:pt x="5" y="1093"/>
                </a:lnTo>
                <a:lnTo>
                  <a:pt x="3" y="1068"/>
                </a:lnTo>
                <a:lnTo>
                  <a:pt x="1" y="1042"/>
                </a:lnTo>
                <a:lnTo>
                  <a:pt x="1" y="1017"/>
                </a:lnTo>
                <a:lnTo>
                  <a:pt x="0" y="992"/>
                </a:lnTo>
                <a:lnTo>
                  <a:pt x="1" y="966"/>
                </a:lnTo>
                <a:lnTo>
                  <a:pt x="1" y="941"/>
                </a:lnTo>
                <a:lnTo>
                  <a:pt x="3" y="916"/>
                </a:lnTo>
                <a:lnTo>
                  <a:pt x="5" y="891"/>
                </a:lnTo>
                <a:lnTo>
                  <a:pt x="8" y="865"/>
                </a:lnTo>
                <a:lnTo>
                  <a:pt x="11" y="841"/>
                </a:lnTo>
                <a:lnTo>
                  <a:pt x="14" y="816"/>
                </a:lnTo>
                <a:lnTo>
                  <a:pt x="19" y="791"/>
                </a:lnTo>
                <a:lnTo>
                  <a:pt x="25" y="768"/>
                </a:lnTo>
                <a:lnTo>
                  <a:pt x="30" y="743"/>
                </a:lnTo>
                <a:lnTo>
                  <a:pt x="36" y="720"/>
                </a:lnTo>
                <a:lnTo>
                  <a:pt x="42" y="696"/>
                </a:lnTo>
                <a:lnTo>
                  <a:pt x="49" y="674"/>
                </a:lnTo>
                <a:lnTo>
                  <a:pt x="57" y="651"/>
                </a:lnTo>
                <a:lnTo>
                  <a:pt x="66" y="628"/>
                </a:lnTo>
                <a:lnTo>
                  <a:pt x="73" y="606"/>
                </a:lnTo>
                <a:lnTo>
                  <a:pt x="83" y="584"/>
                </a:lnTo>
                <a:lnTo>
                  <a:pt x="92" y="562"/>
                </a:lnTo>
                <a:lnTo>
                  <a:pt x="102" y="540"/>
                </a:lnTo>
                <a:lnTo>
                  <a:pt x="112" y="519"/>
                </a:lnTo>
                <a:lnTo>
                  <a:pt x="124" y="499"/>
                </a:lnTo>
                <a:lnTo>
                  <a:pt x="134" y="478"/>
                </a:lnTo>
                <a:lnTo>
                  <a:pt x="148" y="458"/>
                </a:lnTo>
                <a:lnTo>
                  <a:pt x="159" y="437"/>
                </a:lnTo>
                <a:lnTo>
                  <a:pt x="173" y="418"/>
                </a:lnTo>
                <a:lnTo>
                  <a:pt x="186" y="398"/>
                </a:lnTo>
                <a:lnTo>
                  <a:pt x="199" y="380"/>
                </a:lnTo>
                <a:lnTo>
                  <a:pt x="214" y="361"/>
                </a:lnTo>
                <a:lnTo>
                  <a:pt x="227" y="342"/>
                </a:lnTo>
                <a:lnTo>
                  <a:pt x="242" y="325"/>
                </a:lnTo>
                <a:lnTo>
                  <a:pt x="258" y="307"/>
                </a:lnTo>
                <a:lnTo>
                  <a:pt x="274" y="291"/>
                </a:lnTo>
                <a:lnTo>
                  <a:pt x="288" y="274"/>
                </a:lnTo>
                <a:lnTo>
                  <a:pt x="306" y="257"/>
                </a:lnTo>
                <a:lnTo>
                  <a:pt x="322" y="243"/>
                </a:lnTo>
                <a:lnTo>
                  <a:pt x="340" y="227"/>
                </a:lnTo>
                <a:lnTo>
                  <a:pt x="356" y="212"/>
                </a:lnTo>
                <a:lnTo>
                  <a:pt x="375" y="197"/>
                </a:lnTo>
                <a:lnTo>
                  <a:pt x="393" y="183"/>
                </a:lnTo>
                <a:lnTo>
                  <a:pt x="410" y="170"/>
                </a:lnTo>
                <a:lnTo>
                  <a:pt x="429" y="156"/>
                </a:lnTo>
                <a:lnTo>
                  <a:pt x="448" y="143"/>
                </a:lnTo>
                <a:lnTo>
                  <a:pt x="467" y="132"/>
                </a:lnTo>
                <a:lnTo>
                  <a:pt x="488" y="120"/>
                </a:lnTo>
                <a:lnTo>
                  <a:pt x="507" y="108"/>
                </a:lnTo>
                <a:lnTo>
                  <a:pt x="527" y="98"/>
                </a:lnTo>
                <a:lnTo>
                  <a:pt x="548" y="88"/>
                </a:lnTo>
                <a:lnTo>
                  <a:pt x="568" y="79"/>
                </a:lnTo>
                <a:lnTo>
                  <a:pt x="590" y="69"/>
                </a:lnTo>
                <a:lnTo>
                  <a:pt x="611" y="60"/>
                </a:lnTo>
                <a:lnTo>
                  <a:pt x="633" y="53"/>
                </a:lnTo>
                <a:lnTo>
                  <a:pt x="655" y="45"/>
                </a:lnTo>
                <a:lnTo>
                  <a:pt x="677" y="38"/>
                </a:lnTo>
                <a:lnTo>
                  <a:pt x="699" y="32"/>
                </a:lnTo>
                <a:lnTo>
                  <a:pt x="721" y="26"/>
                </a:lnTo>
                <a:lnTo>
                  <a:pt x="744" y="20"/>
                </a:lnTo>
                <a:lnTo>
                  <a:pt x="766" y="16"/>
                </a:lnTo>
                <a:lnTo>
                  <a:pt x="790" y="12"/>
                </a:lnTo>
                <a:lnTo>
                  <a:pt x="813" y="9"/>
                </a:lnTo>
                <a:lnTo>
                  <a:pt x="837" y="6"/>
                </a:lnTo>
                <a:lnTo>
                  <a:pt x="860" y="3"/>
                </a:lnTo>
                <a:lnTo>
                  <a:pt x="884" y="1"/>
                </a:lnTo>
                <a:lnTo>
                  <a:pt x="907" y="0"/>
                </a:lnTo>
                <a:lnTo>
                  <a:pt x="931" y="0"/>
                </a:lnTo>
                <a:lnTo>
                  <a:pt x="932" y="0"/>
                </a:lnTo>
                <a:lnTo>
                  <a:pt x="955" y="1"/>
                </a:lnTo>
                <a:lnTo>
                  <a:pt x="979" y="1"/>
                </a:lnTo>
                <a:lnTo>
                  <a:pt x="1002" y="3"/>
                </a:lnTo>
                <a:lnTo>
                  <a:pt x="1026" y="6"/>
                </a:lnTo>
                <a:lnTo>
                  <a:pt x="1049" y="9"/>
                </a:lnTo>
                <a:lnTo>
                  <a:pt x="1073" y="12"/>
                </a:lnTo>
                <a:lnTo>
                  <a:pt x="1096" y="16"/>
                </a:lnTo>
                <a:lnTo>
                  <a:pt x="1120" y="20"/>
                </a:lnTo>
                <a:lnTo>
                  <a:pt x="1142" y="26"/>
                </a:lnTo>
                <a:lnTo>
                  <a:pt x="1164" y="32"/>
                </a:lnTo>
                <a:lnTo>
                  <a:pt x="1186" y="38"/>
                </a:lnTo>
                <a:lnTo>
                  <a:pt x="1208" y="45"/>
                </a:lnTo>
                <a:lnTo>
                  <a:pt x="1230" y="53"/>
                </a:lnTo>
                <a:lnTo>
                  <a:pt x="1252" y="60"/>
                </a:lnTo>
                <a:lnTo>
                  <a:pt x="1272" y="69"/>
                </a:lnTo>
                <a:lnTo>
                  <a:pt x="1294" y="79"/>
                </a:lnTo>
                <a:lnTo>
                  <a:pt x="1315" y="88"/>
                </a:lnTo>
                <a:lnTo>
                  <a:pt x="1335" y="98"/>
                </a:lnTo>
                <a:lnTo>
                  <a:pt x="1356" y="108"/>
                </a:lnTo>
                <a:lnTo>
                  <a:pt x="1375" y="120"/>
                </a:lnTo>
                <a:lnTo>
                  <a:pt x="1395" y="132"/>
                </a:lnTo>
                <a:lnTo>
                  <a:pt x="1414" y="143"/>
                </a:lnTo>
                <a:lnTo>
                  <a:pt x="1433" y="156"/>
                </a:lnTo>
                <a:lnTo>
                  <a:pt x="1452" y="170"/>
                </a:lnTo>
                <a:lnTo>
                  <a:pt x="1470" y="183"/>
                </a:lnTo>
                <a:lnTo>
                  <a:pt x="1488" y="197"/>
                </a:lnTo>
                <a:lnTo>
                  <a:pt x="1507" y="212"/>
                </a:lnTo>
                <a:lnTo>
                  <a:pt x="1523" y="227"/>
                </a:lnTo>
                <a:lnTo>
                  <a:pt x="1540" y="243"/>
                </a:lnTo>
                <a:lnTo>
                  <a:pt x="1557" y="257"/>
                </a:lnTo>
                <a:lnTo>
                  <a:pt x="1574" y="274"/>
                </a:lnTo>
                <a:lnTo>
                  <a:pt x="1590" y="291"/>
                </a:lnTo>
                <a:lnTo>
                  <a:pt x="1605" y="307"/>
                </a:lnTo>
                <a:lnTo>
                  <a:pt x="1621" y="325"/>
                </a:lnTo>
                <a:lnTo>
                  <a:pt x="1636" y="342"/>
                </a:lnTo>
                <a:lnTo>
                  <a:pt x="1650" y="361"/>
                </a:lnTo>
                <a:lnTo>
                  <a:pt x="1664" y="380"/>
                </a:lnTo>
                <a:lnTo>
                  <a:pt x="1677" y="398"/>
                </a:lnTo>
                <a:lnTo>
                  <a:pt x="1690" y="418"/>
                </a:lnTo>
                <a:lnTo>
                  <a:pt x="1703" y="437"/>
                </a:lnTo>
                <a:lnTo>
                  <a:pt x="1715" y="458"/>
                </a:lnTo>
                <a:lnTo>
                  <a:pt x="1728" y="477"/>
                </a:lnTo>
                <a:lnTo>
                  <a:pt x="1738" y="499"/>
                </a:lnTo>
                <a:lnTo>
                  <a:pt x="1750" y="519"/>
                </a:lnTo>
                <a:lnTo>
                  <a:pt x="1760" y="540"/>
                </a:lnTo>
                <a:lnTo>
                  <a:pt x="1771" y="562"/>
                </a:lnTo>
                <a:lnTo>
                  <a:pt x="1779" y="584"/>
                </a:lnTo>
                <a:lnTo>
                  <a:pt x="1790" y="606"/>
                </a:lnTo>
                <a:lnTo>
                  <a:pt x="1797" y="628"/>
                </a:lnTo>
                <a:lnTo>
                  <a:pt x="1806" y="651"/>
                </a:lnTo>
                <a:lnTo>
                  <a:pt x="1813" y="673"/>
                </a:lnTo>
                <a:lnTo>
                  <a:pt x="1820" y="696"/>
                </a:lnTo>
                <a:lnTo>
                  <a:pt x="1826" y="720"/>
                </a:lnTo>
                <a:lnTo>
                  <a:pt x="1834" y="743"/>
                </a:lnTo>
                <a:lnTo>
                  <a:pt x="1838" y="768"/>
                </a:lnTo>
                <a:lnTo>
                  <a:pt x="1844" y="791"/>
                </a:lnTo>
                <a:lnTo>
                  <a:pt x="1848" y="816"/>
                </a:lnTo>
                <a:lnTo>
                  <a:pt x="1851" y="841"/>
                </a:lnTo>
                <a:lnTo>
                  <a:pt x="1854" y="865"/>
                </a:lnTo>
                <a:lnTo>
                  <a:pt x="1857" y="890"/>
                </a:lnTo>
                <a:lnTo>
                  <a:pt x="1860" y="916"/>
                </a:lnTo>
                <a:lnTo>
                  <a:pt x="1862" y="941"/>
                </a:lnTo>
                <a:lnTo>
                  <a:pt x="1862" y="966"/>
                </a:lnTo>
                <a:lnTo>
                  <a:pt x="1862" y="992"/>
                </a:lnTo>
                <a:lnTo>
                  <a:pt x="1862" y="1017"/>
                </a:lnTo>
                <a:lnTo>
                  <a:pt x="1862" y="1043"/>
                </a:lnTo>
                <a:lnTo>
                  <a:pt x="1860" y="1068"/>
                </a:lnTo>
                <a:lnTo>
                  <a:pt x="1857" y="1093"/>
                </a:lnTo>
                <a:lnTo>
                  <a:pt x="1854" y="1118"/>
                </a:lnTo>
                <a:lnTo>
                  <a:pt x="1851" y="1143"/>
                </a:lnTo>
                <a:lnTo>
                  <a:pt x="1848" y="1168"/>
                </a:lnTo>
                <a:lnTo>
                  <a:pt x="1844" y="1191"/>
                </a:lnTo>
                <a:lnTo>
                  <a:pt x="1838" y="1216"/>
                </a:lnTo>
                <a:lnTo>
                  <a:pt x="1834" y="1239"/>
                </a:lnTo>
                <a:lnTo>
                  <a:pt x="1826" y="1263"/>
                </a:lnTo>
                <a:lnTo>
                  <a:pt x="1820" y="1286"/>
                </a:lnTo>
                <a:lnTo>
                  <a:pt x="1813" y="1309"/>
                </a:lnTo>
                <a:lnTo>
                  <a:pt x="1806" y="1333"/>
                </a:lnTo>
                <a:lnTo>
                  <a:pt x="1797" y="1355"/>
                </a:lnTo>
                <a:lnTo>
                  <a:pt x="1790" y="1377"/>
                </a:lnTo>
                <a:lnTo>
                  <a:pt x="1779" y="1399"/>
                </a:lnTo>
                <a:lnTo>
                  <a:pt x="1771" y="1421"/>
                </a:lnTo>
                <a:lnTo>
                  <a:pt x="1760" y="1443"/>
                </a:lnTo>
                <a:lnTo>
                  <a:pt x="1750" y="1465"/>
                </a:lnTo>
                <a:lnTo>
                  <a:pt x="1738" y="1485"/>
                </a:lnTo>
                <a:lnTo>
                  <a:pt x="1728" y="1506"/>
                </a:lnTo>
                <a:lnTo>
                  <a:pt x="1715" y="1526"/>
                </a:lnTo>
                <a:lnTo>
                  <a:pt x="1703" y="1545"/>
                </a:lnTo>
                <a:lnTo>
                  <a:pt x="1690" y="1566"/>
                </a:lnTo>
                <a:lnTo>
                  <a:pt x="1677" y="1585"/>
                </a:lnTo>
                <a:lnTo>
                  <a:pt x="1664" y="1604"/>
                </a:lnTo>
                <a:lnTo>
                  <a:pt x="1650" y="1623"/>
                </a:lnTo>
                <a:lnTo>
                  <a:pt x="1636" y="1640"/>
                </a:lnTo>
                <a:lnTo>
                  <a:pt x="1621" y="1658"/>
                </a:lnTo>
                <a:lnTo>
                  <a:pt x="1605" y="1675"/>
                </a:lnTo>
                <a:lnTo>
                  <a:pt x="1590" y="1693"/>
                </a:lnTo>
                <a:lnTo>
                  <a:pt x="1574" y="1709"/>
                </a:lnTo>
                <a:lnTo>
                  <a:pt x="1557" y="1725"/>
                </a:lnTo>
                <a:lnTo>
                  <a:pt x="1540" y="1741"/>
                </a:lnTo>
                <a:lnTo>
                  <a:pt x="1523" y="1756"/>
                </a:lnTo>
                <a:lnTo>
                  <a:pt x="1507" y="1772"/>
                </a:lnTo>
                <a:lnTo>
                  <a:pt x="1488" y="1786"/>
                </a:lnTo>
                <a:lnTo>
                  <a:pt x="1470" y="1800"/>
                </a:lnTo>
                <a:lnTo>
                  <a:pt x="1452" y="1813"/>
                </a:lnTo>
                <a:lnTo>
                  <a:pt x="1433" y="1826"/>
                </a:lnTo>
                <a:lnTo>
                  <a:pt x="1414" y="1839"/>
                </a:lnTo>
                <a:lnTo>
                  <a:pt x="1395" y="1851"/>
                </a:lnTo>
                <a:lnTo>
                  <a:pt x="1375" y="1863"/>
                </a:lnTo>
                <a:lnTo>
                  <a:pt x="1356" y="1874"/>
                </a:lnTo>
                <a:lnTo>
                  <a:pt x="1335" y="1884"/>
                </a:lnTo>
                <a:lnTo>
                  <a:pt x="1315" y="1895"/>
                </a:lnTo>
                <a:lnTo>
                  <a:pt x="1294" y="1905"/>
                </a:lnTo>
                <a:lnTo>
                  <a:pt x="1272" y="1914"/>
                </a:lnTo>
                <a:lnTo>
                  <a:pt x="1252" y="1923"/>
                </a:lnTo>
                <a:lnTo>
                  <a:pt x="1230" y="1930"/>
                </a:lnTo>
                <a:lnTo>
                  <a:pt x="1208" y="1939"/>
                </a:lnTo>
                <a:lnTo>
                  <a:pt x="1186" y="1944"/>
                </a:lnTo>
                <a:lnTo>
                  <a:pt x="1164" y="1952"/>
                </a:lnTo>
                <a:lnTo>
                  <a:pt x="1142" y="1958"/>
                </a:lnTo>
                <a:lnTo>
                  <a:pt x="1118" y="1962"/>
                </a:lnTo>
                <a:lnTo>
                  <a:pt x="1096" y="1966"/>
                </a:lnTo>
                <a:lnTo>
                  <a:pt x="1073" y="1971"/>
                </a:lnTo>
                <a:lnTo>
                  <a:pt x="1049" y="1975"/>
                </a:lnTo>
                <a:lnTo>
                  <a:pt x="1026" y="1978"/>
                </a:lnTo>
                <a:lnTo>
                  <a:pt x="1002" y="1980"/>
                </a:lnTo>
                <a:lnTo>
                  <a:pt x="979" y="1981"/>
                </a:lnTo>
                <a:lnTo>
                  <a:pt x="955" y="1983"/>
                </a:lnTo>
                <a:lnTo>
                  <a:pt x="931" y="1983"/>
                </a:lnTo>
                <a:lnTo>
                  <a:pt x="932" y="1983"/>
                </a:ln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108" name="Freeform 12">
            <a:extLst>
              <a:ext uri="{FF2B5EF4-FFF2-40B4-BE49-F238E27FC236}">
                <a16:creationId xmlns:a16="http://schemas.microsoft.com/office/drawing/2014/main" id="{A729AFB4-1EAE-4404-9611-7913EEBBAD27}"/>
              </a:ext>
            </a:extLst>
          </p:cNvPr>
          <p:cNvSpPr>
            <a:spLocks/>
          </p:cNvSpPr>
          <p:nvPr/>
        </p:nvSpPr>
        <p:spPr bwMode="auto">
          <a:xfrm>
            <a:off x="3640139" y="2619375"/>
            <a:ext cx="1182687" cy="1258888"/>
          </a:xfrm>
          <a:custGeom>
            <a:avLst/>
            <a:gdLst>
              <a:gd name="T0" fmla="*/ 2147483646 w 1489"/>
              <a:gd name="T1" fmla="*/ 2147483646 h 1587"/>
              <a:gd name="T2" fmla="*/ 2147483646 w 1489"/>
              <a:gd name="T3" fmla="*/ 2147483646 h 1587"/>
              <a:gd name="T4" fmla="*/ 2147483646 w 1489"/>
              <a:gd name="T5" fmla="*/ 2147483646 h 1587"/>
              <a:gd name="T6" fmla="*/ 2147483646 w 1489"/>
              <a:gd name="T7" fmla="*/ 2147483646 h 1587"/>
              <a:gd name="T8" fmla="*/ 2147483646 w 1489"/>
              <a:gd name="T9" fmla="*/ 2147483646 h 1587"/>
              <a:gd name="T10" fmla="*/ 2147483646 w 1489"/>
              <a:gd name="T11" fmla="*/ 2147483646 h 1587"/>
              <a:gd name="T12" fmla="*/ 2147483646 w 1489"/>
              <a:gd name="T13" fmla="*/ 2147483646 h 1587"/>
              <a:gd name="T14" fmla="*/ 2147483646 w 1489"/>
              <a:gd name="T15" fmla="*/ 2147483646 h 1587"/>
              <a:gd name="T16" fmla="*/ 2147483646 w 1489"/>
              <a:gd name="T17" fmla="*/ 2147483646 h 1587"/>
              <a:gd name="T18" fmla="*/ 2147483646 w 1489"/>
              <a:gd name="T19" fmla="*/ 2147483646 h 1587"/>
              <a:gd name="T20" fmla="*/ 2147483646 w 1489"/>
              <a:gd name="T21" fmla="*/ 2147483646 h 1587"/>
              <a:gd name="T22" fmla="*/ 2147483646 w 1489"/>
              <a:gd name="T23" fmla="*/ 2147483646 h 1587"/>
              <a:gd name="T24" fmla="*/ 2147483646 w 1489"/>
              <a:gd name="T25" fmla="*/ 2147483646 h 1587"/>
              <a:gd name="T26" fmla="*/ 2147483646 w 1489"/>
              <a:gd name="T27" fmla="*/ 2147483646 h 1587"/>
              <a:gd name="T28" fmla="*/ 2147483646 w 1489"/>
              <a:gd name="T29" fmla="*/ 2147483646 h 1587"/>
              <a:gd name="T30" fmla="*/ 2147483646 w 1489"/>
              <a:gd name="T31" fmla="*/ 2147483646 h 1587"/>
              <a:gd name="T32" fmla="*/ 2147483646 w 1489"/>
              <a:gd name="T33" fmla="*/ 2147483646 h 1587"/>
              <a:gd name="T34" fmla="*/ 2147483646 w 1489"/>
              <a:gd name="T35" fmla="*/ 2147483646 h 1587"/>
              <a:gd name="T36" fmla="*/ 2147483646 w 1489"/>
              <a:gd name="T37" fmla="*/ 2147483646 h 1587"/>
              <a:gd name="T38" fmla="*/ 2147483646 w 1489"/>
              <a:gd name="T39" fmla="*/ 2147483646 h 1587"/>
              <a:gd name="T40" fmla="*/ 2147483646 w 1489"/>
              <a:gd name="T41" fmla="*/ 2147483646 h 1587"/>
              <a:gd name="T42" fmla="*/ 2147483646 w 1489"/>
              <a:gd name="T43" fmla="*/ 2147483646 h 1587"/>
              <a:gd name="T44" fmla="*/ 2147483646 w 1489"/>
              <a:gd name="T45" fmla="*/ 2147483646 h 1587"/>
              <a:gd name="T46" fmla="*/ 2147483646 w 1489"/>
              <a:gd name="T47" fmla="*/ 2147483646 h 1587"/>
              <a:gd name="T48" fmla="*/ 2147483646 w 1489"/>
              <a:gd name="T49" fmla="*/ 2147483646 h 1587"/>
              <a:gd name="T50" fmla="*/ 2147483646 w 1489"/>
              <a:gd name="T51" fmla="*/ 2147483646 h 1587"/>
              <a:gd name="T52" fmla="*/ 2147483646 w 1489"/>
              <a:gd name="T53" fmla="*/ 2147483646 h 1587"/>
              <a:gd name="T54" fmla="*/ 2147483646 w 1489"/>
              <a:gd name="T55" fmla="*/ 0 h 1587"/>
              <a:gd name="T56" fmla="*/ 2147483646 w 1489"/>
              <a:gd name="T57" fmla="*/ 0 h 1587"/>
              <a:gd name="T58" fmla="*/ 2147483646 w 1489"/>
              <a:gd name="T59" fmla="*/ 2147483646 h 1587"/>
              <a:gd name="T60" fmla="*/ 2147483646 w 1489"/>
              <a:gd name="T61" fmla="*/ 2147483646 h 1587"/>
              <a:gd name="T62" fmla="*/ 2147483646 w 1489"/>
              <a:gd name="T63" fmla="*/ 2147483646 h 1587"/>
              <a:gd name="T64" fmla="*/ 2147483646 w 1489"/>
              <a:gd name="T65" fmla="*/ 2147483646 h 1587"/>
              <a:gd name="T66" fmla="*/ 2147483646 w 1489"/>
              <a:gd name="T67" fmla="*/ 2147483646 h 1587"/>
              <a:gd name="T68" fmla="*/ 2147483646 w 1489"/>
              <a:gd name="T69" fmla="*/ 2147483646 h 1587"/>
              <a:gd name="T70" fmla="*/ 2147483646 w 1489"/>
              <a:gd name="T71" fmla="*/ 2147483646 h 1587"/>
              <a:gd name="T72" fmla="*/ 2147483646 w 1489"/>
              <a:gd name="T73" fmla="*/ 2147483646 h 1587"/>
              <a:gd name="T74" fmla="*/ 2147483646 w 1489"/>
              <a:gd name="T75" fmla="*/ 2147483646 h 1587"/>
              <a:gd name="T76" fmla="*/ 2147483646 w 1489"/>
              <a:gd name="T77" fmla="*/ 2147483646 h 1587"/>
              <a:gd name="T78" fmla="*/ 2147483646 w 1489"/>
              <a:gd name="T79" fmla="*/ 2147483646 h 1587"/>
              <a:gd name="T80" fmla="*/ 2147483646 w 1489"/>
              <a:gd name="T81" fmla="*/ 2147483646 h 1587"/>
              <a:gd name="T82" fmla="*/ 2147483646 w 1489"/>
              <a:gd name="T83" fmla="*/ 2147483646 h 1587"/>
              <a:gd name="T84" fmla="*/ 2147483646 w 1489"/>
              <a:gd name="T85" fmla="*/ 2147483646 h 1587"/>
              <a:gd name="T86" fmla="*/ 2147483646 w 1489"/>
              <a:gd name="T87" fmla="*/ 2147483646 h 1587"/>
              <a:gd name="T88" fmla="*/ 2147483646 w 1489"/>
              <a:gd name="T89" fmla="*/ 2147483646 h 1587"/>
              <a:gd name="T90" fmla="*/ 2147483646 w 1489"/>
              <a:gd name="T91" fmla="*/ 2147483646 h 1587"/>
              <a:gd name="T92" fmla="*/ 2147483646 w 1489"/>
              <a:gd name="T93" fmla="*/ 2147483646 h 1587"/>
              <a:gd name="T94" fmla="*/ 2147483646 w 1489"/>
              <a:gd name="T95" fmla="*/ 2147483646 h 1587"/>
              <a:gd name="T96" fmla="*/ 2147483646 w 1489"/>
              <a:gd name="T97" fmla="*/ 2147483646 h 1587"/>
              <a:gd name="T98" fmla="*/ 2147483646 w 1489"/>
              <a:gd name="T99" fmla="*/ 2147483646 h 1587"/>
              <a:gd name="T100" fmla="*/ 2147483646 w 1489"/>
              <a:gd name="T101" fmla="*/ 2147483646 h 1587"/>
              <a:gd name="T102" fmla="*/ 2147483646 w 1489"/>
              <a:gd name="T103" fmla="*/ 2147483646 h 1587"/>
              <a:gd name="T104" fmla="*/ 2147483646 w 1489"/>
              <a:gd name="T105" fmla="*/ 2147483646 h 1587"/>
              <a:gd name="T106" fmla="*/ 2147483646 w 1489"/>
              <a:gd name="T107" fmla="*/ 2147483646 h 1587"/>
              <a:gd name="T108" fmla="*/ 2147483646 w 1489"/>
              <a:gd name="T109" fmla="*/ 2147483646 h 1587"/>
              <a:gd name="T110" fmla="*/ 2147483646 w 1489"/>
              <a:gd name="T111" fmla="*/ 2147483646 h 158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89"/>
              <a:gd name="T169" fmla="*/ 0 h 1587"/>
              <a:gd name="T170" fmla="*/ 1489 w 1489"/>
              <a:gd name="T171" fmla="*/ 1587 h 1587"/>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89" h="1587">
                <a:moveTo>
                  <a:pt x="746" y="1587"/>
                </a:moveTo>
                <a:lnTo>
                  <a:pt x="726" y="1585"/>
                </a:lnTo>
                <a:lnTo>
                  <a:pt x="706" y="1585"/>
                </a:lnTo>
                <a:lnTo>
                  <a:pt x="687" y="1584"/>
                </a:lnTo>
                <a:lnTo>
                  <a:pt x="670" y="1582"/>
                </a:lnTo>
                <a:lnTo>
                  <a:pt x="651" y="1579"/>
                </a:lnTo>
                <a:lnTo>
                  <a:pt x="632" y="1576"/>
                </a:lnTo>
                <a:lnTo>
                  <a:pt x="614" y="1573"/>
                </a:lnTo>
                <a:lnTo>
                  <a:pt x="595" y="1570"/>
                </a:lnTo>
                <a:lnTo>
                  <a:pt x="577" y="1566"/>
                </a:lnTo>
                <a:lnTo>
                  <a:pt x="560" y="1560"/>
                </a:lnTo>
                <a:lnTo>
                  <a:pt x="541" y="1556"/>
                </a:lnTo>
                <a:lnTo>
                  <a:pt x="523" y="1550"/>
                </a:lnTo>
                <a:lnTo>
                  <a:pt x="507" y="1544"/>
                </a:lnTo>
                <a:lnTo>
                  <a:pt x="489" y="1538"/>
                </a:lnTo>
                <a:lnTo>
                  <a:pt x="472" y="1531"/>
                </a:lnTo>
                <a:lnTo>
                  <a:pt x="456" y="1524"/>
                </a:lnTo>
                <a:lnTo>
                  <a:pt x="438" y="1516"/>
                </a:lnTo>
                <a:lnTo>
                  <a:pt x="422" y="1507"/>
                </a:lnTo>
                <a:lnTo>
                  <a:pt x="406" y="1499"/>
                </a:lnTo>
                <a:lnTo>
                  <a:pt x="390" y="1490"/>
                </a:lnTo>
                <a:lnTo>
                  <a:pt x="375" y="1481"/>
                </a:lnTo>
                <a:lnTo>
                  <a:pt x="359" y="1471"/>
                </a:lnTo>
                <a:lnTo>
                  <a:pt x="344" y="1461"/>
                </a:lnTo>
                <a:lnTo>
                  <a:pt x="330" y="1450"/>
                </a:lnTo>
                <a:lnTo>
                  <a:pt x="314" y="1440"/>
                </a:lnTo>
                <a:lnTo>
                  <a:pt x="300" y="1428"/>
                </a:lnTo>
                <a:lnTo>
                  <a:pt x="271" y="1405"/>
                </a:lnTo>
                <a:lnTo>
                  <a:pt x="245" y="1380"/>
                </a:lnTo>
                <a:lnTo>
                  <a:pt x="218" y="1354"/>
                </a:lnTo>
                <a:lnTo>
                  <a:pt x="195" y="1326"/>
                </a:lnTo>
                <a:lnTo>
                  <a:pt x="171" y="1297"/>
                </a:lnTo>
                <a:lnTo>
                  <a:pt x="148" y="1268"/>
                </a:lnTo>
                <a:lnTo>
                  <a:pt x="127" y="1237"/>
                </a:lnTo>
                <a:lnTo>
                  <a:pt x="108" y="1205"/>
                </a:lnTo>
                <a:lnTo>
                  <a:pt x="99" y="1187"/>
                </a:lnTo>
                <a:lnTo>
                  <a:pt x="91" y="1171"/>
                </a:lnTo>
                <a:lnTo>
                  <a:pt x="82" y="1153"/>
                </a:lnTo>
                <a:lnTo>
                  <a:pt x="75" y="1137"/>
                </a:lnTo>
                <a:lnTo>
                  <a:pt x="66" y="1120"/>
                </a:lnTo>
                <a:lnTo>
                  <a:pt x="58" y="1102"/>
                </a:lnTo>
                <a:lnTo>
                  <a:pt x="53" y="1083"/>
                </a:lnTo>
                <a:lnTo>
                  <a:pt x="45" y="1066"/>
                </a:lnTo>
                <a:lnTo>
                  <a:pt x="39" y="1047"/>
                </a:lnTo>
                <a:lnTo>
                  <a:pt x="34" y="1029"/>
                </a:lnTo>
                <a:lnTo>
                  <a:pt x="29" y="1010"/>
                </a:lnTo>
                <a:lnTo>
                  <a:pt x="23" y="991"/>
                </a:lnTo>
                <a:lnTo>
                  <a:pt x="19" y="972"/>
                </a:lnTo>
                <a:lnTo>
                  <a:pt x="16" y="953"/>
                </a:lnTo>
                <a:lnTo>
                  <a:pt x="12" y="934"/>
                </a:lnTo>
                <a:lnTo>
                  <a:pt x="9" y="913"/>
                </a:lnTo>
                <a:lnTo>
                  <a:pt x="7" y="894"/>
                </a:lnTo>
                <a:lnTo>
                  <a:pt x="4" y="874"/>
                </a:lnTo>
                <a:lnTo>
                  <a:pt x="3" y="853"/>
                </a:lnTo>
                <a:lnTo>
                  <a:pt x="1" y="834"/>
                </a:lnTo>
                <a:lnTo>
                  <a:pt x="1" y="814"/>
                </a:lnTo>
                <a:lnTo>
                  <a:pt x="0" y="793"/>
                </a:lnTo>
                <a:lnTo>
                  <a:pt x="1" y="773"/>
                </a:lnTo>
                <a:lnTo>
                  <a:pt x="1" y="752"/>
                </a:lnTo>
                <a:lnTo>
                  <a:pt x="3" y="732"/>
                </a:lnTo>
                <a:lnTo>
                  <a:pt x="4" y="712"/>
                </a:lnTo>
                <a:lnTo>
                  <a:pt x="7" y="692"/>
                </a:lnTo>
                <a:lnTo>
                  <a:pt x="9" y="672"/>
                </a:lnTo>
                <a:lnTo>
                  <a:pt x="12" y="653"/>
                </a:lnTo>
                <a:lnTo>
                  <a:pt x="16" y="633"/>
                </a:lnTo>
                <a:lnTo>
                  <a:pt x="20" y="613"/>
                </a:lnTo>
                <a:lnTo>
                  <a:pt x="25" y="594"/>
                </a:lnTo>
                <a:lnTo>
                  <a:pt x="29" y="575"/>
                </a:lnTo>
                <a:lnTo>
                  <a:pt x="34" y="558"/>
                </a:lnTo>
                <a:lnTo>
                  <a:pt x="39" y="539"/>
                </a:lnTo>
                <a:lnTo>
                  <a:pt x="45" y="520"/>
                </a:lnTo>
                <a:lnTo>
                  <a:pt x="53" y="502"/>
                </a:lnTo>
                <a:lnTo>
                  <a:pt x="58" y="485"/>
                </a:lnTo>
                <a:lnTo>
                  <a:pt x="66" y="467"/>
                </a:lnTo>
                <a:lnTo>
                  <a:pt x="75" y="450"/>
                </a:lnTo>
                <a:lnTo>
                  <a:pt x="82" y="432"/>
                </a:lnTo>
                <a:lnTo>
                  <a:pt x="91" y="414"/>
                </a:lnTo>
                <a:lnTo>
                  <a:pt x="99" y="398"/>
                </a:lnTo>
                <a:lnTo>
                  <a:pt x="108" y="382"/>
                </a:lnTo>
                <a:lnTo>
                  <a:pt x="127" y="350"/>
                </a:lnTo>
                <a:lnTo>
                  <a:pt x="148" y="318"/>
                </a:lnTo>
                <a:lnTo>
                  <a:pt x="171" y="289"/>
                </a:lnTo>
                <a:lnTo>
                  <a:pt x="193" y="259"/>
                </a:lnTo>
                <a:lnTo>
                  <a:pt x="218" y="232"/>
                </a:lnTo>
                <a:lnTo>
                  <a:pt x="245" y="207"/>
                </a:lnTo>
                <a:lnTo>
                  <a:pt x="271" y="182"/>
                </a:lnTo>
                <a:lnTo>
                  <a:pt x="300" y="157"/>
                </a:lnTo>
                <a:lnTo>
                  <a:pt x="314" y="147"/>
                </a:lnTo>
                <a:lnTo>
                  <a:pt x="328" y="135"/>
                </a:lnTo>
                <a:lnTo>
                  <a:pt x="344" y="125"/>
                </a:lnTo>
                <a:lnTo>
                  <a:pt x="359" y="115"/>
                </a:lnTo>
                <a:lnTo>
                  <a:pt x="375" y="106"/>
                </a:lnTo>
                <a:lnTo>
                  <a:pt x="390" y="96"/>
                </a:lnTo>
                <a:lnTo>
                  <a:pt x="406" y="87"/>
                </a:lnTo>
                <a:lnTo>
                  <a:pt x="422" y="78"/>
                </a:lnTo>
                <a:lnTo>
                  <a:pt x="438" y="71"/>
                </a:lnTo>
                <a:lnTo>
                  <a:pt x="456" y="62"/>
                </a:lnTo>
                <a:lnTo>
                  <a:pt x="472" y="55"/>
                </a:lnTo>
                <a:lnTo>
                  <a:pt x="489" y="49"/>
                </a:lnTo>
                <a:lnTo>
                  <a:pt x="507" y="41"/>
                </a:lnTo>
                <a:lnTo>
                  <a:pt x="523" y="36"/>
                </a:lnTo>
                <a:lnTo>
                  <a:pt x="541" y="30"/>
                </a:lnTo>
                <a:lnTo>
                  <a:pt x="558" y="25"/>
                </a:lnTo>
                <a:lnTo>
                  <a:pt x="577" y="21"/>
                </a:lnTo>
                <a:lnTo>
                  <a:pt x="595" y="17"/>
                </a:lnTo>
                <a:lnTo>
                  <a:pt x="613" y="12"/>
                </a:lnTo>
                <a:lnTo>
                  <a:pt x="632" y="9"/>
                </a:lnTo>
                <a:lnTo>
                  <a:pt x="651" y="6"/>
                </a:lnTo>
                <a:lnTo>
                  <a:pt x="668" y="5"/>
                </a:lnTo>
                <a:lnTo>
                  <a:pt x="687" y="2"/>
                </a:lnTo>
                <a:lnTo>
                  <a:pt x="706" y="0"/>
                </a:lnTo>
                <a:lnTo>
                  <a:pt x="726" y="0"/>
                </a:lnTo>
                <a:lnTo>
                  <a:pt x="745" y="0"/>
                </a:lnTo>
                <a:lnTo>
                  <a:pt x="746" y="0"/>
                </a:lnTo>
                <a:lnTo>
                  <a:pt x="765" y="0"/>
                </a:lnTo>
                <a:lnTo>
                  <a:pt x="784" y="0"/>
                </a:lnTo>
                <a:lnTo>
                  <a:pt x="803" y="2"/>
                </a:lnTo>
                <a:lnTo>
                  <a:pt x="821" y="5"/>
                </a:lnTo>
                <a:lnTo>
                  <a:pt x="840" y="6"/>
                </a:lnTo>
                <a:lnTo>
                  <a:pt x="859" y="9"/>
                </a:lnTo>
                <a:lnTo>
                  <a:pt x="877" y="12"/>
                </a:lnTo>
                <a:lnTo>
                  <a:pt x="896" y="17"/>
                </a:lnTo>
                <a:lnTo>
                  <a:pt x="913" y="21"/>
                </a:lnTo>
                <a:lnTo>
                  <a:pt x="931" y="25"/>
                </a:lnTo>
                <a:lnTo>
                  <a:pt x="950" y="30"/>
                </a:lnTo>
                <a:lnTo>
                  <a:pt x="967" y="36"/>
                </a:lnTo>
                <a:lnTo>
                  <a:pt x="984" y="41"/>
                </a:lnTo>
                <a:lnTo>
                  <a:pt x="1001" y="49"/>
                </a:lnTo>
                <a:lnTo>
                  <a:pt x="1019" y="55"/>
                </a:lnTo>
                <a:lnTo>
                  <a:pt x="1035" y="62"/>
                </a:lnTo>
                <a:lnTo>
                  <a:pt x="1052" y="71"/>
                </a:lnTo>
                <a:lnTo>
                  <a:pt x="1069" y="78"/>
                </a:lnTo>
                <a:lnTo>
                  <a:pt x="1085" y="87"/>
                </a:lnTo>
                <a:lnTo>
                  <a:pt x="1101" y="96"/>
                </a:lnTo>
                <a:lnTo>
                  <a:pt x="1115" y="106"/>
                </a:lnTo>
                <a:lnTo>
                  <a:pt x="1132" y="115"/>
                </a:lnTo>
                <a:lnTo>
                  <a:pt x="1146" y="125"/>
                </a:lnTo>
                <a:lnTo>
                  <a:pt x="1162" y="135"/>
                </a:lnTo>
                <a:lnTo>
                  <a:pt x="1177" y="147"/>
                </a:lnTo>
                <a:lnTo>
                  <a:pt x="1190" y="157"/>
                </a:lnTo>
                <a:lnTo>
                  <a:pt x="1220" y="182"/>
                </a:lnTo>
                <a:lnTo>
                  <a:pt x="1246" y="207"/>
                </a:lnTo>
                <a:lnTo>
                  <a:pt x="1272" y="232"/>
                </a:lnTo>
                <a:lnTo>
                  <a:pt x="1297" y="259"/>
                </a:lnTo>
                <a:lnTo>
                  <a:pt x="1321" y="289"/>
                </a:lnTo>
                <a:lnTo>
                  <a:pt x="1343" y="318"/>
                </a:lnTo>
                <a:lnTo>
                  <a:pt x="1363" y="350"/>
                </a:lnTo>
                <a:lnTo>
                  <a:pt x="1382" y="382"/>
                </a:lnTo>
                <a:lnTo>
                  <a:pt x="1391" y="398"/>
                </a:lnTo>
                <a:lnTo>
                  <a:pt x="1400" y="414"/>
                </a:lnTo>
                <a:lnTo>
                  <a:pt x="1409" y="432"/>
                </a:lnTo>
                <a:lnTo>
                  <a:pt x="1416" y="450"/>
                </a:lnTo>
                <a:lnTo>
                  <a:pt x="1425" y="467"/>
                </a:lnTo>
                <a:lnTo>
                  <a:pt x="1432" y="485"/>
                </a:lnTo>
                <a:lnTo>
                  <a:pt x="1438" y="502"/>
                </a:lnTo>
                <a:lnTo>
                  <a:pt x="1445" y="520"/>
                </a:lnTo>
                <a:lnTo>
                  <a:pt x="1451" y="539"/>
                </a:lnTo>
                <a:lnTo>
                  <a:pt x="1457" y="558"/>
                </a:lnTo>
                <a:lnTo>
                  <a:pt x="1461" y="575"/>
                </a:lnTo>
                <a:lnTo>
                  <a:pt x="1466" y="594"/>
                </a:lnTo>
                <a:lnTo>
                  <a:pt x="1470" y="613"/>
                </a:lnTo>
                <a:lnTo>
                  <a:pt x="1475" y="633"/>
                </a:lnTo>
                <a:lnTo>
                  <a:pt x="1479" y="653"/>
                </a:lnTo>
                <a:lnTo>
                  <a:pt x="1482" y="672"/>
                </a:lnTo>
                <a:lnTo>
                  <a:pt x="1483" y="692"/>
                </a:lnTo>
                <a:lnTo>
                  <a:pt x="1486" y="712"/>
                </a:lnTo>
                <a:lnTo>
                  <a:pt x="1488" y="732"/>
                </a:lnTo>
                <a:lnTo>
                  <a:pt x="1489" y="752"/>
                </a:lnTo>
                <a:lnTo>
                  <a:pt x="1489" y="773"/>
                </a:lnTo>
                <a:lnTo>
                  <a:pt x="1489" y="793"/>
                </a:lnTo>
                <a:lnTo>
                  <a:pt x="1489" y="814"/>
                </a:lnTo>
                <a:lnTo>
                  <a:pt x="1489" y="834"/>
                </a:lnTo>
                <a:lnTo>
                  <a:pt x="1488" y="853"/>
                </a:lnTo>
                <a:lnTo>
                  <a:pt x="1486" y="874"/>
                </a:lnTo>
                <a:lnTo>
                  <a:pt x="1483" y="894"/>
                </a:lnTo>
                <a:lnTo>
                  <a:pt x="1482" y="913"/>
                </a:lnTo>
                <a:lnTo>
                  <a:pt x="1479" y="934"/>
                </a:lnTo>
                <a:lnTo>
                  <a:pt x="1475" y="953"/>
                </a:lnTo>
                <a:lnTo>
                  <a:pt x="1472" y="972"/>
                </a:lnTo>
                <a:lnTo>
                  <a:pt x="1467" y="991"/>
                </a:lnTo>
                <a:lnTo>
                  <a:pt x="1461" y="1010"/>
                </a:lnTo>
                <a:lnTo>
                  <a:pt x="1457" y="1029"/>
                </a:lnTo>
                <a:lnTo>
                  <a:pt x="1451" y="1047"/>
                </a:lnTo>
                <a:lnTo>
                  <a:pt x="1445" y="1066"/>
                </a:lnTo>
                <a:lnTo>
                  <a:pt x="1438" y="1083"/>
                </a:lnTo>
                <a:lnTo>
                  <a:pt x="1432" y="1102"/>
                </a:lnTo>
                <a:lnTo>
                  <a:pt x="1425" y="1120"/>
                </a:lnTo>
                <a:lnTo>
                  <a:pt x="1416" y="1137"/>
                </a:lnTo>
                <a:lnTo>
                  <a:pt x="1409" y="1153"/>
                </a:lnTo>
                <a:lnTo>
                  <a:pt x="1400" y="1171"/>
                </a:lnTo>
                <a:lnTo>
                  <a:pt x="1391" y="1187"/>
                </a:lnTo>
                <a:lnTo>
                  <a:pt x="1382" y="1205"/>
                </a:lnTo>
                <a:lnTo>
                  <a:pt x="1363" y="1237"/>
                </a:lnTo>
                <a:lnTo>
                  <a:pt x="1343" y="1268"/>
                </a:lnTo>
                <a:lnTo>
                  <a:pt x="1321" y="1297"/>
                </a:lnTo>
                <a:lnTo>
                  <a:pt x="1297" y="1326"/>
                </a:lnTo>
                <a:lnTo>
                  <a:pt x="1272" y="1354"/>
                </a:lnTo>
                <a:lnTo>
                  <a:pt x="1246" y="1380"/>
                </a:lnTo>
                <a:lnTo>
                  <a:pt x="1220" y="1405"/>
                </a:lnTo>
                <a:lnTo>
                  <a:pt x="1190" y="1428"/>
                </a:lnTo>
                <a:lnTo>
                  <a:pt x="1177" y="1440"/>
                </a:lnTo>
                <a:lnTo>
                  <a:pt x="1162" y="1450"/>
                </a:lnTo>
                <a:lnTo>
                  <a:pt x="1146" y="1461"/>
                </a:lnTo>
                <a:lnTo>
                  <a:pt x="1132" y="1471"/>
                </a:lnTo>
                <a:lnTo>
                  <a:pt x="1115" y="1481"/>
                </a:lnTo>
                <a:lnTo>
                  <a:pt x="1101" y="1490"/>
                </a:lnTo>
                <a:lnTo>
                  <a:pt x="1085" y="1499"/>
                </a:lnTo>
                <a:lnTo>
                  <a:pt x="1069" y="1507"/>
                </a:lnTo>
                <a:lnTo>
                  <a:pt x="1052" y="1516"/>
                </a:lnTo>
                <a:lnTo>
                  <a:pt x="1035" y="1524"/>
                </a:lnTo>
                <a:lnTo>
                  <a:pt x="1019" y="1531"/>
                </a:lnTo>
                <a:lnTo>
                  <a:pt x="1001" y="1538"/>
                </a:lnTo>
                <a:lnTo>
                  <a:pt x="984" y="1544"/>
                </a:lnTo>
                <a:lnTo>
                  <a:pt x="967" y="1550"/>
                </a:lnTo>
                <a:lnTo>
                  <a:pt x="950" y="1556"/>
                </a:lnTo>
                <a:lnTo>
                  <a:pt x="931" y="1560"/>
                </a:lnTo>
                <a:lnTo>
                  <a:pt x="913" y="1566"/>
                </a:lnTo>
                <a:lnTo>
                  <a:pt x="896" y="1570"/>
                </a:lnTo>
                <a:lnTo>
                  <a:pt x="877" y="1573"/>
                </a:lnTo>
                <a:lnTo>
                  <a:pt x="859" y="1576"/>
                </a:lnTo>
                <a:lnTo>
                  <a:pt x="840" y="1579"/>
                </a:lnTo>
                <a:lnTo>
                  <a:pt x="821" y="1582"/>
                </a:lnTo>
                <a:lnTo>
                  <a:pt x="803" y="1584"/>
                </a:lnTo>
                <a:lnTo>
                  <a:pt x="784" y="1585"/>
                </a:lnTo>
                <a:lnTo>
                  <a:pt x="765" y="1585"/>
                </a:lnTo>
                <a:lnTo>
                  <a:pt x="745" y="1587"/>
                </a:lnTo>
                <a:lnTo>
                  <a:pt x="746" y="158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370" name="日期版面配置區 4">
            <a:extLst>
              <a:ext uri="{FF2B5EF4-FFF2-40B4-BE49-F238E27FC236}">
                <a16:creationId xmlns:a16="http://schemas.microsoft.com/office/drawing/2014/main" id="{2A66C07F-5858-4202-9F93-4105C014BDA2}"/>
              </a:ext>
            </a:extLst>
          </p:cNvPr>
          <p:cNvSpPr>
            <a:spLocks noGrp="1"/>
          </p:cNvSpPr>
          <p:nvPr>
            <p:ph type="dt" sz="quarter" idx="10"/>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spcBef>
                <a:spcPct val="20000"/>
              </a:spcBef>
              <a:buClr>
                <a:schemeClr val="tx1"/>
              </a:buClr>
              <a:buSzPct val="70000"/>
              <a:buFont typeface="Wingdings" panose="05000000000000000000" pitchFamily="2" charset="2"/>
              <a:buChar char="q"/>
              <a:defRPr sz="2800" b="1">
                <a:solidFill>
                  <a:schemeClr val="tx1"/>
                </a:solidFill>
                <a:latin typeface="Arial" panose="020B0604020202020204" pitchFamily="34" charset="0"/>
              </a:defRPr>
            </a:lvl1pPr>
            <a:lvl2pPr marL="742950" indent="-285750" defTabSz="958850">
              <a:spcBef>
                <a:spcPct val="20000"/>
              </a:spcBef>
              <a:buClr>
                <a:schemeClr val="tx1"/>
              </a:buClr>
              <a:buSzPct val="65000"/>
              <a:buChar char="•"/>
              <a:defRPr sz="2500">
                <a:solidFill>
                  <a:schemeClr val="tx1"/>
                </a:solidFill>
                <a:latin typeface="Arial" panose="020B0604020202020204" pitchFamily="34" charset="0"/>
              </a:defRPr>
            </a:lvl2pPr>
            <a:lvl3pPr marL="1143000" indent="-228600" defTabSz="958850">
              <a:spcBef>
                <a:spcPct val="20000"/>
              </a:spcBef>
              <a:buClr>
                <a:schemeClr val="tx1"/>
              </a:buClr>
              <a:buSzPct val="65000"/>
              <a:buFont typeface="Wingdings" panose="05000000000000000000" pitchFamily="2" charset="2"/>
              <a:buChar char="•"/>
              <a:defRPr sz="2500">
                <a:solidFill>
                  <a:schemeClr val="tx1"/>
                </a:solidFill>
                <a:latin typeface="Arial" panose="020B0604020202020204" pitchFamily="34" charset="0"/>
              </a:defRPr>
            </a:lvl3pPr>
            <a:lvl4pPr marL="1600200" indent="-228600" defTabSz="958850">
              <a:spcBef>
                <a:spcPct val="20000"/>
              </a:spcBef>
              <a:buClr>
                <a:schemeClr val="tx2"/>
              </a:buClr>
              <a:buSzPct val="75000"/>
              <a:buFont typeface="Wingdings" panose="05000000000000000000" pitchFamily="2" charset="2"/>
              <a:buChar char="–"/>
              <a:defRPr sz="2100">
                <a:solidFill>
                  <a:schemeClr val="tx1"/>
                </a:solidFill>
                <a:latin typeface="Arial" panose="020B0604020202020204" pitchFamily="34" charset="0"/>
              </a:defRPr>
            </a:lvl4pPr>
            <a:lvl5pPr marL="2057400" indent="-228600" defTabSz="958850">
              <a:spcBef>
                <a:spcPct val="20000"/>
              </a:spcBef>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Arial" panose="020B0604020202020204" pitchFamily="34" charset="0"/>
              </a:defRPr>
            </a:lvl9pPr>
          </a:lstStyle>
          <a:p>
            <a:pPr>
              <a:spcBef>
                <a:spcPct val="0"/>
              </a:spcBef>
              <a:buClrTx/>
              <a:buSzTx/>
              <a:buFontTx/>
              <a:buNone/>
              <a:defRPr/>
            </a:pPr>
            <a:endParaRPr lang="en-US" altLang="zh-TW" sz="1500" b="0" dirty="0"/>
          </a:p>
        </p:txBody>
      </p:sp>
      <p:sp>
        <p:nvSpPr>
          <p:cNvPr id="58371" name="投影片編號版面配置區 6">
            <a:extLst>
              <a:ext uri="{FF2B5EF4-FFF2-40B4-BE49-F238E27FC236}">
                <a16:creationId xmlns:a16="http://schemas.microsoft.com/office/drawing/2014/main" id="{54C27425-9527-4B66-B374-1615EC5853C6}"/>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defTabSz="958850">
              <a:spcBef>
                <a:spcPct val="20000"/>
              </a:spcBef>
              <a:buChar char="–"/>
              <a:defRPr sz="2800">
                <a:solidFill>
                  <a:schemeClr val="tx1"/>
                </a:solidFill>
                <a:latin typeface="Arial" panose="020B0604020202020204" pitchFamily="34" charset="0"/>
              </a:defRPr>
            </a:lvl2pPr>
            <a:lvl3pPr marL="1143000" indent="-228600" defTabSz="95885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defTabSz="958850">
              <a:spcBef>
                <a:spcPct val="20000"/>
              </a:spcBef>
              <a:buChar char="–"/>
              <a:defRPr sz="2000">
                <a:solidFill>
                  <a:schemeClr val="tx1"/>
                </a:solidFill>
                <a:latin typeface="Arial" panose="020B0604020202020204" pitchFamily="34" charset="0"/>
              </a:defRPr>
            </a:lvl4pPr>
            <a:lvl5pPr marL="2057400" indent="-228600" defTabSz="95885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FontTx/>
              <a:buNone/>
            </a:pPr>
            <a:fld id="{246F7ABA-4225-42F5-9926-D42AD5F8B5A2}" type="slidenum">
              <a:rPr lang="en-US" altLang="zh-TW" sz="1200"/>
              <a:pPr>
                <a:spcBef>
                  <a:spcPct val="0"/>
                </a:spcBef>
                <a:buClrTx/>
                <a:buFontTx/>
                <a:buNone/>
              </a:pPr>
              <a:t>52</a:t>
            </a:fld>
            <a:endParaRPr lang="en-US" altLang="zh-TW" sz="1200"/>
          </a:p>
        </p:txBody>
      </p:sp>
      <p:sp>
        <p:nvSpPr>
          <p:cNvPr id="625666" name="Rectangle 2">
            <a:extLst>
              <a:ext uri="{FF2B5EF4-FFF2-40B4-BE49-F238E27FC236}">
                <a16:creationId xmlns:a16="http://schemas.microsoft.com/office/drawing/2014/main" id="{92F56BB3-C73D-46D1-A60F-3B127B50EB25}"/>
              </a:ext>
            </a:extLst>
          </p:cNvPr>
          <p:cNvSpPr>
            <a:spLocks noGrp="1" noChangeArrowheads="1"/>
          </p:cNvSpPr>
          <p:nvPr>
            <p:ph type="title"/>
          </p:nvPr>
        </p:nvSpPr>
        <p:spPr>
          <a:xfrm>
            <a:off x="1777206" y="68263"/>
            <a:ext cx="8637588" cy="635000"/>
          </a:xfrm>
        </p:spPr>
        <p:txBody>
          <a:bodyPr/>
          <a:lstStyle/>
          <a:p>
            <a:pPr eaLnBrk="1" hangingPunct="1">
              <a:defRPr/>
            </a:pPr>
            <a:r>
              <a:rPr lang="en-US" altLang="zh-TW" sz="3500" dirty="0">
                <a:ea typeface="新細明體" charset="-120"/>
              </a:rPr>
              <a:t>How to Trap Sensitive Instructions</a:t>
            </a:r>
          </a:p>
        </p:txBody>
      </p:sp>
      <p:sp>
        <p:nvSpPr>
          <p:cNvPr id="58373" name="Rectangle 3">
            <a:extLst>
              <a:ext uri="{FF2B5EF4-FFF2-40B4-BE49-F238E27FC236}">
                <a16:creationId xmlns:a16="http://schemas.microsoft.com/office/drawing/2014/main" id="{9F55AF4E-C702-4938-9440-467EA7C4D2AB}"/>
              </a:ext>
            </a:extLst>
          </p:cNvPr>
          <p:cNvSpPr>
            <a:spLocks noGrp="1" noChangeArrowheads="1"/>
          </p:cNvSpPr>
          <p:nvPr>
            <p:ph type="body" sz="half" idx="1"/>
          </p:nvPr>
        </p:nvSpPr>
        <p:spPr>
          <a:xfrm>
            <a:off x="1679576" y="1209675"/>
            <a:ext cx="5407025" cy="4114800"/>
          </a:xfrm>
        </p:spPr>
        <p:txBody>
          <a:bodyPr/>
          <a:lstStyle/>
          <a:p>
            <a:pPr eaLnBrk="1" hangingPunct="1">
              <a:buFont typeface="Wingdings" panose="05000000000000000000" pitchFamily="2" charset="2"/>
              <a:buNone/>
              <a:defRPr/>
            </a:pPr>
            <a:endParaRPr lang="en-US" altLang="zh-TW" sz="2500" dirty="0">
              <a:ea typeface="新細明體" panose="02020500000000000000" pitchFamily="18" charset="-120"/>
            </a:endParaRPr>
          </a:p>
          <a:p>
            <a:pPr eaLnBrk="1" hangingPunct="1">
              <a:buFont typeface="Wingdings" panose="05000000000000000000" pitchFamily="2" charset="2"/>
              <a:buNone/>
              <a:defRPr/>
            </a:pPr>
            <a:endParaRPr lang="en-US" altLang="zh-TW" sz="2500" dirty="0">
              <a:ea typeface="新細明體" panose="02020500000000000000" pitchFamily="18" charset="-120"/>
            </a:endParaRPr>
          </a:p>
        </p:txBody>
      </p:sp>
      <p:sp>
        <p:nvSpPr>
          <p:cNvPr id="47113" name="AutoShape 6">
            <a:extLst>
              <a:ext uri="{FF2B5EF4-FFF2-40B4-BE49-F238E27FC236}">
                <a16:creationId xmlns:a16="http://schemas.microsoft.com/office/drawing/2014/main" id="{75ADA134-0D59-4FF5-844F-B211A479DE61}"/>
              </a:ext>
            </a:extLst>
          </p:cNvPr>
          <p:cNvSpPr>
            <a:spLocks noChangeAspect="1" noChangeArrowheads="1" noTextEdit="1"/>
          </p:cNvSpPr>
          <p:nvPr/>
        </p:nvSpPr>
        <p:spPr bwMode="auto">
          <a:xfrm>
            <a:off x="1981200" y="1989138"/>
            <a:ext cx="7924800" cy="334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7114" name="Freeform 9">
            <a:extLst>
              <a:ext uri="{FF2B5EF4-FFF2-40B4-BE49-F238E27FC236}">
                <a16:creationId xmlns:a16="http://schemas.microsoft.com/office/drawing/2014/main" id="{EDE1E8CD-6D08-4EF1-951D-5B59B0DD308B}"/>
              </a:ext>
            </a:extLst>
          </p:cNvPr>
          <p:cNvSpPr>
            <a:spLocks/>
          </p:cNvSpPr>
          <p:nvPr/>
        </p:nvSpPr>
        <p:spPr bwMode="auto">
          <a:xfrm>
            <a:off x="3124200" y="1439863"/>
            <a:ext cx="2586038" cy="2754312"/>
          </a:xfrm>
          <a:custGeom>
            <a:avLst/>
            <a:gdLst>
              <a:gd name="T0" fmla="*/ 2147483646 w 3259"/>
              <a:gd name="T1" fmla="*/ 2147483646 h 3469"/>
              <a:gd name="T2" fmla="*/ 2147483646 w 3259"/>
              <a:gd name="T3" fmla="*/ 2147483646 h 3469"/>
              <a:gd name="T4" fmla="*/ 2147483646 w 3259"/>
              <a:gd name="T5" fmla="*/ 2147483646 h 3469"/>
              <a:gd name="T6" fmla="*/ 2147483646 w 3259"/>
              <a:gd name="T7" fmla="*/ 2147483646 h 3469"/>
              <a:gd name="T8" fmla="*/ 2147483646 w 3259"/>
              <a:gd name="T9" fmla="*/ 2147483646 h 3469"/>
              <a:gd name="T10" fmla="*/ 2147483646 w 3259"/>
              <a:gd name="T11" fmla="*/ 2147483646 h 3469"/>
              <a:gd name="T12" fmla="*/ 2147483646 w 3259"/>
              <a:gd name="T13" fmla="*/ 2147483646 h 3469"/>
              <a:gd name="T14" fmla="*/ 2147483646 w 3259"/>
              <a:gd name="T15" fmla="*/ 2147483646 h 3469"/>
              <a:gd name="T16" fmla="*/ 2147483646 w 3259"/>
              <a:gd name="T17" fmla="*/ 2147483646 h 3469"/>
              <a:gd name="T18" fmla="*/ 2147483646 w 3259"/>
              <a:gd name="T19" fmla="*/ 2147483646 h 3469"/>
              <a:gd name="T20" fmla="*/ 2147483646 w 3259"/>
              <a:gd name="T21" fmla="*/ 2147483646 h 3469"/>
              <a:gd name="T22" fmla="*/ 2147483646 w 3259"/>
              <a:gd name="T23" fmla="*/ 2147483646 h 3469"/>
              <a:gd name="T24" fmla="*/ 2147483646 w 3259"/>
              <a:gd name="T25" fmla="*/ 2147483646 h 3469"/>
              <a:gd name="T26" fmla="*/ 0 w 3259"/>
              <a:gd name="T27" fmla="*/ 2147483646 h 3469"/>
              <a:gd name="T28" fmla="*/ 2147483646 w 3259"/>
              <a:gd name="T29" fmla="*/ 2147483646 h 3469"/>
              <a:gd name="T30" fmla="*/ 2147483646 w 3259"/>
              <a:gd name="T31" fmla="*/ 2147483646 h 3469"/>
              <a:gd name="T32" fmla="*/ 2147483646 w 3259"/>
              <a:gd name="T33" fmla="*/ 2147483646 h 3469"/>
              <a:gd name="T34" fmla="*/ 2147483646 w 3259"/>
              <a:gd name="T35" fmla="*/ 2147483646 h 3469"/>
              <a:gd name="T36" fmla="*/ 2147483646 w 3259"/>
              <a:gd name="T37" fmla="*/ 2147483646 h 3469"/>
              <a:gd name="T38" fmla="*/ 2147483646 w 3259"/>
              <a:gd name="T39" fmla="*/ 2147483646 h 3469"/>
              <a:gd name="T40" fmla="*/ 2147483646 w 3259"/>
              <a:gd name="T41" fmla="*/ 2147483646 h 3469"/>
              <a:gd name="T42" fmla="*/ 2147483646 w 3259"/>
              <a:gd name="T43" fmla="*/ 2147483646 h 3469"/>
              <a:gd name="T44" fmla="*/ 2147483646 w 3259"/>
              <a:gd name="T45" fmla="*/ 2147483646 h 3469"/>
              <a:gd name="T46" fmla="*/ 2147483646 w 3259"/>
              <a:gd name="T47" fmla="*/ 2147483646 h 3469"/>
              <a:gd name="T48" fmla="*/ 2147483646 w 3259"/>
              <a:gd name="T49" fmla="*/ 2147483646 h 3469"/>
              <a:gd name="T50" fmla="*/ 2147483646 w 3259"/>
              <a:gd name="T51" fmla="*/ 2147483646 h 3469"/>
              <a:gd name="T52" fmla="*/ 2147483646 w 3259"/>
              <a:gd name="T53" fmla="*/ 2147483646 h 3469"/>
              <a:gd name="T54" fmla="*/ 2147483646 w 3259"/>
              <a:gd name="T55" fmla="*/ 0 h 3469"/>
              <a:gd name="T56" fmla="*/ 2147483646 w 3259"/>
              <a:gd name="T57" fmla="*/ 0 h 3469"/>
              <a:gd name="T58" fmla="*/ 2147483646 w 3259"/>
              <a:gd name="T59" fmla="*/ 2147483646 h 3469"/>
              <a:gd name="T60" fmla="*/ 2147483646 w 3259"/>
              <a:gd name="T61" fmla="*/ 2147483646 h 3469"/>
              <a:gd name="T62" fmla="*/ 2147483646 w 3259"/>
              <a:gd name="T63" fmla="*/ 2147483646 h 3469"/>
              <a:gd name="T64" fmla="*/ 2147483646 w 3259"/>
              <a:gd name="T65" fmla="*/ 2147483646 h 3469"/>
              <a:gd name="T66" fmla="*/ 2147483646 w 3259"/>
              <a:gd name="T67" fmla="*/ 2147483646 h 3469"/>
              <a:gd name="T68" fmla="*/ 2147483646 w 3259"/>
              <a:gd name="T69" fmla="*/ 2147483646 h 3469"/>
              <a:gd name="T70" fmla="*/ 2147483646 w 3259"/>
              <a:gd name="T71" fmla="*/ 2147483646 h 3469"/>
              <a:gd name="T72" fmla="*/ 2147483646 w 3259"/>
              <a:gd name="T73" fmla="*/ 2147483646 h 3469"/>
              <a:gd name="T74" fmla="*/ 2147483646 w 3259"/>
              <a:gd name="T75" fmla="*/ 2147483646 h 3469"/>
              <a:gd name="T76" fmla="*/ 2147483646 w 3259"/>
              <a:gd name="T77" fmla="*/ 2147483646 h 3469"/>
              <a:gd name="T78" fmla="*/ 2147483646 w 3259"/>
              <a:gd name="T79" fmla="*/ 2147483646 h 3469"/>
              <a:gd name="T80" fmla="*/ 2147483646 w 3259"/>
              <a:gd name="T81" fmla="*/ 2147483646 h 3469"/>
              <a:gd name="T82" fmla="*/ 2147483646 w 3259"/>
              <a:gd name="T83" fmla="*/ 2147483646 h 3469"/>
              <a:gd name="T84" fmla="*/ 2147483646 w 3259"/>
              <a:gd name="T85" fmla="*/ 2147483646 h 3469"/>
              <a:gd name="T86" fmla="*/ 2147483646 w 3259"/>
              <a:gd name="T87" fmla="*/ 2147483646 h 3469"/>
              <a:gd name="T88" fmla="*/ 2147483646 w 3259"/>
              <a:gd name="T89" fmla="*/ 2147483646 h 3469"/>
              <a:gd name="T90" fmla="*/ 2147483646 w 3259"/>
              <a:gd name="T91" fmla="*/ 2147483646 h 3469"/>
              <a:gd name="T92" fmla="*/ 2147483646 w 3259"/>
              <a:gd name="T93" fmla="*/ 2147483646 h 3469"/>
              <a:gd name="T94" fmla="*/ 2147483646 w 3259"/>
              <a:gd name="T95" fmla="*/ 2147483646 h 3469"/>
              <a:gd name="T96" fmla="*/ 2147483646 w 3259"/>
              <a:gd name="T97" fmla="*/ 2147483646 h 3469"/>
              <a:gd name="T98" fmla="*/ 2147483646 w 3259"/>
              <a:gd name="T99" fmla="*/ 2147483646 h 3469"/>
              <a:gd name="T100" fmla="*/ 2147483646 w 3259"/>
              <a:gd name="T101" fmla="*/ 2147483646 h 3469"/>
              <a:gd name="T102" fmla="*/ 2147483646 w 3259"/>
              <a:gd name="T103" fmla="*/ 2147483646 h 3469"/>
              <a:gd name="T104" fmla="*/ 2147483646 w 3259"/>
              <a:gd name="T105" fmla="*/ 2147483646 h 3469"/>
              <a:gd name="T106" fmla="*/ 2147483646 w 3259"/>
              <a:gd name="T107" fmla="*/ 2147483646 h 3469"/>
              <a:gd name="T108" fmla="*/ 2147483646 w 3259"/>
              <a:gd name="T109" fmla="*/ 2147483646 h 3469"/>
              <a:gd name="T110" fmla="*/ 2147483646 w 3259"/>
              <a:gd name="T111" fmla="*/ 2147483646 h 346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259"/>
              <a:gd name="T169" fmla="*/ 0 h 3469"/>
              <a:gd name="T170" fmla="*/ 3259 w 3259"/>
              <a:gd name="T171" fmla="*/ 3469 h 346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259" h="3469">
                <a:moveTo>
                  <a:pt x="1629" y="3469"/>
                </a:moveTo>
                <a:lnTo>
                  <a:pt x="1588" y="3468"/>
                </a:lnTo>
                <a:lnTo>
                  <a:pt x="1545" y="3466"/>
                </a:lnTo>
                <a:lnTo>
                  <a:pt x="1504" y="3463"/>
                </a:lnTo>
                <a:lnTo>
                  <a:pt x="1463" y="3459"/>
                </a:lnTo>
                <a:lnTo>
                  <a:pt x="1422" y="3454"/>
                </a:lnTo>
                <a:lnTo>
                  <a:pt x="1381" y="3449"/>
                </a:lnTo>
                <a:lnTo>
                  <a:pt x="1341" y="3441"/>
                </a:lnTo>
                <a:lnTo>
                  <a:pt x="1300" y="3432"/>
                </a:lnTo>
                <a:lnTo>
                  <a:pt x="1261" y="3424"/>
                </a:lnTo>
                <a:lnTo>
                  <a:pt x="1223" y="3413"/>
                </a:lnTo>
                <a:lnTo>
                  <a:pt x="1183" y="3403"/>
                </a:lnTo>
                <a:lnTo>
                  <a:pt x="1145" y="3390"/>
                </a:lnTo>
                <a:lnTo>
                  <a:pt x="1069" y="3364"/>
                </a:lnTo>
                <a:lnTo>
                  <a:pt x="995" y="3331"/>
                </a:lnTo>
                <a:lnTo>
                  <a:pt x="923" y="3298"/>
                </a:lnTo>
                <a:lnTo>
                  <a:pt x="853" y="3258"/>
                </a:lnTo>
                <a:lnTo>
                  <a:pt x="784" y="3217"/>
                </a:lnTo>
                <a:lnTo>
                  <a:pt x="718" y="3172"/>
                </a:lnTo>
                <a:lnTo>
                  <a:pt x="654" y="3124"/>
                </a:lnTo>
                <a:lnTo>
                  <a:pt x="592" y="3073"/>
                </a:lnTo>
                <a:lnTo>
                  <a:pt x="534" y="3018"/>
                </a:lnTo>
                <a:lnTo>
                  <a:pt x="478" y="2960"/>
                </a:lnTo>
                <a:lnTo>
                  <a:pt x="424" y="2900"/>
                </a:lnTo>
                <a:lnTo>
                  <a:pt x="372" y="2837"/>
                </a:lnTo>
                <a:lnTo>
                  <a:pt x="324" y="2771"/>
                </a:lnTo>
                <a:lnTo>
                  <a:pt x="278" y="2704"/>
                </a:lnTo>
                <a:lnTo>
                  <a:pt x="236" y="2634"/>
                </a:lnTo>
                <a:lnTo>
                  <a:pt x="196" y="2560"/>
                </a:lnTo>
                <a:lnTo>
                  <a:pt x="161" y="2486"/>
                </a:lnTo>
                <a:lnTo>
                  <a:pt x="127" y="2410"/>
                </a:lnTo>
                <a:lnTo>
                  <a:pt x="98" y="2331"/>
                </a:lnTo>
                <a:lnTo>
                  <a:pt x="73" y="2250"/>
                </a:lnTo>
                <a:lnTo>
                  <a:pt x="51" y="2167"/>
                </a:lnTo>
                <a:lnTo>
                  <a:pt x="34" y="2083"/>
                </a:lnTo>
                <a:lnTo>
                  <a:pt x="25" y="2041"/>
                </a:lnTo>
                <a:lnTo>
                  <a:pt x="19" y="1999"/>
                </a:lnTo>
                <a:lnTo>
                  <a:pt x="13" y="1955"/>
                </a:lnTo>
                <a:lnTo>
                  <a:pt x="9" y="1911"/>
                </a:lnTo>
                <a:lnTo>
                  <a:pt x="4" y="1867"/>
                </a:lnTo>
                <a:lnTo>
                  <a:pt x="1" y="1823"/>
                </a:lnTo>
                <a:lnTo>
                  <a:pt x="0" y="1779"/>
                </a:lnTo>
                <a:lnTo>
                  <a:pt x="0" y="1734"/>
                </a:lnTo>
                <a:lnTo>
                  <a:pt x="0" y="1690"/>
                </a:lnTo>
                <a:lnTo>
                  <a:pt x="1" y="1644"/>
                </a:lnTo>
                <a:lnTo>
                  <a:pt x="4" y="1601"/>
                </a:lnTo>
                <a:lnTo>
                  <a:pt x="9" y="1557"/>
                </a:lnTo>
                <a:lnTo>
                  <a:pt x="13" y="1513"/>
                </a:lnTo>
                <a:lnTo>
                  <a:pt x="19" y="1470"/>
                </a:lnTo>
                <a:lnTo>
                  <a:pt x="25" y="1426"/>
                </a:lnTo>
                <a:lnTo>
                  <a:pt x="34" y="1384"/>
                </a:lnTo>
                <a:lnTo>
                  <a:pt x="51" y="1301"/>
                </a:lnTo>
                <a:lnTo>
                  <a:pt x="73" y="1219"/>
                </a:lnTo>
                <a:lnTo>
                  <a:pt x="98" y="1138"/>
                </a:lnTo>
                <a:lnTo>
                  <a:pt x="127" y="1059"/>
                </a:lnTo>
                <a:lnTo>
                  <a:pt x="161" y="982"/>
                </a:lnTo>
                <a:lnTo>
                  <a:pt x="196" y="907"/>
                </a:lnTo>
                <a:lnTo>
                  <a:pt x="236" y="835"/>
                </a:lnTo>
                <a:lnTo>
                  <a:pt x="278" y="764"/>
                </a:lnTo>
                <a:lnTo>
                  <a:pt x="324" y="696"/>
                </a:lnTo>
                <a:lnTo>
                  <a:pt x="372" y="630"/>
                </a:lnTo>
                <a:lnTo>
                  <a:pt x="424" y="568"/>
                </a:lnTo>
                <a:lnTo>
                  <a:pt x="476" y="508"/>
                </a:lnTo>
                <a:lnTo>
                  <a:pt x="534" y="450"/>
                </a:lnTo>
                <a:lnTo>
                  <a:pt x="592" y="395"/>
                </a:lnTo>
                <a:lnTo>
                  <a:pt x="654" y="344"/>
                </a:lnTo>
                <a:lnTo>
                  <a:pt x="718" y="295"/>
                </a:lnTo>
                <a:lnTo>
                  <a:pt x="784" y="250"/>
                </a:lnTo>
                <a:lnTo>
                  <a:pt x="853" y="209"/>
                </a:lnTo>
                <a:lnTo>
                  <a:pt x="922" y="171"/>
                </a:lnTo>
                <a:lnTo>
                  <a:pt x="995" y="136"/>
                </a:lnTo>
                <a:lnTo>
                  <a:pt x="1069" y="105"/>
                </a:lnTo>
                <a:lnTo>
                  <a:pt x="1145" y="77"/>
                </a:lnTo>
                <a:lnTo>
                  <a:pt x="1183" y="66"/>
                </a:lnTo>
                <a:lnTo>
                  <a:pt x="1223" y="54"/>
                </a:lnTo>
                <a:lnTo>
                  <a:pt x="1261" y="44"/>
                </a:lnTo>
                <a:lnTo>
                  <a:pt x="1300" y="35"/>
                </a:lnTo>
                <a:lnTo>
                  <a:pt x="1341" y="26"/>
                </a:lnTo>
                <a:lnTo>
                  <a:pt x="1381" y="19"/>
                </a:lnTo>
                <a:lnTo>
                  <a:pt x="1422" y="13"/>
                </a:lnTo>
                <a:lnTo>
                  <a:pt x="1463" y="9"/>
                </a:lnTo>
                <a:lnTo>
                  <a:pt x="1504" y="4"/>
                </a:lnTo>
                <a:lnTo>
                  <a:pt x="1545" y="1"/>
                </a:lnTo>
                <a:lnTo>
                  <a:pt x="1588" y="0"/>
                </a:lnTo>
                <a:lnTo>
                  <a:pt x="1629" y="0"/>
                </a:lnTo>
                <a:lnTo>
                  <a:pt x="1671" y="0"/>
                </a:lnTo>
                <a:lnTo>
                  <a:pt x="1712" y="1"/>
                </a:lnTo>
                <a:lnTo>
                  <a:pt x="1755" y="4"/>
                </a:lnTo>
                <a:lnTo>
                  <a:pt x="1796" y="9"/>
                </a:lnTo>
                <a:lnTo>
                  <a:pt x="1837" y="13"/>
                </a:lnTo>
                <a:lnTo>
                  <a:pt x="1878" y="19"/>
                </a:lnTo>
                <a:lnTo>
                  <a:pt x="1917" y="26"/>
                </a:lnTo>
                <a:lnTo>
                  <a:pt x="1957" y="35"/>
                </a:lnTo>
                <a:lnTo>
                  <a:pt x="1997" y="44"/>
                </a:lnTo>
                <a:lnTo>
                  <a:pt x="2036" y="54"/>
                </a:lnTo>
                <a:lnTo>
                  <a:pt x="2074" y="66"/>
                </a:lnTo>
                <a:lnTo>
                  <a:pt x="2114" y="77"/>
                </a:lnTo>
                <a:lnTo>
                  <a:pt x="2189" y="105"/>
                </a:lnTo>
                <a:lnTo>
                  <a:pt x="2263" y="136"/>
                </a:lnTo>
                <a:lnTo>
                  <a:pt x="2335" y="171"/>
                </a:lnTo>
                <a:lnTo>
                  <a:pt x="2406" y="209"/>
                </a:lnTo>
                <a:lnTo>
                  <a:pt x="2475" y="250"/>
                </a:lnTo>
                <a:lnTo>
                  <a:pt x="2541" y="295"/>
                </a:lnTo>
                <a:lnTo>
                  <a:pt x="2604" y="344"/>
                </a:lnTo>
                <a:lnTo>
                  <a:pt x="2665" y="395"/>
                </a:lnTo>
                <a:lnTo>
                  <a:pt x="2724" y="450"/>
                </a:lnTo>
                <a:lnTo>
                  <a:pt x="2781" y="508"/>
                </a:lnTo>
                <a:lnTo>
                  <a:pt x="2835" y="568"/>
                </a:lnTo>
                <a:lnTo>
                  <a:pt x="2887" y="630"/>
                </a:lnTo>
                <a:lnTo>
                  <a:pt x="2935" y="696"/>
                </a:lnTo>
                <a:lnTo>
                  <a:pt x="2980" y="764"/>
                </a:lnTo>
                <a:lnTo>
                  <a:pt x="3023" y="835"/>
                </a:lnTo>
                <a:lnTo>
                  <a:pt x="3061" y="907"/>
                </a:lnTo>
                <a:lnTo>
                  <a:pt x="3098" y="982"/>
                </a:lnTo>
                <a:lnTo>
                  <a:pt x="3130" y="1059"/>
                </a:lnTo>
                <a:lnTo>
                  <a:pt x="3159" y="1138"/>
                </a:lnTo>
                <a:lnTo>
                  <a:pt x="3186" y="1219"/>
                </a:lnTo>
                <a:lnTo>
                  <a:pt x="3208" y="1301"/>
                </a:lnTo>
                <a:lnTo>
                  <a:pt x="3225" y="1384"/>
                </a:lnTo>
                <a:lnTo>
                  <a:pt x="3233" y="1426"/>
                </a:lnTo>
                <a:lnTo>
                  <a:pt x="3240" y="1470"/>
                </a:lnTo>
                <a:lnTo>
                  <a:pt x="3246" y="1513"/>
                </a:lnTo>
                <a:lnTo>
                  <a:pt x="3250" y="1557"/>
                </a:lnTo>
                <a:lnTo>
                  <a:pt x="3253" y="1601"/>
                </a:lnTo>
                <a:lnTo>
                  <a:pt x="3256" y="1644"/>
                </a:lnTo>
                <a:lnTo>
                  <a:pt x="3257" y="1690"/>
                </a:lnTo>
                <a:lnTo>
                  <a:pt x="3259" y="1734"/>
                </a:lnTo>
                <a:lnTo>
                  <a:pt x="3257" y="1779"/>
                </a:lnTo>
                <a:lnTo>
                  <a:pt x="3256" y="1823"/>
                </a:lnTo>
                <a:lnTo>
                  <a:pt x="3253" y="1867"/>
                </a:lnTo>
                <a:lnTo>
                  <a:pt x="3250" y="1911"/>
                </a:lnTo>
                <a:lnTo>
                  <a:pt x="3246" y="1955"/>
                </a:lnTo>
                <a:lnTo>
                  <a:pt x="3240" y="1999"/>
                </a:lnTo>
                <a:lnTo>
                  <a:pt x="3233" y="2041"/>
                </a:lnTo>
                <a:lnTo>
                  <a:pt x="3225" y="2083"/>
                </a:lnTo>
                <a:lnTo>
                  <a:pt x="3208" y="2167"/>
                </a:lnTo>
                <a:lnTo>
                  <a:pt x="3186" y="2250"/>
                </a:lnTo>
                <a:lnTo>
                  <a:pt x="3159" y="2331"/>
                </a:lnTo>
                <a:lnTo>
                  <a:pt x="3130" y="2410"/>
                </a:lnTo>
                <a:lnTo>
                  <a:pt x="3098" y="2486"/>
                </a:lnTo>
                <a:lnTo>
                  <a:pt x="3061" y="2560"/>
                </a:lnTo>
                <a:lnTo>
                  <a:pt x="3023" y="2634"/>
                </a:lnTo>
                <a:lnTo>
                  <a:pt x="2980" y="2704"/>
                </a:lnTo>
                <a:lnTo>
                  <a:pt x="2935" y="2771"/>
                </a:lnTo>
                <a:lnTo>
                  <a:pt x="2887" y="2837"/>
                </a:lnTo>
                <a:lnTo>
                  <a:pt x="2835" y="2900"/>
                </a:lnTo>
                <a:lnTo>
                  <a:pt x="2781" y="2960"/>
                </a:lnTo>
                <a:lnTo>
                  <a:pt x="2724" y="3018"/>
                </a:lnTo>
                <a:lnTo>
                  <a:pt x="2665" y="3073"/>
                </a:lnTo>
                <a:lnTo>
                  <a:pt x="2604" y="3124"/>
                </a:lnTo>
                <a:lnTo>
                  <a:pt x="2541" y="3172"/>
                </a:lnTo>
                <a:lnTo>
                  <a:pt x="2475" y="3217"/>
                </a:lnTo>
                <a:lnTo>
                  <a:pt x="2406" y="3258"/>
                </a:lnTo>
                <a:lnTo>
                  <a:pt x="2335" y="3298"/>
                </a:lnTo>
                <a:lnTo>
                  <a:pt x="2263" y="3331"/>
                </a:lnTo>
                <a:lnTo>
                  <a:pt x="2189" y="3364"/>
                </a:lnTo>
                <a:lnTo>
                  <a:pt x="2114" y="3390"/>
                </a:lnTo>
                <a:lnTo>
                  <a:pt x="2074" y="3403"/>
                </a:lnTo>
                <a:lnTo>
                  <a:pt x="2036" y="3413"/>
                </a:lnTo>
                <a:lnTo>
                  <a:pt x="1997" y="3424"/>
                </a:lnTo>
                <a:lnTo>
                  <a:pt x="1957" y="3432"/>
                </a:lnTo>
                <a:lnTo>
                  <a:pt x="1917" y="3441"/>
                </a:lnTo>
                <a:lnTo>
                  <a:pt x="1878" y="3449"/>
                </a:lnTo>
                <a:lnTo>
                  <a:pt x="1837" y="3454"/>
                </a:lnTo>
                <a:lnTo>
                  <a:pt x="1796" y="3459"/>
                </a:lnTo>
                <a:lnTo>
                  <a:pt x="1755" y="3463"/>
                </a:lnTo>
                <a:lnTo>
                  <a:pt x="1712" y="3466"/>
                </a:lnTo>
                <a:lnTo>
                  <a:pt x="1671" y="3468"/>
                </a:lnTo>
                <a:lnTo>
                  <a:pt x="1629" y="3469"/>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115" name="Freeform 11">
            <a:extLst>
              <a:ext uri="{FF2B5EF4-FFF2-40B4-BE49-F238E27FC236}">
                <a16:creationId xmlns:a16="http://schemas.microsoft.com/office/drawing/2014/main" id="{68FA49FB-0F89-41E1-BE2C-B504EE4BEED2}"/>
              </a:ext>
            </a:extLst>
          </p:cNvPr>
          <p:cNvSpPr>
            <a:spLocks/>
          </p:cNvSpPr>
          <p:nvPr/>
        </p:nvSpPr>
        <p:spPr bwMode="auto">
          <a:xfrm>
            <a:off x="3492501" y="2146300"/>
            <a:ext cx="1477963" cy="1574800"/>
          </a:xfrm>
          <a:custGeom>
            <a:avLst/>
            <a:gdLst>
              <a:gd name="T0" fmla="*/ 2147483646 w 1862"/>
              <a:gd name="T1" fmla="*/ 2147483646 h 1983"/>
              <a:gd name="T2" fmla="*/ 2147483646 w 1862"/>
              <a:gd name="T3" fmla="*/ 2147483646 h 1983"/>
              <a:gd name="T4" fmla="*/ 2147483646 w 1862"/>
              <a:gd name="T5" fmla="*/ 2147483646 h 1983"/>
              <a:gd name="T6" fmla="*/ 2147483646 w 1862"/>
              <a:gd name="T7" fmla="*/ 2147483646 h 1983"/>
              <a:gd name="T8" fmla="*/ 2147483646 w 1862"/>
              <a:gd name="T9" fmla="*/ 2147483646 h 1983"/>
              <a:gd name="T10" fmla="*/ 2147483646 w 1862"/>
              <a:gd name="T11" fmla="*/ 2147483646 h 1983"/>
              <a:gd name="T12" fmla="*/ 2147483646 w 1862"/>
              <a:gd name="T13" fmla="*/ 2147483646 h 1983"/>
              <a:gd name="T14" fmla="*/ 2147483646 w 1862"/>
              <a:gd name="T15" fmla="*/ 2147483646 h 1983"/>
              <a:gd name="T16" fmla="*/ 2147483646 w 1862"/>
              <a:gd name="T17" fmla="*/ 2147483646 h 1983"/>
              <a:gd name="T18" fmla="*/ 2147483646 w 1862"/>
              <a:gd name="T19" fmla="*/ 2147483646 h 1983"/>
              <a:gd name="T20" fmla="*/ 2147483646 w 1862"/>
              <a:gd name="T21" fmla="*/ 2147483646 h 1983"/>
              <a:gd name="T22" fmla="*/ 2147483646 w 1862"/>
              <a:gd name="T23" fmla="*/ 2147483646 h 1983"/>
              <a:gd name="T24" fmla="*/ 0 w 1862"/>
              <a:gd name="T25" fmla="*/ 2147483646 h 1983"/>
              <a:gd name="T26" fmla="*/ 2147483646 w 1862"/>
              <a:gd name="T27" fmla="*/ 2147483646 h 1983"/>
              <a:gd name="T28" fmla="*/ 2147483646 w 1862"/>
              <a:gd name="T29" fmla="*/ 2147483646 h 1983"/>
              <a:gd name="T30" fmla="*/ 2147483646 w 1862"/>
              <a:gd name="T31" fmla="*/ 2147483646 h 1983"/>
              <a:gd name="T32" fmla="*/ 2147483646 w 1862"/>
              <a:gd name="T33" fmla="*/ 2147483646 h 1983"/>
              <a:gd name="T34" fmla="*/ 2147483646 w 1862"/>
              <a:gd name="T35" fmla="*/ 2147483646 h 1983"/>
              <a:gd name="T36" fmla="*/ 2147483646 w 1862"/>
              <a:gd name="T37" fmla="*/ 2147483646 h 1983"/>
              <a:gd name="T38" fmla="*/ 2147483646 w 1862"/>
              <a:gd name="T39" fmla="*/ 2147483646 h 1983"/>
              <a:gd name="T40" fmla="*/ 2147483646 w 1862"/>
              <a:gd name="T41" fmla="*/ 2147483646 h 1983"/>
              <a:gd name="T42" fmla="*/ 2147483646 w 1862"/>
              <a:gd name="T43" fmla="*/ 2147483646 h 1983"/>
              <a:gd name="T44" fmla="*/ 2147483646 w 1862"/>
              <a:gd name="T45" fmla="*/ 2147483646 h 1983"/>
              <a:gd name="T46" fmla="*/ 2147483646 w 1862"/>
              <a:gd name="T47" fmla="*/ 2147483646 h 1983"/>
              <a:gd name="T48" fmla="*/ 2147483646 w 1862"/>
              <a:gd name="T49" fmla="*/ 2147483646 h 1983"/>
              <a:gd name="T50" fmla="*/ 2147483646 w 1862"/>
              <a:gd name="T51" fmla="*/ 0 h 1983"/>
              <a:gd name="T52" fmla="*/ 2147483646 w 1862"/>
              <a:gd name="T53" fmla="*/ 2147483646 h 1983"/>
              <a:gd name="T54" fmla="*/ 2147483646 w 1862"/>
              <a:gd name="T55" fmla="*/ 2147483646 h 1983"/>
              <a:gd name="T56" fmla="*/ 2147483646 w 1862"/>
              <a:gd name="T57" fmla="*/ 2147483646 h 1983"/>
              <a:gd name="T58" fmla="*/ 2147483646 w 1862"/>
              <a:gd name="T59" fmla="*/ 2147483646 h 1983"/>
              <a:gd name="T60" fmla="*/ 2147483646 w 1862"/>
              <a:gd name="T61" fmla="*/ 2147483646 h 1983"/>
              <a:gd name="T62" fmla="*/ 2147483646 w 1862"/>
              <a:gd name="T63" fmla="*/ 2147483646 h 1983"/>
              <a:gd name="T64" fmla="*/ 2147483646 w 1862"/>
              <a:gd name="T65" fmla="*/ 2147483646 h 1983"/>
              <a:gd name="T66" fmla="*/ 2147483646 w 1862"/>
              <a:gd name="T67" fmla="*/ 2147483646 h 1983"/>
              <a:gd name="T68" fmla="*/ 2147483646 w 1862"/>
              <a:gd name="T69" fmla="*/ 2147483646 h 1983"/>
              <a:gd name="T70" fmla="*/ 2147483646 w 1862"/>
              <a:gd name="T71" fmla="*/ 2147483646 h 1983"/>
              <a:gd name="T72" fmla="*/ 2147483646 w 1862"/>
              <a:gd name="T73" fmla="*/ 2147483646 h 1983"/>
              <a:gd name="T74" fmla="*/ 2147483646 w 1862"/>
              <a:gd name="T75" fmla="*/ 2147483646 h 1983"/>
              <a:gd name="T76" fmla="*/ 2147483646 w 1862"/>
              <a:gd name="T77" fmla="*/ 2147483646 h 1983"/>
              <a:gd name="T78" fmla="*/ 2147483646 w 1862"/>
              <a:gd name="T79" fmla="*/ 2147483646 h 1983"/>
              <a:gd name="T80" fmla="*/ 2147483646 w 1862"/>
              <a:gd name="T81" fmla="*/ 2147483646 h 1983"/>
              <a:gd name="T82" fmla="*/ 2147483646 w 1862"/>
              <a:gd name="T83" fmla="*/ 2147483646 h 1983"/>
              <a:gd name="T84" fmla="*/ 2147483646 w 1862"/>
              <a:gd name="T85" fmla="*/ 2147483646 h 1983"/>
              <a:gd name="T86" fmla="*/ 2147483646 w 1862"/>
              <a:gd name="T87" fmla="*/ 2147483646 h 1983"/>
              <a:gd name="T88" fmla="*/ 2147483646 w 1862"/>
              <a:gd name="T89" fmla="*/ 2147483646 h 1983"/>
              <a:gd name="T90" fmla="*/ 2147483646 w 1862"/>
              <a:gd name="T91" fmla="*/ 2147483646 h 1983"/>
              <a:gd name="T92" fmla="*/ 2147483646 w 1862"/>
              <a:gd name="T93" fmla="*/ 2147483646 h 1983"/>
              <a:gd name="T94" fmla="*/ 2147483646 w 1862"/>
              <a:gd name="T95" fmla="*/ 2147483646 h 1983"/>
              <a:gd name="T96" fmla="*/ 2147483646 w 1862"/>
              <a:gd name="T97" fmla="*/ 2147483646 h 1983"/>
              <a:gd name="T98" fmla="*/ 2147483646 w 1862"/>
              <a:gd name="T99" fmla="*/ 2147483646 h 1983"/>
              <a:gd name="T100" fmla="*/ 2147483646 w 1862"/>
              <a:gd name="T101" fmla="*/ 2147483646 h 198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62"/>
              <a:gd name="T154" fmla="*/ 0 h 1983"/>
              <a:gd name="T155" fmla="*/ 1862 w 1862"/>
              <a:gd name="T156" fmla="*/ 1983 h 198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62" h="1983">
                <a:moveTo>
                  <a:pt x="932" y="1983"/>
                </a:moveTo>
                <a:lnTo>
                  <a:pt x="907" y="1983"/>
                </a:lnTo>
                <a:lnTo>
                  <a:pt x="884" y="1981"/>
                </a:lnTo>
                <a:lnTo>
                  <a:pt x="860" y="1980"/>
                </a:lnTo>
                <a:lnTo>
                  <a:pt x="837" y="1978"/>
                </a:lnTo>
                <a:lnTo>
                  <a:pt x="813" y="1975"/>
                </a:lnTo>
                <a:lnTo>
                  <a:pt x="790" y="1971"/>
                </a:lnTo>
                <a:lnTo>
                  <a:pt x="766" y="1968"/>
                </a:lnTo>
                <a:lnTo>
                  <a:pt x="744" y="1962"/>
                </a:lnTo>
                <a:lnTo>
                  <a:pt x="721" y="1958"/>
                </a:lnTo>
                <a:lnTo>
                  <a:pt x="699" y="1952"/>
                </a:lnTo>
                <a:lnTo>
                  <a:pt x="677" y="1944"/>
                </a:lnTo>
                <a:lnTo>
                  <a:pt x="655" y="1939"/>
                </a:lnTo>
                <a:lnTo>
                  <a:pt x="633" y="1931"/>
                </a:lnTo>
                <a:lnTo>
                  <a:pt x="611" y="1923"/>
                </a:lnTo>
                <a:lnTo>
                  <a:pt x="590" y="1914"/>
                </a:lnTo>
                <a:lnTo>
                  <a:pt x="568" y="1905"/>
                </a:lnTo>
                <a:lnTo>
                  <a:pt x="548" y="1895"/>
                </a:lnTo>
                <a:lnTo>
                  <a:pt x="527" y="1884"/>
                </a:lnTo>
                <a:lnTo>
                  <a:pt x="507" y="1874"/>
                </a:lnTo>
                <a:lnTo>
                  <a:pt x="488" y="1863"/>
                </a:lnTo>
                <a:lnTo>
                  <a:pt x="467" y="1851"/>
                </a:lnTo>
                <a:lnTo>
                  <a:pt x="448" y="1839"/>
                </a:lnTo>
                <a:lnTo>
                  <a:pt x="429" y="1826"/>
                </a:lnTo>
                <a:lnTo>
                  <a:pt x="412" y="1813"/>
                </a:lnTo>
                <a:lnTo>
                  <a:pt x="393" y="1800"/>
                </a:lnTo>
                <a:lnTo>
                  <a:pt x="375" y="1786"/>
                </a:lnTo>
                <a:lnTo>
                  <a:pt x="357" y="1772"/>
                </a:lnTo>
                <a:lnTo>
                  <a:pt x="340" y="1756"/>
                </a:lnTo>
                <a:lnTo>
                  <a:pt x="322" y="1741"/>
                </a:lnTo>
                <a:lnTo>
                  <a:pt x="306" y="1725"/>
                </a:lnTo>
                <a:lnTo>
                  <a:pt x="288" y="1709"/>
                </a:lnTo>
                <a:lnTo>
                  <a:pt x="274" y="1693"/>
                </a:lnTo>
                <a:lnTo>
                  <a:pt x="258" y="1675"/>
                </a:lnTo>
                <a:lnTo>
                  <a:pt x="242" y="1658"/>
                </a:lnTo>
                <a:lnTo>
                  <a:pt x="227" y="1640"/>
                </a:lnTo>
                <a:lnTo>
                  <a:pt x="214" y="1623"/>
                </a:lnTo>
                <a:lnTo>
                  <a:pt x="199" y="1604"/>
                </a:lnTo>
                <a:lnTo>
                  <a:pt x="186" y="1585"/>
                </a:lnTo>
                <a:lnTo>
                  <a:pt x="173" y="1566"/>
                </a:lnTo>
                <a:lnTo>
                  <a:pt x="159" y="1545"/>
                </a:lnTo>
                <a:lnTo>
                  <a:pt x="148" y="1526"/>
                </a:lnTo>
                <a:lnTo>
                  <a:pt x="134" y="1506"/>
                </a:lnTo>
                <a:lnTo>
                  <a:pt x="124" y="1485"/>
                </a:lnTo>
                <a:lnTo>
                  <a:pt x="112" y="1465"/>
                </a:lnTo>
                <a:lnTo>
                  <a:pt x="102" y="1443"/>
                </a:lnTo>
                <a:lnTo>
                  <a:pt x="92" y="1421"/>
                </a:lnTo>
                <a:lnTo>
                  <a:pt x="83" y="1399"/>
                </a:lnTo>
                <a:lnTo>
                  <a:pt x="73" y="1377"/>
                </a:lnTo>
                <a:lnTo>
                  <a:pt x="66" y="1355"/>
                </a:lnTo>
                <a:lnTo>
                  <a:pt x="57" y="1333"/>
                </a:lnTo>
                <a:lnTo>
                  <a:pt x="49" y="1309"/>
                </a:lnTo>
                <a:lnTo>
                  <a:pt x="42" y="1286"/>
                </a:lnTo>
                <a:lnTo>
                  <a:pt x="36" y="1263"/>
                </a:lnTo>
                <a:lnTo>
                  <a:pt x="29" y="1239"/>
                </a:lnTo>
                <a:lnTo>
                  <a:pt x="25" y="1216"/>
                </a:lnTo>
                <a:lnTo>
                  <a:pt x="19" y="1191"/>
                </a:lnTo>
                <a:lnTo>
                  <a:pt x="14" y="1168"/>
                </a:lnTo>
                <a:lnTo>
                  <a:pt x="11" y="1143"/>
                </a:lnTo>
                <a:lnTo>
                  <a:pt x="8" y="1118"/>
                </a:lnTo>
                <a:lnTo>
                  <a:pt x="5" y="1093"/>
                </a:lnTo>
                <a:lnTo>
                  <a:pt x="3" y="1068"/>
                </a:lnTo>
                <a:lnTo>
                  <a:pt x="1" y="1042"/>
                </a:lnTo>
                <a:lnTo>
                  <a:pt x="1" y="1017"/>
                </a:lnTo>
                <a:lnTo>
                  <a:pt x="0" y="992"/>
                </a:lnTo>
                <a:lnTo>
                  <a:pt x="1" y="966"/>
                </a:lnTo>
                <a:lnTo>
                  <a:pt x="1" y="941"/>
                </a:lnTo>
                <a:lnTo>
                  <a:pt x="3" y="916"/>
                </a:lnTo>
                <a:lnTo>
                  <a:pt x="5" y="891"/>
                </a:lnTo>
                <a:lnTo>
                  <a:pt x="8" y="865"/>
                </a:lnTo>
                <a:lnTo>
                  <a:pt x="11" y="841"/>
                </a:lnTo>
                <a:lnTo>
                  <a:pt x="14" y="816"/>
                </a:lnTo>
                <a:lnTo>
                  <a:pt x="19" y="791"/>
                </a:lnTo>
                <a:lnTo>
                  <a:pt x="25" y="768"/>
                </a:lnTo>
                <a:lnTo>
                  <a:pt x="30" y="743"/>
                </a:lnTo>
                <a:lnTo>
                  <a:pt x="36" y="720"/>
                </a:lnTo>
                <a:lnTo>
                  <a:pt x="42" y="696"/>
                </a:lnTo>
                <a:lnTo>
                  <a:pt x="49" y="674"/>
                </a:lnTo>
                <a:lnTo>
                  <a:pt x="57" y="651"/>
                </a:lnTo>
                <a:lnTo>
                  <a:pt x="66" y="628"/>
                </a:lnTo>
                <a:lnTo>
                  <a:pt x="73" y="606"/>
                </a:lnTo>
                <a:lnTo>
                  <a:pt x="83" y="584"/>
                </a:lnTo>
                <a:lnTo>
                  <a:pt x="92" y="562"/>
                </a:lnTo>
                <a:lnTo>
                  <a:pt x="102" y="540"/>
                </a:lnTo>
                <a:lnTo>
                  <a:pt x="112" y="519"/>
                </a:lnTo>
                <a:lnTo>
                  <a:pt x="124" y="499"/>
                </a:lnTo>
                <a:lnTo>
                  <a:pt x="134" y="478"/>
                </a:lnTo>
                <a:lnTo>
                  <a:pt x="148" y="458"/>
                </a:lnTo>
                <a:lnTo>
                  <a:pt x="159" y="437"/>
                </a:lnTo>
                <a:lnTo>
                  <a:pt x="173" y="418"/>
                </a:lnTo>
                <a:lnTo>
                  <a:pt x="186" y="398"/>
                </a:lnTo>
                <a:lnTo>
                  <a:pt x="199" y="380"/>
                </a:lnTo>
                <a:lnTo>
                  <a:pt x="214" y="361"/>
                </a:lnTo>
                <a:lnTo>
                  <a:pt x="227" y="342"/>
                </a:lnTo>
                <a:lnTo>
                  <a:pt x="242" y="325"/>
                </a:lnTo>
                <a:lnTo>
                  <a:pt x="258" y="307"/>
                </a:lnTo>
                <a:lnTo>
                  <a:pt x="274" y="291"/>
                </a:lnTo>
                <a:lnTo>
                  <a:pt x="288" y="274"/>
                </a:lnTo>
                <a:lnTo>
                  <a:pt x="306" y="257"/>
                </a:lnTo>
                <a:lnTo>
                  <a:pt x="322" y="243"/>
                </a:lnTo>
                <a:lnTo>
                  <a:pt x="340" y="227"/>
                </a:lnTo>
                <a:lnTo>
                  <a:pt x="356" y="212"/>
                </a:lnTo>
                <a:lnTo>
                  <a:pt x="375" y="197"/>
                </a:lnTo>
                <a:lnTo>
                  <a:pt x="393" y="183"/>
                </a:lnTo>
                <a:lnTo>
                  <a:pt x="410" y="170"/>
                </a:lnTo>
                <a:lnTo>
                  <a:pt x="429" y="156"/>
                </a:lnTo>
                <a:lnTo>
                  <a:pt x="448" y="143"/>
                </a:lnTo>
                <a:lnTo>
                  <a:pt x="467" y="132"/>
                </a:lnTo>
                <a:lnTo>
                  <a:pt x="488" y="120"/>
                </a:lnTo>
                <a:lnTo>
                  <a:pt x="507" y="108"/>
                </a:lnTo>
                <a:lnTo>
                  <a:pt x="527" y="98"/>
                </a:lnTo>
                <a:lnTo>
                  <a:pt x="548" y="88"/>
                </a:lnTo>
                <a:lnTo>
                  <a:pt x="568" y="79"/>
                </a:lnTo>
                <a:lnTo>
                  <a:pt x="590" y="69"/>
                </a:lnTo>
                <a:lnTo>
                  <a:pt x="611" y="60"/>
                </a:lnTo>
                <a:lnTo>
                  <a:pt x="633" y="53"/>
                </a:lnTo>
                <a:lnTo>
                  <a:pt x="655" y="45"/>
                </a:lnTo>
                <a:lnTo>
                  <a:pt x="677" y="38"/>
                </a:lnTo>
                <a:lnTo>
                  <a:pt x="699" y="32"/>
                </a:lnTo>
                <a:lnTo>
                  <a:pt x="721" y="26"/>
                </a:lnTo>
                <a:lnTo>
                  <a:pt x="744" y="20"/>
                </a:lnTo>
                <a:lnTo>
                  <a:pt x="766" y="16"/>
                </a:lnTo>
                <a:lnTo>
                  <a:pt x="790" y="12"/>
                </a:lnTo>
                <a:lnTo>
                  <a:pt x="813" y="9"/>
                </a:lnTo>
                <a:lnTo>
                  <a:pt x="837" y="6"/>
                </a:lnTo>
                <a:lnTo>
                  <a:pt x="860" y="3"/>
                </a:lnTo>
                <a:lnTo>
                  <a:pt x="884" y="1"/>
                </a:lnTo>
                <a:lnTo>
                  <a:pt x="907" y="0"/>
                </a:lnTo>
                <a:lnTo>
                  <a:pt x="931" y="0"/>
                </a:lnTo>
                <a:lnTo>
                  <a:pt x="932" y="0"/>
                </a:lnTo>
                <a:lnTo>
                  <a:pt x="955" y="1"/>
                </a:lnTo>
                <a:lnTo>
                  <a:pt x="979" y="1"/>
                </a:lnTo>
                <a:lnTo>
                  <a:pt x="1002" y="3"/>
                </a:lnTo>
                <a:lnTo>
                  <a:pt x="1026" y="6"/>
                </a:lnTo>
                <a:lnTo>
                  <a:pt x="1049" y="9"/>
                </a:lnTo>
                <a:lnTo>
                  <a:pt x="1073" y="12"/>
                </a:lnTo>
                <a:lnTo>
                  <a:pt x="1096" y="16"/>
                </a:lnTo>
                <a:lnTo>
                  <a:pt x="1120" y="20"/>
                </a:lnTo>
                <a:lnTo>
                  <a:pt x="1142" y="26"/>
                </a:lnTo>
                <a:lnTo>
                  <a:pt x="1164" y="32"/>
                </a:lnTo>
                <a:lnTo>
                  <a:pt x="1186" y="38"/>
                </a:lnTo>
                <a:lnTo>
                  <a:pt x="1208" y="45"/>
                </a:lnTo>
                <a:lnTo>
                  <a:pt x="1230" y="53"/>
                </a:lnTo>
                <a:lnTo>
                  <a:pt x="1252" y="60"/>
                </a:lnTo>
                <a:lnTo>
                  <a:pt x="1272" y="69"/>
                </a:lnTo>
                <a:lnTo>
                  <a:pt x="1294" y="79"/>
                </a:lnTo>
                <a:lnTo>
                  <a:pt x="1315" y="88"/>
                </a:lnTo>
                <a:lnTo>
                  <a:pt x="1335" y="98"/>
                </a:lnTo>
                <a:lnTo>
                  <a:pt x="1356" y="108"/>
                </a:lnTo>
                <a:lnTo>
                  <a:pt x="1375" y="120"/>
                </a:lnTo>
                <a:lnTo>
                  <a:pt x="1395" y="132"/>
                </a:lnTo>
                <a:lnTo>
                  <a:pt x="1414" y="143"/>
                </a:lnTo>
                <a:lnTo>
                  <a:pt x="1433" y="156"/>
                </a:lnTo>
                <a:lnTo>
                  <a:pt x="1452" y="170"/>
                </a:lnTo>
                <a:lnTo>
                  <a:pt x="1470" y="183"/>
                </a:lnTo>
                <a:lnTo>
                  <a:pt x="1488" y="197"/>
                </a:lnTo>
                <a:lnTo>
                  <a:pt x="1507" y="212"/>
                </a:lnTo>
                <a:lnTo>
                  <a:pt x="1523" y="227"/>
                </a:lnTo>
                <a:lnTo>
                  <a:pt x="1540" y="243"/>
                </a:lnTo>
                <a:lnTo>
                  <a:pt x="1557" y="257"/>
                </a:lnTo>
                <a:lnTo>
                  <a:pt x="1574" y="274"/>
                </a:lnTo>
                <a:lnTo>
                  <a:pt x="1590" y="291"/>
                </a:lnTo>
                <a:lnTo>
                  <a:pt x="1605" y="307"/>
                </a:lnTo>
                <a:lnTo>
                  <a:pt x="1621" y="325"/>
                </a:lnTo>
                <a:lnTo>
                  <a:pt x="1636" y="342"/>
                </a:lnTo>
                <a:lnTo>
                  <a:pt x="1650" y="361"/>
                </a:lnTo>
                <a:lnTo>
                  <a:pt x="1664" y="380"/>
                </a:lnTo>
                <a:lnTo>
                  <a:pt x="1677" y="398"/>
                </a:lnTo>
                <a:lnTo>
                  <a:pt x="1690" y="418"/>
                </a:lnTo>
                <a:lnTo>
                  <a:pt x="1703" y="437"/>
                </a:lnTo>
                <a:lnTo>
                  <a:pt x="1715" y="458"/>
                </a:lnTo>
                <a:lnTo>
                  <a:pt x="1728" y="477"/>
                </a:lnTo>
                <a:lnTo>
                  <a:pt x="1738" y="499"/>
                </a:lnTo>
                <a:lnTo>
                  <a:pt x="1750" y="519"/>
                </a:lnTo>
                <a:lnTo>
                  <a:pt x="1760" y="540"/>
                </a:lnTo>
                <a:lnTo>
                  <a:pt x="1771" y="562"/>
                </a:lnTo>
                <a:lnTo>
                  <a:pt x="1779" y="584"/>
                </a:lnTo>
                <a:lnTo>
                  <a:pt x="1790" y="606"/>
                </a:lnTo>
                <a:lnTo>
                  <a:pt x="1797" y="628"/>
                </a:lnTo>
                <a:lnTo>
                  <a:pt x="1806" y="651"/>
                </a:lnTo>
                <a:lnTo>
                  <a:pt x="1813" y="673"/>
                </a:lnTo>
                <a:lnTo>
                  <a:pt x="1820" y="696"/>
                </a:lnTo>
                <a:lnTo>
                  <a:pt x="1826" y="720"/>
                </a:lnTo>
                <a:lnTo>
                  <a:pt x="1834" y="743"/>
                </a:lnTo>
                <a:lnTo>
                  <a:pt x="1838" y="768"/>
                </a:lnTo>
                <a:lnTo>
                  <a:pt x="1844" y="791"/>
                </a:lnTo>
                <a:lnTo>
                  <a:pt x="1848" y="816"/>
                </a:lnTo>
                <a:lnTo>
                  <a:pt x="1851" y="841"/>
                </a:lnTo>
                <a:lnTo>
                  <a:pt x="1854" y="865"/>
                </a:lnTo>
                <a:lnTo>
                  <a:pt x="1857" y="890"/>
                </a:lnTo>
                <a:lnTo>
                  <a:pt x="1860" y="916"/>
                </a:lnTo>
                <a:lnTo>
                  <a:pt x="1862" y="941"/>
                </a:lnTo>
                <a:lnTo>
                  <a:pt x="1862" y="966"/>
                </a:lnTo>
                <a:lnTo>
                  <a:pt x="1862" y="992"/>
                </a:lnTo>
                <a:lnTo>
                  <a:pt x="1862" y="1017"/>
                </a:lnTo>
                <a:lnTo>
                  <a:pt x="1862" y="1043"/>
                </a:lnTo>
                <a:lnTo>
                  <a:pt x="1860" y="1068"/>
                </a:lnTo>
                <a:lnTo>
                  <a:pt x="1857" y="1093"/>
                </a:lnTo>
                <a:lnTo>
                  <a:pt x="1854" y="1118"/>
                </a:lnTo>
                <a:lnTo>
                  <a:pt x="1851" y="1143"/>
                </a:lnTo>
                <a:lnTo>
                  <a:pt x="1848" y="1168"/>
                </a:lnTo>
                <a:lnTo>
                  <a:pt x="1844" y="1191"/>
                </a:lnTo>
                <a:lnTo>
                  <a:pt x="1838" y="1216"/>
                </a:lnTo>
                <a:lnTo>
                  <a:pt x="1834" y="1239"/>
                </a:lnTo>
                <a:lnTo>
                  <a:pt x="1826" y="1263"/>
                </a:lnTo>
                <a:lnTo>
                  <a:pt x="1820" y="1286"/>
                </a:lnTo>
                <a:lnTo>
                  <a:pt x="1813" y="1309"/>
                </a:lnTo>
                <a:lnTo>
                  <a:pt x="1806" y="1333"/>
                </a:lnTo>
                <a:lnTo>
                  <a:pt x="1797" y="1355"/>
                </a:lnTo>
                <a:lnTo>
                  <a:pt x="1790" y="1377"/>
                </a:lnTo>
                <a:lnTo>
                  <a:pt x="1779" y="1399"/>
                </a:lnTo>
                <a:lnTo>
                  <a:pt x="1771" y="1421"/>
                </a:lnTo>
                <a:lnTo>
                  <a:pt x="1760" y="1443"/>
                </a:lnTo>
                <a:lnTo>
                  <a:pt x="1750" y="1465"/>
                </a:lnTo>
                <a:lnTo>
                  <a:pt x="1738" y="1485"/>
                </a:lnTo>
                <a:lnTo>
                  <a:pt x="1728" y="1506"/>
                </a:lnTo>
                <a:lnTo>
                  <a:pt x="1715" y="1526"/>
                </a:lnTo>
                <a:lnTo>
                  <a:pt x="1703" y="1545"/>
                </a:lnTo>
                <a:lnTo>
                  <a:pt x="1690" y="1566"/>
                </a:lnTo>
                <a:lnTo>
                  <a:pt x="1677" y="1585"/>
                </a:lnTo>
                <a:lnTo>
                  <a:pt x="1664" y="1604"/>
                </a:lnTo>
                <a:lnTo>
                  <a:pt x="1650" y="1623"/>
                </a:lnTo>
                <a:lnTo>
                  <a:pt x="1636" y="1640"/>
                </a:lnTo>
                <a:lnTo>
                  <a:pt x="1621" y="1658"/>
                </a:lnTo>
                <a:lnTo>
                  <a:pt x="1605" y="1675"/>
                </a:lnTo>
                <a:lnTo>
                  <a:pt x="1590" y="1693"/>
                </a:lnTo>
                <a:lnTo>
                  <a:pt x="1574" y="1709"/>
                </a:lnTo>
                <a:lnTo>
                  <a:pt x="1557" y="1725"/>
                </a:lnTo>
                <a:lnTo>
                  <a:pt x="1540" y="1741"/>
                </a:lnTo>
                <a:lnTo>
                  <a:pt x="1523" y="1756"/>
                </a:lnTo>
                <a:lnTo>
                  <a:pt x="1507" y="1772"/>
                </a:lnTo>
                <a:lnTo>
                  <a:pt x="1488" y="1786"/>
                </a:lnTo>
                <a:lnTo>
                  <a:pt x="1470" y="1800"/>
                </a:lnTo>
                <a:lnTo>
                  <a:pt x="1452" y="1813"/>
                </a:lnTo>
                <a:lnTo>
                  <a:pt x="1433" y="1826"/>
                </a:lnTo>
                <a:lnTo>
                  <a:pt x="1414" y="1839"/>
                </a:lnTo>
                <a:lnTo>
                  <a:pt x="1395" y="1851"/>
                </a:lnTo>
                <a:lnTo>
                  <a:pt x="1375" y="1863"/>
                </a:lnTo>
                <a:lnTo>
                  <a:pt x="1356" y="1874"/>
                </a:lnTo>
                <a:lnTo>
                  <a:pt x="1335" y="1884"/>
                </a:lnTo>
                <a:lnTo>
                  <a:pt x="1315" y="1895"/>
                </a:lnTo>
                <a:lnTo>
                  <a:pt x="1294" y="1905"/>
                </a:lnTo>
                <a:lnTo>
                  <a:pt x="1272" y="1914"/>
                </a:lnTo>
                <a:lnTo>
                  <a:pt x="1252" y="1923"/>
                </a:lnTo>
                <a:lnTo>
                  <a:pt x="1230" y="1930"/>
                </a:lnTo>
                <a:lnTo>
                  <a:pt x="1208" y="1939"/>
                </a:lnTo>
                <a:lnTo>
                  <a:pt x="1186" y="1944"/>
                </a:lnTo>
                <a:lnTo>
                  <a:pt x="1164" y="1952"/>
                </a:lnTo>
                <a:lnTo>
                  <a:pt x="1142" y="1958"/>
                </a:lnTo>
                <a:lnTo>
                  <a:pt x="1118" y="1962"/>
                </a:lnTo>
                <a:lnTo>
                  <a:pt x="1096" y="1966"/>
                </a:lnTo>
                <a:lnTo>
                  <a:pt x="1073" y="1971"/>
                </a:lnTo>
                <a:lnTo>
                  <a:pt x="1049" y="1975"/>
                </a:lnTo>
                <a:lnTo>
                  <a:pt x="1026" y="1978"/>
                </a:lnTo>
                <a:lnTo>
                  <a:pt x="1002" y="1980"/>
                </a:lnTo>
                <a:lnTo>
                  <a:pt x="979" y="1981"/>
                </a:lnTo>
                <a:lnTo>
                  <a:pt x="955" y="1983"/>
                </a:lnTo>
                <a:lnTo>
                  <a:pt x="931" y="1983"/>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116" name="Freeform 13">
            <a:extLst>
              <a:ext uri="{FF2B5EF4-FFF2-40B4-BE49-F238E27FC236}">
                <a16:creationId xmlns:a16="http://schemas.microsoft.com/office/drawing/2014/main" id="{DE72F981-E3AF-4401-B19A-E171EC9D1892}"/>
              </a:ext>
            </a:extLst>
          </p:cNvPr>
          <p:cNvSpPr>
            <a:spLocks/>
          </p:cNvSpPr>
          <p:nvPr/>
        </p:nvSpPr>
        <p:spPr bwMode="auto">
          <a:xfrm>
            <a:off x="3640139" y="2619375"/>
            <a:ext cx="1182687" cy="1258888"/>
          </a:xfrm>
          <a:custGeom>
            <a:avLst/>
            <a:gdLst>
              <a:gd name="T0" fmla="*/ 2147483646 w 1489"/>
              <a:gd name="T1" fmla="*/ 2147483646 h 1587"/>
              <a:gd name="T2" fmla="*/ 2147483646 w 1489"/>
              <a:gd name="T3" fmla="*/ 2147483646 h 1587"/>
              <a:gd name="T4" fmla="*/ 2147483646 w 1489"/>
              <a:gd name="T5" fmla="*/ 2147483646 h 1587"/>
              <a:gd name="T6" fmla="*/ 2147483646 w 1489"/>
              <a:gd name="T7" fmla="*/ 2147483646 h 1587"/>
              <a:gd name="T8" fmla="*/ 2147483646 w 1489"/>
              <a:gd name="T9" fmla="*/ 2147483646 h 1587"/>
              <a:gd name="T10" fmla="*/ 2147483646 w 1489"/>
              <a:gd name="T11" fmla="*/ 2147483646 h 1587"/>
              <a:gd name="T12" fmla="*/ 2147483646 w 1489"/>
              <a:gd name="T13" fmla="*/ 2147483646 h 1587"/>
              <a:gd name="T14" fmla="*/ 2147483646 w 1489"/>
              <a:gd name="T15" fmla="*/ 2147483646 h 1587"/>
              <a:gd name="T16" fmla="*/ 2147483646 w 1489"/>
              <a:gd name="T17" fmla="*/ 2147483646 h 1587"/>
              <a:gd name="T18" fmla="*/ 2147483646 w 1489"/>
              <a:gd name="T19" fmla="*/ 2147483646 h 1587"/>
              <a:gd name="T20" fmla="*/ 2147483646 w 1489"/>
              <a:gd name="T21" fmla="*/ 2147483646 h 1587"/>
              <a:gd name="T22" fmla="*/ 2147483646 w 1489"/>
              <a:gd name="T23" fmla="*/ 2147483646 h 1587"/>
              <a:gd name="T24" fmla="*/ 2147483646 w 1489"/>
              <a:gd name="T25" fmla="*/ 2147483646 h 1587"/>
              <a:gd name="T26" fmla="*/ 2147483646 w 1489"/>
              <a:gd name="T27" fmla="*/ 2147483646 h 1587"/>
              <a:gd name="T28" fmla="*/ 2147483646 w 1489"/>
              <a:gd name="T29" fmla="*/ 2147483646 h 1587"/>
              <a:gd name="T30" fmla="*/ 2147483646 w 1489"/>
              <a:gd name="T31" fmla="*/ 2147483646 h 1587"/>
              <a:gd name="T32" fmla="*/ 2147483646 w 1489"/>
              <a:gd name="T33" fmla="*/ 2147483646 h 1587"/>
              <a:gd name="T34" fmla="*/ 2147483646 w 1489"/>
              <a:gd name="T35" fmla="*/ 2147483646 h 1587"/>
              <a:gd name="T36" fmla="*/ 2147483646 w 1489"/>
              <a:gd name="T37" fmla="*/ 2147483646 h 1587"/>
              <a:gd name="T38" fmla="*/ 2147483646 w 1489"/>
              <a:gd name="T39" fmla="*/ 2147483646 h 1587"/>
              <a:gd name="T40" fmla="*/ 2147483646 w 1489"/>
              <a:gd name="T41" fmla="*/ 2147483646 h 1587"/>
              <a:gd name="T42" fmla="*/ 2147483646 w 1489"/>
              <a:gd name="T43" fmla="*/ 2147483646 h 1587"/>
              <a:gd name="T44" fmla="*/ 2147483646 w 1489"/>
              <a:gd name="T45" fmla="*/ 2147483646 h 1587"/>
              <a:gd name="T46" fmla="*/ 2147483646 w 1489"/>
              <a:gd name="T47" fmla="*/ 2147483646 h 1587"/>
              <a:gd name="T48" fmla="*/ 2147483646 w 1489"/>
              <a:gd name="T49" fmla="*/ 2147483646 h 1587"/>
              <a:gd name="T50" fmla="*/ 2147483646 w 1489"/>
              <a:gd name="T51" fmla="*/ 2147483646 h 1587"/>
              <a:gd name="T52" fmla="*/ 2147483646 w 1489"/>
              <a:gd name="T53" fmla="*/ 2147483646 h 1587"/>
              <a:gd name="T54" fmla="*/ 2147483646 w 1489"/>
              <a:gd name="T55" fmla="*/ 0 h 1587"/>
              <a:gd name="T56" fmla="*/ 2147483646 w 1489"/>
              <a:gd name="T57" fmla="*/ 0 h 1587"/>
              <a:gd name="T58" fmla="*/ 2147483646 w 1489"/>
              <a:gd name="T59" fmla="*/ 2147483646 h 1587"/>
              <a:gd name="T60" fmla="*/ 2147483646 w 1489"/>
              <a:gd name="T61" fmla="*/ 2147483646 h 1587"/>
              <a:gd name="T62" fmla="*/ 2147483646 w 1489"/>
              <a:gd name="T63" fmla="*/ 2147483646 h 1587"/>
              <a:gd name="T64" fmla="*/ 2147483646 w 1489"/>
              <a:gd name="T65" fmla="*/ 2147483646 h 1587"/>
              <a:gd name="T66" fmla="*/ 2147483646 w 1489"/>
              <a:gd name="T67" fmla="*/ 2147483646 h 1587"/>
              <a:gd name="T68" fmla="*/ 2147483646 w 1489"/>
              <a:gd name="T69" fmla="*/ 2147483646 h 1587"/>
              <a:gd name="T70" fmla="*/ 2147483646 w 1489"/>
              <a:gd name="T71" fmla="*/ 2147483646 h 1587"/>
              <a:gd name="T72" fmla="*/ 2147483646 w 1489"/>
              <a:gd name="T73" fmla="*/ 2147483646 h 1587"/>
              <a:gd name="T74" fmla="*/ 2147483646 w 1489"/>
              <a:gd name="T75" fmla="*/ 2147483646 h 1587"/>
              <a:gd name="T76" fmla="*/ 2147483646 w 1489"/>
              <a:gd name="T77" fmla="*/ 2147483646 h 1587"/>
              <a:gd name="T78" fmla="*/ 2147483646 w 1489"/>
              <a:gd name="T79" fmla="*/ 2147483646 h 1587"/>
              <a:gd name="T80" fmla="*/ 2147483646 w 1489"/>
              <a:gd name="T81" fmla="*/ 2147483646 h 1587"/>
              <a:gd name="T82" fmla="*/ 2147483646 w 1489"/>
              <a:gd name="T83" fmla="*/ 2147483646 h 1587"/>
              <a:gd name="T84" fmla="*/ 2147483646 w 1489"/>
              <a:gd name="T85" fmla="*/ 2147483646 h 1587"/>
              <a:gd name="T86" fmla="*/ 2147483646 w 1489"/>
              <a:gd name="T87" fmla="*/ 2147483646 h 1587"/>
              <a:gd name="T88" fmla="*/ 2147483646 w 1489"/>
              <a:gd name="T89" fmla="*/ 2147483646 h 1587"/>
              <a:gd name="T90" fmla="*/ 2147483646 w 1489"/>
              <a:gd name="T91" fmla="*/ 2147483646 h 1587"/>
              <a:gd name="T92" fmla="*/ 2147483646 w 1489"/>
              <a:gd name="T93" fmla="*/ 2147483646 h 1587"/>
              <a:gd name="T94" fmla="*/ 2147483646 w 1489"/>
              <a:gd name="T95" fmla="*/ 2147483646 h 1587"/>
              <a:gd name="T96" fmla="*/ 2147483646 w 1489"/>
              <a:gd name="T97" fmla="*/ 2147483646 h 1587"/>
              <a:gd name="T98" fmla="*/ 2147483646 w 1489"/>
              <a:gd name="T99" fmla="*/ 2147483646 h 1587"/>
              <a:gd name="T100" fmla="*/ 2147483646 w 1489"/>
              <a:gd name="T101" fmla="*/ 2147483646 h 1587"/>
              <a:gd name="T102" fmla="*/ 2147483646 w 1489"/>
              <a:gd name="T103" fmla="*/ 2147483646 h 1587"/>
              <a:gd name="T104" fmla="*/ 2147483646 w 1489"/>
              <a:gd name="T105" fmla="*/ 2147483646 h 1587"/>
              <a:gd name="T106" fmla="*/ 2147483646 w 1489"/>
              <a:gd name="T107" fmla="*/ 2147483646 h 1587"/>
              <a:gd name="T108" fmla="*/ 2147483646 w 1489"/>
              <a:gd name="T109" fmla="*/ 2147483646 h 1587"/>
              <a:gd name="T110" fmla="*/ 2147483646 w 1489"/>
              <a:gd name="T111" fmla="*/ 2147483646 h 158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89"/>
              <a:gd name="T169" fmla="*/ 0 h 1587"/>
              <a:gd name="T170" fmla="*/ 1489 w 1489"/>
              <a:gd name="T171" fmla="*/ 1587 h 1587"/>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89" h="1587">
                <a:moveTo>
                  <a:pt x="746" y="1587"/>
                </a:moveTo>
                <a:lnTo>
                  <a:pt x="726" y="1585"/>
                </a:lnTo>
                <a:lnTo>
                  <a:pt x="706" y="1585"/>
                </a:lnTo>
                <a:lnTo>
                  <a:pt x="687" y="1584"/>
                </a:lnTo>
                <a:lnTo>
                  <a:pt x="670" y="1582"/>
                </a:lnTo>
                <a:lnTo>
                  <a:pt x="651" y="1579"/>
                </a:lnTo>
                <a:lnTo>
                  <a:pt x="632" y="1576"/>
                </a:lnTo>
                <a:lnTo>
                  <a:pt x="614" y="1573"/>
                </a:lnTo>
                <a:lnTo>
                  <a:pt x="595" y="1570"/>
                </a:lnTo>
                <a:lnTo>
                  <a:pt x="577" y="1566"/>
                </a:lnTo>
                <a:lnTo>
                  <a:pt x="560" y="1560"/>
                </a:lnTo>
                <a:lnTo>
                  <a:pt x="541" y="1556"/>
                </a:lnTo>
                <a:lnTo>
                  <a:pt x="523" y="1550"/>
                </a:lnTo>
                <a:lnTo>
                  <a:pt x="507" y="1544"/>
                </a:lnTo>
                <a:lnTo>
                  <a:pt x="489" y="1538"/>
                </a:lnTo>
                <a:lnTo>
                  <a:pt x="472" y="1531"/>
                </a:lnTo>
                <a:lnTo>
                  <a:pt x="456" y="1524"/>
                </a:lnTo>
                <a:lnTo>
                  <a:pt x="438" y="1516"/>
                </a:lnTo>
                <a:lnTo>
                  <a:pt x="422" y="1507"/>
                </a:lnTo>
                <a:lnTo>
                  <a:pt x="406" y="1499"/>
                </a:lnTo>
                <a:lnTo>
                  <a:pt x="390" y="1490"/>
                </a:lnTo>
                <a:lnTo>
                  <a:pt x="375" y="1481"/>
                </a:lnTo>
                <a:lnTo>
                  <a:pt x="359" y="1471"/>
                </a:lnTo>
                <a:lnTo>
                  <a:pt x="344" y="1461"/>
                </a:lnTo>
                <a:lnTo>
                  <a:pt x="330" y="1450"/>
                </a:lnTo>
                <a:lnTo>
                  <a:pt x="314" y="1440"/>
                </a:lnTo>
                <a:lnTo>
                  <a:pt x="300" y="1428"/>
                </a:lnTo>
                <a:lnTo>
                  <a:pt x="271" y="1405"/>
                </a:lnTo>
                <a:lnTo>
                  <a:pt x="245" y="1380"/>
                </a:lnTo>
                <a:lnTo>
                  <a:pt x="218" y="1354"/>
                </a:lnTo>
                <a:lnTo>
                  <a:pt x="195" y="1326"/>
                </a:lnTo>
                <a:lnTo>
                  <a:pt x="171" y="1297"/>
                </a:lnTo>
                <a:lnTo>
                  <a:pt x="148" y="1268"/>
                </a:lnTo>
                <a:lnTo>
                  <a:pt x="127" y="1237"/>
                </a:lnTo>
                <a:lnTo>
                  <a:pt x="108" y="1205"/>
                </a:lnTo>
                <a:lnTo>
                  <a:pt x="99" y="1187"/>
                </a:lnTo>
                <a:lnTo>
                  <a:pt x="91" y="1171"/>
                </a:lnTo>
                <a:lnTo>
                  <a:pt x="82" y="1153"/>
                </a:lnTo>
                <a:lnTo>
                  <a:pt x="75" y="1137"/>
                </a:lnTo>
                <a:lnTo>
                  <a:pt x="66" y="1120"/>
                </a:lnTo>
                <a:lnTo>
                  <a:pt x="58" y="1102"/>
                </a:lnTo>
                <a:lnTo>
                  <a:pt x="53" y="1083"/>
                </a:lnTo>
                <a:lnTo>
                  <a:pt x="45" y="1066"/>
                </a:lnTo>
                <a:lnTo>
                  <a:pt x="39" y="1047"/>
                </a:lnTo>
                <a:lnTo>
                  <a:pt x="34" y="1029"/>
                </a:lnTo>
                <a:lnTo>
                  <a:pt x="29" y="1010"/>
                </a:lnTo>
                <a:lnTo>
                  <a:pt x="23" y="991"/>
                </a:lnTo>
                <a:lnTo>
                  <a:pt x="19" y="972"/>
                </a:lnTo>
                <a:lnTo>
                  <a:pt x="16" y="953"/>
                </a:lnTo>
                <a:lnTo>
                  <a:pt x="12" y="934"/>
                </a:lnTo>
                <a:lnTo>
                  <a:pt x="9" y="913"/>
                </a:lnTo>
                <a:lnTo>
                  <a:pt x="7" y="894"/>
                </a:lnTo>
                <a:lnTo>
                  <a:pt x="4" y="874"/>
                </a:lnTo>
                <a:lnTo>
                  <a:pt x="3" y="853"/>
                </a:lnTo>
                <a:lnTo>
                  <a:pt x="1" y="834"/>
                </a:lnTo>
                <a:lnTo>
                  <a:pt x="1" y="814"/>
                </a:lnTo>
                <a:lnTo>
                  <a:pt x="0" y="793"/>
                </a:lnTo>
                <a:lnTo>
                  <a:pt x="1" y="773"/>
                </a:lnTo>
                <a:lnTo>
                  <a:pt x="1" y="752"/>
                </a:lnTo>
                <a:lnTo>
                  <a:pt x="3" y="732"/>
                </a:lnTo>
                <a:lnTo>
                  <a:pt x="4" y="712"/>
                </a:lnTo>
                <a:lnTo>
                  <a:pt x="7" y="692"/>
                </a:lnTo>
                <a:lnTo>
                  <a:pt x="9" y="672"/>
                </a:lnTo>
                <a:lnTo>
                  <a:pt x="12" y="653"/>
                </a:lnTo>
                <a:lnTo>
                  <a:pt x="16" y="633"/>
                </a:lnTo>
                <a:lnTo>
                  <a:pt x="20" y="613"/>
                </a:lnTo>
                <a:lnTo>
                  <a:pt x="25" y="594"/>
                </a:lnTo>
                <a:lnTo>
                  <a:pt x="29" y="575"/>
                </a:lnTo>
                <a:lnTo>
                  <a:pt x="34" y="558"/>
                </a:lnTo>
                <a:lnTo>
                  <a:pt x="39" y="539"/>
                </a:lnTo>
                <a:lnTo>
                  <a:pt x="45" y="520"/>
                </a:lnTo>
                <a:lnTo>
                  <a:pt x="53" y="502"/>
                </a:lnTo>
                <a:lnTo>
                  <a:pt x="58" y="485"/>
                </a:lnTo>
                <a:lnTo>
                  <a:pt x="66" y="467"/>
                </a:lnTo>
                <a:lnTo>
                  <a:pt x="75" y="450"/>
                </a:lnTo>
                <a:lnTo>
                  <a:pt x="82" y="432"/>
                </a:lnTo>
                <a:lnTo>
                  <a:pt x="91" y="414"/>
                </a:lnTo>
                <a:lnTo>
                  <a:pt x="99" y="398"/>
                </a:lnTo>
                <a:lnTo>
                  <a:pt x="108" y="382"/>
                </a:lnTo>
                <a:lnTo>
                  <a:pt x="127" y="350"/>
                </a:lnTo>
                <a:lnTo>
                  <a:pt x="148" y="318"/>
                </a:lnTo>
                <a:lnTo>
                  <a:pt x="171" y="289"/>
                </a:lnTo>
                <a:lnTo>
                  <a:pt x="193" y="259"/>
                </a:lnTo>
                <a:lnTo>
                  <a:pt x="218" y="232"/>
                </a:lnTo>
                <a:lnTo>
                  <a:pt x="245" y="207"/>
                </a:lnTo>
                <a:lnTo>
                  <a:pt x="271" y="182"/>
                </a:lnTo>
                <a:lnTo>
                  <a:pt x="300" y="157"/>
                </a:lnTo>
                <a:lnTo>
                  <a:pt x="314" y="147"/>
                </a:lnTo>
                <a:lnTo>
                  <a:pt x="328" y="135"/>
                </a:lnTo>
                <a:lnTo>
                  <a:pt x="344" y="125"/>
                </a:lnTo>
                <a:lnTo>
                  <a:pt x="359" y="115"/>
                </a:lnTo>
                <a:lnTo>
                  <a:pt x="375" y="106"/>
                </a:lnTo>
                <a:lnTo>
                  <a:pt x="390" y="96"/>
                </a:lnTo>
                <a:lnTo>
                  <a:pt x="406" y="87"/>
                </a:lnTo>
                <a:lnTo>
                  <a:pt x="422" y="78"/>
                </a:lnTo>
                <a:lnTo>
                  <a:pt x="438" y="71"/>
                </a:lnTo>
                <a:lnTo>
                  <a:pt x="456" y="62"/>
                </a:lnTo>
                <a:lnTo>
                  <a:pt x="472" y="55"/>
                </a:lnTo>
                <a:lnTo>
                  <a:pt x="489" y="49"/>
                </a:lnTo>
                <a:lnTo>
                  <a:pt x="507" y="41"/>
                </a:lnTo>
                <a:lnTo>
                  <a:pt x="523" y="36"/>
                </a:lnTo>
                <a:lnTo>
                  <a:pt x="541" y="30"/>
                </a:lnTo>
                <a:lnTo>
                  <a:pt x="558" y="25"/>
                </a:lnTo>
                <a:lnTo>
                  <a:pt x="577" y="21"/>
                </a:lnTo>
                <a:lnTo>
                  <a:pt x="595" y="17"/>
                </a:lnTo>
                <a:lnTo>
                  <a:pt x="613" y="12"/>
                </a:lnTo>
                <a:lnTo>
                  <a:pt x="632" y="9"/>
                </a:lnTo>
                <a:lnTo>
                  <a:pt x="651" y="6"/>
                </a:lnTo>
                <a:lnTo>
                  <a:pt x="668" y="5"/>
                </a:lnTo>
                <a:lnTo>
                  <a:pt x="687" y="2"/>
                </a:lnTo>
                <a:lnTo>
                  <a:pt x="706" y="0"/>
                </a:lnTo>
                <a:lnTo>
                  <a:pt x="726" y="0"/>
                </a:lnTo>
                <a:lnTo>
                  <a:pt x="745" y="0"/>
                </a:lnTo>
                <a:lnTo>
                  <a:pt x="746" y="0"/>
                </a:lnTo>
                <a:lnTo>
                  <a:pt x="765" y="0"/>
                </a:lnTo>
                <a:lnTo>
                  <a:pt x="784" y="0"/>
                </a:lnTo>
                <a:lnTo>
                  <a:pt x="803" y="2"/>
                </a:lnTo>
                <a:lnTo>
                  <a:pt x="821" y="5"/>
                </a:lnTo>
                <a:lnTo>
                  <a:pt x="840" y="6"/>
                </a:lnTo>
                <a:lnTo>
                  <a:pt x="859" y="9"/>
                </a:lnTo>
                <a:lnTo>
                  <a:pt x="877" y="12"/>
                </a:lnTo>
                <a:lnTo>
                  <a:pt x="896" y="17"/>
                </a:lnTo>
                <a:lnTo>
                  <a:pt x="913" y="21"/>
                </a:lnTo>
                <a:lnTo>
                  <a:pt x="931" y="25"/>
                </a:lnTo>
                <a:lnTo>
                  <a:pt x="950" y="30"/>
                </a:lnTo>
                <a:lnTo>
                  <a:pt x="967" y="36"/>
                </a:lnTo>
                <a:lnTo>
                  <a:pt x="984" y="41"/>
                </a:lnTo>
                <a:lnTo>
                  <a:pt x="1001" y="49"/>
                </a:lnTo>
                <a:lnTo>
                  <a:pt x="1019" y="55"/>
                </a:lnTo>
                <a:lnTo>
                  <a:pt x="1035" y="62"/>
                </a:lnTo>
                <a:lnTo>
                  <a:pt x="1052" y="71"/>
                </a:lnTo>
                <a:lnTo>
                  <a:pt x="1069" y="78"/>
                </a:lnTo>
                <a:lnTo>
                  <a:pt x="1085" y="87"/>
                </a:lnTo>
                <a:lnTo>
                  <a:pt x="1101" y="96"/>
                </a:lnTo>
                <a:lnTo>
                  <a:pt x="1115" y="106"/>
                </a:lnTo>
                <a:lnTo>
                  <a:pt x="1132" y="115"/>
                </a:lnTo>
                <a:lnTo>
                  <a:pt x="1146" y="125"/>
                </a:lnTo>
                <a:lnTo>
                  <a:pt x="1162" y="135"/>
                </a:lnTo>
                <a:lnTo>
                  <a:pt x="1177" y="147"/>
                </a:lnTo>
                <a:lnTo>
                  <a:pt x="1190" y="157"/>
                </a:lnTo>
                <a:lnTo>
                  <a:pt x="1220" y="182"/>
                </a:lnTo>
                <a:lnTo>
                  <a:pt x="1246" y="207"/>
                </a:lnTo>
                <a:lnTo>
                  <a:pt x="1272" y="232"/>
                </a:lnTo>
                <a:lnTo>
                  <a:pt x="1297" y="259"/>
                </a:lnTo>
                <a:lnTo>
                  <a:pt x="1321" y="289"/>
                </a:lnTo>
                <a:lnTo>
                  <a:pt x="1343" y="318"/>
                </a:lnTo>
                <a:lnTo>
                  <a:pt x="1363" y="350"/>
                </a:lnTo>
                <a:lnTo>
                  <a:pt x="1382" y="382"/>
                </a:lnTo>
                <a:lnTo>
                  <a:pt x="1391" y="398"/>
                </a:lnTo>
                <a:lnTo>
                  <a:pt x="1400" y="414"/>
                </a:lnTo>
                <a:lnTo>
                  <a:pt x="1409" y="432"/>
                </a:lnTo>
                <a:lnTo>
                  <a:pt x="1416" y="450"/>
                </a:lnTo>
                <a:lnTo>
                  <a:pt x="1425" y="467"/>
                </a:lnTo>
                <a:lnTo>
                  <a:pt x="1432" y="485"/>
                </a:lnTo>
                <a:lnTo>
                  <a:pt x="1438" y="502"/>
                </a:lnTo>
                <a:lnTo>
                  <a:pt x="1445" y="520"/>
                </a:lnTo>
                <a:lnTo>
                  <a:pt x="1451" y="539"/>
                </a:lnTo>
                <a:lnTo>
                  <a:pt x="1457" y="558"/>
                </a:lnTo>
                <a:lnTo>
                  <a:pt x="1461" y="575"/>
                </a:lnTo>
                <a:lnTo>
                  <a:pt x="1466" y="594"/>
                </a:lnTo>
                <a:lnTo>
                  <a:pt x="1470" y="613"/>
                </a:lnTo>
                <a:lnTo>
                  <a:pt x="1475" y="633"/>
                </a:lnTo>
                <a:lnTo>
                  <a:pt x="1479" y="653"/>
                </a:lnTo>
                <a:lnTo>
                  <a:pt x="1482" y="672"/>
                </a:lnTo>
                <a:lnTo>
                  <a:pt x="1483" y="692"/>
                </a:lnTo>
                <a:lnTo>
                  <a:pt x="1486" y="712"/>
                </a:lnTo>
                <a:lnTo>
                  <a:pt x="1488" y="732"/>
                </a:lnTo>
                <a:lnTo>
                  <a:pt x="1489" y="752"/>
                </a:lnTo>
                <a:lnTo>
                  <a:pt x="1489" y="773"/>
                </a:lnTo>
                <a:lnTo>
                  <a:pt x="1489" y="793"/>
                </a:lnTo>
                <a:lnTo>
                  <a:pt x="1489" y="814"/>
                </a:lnTo>
                <a:lnTo>
                  <a:pt x="1489" y="834"/>
                </a:lnTo>
                <a:lnTo>
                  <a:pt x="1488" y="853"/>
                </a:lnTo>
                <a:lnTo>
                  <a:pt x="1486" y="874"/>
                </a:lnTo>
                <a:lnTo>
                  <a:pt x="1483" y="894"/>
                </a:lnTo>
                <a:lnTo>
                  <a:pt x="1482" y="913"/>
                </a:lnTo>
                <a:lnTo>
                  <a:pt x="1479" y="934"/>
                </a:lnTo>
                <a:lnTo>
                  <a:pt x="1475" y="953"/>
                </a:lnTo>
                <a:lnTo>
                  <a:pt x="1472" y="972"/>
                </a:lnTo>
                <a:lnTo>
                  <a:pt x="1467" y="991"/>
                </a:lnTo>
                <a:lnTo>
                  <a:pt x="1461" y="1010"/>
                </a:lnTo>
                <a:lnTo>
                  <a:pt x="1457" y="1029"/>
                </a:lnTo>
                <a:lnTo>
                  <a:pt x="1451" y="1047"/>
                </a:lnTo>
                <a:lnTo>
                  <a:pt x="1445" y="1066"/>
                </a:lnTo>
                <a:lnTo>
                  <a:pt x="1438" y="1083"/>
                </a:lnTo>
                <a:lnTo>
                  <a:pt x="1432" y="1102"/>
                </a:lnTo>
                <a:lnTo>
                  <a:pt x="1425" y="1120"/>
                </a:lnTo>
                <a:lnTo>
                  <a:pt x="1416" y="1137"/>
                </a:lnTo>
                <a:lnTo>
                  <a:pt x="1409" y="1153"/>
                </a:lnTo>
                <a:lnTo>
                  <a:pt x="1400" y="1171"/>
                </a:lnTo>
                <a:lnTo>
                  <a:pt x="1391" y="1187"/>
                </a:lnTo>
                <a:lnTo>
                  <a:pt x="1382" y="1205"/>
                </a:lnTo>
                <a:lnTo>
                  <a:pt x="1363" y="1237"/>
                </a:lnTo>
                <a:lnTo>
                  <a:pt x="1343" y="1268"/>
                </a:lnTo>
                <a:lnTo>
                  <a:pt x="1321" y="1297"/>
                </a:lnTo>
                <a:lnTo>
                  <a:pt x="1297" y="1326"/>
                </a:lnTo>
                <a:lnTo>
                  <a:pt x="1272" y="1354"/>
                </a:lnTo>
                <a:lnTo>
                  <a:pt x="1246" y="1380"/>
                </a:lnTo>
                <a:lnTo>
                  <a:pt x="1220" y="1405"/>
                </a:lnTo>
                <a:lnTo>
                  <a:pt x="1190" y="1428"/>
                </a:lnTo>
                <a:lnTo>
                  <a:pt x="1177" y="1440"/>
                </a:lnTo>
                <a:lnTo>
                  <a:pt x="1162" y="1450"/>
                </a:lnTo>
                <a:lnTo>
                  <a:pt x="1146" y="1461"/>
                </a:lnTo>
                <a:lnTo>
                  <a:pt x="1132" y="1471"/>
                </a:lnTo>
                <a:lnTo>
                  <a:pt x="1115" y="1481"/>
                </a:lnTo>
                <a:lnTo>
                  <a:pt x="1101" y="1490"/>
                </a:lnTo>
                <a:lnTo>
                  <a:pt x="1085" y="1499"/>
                </a:lnTo>
                <a:lnTo>
                  <a:pt x="1069" y="1507"/>
                </a:lnTo>
                <a:lnTo>
                  <a:pt x="1052" y="1516"/>
                </a:lnTo>
                <a:lnTo>
                  <a:pt x="1035" y="1524"/>
                </a:lnTo>
                <a:lnTo>
                  <a:pt x="1019" y="1531"/>
                </a:lnTo>
                <a:lnTo>
                  <a:pt x="1001" y="1538"/>
                </a:lnTo>
                <a:lnTo>
                  <a:pt x="984" y="1544"/>
                </a:lnTo>
                <a:lnTo>
                  <a:pt x="967" y="1550"/>
                </a:lnTo>
                <a:lnTo>
                  <a:pt x="950" y="1556"/>
                </a:lnTo>
                <a:lnTo>
                  <a:pt x="931" y="1560"/>
                </a:lnTo>
                <a:lnTo>
                  <a:pt x="913" y="1566"/>
                </a:lnTo>
                <a:lnTo>
                  <a:pt x="896" y="1570"/>
                </a:lnTo>
                <a:lnTo>
                  <a:pt x="877" y="1573"/>
                </a:lnTo>
                <a:lnTo>
                  <a:pt x="859" y="1576"/>
                </a:lnTo>
                <a:lnTo>
                  <a:pt x="840" y="1579"/>
                </a:lnTo>
                <a:lnTo>
                  <a:pt x="821" y="1582"/>
                </a:lnTo>
                <a:lnTo>
                  <a:pt x="803" y="1584"/>
                </a:lnTo>
                <a:lnTo>
                  <a:pt x="784" y="1585"/>
                </a:lnTo>
                <a:lnTo>
                  <a:pt x="765" y="1585"/>
                </a:lnTo>
                <a:lnTo>
                  <a:pt x="745" y="1587"/>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117" name="Freeform 14">
            <a:extLst>
              <a:ext uri="{FF2B5EF4-FFF2-40B4-BE49-F238E27FC236}">
                <a16:creationId xmlns:a16="http://schemas.microsoft.com/office/drawing/2014/main" id="{64900163-FCB2-433C-8880-06074940B484}"/>
              </a:ext>
            </a:extLst>
          </p:cNvPr>
          <p:cNvSpPr>
            <a:spLocks/>
          </p:cNvSpPr>
          <p:nvPr/>
        </p:nvSpPr>
        <p:spPr bwMode="auto">
          <a:xfrm>
            <a:off x="4159251" y="2619375"/>
            <a:ext cx="295275" cy="1258888"/>
          </a:xfrm>
          <a:custGeom>
            <a:avLst/>
            <a:gdLst>
              <a:gd name="T0" fmla="*/ 2147483646 w 373"/>
              <a:gd name="T1" fmla="*/ 2147483646 h 1587"/>
              <a:gd name="T2" fmla="*/ 2147483646 w 373"/>
              <a:gd name="T3" fmla="*/ 2147483646 h 1587"/>
              <a:gd name="T4" fmla="*/ 2147483646 w 373"/>
              <a:gd name="T5" fmla="*/ 2147483646 h 1587"/>
              <a:gd name="T6" fmla="*/ 2147483646 w 373"/>
              <a:gd name="T7" fmla="*/ 2147483646 h 1587"/>
              <a:gd name="T8" fmla="*/ 2147483646 w 373"/>
              <a:gd name="T9" fmla="*/ 2147483646 h 1587"/>
              <a:gd name="T10" fmla="*/ 2147483646 w 373"/>
              <a:gd name="T11" fmla="*/ 2147483646 h 1587"/>
              <a:gd name="T12" fmla="*/ 2147483646 w 373"/>
              <a:gd name="T13" fmla="*/ 2147483646 h 1587"/>
              <a:gd name="T14" fmla="*/ 2147483646 w 373"/>
              <a:gd name="T15" fmla="*/ 2147483646 h 1587"/>
              <a:gd name="T16" fmla="*/ 2147483646 w 373"/>
              <a:gd name="T17" fmla="*/ 2147483646 h 1587"/>
              <a:gd name="T18" fmla="*/ 2147483646 w 373"/>
              <a:gd name="T19" fmla="*/ 2147483646 h 1587"/>
              <a:gd name="T20" fmla="*/ 2147483646 w 373"/>
              <a:gd name="T21" fmla="*/ 2147483646 h 1587"/>
              <a:gd name="T22" fmla="*/ 2147483646 w 373"/>
              <a:gd name="T23" fmla="*/ 2147483646 h 1587"/>
              <a:gd name="T24" fmla="*/ 2147483646 w 373"/>
              <a:gd name="T25" fmla="*/ 2147483646 h 1587"/>
              <a:gd name="T26" fmla="*/ 2147483646 w 373"/>
              <a:gd name="T27" fmla="*/ 2147483646 h 1587"/>
              <a:gd name="T28" fmla="*/ 2147483646 w 373"/>
              <a:gd name="T29" fmla="*/ 2147483646 h 1587"/>
              <a:gd name="T30" fmla="*/ 2147483646 w 373"/>
              <a:gd name="T31" fmla="*/ 2147483646 h 1587"/>
              <a:gd name="T32" fmla="*/ 2147483646 w 373"/>
              <a:gd name="T33" fmla="*/ 2147483646 h 1587"/>
              <a:gd name="T34" fmla="*/ 2147483646 w 373"/>
              <a:gd name="T35" fmla="*/ 2147483646 h 1587"/>
              <a:gd name="T36" fmla="*/ 2147483646 w 373"/>
              <a:gd name="T37" fmla="*/ 2147483646 h 1587"/>
              <a:gd name="T38" fmla="*/ 2147483646 w 373"/>
              <a:gd name="T39" fmla="*/ 2147483646 h 1587"/>
              <a:gd name="T40" fmla="*/ 2147483646 w 373"/>
              <a:gd name="T41" fmla="*/ 2147483646 h 1587"/>
              <a:gd name="T42" fmla="*/ 2147483646 w 373"/>
              <a:gd name="T43" fmla="*/ 2147483646 h 1587"/>
              <a:gd name="T44" fmla="*/ 2147483646 w 373"/>
              <a:gd name="T45" fmla="*/ 2147483646 h 1587"/>
              <a:gd name="T46" fmla="*/ 2147483646 w 373"/>
              <a:gd name="T47" fmla="*/ 2147483646 h 1587"/>
              <a:gd name="T48" fmla="*/ 2147483646 w 373"/>
              <a:gd name="T49" fmla="*/ 2147483646 h 1587"/>
              <a:gd name="T50" fmla="*/ 2147483646 w 373"/>
              <a:gd name="T51" fmla="*/ 2147483646 h 1587"/>
              <a:gd name="T52" fmla="*/ 2147483646 w 373"/>
              <a:gd name="T53" fmla="*/ 2147483646 h 1587"/>
              <a:gd name="T54" fmla="*/ 2147483646 w 373"/>
              <a:gd name="T55" fmla="*/ 2147483646 h 1587"/>
              <a:gd name="T56" fmla="*/ 2147483646 w 373"/>
              <a:gd name="T57" fmla="*/ 2147483646 h 1587"/>
              <a:gd name="T58" fmla="*/ 2147483646 w 373"/>
              <a:gd name="T59" fmla="*/ 2147483646 h 1587"/>
              <a:gd name="T60" fmla="*/ 2147483646 w 373"/>
              <a:gd name="T61" fmla="*/ 2147483646 h 1587"/>
              <a:gd name="T62" fmla="*/ 2147483646 w 373"/>
              <a:gd name="T63" fmla="*/ 2147483646 h 1587"/>
              <a:gd name="T64" fmla="*/ 2147483646 w 373"/>
              <a:gd name="T65" fmla="*/ 2147483646 h 1587"/>
              <a:gd name="T66" fmla="*/ 2147483646 w 373"/>
              <a:gd name="T67" fmla="*/ 2147483646 h 1587"/>
              <a:gd name="T68" fmla="*/ 2147483646 w 373"/>
              <a:gd name="T69" fmla="*/ 2147483646 h 1587"/>
              <a:gd name="T70" fmla="*/ 2147483646 w 373"/>
              <a:gd name="T71" fmla="*/ 2147483646 h 1587"/>
              <a:gd name="T72" fmla="*/ 2147483646 w 373"/>
              <a:gd name="T73" fmla="*/ 2147483646 h 1587"/>
              <a:gd name="T74" fmla="*/ 2147483646 w 373"/>
              <a:gd name="T75" fmla="*/ 2147483646 h 1587"/>
              <a:gd name="T76" fmla="*/ 2147483646 w 373"/>
              <a:gd name="T77" fmla="*/ 2147483646 h 1587"/>
              <a:gd name="T78" fmla="*/ 2147483646 w 373"/>
              <a:gd name="T79" fmla="*/ 2147483646 h 1587"/>
              <a:gd name="T80" fmla="*/ 2147483646 w 373"/>
              <a:gd name="T81" fmla="*/ 2147483646 h 1587"/>
              <a:gd name="T82" fmla="*/ 2147483646 w 373"/>
              <a:gd name="T83" fmla="*/ 2147483646 h 1587"/>
              <a:gd name="T84" fmla="*/ 2147483646 w 373"/>
              <a:gd name="T85" fmla="*/ 2147483646 h 1587"/>
              <a:gd name="T86" fmla="*/ 2147483646 w 373"/>
              <a:gd name="T87" fmla="*/ 2147483646 h 1587"/>
              <a:gd name="T88" fmla="*/ 2147483646 w 373"/>
              <a:gd name="T89" fmla="*/ 0 h 1587"/>
              <a:gd name="T90" fmla="*/ 0 w 373"/>
              <a:gd name="T91" fmla="*/ 0 h 158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73"/>
              <a:gd name="T139" fmla="*/ 0 h 1587"/>
              <a:gd name="T140" fmla="*/ 373 w 373"/>
              <a:gd name="T141" fmla="*/ 1587 h 158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73" h="1587">
                <a:moveTo>
                  <a:pt x="0" y="1587"/>
                </a:moveTo>
                <a:lnTo>
                  <a:pt x="10" y="1585"/>
                </a:lnTo>
                <a:lnTo>
                  <a:pt x="19" y="1585"/>
                </a:lnTo>
                <a:lnTo>
                  <a:pt x="30" y="1584"/>
                </a:lnTo>
                <a:lnTo>
                  <a:pt x="38" y="1582"/>
                </a:lnTo>
                <a:lnTo>
                  <a:pt x="47" y="1579"/>
                </a:lnTo>
                <a:lnTo>
                  <a:pt x="57" y="1576"/>
                </a:lnTo>
                <a:lnTo>
                  <a:pt x="66" y="1573"/>
                </a:lnTo>
                <a:lnTo>
                  <a:pt x="75" y="1570"/>
                </a:lnTo>
                <a:lnTo>
                  <a:pt x="84" y="1566"/>
                </a:lnTo>
                <a:lnTo>
                  <a:pt x="94" y="1560"/>
                </a:lnTo>
                <a:lnTo>
                  <a:pt x="103" y="1556"/>
                </a:lnTo>
                <a:lnTo>
                  <a:pt x="112" y="1550"/>
                </a:lnTo>
                <a:lnTo>
                  <a:pt x="120" y="1544"/>
                </a:lnTo>
                <a:lnTo>
                  <a:pt x="128" y="1538"/>
                </a:lnTo>
                <a:lnTo>
                  <a:pt x="137" y="1531"/>
                </a:lnTo>
                <a:lnTo>
                  <a:pt x="145" y="1524"/>
                </a:lnTo>
                <a:lnTo>
                  <a:pt x="154" y="1516"/>
                </a:lnTo>
                <a:lnTo>
                  <a:pt x="161" y="1507"/>
                </a:lnTo>
                <a:lnTo>
                  <a:pt x="170" y="1499"/>
                </a:lnTo>
                <a:lnTo>
                  <a:pt x="178" y="1490"/>
                </a:lnTo>
                <a:lnTo>
                  <a:pt x="185" y="1481"/>
                </a:lnTo>
                <a:lnTo>
                  <a:pt x="194" y="1471"/>
                </a:lnTo>
                <a:lnTo>
                  <a:pt x="201" y="1461"/>
                </a:lnTo>
                <a:lnTo>
                  <a:pt x="208" y="1450"/>
                </a:lnTo>
                <a:lnTo>
                  <a:pt x="216" y="1440"/>
                </a:lnTo>
                <a:lnTo>
                  <a:pt x="223" y="1428"/>
                </a:lnTo>
                <a:lnTo>
                  <a:pt x="238" y="1405"/>
                </a:lnTo>
                <a:lnTo>
                  <a:pt x="251" y="1380"/>
                </a:lnTo>
                <a:lnTo>
                  <a:pt x="264" y="1354"/>
                </a:lnTo>
                <a:lnTo>
                  <a:pt x="276" y="1326"/>
                </a:lnTo>
                <a:lnTo>
                  <a:pt x="288" y="1297"/>
                </a:lnTo>
                <a:lnTo>
                  <a:pt x="299" y="1268"/>
                </a:lnTo>
                <a:lnTo>
                  <a:pt x="310" y="1237"/>
                </a:lnTo>
                <a:lnTo>
                  <a:pt x="318" y="1205"/>
                </a:lnTo>
                <a:lnTo>
                  <a:pt x="327" y="1171"/>
                </a:lnTo>
                <a:lnTo>
                  <a:pt x="336" y="1137"/>
                </a:lnTo>
                <a:lnTo>
                  <a:pt x="343" y="1102"/>
                </a:lnTo>
                <a:lnTo>
                  <a:pt x="351" y="1066"/>
                </a:lnTo>
                <a:lnTo>
                  <a:pt x="356" y="1029"/>
                </a:lnTo>
                <a:lnTo>
                  <a:pt x="361" y="991"/>
                </a:lnTo>
                <a:lnTo>
                  <a:pt x="365" y="953"/>
                </a:lnTo>
                <a:lnTo>
                  <a:pt x="368" y="913"/>
                </a:lnTo>
                <a:lnTo>
                  <a:pt x="371" y="874"/>
                </a:lnTo>
                <a:lnTo>
                  <a:pt x="373" y="834"/>
                </a:lnTo>
                <a:lnTo>
                  <a:pt x="373" y="793"/>
                </a:lnTo>
                <a:lnTo>
                  <a:pt x="373" y="752"/>
                </a:lnTo>
                <a:lnTo>
                  <a:pt x="371" y="712"/>
                </a:lnTo>
                <a:lnTo>
                  <a:pt x="368" y="672"/>
                </a:lnTo>
                <a:lnTo>
                  <a:pt x="365" y="633"/>
                </a:lnTo>
                <a:lnTo>
                  <a:pt x="361" y="594"/>
                </a:lnTo>
                <a:lnTo>
                  <a:pt x="356" y="558"/>
                </a:lnTo>
                <a:lnTo>
                  <a:pt x="351" y="520"/>
                </a:lnTo>
                <a:lnTo>
                  <a:pt x="343" y="485"/>
                </a:lnTo>
                <a:lnTo>
                  <a:pt x="336" y="450"/>
                </a:lnTo>
                <a:lnTo>
                  <a:pt x="327" y="414"/>
                </a:lnTo>
                <a:lnTo>
                  <a:pt x="318" y="382"/>
                </a:lnTo>
                <a:lnTo>
                  <a:pt x="310" y="350"/>
                </a:lnTo>
                <a:lnTo>
                  <a:pt x="299" y="318"/>
                </a:lnTo>
                <a:lnTo>
                  <a:pt x="288" y="289"/>
                </a:lnTo>
                <a:lnTo>
                  <a:pt x="276" y="259"/>
                </a:lnTo>
                <a:lnTo>
                  <a:pt x="264" y="232"/>
                </a:lnTo>
                <a:lnTo>
                  <a:pt x="251" y="207"/>
                </a:lnTo>
                <a:lnTo>
                  <a:pt x="238" y="182"/>
                </a:lnTo>
                <a:lnTo>
                  <a:pt x="223" y="157"/>
                </a:lnTo>
                <a:lnTo>
                  <a:pt x="216" y="147"/>
                </a:lnTo>
                <a:lnTo>
                  <a:pt x="208" y="135"/>
                </a:lnTo>
                <a:lnTo>
                  <a:pt x="201" y="125"/>
                </a:lnTo>
                <a:lnTo>
                  <a:pt x="194" y="115"/>
                </a:lnTo>
                <a:lnTo>
                  <a:pt x="185" y="106"/>
                </a:lnTo>
                <a:lnTo>
                  <a:pt x="178" y="96"/>
                </a:lnTo>
                <a:lnTo>
                  <a:pt x="170" y="87"/>
                </a:lnTo>
                <a:lnTo>
                  <a:pt x="161" y="78"/>
                </a:lnTo>
                <a:lnTo>
                  <a:pt x="154" y="71"/>
                </a:lnTo>
                <a:lnTo>
                  <a:pt x="145" y="62"/>
                </a:lnTo>
                <a:lnTo>
                  <a:pt x="137" y="55"/>
                </a:lnTo>
                <a:lnTo>
                  <a:pt x="128" y="49"/>
                </a:lnTo>
                <a:lnTo>
                  <a:pt x="120" y="41"/>
                </a:lnTo>
                <a:lnTo>
                  <a:pt x="112" y="36"/>
                </a:lnTo>
                <a:lnTo>
                  <a:pt x="103" y="30"/>
                </a:lnTo>
                <a:lnTo>
                  <a:pt x="94" y="25"/>
                </a:lnTo>
                <a:lnTo>
                  <a:pt x="84" y="21"/>
                </a:lnTo>
                <a:lnTo>
                  <a:pt x="75" y="17"/>
                </a:lnTo>
                <a:lnTo>
                  <a:pt x="66" y="12"/>
                </a:lnTo>
                <a:lnTo>
                  <a:pt x="57" y="9"/>
                </a:lnTo>
                <a:lnTo>
                  <a:pt x="47" y="6"/>
                </a:lnTo>
                <a:lnTo>
                  <a:pt x="38" y="5"/>
                </a:lnTo>
                <a:lnTo>
                  <a:pt x="30" y="2"/>
                </a:lnTo>
                <a:lnTo>
                  <a:pt x="19" y="0"/>
                </a:lnTo>
                <a:lnTo>
                  <a:pt x="10" y="0"/>
                </a:lnTo>
                <a:lnTo>
                  <a:pt x="0"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118" name="Rectangle 15">
            <a:extLst>
              <a:ext uri="{FF2B5EF4-FFF2-40B4-BE49-F238E27FC236}">
                <a16:creationId xmlns:a16="http://schemas.microsoft.com/office/drawing/2014/main" id="{6C70E074-8059-458D-A001-47F6CEAD20E4}"/>
              </a:ext>
            </a:extLst>
          </p:cNvPr>
          <p:cNvSpPr>
            <a:spLocks noChangeArrowheads="1"/>
          </p:cNvSpPr>
          <p:nvPr/>
        </p:nvSpPr>
        <p:spPr bwMode="auto">
          <a:xfrm>
            <a:off x="3835109" y="2286000"/>
            <a:ext cx="104515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solidFill>
                  <a:srgbClr val="000000"/>
                </a:solidFill>
                <a:ea typeface="新細明體" panose="02020500000000000000" pitchFamily="18" charset="-120"/>
              </a:rPr>
              <a:t>Privileged</a:t>
            </a:r>
            <a:endParaRPr lang="en-US" altLang="zh-TW" sz="2000" b="1">
              <a:solidFill>
                <a:srgbClr val="000066"/>
              </a:solidFill>
              <a:ea typeface="新細明體" panose="02020500000000000000" pitchFamily="18" charset="-120"/>
            </a:endParaRPr>
          </a:p>
        </p:txBody>
      </p:sp>
      <p:sp>
        <p:nvSpPr>
          <p:cNvPr id="47119" name="Rectangle 16">
            <a:extLst>
              <a:ext uri="{FF2B5EF4-FFF2-40B4-BE49-F238E27FC236}">
                <a16:creationId xmlns:a16="http://schemas.microsoft.com/office/drawing/2014/main" id="{58793B93-D8D8-40D4-83AB-2D1455208861}"/>
              </a:ext>
            </a:extLst>
          </p:cNvPr>
          <p:cNvSpPr>
            <a:spLocks noChangeArrowheads="1"/>
          </p:cNvSpPr>
          <p:nvPr/>
        </p:nvSpPr>
        <p:spPr bwMode="auto">
          <a:xfrm>
            <a:off x="4434668" y="1531938"/>
            <a:ext cx="49532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solidFill>
                  <a:srgbClr val="000000"/>
                </a:solidFill>
                <a:ea typeface="新細明體" panose="02020500000000000000" pitchFamily="18" charset="-120"/>
              </a:rPr>
              <a:t>Non-</a:t>
            </a:r>
            <a:endParaRPr lang="en-US" altLang="zh-TW" sz="2000" b="1">
              <a:solidFill>
                <a:srgbClr val="000066"/>
              </a:solidFill>
              <a:ea typeface="新細明體" panose="02020500000000000000" pitchFamily="18" charset="-120"/>
            </a:endParaRPr>
          </a:p>
        </p:txBody>
      </p:sp>
      <p:sp>
        <p:nvSpPr>
          <p:cNvPr id="47120" name="Rectangle 17">
            <a:extLst>
              <a:ext uri="{FF2B5EF4-FFF2-40B4-BE49-F238E27FC236}">
                <a16:creationId xmlns:a16="http://schemas.microsoft.com/office/drawing/2014/main" id="{5189984F-B098-4F75-8EC8-22177DA81DAF}"/>
              </a:ext>
            </a:extLst>
          </p:cNvPr>
          <p:cNvSpPr>
            <a:spLocks noChangeArrowheads="1"/>
          </p:cNvSpPr>
          <p:nvPr/>
        </p:nvSpPr>
        <p:spPr bwMode="auto">
          <a:xfrm>
            <a:off x="4179596" y="1784350"/>
            <a:ext cx="104515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solidFill>
                  <a:srgbClr val="000000"/>
                </a:solidFill>
                <a:ea typeface="新細明體" panose="02020500000000000000" pitchFamily="18" charset="-120"/>
              </a:rPr>
              <a:t>Privileged</a:t>
            </a:r>
            <a:endParaRPr lang="en-US" altLang="zh-TW" sz="2000" b="1">
              <a:solidFill>
                <a:srgbClr val="000066"/>
              </a:solidFill>
              <a:ea typeface="新細明體" panose="02020500000000000000" pitchFamily="18" charset="-120"/>
            </a:endParaRPr>
          </a:p>
        </p:txBody>
      </p:sp>
      <p:sp>
        <p:nvSpPr>
          <p:cNvPr id="47121" name="Rectangle 18">
            <a:extLst>
              <a:ext uri="{FF2B5EF4-FFF2-40B4-BE49-F238E27FC236}">
                <a16:creationId xmlns:a16="http://schemas.microsoft.com/office/drawing/2014/main" id="{8015AC5F-67AE-4AB5-8D36-BD26B100F5B5}"/>
              </a:ext>
            </a:extLst>
          </p:cNvPr>
          <p:cNvSpPr>
            <a:spLocks noChangeArrowheads="1"/>
          </p:cNvSpPr>
          <p:nvPr/>
        </p:nvSpPr>
        <p:spPr bwMode="auto">
          <a:xfrm>
            <a:off x="3875208" y="3230563"/>
            <a:ext cx="96019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solidFill>
                  <a:srgbClr val="000000"/>
                </a:solidFill>
                <a:ea typeface="新細明體" panose="02020500000000000000" pitchFamily="18" charset="-120"/>
              </a:rPr>
              <a:t>Sensitive</a:t>
            </a:r>
            <a:endParaRPr lang="en-US" altLang="zh-TW" sz="2000" b="1">
              <a:solidFill>
                <a:srgbClr val="000066"/>
              </a:solidFill>
              <a:ea typeface="新細明體" panose="02020500000000000000" pitchFamily="18" charset="-120"/>
            </a:endParaRPr>
          </a:p>
        </p:txBody>
      </p:sp>
      <p:sp>
        <p:nvSpPr>
          <p:cNvPr id="47122" name="Rectangle 19">
            <a:extLst>
              <a:ext uri="{FF2B5EF4-FFF2-40B4-BE49-F238E27FC236}">
                <a16:creationId xmlns:a16="http://schemas.microsoft.com/office/drawing/2014/main" id="{015116B8-0E2C-427D-A8C8-540621FD84DB}"/>
              </a:ext>
            </a:extLst>
          </p:cNvPr>
          <p:cNvSpPr>
            <a:spLocks noChangeArrowheads="1"/>
          </p:cNvSpPr>
          <p:nvPr/>
        </p:nvSpPr>
        <p:spPr bwMode="auto">
          <a:xfrm>
            <a:off x="2081214" y="3238500"/>
            <a:ext cx="10064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ea typeface="新細明體" panose="02020500000000000000" pitchFamily="18" charset="-120"/>
              </a:rPr>
              <a:t>Behavior-</a:t>
            </a:r>
            <a:endParaRPr lang="en-US" altLang="zh-TW" sz="2000" b="1">
              <a:ea typeface="新細明體" panose="02020500000000000000" pitchFamily="18" charset="-120"/>
            </a:endParaRPr>
          </a:p>
        </p:txBody>
      </p:sp>
      <p:sp>
        <p:nvSpPr>
          <p:cNvPr id="47123" name="Rectangle 20">
            <a:extLst>
              <a:ext uri="{FF2B5EF4-FFF2-40B4-BE49-F238E27FC236}">
                <a16:creationId xmlns:a16="http://schemas.microsoft.com/office/drawing/2014/main" id="{47827DAA-F2D2-40F9-ADCC-66D16CB29567}"/>
              </a:ext>
            </a:extLst>
          </p:cNvPr>
          <p:cNvSpPr>
            <a:spLocks noChangeArrowheads="1"/>
          </p:cNvSpPr>
          <p:nvPr/>
        </p:nvSpPr>
        <p:spPr bwMode="auto">
          <a:xfrm>
            <a:off x="2111376" y="3489325"/>
            <a:ext cx="93662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ea typeface="新細明體" panose="02020500000000000000" pitchFamily="18" charset="-120"/>
              </a:rPr>
              <a:t>sensitive</a:t>
            </a:r>
            <a:endParaRPr lang="en-US" altLang="zh-TW" sz="2000" b="1">
              <a:ea typeface="新細明體" panose="02020500000000000000" pitchFamily="18" charset="-120"/>
            </a:endParaRPr>
          </a:p>
        </p:txBody>
      </p:sp>
      <p:sp>
        <p:nvSpPr>
          <p:cNvPr id="47124" name="Rectangle 21">
            <a:extLst>
              <a:ext uri="{FF2B5EF4-FFF2-40B4-BE49-F238E27FC236}">
                <a16:creationId xmlns:a16="http://schemas.microsoft.com/office/drawing/2014/main" id="{ADD5EF0C-4FA8-4A2A-9A44-FE331D1AAEA1}"/>
              </a:ext>
            </a:extLst>
          </p:cNvPr>
          <p:cNvSpPr>
            <a:spLocks noChangeArrowheads="1"/>
          </p:cNvSpPr>
          <p:nvPr/>
        </p:nvSpPr>
        <p:spPr bwMode="auto">
          <a:xfrm>
            <a:off x="5726114" y="3586163"/>
            <a:ext cx="84772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ea typeface="新細明體" panose="02020500000000000000" pitchFamily="18" charset="-120"/>
              </a:rPr>
              <a:t>Control</a:t>
            </a:r>
            <a:r>
              <a:rPr lang="en-US" altLang="zh-TW" sz="1700" b="1">
                <a:solidFill>
                  <a:srgbClr val="000000"/>
                </a:solidFill>
                <a:ea typeface="新細明體" panose="02020500000000000000" pitchFamily="18" charset="-120"/>
              </a:rPr>
              <a:t>-</a:t>
            </a:r>
            <a:endParaRPr lang="en-US" altLang="zh-TW" sz="2000" b="1">
              <a:solidFill>
                <a:srgbClr val="000066"/>
              </a:solidFill>
              <a:ea typeface="新細明體" panose="02020500000000000000" pitchFamily="18" charset="-120"/>
            </a:endParaRPr>
          </a:p>
        </p:txBody>
      </p:sp>
      <p:sp>
        <p:nvSpPr>
          <p:cNvPr id="47125" name="Rectangle 22">
            <a:extLst>
              <a:ext uri="{FF2B5EF4-FFF2-40B4-BE49-F238E27FC236}">
                <a16:creationId xmlns:a16="http://schemas.microsoft.com/office/drawing/2014/main" id="{4AF21CC4-A664-4187-BABD-D250C1A7249F}"/>
              </a:ext>
            </a:extLst>
          </p:cNvPr>
          <p:cNvSpPr>
            <a:spLocks noChangeArrowheads="1"/>
          </p:cNvSpPr>
          <p:nvPr/>
        </p:nvSpPr>
        <p:spPr bwMode="auto">
          <a:xfrm>
            <a:off x="5713414" y="3733800"/>
            <a:ext cx="93662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TW" sz="1700" b="1">
                <a:ea typeface="新細明體" panose="02020500000000000000" pitchFamily="18" charset="-120"/>
              </a:rPr>
              <a:t>sensitive</a:t>
            </a:r>
            <a:endParaRPr lang="en-US" altLang="zh-TW" sz="2000" b="1">
              <a:ea typeface="新細明體" panose="02020500000000000000" pitchFamily="18" charset="-120"/>
            </a:endParaRPr>
          </a:p>
        </p:txBody>
      </p:sp>
      <p:sp>
        <p:nvSpPr>
          <p:cNvPr id="47126" name="Line 23">
            <a:extLst>
              <a:ext uri="{FF2B5EF4-FFF2-40B4-BE49-F238E27FC236}">
                <a16:creationId xmlns:a16="http://schemas.microsoft.com/office/drawing/2014/main" id="{5A1BC4E7-7D4E-4B8E-AA75-CABB3D94118E}"/>
              </a:ext>
            </a:extLst>
          </p:cNvPr>
          <p:cNvSpPr>
            <a:spLocks noChangeShapeType="1"/>
          </p:cNvSpPr>
          <p:nvPr/>
        </p:nvSpPr>
        <p:spPr bwMode="auto">
          <a:xfrm flipV="1">
            <a:off x="3013075" y="3179763"/>
            <a:ext cx="895350" cy="30956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27" name="Freeform 24">
            <a:extLst>
              <a:ext uri="{FF2B5EF4-FFF2-40B4-BE49-F238E27FC236}">
                <a16:creationId xmlns:a16="http://schemas.microsoft.com/office/drawing/2014/main" id="{4C890D3D-8C58-44F6-98D8-63C5AAAD4A17}"/>
              </a:ext>
            </a:extLst>
          </p:cNvPr>
          <p:cNvSpPr>
            <a:spLocks/>
          </p:cNvSpPr>
          <p:nvPr/>
        </p:nvSpPr>
        <p:spPr bwMode="auto">
          <a:xfrm>
            <a:off x="3879851" y="3128963"/>
            <a:ext cx="168275" cy="107950"/>
          </a:xfrm>
          <a:custGeom>
            <a:avLst/>
            <a:gdLst>
              <a:gd name="T0" fmla="*/ 0 w 213"/>
              <a:gd name="T1" fmla="*/ 0 h 136"/>
              <a:gd name="T2" fmla="*/ 2147483646 w 213"/>
              <a:gd name="T3" fmla="*/ 2147483646 h 136"/>
              <a:gd name="T4" fmla="*/ 2147483646 w 213"/>
              <a:gd name="T5" fmla="*/ 2147483646 h 136"/>
              <a:gd name="T6" fmla="*/ 0 w 213"/>
              <a:gd name="T7" fmla="*/ 0 h 136"/>
              <a:gd name="T8" fmla="*/ 0 60000 65536"/>
              <a:gd name="T9" fmla="*/ 0 60000 65536"/>
              <a:gd name="T10" fmla="*/ 0 60000 65536"/>
              <a:gd name="T11" fmla="*/ 0 60000 65536"/>
              <a:gd name="T12" fmla="*/ 0 w 213"/>
              <a:gd name="T13" fmla="*/ 0 h 136"/>
              <a:gd name="T14" fmla="*/ 213 w 213"/>
              <a:gd name="T15" fmla="*/ 136 h 136"/>
            </a:gdLst>
            <a:ahLst/>
            <a:cxnLst>
              <a:cxn ang="T8">
                <a:pos x="T0" y="T1"/>
              </a:cxn>
              <a:cxn ang="T9">
                <a:pos x="T2" y="T3"/>
              </a:cxn>
              <a:cxn ang="T10">
                <a:pos x="T4" y="T5"/>
              </a:cxn>
              <a:cxn ang="T11">
                <a:pos x="T6" y="T7"/>
              </a:cxn>
            </a:cxnLst>
            <a:rect l="T12" t="T13" r="T14" b="T15"/>
            <a:pathLst>
              <a:path w="213" h="136">
                <a:moveTo>
                  <a:pt x="0" y="0"/>
                </a:moveTo>
                <a:lnTo>
                  <a:pt x="213" y="1"/>
                </a:lnTo>
                <a:lnTo>
                  <a:pt x="43" y="13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128" name="Line 25">
            <a:extLst>
              <a:ext uri="{FF2B5EF4-FFF2-40B4-BE49-F238E27FC236}">
                <a16:creationId xmlns:a16="http://schemas.microsoft.com/office/drawing/2014/main" id="{6B9FD5F4-8062-4FD6-BE94-FCEA1BD68B95}"/>
              </a:ext>
            </a:extLst>
          </p:cNvPr>
          <p:cNvSpPr>
            <a:spLocks noChangeShapeType="1"/>
          </p:cNvSpPr>
          <p:nvPr/>
        </p:nvSpPr>
        <p:spPr bwMode="auto">
          <a:xfrm flipH="1" flipV="1">
            <a:off x="4705350" y="3173413"/>
            <a:ext cx="1189038" cy="36036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29" name="Freeform 26">
            <a:extLst>
              <a:ext uri="{FF2B5EF4-FFF2-40B4-BE49-F238E27FC236}">
                <a16:creationId xmlns:a16="http://schemas.microsoft.com/office/drawing/2014/main" id="{3F85B68C-F356-4746-BEAD-16700C6A4562}"/>
              </a:ext>
            </a:extLst>
          </p:cNvPr>
          <p:cNvSpPr>
            <a:spLocks/>
          </p:cNvSpPr>
          <p:nvPr/>
        </p:nvSpPr>
        <p:spPr bwMode="auto">
          <a:xfrm>
            <a:off x="4564063" y="3122614"/>
            <a:ext cx="169862" cy="109537"/>
          </a:xfrm>
          <a:custGeom>
            <a:avLst/>
            <a:gdLst>
              <a:gd name="T0" fmla="*/ 2147483646 w 212"/>
              <a:gd name="T1" fmla="*/ 2147483646 h 138"/>
              <a:gd name="T2" fmla="*/ 0 w 212"/>
              <a:gd name="T3" fmla="*/ 2147483646 h 138"/>
              <a:gd name="T4" fmla="*/ 2147483646 w 212"/>
              <a:gd name="T5" fmla="*/ 0 h 138"/>
              <a:gd name="T6" fmla="*/ 2147483646 w 212"/>
              <a:gd name="T7" fmla="*/ 2147483646 h 138"/>
              <a:gd name="T8" fmla="*/ 0 60000 65536"/>
              <a:gd name="T9" fmla="*/ 0 60000 65536"/>
              <a:gd name="T10" fmla="*/ 0 60000 65536"/>
              <a:gd name="T11" fmla="*/ 0 60000 65536"/>
              <a:gd name="T12" fmla="*/ 0 w 212"/>
              <a:gd name="T13" fmla="*/ 0 h 138"/>
              <a:gd name="T14" fmla="*/ 212 w 212"/>
              <a:gd name="T15" fmla="*/ 138 h 138"/>
            </a:gdLst>
            <a:ahLst/>
            <a:cxnLst>
              <a:cxn ang="T8">
                <a:pos x="T0" y="T1"/>
              </a:cxn>
              <a:cxn ang="T9">
                <a:pos x="T2" y="T3"/>
              </a:cxn>
              <a:cxn ang="T10">
                <a:pos x="T4" y="T5"/>
              </a:cxn>
              <a:cxn ang="T11">
                <a:pos x="T6" y="T7"/>
              </a:cxn>
            </a:cxnLst>
            <a:rect l="T12" t="T13" r="T14" b="T15"/>
            <a:pathLst>
              <a:path w="212" h="138">
                <a:moveTo>
                  <a:pt x="176" y="138"/>
                </a:moveTo>
                <a:lnTo>
                  <a:pt x="0" y="10"/>
                </a:lnTo>
                <a:lnTo>
                  <a:pt x="212" y="0"/>
                </a:lnTo>
                <a:lnTo>
                  <a:pt x="176" y="1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130" name="Freeform 36">
            <a:extLst>
              <a:ext uri="{FF2B5EF4-FFF2-40B4-BE49-F238E27FC236}">
                <a16:creationId xmlns:a16="http://schemas.microsoft.com/office/drawing/2014/main" id="{4966169B-628E-4BFF-9A81-C97EB168E56F}"/>
              </a:ext>
            </a:extLst>
          </p:cNvPr>
          <p:cNvSpPr>
            <a:spLocks/>
          </p:cNvSpPr>
          <p:nvPr/>
        </p:nvSpPr>
        <p:spPr bwMode="auto">
          <a:xfrm>
            <a:off x="3492501" y="2146300"/>
            <a:ext cx="1477963" cy="1574800"/>
          </a:xfrm>
          <a:custGeom>
            <a:avLst/>
            <a:gdLst>
              <a:gd name="T0" fmla="*/ 2147483646 w 1862"/>
              <a:gd name="T1" fmla="*/ 2147483646 h 1983"/>
              <a:gd name="T2" fmla="*/ 2147483646 w 1862"/>
              <a:gd name="T3" fmla="*/ 2147483646 h 1983"/>
              <a:gd name="T4" fmla="*/ 2147483646 w 1862"/>
              <a:gd name="T5" fmla="*/ 2147483646 h 1983"/>
              <a:gd name="T6" fmla="*/ 2147483646 w 1862"/>
              <a:gd name="T7" fmla="*/ 2147483646 h 1983"/>
              <a:gd name="T8" fmla="*/ 2147483646 w 1862"/>
              <a:gd name="T9" fmla="*/ 2147483646 h 1983"/>
              <a:gd name="T10" fmla="*/ 2147483646 w 1862"/>
              <a:gd name="T11" fmla="*/ 2147483646 h 1983"/>
              <a:gd name="T12" fmla="*/ 2147483646 w 1862"/>
              <a:gd name="T13" fmla="*/ 2147483646 h 1983"/>
              <a:gd name="T14" fmla="*/ 2147483646 w 1862"/>
              <a:gd name="T15" fmla="*/ 2147483646 h 1983"/>
              <a:gd name="T16" fmla="*/ 2147483646 w 1862"/>
              <a:gd name="T17" fmla="*/ 2147483646 h 1983"/>
              <a:gd name="T18" fmla="*/ 2147483646 w 1862"/>
              <a:gd name="T19" fmla="*/ 2147483646 h 1983"/>
              <a:gd name="T20" fmla="*/ 2147483646 w 1862"/>
              <a:gd name="T21" fmla="*/ 2147483646 h 1983"/>
              <a:gd name="T22" fmla="*/ 2147483646 w 1862"/>
              <a:gd name="T23" fmla="*/ 2147483646 h 1983"/>
              <a:gd name="T24" fmla="*/ 0 w 1862"/>
              <a:gd name="T25" fmla="*/ 2147483646 h 1983"/>
              <a:gd name="T26" fmla="*/ 2147483646 w 1862"/>
              <a:gd name="T27" fmla="*/ 2147483646 h 1983"/>
              <a:gd name="T28" fmla="*/ 2147483646 w 1862"/>
              <a:gd name="T29" fmla="*/ 2147483646 h 1983"/>
              <a:gd name="T30" fmla="*/ 2147483646 w 1862"/>
              <a:gd name="T31" fmla="*/ 2147483646 h 1983"/>
              <a:gd name="T32" fmla="*/ 2147483646 w 1862"/>
              <a:gd name="T33" fmla="*/ 2147483646 h 1983"/>
              <a:gd name="T34" fmla="*/ 2147483646 w 1862"/>
              <a:gd name="T35" fmla="*/ 2147483646 h 1983"/>
              <a:gd name="T36" fmla="*/ 2147483646 w 1862"/>
              <a:gd name="T37" fmla="*/ 2147483646 h 1983"/>
              <a:gd name="T38" fmla="*/ 2147483646 w 1862"/>
              <a:gd name="T39" fmla="*/ 2147483646 h 1983"/>
              <a:gd name="T40" fmla="*/ 2147483646 w 1862"/>
              <a:gd name="T41" fmla="*/ 2147483646 h 1983"/>
              <a:gd name="T42" fmla="*/ 2147483646 w 1862"/>
              <a:gd name="T43" fmla="*/ 2147483646 h 1983"/>
              <a:gd name="T44" fmla="*/ 2147483646 w 1862"/>
              <a:gd name="T45" fmla="*/ 2147483646 h 1983"/>
              <a:gd name="T46" fmla="*/ 2147483646 w 1862"/>
              <a:gd name="T47" fmla="*/ 2147483646 h 1983"/>
              <a:gd name="T48" fmla="*/ 2147483646 w 1862"/>
              <a:gd name="T49" fmla="*/ 2147483646 h 1983"/>
              <a:gd name="T50" fmla="*/ 2147483646 w 1862"/>
              <a:gd name="T51" fmla="*/ 0 h 1983"/>
              <a:gd name="T52" fmla="*/ 2147483646 w 1862"/>
              <a:gd name="T53" fmla="*/ 2147483646 h 1983"/>
              <a:gd name="T54" fmla="*/ 2147483646 w 1862"/>
              <a:gd name="T55" fmla="*/ 2147483646 h 1983"/>
              <a:gd name="T56" fmla="*/ 2147483646 w 1862"/>
              <a:gd name="T57" fmla="*/ 2147483646 h 1983"/>
              <a:gd name="T58" fmla="*/ 2147483646 w 1862"/>
              <a:gd name="T59" fmla="*/ 2147483646 h 1983"/>
              <a:gd name="T60" fmla="*/ 2147483646 w 1862"/>
              <a:gd name="T61" fmla="*/ 2147483646 h 1983"/>
              <a:gd name="T62" fmla="*/ 2147483646 w 1862"/>
              <a:gd name="T63" fmla="*/ 2147483646 h 1983"/>
              <a:gd name="T64" fmla="*/ 2147483646 w 1862"/>
              <a:gd name="T65" fmla="*/ 2147483646 h 1983"/>
              <a:gd name="T66" fmla="*/ 2147483646 w 1862"/>
              <a:gd name="T67" fmla="*/ 2147483646 h 1983"/>
              <a:gd name="T68" fmla="*/ 2147483646 w 1862"/>
              <a:gd name="T69" fmla="*/ 2147483646 h 1983"/>
              <a:gd name="T70" fmla="*/ 2147483646 w 1862"/>
              <a:gd name="T71" fmla="*/ 2147483646 h 1983"/>
              <a:gd name="T72" fmla="*/ 2147483646 w 1862"/>
              <a:gd name="T73" fmla="*/ 2147483646 h 1983"/>
              <a:gd name="T74" fmla="*/ 2147483646 w 1862"/>
              <a:gd name="T75" fmla="*/ 2147483646 h 1983"/>
              <a:gd name="T76" fmla="*/ 2147483646 w 1862"/>
              <a:gd name="T77" fmla="*/ 2147483646 h 1983"/>
              <a:gd name="T78" fmla="*/ 2147483646 w 1862"/>
              <a:gd name="T79" fmla="*/ 2147483646 h 1983"/>
              <a:gd name="T80" fmla="*/ 2147483646 w 1862"/>
              <a:gd name="T81" fmla="*/ 2147483646 h 1983"/>
              <a:gd name="T82" fmla="*/ 2147483646 w 1862"/>
              <a:gd name="T83" fmla="*/ 2147483646 h 1983"/>
              <a:gd name="T84" fmla="*/ 2147483646 w 1862"/>
              <a:gd name="T85" fmla="*/ 2147483646 h 1983"/>
              <a:gd name="T86" fmla="*/ 2147483646 w 1862"/>
              <a:gd name="T87" fmla="*/ 2147483646 h 1983"/>
              <a:gd name="T88" fmla="*/ 2147483646 w 1862"/>
              <a:gd name="T89" fmla="*/ 2147483646 h 1983"/>
              <a:gd name="T90" fmla="*/ 2147483646 w 1862"/>
              <a:gd name="T91" fmla="*/ 2147483646 h 1983"/>
              <a:gd name="T92" fmla="*/ 2147483646 w 1862"/>
              <a:gd name="T93" fmla="*/ 2147483646 h 1983"/>
              <a:gd name="T94" fmla="*/ 2147483646 w 1862"/>
              <a:gd name="T95" fmla="*/ 2147483646 h 1983"/>
              <a:gd name="T96" fmla="*/ 2147483646 w 1862"/>
              <a:gd name="T97" fmla="*/ 2147483646 h 1983"/>
              <a:gd name="T98" fmla="*/ 2147483646 w 1862"/>
              <a:gd name="T99" fmla="*/ 2147483646 h 1983"/>
              <a:gd name="T100" fmla="*/ 2147483646 w 1862"/>
              <a:gd name="T101" fmla="*/ 2147483646 h 198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62"/>
              <a:gd name="T154" fmla="*/ 0 h 1983"/>
              <a:gd name="T155" fmla="*/ 1862 w 1862"/>
              <a:gd name="T156" fmla="*/ 1983 h 198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62" h="1983">
                <a:moveTo>
                  <a:pt x="932" y="1983"/>
                </a:moveTo>
                <a:lnTo>
                  <a:pt x="907" y="1983"/>
                </a:lnTo>
                <a:lnTo>
                  <a:pt x="884" y="1981"/>
                </a:lnTo>
                <a:lnTo>
                  <a:pt x="860" y="1980"/>
                </a:lnTo>
                <a:lnTo>
                  <a:pt x="837" y="1978"/>
                </a:lnTo>
                <a:lnTo>
                  <a:pt x="813" y="1975"/>
                </a:lnTo>
                <a:lnTo>
                  <a:pt x="790" y="1971"/>
                </a:lnTo>
                <a:lnTo>
                  <a:pt x="766" y="1968"/>
                </a:lnTo>
                <a:lnTo>
                  <a:pt x="744" y="1962"/>
                </a:lnTo>
                <a:lnTo>
                  <a:pt x="721" y="1958"/>
                </a:lnTo>
                <a:lnTo>
                  <a:pt x="699" y="1952"/>
                </a:lnTo>
                <a:lnTo>
                  <a:pt x="677" y="1944"/>
                </a:lnTo>
                <a:lnTo>
                  <a:pt x="655" y="1939"/>
                </a:lnTo>
                <a:lnTo>
                  <a:pt x="633" y="1931"/>
                </a:lnTo>
                <a:lnTo>
                  <a:pt x="611" y="1923"/>
                </a:lnTo>
                <a:lnTo>
                  <a:pt x="590" y="1914"/>
                </a:lnTo>
                <a:lnTo>
                  <a:pt x="568" y="1905"/>
                </a:lnTo>
                <a:lnTo>
                  <a:pt x="548" y="1895"/>
                </a:lnTo>
                <a:lnTo>
                  <a:pt x="527" y="1884"/>
                </a:lnTo>
                <a:lnTo>
                  <a:pt x="507" y="1874"/>
                </a:lnTo>
                <a:lnTo>
                  <a:pt x="488" y="1863"/>
                </a:lnTo>
                <a:lnTo>
                  <a:pt x="467" y="1851"/>
                </a:lnTo>
                <a:lnTo>
                  <a:pt x="448" y="1839"/>
                </a:lnTo>
                <a:lnTo>
                  <a:pt x="429" y="1826"/>
                </a:lnTo>
                <a:lnTo>
                  <a:pt x="412" y="1813"/>
                </a:lnTo>
                <a:lnTo>
                  <a:pt x="393" y="1800"/>
                </a:lnTo>
                <a:lnTo>
                  <a:pt x="375" y="1786"/>
                </a:lnTo>
                <a:lnTo>
                  <a:pt x="357" y="1772"/>
                </a:lnTo>
                <a:lnTo>
                  <a:pt x="340" y="1756"/>
                </a:lnTo>
                <a:lnTo>
                  <a:pt x="322" y="1741"/>
                </a:lnTo>
                <a:lnTo>
                  <a:pt x="306" y="1725"/>
                </a:lnTo>
                <a:lnTo>
                  <a:pt x="288" y="1709"/>
                </a:lnTo>
                <a:lnTo>
                  <a:pt x="274" y="1693"/>
                </a:lnTo>
                <a:lnTo>
                  <a:pt x="258" y="1675"/>
                </a:lnTo>
                <a:lnTo>
                  <a:pt x="242" y="1658"/>
                </a:lnTo>
                <a:lnTo>
                  <a:pt x="227" y="1640"/>
                </a:lnTo>
                <a:lnTo>
                  <a:pt x="214" y="1623"/>
                </a:lnTo>
                <a:lnTo>
                  <a:pt x="199" y="1604"/>
                </a:lnTo>
                <a:lnTo>
                  <a:pt x="186" y="1585"/>
                </a:lnTo>
                <a:lnTo>
                  <a:pt x="173" y="1566"/>
                </a:lnTo>
                <a:lnTo>
                  <a:pt x="159" y="1545"/>
                </a:lnTo>
                <a:lnTo>
                  <a:pt x="148" y="1526"/>
                </a:lnTo>
                <a:lnTo>
                  <a:pt x="134" y="1506"/>
                </a:lnTo>
                <a:lnTo>
                  <a:pt x="124" y="1485"/>
                </a:lnTo>
                <a:lnTo>
                  <a:pt x="112" y="1465"/>
                </a:lnTo>
                <a:lnTo>
                  <a:pt x="102" y="1443"/>
                </a:lnTo>
                <a:lnTo>
                  <a:pt x="92" y="1421"/>
                </a:lnTo>
                <a:lnTo>
                  <a:pt x="83" y="1399"/>
                </a:lnTo>
                <a:lnTo>
                  <a:pt x="73" y="1377"/>
                </a:lnTo>
                <a:lnTo>
                  <a:pt x="66" y="1355"/>
                </a:lnTo>
                <a:lnTo>
                  <a:pt x="57" y="1333"/>
                </a:lnTo>
                <a:lnTo>
                  <a:pt x="49" y="1309"/>
                </a:lnTo>
                <a:lnTo>
                  <a:pt x="42" y="1286"/>
                </a:lnTo>
                <a:lnTo>
                  <a:pt x="36" y="1263"/>
                </a:lnTo>
                <a:lnTo>
                  <a:pt x="29" y="1239"/>
                </a:lnTo>
                <a:lnTo>
                  <a:pt x="25" y="1216"/>
                </a:lnTo>
                <a:lnTo>
                  <a:pt x="19" y="1191"/>
                </a:lnTo>
                <a:lnTo>
                  <a:pt x="14" y="1168"/>
                </a:lnTo>
                <a:lnTo>
                  <a:pt x="11" y="1143"/>
                </a:lnTo>
                <a:lnTo>
                  <a:pt x="8" y="1118"/>
                </a:lnTo>
                <a:lnTo>
                  <a:pt x="5" y="1093"/>
                </a:lnTo>
                <a:lnTo>
                  <a:pt x="3" y="1068"/>
                </a:lnTo>
                <a:lnTo>
                  <a:pt x="1" y="1042"/>
                </a:lnTo>
                <a:lnTo>
                  <a:pt x="1" y="1017"/>
                </a:lnTo>
                <a:lnTo>
                  <a:pt x="0" y="992"/>
                </a:lnTo>
                <a:lnTo>
                  <a:pt x="1" y="966"/>
                </a:lnTo>
                <a:lnTo>
                  <a:pt x="1" y="941"/>
                </a:lnTo>
                <a:lnTo>
                  <a:pt x="3" y="916"/>
                </a:lnTo>
                <a:lnTo>
                  <a:pt x="5" y="891"/>
                </a:lnTo>
                <a:lnTo>
                  <a:pt x="8" y="865"/>
                </a:lnTo>
                <a:lnTo>
                  <a:pt x="11" y="841"/>
                </a:lnTo>
                <a:lnTo>
                  <a:pt x="14" y="816"/>
                </a:lnTo>
                <a:lnTo>
                  <a:pt x="19" y="791"/>
                </a:lnTo>
                <a:lnTo>
                  <a:pt x="25" y="768"/>
                </a:lnTo>
                <a:lnTo>
                  <a:pt x="30" y="743"/>
                </a:lnTo>
                <a:lnTo>
                  <a:pt x="36" y="720"/>
                </a:lnTo>
                <a:lnTo>
                  <a:pt x="42" y="696"/>
                </a:lnTo>
                <a:lnTo>
                  <a:pt x="49" y="674"/>
                </a:lnTo>
                <a:lnTo>
                  <a:pt x="57" y="651"/>
                </a:lnTo>
                <a:lnTo>
                  <a:pt x="66" y="628"/>
                </a:lnTo>
                <a:lnTo>
                  <a:pt x="73" y="606"/>
                </a:lnTo>
                <a:lnTo>
                  <a:pt x="83" y="584"/>
                </a:lnTo>
                <a:lnTo>
                  <a:pt x="92" y="562"/>
                </a:lnTo>
                <a:lnTo>
                  <a:pt x="102" y="540"/>
                </a:lnTo>
                <a:lnTo>
                  <a:pt x="112" y="519"/>
                </a:lnTo>
                <a:lnTo>
                  <a:pt x="124" y="499"/>
                </a:lnTo>
                <a:lnTo>
                  <a:pt x="134" y="478"/>
                </a:lnTo>
                <a:lnTo>
                  <a:pt x="148" y="458"/>
                </a:lnTo>
                <a:lnTo>
                  <a:pt x="159" y="437"/>
                </a:lnTo>
                <a:lnTo>
                  <a:pt x="173" y="418"/>
                </a:lnTo>
                <a:lnTo>
                  <a:pt x="186" y="398"/>
                </a:lnTo>
                <a:lnTo>
                  <a:pt x="199" y="380"/>
                </a:lnTo>
                <a:lnTo>
                  <a:pt x="214" y="361"/>
                </a:lnTo>
                <a:lnTo>
                  <a:pt x="227" y="342"/>
                </a:lnTo>
                <a:lnTo>
                  <a:pt x="242" y="325"/>
                </a:lnTo>
                <a:lnTo>
                  <a:pt x="258" y="307"/>
                </a:lnTo>
                <a:lnTo>
                  <a:pt x="274" y="291"/>
                </a:lnTo>
                <a:lnTo>
                  <a:pt x="288" y="274"/>
                </a:lnTo>
                <a:lnTo>
                  <a:pt x="306" y="257"/>
                </a:lnTo>
                <a:lnTo>
                  <a:pt x="322" y="243"/>
                </a:lnTo>
                <a:lnTo>
                  <a:pt x="340" y="227"/>
                </a:lnTo>
                <a:lnTo>
                  <a:pt x="356" y="212"/>
                </a:lnTo>
                <a:lnTo>
                  <a:pt x="375" y="197"/>
                </a:lnTo>
                <a:lnTo>
                  <a:pt x="393" y="183"/>
                </a:lnTo>
                <a:lnTo>
                  <a:pt x="410" y="170"/>
                </a:lnTo>
                <a:lnTo>
                  <a:pt x="429" y="156"/>
                </a:lnTo>
                <a:lnTo>
                  <a:pt x="448" y="143"/>
                </a:lnTo>
                <a:lnTo>
                  <a:pt x="467" y="132"/>
                </a:lnTo>
                <a:lnTo>
                  <a:pt x="488" y="120"/>
                </a:lnTo>
                <a:lnTo>
                  <a:pt x="507" y="108"/>
                </a:lnTo>
                <a:lnTo>
                  <a:pt x="527" y="98"/>
                </a:lnTo>
                <a:lnTo>
                  <a:pt x="548" y="88"/>
                </a:lnTo>
                <a:lnTo>
                  <a:pt x="568" y="79"/>
                </a:lnTo>
                <a:lnTo>
                  <a:pt x="590" y="69"/>
                </a:lnTo>
                <a:lnTo>
                  <a:pt x="611" y="60"/>
                </a:lnTo>
                <a:lnTo>
                  <a:pt x="633" y="53"/>
                </a:lnTo>
                <a:lnTo>
                  <a:pt x="655" y="45"/>
                </a:lnTo>
                <a:lnTo>
                  <a:pt x="677" y="38"/>
                </a:lnTo>
                <a:lnTo>
                  <a:pt x="699" y="32"/>
                </a:lnTo>
                <a:lnTo>
                  <a:pt x="721" y="26"/>
                </a:lnTo>
                <a:lnTo>
                  <a:pt x="744" y="20"/>
                </a:lnTo>
                <a:lnTo>
                  <a:pt x="766" y="16"/>
                </a:lnTo>
                <a:lnTo>
                  <a:pt x="790" y="12"/>
                </a:lnTo>
                <a:lnTo>
                  <a:pt x="813" y="9"/>
                </a:lnTo>
                <a:lnTo>
                  <a:pt x="837" y="6"/>
                </a:lnTo>
                <a:lnTo>
                  <a:pt x="860" y="3"/>
                </a:lnTo>
                <a:lnTo>
                  <a:pt x="884" y="1"/>
                </a:lnTo>
                <a:lnTo>
                  <a:pt x="907" y="0"/>
                </a:lnTo>
                <a:lnTo>
                  <a:pt x="931" y="0"/>
                </a:lnTo>
                <a:lnTo>
                  <a:pt x="932" y="0"/>
                </a:lnTo>
                <a:lnTo>
                  <a:pt x="955" y="1"/>
                </a:lnTo>
                <a:lnTo>
                  <a:pt x="979" y="1"/>
                </a:lnTo>
                <a:lnTo>
                  <a:pt x="1002" y="3"/>
                </a:lnTo>
                <a:lnTo>
                  <a:pt x="1026" y="6"/>
                </a:lnTo>
                <a:lnTo>
                  <a:pt x="1049" y="9"/>
                </a:lnTo>
                <a:lnTo>
                  <a:pt x="1073" y="12"/>
                </a:lnTo>
                <a:lnTo>
                  <a:pt x="1096" y="16"/>
                </a:lnTo>
                <a:lnTo>
                  <a:pt x="1120" y="20"/>
                </a:lnTo>
                <a:lnTo>
                  <a:pt x="1142" y="26"/>
                </a:lnTo>
                <a:lnTo>
                  <a:pt x="1164" y="32"/>
                </a:lnTo>
                <a:lnTo>
                  <a:pt x="1186" y="38"/>
                </a:lnTo>
                <a:lnTo>
                  <a:pt x="1208" y="45"/>
                </a:lnTo>
                <a:lnTo>
                  <a:pt x="1230" y="53"/>
                </a:lnTo>
                <a:lnTo>
                  <a:pt x="1252" y="60"/>
                </a:lnTo>
                <a:lnTo>
                  <a:pt x="1272" y="69"/>
                </a:lnTo>
                <a:lnTo>
                  <a:pt x="1294" y="79"/>
                </a:lnTo>
                <a:lnTo>
                  <a:pt x="1315" y="88"/>
                </a:lnTo>
                <a:lnTo>
                  <a:pt x="1335" y="98"/>
                </a:lnTo>
                <a:lnTo>
                  <a:pt x="1356" y="108"/>
                </a:lnTo>
                <a:lnTo>
                  <a:pt x="1375" y="120"/>
                </a:lnTo>
                <a:lnTo>
                  <a:pt x="1395" y="132"/>
                </a:lnTo>
                <a:lnTo>
                  <a:pt x="1414" y="143"/>
                </a:lnTo>
                <a:lnTo>
                  <a:pt x="1433" y="156"/>
                </a:lnTo>
                <a:lnTo>
                  <a:pt x="1452" y="170"/>
                </a:lnTo>
                <a:lnTo>
                  <a:pt x="1470" y="183"/>
                </a:lnTo>
                <a:lnTo>
                  <a:pt x="1488" y="197"/>
                </a:lnTo>
                <a:lnTo>
                  <a:pt x="1507" y="212"/>
                </a:lnTo>
                <a:lnTo>
                  <a:pt x="1523" y="227"/>
                </a:lnTo>
                <a:lnTo>
                  <a:pt x="1540" y="243"/>
                </a:lnTo>
                <a:lnTo>
                  <a:pt x="1557" y="257"/>
                </a:lnTo>
                <a:lnTo>
                  <a:pt x="1574" y="274"/>
                </a:lnTo>
                <a:lnTo>
                  <a:pt x="1590" y="291"/>
                </a:lnTo>
                <a:lnTo>
                  <a:pt x="1605" y="307"/>
                </a:lnTo>
                <a:lnTo>
                  <a:pt x="1621" y="325"/>
                </a:lnTo>
                <a:lnTo>
                  <a:pt x="1636" y="342"/>
                </a:lnTo>
                <a:lnTo>
                  <a:pt x="1650" y="361"/>
                </a:lnTo>
                <a:lnTo>
                  <a:pt x="1664" y="380"/>
                </a:lnTo>
                <a:lnTo>
                  <a:pt x="1677" y="398"/>
                </a:lnTo>
                <a:lnTo>
                  <a:pt x="1690" y="418"/>
                </a:lnTo>
                <a:lnTo>
                  <a:pt x="1703" y="437"/>
                </a:lnTo>
                <a:lnTo>
                  <a:pt x="1715" y="458"/>
                </a:lnTo>
                <a:lnTo>
                  <a:pt x="1728" y="477"/>
                </a:lnTo>
                <a:lnTo>
                  <a:pt x="1738" y="499"/>
                </a:lnTo>
                <a:lnTo>
                  <a:pt x="1750" y="519"/>
                </a:lnTo>
                <a:lnTo>
                  <a:pt x="1760" y="540"/>
                </a:lnTo>
                <a:lnTo>
                  <a:pt x="1771" y="562"/>
                </a:lnTo>
                <a:lnTo>
                  <a:pt x="1779" y="584"/>
                </a:lnTo>
                <a:lnTo>
                  <a:pt x="1790" y="606"/>
                </a:lnTo>
                <a:lnTo>
                  <a:pt x="1797" y="628"/>
                </a:lnTo>
                <a:lnTo>
                  <a:pt x="1806" y="651"/>
                </a:lnTo>
                <a:lnTo>
                  <a:pt x="1813" y="673"/>
                </a:lnTo>
                <a:lnTo>
                  <a:pt x="1820" y="696"/>
                </a:lnTo>
                <a:lnTo>
                  <a:pt x="1826" y="720"/>
                </a:lnTo>
                <a:lnTo>
                  <a:pt x="1834" y="743"/>
                </a:lnTo>
                <a:lnTo>
                  <a:pt x="1838" y="768"/>
                </a:lnTo>
                <a:lnTo>
                  <a:pt x="1844" y="791"/>
                </a:lnTo>
                <a:lnTo>
                  <a:pt x="1848" y="816"/>
                </a:lnTo>
                <a:lnTo>
                  <a:pt x="1851" y="841"/>
                </a:lnTo>
                <a:lnTo>
                  <a:pt x="1854" y="865"/>
                </a:lnTo>
                <a:lnTo>
                  <a:pt x="1857" y="890"/>
                </a:lnTo>
                <a:lnTo>
                  <a:pt x="1860" y="916"/>
                </a:lnTo>
                <a:lnTo>
                  <a:pt x="1862" y="941"/>
                </a:lnTo>
                <a:lnTo>
                  <a:pt x="1862" y="966"/>
                </a:lnTo>
                <a:lnTo>
                  <a:pt x="1862" y="992"/>
                </a:lnTo>
                <a:lnTo>
                  <a:pt x="1862" y="1017"/>
                </a:lnTo>
                <a:lnTo>
                  <a:pt x="1862" y="1043"/>
                </a:lnTo>
                <a:lnTo>
                  <a:pt x="1860" y="1068"/>
                </a:lnTo>
                <a:lnTo>
                  <a:pt x="1857" y="1093"/>
                </a:lnTo>
                <a:lnTo>
                  <a:pt x="1854" y="1118"/>
                </a:lnTo>
                <a:lnTo>
                  <a:pt x="1851" y="1143"/>
                </a:lnTo>
                <a:lnTo>
                  <a:pt x="1848" y="1168"/>
                </a:lnTo>
                <a:lnTo>
                  <a:pt x="1844" y="1191"/>
                </a:lnTo>
                <a:lnTo>
                  <a:pt x="1838" y="1216"/>
                </a:lnTo>
                <a:lnTo>
                  <a:pt x="1834" y="1239"/>
                </a:lnTo>
                <a:lnTo>
                  <a:pt x="1826" y="1263"/>
                </a:lnTo>
                <a:lnTo>
                  <a:pt x="1820" y="1286"/>
                </a:lnTo>
                <a:lnTo>
                  <a:pt x="1813" y="1309"/>
                </a:lnTo>
                <a:lnTo>
                  <a:pt x="1806" y="1333"/>
                </a:lnTo>
                <a:lnTo>
                  <a:pt x="1797" y="1355"/>
                </a:lnTo>
                <a:lnTo>
                  <a:pt x="1790" y="1377"/>
                </a:lnTo>
                <a:lnTo>
                  <a:pt x="1779" y="1399"/>
                </a:lnTo>
                <a:lnTo>
                  <a:pt x="1771" y="1421"/>
                </a:lnTo>
                <a:lnTo>
                  <a:pt x="1760" y="1443"/>
                </a:lnTo>
                <a:lnTo>
                  <a:pt x="1750" y="1465"/>
                </a:lnTo>
                <a:lnTo>
                  <a:pt x="1738" y="1485"/>
                </a:lnTo>
                <a:lnTo>
                  <a:pt x="1728" y="1506"/>
                </a:lnTo>
                <a:lnTo>
                  <a:pt x="1715" y="1526"/>
                </a:lnTo>
                <a:lnTo>
                  <a:pt x="1703" y="1545"/>
                </a:lnTo>
                <a:lnTo>
                  <a:pt x="1690" y="1566"/>
                </a:lnTo>
                <a:lnTo>
                  <a:pt x="1677" y="1585"/>
                </a:lnTo>
                <a:lnTo>
                  <a:pt x="1664" y="1604"/>
                </a:lnTo>
                <a:lnTo>
                  <a:pt x="1650" y="1623"/>
                </a:lnTo>
                <a:lnTo>
                  <a:pt x="1636" y="1640"/>
                </a:lnTo>
                <a:lnTo>
                  <a:pt x="1621" y="1658"/>
                </a:lnTo>
                <a:lnTo>
                  <a:pt x="1605" y="1675"/>
                </a:lnTo>
                <a:lnTo>
                  <a:pt x="1590" y="1693"/>
                </a:lnTo>
                <a:lnTo>
                  <a:pt x="1574" y="1709"/>
                </a:lnTo>
                <a:lnTo>
                  <a:pt x="1557" y="1725"/>
                </a:lnTo>
                <a:lnTo>
                  <a:pt x="1540" y="1741"/>
                </a:lnTo>
                <a:lnTo>
                  <a:pt x="1523" y="1756"/>
                </a:lnTo>
                <a:lnTo>
                  <a:pt x="1507" y="1772"/>
                </a:lnTo>
                <a:lnTo>
                  <a:pt x="1488" y="1786"/>
                </a:lnTo>
                <a:lnTo>
                  <a:pt x="1470" y="1800"/>
                </a:lnTo>
                <a:lnTo>
                  <a:pt x="1452" y="1813"/>
                </a:lnTo>
                <a:lnTo>
                  <a:pt x="1433" y="1826"/>
                </a:lnTo>
                <a:lnTo>
                  <a:pt x="1414" y="1839"/>
                </a:lnTo>
                <a:lnTo>
                  <a:pt x="1395" y="1851"/>
                </a:lnTo>
                <a:lnTo>
                  <a:pt x="1375" y="1863"/>
                </a:lnTo>
                <a:lnTo>
                  <a:pt x="1356" y="1874"/>
                </a:lnTo>
                <a:lnTo>
                  <a:pt x="1335" y="1884"/>
                </a:lnTo>
                <a:lnTo>
                  <a:pt x="1315" y="1895"/>
                </a:lnTo>
                <a:lnTo>
                  <a:pt x="1294" y="1905"/>
                </a:lnTo>
                <a:lnTo>
                  <a:pt x="1272" y="1914"/>
                </a:lnTo>
                <a:lnTo>
                  <a:pt x="1252" y="1923"/>
                </a:lnTo>
                <a:lnTo>
                  <a:pt x="1230" y="1930"/>
                </a:lnTo>
                <a:lnTo>
                  <a:pt x="1208" y="1939"/>
                </a:lnTo>
                <a:lnTo>
                  <a:pt x="1186" y="1944"/>
                </a:lnTo>
                <a:lnTo>
                  <a:pt x="1164" y="1952"/>
                </a:lnTo>
                <a:lnTo>
                  <a:pt x="1142" y="1958"/>
                </a:lnTo>
                <a:lnTo>
                  <a:pt x="1118" y="1962"/>
                </a:lnTo>
                <a:lnTo>
                  <a:pt x="1096" y="1966"/>
                </a:lnTo>
                <a:lnTo>
                  <a:pt x="1073" y="1971"/>
                </a:lnTo>
                <a:lnTo>
                  <a:pt x="1049" y="1975"/>
                </a:lnTo>
                <a:lnTo>
                  <a:pt x="1026" y="1978"/>
                </a:lnTo>
                <a:lnTo>
                  <a:pt x="1002" y="1980"/>
                </a:lnTo>
                <a:lnTo>
                  <a:pt x="979" y="1981"/>
                </a:lnTo>
                <a:lnTo>
                  <a:pt x="955" y="1983"/>
                </a:lnTo>
                <a:lnTo>
                  <a:pt x="931" y="1983"/>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131" name="Rectangle 40">
            <a:extLst>
              <a:ext uri="{FF2B5EF4-FFF2-40B4-BE49-F238E27FC236}">
                <a16:creationId xmlns:a16="http://schemas.microsoft.com/office/drawing/2014/main" id="{09664092-FF16-4A7E-8030-7EBF945F9C22}"/>
              </a:ext>
            </a:extLst>
          </p:cNvPr>
          <p:cNvSpPr>
            <a:spLocks noChangeArrowheads="1"/>
          </p:cNvSpPr>
          <p:nvPr/>
        </p:nvSpPr>
        <p:spPr bwMode="auto">
          <a:xfrm>
            <a:off x="1854201" y="5334001"/>
            <a:ext cx="8207375"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764" tIns="47883" rIns="95764" bIns="47883"/>
          <a:lstStyle>
            <a:lvl1pPr marL="342900" indent="-342900">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buClr>
                <a:schemeClr val="tx1"/>
              </a:buClr>
              <a:buSzPct val="70000"/>
              <a:buFont typeface="Wingdings" panose="05000000000000000000" pitchFamily="2" charset="2"/>
              <a:buNone/>
            </a:pPr>
            <a:endParaRPr lang="en-US" altLang="zh-TW" sz="2400">
              <a:ea typeface="新細明體" panose="02020500000000000000" pitchFamily="18" charset="-120"/>
            </a:endParaRPr>
          </a:p>
        </p:txBody>
      </p:sp>
      <p:sp>
        <p:nvSpPr>
          <p:cNvPr id="35" name="Rectangle 3">
            <a:extLst>
              <a:ext uri="{FF2B5EF4-FFF2-40B4-BE49-F238E27FC236}">
                <a16:creationId xmlns:a16="http://schemas.microsoft.com/office/drawing/2014/main" id="{F1F391C5-7414-446C-A046-66794B78C54E}"/>
              </a:ext>
            </a:extLst>
          </p:cNvPr>
          <p:cNvSpPr txBox="1">
            <a:spLocks noChangeArrowheads="1"/>
          </p:cNvSpPr>
          <p:nvPr/>
        </p:nvSpPr>
        <p:spPr bwMode="auto">
          <a:xfrm>
            <a:off x="6176964" y="1376364"/>
            <a:ext cx="4289425" cy="214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764" tIns="47883" rIns="95764" bIns="47883"/>
          <a:lstStyle>
            <a:lvl1pPr marL="358775" indent="-358775" algn="l" defTabSz="958850" rtl="0" eaLnBrk="0" fontAlgn="base" hangingPunct="0">
              <a:spcBef>
                <a:spcPct val="20000"/>
              </a:spcBef>
              <a:spcAft>
                <a:spcPct val="0"/>
              </a:spcAft>
              <a:buClr>
                <a:schemeClr val="tx1"/>
              </a:buClr>
              <a:buSzPct val="70000"/>
              <a:buFont typeface="Wingdings" panose="05000000000000000000" pitchFamily="2" charset="2"/>
              <a:buChar char="q"/>
              <a:defRPr sz="2800" b="1">
                <a:solidFill>
                  <a:schemeClr val="tx1"/>
                </a:solidFill>
                <a:latin typeface="+mn-lt"/>
                <a:ea typeface="+mn-ea"/>
                <a:cs typeface="+mn-cs"/>
              </a:defRPr>
            </a:lvl1pPr>
            <a:lvl2pPr marL="777875" indent="-298450" algn="l" defTabSz="958850" rtl="0" eaLnBrk="0" fontAlgn="base" hangingPunct="0">
              <a:spcBef>
                <a:spcPct val="20000"/>
              </a:spcBef>
              <a:spcAft>
                <a:spcPct val="0"/>
              </a:spcAft>
              <a:buClr>
                <a:schemeClr val="tx1"/>
              </a:buClr>
              <a:buSzPct val="65000"/>
              <a:buChar char="•"/>
              <a:defRPr sz="2500">
                <a:solidFill>
                  <a:schemeClr val="tx1"/>
                </a:solidFill>
                <a:latin typeface="+mn-lt"/>
              </a:defRPr>
            </a:lvl2pPr>
            <a:lvl3pPr marL="1196975" indent="-238125" algn="l" defTabSz="958850" rtl="0" eaLnBrk="0" fontAlgn="base" hangingPunct="0">
              <a:spcBef>
                <a:spcPct val="20000"/>
              </a:spcBef>
              <a:spcAft>
                <a:spcPct val="0"/>
              </a:spcAft>
              <a:buClr>
                <a:schemeClr val="tx1"/>
              </a:buClr>
              <a:buSzPct val="65000"/>
              <a:buFont typeface="Wingdings" panose="05000000000000000000" pitchFamily="2" charset="2"/>
              <a:buChar char="•"/>
              <a:defRPr sz="2500">
                <a:solidFill>
                  <a:schemeClr val="tx1"/>
                </a:solidFill>
                <a:latin typeface="+mn-lt"/>
              </a:defRPr>
            </a:lvl3pPr>
            <a:lvl4pPr marL="1676400" indent="-239713" algn="l" defTabSz="958850" rtl="0" eaLnBrk="0" fontAlgn="base" hangingPunct="0">
              <a:spcBef>
                <a:spcPct val="20000"/>
              </a:spcBef>
              <a:spcAft>
                <a:spcPct val="0"/>
              </a:spcAft>
              <a:buClr>
                <a:schemeClr val="tx2"/>
              </a:buClr>
              <a:buSzPct val="75000"/>
              <a:buFont typeface="Wingdings" panose="05000000000000000000" pitchFamily="2" charset="2"/>
              <a:buChar char="–"/>
              <a:defRPr sz="2100">
                <a:solidFill>
                  <a:schemeClr val="tx1"/>
                </a:solidFill>
                <a:latin typeface="+mn-lt"/>
              </a:defRPr>
            </a:lvl4pPr>
            <a:lvl5pPr marL="2155825" indent="-241300" algn="l" defTabSz="958850" rtl="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mn-lt"/>
              </a:defRPr>
            </a:lvl5pPr>
            <a:lvl6pPr marL="2613025" indent="-241300" algn="l" defTabSz="958850" rtl="0" fontAlgn="base">
              <a:spcBef>
                <a:spcPct val="20000"/>
              </a:spcBef>
              <a:spcAft>
                <a:spcPct val="0"/>
              </a:spcAft>
              <a:buClr>
                <a:schemeClr val="tx1"/>
              </a:buClr>
              <a:buSzPct val="65000"/>
              <a:buFont typeface="Wingdings" pitchFamily="2" charset="2"/>
              <a:defRPr sz="2100" b="1">
                <a:solidFill>
                  <a:schemeClr val="tx1"/>
                </a:solidFill>
                <a:latin typeface="+mn-lt"/>
              </a:defRPr>
            </a:lvl6pPr>
            <a:lvl7pPr marL="3070225" indent="-241300" algn="l" defTabSz="958850" rtl="0" fontAlgn="base">
              <a:spcBef>
                <a:spcPct val="20000"/>
              </a:spcBef>
              <a:spcAft>
                <a:spcPct val="0"/>
              </a:spcAft>
              <a:buClr>
                <a:schemeClr val="tx1"/>
              </a:buClr>
              <a:buSzPct val="65000"/>
              <a:buFont typeface="Wingdings" pitchFamily="2" charset="2"/>
              <a:defRPr sz="2100" b="1">
                <a:solidFill>
                  <a:schemeClr val="tx1"/>
                </a:solidFill>
                <a:latin typeface="+mn-lt"/>
              </a:defRPr>
            </a:lvl7pPr>
            <a:lvl8pPr marL="3527425" indent="-241300" algn="l" defTabSz="958850" rtl="0" fontAlgn="base">
              <a:spcBef>
                <a:spcPct val="20000"/>
              </a:spcBef>
              <a:spcAft>
                <a:spcPct val="0"/>
              </a:spcAft>
              <a:buClr>
                <a:schemeClr val="tx1"/>
              </a:buClr>
              <a:buSzPct val="65000"/>
              <a:buFont typeface="Wingdings" pitchFamily="2" charset="2"/>
              <a:defRPr sz="2100" b="1">
                <a:solidFill>
                  <a:schemeClr val="tx1"/>
                </a:solidFill>
                <a:latin typeface="+mn-lt"/>
              </a:defRPr>
            </a:lvl8pPr>
            <a:lvl9pPr marL="3984625" indent="-241300" algn="l" defTabSz="958850" rtl="0" fontAlgn="base">
              <a:spcBef>
                <a:spcPct val="20000"/>
              </a:spcBef>
              <a:spcAft>
                <a:spcPct val="0"/>
              </a:spcAft>
              <a:buClr>
                <a:schemeClr val="tx1"/>
              </a:buClr>
              <a:buSzPct val="65000"/>
              <a:buFont typeface="Wingdings" pitchFamily="2" charset="2"/>
              <a:defRPr sz="2100" b="1">
                <a:solidFill>
                  <a:schemeClr val="tx1"/>
                </a:solidFill>
                <a:latin typeface="+mn-lt"/>
              </a:defRPr>
            </a:lvl9pPr>
          </a:lstStyle>
          <a:p>
            <a:pPr eaLnBrk="1" hangingPunct="1">
              <a:buFont typeface="Wingdings" panose="05000000000000000000" pitchFamily="2" charset="2"/>
              <a:buChar char="§"/>
              <a:defRPr/>
            </a:pPr>
            <a:r>
              <a:rPr lang="en-US" altLang="zh-TW" sz="2000" kern="0" dirty="0">
                <a:ea typeface="新細明體" panose="02020500000000000000" pitchFamily="18" charset="-120"/>
              </a:rPr>
              <a:t>Red instructions should trap</a:t>
            </a:r>
          </a:p>
          <a:p>
            <a:pPr eaLnBrk="1" hangingPunct="1">
              <a:buFont typeface="Wingdings" panose="05000000000000000000" pitchFamily="2" charset="2"/>
              <a:buChar char="§"/>
              <a:defRPr/>
            </a:pPr>
            <a:r>
              <a:rPr lang="en-US" altLang="zh-TW" sz="2000" kern="0" dirty="0">
                <a:solidFill>
                  <a:schemeClr val="tx2"/>
                </a:solidFill>
                <a:ea typeface="新細明體" panose="02020500000000000000" pitchFamily="18" charset="-120"/>
              </a:rPr>
              <a:t>Since Guest OS is now in user mode, some red instructions do not trap</a:t>
            </a:r>
          </a:p>
          <a:p>
            <a:pPr eaLnBrk="1" hangingPunct="1">
              <a:buFont typeface="Wingdings" panose="05000000000000000000" pitchFamily="2" charset="2"/>
              <a:buChar char="§"/>
              <a:defRPr/>
            </a:pPr>
            <a:r>
              <a:rPr lang="en-US" altLang="zh-TW" sz="2000" kern="0" dirty="0">
                <a:ea typeface="新細明體" panose="02020500000000000000" pitchFamily="18" charset="-120"/>
              </a:rPr>
              <a:t>With </a:t>
            </a:r>
            <a:r>
              <a:rPr lang="en-US" altLang="zh-TW" sz="2000" kern="0" dirty="0">
                <a:solidFill>
                  <a:srgbClr val="FF0000"/>
                </a:solidFill>
                <a:ea typeface="新細明體" panose="02020500000000000000" pitchFamily="18" charset="-120"/>
              </a:rPr>
              <a:t>Para-virtualization</a:t>
            </a:r>
            <a:r>
              <a:rPr lang="en-US" altLang="zh-TW" sz="2000" kern="0" dirty="0">
                <a:ea typeface="新細明體" panose="02020500000000000000" pitchFamily="18" charset="-120"/>
              </a:rPr>
              <a:t>, we could force them to trap</a:t>
            </a:r>
          </a:p>
          <a:p>
            <a:pPr eaLnBrk="1" hangingPunct="1">
              <a:buFont typeface="Wingdings" panose="05000000000000000000" pitchFamily="2" charset="2"/>
              <a:buChar char="§"/>
              <a:defRPr/>
            </a:pPr>
            <a:endParaRPr lang="en-US" altLang="zh-TW" sz="2000" kern="0" dirty="0">
              <a:solidFill>
                <a:srgbClr val="FFFF00"/>
              </a:solidFill>
              <a:ea typeface="新細明體" panose="02020500000000000000" pitchFamily="18" charset="-120"/>
            </a:endParaRPr>
          </a:p>
        </p:txBody>
      </p:sp>
      <p:sp>
        <p:nvSpPr>
          <p:cNvPr id="36" name="Rectangle 3">
            <a:extLst>
              <a:ext uri="{FF2B5EF4-FFF2-40B4-BE49-F238E27FC236}">
                <a16:creationId xmlns:a16="http://schemas.microsoft.com/office/drawing/2014/main" id="{890FD3A9-3E07-4F35-85D2-9936B3059848}"/>
              </a:ext>
            </a:extLst>
          </p:cNvPr>
          <p:cNvSpPr txBox="1">
            <a:spLocks noChangeArrowheads="1"/>
          </p:cNvSpPr>
          <p:nvPr/>
        </p:nvSpPr>
        <p:spPr bwMode="auto">
          <a:xfrm>
            <a:off x="2344739" y="4348163"/>
            <a:ext cx="7862887" cy="181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764" tIns="47883" rIns="95764" bIns="47883"/>
          <a:lstStyle>
            <a:lvl1pPr marL="358775" indent="-358775" algn="l" defTabSz="958850" rtl="0" eaLnBrk="0" fontAlgn="base" hangingPunct="0">
              <a:spcBef>
                <a:spcPct val="20000"/>
              </a:spcBef>
              <a:spcAft>
                <a:spcPct val="0"/>
              </a:spcAft>
              <a:buClr>
                <a:schemeClr val="tx1"/>
              </a:buClr>
              <a:buSzPct val="70000"/>
              <a:buFont typeface="Wingdings" panose="05000000000000000000" pitchFamily="2" charset="2"/>
              <a:buChar char="q"/>
              <a:defRPr sz="2800" b="1">
                <a:solidFill>
                  <a:schemeClr val="tx1"/>
                </a:solidFill>
                <a:latin typeface="+mn-lt"/>
                <a:ea typeface="+mn-ea"/>
                <a:cs typeface="+mn-cs"/>
              </a:defRPr>
            </a:lvl1pPr>
            <a:lvl2pPr marL="777875" indent="-298450" algn="l" defTabSz="958850" rtl="0" eaLnBrk="0" fontAlgn="base" hangingPunct="0">
              <a:spcBef>
                <a:spcPct val="20000"/>
              </a:spcBef>
              <a:spcAft>
                <a:spcPct val="0"/>
              </a:spcAft>
              <a:buClr>
                <a:schemeClr val="tx1"/>
              </a:buClr>
              <a:buSzPct val="65000"/>
              <a:buChar char="•"/>
              <a:defRPr sz="2500">
                <a:solidFill>
                  <a:schemeClr val="tx1"/>
                </a:solidFill>
                <a:latin typeface="+mn-lt"/>
              </a:defRPr>
            </a:lvl2pPr>
            <a:lvl3pPr marL="1196975" indent="-238125" algn="l" defTabSz="958850" rtl="0" eaLnBrk="0" fontAlgn="base" hangingPunct="0">
              <a:spcBef>
                <a:spcPct val="20000"/>
              </a:spcBef>
              <a:spcAft>
                <a:spcPct val="0"/>
              </a:spcAft>
              <a:buClr>
                <a:schemeClr val="tx1"/>
              </a:buClr>
              <a:buSzPct val="65000"/>
              <a:buFont typeface="Wingdings" panose="05000000000000000000" pitchFamily="2" charset="2"/>
              <a:buChar char="•"/>
              <a:defRPr sz="2500">
                <a:solidFill>
                  <a:schemeClr val="tx1"/>
                </a:solidFill>
                <a:latin typeface="+mn-lt"/>
              </a:defRPr>
            </a:lvl3pPr>
            <a:lvl4pPr marL="1676400" indent="-239713" algn="l" defTabSz="958850" rtl="0" eaLnBrk="0" fontAlgn="base" hangingPunct="0">
              <a:spcBef>
                <a:spcPct val="20000"/>
              </a:spcBef>
              <a:spcAft>
                <a:spcPct val="0"/>
              </a:spcAft>
              <a:buClr>
                <a:schemeClr val="tx2"/>
              </a:buClr>
              <a:buSzPct val="75000"/>
              <a:buFont typeface="Wingdings" panose="05000000000000000000" pitchFamily="2" charset="2"/>
              <a:buChar char="–"/>
              <a:defRPr sz="2100">
                <a:solidFill>
                  <a:schemeClr val="tx1"/>
                </a:solidFill>
                <a:latin typeface="+mn-lt"/>
              </a:defRPr>
            </a:lvl4pPr>
            <a:lvl5pPr marL="2155825" indent="-241300" algn="l" defTabSz="958850" rtl="0" eaLnBrk="0" fontAlgn="base" hangingPunct="0">
              <a:spcBef>
                <a:spcPct val="20000"/>
              </a:spcBef>
              <a:spcAft>
                <a:spcPct val="0"/>
              </a:spcAft>
              <a:buClr>
                <a:schemeClr val="tx1"/>
              </a:buClr>
              <a:buSzPct val="65000"/>
              <a:buFont typeface="Wingdings" panose="05000000000000000000" pitchFamily="2" charset="2"/>
              <a:buChar char="»"/>
              <a:defRPr sz="2100" b="1">
                <a:solidFill>
                  <a:schemeClr val="tx1"/>
                </a:solidFill>
                <a:latin typeface="+mn-lt"/>
              </a:defRPr>
            </a:lvl5pPr>
            <a:lvl6pPr marL="2613025" indent="-241300" algn="l" defTabSz="958850" rtl="0" fontAlgn="base">
              <a:spcBef>
                <a:spcPct val="20000"/>
              </a:spcBef>
              <a:spcAft>
                <a:spcPct val="0"/>
              </a:spcAft>
              <a:buClr>
                <a:schemeClr val="tx1"/>
              </a:buClr>
              <a:buSzPct val="65000"/>
              <a:buFont typeface="Wingdings" pitchFamily="2" charset="2"/>
              <a:defRPr sz="2100" b="1">
                <a:solidFill>
                  <a:schemeClr val="tx1"/>
                </a:solidFill>
                <a:latin typeface="+mn-lt"/>
              </a:defRPr>
            </a:lvl6pPr>
            <a:lvl7pPr marL="3070225" indent="-241300" algn="l" defTabSz="958850" rtl="0" fontAlgn="base">
              <a:spcBef>
                <a:spcPct val="20000"/>
              </a:spcBef>
              <a:spcAft>
                <a:spcPct val="0"/>
              </a:spcAft>
              <a:buClr>
                <a:schemeClr val="tx1"/>
              </a:buClr>
              <a:buSzPct val="65000"/>
              <a:buFont typeface="Wingdings" pitchFamily="2" charset="2"/>
              <a:defRPr sz="2100" b="1">
                <a:solidFill>
                  <a:schemeClr val="tx1"/>
                </a:solidFill>
                <a:latin typeface="+mn-lt"/>
              </a:defRPr>
            </a:lvl7pPr>
            <a:lvl8pPr marL="3527425" indent="-241300" algn="l" defTabSz="958850" rtl="0" fontAlgn="base">
              <a:spcBef>
                <a:spcPct val="20000"/>
              </a:spcBef>
              <a:spcAft>
                <a:spcPct val="0"/>
              </a:spcAft>
              <a:buClr>
                <a:schemeClr val="tx1"/>
              </a:buClr>
              <a:buSzPct val="65000"/>
              <a:buFont typeface="Wingdings" pitchFamily="2" charset="2"/>
              <a:defRPr sz="2100" b="1">
                <a:solidFill>
                  <a:schemeClr val="tx1"/>
                </a:solidFill>
                <a:latin typeface="+mn-lt"/>
              </a:defRPr>
            </a:lvl8pPr>
            <a:lvl9pPr marL="3984625" indent="-241300" algn="l" defTabSz="958850" rtl="0" fontAlgn="base">
              <a:spcBef>
                <a:spcPct val="20000"/>
              </a:spcBef>
              <a:spcAft>
                <a:spcPct val="0"/>
              </a:spcAft>
              <a:buClr>
                <a:schemeClr val="tx1"/>
              </a:buClr>
              <a:buSzPct val="65000"/>
              <a:buFont typeface="Wingdings" pitchFamily="2" charset="2"/>
              <a:defRPr sz="2100" b="1">
                <a:solidFill>
                  <a:schemeClr val="tx1"/>
                </a:solidFill>
                <a:latin typeface="+mn-lt"/>
              </a:defRPr>
            </a:lvl9pPr>
          </a:lstStyle>
          <a:p>
            <a:pPr eaLnBrk="1" hangingPunct="1">
              <a:buFont typeface="Wingdings" panose="05000000000000000000" pitchFamily="2" charset="2"/>
              <a:buChar char="§"/>
              <a:defRPr/>
            </a:pPr>
            <a:r>
              <a:rPr lang="en-US" altLang="zh-TW" sz="2000" kern="0" dirty="0">
                <a:ea typeface="新細明體" panose="02020500000000000000" pitchFamily="18" charset="-120"/>
              </a:rPr>
              <a:t>If </a:t>
            </a:r>
            <a:r>
              <a:rPr lang="en-US" altLang="zh-TW" sz="2000" kern="0" dirty="0">
                <a:solidFill>
                  <a:srgbClr val="FF0000"/>
                </a:solidFill>
                <a:ea typeface="新細明體" panose="02020500000000000000" pitchFamily="18" charset="-120"/>
              </a:rPr>
              <a:t>Full-virtualization</a:t>
            </a:r>
            <a:r>
              <a:rPr lang="en-US" altLang="zh-TW" sz="2000" kern="0" dirty="0">
                <a:ea typeface="新細明體" panose="02020500000000000000" pitchFamily="18" charset="-120"/>
              </a:rPr>
              <a:t> is needed, we may have to use</a:t>
            </a:r>
          </a:p>
          <a:p>
            <a:pPr lvl="1" eaLnBrk="1" hangingPunct="1">
              <a:buFont typeface="Wingdings" panose="05000000000000000000" pitchFamily="2" charset="2"/>
              <a:buChar char="§"/>
              <a:defRPr/>
            </a:pPr>
            <a:r>
              <a:rPr lang="en-US" altLang="zh-TW" sz="1700" kern="0" dirty="0">
                <a:ea typeface="新細明體" panose="02020500000000000000" pitchFamily="18" charset="-120"/>
              </a:rPr>
              <a:t>Interpretation</a:t>
            </a:r>
          </a:p>
          <a:p>
            <a:pPr lvl="1" eaLnBrk="1" hangingPunct="1">
              <a:buFont typeface="Wingdings" panose="05000000000000000000" pitchFamily="2" charset="2"/>
              <a:buChar char="§"/>
              <a:defRPr/>
            </a:pPr>
            <a:r>
              <a:rPr lang="en-US" altLang="zh-TW" sz="1700" kern="0" dirty="0">
                <a:ea typeface="新細明體" panose="02020500000000000000" pitchFamily="18" charset="-120"/>
              </a:rPr>
              <a:t>DBT</a:t>
            </a:r>
          </a:p>
          <a:p>
            <a:pPr lvl="1" eaLnBrk="1" hangingPunct="1">
              <a:buFont typeface="Wingdings" panose="05000000000000000000" pitchFamily="2" charset="2"/>
              <a:buChar char="§"/>
              <a:defRPr/>
            </a:pPr>
            <a:r>
              <a:rPr lang="en-US" altLang="zh-TW" sz="1700" kern="0" dirty="0">
                <a:ea typeface="新細明體" panose="02020500000000000000" pitchFamily="18" charset="-120"/>
              </a:rPr>
              <a:t>Hardware Support</a:t>
            </a:r>
          </a:p>
          <a:p>
            <a:pPr eaLnBrk="1" hangingPunct="1">
              <a:buFont typeface="Wingdings" panose="05000000000000000000" pitchFamily="2" charset="2"/>
              <a:buChar char="§"/>
              <a:defRPr/>
            </a:pPr>
            <a:endParaRPr lang="en-US" altLang="zh-TW" sz="2000" kern="0" dirty="0">
              <a:ea typeface="新細明體" panose="02020500000000000000" pitchFamily="18" charset="-120"/>
            </a:endParaRPr>
          </a:p>
        </p:txBody>
      </p:sp>
      <p:sp>
        <p:nvSpPr>
          <p:cNvPr id="30" name="Text Box 5">
            <a:extLst>
              <a:ext uri="{FF2B5EF4-FFF2-40B4-BE49-F238E27FC236}">
                <a16:creationId xmlns:a16="http://schemas.microsoft.com/office/drawing/2014/main" id="{72019EA7-DBAB-44D7-BA2F-907C118720B7}"/>
              </a:ext>
            </a:extLst>
          </p:cNvPr>
          <p:cNvSpPr txBox="1">
            <a:spLocks noChangeArrowheads="1"/>
          </p:cNvSpPr>
          <p:nvPr/>
        </p:nvSpPr>
        <p:spPr bwMode="auto">
          <a:xfrm>
            <a:off x="9195656" y="4508867"/>
            <a:ext cx="2712916" cy="1631216"/>
          </a:xfrm>
          <a:prstGeom prst="rect">
            <a:avLst/>
          </a:prstGeom>
          <a:solidFill>
            <a:srgbClr val="FFFF00"/>
          </a:solidFill>
          <a:ln w="12700">
            <a:solidFill>
              <a:srgbClr val="FF0000"/>
            </a:solidFill>
            <a:prstDash val="sysDot"/>
            <a:miter lim="800000"/>
            <a:headEnd type="none" w="sm" len="sm"/>
            <a:tailEnd type="none" w="sm" len="sm"/>
          </a:ln>
        </p:spPr>
        <p:txBody>
          <a:bodyPr wrap="square">
            <a:spAutoFit/>
          </a:bodyPr>
          <a:lstStyle/>
          <a:p>
            <a:r>
              <a:rPr kumimoji="1" lang="en-US" altLang="zh-TW" sz="2000" b="1" dirty="0">
                <a:solidFill>
                  <a:srgbClr val="FF0000"/>
                </a:solidFill>
                <a:latin typeface="Arial" panose="020B0604020202090204" pitchFamily="34" charset="0"/>
              </a:rPr>
              <a:t>This is the technique used by VMWare when the hardware support was not available !</a:t>
            </a:r>
          </a:p>
        </p:txBody>
      </p:sp>
      <p:cxnSp>
        <p:nvCxnSpPr>
          <p:cNvPr id="3" name="Straight Arrow Connector 2">
            <a:extLst>
              <a:ext uri="{FF2B5EF4-FFF2-40B4-BE49-F238E27FC236}">
                <a16:creationId xmlns:a16="http://schemas.microsoft.com/office/drawing/2014/main" id="{B19933CF-6FE3-4FD1-BB4A-63A4F4E5CF28}"/>
              </a:ext>
            </a:extLst>
          </p:cNvPr>
          <p:cNvCxnSpPr>
            <a:cxnSpLocks/>
          </p:cNvCxnSpPr>
          <p:nvPr/>
        </p:nvCxnSpPr>
        <p:spPr bwMode="auto">
          <a:xfrm flipH="1" flipV="1">
            <a:off x="3749434" y="5170587"/>
            <a:ext cx="5358583" cy="50701"/>
          </a:xfrm>
          <a:prstGeom prst="straightConnector1">
            <a:avLst/>
          </a:prstGeom>
          <a:noFill/>
          <a:ln w="15875" cap="flat" cmpd="sng" algn="ctr">
            <a:solidFill>
              <a:srgbClr val="FF0000"/>
            </a:solidFill>
            <a:prstDash val="solid"/>
            <a:round/>
            <a:headEnd type="none" w="med" len="med"/>
            <a:tailEnd type="triangle"/>
          </a:ln>
          <a:effectLst/>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63D8E-4474-4164-815C-E4CAB0EF2671}"/>
              </a:ext>
            </a:extLst>
          </p:cNvPr>
          <p:cNvSpPr>
            <a:spLocks noGrp="1"/>
          </p:cNvSpPr>
          <p:nvPr>
            <p:ph type="title"/>
          </p:nvPr>
        </p:nvSpPr>
        <p:spPr>
          <a:xfrm>
            <a:off x="1677194" y="-152151"/>
            <a:ext cx="8815388" cy="1143000"/>
          </a:xfrm>
        </p:spPr>
        <p:txBody>
          <a:bodyPr/>
          <a:lstStyle/>
          <a:p>
            <a:pPr>
              <a:defRPr/>
            </a:pPr>
            <a:r>
              <a:rPr lang="en-US" sz="4000" dirty="0"/>
              <a:t>Para-Virtualization vs. Full Virtualization</a:t>
            </a:r>
          </a:p>
        </p:txBody>
      </p:sp>
      <p:sp>
        <p:nvSpPr>
          <p:cNvPr id="59395" name="Text Placeholder 2">
            <a:extLst>
              <a:ext uri="{FF2B5EF4-FFF2-40B4-BE49-F238E27FC236}">
                <a16:creationId xmlns:a16="http://schemas.microsoft.com/office/drawing/2014/main" id="{23E61F60-EB57-4BDC-9622-B7814EA3B417}"/>
              </a:ext>
            </a:extLst>
          </p:cNvPr>
          <p:cNvSpPr>
            <a:spLocks noGrp="1"/>
          </p:cNvSpPr>
          <p:nvPr>
            <p:ph type="body" sz="half" idx="1"/>
          </p:nvPr>
        </p:nvSpPr>
        <p:spPr>
          <a:xfrm>
            <a:off x="541421" y="1066800"/>
            <a:ext cx="11411396" cy="4828674"/>
          </a:xfrm>
        </p:spPr>
        <p:txBody>
          <a:bodyPr/>
          <a:lstStyle/>
          <a:p>
            <a:pPr>
              <a:defRPr/>
            </a:pPr>
            <a:r>
              <a:rPr lang="en-US" altLang="en-US" dirty="0"/>
              <a:t>Full Virtualization (FV)</a:t>
            </a:r>
          </a:p>
          <a:p>
            <a:pPr lvl="1">
              <a:defRPr/>
            </a:pPr>
            <a:r>
              <a:rPr lang="en-US" altLang="en-US" dirty="0"/>
              <a:t>Transparent. Guest OSes are unmodified.</a:t>
            </a:r>
          </a:p>
          <a:p>
            <a:pPr>
              <a:defRPr/>
            </a:pPr>
            <a:r>
              <a:rPr lang="en-US" altLang="en-US" dirty="0"/>
              <a:t>Para-Virtualization (PV)</a:t>
            </a:r>
          </a:p>
          <a:p>
            <a:pPr lvl="1">
              <a:defRPr/>
            </a:pPr>
            <a:r>
              <a:rPr lang="en-US" altLang="en-US" dirty="0"/>
              <a:t>Special hooks to allow the guests and host to communicate.</a:t>
            </a:r>
          </a:p>
          <a:p>
            <a:pPr lvl="1">
              <a:defRPr/>
            </a:pPr>
            <a:r>
              <a:rPr lang="en-US" altLang="en-US" dirty="0"/>
              <a:t>Simplifies VMM and reduce overhead</a:t>
            </a:r>
          </a:p>
          <a:p>
            <a:pPr lvl="1">
              <a:defRPr/>
            </a:pPr>
            <a:r>
              <a:rPr lang="en-US" altLang="en-US" dirty="0"/>
              <a:t>Require the guest OS to be explicitly ported for the “Para-API”. </a:t>
            </a:r>
          </a:p>
          <a:p>
            <a:pPr lvl="1">
              <a:defRPr/>
            </a:pPr>
            <a:r>
              <a:rPr lang="en-US" altLang="en-US" dirty="0"/>
              <a:t>The term was first used in the </a:t>
            </a:r>
            <a:r>
              <a:rPr lang="en-US" altLang="en-US" b="1" dirty="0">
                <a:solidFill>
                  <a:srgbClr val="FF0000"/>
                </a:solidFill>
              </a:rPr>
              <a:t>Denali </a:t>
            </a:r>
            <a:r>
              <a:rPr lang="en-US" altLang="en-US" dirty="0"/>
              <a:t>VMM, and later used in Xen, L4, VMWare, </a:t>
            </a:r>
            <a:r>
              <a:rPr lang="en-US" altLang="en-US" dirty="0" err="1"/>
              <a:t>Windriver</a:t>
            </a:r>
            <a:r>
              <a:rPr lang="en-US" altLang="en-US" dirty="0"/>
              <a:t>.</a:t>
            </a:r>
          </a:p>
        </p:txBody>
      </p:sp>
      <p:sp>
        <p:nvSpPr>
          <p:cNvPr id="59396" name="Date Placeholder 4">
            <a:extLst>
              <a:ext uri="{FF2B5EF4-FFF2-40B4-BE49-F238E27FC236}">
                <a16:creationId xmlns:a16="http://schemas.microsoft.com/office/drawing/2014/main" id="{5BA8B4FA-BDF4-48AE-A20F-F6C5A524F3A2}"/>
              </a:ext>
            </a:extLst>
          </p:cNvPr>
          <p:cNvSpPr>
            <a:spLocks noGrp="1"/>
          </p:cNvSpPr>
          <p:nvPr>
            <p:ph type="dt" sz="quarter" idx="10"/>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0066"/>
                </a:solidFill>
                <a:latin typeface="Arial" panose="020B0604020202020204" pitchFamily="34" charset="0"/>
              </a:defRPr>
            </a:lvl1pPr>
            <a:lvl2pPr marL="742950" indent="-285750">
              <a:defRPr sz="2000">
                <a:solidFill>
                  <a:srgbClr val="000066"/>
                </a:solidFill>
                <a:latin typeface="Arial" panose="020B0604020202020204" pitchFamily="34" charset="0"/>
              </a:defRPr>
            </a:lvl2pPr>
            <a:lvl3pPr marL="1143000" indent="-228600">
              <a:defRPr sz="2000">
                <a:solidFill>
                  <a:srgbClr val="000066"/>
                </a:solidFill>
                <a:latin typeface="Arial" panose="020B0604020202020204" pitchFamily="34" charset="0"/>
              </a:defRPr>
            </a:lvl3pPr>
            <a:lvl4pPr marL="1600200" indent="-228600">
              <a:defRPr sz="2000">
                <a:solidFill>
                  <a:srgbClr val="000066"/>
                </a:solidFill>
                <a:latin typeface="Arial" panose="020B0604020202020204" pitchFamily="34" charset="0"/>
              </a:defRPr>
            </a:lvl4pPr>
            <a:lvl5pPr marL="2057400" indent="-228600">
              <a:defRPr sz="2000">
                <a:solidFill>
                  <a:srgbClr val="000066"/>
                </a:solidFill>
                <a:latin typeface="Arial" panose="020B0604020202020204" pitchFamily="34" charset="0"/>
              </a:defRPr>
            </a:lvl5pPr>
            <a:lvl6pPr marL="2514600" indent="-228600" eaLnBrk="0" fontAlgn="base" hangingPunct="0">
              <a:spcBef>
                <a:spcPct val="0"/>
              </a:spcBef>
              <a:spcAft>
                <a:spcPct val="0"/>
              </a:spcAft>
              <a:defRPr sz="2000">
                <a:solidFill>
                  <a:srgbClr val="000066"/>
                </a:solidFill>
                <a:latin typeface="Arial" panose="020B0604020202020204" pitchFamily="34" charset="0"/>
              </a:defRPr>
            </a:lvl6pPr>
            <a:lvl7pPr marL="2971800" indent="-228600" eaLnBrk="0" fontAlgn="base" hangingPunct="0">
              <a:spcBef>
                <a:spcPct val="0"/>
              </a:spcBef>
              <a:spcAft>
                <a:spcPct val="0"/>
              </a:spcAft>
              <a:defRPr sz="2000">
                <a:solidFill>
                  <a:srgbClr val="000066"/>
                </a:solidFill>
                <a:latin typeface="Arial" panose="020B0604020202020204" pitchFamily="34" charset="0"/>
              </a:defRPr>
            </a:lvl7pPr>
            <a:lvl8pPr marL="3429000" indent="-228600" eaLnBrk="0" fontAlgn="base" hangingPunct="0">
              <a:spcBef>
                <a:spcPct val="0"/>
              </a:spcBef>
              <a:spcAft>
                <a:spcPct val="0"/>
              </a:spcAft>
              <a:defRPr sz="2000">
                <a:solidFill>
                  <a:srgbClr val="000066"/>
                </a:solidFill>
                <a:latin typeface="Arial" panose="020B0604020202020204" pitchFamily="34" charset="0"/>
              </a:defRPr>
            </a:lvl8pPr>
            <a:lvl9pPr marL="3886200" indent="-228600" eaLnBrk="0" fontAlgn="base" hangingPunct="0">
              <a:spcBef>
                <a:spcPct val="0"/>
              </a:spcBef>
              <a:spcAft>
                <a:spcPct val="0"/>
              </a:spcAft>
              <a:defRPr sz="2000">
                <a:solidFill>
                  <a:srgbClr val="000066"/>
                </a:solidFill>
                <a:latin typeface="Arial" panose="020B0604020202020204" pitchFamily="34" charset="0"/>
              </a:defRPr>
            </a:lvl9pPr>
          </a:lstStyle>
          <a:p>
            <a:pPr>
              <a:defRPr/>
            </a:pPr>
            <a:endParaRPr lang="en-US" altLang="zh-TW" sz="1500" dirty="0">
              <a:solidFill>
                <a:schemeClr val="tx1"/>
              </a:solidFill>
            </a:endParaRPr>
          </a:p>
        </p:txBody>
      </p:sp>
      <p:sp>
        <p:nvSpPr>
          <p:cNvPr id="59397" name="Slide Number Placeholder 5">
            <a:extLst>
              <a:ext uri="{FF2B5EF4-FFF2-40B4-BE49-F238E27FC236}">
                <a16:creationId xmlns:a16="http://schemas.microsoft.com/office/drawing/2014/main" id="{9A76E0E1-4810-4F2E-B600-6A1117A81687}"/>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FontTx/>
              <a:buNone/>
            </a:pPr>
            <a:fld id="{AA3032C7-6F0D-44EC-A29F-52C20AF9B889}" type="slidenum">
              <a:rPr lang="en-US" altLang="zh-TW" sz="1200"/>
              <a:pPr>
                <a:spcBef>
                  <a:spcPct val="0"/>
                </a:spcBef>
                <a:buClrTx/>
                <a:buFontTx/>
                <a:buNone/>
              </a:pPr>
              <a:t>53</a:t>
            </a:fld>
            <a:endParaRPr lang="en-US" altLang="zh-TW" sz="12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2F445C-4F99-495A-BFF4-AC4AAC7C1F98}"/>
              </a:ext>
            </a:extLst>
          </p:cNvPr>
          <p:cNvSpPr>
            <a:spLocks noGrp="1"/>
          </p:cNvSpPr>
          <p:nvPr>
            <p:ph type="title"/>
          </p:nvPr>
        </p:nvSpPr>
        <p:spPr>
          <a:xfrm>
            <a:off x="2057400" y="4276726"/>
            <a:ext cx="7772400" cy="595313"/>
          </a:xfrm>
        </p:spPr>
        <p:txBody>
          <a:bodyPr/>
          <a:lstStyle/>
          <a:p>
            <a:pPr>
              <a:defRPr/>
            </a:pPr>
            <a:r>
              <a:rPr lang="en-US" sz="2400" dirty="0"/>
              <a:t>             Pre VT-x                                 Post VT-x</a:t>
            </a:r>
          </a:p>
        </p:txBody>
      </p:sp>
      <p:pic>
        <p:nvPicPr>
          <p:cNvPr id="56323" name="Picture 2" descr="C:\Users\Rohan\Desktop\intel_vtx_pre_post.JPG">
            <a:extLst>
              <a:ext uri="{FF2B5EF4-FFF2-40B4-BE49-F238E27FC236}">
                <a16:creationId xmlns:a16="http://schemas.microsoft.com/office/drawing/2014/main" id="{8BFE640D-16ED-4619-A540-A23CBAF48F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1" y="923926"/>
            <a:ext cx="8220075" cy="354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 name="Table 10">
            <a:extLst>
              <a:ext uri="{FF2B5EF4-FFF2-40B4-BE49-F238E27FC236}">
                <a16:creationId xmlns:a16="http://schemas.microsoft.com/office/drawing/2014/main" id="{5C54DA52-F9B5-495D-ABF2-547DAA5B77B0}"/>
              </a:ext>
            </a:extLst>
          </p:cNvPr>
          <p:cNvGraphicFramePr>
            <a:graphicFrameLocks noGrp="1"/>
          </p:cNvGraphicFramePr>
          <p:nvPr/>
        </p:nvGraphicFramePr>
        <p:xfrm>
          <a:off x="2057400" y="4881563"/>
          <a:ext cx="8229600" cy="1651000"/>
        </p:xfrm>
        <a:graphic>
          <a:graphicData uri="http://schemas.openxmlformats.org/drawingml/2006/table">
            <a:tbl>
              <a:tblPr/>
              <a:tblGrid>
                <a:gridCol w="3962400">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tblGrid>
              <a:tr h="639975">
                <a:tc>
                  <a:txBody>
                    <a:bodyPr/>
                    <a:lstStyle>
                      <a:lvl1pPr>
                        <a:spcBef>
                          <a:spcPct val="20000"/>
                        </a:spcBef>
                        <a:buClr>
                          <a:schemeClr val="tx1"/>
                        </a:buClr>
                        <a:buSzPct val="70000"/>
                        <a:buFont typeface="Wingdings" panose="05000000000000000000" pitchFamily="2" charset="2"/>
                        <a:defRPr sz="2400" b="1">
                          <a:solidFill>
                            <a:schemeClr val="tx1"/>
                          </a:solidFill>
                          <a:latin typeface="Arial" panose="020B0604020202020204" pitchFamily="34" charset="0"/>
                        </a:defRPr>
                      </a:lvl1pPr>
                      <a:lvl2pPr marL="742950" indent="-285750">
                        <a:spcBef>
                          <a:spcPct val="20000"/>
                        </a:spcBef>
                        <a:buClr>
                          <a:schemeClr val="tx1"/>
                        </a:buClr>
                        <a:buSzPct val="65000"/>
                        <a:defRPr sz="2100">
                          <a:solidFill>
                            <a:schemeClr val="tx1"/>
                          </a:solidFill>
                          <a:latin typeface="Arial" panose="020B0604020202020204" pitchFamily="34" charset="0"/>
                        </a:defRPr>
                      </a:lvl2pPr>
                      <a:lvl3pPr marL="1143000" indent="-228600">
                        <a:spcBef>
                          <a:spcPct val="20000"/>
                        </a:spcBef>
                        <a:buClr>
                          <a:schemeClr val="tx1"/>
                        </a:buClr>
                        <a:buSzPct val="65000"/>
                        <a:buFont typeface="Wingdings" panose="05000000000000000000" pitchFamily="2" charset="2"/>
                        <a:defRPr sz="21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defRPr sz="1900">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defRPr sz="19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mj-lt"/>
                        <a:buNone/>
                        <a:tabLst/>
                      </a:pPr>
                      <a:r>
                        <a:rPr kumimoji="0" lang="en-US" altLang="zh-TW" sz="1800" b="0" i="0" u="none" strike="noStrike" cap="none" normalizeH="0" baseline="0" dirty="0">
                          <a:ln>
                            <a:noFill/>
                          </a:ln>
                          <a:solidFill>
                            <a:srgbClr val="582600"/>
                          </a:solidFill>
                          <a:effectLst/>
                          <a:latin typeface="Arial" panose="020B0604020202020204" pitchFamily="34" charset="0"/>
                          <a:ea typeface="新細明體" panose="02020500000000000000" pitchFamily="18" charset="-120"/>
                        </a:rPr>
                        <a:t>VMM ring de-privileging of guest OS</a:t>
                      </a:r>
                    </a:p>
                  </a:txBody>
                  <a:tcPr marT="45668" marB="4566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4F4F4"/>
                    </a:solidFill>
                  </a:tcPr>
                </a:tc>
                <a:tc>
                  <a:txBody>
                    <a:bodyPr/>
                    <a:lstStyle>
                      <a:lvl1pPr>
                        <a:spcBef>
                          <a:spcPct val="20000"/>
                        </a:spcBef>
                        <a:buClr>
                          <a:schemeClr val="tx1"/>
                        </a:buClr>
                        <a:buSzPct val="70000"/>
                        <a:buFont typeface="Wingdings" panose="05000000000000000000" pitchFamily="2" charset="2"/>
                        <a:defRPr sz="2400" b="1">
                          <a:solidFill>
                            <a:schemeClr val="tx1"/>
                          </a:solidFill>
                          <a:latin typeface="Arial" panose="020B0604020202020204" pitchFamily="34" charset="0"/>
                        </a:defRPr>
                      </a:lvl1pPr>
                      <a:lvl2pPr marL="742950" indent="-285750">
                        <a:spcBef>
                          <a:spcPct val="20000"/>
                        </a:spcBef>
                        <a:buClr>
                          <a:schemeClr val="tx1"/>
                        </a:buClr>
                        <a:buSzPct val="65000"/>
                        <a:defRPr sz="2100">
                          <a:solidFill>
                            <a:schemeClr val="tx1"/>
                          </a:solidFill>
                          <a:latin typeface="Arial" panose="020B0604020202020204" pitchFamily="34" charset="0"/>
                        </a:defRPr>
                      </a:lvl2pPr>
                      <a:lvl3pPr marL="1143000" indent="-228600">
                        <a:spcBef>
                          <a:spcPct val="20000"/>
                        </a:spcBef>
                        <a:buClr>
                          <a:schemeClr val="tx1"/>
                        </a:buClr>
                        <a:buSzPct val="65000"/>
                        <a:buFont typeface="Wingdings" panose="05000000000000000000" pitchFamily="2" charset="2"/>
                        <a:defRPr sz="21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defRPr sz="1900">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defRPr sz="19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582600"/>
                          </a:solidFill>
                          <a:effectLst/>
                          <a:latin typeface="Arial" panose="020B0604020202020204" pitchFamily="34" charset="0"/>
                          <a:ea typeface="新細明體" panose="02020500000000000000" pitchFamily="18" charset="-120"/>
                        </a:rPr>
                        <a:t>VMM executes in the VMX root-mode</a:t>
                      </a:r>
                    </a:p>
                  </a:txBody>
                  <a:tcPr marT="45668" marB="4566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4F4F4"/>
                    </a:solidFill>
                  </a:tcPr>
                </a:tc>
                <a:extLst>
                  <a:ext uri="{0D108BD9-81ED-4DB2-BD59-A6C34878D82A}">
                    <a16:rowId xmlns:a16="http://schemas.microsoft.com/office/drawing/2014/main" val="10000"/>
                  </a:ext>
                </a:extLst>
              </a:tr>
              <a:tr h="371050">
                <a:tc>
                  <a:txBody>
                    <a:bodyPr/>
                    <a:lstStyle>
                      <a:lvl1pPr>
                        <a:spcBef>
                          <a:spcPct val="20000"/>
                        </a:spcBef>
                        <a:buClr>
                          <a:schemeClr val="tx1"/>
                        </a:buClr>
                        <a:buSzPct val="70000"/>
                        <a:buFont typeface="Wingdings" panose="05000000000000000000" pitchFamily="2" charset="2"/>
                        <a:defRPr sz="2400" b="1">
                          <a:solidFill>
                            <a:schemeClr val="tx1"/>
                          </a:solidFill>
                          <a:latin typeface="Arial" panose="020B0604020202020204" pitchFamily="34" charset="0"/>
                        </a:defRPr>
                      </a:lvl1pPr>
                      <a:lvl2pPr marL="742950" indent="-285750">
                        <a:spcBef>
                          <a:spcPct val="20000"/>
                        </a:spcBef>
                        <a:buClr>
                          <a:schemeClr val="tx1"/>
                        </a:buClr>
                        <a:buSzPct val="65000"/>
                        <a:defRPr sz="2100">
                          <a:solidFill>
                            <a:schemeClr val="tx1"/>
                          </a:solidFill>
                          <a:latin typeface="Arial" panose="020B0604020202020204" pitchFamily="34" charset="0"/>
                        </a:defRPr>
                      </a:lvl2pPr>
                      <a:lvl3pPr marL="1143000" indent="-228600">
                        <a:spcBef>
                          <a:spcPct val="20000"/>
                        </a:spcBef>
                        <a:buClr>
                          <a:schemeClr val="tx1"/>
                        </a:buClr>
                        <a:buSzPct val="65000"/>
                        <a:buFont typeface="Wingdings" panose="05000000000000000000" pitchFamily="2" charset="2"/>
                        <a:defRPr sz="21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defRPr sz="1900">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defRPr sz="19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582600"/>
                          </a:solidFill>
                          <a:effectLst/>
                          <a:latin typeface="Arial" panose="020B0604020202020204" pitchFamily="34" charset="0"/>
                          <a:ea typeface="新細明體" panose="02020500000000000000" pitchFamily="18" charset="-120"/>
                        </a:rPr>
                        <a:t> Guest OS aware it is not at Ring 0</a:t>
                      </a:r>
                    </a:p>
                  </a:txBody>
                  <a:tcPr marT="45668" marB="4566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8E8E8"/>
                    </a:solidFill>
                  </a:tcPr>
                </a:tc>
                <a:tc>
                  <a:txBody>
                    <a:bodyPr/>
                    <a:lstStyle>
                      <a:lvl1pPr>
                        <a:spcBef>
                          <a:spcPct val="20000"/>
                        </a:spcBef>
                        <a:buClr>
                          <a:schemeClr val="tx1"/>
                        </a:buClr>
                        <a:buSzPct val="70000"/>
                        <a:buFont typeface="Wingdings" panose="05000000000000000000" pitchFamily="2" charset="2"/>
                        <a:defRPr sz="2400" b="1">
                          <a:solidFill>
                            <a:schemeClr val="tx1"/>
                          </a:solidFill>
                          <a:latin typeface="Arial" panose="020B0604020202020204" pitchFamily="34" charset="0"/>
                        </a:defRPr>
                      </a:lvl1pPr>
                      <a:lvl2pPr marL="742950" indent="-285750">
                        <a:spcBef>
                          <a:spcPct val="20000"/>
                        </a:spcBef>
                        <a:buClr>
                          <a:schemeClr val="tx1"/>
                        </a:buClr>
                        <a:buSzPct val="65000"/>
                        <a:defRPr sz="2100">
                          <a:solidFill>
                            <a:schemeClr val="tx1"/>
                          </a:solidFill>
                          <a:latin typeface="Arial" panose="020B0604020202020204" pitchFamily="34" charset="0"/>
                        </a:defRPr>
                      </a:lvl2pPr>
                      <a:lvl3pPr marL="1143000" indent="-228600">
                        <a:spcBef>
                          <a:spcPct val="20000"/>
                        </a:spcBef>
                        <a:buClr>
                          <a:schemeClr val="tx1"/>
                        </a:buClr>
                        <a:buSzPct val="65000"/>
                        <a:buFont typeface="Wingdings" panose="05000000000000000000" pitchFamily="2" charset="2"/>
                        <a:defRPr sz="21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defRPr sz="1900">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defRPr sz="19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582600"/>
                          </a:solidFill>
                          <a:effectLst/>
                          <a:latin typeface="Arial" panose="020B0604020202020204" pitchFamily="34" charset="0"/>
                          <a:ea typeface="新細明體" panose="02020500000000000000" pitchFamily="18" charset="-120"/>
                        </a:rPr>
                        <a:t>Guest OS de-privileging eliminated</a:t>
                      </a:r>
                    </a:p>
                  </a:txBody>
                  <a:tcPr marT="45668" marB="4566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8E8E8"/>
                    </a:solidFill>
                  </a:tcPr>
                </a:tc>
                <a:extLst>
                  <a:ext uri="{0D108BD9-81ED-4DB2-BD59-A6C34878D82A}">
                    <a16:rowId xmlns:a16="http://schemas.microsoft.com/office/drawing/2014/main" val="10001"/>
                  </a:ext>
                </a:extLst>
              </a:tr>
              <a:tr h="639975">
                <a:tc>
                  <a:txBody>
                    <a:bodyPr/>
                    <a:lstStyle>
                      <a:lvl1pPr>
                        <a:spcBef>
                          <a:spcPct val="20000"/>
                        </a:spcBef>
                        <a:buClr>
                          <a:schemeClr val="tx1"/>
                        </a:buClr>
                        <a:buSzPct val="70000"/>
                        <a:buFont typeface="Wingdings" panose="05000000000000000000" pitchFamily="2" charset="2"/>
                        <a:defRPr sz="2400" b="1">
                          <a:solidFill>
                            <a:schemeClr val="tx1"/>
                          </a:solidFill>
                          <a:latin typeface="Arial" panose="020B0604020202020204" pitchFamily="34" charset="0"/>
                        </a:defRPr>
                      </a:lvl1pPr>
                      <a:lvl2pPr marL="742950" indent="-285750">
                        <a:spcBef>
                          <a:spcPct val="20000"/>
                        </a:spcBef>
                        <a:buClr>
                          <a:schemeClr val="tx1"/>
                        </a:buClr>
                        <a:buSzPct val="65000"/>
                        <a:defRPr sz="2100">
                          <a:solidFill>
                            <a:schemeClr val="tx1"/>
                          </a:solidFill>
                          <a:latin typeface="Arial" panose="020B0604020202020204" pitchFamily="34" charset="0"/>
                        </a:defRPr>
                      </a:lvl2pPr>
                      <a:lvl3pPr marL="1143000" indent="-228600">
                        <a:spcBef>
                          <a:spcPct val="20000"/>
                        </a:spcBef>
                        <a:buClr>
                          <a:schemeClr val="tx1"/>
                        </a:buClr>
                        <a:buSzPct val="65000"/>
                        <a:buFont typeface="Wingdings" panose="05000000000000000000" pitchFamily="2" charset="2"/>
                        <a:defRPr sz="21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defRPr sz="1900">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defRPr sz="19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TW" sz="1800" b="0" i="0" u="none" strike="noStrike" cap="none" normalizeH="0" baseline="0" dirty="0">
                        <a:ln>
                          <a:noFill/>
                        </a:ln>
                        <a:solidFill>
                          <a:srgbClr val="582600"/>
                        </a:solidFill>
                        <a:effectLst/>
                        <a:latin typeface="Arial" panose="020B0604020202020204" pitchFamily="34" charset="0"/>
                        <a:ea typeface="新細明體" panose="02020500000000000000" pitchFamily="18" charset="-120"/>
                      </a:endParaRPr>
                    </a:p>
                  </a:txBody>
                  <a:tcPr marT="45668" marB="4566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4F4F4"/>
                    </a:solidFill>
                  </a:tcPr>
                </a:tc>
                <a:tc>
                  <a:txBody>
                    <a:bodyPr/>
                    <a:lstStyle>
                      <a:lvl1pPr>
                        <a:spcBef>
                          <a:spcPct val="20000"/>
                        </a:spcBef>
                        <a:buClr>
                          <a:schemeClr val="tx1"/>
                        </a:buClr>
                        <a:buSzPct val="70000"/>
                        <a:buFont typeface="Wingdings" panose="05000000000000000000" pitchFamily="2" charset="2"/>
                        <a:defRPr sz="2400" b="1">
                          <a:solidFill>
                            <a:schemeClr val="tx1"/>
                          </a:solidFill>
                          <a:latin typeface="Arial" panose="020B0604020202020204" pitchFamily="34" charset="0"/>
                        </a:defRPr>
                      </a:lvl1pPr>
                      <a:lvl2pPr marL="742950" indent="-285750">
                        <a:spcBef>
                          <a:spcPct val="20000"/>
                        </a:spcBef>
                        <a:buClr>
                          <a:schemeClr val="tx1"/>
                        </a:buClr>
                        <a:buSzPct val="65000"/>
                        <a:defRPr sz="2100">
                          <a:solidFill>
                            <a:schemeClr val="tx1"/>
                          </a:solidFill>
                          <a:latin typeface="Arial" panose="020B0604020202020204" pitchFamily="34" charset="0"/>
                        </a:defRPr>
                      </a:lvl2pPr>
                      <a:lvl3pPr marL="1143000" indent="-228600">
                        <a:spcBef>
                          <a:spcPct val="20000"/>
                        </a:spcBef>
                        <a:buClr>
                          <a:schemeClr val="tx1"/>
                        </a:buClr>
                        <a:buSzPct val="65000"/>
                        <a:buFont typeface="Wingdings" panose="05000000000000000000" pitchFamily="2" charset="2"/>
                        <a:defRPr sz="21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defRPr sz="1900">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defRPr sz="19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65000"/>
                        <a:buFont typeface="Wingdings" panose="05000000000000000000" pitchFamily="2" charset="2"/>
                        <a:defRPr sz="1900" b="1">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582600"/>
                          </a:solidFill>
                          <a:effectLst/>
                          <a:latin typeface="Arial" panose="020B0604020202020204" pitchFamily="34" charset="0"/>
                          <a:ea typeface="新細明體" panose="02020500000000000000" pitchFamily="18" charset="-120"/>
                        </a:rPr>
                        <a:t>Guest OS runs directly on hardware</a:t>
                      </a:r>
                    </a:p>
                  </a:txBody>
                  <a:tcPr marT="45668" marB="4566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F4F4F4"/>
                    </a:solidFill>
                  </a:tcPr>
                </a:tc>
                <a:extLst>
                  <a:ext uri="{0D108BD9-81ED-4DB2-BD59-A6C34878D82A}">
                    <a16:rowId xmlns:a16="http://schemas.microsoft.com/office/drawing/2014/main" val="10002"/>
                  </a:ext>
                </a:extLst>
              </a:tr>
            </a:tbl>
          </a:graphicData>
        </a:graphic>
      </p:graphicFrame>
      <p:sp>
        <p:nvSpPr>
          <p:cNvPr id="56338" name="TextBox 12">
            <a:extLst>
              <a:ext uri="{FF2B5EF4-FFF2-40B4-BE49-F238E27FC236}">
                <a16:creationId xmlns:a16="http://schemas.microsoft.com/office/drawing/2014/main" id="{C760D7CA-0977-4103-B31C-8D2B5C22470D}"/>
              </a:ext>
            </a:extLst>
          </p:cNvPr>
          <p:cNvSpPr txBox="1">
            <a:spLocks noChangeArrowheads="1"/>
          </p:cNvSpPr>
          <p:nvPr/>
        </p:nvSpPr>
        <p:spPr bwMode="auto">
          <a:xfrm>
            <a:off x="1828800" y="6505576"/>
            <a:ext cx="7772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FontTx/>
              <a:buNone/>
            </a:pPr>
            <a:r>
              <a:rPr lang="en-US" altLang="en-US" sz="1200">
                <a:solidFill>
                  <a:srgbClr val="000066"/>
                </a:solidFill>
              </a:rPr>
              <a:t>Source: [2]</a:t>
            </a:r>
          </a:p>
        </p:txBody>
      </p:sp>
      <p:sp>
        <p:nvSpPr>
          <p:cNvPr id="62484" name="Slide Number Placeholder 1">
            <a:extLst>
              <a:ext uri="{FF2B5EF4-FFF2-40B4-BE49-F238E27FC236}">
                <a16:creationId xmlns:a16="http://schemas.microsoft.com/office/drawing/2014/main" id="{04DF902D-B6E9-4BA8-884B-335316D9BE85}"/>
              </a:ext>
            </a:extLst>
          </p:cNvPr>
          <p:cNvSpPr>
            <a:spLocks noGrp="1"/>
          </p:cNvSpPr>
          <p:nvPr>
            <p:ph type="sldNum" sz="quarter" idx="12"/>
          </p:nvPr>
        </p:nvSpPr>
        <p:spPr bwMode="auto">
          <a:xfrm>
            <a:off x="6553200" y="6245225"/>
            <a:ext cx="22860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spcBef>
                <a:spcPct val="0"/>
              </a:spcBef>
              <a:buClrTx/>
              <a:buFontTx/>
              <a:buNone/>
            </a:pPr>
            <a:fld id="{33F7B691-604E-4D7A-B05B-59D35D8FAB7F}" type="slidenum">
              <a:rPr lang="en-US" altLang="zh-TW" smtClean="0"/>
              <a:pPr algn="ctr">
                <a:spcBef>
                  <a:spcPct val="0"/>
                </a:spcBef>
                <a:buClrTx/>
                <a:buFontTx/>
                <a:buNone/>
              </a:pPr>
              <a:t>54</a:t>
            </a:fld>
            <a:endParaRPr lang="en-US" altLang="en-US" sz="1500"/>
          </a:p>
        </p:txBody>
      </p:sp>
      <p:sp>
        <p:nvSpPr>
          <p:cNvPr id="8" name="Title 1">
            <a:extLst>
              <a:ext uri="{FF2B5EF4-FFF2-40B4-BE49-F238E27FC236}">
                <a16:creationId xmlns:a16="http://schemas.microsoft.com/office/drawing/2014/main" id="{B588546F-F24D-402F-81E6-C9E1EC2B4475}"/>
              </a:ext>
            </a:extLst>
          </p:cNvPr>
          <p:cNvSpPr txBox="1">
            <a:spLocks/>
          </p:cNvSpPr>
          <p:nvPr/>
        </p:nvSpPr>
        <p:spPr bwMode="auto">
          <a:xfrm>
            <a:off x="2133600" y="0"/>
            <a:ext cx="8153400" cy="762000"/>
          </a:xfrm>
          <a:prstGeom prst="rect">
            <a:avLst/>
          </a:prstGeom>
          <a:noFill/>
          <a:ln w="9525">
            <a:noFill/>
            <a:miter lim="800000"/>
            <a:headEnd/>
            <a:tailEnd/>
          </a:ln>
          <a:effectLst/>
        </p:spPr>
        <p:txBody>
          <a:bodyPr anchor="b"/>
          <a:lstStyle>
            <a:lvl1pPr algn="l" rtl="0" eaLnBrk="0" fontAlgn="base" hangingPunct="0">
              <a:spcBef>
                <a:spcPct val="0"/>
              </a:spcBef>
              <a:spcAft>
                <a:spcPct val="0"/>
              </a:spcAft>
              <a:defRPr sz="20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a:defRPr/>
            </a:pPr>
            <a:r>
              <a:rPr lang="en-US" sz="3200" kern="0" dirty="0"/>
              <a:t>Hardware Assisted System VM: VT-x</a:t>
            </a:r>
          </a:p>
        </p:txBody>
      </p:sp>
    </p:spTree>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47931</TotalTime>
  <Words>5275</Words>
  <Application>Microsoft Office PowerPoint</Application>
  <PresentationFormat>Widescreen</PresentationFormat>
  <Paragraphs>777</Paragraphs>
  <Slides>54</Slides>
  <Notes>35</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54</vt:i4>
      </vt:variant>
    </vt:vector>
  </HeadingPairs>
  <TitlesOfParts>
    <vt:vector size="68" baseType="lpstr">
      <vt:lpstr>Google Sans</vt:lpstr>
      <vt:lpstr>Monotype Sorts</vt:lpstr>
      <vt:lpstr>MS Sans Serif</vt:lpstr>
      <vt:lpstr>华文楷体</vt:lpstr>
      <vt:lpstr>Arial</vt:lpstr>
      <vt:lpstr>Calibri</vt:lpstr>
      <vt:lpstr>Calibri Light</vt:lpstr>
      <vt:lpstr>Segoe UI</vt:lpstr>
      <vt:lpstr>Tahoma</vt:lpstr>
      <vt:lpstr>Times New Roman</vt:lpstr>
      <vt:lpstr>Verdana</vt:lpstr>
      <vt:lpstr>Wingdings</vt:lpstr>
      <vt:lpstr>NTHU UniCloud</vt:lpstr>
      <vt:lpstr>自訂設計</vt:lpstr>
      <vt:lpstr>CSC3050 – Computer Architecture Section 5.6 and 5.7 Virtual Machines and Virtual Memory</vt:lpstr>
      <vt:lpstr>VM and VM</vt:lpstr>
      <vt:lpstr>Mapping Virtual to Real</vt:lpstr>
      <vt:lpstr>Virtual Memory</vt:lpstr>
      <vt:lpstr>Virtual Address Space </vt:lpstr>
      <vt:lpstr>Versatile Virtual Memory </vt:lpstr>
      <vt:lpstr>Demand Paging</vt:lpstr>
      <vt:lpstr>Address Translation</vt:lpstr>
      <vt:lpstr>Page Tables</vt:lpstr>
      <vt:lpstr>Page Tables</vt:lpstr>
      <vt:lpstr>Page Fault</vt:lpstr>
      <vt:lpstr>OS Handling Page Faults</vt:lpstr>
      <vt:lpstr>OS Handling Page Faults</vt:lpstr>
      <vt:lpstr>Page Replacement and Writes</vt:lpstr>
      <vt:lpstr>Problems of Page Table</vt:lpstr>
      <vt:lpstr>Solutions to Problems of Page Table </vt:lpstr>
      <vt:lpstr>Quick Review </vt:lpstr>
      <vt:lpstr>Impact of Paging - Huge Page Table</vt:lpstr>
      <vt:lpstr>4-level page tables</vt:lpstr>
      <vt:lpstr>PowerPoint Presentation</vt:lpstr>
      <vt:lpstr>PowerPoint Presentation</vt:lpstr>
      <vt:lpstr>PowerPoint Presentation</vt:lpstr>
      <vt:lpstr>Inverted Page Table </vt:lpstr>
      <vt:lpstr>PowerPoint Presentation</vt:lpstr>
      <vt:lpstr>Inverted Page Table Structure</vt:lpstr>
      <vt:lpstr>Translation Lookaside Buffer (TLB)</vt:lpstr>
      <vt:lpstr>Fast VA-&gt;PA Translation Using TLB</vt:lpstr>
      <vt:lpstr>TLB Miss Handling</vt:lpstr>
      <vt:lpstr>TLB Misses and Page Faults</vt:lpstr>
      <vt:lpstr>Making Address Translation Practical</vt:lpstr>
      <vt:lpstr>Integrate TLB and Cache</vt:lpstr>
      <vt:lpstr>PIPT (Physically Indexed, Physically Tagged) Cache</vt:lpstr>
      <vt:lpstr>VIVT (Virtually Indexed, Virtually Tagged) Cache</vt:lpstr>
      <vt:lpstr>VIPT (Virtually Indexed, Physically Tagged) Cache</vt:lpstr>
      <vt:lpstr>System Virtual Machines</vt:lpstr>
      <vt:lpstr>Resource Consolidation</vt:lpstr>
      <vt:lpstr>Virtualization Properties</vt:lpstr>
      <vt:lpstr>Virtualization and Cloud Computing</vt:lpstr>
      <vt:lpstr>VM Applications</vt:lpstr>
      <vt:lpstr> VM Applications</vt:lpstr>
      <vt:lpstr>System VMs</vt:lpstr>
      <vt:lpstr>Multiple Identical Guest Systems </vt:lpstr>
      <vt:lpstr>Efficient Virtualization of System VM</vt:lpstr>
      <vt:lpstr>Privileged Instructions, Definition:</vt:lpstr>
      <vt:lpstr>Control Sensitive instructions:</vt:lpstr>
      <vt:lpstr>Behavior Sensitive instructions:</vt:lpstr>
      <vt:lpstr>CPU Virtualization Challenges</vt:lpstr>
      <vt:lpstr>Instruction Types -- Summary</vt:lpstr>
      <vt:lpstr>PowerPoint Presentation</vt:lpstr>
      <vt:lpstr>Quick Review</vt:lpstr>
      <vt:lpstr>How to Trap Sensitive Instructions</vt:lpstr>
      <vt:lpstr>How to Trap Sensitive Instructions</vt:lpstr>
      <vt:lpstr>Para-Virtualization vs. Full Virtualization</vt:lpstr>
      <vt:lpstr>             Pre VT-x                                 Post VT-x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Prof. HSU Wei-Chung (SDS)</cp:lastModifiedBy>
  <cp:revision>364</cp:revision>
  <dcterms:created xsi:type="dcterms:W3CDTF">2020-07-15T11:13:39Z</dcterms:created>
  <dcterms:modified xsi:type="dcterms:W3CDTF">2025-04-30T06:12:42Z</dcterms:modified>
</cp:coreProperties>
</file>