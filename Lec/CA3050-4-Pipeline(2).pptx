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notesMasterIdLst>
    <p:notesMasterId r:id="rId40"/>
  </p:notesMasterIdLst>
  <p:handoutMasterIdLst>
    <p:handoutMasterId r:id="rId41"/>
  </p:handoutMasterIdLst>
  <p:sldIdLst>
    <p:sldId id="256" r:id="rId3"/>
    <p:sldId id="670" r:id="rId4"/>
    <p:sldId id="522" r:id="rId5"/>
    <p:sldId id="524" r:id="rId6"/>
    <p:sldId id="665" r:id="rId7"/>
    <p:sldId id="691" r:id="rId8"/>
    <p:sldId id="692" r:id="rId9"/>
    <p:sldId id="663" r:id="rId10"/>
    <p:sldId id="666" r:id="rId11"/>
    <p:sldId id="667" r:id="rId12"/>
    <p:sldId id="668" r:id="rId13"/>
    <p:sldId id="671" r:id="rId14"/>
    <p:sldId id="669" r:id="rId15"/>
    <p:sldId id="682" r:id="rId16"/>
    <p:sldId id="658" r:id="rId17"/>
    <p:sldId id="525" r:id="rId18"/>
    <p:sldId id="526" r:id="rId19"/>
    <p:sldId id="527" r:id="rId20"/>
    <p:sldId id="528" r:id="rId21"/>
    <p:sldId id="293" r:id="rId22"/>
    <p:sldId id="693" r:id="rId23"/>
    <p:sldId id="659" r:id="rId24"/>
    <p:sldId id="660" r:id="rId25"/>
    <p:sldId id="661" r:id="rId26"/>
    <p:sldId id="662" r:id="rId27"/>
    <p:sldId id="690" r:id="rId28"/>
    <p:sldId id="672" r:id="rId29"/>
    <p:sldId id="673" r:id="rId30"/>
    <p:sldId id="674" r:id="rId31"/>
    <p:sldId id="681" r:id="rId32"/>
    <p:sldId id="694" r:id="rId33"/>
    <p:sldId id="675" r:id="rId34"/>
    <p:sldId id="676" r:id="rId35"/>
    <p:sldId id="677" r:id="rId36"/>
    <p:sldId id="678" r:id="rId37"/>
    <p:sldId id="679" r:id="rId38"/>
    <p:sldId id="680" r:id="rId3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606"/>
    </p:cViewPr>
  </p:sorterViewPr>
  <p:notesViewPr>
    <p:cSldViewPr snapToGrid="0">
      <p:cViewPr varScale="1">
        <p:scale>
          <a:sx n="57" d="100"/>
          <a:sy n="57" d="100"/>
        </p:scale>
        <p:origin x="300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15C594-135F-4D15-8E4B-45F1BE861E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DB0960-189E-46E1-8D29-6FB05B6F72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43A5A2-ABA0-4772-A51C-C5F6F247E980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1DB78-23CB-4BEF-89B3-77D711E9DAE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9CDE08-0A77-4F04-A3CE-DB3F76D614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243270-4340-4F2C-881F-076058FFD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5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2025/3/24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0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897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1. Place one dirty load of clothes in the washer.</a:t>
            </a:r>
          </a:p>
          <a:p>
            <a:r>
              <a:rPr lang="zh-CN" altLang="en-US" dirty="0"/>
              <a:t>2. When the washer is fi nished, place the wet load in the dryer.</a:t>
            </a:r>
          </a:p>
          <a:p>
            <a:r>
              <a:rPr lang="zh-CN" altLang="en-US" dirty="0"/>
              <a:t>3. When the dryer is fi nished, place the dry load on a table and fold.</a:t>
            </a:r>
          </a:p>
          <a:p>
            <a:r>
              <a:rPr lang="zh-CN" altLang="en-US" dirty="0"/>
              <a:t>4. When folding is fi nished, ask your roommate to put the clothes away.</a:t>
            </a:r>
          </a:p>
        </p:txBody>
      </p:sp>
    </p:spTree>
    <p:extLst>
      <p:ext uri="{BB962C8B-B14F-4D97-AF65-F5344CB8AC3E}">
        <p14:creationId xmlns:p14="http://schemas.microsoft.com/office/powerpoint/2010/main" val="1819268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假设每个半小时</a:t>
            </a:r>
          </a:p>
          <a:p>
            <a:endParaRPr lang="zh-CN" altLang="en-US"/>
          </a:p>
          <a:p>
            <a:r>
              <a:rPr lang="zh-CN" altLang="en-US"/>
              <a:t>1. Place one dirty load of clothes in the washer.</a:t>
            </a:r>
          </a:p>
          <a:p>
            <a:r>
              <a:rPr lang="zh-CN" altLang="en-US"/>
              <a:t>2. When the washer is fi nished, place the wet load in the dryer.</a:t>
            </a:r>
          </a:p>
          <a:p>
            <a:r>
              <a:rPr lang="zh-CN" altLang="en-US"/>
              <a:t>3. When the dryer is fi nished, place the dry load on a table and fold.</a:t>
            </a:r>
          </a:p>
          <a:p>
            <a:r>
              <a:rPr lang="zh-CN" altLang="en-US"/>
              <a:t>4. When folding is fi nished, ask your roommate to put the clothes away.</a:t>
            </a:r>
          </a:p>
        </p:txBody>
      </p:sp>
    </p:spTree>
    <p:extLst>
      <p:ext uri="{BB962C8B-B14F-4D97-AF65-F5344CB8AC3E}">
        <p14:creationId xmlns:p14="http://schemas.microsoft.com/office/powerpoint/2010/main" val="852482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假设每个半小时</a:t>
            </a:r>
          </a:p>
          <a:p>
            <a:endParaRPr lang="zh-CN" altLang="en-US"/>
          </a:p>
          <a:p>
            <a:r>
              <a:rPr lang="zh-CN" altLang="en-US"/>
              <a:t>1. Place one dirty load of clothes in the washer.</a:t>
            </a:r>
          </a:p>
          <a:p>
            <a:r>
              <a:rPr lang="zh-CN" altLang="en-US"/>
              <a:t>2. When the washer is fi nished, place the wet load in the dryer.</a:t>
            </a:r>
          </a:p>
          <a:p>
            <a:r>
              <a:rPr lang="zh-CN" altLang="en-US"/>
              <a:t>3. When the dryer is fi nished, place the dry load on a table and fold.</a:t>
            </a:r>
          </a:p>
          <a:p>
            <a:r>
              <a:rPr lang="zh-CN" altLang="en-US"/>
              <a:t>4. When folding is fi nished, ask your roommate to put the clothes away.</a:t>
            </a:r>
          </a:p>
        </p:txBody>
      </p:sp>
    </p:spTree>
    <p:extLst>
      <p:ext uri="{BB962C8B-B14F-4D97-AF65-F5344CB8AC3E}">
        <p14:creationId xmlns:p14="http://schemas.microsoft.com/office/powerpoint/2010/main" val="4045954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假设每个半小时</a:t>
            </a:r>
          </a:p>
          <a:p>
            <a:endParaRPr lang="zh-CN" altLang="en-US"/>
          </a:p>
          <a:p>
            <a:r>
              <a:rPr lang="zh-CN" altLang="en-US"/>
              <a:t>1. Place one dirty load of clothes in the washer.</a:t>
            </a:r>
          </a:p>
          <a:p>
            <a:r>
              <a:rPr lang="zh-CN" altLang="en-US"/>
              <a:t>2. When the washer is fi nished, place the wet load in the dryer.</a:t>
            </a:r>
          </a:p>
          <a:p>
            <a:r>
              <a:rPr lang="zh-CN" altLang="en-US"/>
              <a:t>3. When the dryer is fi nished, place the dry load on a table and fold.</a:t>
            </a:r>
          </a:p>
          <a:p>
            <a:r>
              <a:rPr lang="zh-CN" altLang="en-US"/>
              <a:t>4. When folding is fi nished, ask your roommate to put the clothes away.</a:t>
            </a:r>
          </a:p>
        </p:txBody>
      </p:sp>
    </p:spTree>
    <p:extLst>
      <p:ext uri="{BB962C8B-B14F-4D97-AF65-F5344CB8AC3E}">
        <p14:creationId xmlns:p14="http://schemas.microsoft.com/office/powerpoint/2010/main" val="4003528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6739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42950" y="3227388"/>
            <a:ext cx="8537575" cy="3057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endParaRPr lang="zh-TW" altLang="en-US"/>
          </a:p>
        </p:txBody>
      </p:sp>
      <p:sp>
        <p:nvSpPr>
          <p:cNvPr id="15360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06688" y="436563"/>
            <a:ext cx="4511675" cy="2538412"/>
          </a:xfrm>
          <a:noFill/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42950" y="3227388"/>
            <a:ext cx="8537575" cy="3057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endParaRPr lang="zh-TW" altLang="en-US"/>
          </a:p>
        </p:txBody>
      </p:sp>
      <p:sp>
        <p:nvSpPr>
          <p:cNvPr id="15360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06688" y="436563"/>
            <a:ext cx="4511675" cy="2538412"/>
          </a:xfrm>
          <a:noFill/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9601061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42950" y="3227388"/>
            <a:ext cx="8537575" cy="3057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r>
              <a:rPr lang="en-US" altLang="zh-TW" dirty="0"/>
              <a:t>There was a famous quote in USA president election campaign: Economics is the problem! Stupid! In CS, we often have a similar quote: Memory is the problem! Stupid!</a:t>
            </a:r>
            <a:endParaRPr lang="zh-TW" altLang="en-US" dirty="0"/>
          </a:p>
        </p:txBody>
      </p:sp>
      <p:sp>
        <p:nvSpPr>
          <p:cNvPr id="15360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06688" y="436563"/>
            <a:ext cx="4511675" cy="2538412"/>
          </a:xfrm>
          <a:noFill/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670860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7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2133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83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0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9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9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70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1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48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5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67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0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6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22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94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865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93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36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7830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555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438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862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5375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9622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278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3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DengXian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23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54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31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3733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2943" indent="-228589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21" indent="-228589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476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07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8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E74415-30E6-4BE5-9E20-77352570E8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CCF4834-0539-4513-8D25-641B75117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8968" y="1021404"/>
            <a:ext cx="8160657" cy="3365770"/>
          </a:xfrm>
        </p:spPr>
        <p:txBody>
          <a:bodyPr/>
          <a:lstStyle/>
          <a:p>
            <a:pPr algn="ctr"/>
            <a:r>
              <a:rPr lang="en-US" altLang="zh-TW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CSC3050 – Computer Architecture</a:t>
            </a:r>
            <a:br>
              <a:rPr lang="en-US" altLang="zh-TW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TW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4 The Processor </a:t>
            </a:r>
            <a:br>
              <a:rPr lang="en-US" altLang="zh-TW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Pipelining</a:t>
            </a:r>
            <a:endParaRPr lang="zh-TW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7EF043F-0047-4EC5-B297-23522E9815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6109" y="4185126"/>
            <a:ext cx="7908692" cy="2339502"/>
          </a:xfrm>
        </p:spPr>
        <p:txBody>
          <a:bodyPr/>
          <a:lstStyle/>
          <a:p>
            <a:r>
              <a:rPr lang="en-US" altLang="zh-TW" sz="2400" dirty="0"/>
              <a:t>Prof. Wei Chung Hsu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Data 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76936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dirty="0"/>
              <a:t>Pipelining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3D9FD1-0A5C-491D-AF76-52B4458B0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0341" y="1105722"/>
            <a:ext cx="2747842" cy="2574900"/>
          </a:xfrm>
          <a:prstGeom prst="rect">
            <a:avLst/>
          </a:prstGeom>
        </p:spPr>
      </p:pic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4E71CA5F-387A-4354-9522-8963C0552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31" y="1105722"/>
            <a:ext cx="8210146" cy="2574900"/>
          </a:xfrm>
        </p:spPr>
        <p:txBody>
          <a:bodyPr>
            <a:normAutofit/>
          </a:bodyPr>
          <a:lstStyle/>
          <a:p>
            <a:r>
              <a:rPr lang="en-US" dirty="0"/>
              <a:t>Pipelining is an implementation technique in which multiple instructions are </a:t>
            </a:r>
            <a:r>
              <a:rPr lang="en-US" dirty="0">
                <a:solidFill>
                  <a:srgbClr val="FF0000"/>
                </a:solidFill>
              </a:rPr>
              <a:t>overlapped</a:t>
            </a:r>
            <a:r>
              <a:rPr lang="en-US" dirty="0"/>
              <a:t> in execution, much like an assembly line.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B973CD-802E-46A9-A32A-BA2B3E195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339" y="5035408"/>
            <a:ext cx="3468925" cy="11463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4C9D14-8041-480A-9472-A66B76CC5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339" y="4550113"/>
            <a:ext cx="6093696" cy="3397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7ED950-FCA4-48A9-ACA5-88D9024B41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0339" y="3937750"/>
            <a:ext cx="7650121" cy="33972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1DBCAFA-A59D-4CC8-83AB-20FFA388CDC0}"/>
              </a:ext>
            </a:extLst>
          </p:cNvPr>
          <p:cNvSpPr txBox="1"/>
          <p:nvPr/>
        </p:nvSpPr>
        <p:spPr>
          <a:xfrm>
            <a:off x="116731" y="3892754"/>
            <a:ext cx="1569660" cy="40011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Single-cycle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2E0BA1-ECDF-4475-97EE-777A3D534B52}"/>
              </a:ext>
            </a:extLst>
          </p:cNvPr>
          <p:cNvSpPr txBox="1"/>
          <p:nvPr/>
        </p:nvSpPr>
        <p:spPr>
          <a:xfrm>
            <a:off x="163998" y="4587678"/>
            <a:ext cx="1396536" cy="40011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Multi-cycle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40FD92-A3C0-482B-A1F2-41A27406B6DF}"/>
              </a:ext>
            </a:extLst>
          </p:cNvPr>
          <p:cNvSpPr txBox="1"/>
          <p:nvPr/>
        </p:nvSpPr>
        <p:spPr>
          <a:xfrm>
            <a:off x="234530" y="5367557"/>
            <a:ext cx="1242648" cy="40011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Pipelined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39248C-391E-4D99-9AA2-991039A40734}"/>
              </a:ext>
            </a:extLst>
          </p:cNvPr>
          <p:cNvSpPr txBox="1"/>
          <p:nvPr/>
        </p:nvSpPr>
        <p:spPr>
          <a:xfrm>
            <a:off x="9882511" y="3784447"/>
            <a:ext cx="2121093" cy="646331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4 X long cycles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(16 x short cycles)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504DD6-5718-46FD-8404-6CAC3CCA1A12}"/>
              </a:ext>
            </a:extLst>
          </p:cNvPr>
          <p:cNvSpPr txBox="1"/>
          <p:nvPr/>
        </p:nvSpPr>
        <p:spPr>
          <a:xfrm>
            <a:off x="9878332" y="4653719"/>
            <a:ext cx="2005677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13 X short cycles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764DFD-5ABE-4EDF-8170-1E7F22730C16}"/>
              </a:ext>
            </a:extLst>
          </p:cNvPr>
          <p:cNvSpPr txBox="1"/>
          <p:nvPr/>
        </p:nvSpPr>
        <p:spPr>
          <a:xfrm>
            <a:off x="9878332" y="5423901"/>
            <a:ext cx="1877437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7 X short cycles </a:t>
            </a:r>
          </a:p>
        </p:txBody>
      </p:sp>
    </p:spTree>
    <p:extLst>
      <p:ext uri="{BB962C8B-B14F-4D97-AF65-F5344CB8AC3E}">
        <p14:creationId xmlns:p14="http://schemas.microsoft.com/office/powerpoint/2010/main" val="661823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733" dirty="0"/>
              <a:t>Single-Cycle </a:t>
            </a:r>
            <a:r>
              <a:rPr lang="en-US" altLang="zh-CN" sz="3733" dirty="0"/>
              <a:t>Disa</a:t>
            </a:r>
            <a:r>
              <a:rPr lang="en-US" sz="3733" dirty="0"/>
              <a:t>dvantages &amp; </a:t>
            </a:r>
            <a:r>
              <a:rPr kumimoji="1" lang="en-US" altLang="zh-CN" sz="3733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 pitchFamily="34" charset="0"/>
                <a:ea typeface="標楷體" pitchFamily="65" charset="-120"/>
              </a:rPr>
              <a:t>A</a:t>
            </a:r>
            <a:r>
              <a:rPr kumimoji="1" lang="en-US" sz="3733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 pitchFamily="34" charset="0"/>
                <a:ea typeface="標楷體" pitchFamily="65" charset="-120"/>
              </a:rPr>
              <a:t>dvantages </a:t>
            </a:r>
            <a:endParaRPr lang="en-US" sz="3733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14" y="1125537"/>
            <a:ext cx="10637241" cy="4895851"/>
          </a:xfrm>
        </p:spPr>
        <p:txBody>
          <a:bodyPr>
            <a:noAutofit/>
          </a:bodyPr>
          <a:lstStyle/>
          <a:p>
            <a:r>
              <a:rPr lang="en-US" sz="2667" dirty="0"/>
              <a:t>Clock inefficiency: the clock cycle must be timed to accommodate the </a:t>
            </a:r>
            <a:r>
              <a:rPr lang="en-US" sz="2667" b="1" dirty="0">
                <a:solidFill>
                  <a:schemeClr val="accent1"/>
                </a:solidFill>
              </a:rPr>
              <a:t>slowest</a:t>
            </a:r>
            <a:r>
              <a:rPr lang="en-US" sz="2667" dirty="0">
                <a:solidFill>
                  <a:schemeClr val="accent1"/>
                </a:solidFill>
              </a:rPr>
              <a:t> </a:t>
            </a:r>
            <a:r>
              <a:rPr lang="en-US" sz="2667" dirty="0"/>
              <a:t>instruction path.</a:t>
            </a:r>
          </a:p>
          <a:p>
            <a:pPr lvl="1"/>
            <a:r>
              <a:rPr lang="en-US" sz="2133" dirty="0"/>
              <a:t>Especially problematic for more complex instructions, e.g., floating-point division</a:t>
            </a:r>
          </a:p>
          <a:p>
            <a:endParaRPr lang="en-US" sz="2667" dirty="0"/>
          </a:p>
          <a:p>
            <a:endParaRPr lang="en-US" sz="2667" dirty="0"/>
          </a:p>
          <a:p>
            <a:endParaRPr lang="en-US" sz="2667" dirty="0"/>
          </a:p>
          <a:p>
            <a:endParaRPr lang="en-US" sz="2667" dirty="0"/>
          </a:p>
          <a:p>
            <a:r>
              <a:rPr lang="en-US" sz="2667" dirty="0"/>
              <a:t>Resource inefficiency: some functional units (e.g., adders) must be duplicated because they can not be reused during a clock cycle</a:t>
            </a:r>
          </a:p>
          <a:p>
            <a:r>
              <a:rPr lang="en-US" sz="2667" dirty="0"/>
              <a:t>Advantage: It is simple and easy to understand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1625607" y="2576455"/>
            <a:ext cx="8434951" cy="1356775"/>
            <a:chOff x="97049" y="2966613"/>
            <a:chExt cx="8434951" cy="1356774"/>
          </a:xfrm>
        </p:grpSpPr>
        <p:sp>
          <p:nvSpPr>
            <p:cNvPr id="8" name="Rectangle 7"/>
            <p:cNvSpPr/>
            <p:nvPr/>
          </p:nvSpPr>
          <p:spPr>
            <a:xfrm>
              <a:off x="972000" y="3963387"/>
              <a:ext cx="3600000" cy="36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ysClr val="windowText" lastClr="000000"/>
                  </a:solidFill>
                </a:rPr>
                <a:t>lw</a:t>
              </a:r>
              <a:endParaRPr 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4572000" y="3963387"/>
              <a:ext cx="2700000" cy="36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ysClr val="windowText" lastClr="000000"/>
                  </a:solidFill>
                </a:rPr>
                <a:t>sw</a:t>
              </a:r>
              <a:endParaRPr 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088000" y="2966613"/>
              <a:ext cx="1368000" cy="3600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Cycle 1</a:t>
              </a:r>
              <a:endParaRPr 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272000" y="3963387"/>
              <a:ext cx="900000" cy="36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waste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972000" y="3558372"/>
              <a:ext cx="0" cy="252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972000" y="3810372"/>
              <a:ext cx="180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2772000" y="3558372"/>
              <a:ext cx="0" cy="252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2772000" y="3561368"/>
              <a:ext cx="180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4572000" y="3558372"/>
              <a:ext cx="0" cy="252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4572000" y="3810372"/>
              <a:ext cx="180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6372000" y="3558372"/>
              <a:ext cx="0" cy="252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H="1">
              <a:off x="6372000" y="3561368"/>
              <a:ext cx="180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8172000" y="3558372"/>
              <a:ext cx="0" cy="252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8352000" y="3630372"/>
              <a:ext cx="0" cy="36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792000" y="3386481"/>
              <a:ext cx="0" cy="36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972000" y="3269616"/>
              <a:ext cx="0" cy="25200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4572000" y="3269616"/>
              <a:ext cx="0" cy="25200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8172000" y="3269616"/>
              <a:ext cx="0" cy="25200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H="1">
              <a:off x="4572000" y="3395616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972000" y="3395616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/>
            <p:cNvSpPr/>
            <p:nvPr/>
          </p:nvSpPr>
          <p:spPr>
            <a:xfrm>
              <a:off x="5687999" y="2966613"/>
              <a:ext cx="1368000" cy="3600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Cycle 2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97049" y="3504372"/>
              <a:ext cx="531601" cy="3600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ysClr val="windowText" lastClr="000000"/>
                  </a:solidFill>
                </a:rPr>
                <a:t>Clk</a:t>
              </a:r>
              <a:endParaRPr lang="en-US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Five Stages of the Simple Data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1053" y="1125537"/>
            <a:ext cx="10251347" cy="4895851"/>
          </a:xfrm>
        </p:spPr>
        <p:txBody>
          <a:bodyPr>
            <a:normAutofit/>
          </a:bodyPr>
          <a:lstStyle/>
          <a:p>
            <a:r>
              <a:rPr lang="en-US" dirty="0"/>
              <a:t>Five stages, one step per stage</a:t>
            </a:r>
          </a:p>
          <a:p>
            <a:pPr marL="514760" indent="-514760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</a:rPr>
              <a:t>IF</a:t>
            </a:r>
            <a:r>
              <a:rPr lang="en-US" dirty="0"/>
              <a:t>: Instruction fetch from (instruction) memory</a:t>
            </a:r>
          </a:p>
          <a:p>
            <a:pPr marL="514760" indent="-514760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</a:rPr>
              <a:t>ID</a:t>
            </a:r>
            <a:r>
              <a:rPr lang="en-US" dirty="0"/>
              <a:t>: Instruction decode &amp; register read</a:t>
            </a:r>
          </a:p>
          <a:p>
            <a:pPr marL="514760" indent="-514760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</a:rPr>
              <a:t>EX</a:t>
            </a:r>
            <a:r>
              <a:rPr lang="en-US" dirty="0"/>
              <a:t>: Execute operation or calculate address</a:t>
            </a:r>
          </a:p>
          <a:p>
            <a:pPr marL="514760" indent="-514760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</a:rPr>
              <a:t>MEM</a:t>
            </a:r>
            <a:r>
              <a:rPr lang="en-US" dirty="0"/>
              <a:t>: Access (data) memory operand</a:t>
            </a:r>
          </a:p>
          <a:p>
            <a:pPr marL="514760" indent="-514760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</a:rPr>
              <a:t>WB</a:t>
            </a:r>
            <a:r>
              <a:rPr lang="en-US" dirty="0"/>
              <a:t>: Write the result back to register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64FCDE-1E6C-4421-8097-317B854A4BCF}"/>
              </a:ext>
            </a:extLst>
          </p:cNvPr>
          <p:cNvSpPr txBox="1"/>
          <p:nvPr/>
        </p:nvSpPr>
        <p:spPr>
          <a:xfrm>
            <a:off x="1410510" y="5316964"/>
            <a:ext cx="8638161" cy="830997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2400" dirty="0">
                <a:ea typeface="標楷體" pitchFamily="65" charset="-120"/>
                <a:cs typeface="Calibri" pitchFamily="34" charset="0"/>
              </a:rPr>
              <a:t>Initially, this partition is for multi-cycle implementation:</a:t>
            </a:r>
          </a:p>
          <a:p>
            <a:r>
              <a:rPr lang="en-US" sz="2400" dirty="0">
                <a:ea typeface="標楷體" pitchFamily="65" charset="-120"/>
                <a:cs typeface="Calibri" pitchFamily="34" charset="0"/>
              </a:rPr>
              <a:t>an instruction can finish at stage 3, stage 4 or stage 5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733" dirty="0"/>
              <a:t>Divide the Single Cycle Data Path into 5 Stages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1D2EDC-A3FC-4A0A-8B33-2D07FF8EC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64" y="1329813"/>
            <a:ext cx="10875523" cy="458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162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733" dirty="0"/>
              <a:t>Three Register Ports: One Write, Two Read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1D2EDC-A3FC-4A0A-8B33-2D07FF8EC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64" y="1329813"/>
            <a:ext cx="10875523" cy="458460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868DB5A-E667-449B-A913-0ABACEE43D2C}"/>
              </a:ext>
            </a:extLst>
          </p:cNvPr>
          <p:cNvSpPr/>
          <p:nvPr/>
        </p:nvSpPr>
        <p:spPr bwMode="auto">
          <a:xfrm>
            <a:off x="4495800" y="2771775"/>
            <a:ext cx="1200150" cy="457200"/>
          </a:xfrm>
          <a:prstGeom prst="rect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2FC6CD-4E4B-466E-BA40-678D8AF313D6}"/>
              </a:ext>
            </a:extLst>
          </p:cNvPr>
          <p:cNvSpPr/>
          <p:nvPr/>
        </p:nvSpPr>
        <p:spPr bwMode="auto">
          <a:xfrm>
            <a:off x="5248275" y="3305480"/>
            <a:ext cx="1200150" cy="457200"/>
          </a:xfrm>
          <a:prstGeom prst="rect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4AB7BB-36FE-48E8-BDD7-EF3B6D47B85D}"/>
              </a:ext>
            </a:extLst>
          </p:cNvPr>
          <p:cNvSpPr/>
          <p:nvPr/>
        </p:nvSpPr>
        <p:spPr bwMode="auto">
          <a:xfrm>
            <a:off x="5248275" y="3774073"/>
            <a:ext cx="1200150" cy="457200"/>
          </a:xfrm>
          <a:prstGeom prst="rect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06293-1798-443A-841F-DE99816F5589}"/>
              </a:ext>
            </a:extLst>
          </p:cNvPr>
          <p:cNvSpPr txBox="1"/>
          <p:nvPr/>
        </p:nvSpPr>
        <p:spPr>
          <a:xfrm>
            <a:off x="3760143" y="1877757"/>
            <a:ext cx="237763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Three ports: 1 W, 2 R</a:t>
            </a:r>
          </a:p>
        </p:txBody>
      </p:sp>
    </p:spTree>
    <p:extLst>
      <p:ext uri="{BB962C8B-B14F-4D97-AF65-F5344CB8AC3E}">
        <p14:creationId xmlns:p14="http://schemas.microsoft.com/office/powerpoint/2010/main" val="990415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733" dirty="0"/>
              <a:t>Three Register Ports: One Write, Two Read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1D2EDC-A3FC-4A0A-8B33-2D07FF8EC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64" y="1329813"/>
            <a:ext cx="10875523" cy="458460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868DB5A-E667-449B-A913-0ABACEE43D2C}"/>
              </a:ext>
            </a:extLst>
          </p:cNvPr>
          <p:cNvSpPr/>
          <p:nvPr/>
        </p:nvSpPr>
        <p:spPr bwMode="auto">
          <a:xfrm>
            <a:off x="4495800" y="2771775"/>
            <a:ext cx="1200150" cy="457200"/>
          </a:xfrm>
          <a:prstGeom prst="rect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2FC6CD-4E4B-466E-BA40-678D8AF313D6}"/>
              </a:ext>
            </a:extLst>
          </p:cNvPr>
          <p:cNvSpPr/>
          <p:nvPr/>
        </p:nvSpPr>
        <p:spPr bwMode="auto">
          <a:xfrm>
            <a:off x="5248275" y="3305480"/>
            <a:ext cx="1200150" cy="457200"/>
          </a:xfrm>
          <a:prstGeom prst="rect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4AB7BB-36FE-48E8-BDD7-EF3B6D47B85D}"/>
              </a:ext>
            </a:extLst>
          </p:cNvPr>
          <p:cNvSpPr/>
          <p:nvPr/>
        </p:nvSpPr>
        <p:spPr bwMode="auto">
          <a:xfrm>
            <a:off x="5248275" y="3774073"/>
            <a:ext cx="1200150" cy="457200"/>
          </a:xfrm>
          <a:prstGeom prst="rect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06293-1798-443A-841F-DE99816F5589}"/>
              </a:ext>
            </a:extLst>
          </p:cNvPr>
          <p:cNvSpPr txBox="1"/>
          <p:nvPr/>
        </p:nvSpPr>
        <p:spPr>
          <a:xfrm>
            <a:off x="3760143" y="1877757"/>
            <a:ext cx="237763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Three ports: 1 W, 2 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8F42E-C54B-489C-A0B3-CD8371DC5763}"/>
              </a:ext>
            </a:extLst>
          </p:cNvPr>
          <p:cNvSpPr txBox="1"/>
          <p:nvPr/>
        </p:nvSpPr>
        <p:spPr>
          <a:xfrm>
            <a:off x="903612" y="5001468"/>
            <a:ext cx="958467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What if the WB stage wants to write register X5, and the ID stage wants to read register X5?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5B3812-3FF0-49C3-8BA6-0202FCF97010}"/>
              </a:ext>
            </a:extLst>
          </p:cNvPr>
          <p:cNvSpPr txBox="1"/>
          <p:nvPr/>
        </p:nvSpPr>
        <p:spPr>
          <a:xfrm>
            <a:off x="903612" y="5470061"/>
            <a:ext cx="9430851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This is called a “Data Hazard” or RAW (Read-After-Write) hazard and must be avoided via: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1) Stalling; 2) Data forwarding; and 3) Static or Dynamic code scheduling</a:t>
            </a:r>
          </a:p>
        </p:txBody>
      </p:sp>
    </p:spTree>
    <p:extLst>
      <p:ext uri="{BB962C8B-B14F-4D97-AF65-F5344CB8AC3E}">
        <p14:creationId xmlns:p14="http://schemas.microsoft.com/office/powerpoint/2010/main" val="3882668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anose="020F07020304040A0204" pitchFamily="34" charset="0"/>
              </a:rPr>
              <a:t>Instruction Timing and Clock Cycle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817" y="956464"/>
            <a:ext cx="10726365" cy="1452292"/>
          </a:xfrm>
        </p:spPr>
        <p:txBody>
          <a:bodyPr/>
          <a:lstStyle/>
          <a:p>
            <a:r>
              <a:rPr lang="en-US" sz="2800" dirty="0"/>
              <a:t>Assume time for a stage is</a:t>
            </a:r>
          </a:p>
          <a:p>
            <a:pPr lvl="1"/>
            <a:r>
              <a:rPr lang="en-US" sz="2800" dirty="0"/>
              <a:t>100 ps for register to read or write</a:t>
            </a:r>
          </a:p>
          <a:p>
            <a:pPr lvl="1"/>
            <a:r>
              <a:rPr lang="en-US" sz="2800" dirty="0"/>
              <a:t>200 ps for other stages (Mem and ALU)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8</a:t>
            </a:fld>
            <a:endParaRPr lang="zh-TW" alt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3A36514-F4F7-4085-9BC6-5D7B6D2123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437234"/>
              </p:ext>
            </p:extLst>
          </p:nvPr>
        </p:nvGraphicFramePr>
        <p:xfrm>
          <a:off x="732817" y="2466304"/>
          <a:ext cx="10726366" cy="2940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2338">
                  <a:extLst>
                    <a:ext uri="{9D8B030D-6E8A-4147-A177-3AD203B41FA5}">
                      <a16:colId xmlns:a16="http://schemas.microsoft.com/office/drawing/2014/main" val="993737875"/>
                    </a:ext>
                  </a:extLst>
                </a:gridCol>
                <a:gridCol w="1532338">
                  <a:extLst>
                    <a:ext uri="{9D8B030D-6E8A-4147-A177-3AD203B41FA5}">
                      <a16:colId xmlns:a16="http://schemas.microsoft.com/office/drawing/2014/main" val="2605345975"/>
                    </a:ext>
                  </a:extLst>
                </a:gridCol>
                <a:gridCol w="1532338">
                  <a:extLst>
                    <a:ext uri="{9D8B030D-6E8A-4147-A177-3AD203B41FA5}">
                      <a16:colId xmlns:a16="http://schemas.microsoft.com/office/drawing/2014/main" val="3730245139"/>
                    </a:ext>
                  </a:extLst>
                </a:gridCol>
                <a:gridCol w="1532338">
                  <a:extLst>
                    <a:ext uri="{9D8B030D-6E8A-4147-A177-3AD203B41FA5}">
                      <a16:colId xmlns:a16="http://schemas.microsoft.com/office/drawing/2014/main" val="397093375"/>
                    </a:ext>
                  </a:extLst>
                </a:gridCol>
                <a:gridCol w="1532338">
                  <a:extLst>
                    <a:ext uri="{9D8B030D-6E8A-4147-A177-3AD203B41FA5}">
                      <a16:colId xmlns:a16="http://schemas.microsoft.com/office/drawing/2014/main" val="6455321"/>
                    </a:ext>
                  </a:extLst>
                </a:gridCol>
                <a:gridCol w="1532338">
                  <a:extLst>
                    <a:ext uri="{9D8B030D-6E8A-4147-A177-3AD203B41FA5}">
                      <a16:colId xmlns:a16="http://schemas.microsoft.com/office/drawing/2014/main" val="2470789098"/>
                    </a:ext>
                  </a:extLst>
                </a:gridCol>
                <a:gridCol w="1532338">
                  <a:extLst>
                    <a:ext uri="{9D8B030D-6E8A-4147-A177-3AD203B41FA5}">
                      <a16:colId xmlns:a16="http://schemas.microsoft.com/office/drawing/2014/main" val="3710206421"/>
                    </a:ext>
                  </a:extLst>
                </a:gridCol>
              </a:tblGrid>
              <a:tr h="490110">
                <a:tc>
                  <a:txBody>
                    <a:bodyPr/>
                    <a:lstStyle/>
                    <a:p>
                      <a:r>
                        <a:rPr lang="en-US" dirty="0"/>
                        <a:t>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= 200ps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ID=100ps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ALU=200ps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Mem=200ps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WB=100ps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618655"/>
                  </a:ext>
                </a:extLst>
              </a:tr>
              <a:tr h="4901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600ps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210960"/>
                  </a:ext>
                </a:extLst>
              </a:tr>
              <a:tr h="49011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beq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096946"/>
                  </a:ext>
                </a:extLst>
              </a:tr>
              <a:tr h="49011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jal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600ps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243255"/>
                  </a:ext>
                </a:extLst>
              </a:tr>
              <a:tr h="49011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lw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800ps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863343"/>
                  </a:ext>
                </a:extLst>
              </a:tr>
              <a:tr h="49011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700ps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6400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69F4DDD-29AD-42BD-91FF-C8BC69619E5C}"/>
              </a:ext>
            </a:extLst>
          </p:cNvPr>
          <p:cNvSpPr txBox="1"/>
          <p:nvPr/>
        </p:nvSpPr>
        <p:spPr>
          <a:xfrm>
            <a:off x="841222" y="5464512"/>
            <a:ext cx="9333910" cy="707886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Maximum clock frequency for single-cycle implementation= 1/800ps = 1.25 GHz</a:t>
            </a:r>
          </a:p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For multi-cycle implementation, 1/200ps = 5 GHz</a:t>
            </a:r>
          </a:p>
        </p:txBody>
      </p:sp>
    </p:spTree>
    <p:extLst>
      <p:ext uri="{BB962C8B-B14F-4D97-AF65-F5344CB8AC3E}">
        <p14:creationId xmlns:p14="http://schemas.microsoft.com/office/powerpoint/2010/main" val="616984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Pipelining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1" y="1391055"/>
            <a:ext cx="8136051" cy="4906452"/>
          </a:xfrm>
        </p:spPr>
        <p:txBody>
          <a:bodyPr>
            <a:normAutofit/>
          </a:bodyPr>
          <a:lstStyle/>
          <a:p>
            <a:r>
              <a:rPr lang="en-US" sz="3000" dirty="0"/>
              <a:t>Four students A, B, C, and D, each have one load of cloth to wash, dray, fold, and put away.</a:t>
            </a:r>
          </a:p>
          <a:p>
            <a:r>
              <a:rPr lang="en-US" sz="3000" dirty="0"/>
              <a:t>Washer takes 30 minutes</a:t>
            </a:r>
          </a:p>
          <a:p>
            <a:r>
              <a:rPr lang="en-US" sz="3000" dirty="0"/>
              <a:t>Dryer takes 30 minutes</a:t>
            </a:r>
          </a:p>
          <a:p>
            <a:r>
              <a:rPr lang="en-US" sz="3000" dirty="0"/>
              <a:t>Folder takes 30 minutes</a:t>
            </a:r>
          </a:p>
          <a:p>
            <a:r>
              <a:rPr lang="en-US" sz="3000" dirty="0"/>
              <a:t>Stasher takes 30 minutes to put folded cloth into drawer.</a:t>
            </a:r>
          </a:p>
          <a:p>
            <a:endParaRPr lang="en-US" sz="24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9C5B13-7E21-4B86-94A1-E099E30A6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051" y="208848"/>
            <a:ext cx="2848373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606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Laundry 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25AA4C-5169-4261-B8EA-FEA35745F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440" y="1099226"/>
            <a:ext cx="10355120" cy="508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630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Pipelined Laundry 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E6F661-4336-4D02-81B3-80A2E34D1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045" y="1070042"/>
            <a:ext cx="10097909" cy="5077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473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Pipelined Laundry 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E6F661-4336-4D02-81B3-80A2E34D1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867" y="1107656"/>
            <a:ext cx="10097909" cy="507783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223A26D-F505-4BD0-9F77-BF687D0B60D0}"/>
              </a:ext>
            </a:extLst>
          </p:cNvPr>
          <p:cNvSpPr/>
          <p:nvPr/>
        </p:nvSpPr>
        <p:spPr bwMode="auto">
          <a:xfrm>
            <a:off x="3054485" y="3210128"/>
            <a:ext cx="2587558" cy="535021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5B5BDB-ACFA-4840-BBB4-39E07F457055}"/>
              </a:ext>
            </a:extLst>
          </p:cNvPr>
          <p:cNvSpPr/>
          <p:nvPr/>
        </p:nvSpPr>
        <p:spPr bwMode="auto">
          <a:xfrm>
            <a:off x="4309353" y="2490281"/>
            <a:ext cx="603115" cy="2791838"/>
          </a:xfrm>
          <a:prstGeom prst="rect">
            <a:avLst/>
          </a:prstGeom>
          <a:noFill/>
          <a:ln w="5715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2683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Yale </a:t>
            </a:r>
            <a:r>
              <a:rPr lang="en-US" dirty="0" err="1"/>
              <a:t>Patt’s</a:t>
            </a:r>
            <a:r>
              <a:rPr lang="en-US" dirty="0"/>
              <a:t>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102" y="1079770"/>
            <a:ext cx="11569915" cy="4906452"/>
          </a:xfrm>
        </p:spPr>
        <p:txBody>
          <a:bodyPr>
            <a:normAutofit lnSpcReduction="10000"/>
          </a:bodyPr>
          <a:lstStyle/>
          <a:p>
            <a:r>
              <a:rPr lang="en-US" sz="3200" b="0" i="0" dirty="0">
                <a:solidFill>
                  <a:srgbClr val="1F1F1F"/>
                </a:solidFill>
                <a:effectLst/>
                <a:latin typeface="Google Sans"/>
              </a:rPr>
              <a:t>An African tribe leader wants to have 10 children in one-two years. He calls upon his advisor, who suggests a plan:</a:t>
            </a:r>
          </a:p>
          <a:p>
            <a:r>
              <a:rPr lang="en-US" sz="2800" b="1" i="0" dirty="0">
                <a:solidFill>
                  <a:srgbClr val="1F1F1F"/>
                </a:solidFill>
                <a:effectLst/>
                <a:latin typeface="Google Sans"/>
              </a:rPr>
              <a:t>Traditional Method (No Pipelining):</a:t>
            </a:r>
            <a:endParaRPr lang="en-US" sz="28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The wife carries a child for 9 months (gestation period).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This process is repeated 10 times to have 10 children, taking a total of 9 months/child * 10 children = 90 months (7.5 years).</a:t>
            </a:r>
          </a:p>
          <a:p>
            <a:pPr marL="342882" marR="0" lvl="0" indent="-34288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Google Sans"/>
                <a:ea typeface="標楷體" pitchFamily="65" charset="-120"/>
                <a:cs typeface="+mn-cs"/>
              </a:rPr>
              <a:t>Pipelined Method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Start conception for child #1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  <a:latin typeface="Google Sans"/>
              </a:rPr>
              <a:t>B</a:t>
            </a: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egin conception for child #2 after 1 month.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Repeat this process for all 10 children.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  <a:latin typeface="Google Sans"/>
              </a:rPr>
              <a:t>This process takes 19 months (1.5 year).</a:t>
            </a:r>
            <a:endParaRPr lang="en-US" sz="24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lvl="1" indent="-342882">
              <a:buSzPct val="80000"/>
              <a:buFont typeface="Wingdings" pitchFamily="2" charset="2"/>
              <a:buChar char="l"/>
              <a:defRPr/>
            </a:pPr>
            <a:endParaRPr kumimoji="1" lang="en-US" sz="2267" b="0" i="0" u="none" strike="noStrike" kern="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Google Sans"/>
              <a:ea typeface="標楷體" pitchFamily="65" charset="-120"/>
              <a:cs typeface="+mn-cs"/>
            </a:endParaRPr>
          </a:p>
          <a:p>
            <a:pPr marL="342919" indent="-285750">
              <a:buFont typeface="Arial" panose="020B0604020202020204" pitchFamily="34" charset="0"/>
              <a:buChar char="•"/>
            </a:pPr>
            <a:endParaRPr lang="en-US" sz="3333" b="0" i="0" dirty="0">
              <a:solidFill>
                <a:srgbClr val="1F1F1F"/>
              </a:solidFill>
              <a:effectLst/>
              <a:latin typeface="Google Sans"/>
            </a:endParaRPr>
          </a:p>
          <a:p>
            <a:endParaRPr lang="en-US" sz="32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73EA47-770B-4D22-9256-26780EF418BF}"/>
              </a:ext>
            </a:extLst>
          </p:cNvPr>
          <p:cNvSpPr txBox="1"/>
          <p:nvPr/>
        </p:nvSpPr>
        <p:spPr>
          <a:xfrm>
            <a:off x="6394377" y="4970559"/>
            <a:ext cx="5368777" cy="1015663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This does not work!</a:t>
            </a:r>
          </a:p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There are structure hazards!</a:t>
            </a:r>
          </a:p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The tribe leader is required to have ten wives.</a:t>
            </a:r>
          </a:p>
        </p:txBody>
      </p:sp>
    </p:spTree>
    <p:extLst>
      <p:ext uri="{BB962C8B-B14F-4D97-AF65-F5344CB8AC3E}">
        <p14:creationId xmlns:p14="http://schemas.microsoft.com/office/powerpoint/2010/main" val="3352465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7F2F3-599E-4D35-9182-D5A30A39A7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396CDC-7EB5-47BF-9C7E-FEDDA98FC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953" y="87549"/>
            <a:ext cx="9854120" cy="60311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F26F74-7B12-4035-B5EB-C73214B19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868" y="0"/>
            <a:ext cx="4079132" cy="460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941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Single cycle vs. multi-cycle vs. pipeline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373189" y="3397251"/>
            <a:ext cx="50494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Clk</a:t>
            </a:r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>
            <a:off x="1968501" y="36147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3" name="Line 5"/>
          <p:cNvSpPr>
            <a:spLocks noChangeShapeType="1"/>
          </p:cNvSpPr>
          <p:nvPr/>
        </p:nvSpPr>
        <p:spPr bwMode="auto">
          <a:xfrm>
            <a:off x="1968500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4" name="Line 6"/>
          <p:cNvSpPr>
            <a:spLocks noChangeShapeType="1"/>
          </p:cNvSpPr>
          <p:nvPr/>
        </p:nvSpPr>
        <p:spPr bwMode="auto">
          <a:xfrm flipV="1">
            <a:off x="2381251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>
            <a:off x="2381250" y="33861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6" name="Line 8"/>
          <p:cNvSpPr>
            <a:spLocks noChangeShapeType="1"/>
          </p:cNvSpPr>
          <p:nvPr/>
        </p:nvSpPr>
        <p:spPr bwMode="auto">
          <a:xfrm>
            <a:off x="2794000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7" name="Line 9"/>
          <p:cNvSpPr>
            <a:spLocks noChangeShapeType="1"/>
          </p:cNvSpPr>
          <p:nvPr/>
        </p:nvSpPr>
        <p:spPr bwMode="auto">
          <a:xfrm>
            <a:off x="1555750" y="33861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8" name="Line 10"/>
          <p:cNvSpPr>
            <a:spLocks noChangeShapeType="1"/>
          </p:cNvSpPr>
          <p:nvPr/>
        </p:nvSpPr>
        <p:spPr bwMode="auto">
          <a:xfrm flipV="1">
            <a:off x="1968500" y="1862139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9" name="Rectangle 11"/>
          <p:cNvSpPr>
            <a:spLocks noChangeArrowheads="1"/>
          </p:cNvSpPr>
          <p:nvPr/>
        </p:nvSpPr>
        <p:spPr bwMode="auto">
          <a:xfrm>
            <a:off x="1951039" y="3016251"/>
            <a:ext cx="83035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Cycle 1</a:t>
            </a:r>
          </a:p>
        </p:txBody>
      </p:sp>
      <p:sp>
        <p:nvSpPr>
          <p:cNvPr id="12300" name="Line 29"/>
          <p:cNvSpPr>
            <a:spLocks noChangeShapeType="1"/>
          </p:cNvSpPr>
          <p:nvPr/>
        </p:nvSpPr>
        <p:spPr bwMode="auto">
          <a:xfrm>
            <a:off x="2794001" y="36147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1" name="Line 30"/>
          <p:cNvSpPr>
            <a:spLocks noChangeShapeType="1"/>
          </p:cNvSpPr>
          <p:nvPr/>
        </p:nvSpPr>
        <p:spPr bwMode="auto">
          <a:xfrm flipV="1">
            <a:off x="3206751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2" name="Line 31"/>
          <p:cNvSpPr>
            <a:spLocks noChangeShapeType="1"/>
          </p:cNvSpPr>
          <p:nvPr/>
        </p:nvSpPr>
        <p:spPr bwMode="auto">
          <a:xfrm>
            <a:off x="3206750" y="33861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3" name="Line 32"/>
          <p:cNvSpPr>
            <a:spLocks noChangeShapeType="1"/>
          </p:cNvSpPr>
          <p:nvPr/>
        </p:nvSpPr>
        <p:spPr bwMode="auto">
          <a:xfrm>
            <a:off x="3619500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4" name="Line 33"/>
          <p:cNvSpPr>
            <a:spLocks noChangeShapeType="1"/>
          </p:cNvSpPr>
          <p:nvPr/>
        </p:nvSpPr>
        <p:spPr bwMode="auto">
          <a:xfrm flipV="1">
            <a:off x="2794000" y="3005139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5" name="Rectangle 34"/>
          <p:cNvSpPr>
            <a:spLocks noChangeArrowheads="1"/>
          </p:cNvSpPr>
          <p:nvPr/>
        </p:nvSpPr>
        <p:spPr bwMode="auto">
          <a:xfrm>
            <a:off x="2776539" y="3016251"/>
            <a:ext cx="83035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Cycle 2</a:t>
            </a:r>
          </a:p>
        </p:txBody>
      </p:sp>
      <p:sp>
        <p:nvSpPr>
          <p:cNvPr id="12306" name="Line 35"/>
          <p:cNvSpPr>
            <a:spLocks noChangeShapeType="1"/>
          </p:cNvSpPr>
          <p:nvPr/>
        </p:nvSpPr>
        <p:spPr bwMode="auto">
          <a:xfrm>
            <a:off x="3619501" y="36147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7" name="Line 36"/>
          <p:cNvSpPr>
            <a:spLocks noChangeShapeType="1"/>
          </p:cNvSpPr>
          <p:nvPr/>
        </p:nvSpPr>
        <p:spPr bwMode="auto">
          <a:xfrm flipV="1">
            <a:off x="4032251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8" name="Line 37"/>
          <p:cNvSpPr>
            <a:spLocks noChangeShapeType="1"/>
          </p:cNvSpPr>
          <p:nvPr/>
        </p:nvSpPr>
        <p:spPr bwMode="auto">
          <a:xfrm>
            <a:off x="4032250" y="33861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9" name="Line 38"/>
          <p:cNvSpPr>
            <a:spLocks noChangeShapeType="1"/>
          </p:cNvSpPr>
          <p:nvPr/>
        </p:nvSpPr>
        <p:spPr bwMode="auto">
          <a:xfrm>
            <a:off x="4445000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10" name="Line 39"/>
          <p:cNvSpPr>
            <a:spLocks noChangeShapeType="1"/>
          </p:cNvSpPr>
          <p:nvPr/>
        </p:nvSpPr>
        <p:spPr bwMode="auto">
          <a:xfrm flipV="1">
            <a:off x="3619500" y="3005139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11" name="Rectangle 40"/>
          <p:cNvSpPr>
            <a:spLocks noChangeArrowheads="1"/>
          </p:cNvSpPr>
          <p:nvPr/>
        </p:nvSpPr>
        <p:spPr bwMode="auto">
          <a:xfrm>
            <a:off x="3602039" y="3016251"/>
            <a:ext cx="83035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Cycle 3</a:t>
            </a:r>
          </a:p>
        </p:txBody>
      </p:sp>
      <p:sp>
        <p:nvSpPr>
          <p:cNvPr id="12312" name="Line 41"/>
          <p:cNvSpPr>
            <a:spLocks noChangeShapeType="1"/>
          </p:cNvSpPr>
          <p:nvPr/>
        </p:nvSpPr>
        <p:spPr bwMode="auto">
          <a:xfrm>
            <a:off x="4445001" y="36147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13" name="Line 42"/>
          <p:cNvSpPr>
            <a:spLocks noChangeShapeType="1"/>
          </p:cNvSpPr>
          <p:nvPr/>
        </p:nvSpPr>
        <p:spPr bwMode="auto">
          <a:xfrm flipV="1">
            <a:off x="4857751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14" name="Line 43"/>
          <p:cNvSpPr>
            <a:spLocks noChangeShapeType="1"/>
          </p:cNvSpPr>
          <p:nvPr/>
        </p:nvSpPr>
        <p:spPr bwMode="auto">
          <a:xfrm>
            <a:off x="4857750" y="33861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15" name="Line 44"/>
          <p:cNvSpPr>
            <a:spLocks noChangeShapeType="1"/>
          </p:cNvSpPr>
          <p:nvPr/>
        </p:nvSpPr>
        <p:spPr bwMode="auto">
          <a:xfrm>
            <a:off x="5270500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16" name="Line 45"/>
          <p:cNvSpPr>
            <a:spLocks noChangeShapeType="1"/>
          </p:cNvSpPr>
          <p:nvPr/>
        </p:nvSpPr>
        <p:spPr bwMode="auto">
          <a:xfrm flipV="1">
            <a:off x="4445000" y="3005139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17" name="Rectangle 46"/>
          <p:cNvSpPr>
            <a:spLocks noChangeArrowheads="1"/>
          </p:cNvSpPr>
          <p:nvPr/>
        </p:nvSpPr>
        <p:spPr bwMode="auto">
          <a:xfrm>
            <a:off x="4427539" y="3016251"/>
            <a:ext cx="83035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Cycle 4</a:t>
            </a:r>
          </a:p>
        </p:txBody>
      </p:sp>
      <p:sp>
        <p:nvSpPr>
          <p:cNvPr id="12318" name="Line 47"/>
          <p:cNvSpPr>
            <a:spLocks noChangeShapeType="1"/>
          </p:cNvSpPr>
          <p:nvPr/>
        </p:nvSpPr>
        <p:spPr bwMode="auto">
          <a:xfrm>
            <a:off x="5270501" y="36147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19" name="Line 48"/>
          <p:cNvSpPr>
            <a:spLocks noChangeShapeType="1"/>
          </p:cNvSpPr>
          <p:nvPr/>
        </p:nvSpPr>
        <p:spPr bwMode="auto">
          <a:xfrm flipV="1">
            <a:off x="5683251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20" name="Line 49"/>
          <p:cNvSpPr>
            <a:spLocks noChangeShapeType="1"/>
          </p:cNvSpPr>
          <p:nvPr/>
        </p:nvSpPr>
        <p:spPr bwMode="auto">
          <a:xfrm>
            <a:off x="5683250" y="33861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21" name="Line 50"/>
          <p:cNvSpPr>
            <a:spLocks noChangeShapeType="1"/>
          </p:cNvSpPr>
          <p:nvPr/>
        </p:nvSpPr>
        <p:spPr bwMode="auto">
          <a:xfrm>
            <a:off x="6096000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22" name="Line 51"/>
          <p:cNvSpPr>
            <a:spLocks noChangeShapeType="1"/>
          </p:cNvSpPr>
          <p:nvPr/>
        </p:nvSpPr>
        <p:spPr bwMode="auto">
          <a:xfrm flipV="1">
            <a:off x="5270500" y="3005139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23" name="Rectangle 52"/>
          <p:cNvSpPr>
            <a:spLocks noChangeArrowheads="1"/>
          </p:cNvSpPr>
          <p:nvPr/>
        </p:nvSpPr>
        <p:spPr bwMode="auto">
          <a:xfrm>
            <a:off x="5253039" y="3016251"/>
            <a:ext cx="83035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Cycle 5</a:t>
            </a:r>
          </a:p>
        </p:txBody>
      </p:sp>
      <p:sp>
        <p:nvSpPr>
          <p:cNvPr id="12324" name="Line 53"/>
          <p:cNvSpPr>
            <a:spLocks noChangeShapeType="1"/>
          </p:cNvSpPr>
          <p:nvPr/>
        </p:nvSpPr>
        <p:spPr bwMode="auto">
          <a:xfrm>
            <a:off x="6096001" y="36147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25" name="Line 54"/>
          <p:cNvSpPr>
            <a:spLocks noChangeShapeType="1"/>
          </p:cNvSpPr>
          <p:nvPr/>
        </p:nvSpPr>
        <p:spPr bwMode="auto">
          <a:xfrm flipV="1">
            <a:off x="6508751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26" name="Line 55"/>
          <p:cNvSpPr>
            <a:spLocks noChangeShapeType="1"/>
          </p:cNvSpPr>
          <p:nvPr/>
        </p:nvSpPr>
        <p:spPr bwMode="auto">
          <a:xfrm>
            <a:off x="6508750" y="33861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27" name="Line 56"/>
          <p:cNvSpPr>
            <a:spLocks noChangeShapeType="1"/>
          </p:cNvSpPr>
          <p:nvPr/>
        </p:nvSpPr>
        <p:spPr bwMode="auto">
          <a:xfrm>
            <a:off x="6921500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28" name="Rectangle 57"/>
          <p:cNvSpPr>
            <a:spLocks noChangeArrowheads="1"/>
          </p:cNvSpPr>
          <p:nvPr/>
        </p:nvSpPr>
        <p:spPr bwMode="auto">
          <a:xfrm>
            <a:off x="6078539" y="3016251"/>
            <a:ext cx="83035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Cycle 6</a:t>
            </a:r>
          </a:p>
        </p:txBody>
      </p:sp>
      <p:sp>
        <p:nvSpPr>
          <p:cNvPr id="12329" name="Line 58"/>
          <p:cNvSpPr>
            <a:spLocks noChangeShapeType="1"/>
          </p:cNvSpPr>
          <p:nvPr/>
        </p:nvSpPr>
        <p:spPr bwMode="auto">
          <a:xfrm>
            <a:off x="6921501" y="36147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30" name="Line 59"/>
          <p:cNvSpPr>
            <a:spLocks noChangeShapeType="1"/>
          </p:cNvSpPr>
          <p:nvPr/>
        </p:nvSpPr>
        <p:spPr bwMode="auto">
          <a:xfrm flipV="1">
            <a:off x="7334251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31" name="Line 60"/>
          <p:cNvSpPr>
            <a:spLocks noChangeShapeType="1"/>
          </p:cNvSpPr>
          <p:nvPr/>
        </p:nvSpPr>
        <p:spPr bwMode="auto">
          <a:xfrm>
            <a:off x="7334250" y="33861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32" name="Line 61"/>
          <p:cNvSpPr>
            <a:spLocks noChangeShapeType="1"/>
          </p:cNvSpPr>
          <p:nvPr/>
        </p:nvSpPr>
        <p:spPr bwMode="auto">
          <a:xfrm>
            <a:off x="7747000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33" name="Line 62"/>
          <p:cNvSpPr>
            <a:spLocks noChangeShapeType="1"/>
          </p:cNvSpPr>
          <p:nvPr/>
        </p:nvSpPr>
        <p:spPr bwMode="auto">
          <a:xfrm flipV="1">
            <a:off x="6921500" y="3005139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34" name="Rectangle 63"/>
          <p:cNvSpPr>
            <a:spLocks noChangeArrowheads="1"/>
          </p:cNvSpPr>
          <p:nvPr/>
        </p:nvSpPr>
        <p:spPr bwMode="auto">
          <a:xfrm>
            <a:off x="6904039" y="3016251"/>
            <a:ext cx="83035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Cycle 7</a:t>
            </a:r>
          </a:p>
        </p:txBody>
      </p:sp>
      <p:sp>
        <p:nvSpPr>
          <p:cNvPr id="12335" name="Line 64"/>
          <p:cNvSpPr>
            <a:spLocks noChangeShapeType="1"/>
          </p:cNvSpPr>
          <p:nvPr/>
        </p:nvSpPr>
        <p:spPr bwMode="auto">
          <a:xfrm>
            <a:off x="7747001" y="36147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36" name="Line 65"/>
          <p:cNvSpPr>
            <a:spLocks noChangeShapeType="1"/>
          </p:cNvSpPr>
          <p:nvPr/>
        </p:nvSpPr>
        <p:spPr bwMode="auto">
          <a:xfrm flipV="1">
            <a:off x="8159751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37" name="Line 66"/>
          <p:cNvSpPr>
            <a:spLocks noChangeShapeType="1"/>
          </p:cNvSpPr>
          <p:nvPr/>
        </p:nvSpPr>
        <p:spPr bwMode="auto">
          <a:xfrm>
            <a:off x="8159750" y="33861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38" name="Line 67"/>
          <p:cNvSpPr>
            <a:spLocks noChangeShapeType="1"/>
          </p:cNvSpPr>
          <p:nvPr/>
        </p:nvSpPr>
        <p:spPr bwMode="auto">
          <a:xfrm>
            <a:off x="8572500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39" name="Line 68"/>
          <p:cNvSpPr>
            <a:spLocks noChangeShapeType="1"/>
          </p:cNvSpPr>
          <p:nvPr/>
        </p:nvSpPr>
        <p:spPr bwMode="auto">
          <a:xfrm flipV="1">
            <a:off x="7747000" y="3005139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40" name="Rectangle 69"/>
          <p:cNvSpPr>
            <a:spLocks noChangeArrowheads="1"/>
          </p:cNvSpPr>
          <p:nvPr/>
        </p:nvSpPr>
        <p:spPr bwMode="auto">
          <a:xfrm>
            <a:off x="7729539" y="3016251"/>
            <a:ext cx="83035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Cycle 8</a:t>
            </a:r>
          </a:p>
        </p:txBody>
      </p:sp>
      <p:sp>
        <p:nvSpPr>
          <p:cNvPr id="12341" name="Line 70"/>
          <p:cNvSpPr>
            <a:spLocks noChangeShapeType="1"/>
          </p:cNvSpPr>
          <p:nvPr/>
        </p:nvSpPr>
        <p:spPr bwMode="auto">
          <a:xfrm>
            <a:off x="8572501" y="36147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42" name="Line 71"/>
          <p:cNvSpPr>
            <a:spLocks noChangeShapeType="1"/>
          </p:cNvSpPr>
          <p:nvPr/>
        </p:nvSpPr>
        <p:spPr bwMode="auto">
          <a:xfrm flipV="1">
            <a:off x="8985251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43" name="Line 72"/>
          <p:cNvSpPr>
            <a:spLocks noChangeShapeType="1"/>
          </p:cNvSpPr>
          <p:nvPr/>
        </p:nvSpPr>
        <p:spPr bwMode="auto">
          <a:xfrm>
            <a:off x="8985250" y="33861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44" name="Line 73"/>
          <p:cNvSpPr>
            <a:spLocks noChangeShapeType="1"/>
          </p:cNvSpPr>
          <p:nvPr/>
        </p:nvSpPr>
        <p:spPr bwMode="auto">
          <a:xfrm>
            <a:off x="9398000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45" name="Line 74"/>
          <p:cNvSpPr>
            <a:spLocks noChangeShapeType="1"/>
          </p:cNvSpPr>
          <p:nvPr/>
        </p:nvSpPr>
        <p:spPr bwMode="auto">
          <a:xfrm flipV="1">
            <a:off x="8572500" y="3005139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46" name="Rectangle 75"/>
          <p:cNvSpPr>
            <a:spLocks noChangeArrowheads="1"/>
          </p:cNvSpPr>
          <p:nvPr/>
        </p:nvSpPr>
        <p:spPr bwMode="auto">
          <a:xfrm>
            <a:off x="8555039" y="3016251"/>
            <a:ext cx="83035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Cycle 9</a:t>
            </a:r>
          </a:p>
        </p:txBody>
      </p:sp>
      <p:sp>
        <p:nvSpPr>
          <p:cNvPr id="12347" name="Line 76"/>
          <p:cNvSpPr>
            <a:spLocks noChangeShapeType="1"/>
          </p:cNvSpPr>
          <p:nvPr/>
        </p:nvSpPr>
        <p:spPr bwMode="auto">
          <a:xfrm>
            <a:off x="9398001" y="36147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48" name="Line 77"/>
          <p:cNvSpPr>
            <a:spLocks noChangeShapeType="1"/>
          </p:cNvSpPr>
          <p:nvPr/>
        </p:nvSpPr>
        <p:spPr bwMode="auto">
          <a:xfrm flipV="1">
            <a:off x="9810751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49" name="Line 78"/>
          <p:cNvSpPr>
            <a:spLocks noChangeShapeType="1"/>
          </p:cNvSpPr>
          <p:nvPr/>
        </p:nvSpPr>
        <p:spPr bwMode="auto">
          <a:xfrm>
            <a:off x="9810750" y="33861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50" name="Line 79"/>
          <p:cNvSpPr>
            <a:spLocks noChangeShapeType="1"/>
          </p:cNvSpPr>
          <p:nvPr/>
        </p:nvSpPr>
        <p:spPr bwMode="auto">
          <a:xfrm>
            <a:off x="10223500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51" name="Line 80"/>
          <p:cNvSpPr>
            <a:spLocks noChangeShapeType="1"/>
          </p:cNvSpPr>
          <p:nvPr/>
        </p:nvSpPr>
        <p:spPr bwMode="auto">
          <a:xfrm flipV="1">
            <a:off x="9398000" y="3005139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52" name="Rectangle 81"/>
          <p:cNvSpPr>
            <a:spLocks noChangeArrowheads="1"/>
          </p:cNvSpPr>
          <p:nvPr/>
        </p:nvSpPr>
        <p:spPr bwMode="auto">
          <a:xfrm>
            <a:off x="9297989" y="3016251"/>
            <a:ext cx="932948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Cycle 10</a:t>
            </a:r>
          </a:p>
        </p:txBody>
      </p:sp>
      <p:sp>
        <p:nvSpPr>
          <p:cNvPr id="12353" name="Line 82"/>
          <p:cNvSpPr>
            <a:spLocks noChangeShapeType="1"/>
          </p:cNvSpPr>
          <p:nvPr/>
        </p:nvSpPr>
        <p:spPr bwMode="auto">
          <a:xfrm>
            <a:off x="10223501" y="36147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54" name="Rectangle 83"/>
          <p:cNvSpPr>
            <a:spLocks noChangeArrowheads="1"/>
          </p:cNvSpPr>
          <p:nvPr/>
        </p:nvSpPr>
        <p:spPr bwMode="auto">
          <a:xfrm>
            <a:off x="1318427" y="4625828"/>
            <a:ext cx="641201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 dirty="0">
                <a:latin typeface="Times New Roman" panose="02020503050405090304" pitchFamily="18" charset="0"/>
                <a:ea typeface="新細明體" panose="02020500000000000000" pitchFamily="18" charset="-120"/>
              </a:rPr>
              <a:t>Load</a:t>
            </a:r>
          </a:p>
        </p:txBody>
      </p:sp>
      <p:sp>
        <p:nvSpPr>
          <p:cNvPr id="12355" name="Line 114"/>
          <p:cNvSpPr>
            <a:spLocks noChangeShapeType="1"/>
          </p:cNvSpPr>
          <p:nvPr/>
        </p:nvSpPr>
        <p:spPr bwMode="auto">
          <a:xfrm flipV="1">
            <a:off x="6086168" y="3614739"/>
            <a:ext cx="9832" cy="652461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56" name="Rectangle 115"/>
          <p:cNvSpPr>
            <a:spLocks noChangeArrowheads="1"/>
          </p:cNvSpPr>
          <p:nvPr/>
        </p:nvSpPr>
        <p:spPr bwMode="auto">
          <a:xfrm>
            <a:off x="203696" y="4690012"/>
            <a:ext cx="945772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 dirty="0">
                <a:latin typeface="Times New Roman" panose="02020503050405090304" pitchFamily="18" charset="0"/>
                <a:ea typeface="新細明體" panose="02020500000000000000" pitchFamily="18" charset="-120"/>
              </a:rPr>
              <a:t>Pipeline </a:t>
            </a:r>
          </a:p>
        </p:txBody>
      </p:sp>
      <p:sp>
        <p:nvSpPr>
          <p:cNvPr id="12357" name="Line 133"/>
          <p:cNvSpPr>
            <a:spLocks noChangeShapeType="1"/>
          </p:cNvSpPr>
          <p:nvPr/>
        </p:nvSpPr>
        <p:spPr bwMode="auto">
          <a:xfrm flipH="1" flipV="1">
            <a:off x="1968500" y="3614738"/>
            <a:ext cx="7784" cy="613132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58" name="Line 136"/>
          <p:cNvSpPr>
            <a:spLocks noChangeShapeType="1"/>
          </p:cNvSpPr>
          <p:nvPr/>
        </p:nvSpPr>
        <p:spPr bwMode="auto">
          <a:xfrm>
            <a:off x="1555750" y="14811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59" name="Line 137"/>
          <p:cNvSpPr>
            <a:spLocks noChangeShapeType="1"/>
          </p:cNvSpPr>
          <p:nvPr/>
        </p:nvSpPr>
        <p:spPr bwMode="auto">
          <a:xfrm>
            <a:off x="1968500" y="1481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60" name="Line 138"/>
          <p:cNvSpPr>
            <a:spLocks noChangeShapeType="1"/>
          </p:cNvSpPr>
          <p:nvPr/>
        </p:nvSpPr>
        <p:spPr bwMode="auto">
          <a:xfrm flipV="1">
            <a:off x="9389808" y="3614739"/>
            <a:ext cx="8193" cy="73112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61" name="Line 139"/>
          <p:cNvSpPr>
            <a:spLocks noChangeShapeType="1"/>
          </p:cNvSpPr>
          <p:nvPr/>
        </p:nvSpPr>
        <p:spPr bwMode="auto">
          <a:xfrm flipV="1">
            <a:off x="6096000" y="2547939"/>
            <a:ext cx="0" cy="838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62" name="Line 140"/>
          <p:cNvSpPr>
            <a:spLocks noChangeShapeType="1"/>
          </p:cNvSpPr>
          <p:nvPr/>
        </p:nvSpPr>
        <p:spPr bwMode="auto">
          <a:xfrm>
            <a:off x="5848351" y="1481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63" name="Line 141"/>
          <p:cNvSpPr>
            <a:spLocks noChangeShapeType="1"/>
          </p:cNvSpPr>
          <p:nvPr/>
        </p:nvSpPr>
        <p:spPr bwMode="auto">
          <a:xfrm flipV="1">
            <a:off x="9893300" y="1785939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64" name="Line 142"/>
          <p:cNvSpPr>
            <a:spLocks noChangeShapeType="1"/>
          </p:cNvSpPr>
          <p:nvPr/>
        </p:nvSpPr>
        <p:spPr bwMode="auto">
          <a:xfrm>
            <a:off x="9893300" y="1481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65" name="Line 143"/>
          <p:cNvSpPr>
            <a:spLocks noChangeShapeType="1"/>
          </p:cNvSpPr>
          <p:nvPr/>
        </p:nvSpPr>
        <p:spPr bwMode="auto">
          <a:xfrm>
            <a:off x="1968501" y="1709739"/>
            <a:ext cx="2063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66" name="Line 144"/>
          <p:cNvSpPr>
            <a:spLocks noChangeShapeType="1"/>
          </p:cNvSpPr>
          <p:nvPr/>
        </p:nvSpPr>
        <p:spPr bwMode="auto">
          <a:xfrm>
            <a:off x="4032251" y="1481139"/>
            <a:ext cx="1816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67" name="Line 145"/>
          <p:cNvSpPr>
            <a:spLocks noChangeShapeType="1"/>
          </p:cNvSpPr>
          <p:nvPr/>
        </p:nvSpPr>
        <p:spPr bwMode="auto">
          <a:xfrm>
            <a:off x="4032251" y="1481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68" name="Line 146"/>
          <p:cNvSpPr>
            <a:spLocks noChangeShapeType="1"/>
          </p:cNvSpPr>
          <p:nvPr/>
        </p:nvSpPr>
        <p:spPr bwMode="auto">
          <a:xfrm>
            <a:off x="5848350" y="1709739"/>
            <a:ext cx="2063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69" name="Line 147"/>
          <p:cNvSpPr>
            <a:spLocks noChangeShapeType="1"/>
          </p:cNvSpPr>
          <p:nvPr/>
        </p:nvSpPr>
        <p:spPr bwMode="auto">
          <a:xfrm>
            <a:off x="7912100" y="1481139"/>
            <a:ext cx="198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70" name="Line 148"/>
          <p:cNvSpPr>
            <a:spLocks noChangeShapeType="1"/>
          </p:cNvSpPr>
          <p:nvPr/>
        </p:nvSpPr>
        <p:spPr bwMode="auto">
          <a:xfrm>
            <a:off x="7912100" y="1481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71" name="Line 149"/>
          <p:cNvSpPr>
            <a:spLocks noChangeShapeType="1"/>
          </p:cNvSpPr>
          <p:nvPr/>
        </p:nvSpPr>
        <p:spPr bwMode="auto">
          <a:xfrm>
            <a:off x="9975850" y="17097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72" name="Rectangle 150"/>
          <p:cNvSpPr>
            <a:spLocks noChangeArrowheads="1"/>
          </p:cNvSpPr>
          <p:nvPr/>
        </p:nvSpPr>
        <p:spPr bwMode="auto">
          <a:xfrm>
            <a:off x="1455739" y="1492251"/>
            <a:ext cx="50494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Clk</a:t>
            </a:r>
          </a:p>
        </p:txBody>
      </p:sp>
      <p:sp>
        <p:nvSpPr>
          <p:cNvPr id="12373" name="Rectangle 151"/>
          <p:cNvSpPr>
            <a:spLocks noChangeArrowheads="1"/>
          </p:cNvSpPr>
          <p:nvPr/>
        </p:nvSpPr>
        <p:spPr bwMode="auto">
          <a:xfrm>
            <a:off x="237386" y="2197524"/>
            <a:ext cx="1333698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Single Cycle:</a:t>
            </a:r>
          </a:p>
        </p:txBody>
      </p:sp>
      <p:sp>
        <p:nvSpPr>
          <p:cNvPr id="12374" name="Rectangle 152"/>
          <p:cNvSpPr>
            <a:spLocks noChangeArrowheads="1"/>
          </p:cNvSpPr>
          <p:nvPr/>
        </p:nvSpPr>
        <p:spPr bwMode="auto">
          <a:xfrm>
            <a:off x="1982789" y="2255839"/>
            <a:ext cx="3851275" cy="279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en-US" b="0">
              <a:latin typeface="Times New Roman" panose="0202050305040509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2375" name="Rectangle 153"/>
          <p:cNvSpPr>
            <a:spLocks noChangeArrowheads="1"/>
          </p:cNvSpPr>
          <p:nvPr/>
        </p:nvSpPr>
        <p:spPr bwMode="auto">
          <a:xfrm>
            <a:off x="5862639" y="2255839"/>
            <a:ext cx="4016375" cy="279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en-US" b="0">
              <a:latin typeface="Times New Roman" panose="0202050305040509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2376" name="Rectangle 154"/>
          <p:cNvSpPr>
            <a:spLocks noChangeArrowheads="1"/>
          </p:cNvSpPr>
          <p:nvPr/>
        </p:nvSpPr>
        <p:spPr bwMode="auto">
          <a:xfrm>
            <a:off x="3436939" y="2254251"/>
            <a:ext cx="641201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Load</a:t>
            </a:r>
          </a:p>
        </p:txBody>
      </p:sp>
      <p:sp>
        <p:nvSpPr>
          <p:cNvPr id="12377" name="Rectangle 155"/>
          <p:cNvSpPr>
            <a:spLocks noChangeArrowheads="1"/>
          </p:cNvSpPr>
          <p:nvPr/>
        </p:nvSpPr>
        <p:spPr bwMode="auto">
          <a:xfrm>
            <a:off x="7564439" y="2254251"/>
            <a:ext cx="527388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 dirty="0" err="1">
                <a:latin typeface="Times New Roman" panose="02020503050405090304" pitchFamily="18" charset="0"/>
                <a:ea typeface="新細明體" panose="02020500000000000000" pitchFamily="18" charset="-120"/>
              </a:rPr>
              <a:t>Beq</a:t>
            </a:r>
            <a:endParaRPr kumimoji="1" lang="en-US" altLang="zh-TW" sz="1600" dirty="0">
              <a:latin typeface="Times New Roman" panose="0202050305040509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2378" name="Line 156"/>
          <p:cNvSpPr>
            <a:spLocks noChangeShapeType="1"/>
          </p:cNvSpPr>
          <p:nvPr/>
        </p:nvSpPr>
        <p:spPr bwMode="auto">
          <a:xfrm flipV="1">
            <a:off x="8582733" y="2288649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79" name="Rectangle 157"/>
          <p:cNvSpPr>
            <a:spLocks noChangeArrowheads="1"/>
          </p:cNvSpPr>
          <p:nvPr/>
        </p:nvSpPr>
        <p:spPr bwMode="auto">
          <a:xfrm>
            <a:off x="8723312" y="2254251"/>
            <a:ext cx="1132404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 dirty="0">
                <a:latin typeface="Times New Roman" panose="02020503050405090304" pitchFamily="18" charset="0"/>
                <a:ea typeface="新細明體" panose="02020500000000000000" pitchFamily="18" charset="-120"/>
              </a:rPr>
              <a:t>  Waste</a:t>
            </a:r>
          </a:p>
        </p:txBody>
      </p:sp>
      <p:grpSp>
        <p:nvGrpSpPr>
          <p:cNvPr id="12392" name="Group 84"/>
          <p:cNvGrpSpPr/>
          <p:nvPr/>
        </p:nvGrpSpPr>
        <p:grpSpPr bwMode="auto">
          <a:xfrm>
            <a:off x="1914314" y="4668516"/>
            <a:ext cx="4098713" cy="368300"/>
            <a:chOff x="488" y="3253"/>
            <a:chExt cx="2384" cy="232"/>
          </a:xfrm>
        </p:grpSpPr>
        <p:grpSp>
          <p:nvGrpSpPr>
            <p:cNvPr id="12429" name="Group 85"/>
            <p:cNvGrpSpPr/>
            <p:nvPr/>
          </p:nvGrpSpPr>
          <p:grpSpPr bwMode="auto">
            <a:xfrm>
              <a:off x="488" y="3259"/>
              <a:ext cx="464" cy="214"/>
              <a:chOff x="488" y="3259"/>
              <a:chExt cx="464" cy="214"/>
            </a:xfrm>
          </p:grpSpPr>
          <p:sp>
            <p:nvSpPr>
              <p:cNvPr id="12442" name="Rectangle 86"/>
              <p:cNvSpPr>
                <a:spLocks noChangeArrowheads="1"/>
              </p:cNvSpPr>
              <p:nvPr/>
            </p:nvSpPr>
            <p:spPr bwMode="auto">
              <a:xfrm>
                <a:off x="488" y="3272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43" name="Rectangle 87"/>
              <p:cNvSpPr>
                <a:spLocks noChangeArrowheads="1"/>
              </p:cNvSpPr>
              <p:nvPr/>
            </p:nvSpPr>
            <p:spPr bwMode="auto">
              <a:xfrm>
                <a:off x="598" y="3259"/>
                <a:ext cx="228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IF</a:t>
                </a:r>
                <a:endParaRPr kumimoji="1" lang="en-US" altLang="zh-TW" sz="1600" dirty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</p:grpSp>
        <p:grpSp>
          <p:nvGrpSpPr>
            <p:cNvPr id="12430" name="Group 88"/>
            <p:cNvGrpSpPr/>
            <p:nvPr/>
          </p:nvGrpSpPr>
          <p:grpSpPr bwMode="auto">
            <a:xfrm>
              <a:off x="968" y="3265"/>
              <a:ext cx="464" cy="214"/>
              <a:chOff x="968" y="3265"/>
              <a:chExt cx="464" cy="214"/>
            </a:xfrm>
          </p:grpSpPr>
          <p:sp>
            <p:nvSpPr>
              <p:cNvPr id="12440" name="Rectangle 89"/>
              <p:cNvSpPr>
                <a:spLocks noChangeArrowheads="1"/>
              </p:cNvSpPr>
              <p:nvPr/>
            </p:nvSpPr>
            <p:spPr bwMode="auto">
              <a:xfrm>
                <a:off x="968" y="3272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41" name="Rectangle 90"/>
              <p:cNvSpPr>
                <a:spLocks noChangeArrowheads="1"/>
              </p:cNvSpPr>
              <p:nvPr/>
            </p:nvSpPr>
            <p:spPr bwMode="auto">
              <a:xfrm>
                <a:off x="1046" y="3265"/>
                <a:ext cx="241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ID</a:t>
                </a:r>
              </a:p>
            </p:txBody>
          </p:sp>
        </p:grpSp>
        <p:grpSp>
          <p:nvGrpSpPr>
            <p:cNvPr id="12431" name="Group 91"/>
            <p:cNvGrpSpPr/>
            <p:nvPr/>
          </p:nvGrpSpPr>
          <p:grpSpPr bwMode="auto">
            <a:xfrm>
              <a:off x="1448" y="3253"/>
              <a:ext cx="464" cy="214"/>
              <a:chOff x="1448" y="3253"/>
              <a:chExt cx="464" cy="214"/>
            </a:xfrm>
          </p:grpSpPr>
          <p:sp>
            <p:nvSpPr>
              <p:cNvPr id="12438" name="Rectangle 92"/>
              <p:cNvSpPr>
                <a:spLocks noChangeArrowheads="1"/>
              </p:cNvSpPr>
              <p:nvPr/>
            </p:nvSpPr>
            <p:spPr bwMode="auto">
              <a:xfrm>
                <a:off x="1448" y="3272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39" name="Rectangle 93"/>
              <p:cNvSpPr>
                <a:spLocks noChangeArrowheads="1"/>
              </p:cNvSpPr>
              <p:nvPr/>
            </p:nvSpPr>
            <p:spPr bwMode="auto">
              <a:xfrm>
                <a:off x="1547" y="3253"/>
                <a:ext cx="273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EX</a:t>
                </a:r>
              </a:p>
            </p:txBody>
          </p:sp>
        </p:grpSp>
        <p:grpSp>
          <p:nvGrpSpPr>
            <p:cNvPr id="12432" name="Group 94"/>
            <p:cNvGrpSpPr/>
            <p:nvPr/>
          </p:nvGrpSpPr>
          <p:grpSpPr bwMode="auto">
            <a:xfrm>
              <a:off x="1928" y="3271"/>
              <a:ext cx="464" cy="214"/>
              <a:chOff x="1928" y="3271"/>
              <a:chExt cx="464" cy="214"/>
            </a:xfrm>
          </p:grpSpPr>
          <p:sp>
            <p:nvSpPr>
              <p:cNvPr id="12436" name="Rectangle 95"/>
              <p:cNvSpPr>
                <a:spLocks noChangeArrowheads="1"/>
              </p:cNvSpPr>
              <p:nvPr/>
            </p:nvSpPr>
            <p:spPr bwMode="auto">
              <a:xfrm>
                <a:off x="1928" y="3272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37" name="Rectangle 96"/>
              <p:cNvSpPr>
                <a:spLocks noChangeArrowheads="1"/>
              </p:cNvSpPr>
              <p:nvPr/>
            </p:nvSpPr>
            <p:spPr bwMode="auto">
              <a:xfrm>
                <a:off x="1958" y="3271"/>
                <a:ext cx="413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MEM</a:t>
                </a:r>
              </a:p>
            </p:txBody>
          </p:sp>
        </p:grpSp>
        <p:grpSp>
          <p:nvGrpSpPr>
            <p:cNvPr id="12433" name="Group 97"/>
            <p:cNvGrpSpPr/>
            <p:nvPr/>
          </p:nvGrpSpPr>
          <p:grpSpPr bwMode="auto">
            <a:xfrm>
              <a:off x="2408" y="3253"/>
              <a:ext cx="464" cy="214"/>
              <a:chOff x="2408" y="3253"/>
              <a:chExt cx="464" cy="214"/>
            </a:xfrm>
          </p:grpSpPr>
          <p:sp>
            <p:nvSpPr>
              <p:cNvPr id="12434" name="Rectangle 98"/>
              <p:cNvSpPr>
                <a:spLocks noChangeArrowheads="1"/>
              </p:cNvSpPr>
              <p:nvPr/>
            </p:nvSpPr>
            <p:spPr bwMode="auto">
              <a:xfrm>
                <a:off x="2408" y="3272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35" name="Rectangle 99"/>
              <p:cNvSpPr>
                <a:spLocks noChangeArrowheads="1"/>
              </p:cNvSpPr>
              <p:nvPr/>
            </p:nvSpPr>
            <p:spPr bwMode="auto">
              <a:xfrm>
                <a:off x="2486" y="3253"/>
                <a:ext cx="307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WB</a:t>
                </a:r>
              </a:p>
            </p:txBody>
          </p:sp>
        </p:grpSp>
      </p:grpSp>
      <p:grpSp>
        <p:nvGrpSpPr>
          <p:cNvPr id="12393" name="Group 116"/>
          <p:cNvGrpSpPr/>
          <p:nvPr/>
        </p:nvGrpSpPr>
        <p:grpSpPr bwMode="auto">
          <a:xfrm>
            <a:off x="2739814" y="5124890"/>
            <a:ext cx="4098713" cy="350521"/>
            <a:chOff x="968" y="3540"/>
            <a:chExt cx="2384" cy="221"/>
          </a:xfrm>
        </p:grpSpPr>
        <p:grpSp>
          <p:nvGrpSpPr>
            <p:cNvPr id="12414" name="Group 117"/>
            <p:cNvGrpSpPr/>
            <p:nvPr/>
          </p:nvGrpSpPr>
          <p:grpSpPr bwMode="auto">
            <a:xfrm>
              <a:off x="968" y="3540"/>
              <a:ext cx="464" cy="214"/>
              <a:chOff x="968" y="3540"/>
              <a:chExt cx="464" cy="214"/>
            </a:xfrm>
          </p:grpSpPr>
          <p:sp>
            <p:nvSpPr>
              <p:cNvPr id="12427" name="Rectangle 118"/>
              <p:cNvSpPr>
                <a:spLocks noChangeArrowheads="1"/>
              </p:cNvSpPr>
              <p:nvPr/>
            </p:nvSpPr>
            <p:spPr bwMode="auto">
              <a:xfrm>
                <a:off x="968" y="3560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28" name="Rectangle 119"/>
              <p:cNvSpPr>
                <a:spLocks noChangeArrowheads="1"/>
              </p:cNvSpPr>
              <p:nvPr/>
            </p:nvSpPr>
            <p:spPr bwMode="auto">
              <a:xfrm>
                <a:off x="1091" y="3540"/>
                <a:ext cx="292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IF</a:t>
                </a:r>
              </a:p>
            </p:txBody>
          </p:sp>
        </p:grpSp>
        <p:grpSp>
          <p:nvGrpSpPr>
            <p:cNvPr id="12415" name="Group 120"/>
            <p:cNvGrpSpPr/>
            <p:nvPr/>
          </p:nvGrpSpPr>
          <p:grpSpPr bwMode="auto">
            <a:xfrm>
              <a:off x="1448" y="3547"/>
              <a:ext cx="464" cy="214"/>
              <a:chOff x="1448" y="3547"/>
              <a:chExt cx="464" cy="214"/>
            </a:xfrm>
          </p:grpSpPr>
          <p:sp>
            <p:nvSpPr>
              <p:cNvPr id="12425" name="Rectangle 121"/>
              <p:cNvSpPr>
                <a:spLocks noChangeArrowheads="1"/>
              </p:cNvSpPr>
              <p:nvPr/>
            </p:nvSpPr>
            <p:spPr bwMode="auto">
              <a:xfrm>
                <a:off x="1448" y="3560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26" name="Rectangle 122"/>
              <p:cNvSpPr>
                <a:spLocks noChangeArrowheads="1"/>
              </p:cNvSpPr>
              <p:nvPr/>
            </p:nvSpPr>
            <p:spPr bwMode="auto">
              <a:xfrm>
                <a:off x="1556" y="3547"/>
                <a:ext cx="241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ID</a:t>
                </a:r>
              </a:p>
            </p:txBody>
          </p:sp>
        </p:grpSp>
        <p:grpSp>
          <p:nvGrpSpPr>
            <p:cNvPr id="12416" name="Group 123"/>
            <p:cNvGrpSpPr/>
            <p:nvPr/>
          </p:nvGrpSpPr>
          <p:grpSpPr bwMode="auto">
            <a:xfrm>
              <a:off x="1928" y="3545"/>
              <a:ext cx="464" cy="214"/>
              <a:chOff x="1928" y="3545"/>
              <a:chExt cx="464" cy="214"/>
            </a:xfrm>
          </p:grpSpPr>
          <p:sp>
            <p:nvSpPr>
              <p:cNvPr id="12423" name="Rectangle 124"/>
              <p:cNvSpPr>
                <a:spLocks noChangeArrowheads="1"/>
              </p:cNvSpPr>
              <p:nvPr/>
            </p:nvSpPr>
            <p:spPr bwMode="auto">
              <a:xfrm>
                <a:off x="1928" y="3560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24" name="Rectangle 125"/>
              <p:cNvSpPr>
                <a:spLocks noChangeArrowheads="1"/>
              </p:cNvSpPr>
              <p:nvPr/>
            </p:nvSpPr>
            <p:spPr bwMode="auto">
              <a:xfrm>
                <a:off x="2027" y="3545"/>
                <a:ext cx="356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EX</a:t>
                </a:r>
              </a:p>
            </p:txBody>
          </p:sp>
        </p:grpSp>
        <p:grpSp>
          <p:nvGrpSpPr>
            <p:cNvPr id="12417" name="Group 126"/>
            <p:cNvGrpSpPr/>
            <p:nvPr/>
          </p:nvGrpSpPr>
          <p:grpSpPr bwMode="auto">
            <a:xfrm>
              <a:off x="2408" y="3547"/>
              <a:ext cx="464" cy="214"/>
              <a:chOff x="2408" y="3547"/>
              <a:chExt cx="464" cy="214"/>
            </a:xfrm>
          </p:grpSpPr>
          <p:sp>
            <p:nvSpPr>
              <p:cNvPr id="12421" name="Rectangle 127"/>
              <p:cNvSpPr>
                <a:spLocks noChangeArrowheads="1"/>
              </p:cNvSpPr>
              <p:nvPr/>
            </p:nvSpPr>
            <p:spPr bwMode="auto">
              <a:xfrm>
                <a:off x="2408" y="3560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22" name="Rectangle 128"/>
              <p:cNvSpPr>
                <a:spLocks noChangeArrowheads="1"/>
              </p:cNvSpPr>
              <p:nvPr/>
            </p:nvSpPr>
            <p:spPr bwMode="auto">
              <a:xfrm>
                <a:off x="2438" y="3547"/>
                <a:ext cx="413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MEM</a:t>
                </a:r>
              </a:p>
            </p:txBody>
          </p:sp>
        </p:grpSp>
        <p:grpSp>
          <p:nvGrpSpPr>
            <p:cNvPr id="12418" name="Group 129"/>
            <p:cNvGrpSpPr/>
            <p:nvPr/>
          </p:nvGrpSpPr>
          <p:grpSpPr bwMode="auto">
            <a:xfrm>
              <a:off x="2888" y="3547"/>
              <a:ext cx="464" cy="214"/>
              <a:chOff x="2888" y="3547"/>
              <a:chExt cx="464" cy="214"/>
            </a:xfrm>
          </p:grpSpPr>
          <p:sp>
            <p:nvSpPr>
              <p:cNvPr id="12419" name="Rectangle 130"/>
              <p:cNvSpPr>
                <a:spLocks noChangeArrowheads="1"/>
              </p:cNvSpPr>
              <p:nvPr/>
            </p:nvSpPr>
            <p:spPr bwMode="auto">
              <a:xfrm>
                <a:off x="2888" y="3560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20" name="Rectangle 131"/>
              <p:cNvSpPr>
                <a:spLocks noChangeArrowheads="1"/>
              </p:cNvSpPr>
              <p:nvPr/>
            </p:nvSpPr>
            <p:spPr bwMode="auto">
              <a:xfrm>
                <a:off x="2966" y="3547"/>
                <a:ext cx="307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WB</a:t>
                </a:r>
              </a:p>
            </p:txBody>
          </p:sp>
        </p:grpSp>
      </p:grpSp>
      <p:sp>
        <p:nvSpPr>
          <p:cNvPr id="12394" name="Rectangle 132"/>
          <p:cNvSpPr>
            <a:spLocks noChangeArrowheads="1"/>
          </p:cNvSpPr>
          <p:nvPr/>
        </p:nvSpPr>
        <p:spPr bwMode="auto">
          <a:xfrm>
            <a:off x="2130214" y="5154507"/>
            <a:ext cx="616644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 dirty="0">
                <a:latin typeface="Times New Roman" panose="02020503050405090304" pitchFamily="18" charset="0"/>
                <a:ea typeface="新細明體" panose="02020500000000000000" pitchFamily="18" charset="-120"/>
              </a:rPr>
              <a:t>store</a:t>
            </a:r>
          </a:p>
        </p:txBody>
      </p:sp>
      <p:grpSp>
        <p:nvGrpSpPr>
          <p:cNvPr id="12397" name="Group 162"/>
          <p:cNvGrpSpPr/>
          <p:nvPr/>
        </p:nvGrpSpPr>
        <p:grpSpPr bwMode="auto">
          <a:xfrm>
            <a:off x="3647441" y="5582923"/>
            <a:ext cx="4098713" cy="368300"/>
            <a:chOff x="1496" y="3829"/>
            <a:chExt cx="2384" cy="232"/>
          </a:xfrm>
        </p:grpSpPr>
        <p:grpSp>
          <p:nvGrpSpPr>
            <p:cNvPr id="12399" name="Group 163"/>
            <p:cNvGrpSpPr/>
            <p:nvPr/>
          </p:nvGrpSpPr>
          <p:grpSpPr bwMode="auto">
            <a:xfrm>
              <a:off x="1496" y="3829"/>
              <a:ext cx="464" cy="214"/>
              <a:chOff x="1496" y="3829"/>
              <a:chExt cx="464" cy="214"/>
            </a:xfrm>
          </p:grpSpPr>
          <p:sp>
            <p:nvSpPr>
              <p:cNvPr id="12412" name="Rectangle 164"/>
              <p:cNvSpPr>
                <a:spLocks noChangeArrowheads="1"/>
              </p:cNvSpPr>
              <p:nvPr/>
            </p:nvSpPr>
            <p:spPr bwMode="auto">
              <a:xfrm>
                <a:off x="1496" y="3848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13" name="Rectangle 165"/>
              <p:cNvSpPr>
                <a:spLocks noChangeArrowheads="1"/>
              </p:cNvSpPr>
              <p:nvPr/>
            </p:nvSpPr>
            <p:spPr bwMode="auto">
              <a:xfrm>
                <a:off x="1609" y="3829"/>
                <a:ext cx="228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IF</a:t>
                </a:r>
              </a:p>
            </p:txBody>
          </p:sp>
        </p:grpSp>
        <p:grpSp>
          <p:nvGrpSpPr>
            <p:cNvPr id="12400" name="Group 166"/>
            <p:cNvGrpSpPr/>
            <p:nvPr/>
          </p:nvGrpSpPr>
          <p:grpSpPr bwMode="auto">
            <a:xfrm>
              <a:off x="1976" y="3829"/>
              <a:ext cx="464" cy="214"/>
              <a:chOff x="1976" y="3829"/>
              <a:chExt cx="464" cy="214"/>
            </a:xfrm>
          </p:grpSpPr>
          <p:sp>
            <p:nvSpPr>
              <p:cNvPr id="12410" name="Rectangle 167"/>
              <p:cNvSpPr>
                <a:spLocks noChangeArrowheads="1"/>
              </p:cNvSpPr>
              <p:nvPr/>
            </p:nvSpPr>
            <p:spPr bwMode="auto">
              <a:xfrm>
                <a:off x="1976" y="3848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11" name="Rectangle 168"/>
              <p:cNvSpPr>
                <a:spLocks noChangeArrowheads="1"/>
              </p:cNvSpPr>
              <p:nvPr/>
            </p:nvSpPr>
            <p:spPr bwMode="auto">
              <a:xfrm>
                <a:off x="2054" y="3829"/>
                <a:ext cx="266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ID</a:t>
                </a:r>
              </a:p>
            </p:txBody>
          </p:sp>
        </p:grpSp>
        <p:grpSp>
          <p:nvGrpSpPr>
            <p:cNvPr id="12401" name="Group 169"/>
            <p:cNvGrpSpPr/>
            <p:nvPr/>
          </p:nvGrpSpPr>
          <p:grpSpPr bwMode="auto">
            <a:xfrm>
              <a:off x="2456" y="3829"/>
              <a:ext cx="464" cy="214"/>
              <a:chOff x="2456" y="3829"/>
              <a:chExt cx="464" cy="214"/>
            </a:xfrm>
          </p:grpSpPr>
          <p:sp>
            <p:nvSpPr>
              <p:cNvPr id="12408" name="Rectangle 170"/>
              <p:cNvSpPr>
                <a:spLocks noChangeArrowheads="1"/>
              </p:cNvSpPr>
              <p:nvPr/>
            </p:nvSpPr>
            <p:spPr bwMode="auto">
              <a:xfrm>
                <a:off x="2456" y="3848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09" name="Rectangle 171"/>
              <p:cNvSpPr>
                <a:spLocks noChangeArrowheads="1"/>
              </p:cNvSpPr>
              <p:nvPr/>
            </p:nvSpPr>
            <p:spPr bwMode="auto">
              <a:xfrm>
                <a:off x="2533" y="3829"/>
                <a:ext cx="273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EX</a:t>
                </a:r>
              </a:p>
            </p:txBody>
          </p:sp>
        </p:grpSp>
        <p:grpSp>
          <p:nvGrpSpPr>
            <p:cNvPr id="12402" name="Group 172"/>
            <p:cNvGrpSpPr/>
            <p:nvPr/>
          </p:nvGrpSpPr>
          <p:grpSpPr bwMode="auto">
            <a:xfrm>
              <a:off x="2936" y="3847"/>
              <a:ext cx="464" cy="214"/>
              <a:chOff x="2936" y="3847"/>
              <a:chExt cx="464" cy="214"/>
            </a:xfrm>
          </p:grpSpPr>
          <p:sp>
            <p:nvSpPr>
              <p:cNvPr id="12406" name="Rectangle 173"/>
              <p:cNvSpPr>
                <a:spLocks noChangeArrowheads="1"/>
              </p:cNvSpPr>
              <p:nvPr/>
            </p:nvSpPr>
            <p:spPr bwMode="auto">
              <a:xfrm>
                <a:off x="2936" y="3848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07" name="Rectangle 174"/>
              <p:cNvSpPr>
                <a:spLocks noChangeArrowheads="1"/>
              </p:cNvSpPr>
              <p:nvPr/>
            </p:nvSpPr>
            <p:spPr bwMode="auto">
              <a:xfrm>
                <a:off x="2966" y="3847"/>
                <a:ext cx="413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MEM</a:t>
                </a:r>
              </a:p>
            </p:txBody>
          </p:sp>
        </p:grpSp>
        <p:grpSp>
          <p:nvGrpSpPr>
            <p:cNvPr id="12403" name="Group 175"/>
            <p:cNvGrpSpPr/>
            <p:nvPr/>
          </p:nvGrpSpPr>
          <p:grpSpPr bwMode="auto">
            <a:xfrm>
              <a:off x="3416" y="3847"/>
              <a:ext cx="464" cy="214"/>
              <a:chOff x="3416" y="3847"/>
              <a:chExt cx="464" cy="214"/>
            </a:xfrm>
          </p:grpSpPr>
          <p:sp>
            <p:nvSpPr>
              <p:cNvPr id="12404" name="Rectangle 176"/>
              <p:cNvSpPr>
                <a:spLocks noChangeArrowheads="1"/>
              </p:cNvSpPr>
              <p:nvPr/>
            </p:nvSpPr>
            <p:spPr bwMode="auto">
              <a:xfrm>
                <a:off x="3416" y="3848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05" name="Rectangle 177"/>
              <p:cNvSpPr>
                <a:spLocks noChangeArrowheads="1"/>
              </p:cNvSpPr>
              <p:nvPr/>
            </p:nvSpPr>
            <p:spPr bwMode="auto">
              <a:xfrm>
                <a:off x="3494" y="3847"/>
                <a:ext cx="307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WB</a:t>
                </a:r>
              </a:p>
            </p:txBody>
          </p:sp>
        </p:grpSp>
      </p:grpSp>
      <p:sp>
        <p:nvSpPr>
          <p:cNvPr id="12398" name="Rectangle 178"/>
          <p:cNvSpPr>
            <a:spLocks noChangeArrowheads="1"/>
          </p:cNvSpPr>
          <p:nvPr/>
        </p:nvSpPr>
        <p:spPr bwMode="auto">
          <a:xfrm>
            <a:off x="2872740" y="5611707"/>
            <a:ext cx="779059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R-type</a:t>
            </a:r>
          </a:p>
        </p:txBody>
      </p:sp>
      <p:sp>
        <p:nvSpPr>
          <p:cNvPr id="12381" name="Line 179"/>
          <p:cNvSpPr>
            <a:spLocks noChangeShapeType="1"/>
          </p:cNvSpPr>
          <p:nvPr/>
        </p:nvSpPr>
        <p:spPr bwMode="auto">
          <a:xfrm flipV="1">
            <a:off x="1968500" y="1176339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82" name="Rectangle 180"/>
          <p:cNvSpPr>
            <a:spLocks noChangeArrowheads="1"/>
          </p:cNvSpPr>
          <p:nvPr/>
        </p:nvSpPr>
        <p:spPr bwMode="auto">
          <a:xfrm>
            <a:off x="3602039" y="1187451"/>
            <a:ext cx="83035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Cycle 1</a:t>
            </a:r>
          </a:p>
        </p:txBody>
      </p:sp>
      <p:sp>
        <p:nvSpPr>
          <p:cNvPr id="12383" name="Line 181"/>
          <p:cNvSpPr>
            <a:spLocks noChangeShapeType="1"/>
          </p:cNvSpPr>
          <p:nvPr/>
        </p:nvSpPr>
        <p:spPr bwMode="auto">
          <a:xfrm flipV="1">
            <a:off x="5848351" y="1176339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84" name="Line 182"/>
          <p:cNvSpPr>
            <a:spLocks noChangeShapeType="1"/>
          </p:cNvSpPr>
          <p:nvPr/>
        </p:nvSpPr>
        <p:spPr bwMode="auto">
          <a:xfrm flipV="1">
            <a:off x="9893300" y="1176339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85" name="Rectangle 183"/>
          <p:cNvSpPr>
            <a:spLocks noChangeArrowheads="1"/>
          </p:cNvSpPr>
          <p:nvPr/>
        </p:nvSpPr>
        <p:spPr bwMode="auto">
          <a:xfrm>
            <a:off x="7481890" y="1187451"/>
            <a:ext cx="83035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Cycle 2</a:t>
            </a:r>
          </a:p>
        </p:txBody>
      </p:sp>
      <p:sp>
        <p:nvSpPr>
          <p:cNvPr id="12386" name="Line 184"/>
          <p:cNvSpPr>
            <a:spLocks noChangeShapeType="1"/>
          </p:cNvSpPr>
          <p:nvPr/>
        </p:nvSpPr>
        <p:spPr bwMode="auto">
          <a:xfrm>
            <a:off x="1968500" y="1328739"/>
            <a:ext cx="15684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87" name="Line 185"/>
          <p:cNvSpPr>
            <a:spLocks noChangeShapeType="1"/>
          </p:cNvSpPr>
          <p:nvPr/>
        </p:nvSpPr>
        <p:spPr bwMode="auto">
          <a:xfrm>
            <a:off x="5848349" y="1328739"/>
            <a:ext cx="15684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88" name="Line 186"/>
          <p:cNvSpPr>
            <a:spLocks noChangeShapeType="1"/>
          </p:cNvSpPr>
          <p:nvPr/>
        </p:nvSpPr>
        <p:spPr bwMode="auto">
          <a:xfrm flipH="1">
            <a:off x="8324849" y="1328739"/>
            <a:ext cx="15684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89" name="Line 187"/>
          <p:cNvSpPr>
            <a:spLocks noChangeShapeType="1"/>
          </p:cNvSpPr>
          <p:nvPr/>
        </p:nvSpPr>
        <p:spPr bwMode="auto">
          <a:xfrm flipH="1">
            <a:off x="4527551" y="1328739"/>
            <a:ext cx="1155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0" name="Line 188"/>
          <p:cNvSpPr>
            <a:spLocks noChangeShapeType="1"/>
          </p:cNvSpPr>
          <p:nvPr/>
        </p:nvSpPr>
        <p:spPr bwMode="auto">
          <a:xfrm flipV="1">
            <a:off x="5848351" y="1481139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" name="Group 84"/>
          <p:cNvGrpSpPr/>
          <p:nvPr/>
        </p:nvGrpSpPr>
        <p:grpSpPr bwMode="auto">
          <a:xfrm>
            <a:off x="1973581" y="3821849"/>
            <a:ext cx="4098713" cy="368300"/>
            <a:chOff x="488" y="3253"/>
            <a:chExt cx="2384" cy="232"/>
          </a:xfrm>
        </p:grpSpPr>
        <p:grpSp>
          <p:nvGrpSpPr>
            <p:cNvPr id="8" name="Group 85"/>
            <p:cNvGrpSpPr/>
            <p:nvPr/>
          </p:nvGrpSpPr>
          <p:grpSpPr bwMode="auto">
            <a:xfrm>
              <a:off x="488" y="3259"/>
              <a:ext cx="464" cy="214"/>
              <a:chOff x="488" y="3259"/>
              <a:chExt cx="464" cy="214"/>
            </a:xfrm>
          </p:grpSpPr>
          <p:sp>
            <p:nvSpPr>
              <p:cNvPr id="9" name="Rectangle 86"/>
              <p:cNvSpPr>
                <a:spLocks noChangeArrowheads="1"/>
              </p:cNvSpPr>
              <p:nvPr/>
            </p:nvSpPr>
            <p:spPr bwMode="auto">
              <a:xfrm>
                <a:off x="488" y="3272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0" name="Rectangle 87"/>
              <p:cNvSpPr>
                <a:spLocks noChangeArrowheads="1"/>
              </p:cNvSpPr>
              <p:nvPr/>
            </p:nvSpPr>
            <p:spPr bwMode="auto">
              <a:xfrm>
                <a:off x="598" y="3259"/>
                <a:ext cx="228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IF</a:t>
                </a:r>
                <a:endParaRPr kumimoji="1" lang="en-US" altLang="zh-TW" sz="1600" dirty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</p:grpSp>
        <p:grpSp>
          <p:nvGrpSpPr>
            <p:cNvPr id="11" name="Group 88"/>
            <p:cNvGrpSpPr/>
            <p:nvPr/>
          </p:nvGrpSpPr>
          <p:grpSpPr bwMode="auto">
            <a:xfrm>
              <a:off x="968" y="3265"/>
              <a:ext cx="464" cy="214"/>
              <a:chOff x="968" y="3265"/>
              <a:chExt cx="464" cy="214"/>
            </a:xfrm>
          </p:grpSpPr>
          <p:sp>
            <p:nvSpPr>
              <p:cNvPr id="12" name="Rectangle 89"/>
              <p:cNvSpPr>
                <a:spLocks noChangeArrowheads="1"/>
              </p:cNvSpPr>
              <p:nvPr/>
            </p:nvSpPr>
            <p:spPr bwMode="auto">
              <a:xfrm>
                <a:off x="968" y="3272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3" name="Rectangle 90"/>
              <p:cNvSpPr>
                <a:spLocks noChangeArrowheads="1"/>
              </p:cNvSpPr>
              <p:nvPr/>
            </p:nvSpPr>
            <p:spPr bwMode="auto">
              <a:xfrm>
                <a:off x="1046" y="3265"/>
                <a:ext cx="241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ID</a:t>
                </a:r>
              </a:p>
            </p:txBody>
          </p:sp>
        </p:grpSp>
        <p:grpSp>
          <p:nvGrpSpPr>
            <p:cNvPr id="14" name="Group 91"/>
            <p:cNvGrpSpPr/>
            <p:nvPr/>
          </p:nvGrpSpPr>
          <p:grpSpPr bwMode="auto">
            <a:xfrm>
              <a:off x="1448" y="3253"/>
              <a:ext cx="464" cy="214"/>
              <a:chOff x="1448" y="3253"/>
              <a:chExt cx="464" cy="214"/>
            </a:xfrm>
          </p:grpSpPr>
          <p:sp>
            <p:nvSpPr>
              <p:cNvPr id="15" name="Rectangle 92"/>
              <p:cNvSpPr>
                <a:spLocks noChangeArrowheads="1"/>
              </p:cNvSpPr>
              <p:nvPr/>
            </p:nvSpPr>
            <p:spPr bwMode="auto">
              <a:xfrm>
                <a:off x="1448" y="3272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6" name="Rectangle 93"/>
              <p:cNvSpPr>
                <a:spLocks noChangeArrowheads="1"/>
              </p:cNvSpPr>
              <p:nvPr/>
            </p:nvSpPr>
            <p:spPr bwMode="auto">
              <a:xfrm>
                <a:off x="1547" y="3253"/>
                <a:ext cx="273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EX</a:t>
                </a:r>
              </a:p>
            </p:txBody>
          </p:sp>
        </p:grpSp>
        <p:grpSp>
          <p:nvGrpSpPr>
            <p:cNvPr id="17" name="Group 94"/>
            <p:cNvGrpSpPr/>
            <p:nvPr/>
          </p:nvGrpSpPr>
          <p:grpSpPr bwMode="auto">
            <a:xfrm>
              <a:off x="1928" y="3271"/>
              <a:ext cx="464" cy="214"/>
              <a:chOff x="1928" y="3271"/>
              <a:chExt cx="464" cy="214"/>
            </a:xfrm>
          </p:grpSpPr>
          <p:sp>
            <p:nvSpPr>
              <p:cNvPr id="18" name="Rectangle 95"/>
              <p:cNvSpPr>
                <a:spLocks noChangeArrowheads="1"/>
              </p:cNvSpPr>
              <p:nvPr/>
            </p:nvSpPr>
            <p:spPr bwMode="auto">
              <a:xfrm>
                <a:off x="1928" y="3272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9" name="Rectangle 96"/>
              <p:cNvSpPr>
                <a:spLocks noChangeArrowheads="1"/>
              </p:cNvSpPr>
              <p:nvPr/>
            </p:nvSpPr>
            <p:spPr bwMode="auto">
              <a:xfrm>
                <a:off x="1958" y="3271"/>
                <a:ext cx="413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MEM</a:t>
                </a:r>
              </a:p>
            </p:txBody>
          </p:sp>
        </p:grpSp>
        <p:grpSp>
          <p:nvGrpSpPr>
            <p:cNvPr id="20" name="Group 97"/>
            <p:cNvGrpSpPr/>
            <p:nvPr/>
          </p:nvGrpSpPr>
          <p:grpSpPr bwMode="auto">
            <a:xfrm>
              <a:off x="2408" y="3253"/>
              <a:ext cx="464" cy="214"/>
              <a:chOff x="2408" y="3253"/>
              <a:chExt cx="464" cy="214"/>
            </a:xfrm>
          </p:grpSpPr>
          <p:sp>
            <p:nvSpPr>
              <p:cNvPr id="21" name="Rectangle 98"/>
              <p:cNvSpPr>
                <a:spLocks noChangeArrowheads="1"/>
              </p:cNvSpPr>
              <p:nvPr/>
            </p:nvSpPr>
            <p:spPr bwMode="auto">
              <a:xfrm>
                <a:off x="2408" y="3272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2" name="Rectangle 99"/>
              <p:cNvSpPr>
                <a:spLocks noChangeArrowheads="1"/>
              </p:cNvSpPr>
              <p:nvPr/>
            </p:nvSpPr>
            <p:spPr bwMode="auto">
              <a:xfrm>
                <a:off x="2486" y="3253"/>
                <a:ext cx="307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WB</a:t>
                </a:r>
              </a:p>
            </p:txBody>
          </p:sp>
        </p:grpSp>
      </p:grpSp>
      <p:sp>
        <p:nvSpPr>
          <p:cNvPr id="23" name="Rectangle 151"/>
          <p:cNvSpPr>
            <a:spLocks noChangeArrowheads="1"/>
          </p:cNvSpPr>
          <p:nvPr/>
        </p:nvSpPr>
        <p:spPr bwMode="auto">
          <a:xfrm>
            <a:off x="139173" y="3850217"/>
            <a:ext cx="1250342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Multi-cycle:</a:t>
            </a:r>
          </a:p>
        </p:txBody>
      </p:sp>
      <p:grpSp>
        <p:nvGrpSpPr>
          <p:cNvPr id="25" name="Group 84"/>
          <p:cNvGrpSpPr/>
          <p:nvPr/>
        </p:nvGrpSpPr>
        <p:grpSpPr bwMode="auto">
          <a:xfrm>
            <a:off x="6090921" y="3809149"/>
            <a:ext cx="2712991" cy="368300"/>
            <a:chOff x="488" y="3253"/>
            <a:chExt cx="1578" cy="232"/>
          </a:xfrm>
        </p:grpSpPr>
        <p:grpSp>
          <p:nvGrpSpPr>
            <p:cNvPr id="26" name="Group 85"/>
            <p:cNvGrpSpPr/>
            <p:nvPr/>
          </p:nvGrpSpPr>
          <p:grpSpPr bwMode="auto">
            <a:xfrm>
              <a:off x="488" y="3259"/>
              <a:ext cx="464" cy="214"/>
              <a:chOff x="488" y="3259"/>
              <a:chExt cx="464" cy="214"/>
            </a:xfrm>
          </p:grpSpPr>
          <p:sp>
            <p:nvSpPr>
              <p:cNvPr id="27" name="Rectangle 86"/>
              <p:cNvSpPr>
                <a:spLocks noChangeArrowheads="1"/>
              </p:cNvSpPr>
              <p:nvPr/>
            </p:nvSpPr>
            <p:spPr bwMode="auto">
              <a:xfrm>
                <a:off x="488" y="3272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8" name="Rectangle 87"/>
              <p:cNvSpPr>
                <a:spLocks noChangeArrowheads="1"/>
              </p:cNvSpPr>
              <p:nvPr/>
            </p:nvSpPr>
            <p:spPr bwMode="auto">
              <a:xfrm>
                <a:off x="598" y="3259"/>
                <a:ext cx="228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IF</a:t>
                </a:r>
                <a:endParaRPr kumimoji="1" lang="en-US" altLang="zh-TW" sz="1600" dirty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</p:grpSp>
        <p:grpSp>
          <p:nvGrpSpPr>
            <p:cNvPr id="29" name="Group 88"/>
            <p:cNvGrpSpPr/>
            <p:nvPr/>
          </p:nvGrpSpPr>
          <p:grpSpPr bwMode="auto">
            <a:xfrm>
              <a:off x="968" y="3265"/>
              <a:ext cx="464" cy="214"/>
              <a:chOff x="968" y="3265"/>
              <a:chExt cx="464" cy="214"/>
            </a:xfrm>
          </p:grpSpPr>
          <p:sp>
            <p:nvSpPr>
              <p:cNvPr id="30" name="Rectangle 89"/>
              <p:cNvSpPr>
                <a:spLocks noChangeArrowheads="1"/>
              </p:cNvSpPr>
              <p:nvPr/>
            </p:nvSpPr>
            <p:spPr bwMode="auto">
              <a:xfrm>
                <a:off x="968" y="3272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31" name="Rectangle 90"/>
              <p:cNvSpPr>
                <a:spLocks noChangeArrowheads="1"/>
              </p:cNvSpPr>
              <p:nvPr/>
            </p:nvSpPr>
            <p:spPr bwMode="auto">
              <a:xfrm>
                <a:off x="1046" y="3265"/>
                <a:ext cx="241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ID</a:t>
                </a:r>
              </a:p>
            </p:txBody>
          </p:sp>
        </p:grpSp>
        <p:grpSp>
          <p:nvGrpSpPr>
            <p:cNvPr id="32" name="Group 91"/>
            <p:cNvGrpSpPr/>
            <p:nvPr/>
          </p:nvGrpSpPr>
          <p:grpSpPr bwMode="auto">
            <a:xfrm>
              <a:off x="1448" y="3253"/>
              <a:ext cx="464" cy="214"/>
              <a:chOff x="1448" y="3253"/>
              <a:chExt cx="464" cy="214"/>
            </a:xfrm>
          </p:grpSpPr>
          <p:sp>
            <p:nvSpPr>
              <p:cNvPr id="33" name="Rectangle 92"/>
              <p:cNvSpPr>
                <a:spLocks noChangeArrowheads="1"/>
              </p:cNvSpPr>
              <p:nvPr/>
            </p:nvSpPr>
            <p:spPr bwMode="auto">
              <a:xfrm>
                <a:off x="1448" y="3272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34" name="Rectangle 93"/>
              <p:cNvSpPr>
                <a:spLocks noChangeArrowheads="1"/>
              </p:cNvSpPr>
              <p:nvPr/>
            </p:nvSpPr>
            <p:spPr bwMode="auto">
              <a:xfrm>
                <a:off x="1547" y="3253"/>
                <a:ext cx="273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EX</a:t>
                </a:r>
              </a:p>
            </p:txBody>
          </p:sp>
        </p:grpSp>
        <p:sp>
          <p:nvSpPr>
            <p:cNvPr id="37" name="Rectangle 96"/>
            <p:cNvSpPr>
              <a:spLocks noChangeArrowheads="1"/>
            </p:cNvSpPr>
            <p:nvPr/>
          </p:nvSpPr>
          <p:spPr bwMode="auto">
            <a:xfrm>
              <a:off x="1958" y="3271"/>
              <a:ext cx="108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9" rIns="92075" bIns="46039">
              <a:spAutoFit/>
            </a:bodyPr>
            <a:lstStyle>
              <a:lvl1pPr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1pPr>
              <a:lvl2pPr marL="742950" indent="-285750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2pPr>
              <a:lvl3pPr marL="11430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3pPr>
              <a:lvl4pPr marL="1600200" indent="-228600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4pPr>
              <a:lvl5pPr marL="20574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en-US" altLang="zh-TW" sz="1600" dirty="0">
                <a:latin typeface="Times New Roman" panose="02020503050405090304" pitchFamily="18" charset="0"/>
                <a:ea typeface="新細明體" panose="02020500000000000000" pitchFamily="18" charset="-120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anose="020F07020304040A0204" pitchFamily="34" charset="0"/>
              </a:rPr>
              <a:t>Pipeline Performance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7378" y="999079"/>
            <a:ext cx="11242698" cy="2137687"/>
          </a:xfrm>
        </p:spPr>
        <p:txBody>
          <a:bodyPr/>
          <a:lstStyle/>
          <a:p>
            <a:r>
              <a:rPr lang="en-US" sz="3200" dirty="0"/>
              <a:t>Assume time for stages is</a:t>
            </a:r>
          </a:p>
          <a:p>
            <a:pPr lvl="1"/>
            <a:r>
              <a:rPr lang="en-US" sz="2800" dirty="0"/>
              <a:t>100 ps for register read or write</a:t>
            </a:r>
          </a:p>
          <a:p>
            <a:pPr lvl="1"/>
            <a:r>
              <a:rPr lang="en-US" sz="2800" dirty="0"/>
              <a:t>200 ps for other stages (Mem and ALU)</a:t>
            </a:r>
          </a:p>
          <a:p>
            <a:r>
              <a:rPr lang="en-US" sz="3200" dirty="0"/>
              <a:t>Compare pipelined </a:t>
            </a:r>
            <a:r>
              <a:rPr lang="en-US" sz="3200" dirty="0" err="1"/>
              <a:t>datapath</a:t>
            </a:r>
            <a:r>
              <a:rPr lang="en-US" sz="3200" dirty="0"/>
              <a:t> with single-cycle </a:t>
            </a:r>
            <a:r>
              <a:rPr lang="en-US" sz="3200" dirty="0" err="1"/>
              <a:t>datapath</a:t>
            </a:r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Pipelined clock rate set by the slowest stage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760914"/>
              </p:ext>
            </p:extLst>
          </p:nvPr>
        </p:nvGraphicFramePr>
        <p:xfrm>
          <a:off x="1570996" y="3299228"/>
          <a:ext cx="8664525" cy="2355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7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83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47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15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281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Instruction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IF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 err="1"/>
                        <a:t>Reg</a:t>
                      </a:r>
                      <a:r>
                        <a:rPr lang="en-US" sz="1900" baseline="0" dirty="0"/>
                        <a:t> Read</a:t>
                      </a:r>
                      <a:endParaRPr lang="en-US" sz="1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ALU</a:t>
                      </a:r>
                      <a:r>
                        <a:rPr lang="en-US" sz="1900" baseline="0" dirty="0"/>
                        <a:t> Op</a:t>
                      </a:r>
                      <a:endParaRPr lang="en-US" sz="1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Mem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 err="1"/>
                        <a:t>Reg</a:t>
                      </a:r>
                      <a:r>
                        <a:rPr lang="en-US" sz="1900" dirty="0"/>
                        <a:t> Write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24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 err="1"/>
                        <a:t>lw</a:t>
                      </a:r>
                      <a:endParaRPr lang="en-US" sz="1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solidFill>
                            <a:srgbClr val="FF0000"/>
                          </a:solidFill>
                        </a:rPr>
                        <a:t>800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24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 err="1"/>
                        <a:t>sw</a:t>
                      </a:r>
                      <a:endParaRPr lang="en-US" sz="1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24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R-format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24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 err="1"/>
                        <a:t>beq</a:t>
                      </a:r>
                      <a:endParaRPr lang="en-US" sz="1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16</a:t>
            </a:fld>
            <a:endParaRPr lang="zh-TW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87927" y="1072583"/>
            <a:ext cx="7307244" cy="50712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Performance (2)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B945FD-163B-475A-AA35-512486D693E8}"/>
              </a:ext>
            </a:extLst>
          </p:cNvPr>
          <p:cNvSpPr txBox="1"/>
          <p:nvPr/>
        </p:nvSpPr>
        <p:spPr>
          <a:xfrm>
            <a:off x="249143" y="2313031"/>
            <a:ext cx="1967205" cy="646331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en-US" b="1" dirty="0">
                <a:ea typeface="標楷體" pitchFamily="65" charset="-120"/>
                <a:cs typeface="Calibri" pitchFamily="34" charset="0"/>
              </a:rPr>
              <a:t>N</a:t>
            </a:r>
            <a:r>
              <a:rPr lang="en-US" dirty="0">
                <a:ea typeface="標楷體" pitchFamily="65" charset="-120"/>
                <a:cs typeface="Calibri" pitchFamily="34" charset="0"/>
              </a:rPr>
              <a:t> cycles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each cycle 800ps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DBBF8-5879-4D63-9597-74D754CBE7D2}"/>
              </a:ext>
            </a:extLst>
          </p:cNvPr>
          <p:cNvSpPr txBox="1"/>
          <p:nvPr/>
        </p:nvSpPr>
        <p:spPr>
          <a:xfrm>
            <a:off x="249142" y="4112610"/>
            <a:ext cx="1967205" cy="646331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en-US" b="1" dirty="0">
                <a:ea typeface="標楷體" pitchFamily="65" charset="-120"/>
                <a:cs typeface="Calibri" pitchFamily="34" charset="0"/>
              </a:rPr>
              <a:t>N</a:t>
            </a:r>
            <a:r>
              <a:rPr lang="en-US" dirty="0">
                <a:ea typeface="標楷體" pitchFamily="65" charset="-120"/>
                <a:cs typeface="Calibri" pitchFamily="34" charset="0"/>
              </a:rPr>
              <a:t> +4 cycles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each cycle 200ps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4275A4-8305-4189-BAAD-2DD57397D7EF}"/>
              </a:ext>
            </a:extLst>
          </p:cNvPr>
          <p:cNvSpPr txBox="1"/>
          <p:nvPr/>
        </p:nvSpPr>
        <p:spPr>
          <a:xfrm>
            <a:off x="249142" y="5191291"/>
            <a:ext cx="2037737" cy="646331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When</a:t>
            </a:r>
            <a:r>
              <a:rPr lang="en-US" b="1" dirty="0">
                <a:ea typeface="標楷體" pitchFamily="65" charset="-120"/>
                <a:cs typeface="Calibri" pitchFamily="34" charset="0"/>
              </a:rPr>
              <a:t> N </a:t>
            </a:r>
            <a:r>
              <a:rPr lang="en-US" dirty="0">
                <a:ea typeface="標楷體" pitchFamily="65" charset="-120"/>
                <a:cs typeface="Calibri" pitchFamily="34" charset="0"/>
              </a:rPr>
              <a:t>is large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+4 can be ignored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Speedup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9867" y="1125537"/>
            <a:ext cx="10798907" cy="4895851"/>
          </a:xfrm>
        </p:spPr>
        <p:txBody>
          <a:bodyPr>
            <a:normAutofit fontScale="92500"/>
          </a:bodyPr>
          <a:lstStyle/>
          <a:p>
            <a:r>
              <a:rPr lang="en-US" sz="3200" dirty="0"/>
              <a:t>If all stages are balanced, i.e., all take the same time, in an ideal situation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3200" dirty="0"/>
              <a:t>If not perfectly balanced, speedup would be less</a:t>
            </a:r>
          </a:p>
          <a:p>
            <a:r>
              <a:rPr lang="en-US" sz="3200" dirty="0"/>
              <a:t>The speedup is a result of increased </a:t>
            </a:r>
            <a:r>
              <a:rPr lang="en-US" sz="3200" dirty="0">
                <a:solidFill>
                  <a:srgbClr val="FF0000"/>
                </a:solidFill>
              </a:rPr>
              <a:t>throughput</a:t>
            </a:r>
            <a:r>
              <a:rPr lang="en-US" sz="3200" dirty="0"/>
              <a:t>.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Instruction Latency, </a:t>
            </a:r>
            <a:r>
              <a:rPr lang="en-US" sz="2800" dirty="0"/>
              <a:t>which refers to the time it takes for each instruction to be executed, does not decrease; in fact, it may even increase</a:t>
            </a:r>
            <a:r>
              <a:rPr lang="en-US" sz="2800" b="1" dirty="0">
                <a:solidFill>
                  <a:srgbClr val="FF0000"/>
                </a:solidFill>
              </a:rPr>
              <a:t>.</a:t>
            </a:r>
            <a:endParaRPr lang="en-US" sz="280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352396"/>
              </p:ext>
            </p:extLst>
          </p:nvPr>
        </p:nvGraphicFramePr>
        <p:xfrm>
          <a:off x="1350683" y="2079812"/>
          <a:ext cx="9120094" cy="13027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37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2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1383">
                <a:tc rowSpan="2"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Time between instructions </a:t>
                      </a:r>
                      <a:r>
                        <a:rPr lang="en-US" sz="2100" baseline="-25000" dirty="0"/>
                        <a:t>pipelined</a:t>
                      </a:r>
                      <a:r>
                        <a:rPr lang="en-US" sz="2100" baseline="0" dirty="0"/>
                        <a:t> =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100" dirty="0"/>
                        <a:t>Time between instructions </a:t>
                      </a:r>
                      <a:r>
                        <a:rPr lang="en-US" sz="2100" baseline="-25000" dirty="0"/>
                        <a:t>nonpipelined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138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Number of pipeline stages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18</a:t>
            </a:fld>
            <a:endParaRPr lang="zh-TW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Pipeline-oriented ISA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77" y="972766"/>
            <a:ext cx="11855540" cy="5379395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RISC-V ISA is designed for pipelining</a:t>
            </a:r>
          </a:p>
          <a:p>
            <a:pPr lvl="1"/>
            <a:r>
              <a:rPr lang="en-US" sz="2800" dirty="0"/>
              <a:t>All </a:t>
            </a:r>
            <a:r>
              <a:rPr lang="en-US" sz="2800" b="1" dirty="0">
                <a:solidFill>
                  <a:srgbClr val="FF0000"/>
                </a:solidFill>
              </a:rPr>
              <a:t>instructions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800" dirty="0"/>
              <a:t>are fixed length: </a:t>
            </a:r>
            <a:r>
              <a:rPr lang="en-US" sz="2800" b="1" dirty="0">
                <a:solidFill>
                  <a:srgbClr val="FF0000"/>
                </a:solidFill>
              </a:rPr>
              <a:t>32-bits </a:t>
            </a:r>
            <a:r>
              <a:rPr lang="en-US" sz="2800" b="1" dirty="0"/>
              <a:t>(</a:t>
            </a:r>
            <a:r>
              <a:rPr lang="en-US" sz="2800" dirty="0"/>
              <a:t>except for the C extension</a:t>
            </a:r>
            <a:r>
              <a:rPr lang="en-US" sz="2800" b="1" dirty="0"/>
              <a:t>)</a:t>
            </a:r>
          </a:p>
          <a:p>
            <a:pPr lvl="2"/>
            <a:r>
              <a:rPr lang="en-US" sz="2600" dirty="0"/>
              <a:t>Easier to fetch and decode in one cycle</a:t>
            </a:r>
          </a:p>
          <a:p>
            <a:pPr lvl="2"/>
            <a:r>
              <a:rPr lang="en-US" sz="2600" dirty="0"/>
              <a:t>c.f. x86: 1- to 17-byte instructions</a:t>
            </a:r>
          </a:p>
          <a:p>
            <a:pPr lvl="1"/>
            <a:r>
              <a:rPr lang="en-US" sz="2800" dirty="0"/>
              <a:t>Few and </a:t>
            </a:r>
            <a:r>
              <a:rPr lang="en-US" sz="2800" b="1" dirty="0">
                <a:solidFill>
                  <a:srgbClr val="FF0000"/>
                </a:solidFill>
              </a:rPr>
              <a:t>regular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800" dirty="0"/>
              <a:t>instruction </a:t>
            </a:r>
            <a:r>
              <a:rPr lang="en-US" sz="2800" b="1" dirty="0">
                <a:solidFill>
                  <a:srgbClr val="FF0000"/>
                </a:solidFill>
              </a:rPr>
              <a:t>formats</a:t>
            </a:r>
          </a:p>
          <a:p>
            <a:pPr lvl="2"/>
            <a:r>
              <a:rPr lang="en-US" sz="2600" dirty="0"/>
              <a:t>Decode and read registers in one step</a:t>
            </a:r>
          </a:p>
          <a:p>
            <a:pPr lvl="1"/>
            <a:r>
              <a:rPr lang="en-US" sz="2800" dirty="0"/>
              <a:t>Only load/store instructions accessing memory </a:t>
            </a:r>
          </a:p>
          <a:p>
            <a:pPr lvl="2"/>
            <a:r>
              <a:rPr lang="en-US" sz="2600" b="1" dirty="0">
                <a:solidFill>
                  <a:srgbClr val="FF0000"/>
                </a:solidFill>
              </a:rPr>
              <a:t>Calculate address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in the 3rd stage, </a:t>
            </a:r>
            <a:r>
              <a:rPr lang="en-US" sz="2600" b="1" dirty="0">
                <a:solidFill>
                  <a:srgbClr val="FF0000"/>
                </a:solidFill>
              </a:rPr>
              <a:t>access memory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in the 4th stage</a:t>
            </a:r>
          </a:p>
          <a:p>
            <a:pPr lvl="2"/>
            <a:r>
              <a:rPr lang="en-US" sz="2600" dirty="0"/>
              <a:t>If the operand is in memory, additional execution stages are needed after stage 4. </a:t>
            </a:r>
          </a:p>
          <a:p>
            <a:pPr lvl="1"/>
            <a:r>
              <a:rPr lang="en-US" sz="2800" dirty="0"/>
              <a:t>Instructions are simple and do not require a large number of steps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19</a:t>
            </a:fld>
            <a:endParaRPr lang="zh-TW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wrap="square" lIns="92075" tIns="46039" rIns="92075" bIns="46039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TW" dirty="0"/>
              <a:t>Pipeline Lessons</a:t>
            </a:r>
          </a:p>
        </p:txBody>
      </p:sp>
      <p:sp>
        <p:nvSpPr>
          <p:cNvPr id="353283" name="Rectangle 3"/>
          <p:cNvSpPr>
            <a:spLocks noGrp="1" noChangeArrowheads="1"/>
          </p:cNvSpPr>
          <p:nvPr>
            <p:ph idx="1"/>
          </p:nvPr>
        </p:nvSpPr>
        <p:spPr>
          <a:xfrm>
            <a:off x="612844" y="1299861"/>
            <a:ext cx="10954744" cy="4721560"/>
          </a:xfrm>
          <a:noFill/>
        </p:spPr>
        <p:txBody>
          <a:bodyPr vert="horz" wrap="square" lIns="92075" tIns="46039" rIns="92075" bIns="46039" numCol="1" anchor="t" anchorCtr="0" compatLnSpc="1">
            <a:prstTxWarp prst="textNoShape">
              <a:avLst/>
            </a:prstTxWarp>
          </a:bodyPr>
          <a:lstStyle/>
          <a:p>
            <a:pPr marL="480895" indent="-480895">
              <a:lnSpc>
                <a:spcPct val="80000"/>
              </a:lnSpc>
            </a:pPr>
            <a:r>
              <a:rPr lang="en-US" altLang="zh-TW" sz="3200" dirty="0"/>
              <a:t>Does not help </a:t>
            </a:r>
            <a:r>
              <a:rPr lang="en-US" altLang="zh-TW" sz="3200" dirty="0">
                <a:solidFill>
                  <a:srgbClr val="FF0000"/>
                </a:solidFill>
              </a:rPr>
              <a:t>latency</a:t>
            </a:r>
            <a:r>
              <a:rPr lang="en-US" altLang="zh-TW" sz="3200" dirty="0"/>
              <a:t> of a single task, but the </a:t>
            </a:r>
            <a:r>
              <a:rPr lang="en-US" altLang="zh-TW" sz="3200" dirty="0">
                <a:solidFill>
                  <a:srgbClr val="FF0000"/>
                </a:solidFill>
              </a:rPr>
              <a:t>throughput</a:t>
            </a:r>
            <a:r>
              <a:rPr lang="en-US" altLang="zh-TW" sz="3200" dirty="0"/>
              <a:t> of the entire program</a:t>
            </a:r>
          </a:p>
          <a:p>
            <a:pPr marL="480895" indent="-480895">
              <a:lnSpc>
                <a:spcPct val="80000"/>
              </a:lnSpc>
            </a:pPr>
            <a:r>
              <a:rPr lang="en-US" altLang="zh-TW" sz="3200" dirty="0"/>
              <a:t>Pipeline rate limited by the </a:t>
            </a:r>
            <a:r>
              <a:rPr lang="en-US" altLang="zh-TW" sz="3200" dirty="0">
                <a:solidFill>
                  <a:srgbClr val="FF0000"/>
                </a:solidFill>
              </a:rPr>
              <a:t>slowest</a:t>
            </a:r>
            <a:r>
              <a:rPr lang="en-US" altLang="zh-TW" sz="3200" dirty="0"/>
              <a:t> stage, unbalanced stage length limits the perfect speedup</a:t>
            </a:r>
            <a:endParaRPr lang="en-US" altLang="zh-TW" sz="3200" dirty="0">
              <a:solidFill>
                <a:srgbClr val="008000"/>
              </a:solidFill>
            </a:endParaRPr>
          </a:p>
          <a:p>
            <a:pPr marL="480895" indent="-480895">
              <a:lnSpc>
                <a:spcPct val="80000"/>
              </a:lnSpc>
            </a:pPr>
            <a:r>
              <a:rPr lang="en-US" altLang="zh-TW" sz="3200" dirty="0">
                <a:solidFill>
                  <a:srgbClr val="FF0000"/>
                </a:solidFill>
              </a:rPr>
              <a:t>Multiple</a:t>
            </a:r>
            <a:r>
              <a:rPr lang="en-US" altLang="zh-TW" sz="3200" dirty="0"/>
              <a:t> tasks working at the same time using different resources</a:t>
            </a:r>
          </a:p>
          <a:p>
            <a:pPr marL="480895" indent="-480895">
              <a:lnSpc>
                <a:spcPct val="80000"/>
              </a:lnSpc>
            </a:pPr>
            <a:r>
              <a:rPr lang="en-US" altLang="zh-TW" sz="3200" dirty="0"/>
              <a:t>Potential speedup = </a:t>
            </a:r>
            <a:r>
              <a:rPr lang="en-US" altLang="zh-TW" sz="3200" dirty="0">
                <a:solidFill>
                  <a:srgbClr val="FF0000"/>
                </a:solidFill>
              </a:rPr>
              <a:t>Number of pipeline stages</a:t>
            </a:r>
          </a:p>
          <a:p>
            <a:pPr marL="480895" indent="-480895">
              <a:lnSpc>
                <a:spcPct val="80000"/>
              </a:lnSpc>
            </a:pPr>
            <a:r>
              <a:rPr lang="en-US" altLang="zh-CN" sz="3200" dirty="0"/>
              <a:t>T</a:t>
            </a:r>
            <a:r>
              <a:rPr lang="en-US" altLang="zh-TW" sz="3200" dirty="0"/>
              <a:t>ime to </a:t>
            </a:r>
            <a:r>
              <a:rPr lang="en-US" altLang="zh-TW" sz="3200" dirty="0">
                <a:solidFill>
                  <a:schemeClr val="hlink"/>
                </a:solidFill>
              </a:rPr>
              <a:t>“</a:t>
            </a:r>
            <a:r>
              <a:rPr lang="en-US" altLang="zh-TW" sz="3200" dirty="0">
                <a:solidFill>
                  <a:srgbClr val="FF0000"/>
                </a:solidFill>
              </a:rPr>
              <a:t>fill</a:t>
            </a:r>
            <a:r>
              <a:rPr lang="en-US" altLang="zh-TW" sz="3200" dirty="0">
                <a:solidFill>
                  <a:schemeClr val="hlink"/>
                </a:solidFill>
              </a:rPr>
              <a:t>”</a:t>
            </a:r>
            <a:r>
              <a:rPr lang="en-US" altLang="zh-TW" sz="3200" dirty="0"/>
              <a:t> &amp; </a:t>
            </a:r>
            <a:r>
              <a:rPr lang="en-US" altLang="zh-TW" sz="3200" dirty="0">
                <a:solidFill>
                  <a:schemeClr val="hlink"/>
                </a:solidFill>
              </a:rPr>
              <a:t>“</a:t>
            </a:r>
            <a:r>
              <a:rPr lang="en-US" altLang="zh-TW" sz="3200" dirty="0">
                <a:solidFill>
                  <a:srgbClr val="FF0000"/>
                </a:solidFill>
              </a:rPr>
              <a:t>drain</a:t>
            </a:r>
            <a:r>
              <a:rPr lang="en-US" altLang="zh-TW" sz="3200" dirty="0">
                <a:solidFill>
                  <a:schemeClr val="hlink"/>
                </a:solidFill>
              </a:rPr>
              <a:t>”</a:t>
            </a:r>
            <a:r>
              <a:rPr lang="en-US" altLang="zh-TW" sz="3200" dirty="0"/>
              <a:t> the pipeline reduces speedup</a:t>
            </a:r>
          </a:p>
          <a:p>
            <a:pPr marL="880926" lvl="1" indent="-480895">
              <a:lnSpc>
                <a:spcPct val="80000"/>
              </a:lnSpc>
            </a:pPr>
            <a:r>
              <a:rPr lang="en-US" altLang="zh-TW" sz="2400" dirty="0"/>
              <a:t>Need to reduce possible fill and drain (e.g., I-cache misses and branch </a:t>
            </a:r>
          </a:p>
          <a:p>
            <a:pPr marL="400031" lvl="1" indent="0">
              <a:lnSpc>
                <a:spcPct val="80000"/>
              </a:lnSpc>
              <a:buNone/>
            </a:pPr>
            <a:r>
              <a:rPr lang="en-US" altLang="zh-TW" sz="2400" dirty="0"/>
              <a:t>	misprediction)</a:t>
            </a:r>
          </a:p>
          <a:p>
            <a:pPr marL="480895" indent="-480895">
              <a:lnSpc>
                <a:spcPct val="80000"/>
              </a:lnSpc>
            </a:pPr>
            <a:r>
              <a:rPr lang="en-US" altLang="zh-TW" sz="3200" dirty="0"/>
              <a:t>Avoid pipeline </a:t>
            </a:r>
            <a:r>
              <a:rPr lang="en-US" altLang="zh-TW" sz="3200" dirty="0">
                <a:solidFill>
                  <a:srgbClr val="FF0000"/>
                </a:solidFill>
              </a:rPr>
              <a:t>bubbles</a:t>
            </a:r>
            <a:r>
              <a:rPr lang="en-US" altLang="zh-TW" sz="3200" dirty="0"/>
              <a:t> from data and control dependencies</a:t>
            </a:r>
          </a:p>
        </p:txBody>
      </p:sp>
      <p:sp>
        <p:nvSpPr>
          <p:cNvPr id="11283" name="投影片編號版面配置區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3355" indent="-286166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2971" indent="-228594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160" indent="-228594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349" indent="-228594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537" indent="-228594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726" indent="-228594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8914" indent="-228594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103" indent="-228594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3B372B80-DEA1-4621-B194-1DB2F08AB0C3}" type="slidenum">
              <a:rPr lang="zh-TW" altLang="en-US" sz="1400" b="0">
                <a:solidFill>
                  <a:schemeClr val="bg1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20</a:t>
            </a:fld>
            <a:endParaRPr lang="en-US" altLang="zh-TW" sz="1400" b="0" dirty="0">
              <a:solidFill>
                <a:schemeClr val="bg1"/>
              </a:solidFill>
              <a:latin typeface="Arial" panose="020B060402020209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wrap="square" lIns="92075" tIns="46039" rIns="92075" bIns="46039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TW" dirty="0"/>
              <a:t>Pipeline Everywhere</a:t>
            </a:r>
          </a:p>
        </p:txBody>
      </p:sp>
      <p:sp>
        <p:nvSpPr>
          <p:cNvPr id="353283" name="Rectangle 3"/>
          <p:cNvSpPr>
            <a:spLocks noGrp="1" noChangeArrowheads="1"/>
          </p:cNvSpPr>
          <p:nvPr>
            <p:ph idx="1"/>
          </p:nvPr>
        </p:nvSpPr>
        <p:spPr>
          <a:xfrm>
            <a:off x="612844" y="1299861"/>
            <a:ext cx="10954744" cy="4721560"/>
          </a:xfrm>
          <a:noFill/>
        </p:spPr>
        <p:txBody>
          <a:bodyPr vert="horz" wrap="square" lIns="92075" tIns="46039" rIns="92075" bIns="46039" numCol="1" anchor="t" anchorCtr="0" compatLnSpc="1">
            <a:prstTxWarp prst="textNoShape">
              <a:avLst/>
            </a:prstTxWarp>
          </a:bodyPr>
          <a:lstStyle/>
          <a:p>
            <a:pPr marL="480895" indent="-480895">
              <a:lnSpc>
                <a:spcPct val="80000"/>
              </a:lnSpc>
            </a:pPr>
            <a:r>
              <a:rPr lang="en-US" altLang="zh-TW" sz="3200" dirty="0"/>
              <a:t>Aside from the instruction pipeline, many other areas have implemented pipelined architectures.</a:t>
            </a:r>
          </a:p>
          <a:p>
            <a:pPr marL="880926" lvl="1" indent="-480895">
              <a:lnSpc>
                <a:spcPct val="80000"/>
              </a:lnSpc>
            </a:pPr>
            <a:r>
              <a:rPr lang="en-US" altLang="zh-TW" sz="2400" dirty="0"/>
              <a:t>DRAM pipeline</a:t>
            </a:r>
          </a:p>
          <a:p>
            <a:pPr marL="1142961" lvl="2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/>
              <a:t>Row activation, column selection, data transfer</a:t>
            </a:r>
          </a:p>
          <a:p>
            <a:pPr marL="880926" lvl="1" indent="-480895">
              <a:lnSpc>
                <a:spcPct val="80000"/>
              </a:lnSpc>
            </a:pPr>
            <a:r>
              <a:rPr lang="en-US" altLang="zh-TW" sz="2400" dirty="0"/>
              <a:t>Cache pipeline</a:t>
            </a:r>
          </a:p>
          <a:p>
            <a:pPr marL="1142961" lvl="2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/>
              <a:t>Address decoding, Way selection, tag match, data retrieval</a:t>
            </a:r>
          </a:p>
          <a:p>
            <a:pPr marL="880926" lvl="1" indent="-480895">
              <a:lnSpc>
                <a:spcPct val="80000"/>
              </a:lnSpc>
            </a:pPr>
            <a:r>
              <a:rPr lang="en-US" altLang="zh-TW" sz="2400" dirty="0"/>
              <a:t>Floating point unit pipeline</a:t>
            </a:r>
          </a:p>
          <a:p>
            <a:pPr marL="1280956" lvl="2" indent="-480895">
              <a:lnSpc>
                <a:spcPct val="80000"/>
              </a:lnSpc>
            </a:pPr>
            <a:r>
              <a:rPr lang="en-US" altLang="zh-TW" sz="2000" dirty="0"/>
              <a:t>Exponent alignment, operation, normalization, rounding, …</a:t>
            </a:r>
          </a:p>
          <a:p>
            <a:pPr marL="880926" lvl="1" indent="-480895">
              <a:lnSpc>
                <a:spcPct val="80000"/>
              </a:lnSpc>
            </a:pPr>
            <a:r>
              <a:rPr lang="en-US" altLang="zh-TW" sz="2400" dirty="0"/>
              <a:t>GPU pipeline</a:t>
            </a:r>
          </a:p>
          <a:p>
            <a:pPr marL="1280956" lvl="2" indent="-480895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/>
              <a:t>vertex processing, rasterization, fragment processing</a:t>
            </a:r>
          </a:p>
          <a:p>
            <a:pPr marL="880926" lvl="1" indent="-480895">
              <a:lnSpc>
                <a:spcPct val="80000"/>
              </a:lnSpc>
            </a:pPr>
            <a:r>
              <a:rPr lang="en-US" altLang="zh-TW" sz="2400" dirty="0"/>
              <a:t>Network pipeline</a:t>
            </a:r>
          </a:p>
          <a:p>
            <a:pPr marL="1280956" lvl="2" indent="-480895">
              <a:lnSpc>
                <a:spcPct val="80000"/>
              </a:lnSpc>
            </a:pPr>
            <a:r>
              <a:rPr lang="en-US" sz="2000" dirty="0"/>
              <a:t>packet header processing, routing table lookup, and packet forwarding</a:t>
            </a:r>
          </a:p>
          <a:p>
            <a:pPr marL="480895" indent="-480895">
              <a:lnSpc>
                <a:spcPct val="80000"/>
              </a:lnSpc>
            </a:pPr>
            <a:r>
              <a:rPr lang="en-US" altLang="zh-TW" sz="3066" dirty="0"/>
              <a:t>If you need to have a higher throughput, think about pipelining.</a:t>
            </a:r>
          </a:p>
        </p:txBody>
      </p:sp>
      <p:sp>
        <p:nvSpPr>
          <p:cNvPr id="11283" name="投影片編號版面配置區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3355" indent="-286166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2971" indent="-228594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160" indent="-228594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349" indent="-228594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537" indent="-228594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726" indent="-228594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8914" indent="-228594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103" indent="-228594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3B372B80-DEA1-4621-B194-1DB2F08AB0C3}" type="slidenum">
              <a:rPr lang="zh-TW" altLang="en-US" sz="1400" b="0">
                <a:solidFill>
                  <a:schemeClr val="bg1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21</a:t>
            </a:fld>
            <a:endParaRPr lang="en-US" altLang="zh-TW" sz="1400" b="0" dirty="0">
              <a:solidFill>
                <a:schemeClr val="bg1"/>
              </a:solidFill>
              <a:latin typeface="Arial" panose="020B060402020209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83282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Exercise-1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09601" y="1125221"/>
            <a:ext cx="5649807" cy="1106593"/>
          </a:xfrm>
        </p:spPr>
        <p:txBody>
          <a:bodyPr/>
          <a:lstStyle/>
          <a:p>
            <a:r>
              <a:rPr lang="en-US" altLang="zh-CN" sz="2400"/>
              <a:t>Assume individual stages of the datapath have the following latencies:</a:t>
            </a:r>
          </a:p>
          <a:p>
            <a:endParaRPr lang="en-US" altLang="zh-CN" sz="2400"/>
          </a:p>
          <a:p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22</a:t>
            </a:fld>
            <a:endParaRPr lang="zh-TW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" y="2019301"/>
            <a:ext cx="5882640" cy="74591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274" y="1906693"/>
            <a:ext cx="4271433" cy="765387"/>
          </a:xfrm>
          <a:prstGeom prst="rect">
            <a:avLst/>
          </a:prstGeom>
        </p:spPr>
      </p:pic>
      <p:sp>
        <p:nvSpPr>
          <p:cNvPr id="9" name="内容占位符 5"/>
          <p:cNvSpPr>
            <a:spLocks noGrp="1"/>
          </p:cNvSpPr>
          <p:nvPr/>
        </p:nvSpPr>
        <p:spPr>
          <a:xfrm>
            <a:off x="6234853" y="1125221"/>
            <a:ext cx="5913120" cy="110659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/>
              <a:t>Assume that instructions executed by the processor are broken down as follows:</a:t>
            </a:r>
          </a:p>
        </p:txBody>
      </p:sp>
      <p:sp>
        <p:nvSpPr>
          <p:cNvPr id="10" name="内容占位符 5"/>
          <p:cNvSpPr>
            <a:spLocks noGrp="1"/>
          </p:cNvSpPr>
          <p:nvPr/>
        </p:nvSpPr>
        <p:spPr>
          <a:xfrm>
            <a:off x="585047" y="2700021"/>
            <a:ext cx="9840807" cy="28253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189" indent="-457189">
              <a:buFont typeface="+mj-lt"/>
              <a:buAutoNum type="arabicPeriod"/>
            </a:pPr>
            <a:r>
              <a:rPr lang="en-US" altLang="zh-CN"/>
              <a:t>What is the clock time for non-pipeline version and pipeline version </a:t>
            </a:r>
            <a:r>
              <a:rPr lang="zh-CN" altLang="en-US"/>
              <a:t>？</a:t>
            </a:r>
          </a:p>
          <a:p>
            <a:pPr marL="457189" indent="-457189">
              <a:buFont typeface="+mj-lt"/>
              <a:buAutoNum type="arabicPeriod"/>
            </a:pPr>
            <a:endParaRPr lang="en-US" altLang="zh-CN"/>
          </a:p>
        </p:txBody>
      </p:sp>
      <p:sp>
        <p:nvSpPr>
          <p:cNvPr id="11" name="内容占位符 5"/>
          <p:cNvSpPr>
            <a:spLocks noGrp="1"/>
          </p:cNvSpPr>
          <p:nvPr/>
        </p:nvSpPr>
        <p:spPr>
          <a:xfrm>
            <a:off x="1049867" y="3415004"/>
            <a:ext cx="1694180" cy="5791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1250, 350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Exercise-1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09601" y="1125221"/>
            <a:ext cx="5649807" cy="1106593"/>
          </a:xfrm>
        </p:spPr>
        <p:txBody>
          <a:bodyPr/>
          <a:lstStyle/>
          <a:p>
            <a:r>
              <a:rPr lang="en-US" altLang="zh-CN" sz="2400"/>
              <a:t>Assume individual stages of the datapath have the following latencies:</a:t>
            </a:r>
          </a:p>
          <a:p>
            <a:endParaRPr lang="en-US" altLang="zh-CN" sz="2400"/>
          </a:p>
          <a:p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23</a:t>
            </a:fld>
            <a:endParaRPr lang="zh-TW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" y="2019301"/>
            <a:ext cx="5882640" cy="74591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274" y="1906693"/>
            <a:ext cx="4271433" cy="765387"/>
          </a:xfrm>
          <a:prstGeom prst="rect">
            <a:avLst/>
          </a:prstGeom>
        </p:spPr>
      </p:pic>
      <p:sp>
        <p:nvSpPr>
          <p:cNvPr id="9" name="内容占位符 5"/>
          <p:cNvSpPr>
            <a:spLocks noGrp="1"/>
          </p:cNvSpPr>
          <p:nvPr/>
        </p:nvSpPr>
        <p:spPr>
          <a:xfrm>
            <a:off x="6234853" y="1125221"/>
            <a:ext cx="5913120" cy="110659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/>
              <a:t>Assume that instructions executed by the processor are broken down as follows:</a:t>
            </a:r>
          </a:p>
        </p:txBody>
      </p:sp>
      <p:sp>
        <p:nvSpPr>
          <p:cNvPr id="10" name="内容占位符 5"/>
          <p:cNvSpPr>
            <a:spLocks noGrp="1"/>
          </p:cNvSpPr>
          <p:nvPr/>
        </p:nvSpPr>
        <p:spPr>
          <a:xfrm>
            <a:off x="585047" y="2700021"/>
            <a:ext cx="9840807" cy="28253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189" indent="-457189">
              <a:buFont typeface="+mj-lt"/>
              <a:buAutoNum type="arabicPeriod"/>
            </a:pPr>
            <a:r>
              <a:rPr lang="en-US" altLang="zh-CN" dirty="0"/>
              <a:t>What is the clock time for non-pipeline version and pipeline version </a:t>
            </a:r>
            <a:r>
              <a:rPr lang="zh-CN" altLang="en-US" dirty="0"/>
              <a:t>？</a:t>
            </a:r>
          </a:p>
          <a:p>
            <a:pPr marL="457189" indent="-457189">
              <a:buFont typeface="+mj-lt"/>
              <a:buAutoNum type="arabicPeriod"/>
            </a:pPr>
            <a:r>
              <a:rPr lang="zh-CN" altLang="en-US" dirty="0"/>
              <a:t>What is the total latency of an LW instruction in a pipelined and non-pipelined processor?</a:t>
            </a:r>
          </a:p>
          <a:p>
            <a:pPr marL="457189" indent="-457189">
              <a:buFont typeface="+mj-lt"/>
              <a:buAutoNum type="arabicPeriod"/>
            </a:pPr>
            <a:endParaRPr lang="en-US" altLang="zh-CN" dirty="0"/>
          </a:p>
        </p:txBody>
      </p:sp>
      <p:sp>
        <p:nvSpPr>
          <p:cNvPr id="12" name="内容占位符 5"/>
          <p:cNvSpPr>
            <a:spLocks noGrp="1"/>
          </p:cNvSpPr>
          <p:nvPr/>
        </p:nvSpPr>
        <p:spPr>
          <a:xfrm>
            <a:off x="1049866" y="4092786"/>
            <a:ext cx="4047427" cy="9461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Non-pipelined: 1250, Pipelined: 1750 (350*5)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Exercise-1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09601" y="1125221"/>
            <a:ext cx="5649807" cy="1106593"/>
          </a:xfrm>
        </p:spPr>
        <p:txBody>
          <a:bodyPr/>
          <a:lstStyle/>
          <a:p>
            <a:r>
              <a:rPr lang="en-US" altLang="zh-CN" sz="2400"/>
              <a:t>Assume individual stages of the datapath have the following latencies:</a:t>
            </a:r>
          </a:p>
          <a:p>
            <a:endParaRPr lang="en-US" altLang="zh-CN" sz="2400"/>
          </a:p>
          <a:p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24</a:t>
            </a:fld>
            <a:endParaRPr lang="zh-TW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" y="2019301"/>
            <a:ext cx="5882640" cy="74591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274" y="1906693"/>
            <a:ext cx="4271433" cy="765387"/>
          </a:xfrm>
          <a:prstGeom prst="rect">
            <a:avLst/>
          </a:prstGeom>
        </p:spPr>
      </p:pic>
      <p:sp>
        <p:nvSpPr>
          <p:cNvPr id="9" name="内容占位符 5"/>
          <p:cNvSpPr>
            <a:spLocks noGrp="1"/>
          </p:cNvSpPr>
          <p:nvPr/>
        </p:nvSpPr>
        <p:spPr>
          <a:xfrm>
            <a:off x="6234853" y="1125221"/>
            <a:ext cx="5913120" cy="110659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/>
              <a:t>Assume that instructions executed by the processor are broken down as follows:</a:t>
            </a:r>
          </a:p>
        </p:txBody>
      </p:sp>
      <p:sp>
        <p:nvSpPr>
          <p:cNvPr id="10" name="内容占位符 5"/>
          <p:cNvSpPr>
            <a:spLocks noGrp="1"/>
          </p:cNvSpPr>
          <p:nvPr/>
        </p:nvSpPr>
        <p:spPr>
          <a:xfrm>
            <a:off x="585047" y="2700021"/>
            <a:ext cx="9840807" cy="28253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189" indent="-457189">
              <a:buFont typeface="+mj-lt"/>
              <a:buAutoNum type="arabicPeriod"/>
            </a:pPr>
            <a:r>
              <a:rPr lang="en-US" altLang="zh-CN" dirty="0"/>
              <a:t>What is the clock time for non-pipeline version and pipeline version </a:t>
            </a:r>
            <a:r>
              <a:rPr lang="zh-CN" altLang="en-US" dirty="0"/>
              <a:t>？</a:t>
            </a:r>
          </a:p>
          <a:p>
            <a:pPr marL="457189" indent="-457189">
              <a:buFont typeface="+mj-lt"/>
              <a:buAutoNum type="arabicPeriod"/>
            </a:pPr>
            <a:r>
              <a:rPr lang="zh-CN" altLang="en-US" dirty="0"/>
              <a:t>What is the total latency of an LW instruction in a pipelined and non-pipelined processor?</a:t>
            </a:r>
          </a:p>
          <a:p>
            <a:pPr marL="457189" indent="-457189">
              <a:buFont typeface="+mj-lt"/>
              <a:buAutoNum type="arabicPeriod"/>
            </a:pPr>
            <a:r>
              <a:rPr lang="en-US" altLang="zh-CN" dirty="0"/>
              <a:t>If we can split a stage, which stage should we split? What is the new cycle time?</a:t>
            </a:r>
          </a:p>
          <a:p>
            <a:pPr marL="457189" indent="-457189">
              <a:buFont typeface="+mj-lt"/>
              <a:buAutoNum type="arabicPeriod"/>
            </a:pPr>
            <a:endParaRPr lang="en-US" altLang="zh-CN" dirty="0"/>
          </a:p>
        </p:txBody>
      </p:sp>
      <p:sp>
        <p:nvSpPr>
          <p:cNvPr id="11" name="内容占位符 5"/>
          <p:cNvSpPr>
            <a:spLocks noGrp="1"/>
          </p:cNvSpPr>
          <p:nvPr/>
        </p:nvSpPr>
        <p:spPr>
          <a:xfrm>
            <a:off x="10095654" y="2700020"/>
            <a:ext cx="1694180" cy="5791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</a:rPr>
              <a:t>1250, 350</a:t>
            </a:r>
          </a:p>
        </p:txBody>
      </p:sp>
      <p:sp>
        <p:nvSpPr>
          <p:cNvPr id="12" name="内容占位符 5"/>
          <p:cNvSpPr>
            <a:spLocks noGrp="1"/>
          </p:cNvSpPr>
          <p:nvPr/>
        </p:nvSpPr>
        <p:spPr>
          <a:xfrm>
            <a:off x="10115973" y="3237653"/>
            <a:ext cx="2032000" cy="5791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</a:rPr>
              <a:t>1250, 350*5</a:t>
            </a:r>
          </a:p>
        </p:txBody>
      </p:sp>
      <p:sp>
        <p:nvSpPr>
          <p:cNvPr id="13" name="内容占位符 5"/>
          <p:cNvSpPr>
            <a:spLocks noGrp="1"/>
          </p:cNvSpPr>
          <p:nvPr/>
        </p:nvSpPr>
        <p:spPr>
          <a:xfrm>
            <a:off x="10405534" y="3921760"/>
            <a:ext cx="1637453" cy="5791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</a:rPr>
              <a:t>ID, 300 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Exercise-1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09601" y="1125221"/>
            <a:ext cx="5649807" cy="1106593"/>
          </a:xfrm>
        </p:spPr>
        <p:txBody>
          <a:bodyPr/>
          <a:lstStyle/>
          <a:p>
            <a:r>
              <a:rPr lang="en-US" altLang="zh-CN" sz="2400"/>
              <a:t>Assume individual stages of the datapath have the following latencies:</a:t>
            </a:r>
          </a:p>
          <a:p>
            <a:endParaRPr lang="en-US" altLang="zh-CN" sz="2400"/>
          </a:p>
          <a:p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25</a:t>
            </a:fld>
            <a:endParaRPr lang="zh-TW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" y="2019301"/>
            <a:ext cx="5882640" cy="74591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274" y="1906693"/>
            <a:ext cx="4271433" cy="765387"/>
          </a:xfrm>
          <a:prstGeom prst="rect">
            <a:avLst/>
          </a:prstGeom>
        </p:spPr>
      </p:pic>
      <p:sp>
        <p:nvSpPr>
          <p:cNvPr id="9" name="内容占位符 5"/>
          <p:cNvSpPr>
            <a:spLocks noGrp="1"/>
          </p:cNvSpPr>
          <p:nvPr/>
        </p:nvSpPr>
        <p:spPr>
          <a:xfrm>
            <a:off x="6234853" y="1125221"/>
            <a:ext cx="5913120" cy="110659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/>
              <a:t>Assume that instructions executed by the processor are broken down as follows:</a:t>
            </a:r>
          </a:p>
        </p:txBody>
      </p:sp>
      <p:sp>
        <p:nvSpPr>
          <p:cNvPr id="10" name="内容占位符 5"/>
          <p:cNvSpPr>
            <a:spLocks noGrp="1"/>
          </p:cNvSpPr>
          <p:nvPr/>
        </p:nvSpPr>
        <p:spPr>
          <a:xfrm>
            <a:off x="585047" y="2700021"/>
            <a:ext cx="9840807" cy="28253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189" indent="-457189">
              <a:buFont typeface="+mj-lt"/>
              <a:buAutoNum type="arabicPeriod"/>
            </a:pPr>
            <a:r>
              <a:rPr lang="en-US" altLang="zh-CN" dirty="0"/>
              <a:t>What is the clock time for non-pipeline version and pipeline version </a:t>
            </a:r>
            <a:r>
              <a:rPr lang="zh-CN" altLang="en-US" dirty="0"/>
              <a:t>？</a:t>
            </a:r>
          </a:p>
          <a:p>
            <a:pPr marL="457189" indent="-457189">
              <a:buFont typeface="+mj-lt"/>
              <a:buAutoNum type="arabicPeriod"/>
            </a:pPr>
            <a:r>
              <a:rPr lang="zh-CN" altLang="en-US" dirty="0"/>
              <a:t>What is the total latency of an LW instruction in a pipelined and non-pipelined processor?</a:t>
            </a:r>
          </a:p>
          <a:p>
            <a:pPr marL="457189" indent="-457189">
              <a:buFont typeface="+mj-lt"/>
              <a:buAutoNum type="arabicPeriod"/>
            </a:pPr>
            <a:r>
              <a:rPr lang="en-US" altLang="zh-CN" dirty="0"/>
              <a:t>If we can split a stage, which stage should we split? What is the new cycle time?</a:t>
            </a:r>
          </a:p>
          <a:p>
            <a:pPr marL="457189" indent="-457189">
              <a:buFont typeface="+mj-lt"/>
              <a:buAutoNum type="arabicPeriod"/>
            </a:pPr>
            <a:r>
              <a:rPr lang="en-US" altLang="zh-CN" dirty="0"/>
              <a:t>Compare to multi-cycle implementation, assume </a:t>
            </a:r>
            <a:r>
              <a:rPr lang="en-US" altLang="zh-CN" dirty="0" err="1"/>
              <a:t>lw</a:t>
            </a:r>
            <a:r>
              <a:rPr lang="en-US" altLang="zh-CN" dirty="0"/>
              <a:t> needs 5 short cycles, other instructions need 4, compute the ideal speedup of Ex(</a:t>
            </a:r>
            <a:r>
              <a:rPr lang="en-US" altLang="zh-CN" dirty="0">
                <a:solidFill>
                  <a:schemeClr val="accent2"/>
                </a:solidFill>
              </a:rPr>
              <a:t>single-cycle</a:t>
            </a:r>
            <a:r>
              <a:rPr lang="en-US" altLang="zh-CN" dirty="0"/>
              <a:t>/pipeline) and Ex(</a:t>
            </a:r>
            <a:r>
              <a:rPr lang="en-US" altLang="zh-CN" dirty="0">
                <a:solidFill>
                  <a:schemeClr val="accent2"/>
                </a:solidFill>
              </a:rPr>
              <a:t>multi-cycle</a:t>
            </a:r>
            <a:r>
              <a:rPr lang="en-US" altLang="zh-CN" dirty="0"/>
              <a:t>/pipeline)?</a:t>
            </a:r>
          </a:p>
        </p:txBody>
      </p:sp>
      <p:sp>
        <p:nvSpPr>
          <p:cNvPr id="11" name="内容占位符 5"/>
          <p:cNvSpPr>
            <a:spLocks noGrp="1"/>
          </p:cNvSpPr>
          <p:nvPr/>
        </p:nvSpPr>
        <p:spPr>
          <a:xfrm>
            <a:off x="10095654" y="2700020"/>
            <a:ext cx="1694180" cy="5791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</a:rPr>
              <a:t>1250, 350</a:t>
            </a:r>
          </a:p>
        </p:txBody>
      </p:sp>
      <p:sp>
        <p:nvSpPr>
          <p:cNvPr id="12" name="内容占位符 5"/>
          <p:cNvSpPr>
            <a:spLocks noGrp="1"/>
          </p:cNvSpPr>
          <p:nvPr/>
        </p:nvSpPr>
        <p:spPr>
          <a:xfrm>
            <a:off x="10115973" y="3237653"/>
            <a:ext cx="2032000" cy="5791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</a:rPr>
              <a:t>1250, 350*5</a:t>
            </a:r>
          </a:p>
        </p:txBody>
      </p:sp>
      <p:sp>
        <p:nvSpPr>
          <p:cNvPr id="13" name="内容占位符 5"/>
          <p:cNvSpPr>
            <a:spLocks noGrp="1"/>
          </p:cNvSpPr>
          <p:nvPr/>
        </p:nvSpPr>
        <p:spPr>
          <a:xfrm>
            <a:off x="10405534" y="3921760"/>
            <a:ext cx="1637453" cy="5791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</a:rPr>
              <a:t>ID, 300 ps</a:t>
            </a:r>
          </a:p>
        </p:txBody>
      </p:sp>
      <p:sp>
        <p:nvSpPr>
          <p:cNvPr id="14" name="内容占位符 5"/>
          <p:cNvSpPr>
            <a:spLocks noGrp="1"/>
          </p:cNvSpPr>
          <p:nvPr/>
        </p:nvSpPr>
        <p:spPr>
          <a:xfrm>
            <a:off x="10405534" y="4687147"/>
            <a:ext cx="1637453" cy="43010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</a:rPr>
              <a:t>1250/350</a:t>
            </a:r>
          </a:p>
          <a:p>
            <a:pPr marL="0" indent="0">
              <a:buNone/>
            </a:pP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5" name="内容占位符 5"/>
          <p:cNvSpPr>
            <a:spLocks noGrp="1"/>
          </p:cNvSpPr>
          <p:nvPr/>
        </p:nvSpPr>
        <p:spPr>
          <a:xfrm>
            <a:off x="8412904" y="5711615"/>
            <a:ext cx="3985260" cy="5791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(0.2*350*5+0.8*350*4)/350</a:t>
            </a:r>
          </a:p>
        </p:txBody>
      </p:sp>
      <p:sp>
        <p:nvSpPr>
          <p:cNvPr id="16" name="内容占位符 5">
            <a:extLst>
              <a:ext uri="{FF2B5EF4-FFF2-40B4-BE49-F238E27FC236}">
                <a16:creationId xmlns:a16="http://schemas.microsoft.com/office/drawing/2014/main" id="{FC714CCB-9740-47E9-B1CA-8195F6D39FFF}"/>
              </a:ext>
            </a:extLst>
          </p:cNvPr>
          <p:cNvSpPr>
            <a:spLocks noGrp="1"/>
          </p:cNvSpPr>
          <p:nvPr/>
        </p:nvSpPr>
        <p:spPr>
          <a:xfrm>
            <a:off x="6560925" y="5723088"/>
            <a:ext cx="1706676" cy="5791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(1250)/350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wrap="square" lIns="92075" tIns="46039" rIns="92075" bIns="46039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TW" dirty="0"/>
              <a:t>About Instruction Mix</a:t>
            </a:r>
          </a:p>
        </p:txBody>
      </p:sp>
      <p:sp>
        <p:nvSpPr>
          <p:cNvPr id="11283" name="投影片編號版面配置區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3355" indent="-286166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2971" indent="-228594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160" indent="-228594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349" indent="-228594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537" indent="-228594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726" indent="-228594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8914" indent="-228594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103" indent="-228594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3B372B80-DEA1-4621-B194-1DB2F08AB0C3}" type="slidenum">
              <a:rPr lang="zh-TW" altLang="en-US" sz="1400" b="0">
                <a:solidFill>
                  <a:schemeClr val="bg1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26</a:t>
            </a:fld>
            <a:endParaRPr lang="en-US" altLang="zh-TW" sz="1400" b="0" dirty="0">
              <a:solidFill>
                <a:schemeClr val="bg1"/>
              </a:solidFill>
              <a:latin typeface="Arial" panose="020B060402020209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B894DD-DBFE-46BD-BBD9-28C3A91489DF}"/>
              </a:ext>
            </a:extLst>
          </p:cNvPr>
          <p:cNvSpPr txBox="1"/>
          <p:nvPr/>
        </p:nvSpPr>
        <p:spPr>
          <a:xfrm>
            <a:off x="289383" y="1059282"/>
            <a:ext cx="11902617" cy="5940088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In the above exercise, the load/store to ALU ratio is about 1:1. However,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critical applications are often </a:t>
            </a:r>
            <a:r>
              <a:rPr lang="en-US" sz="2800" dirty="0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memory intensive</a:t>
            </a:r>
            <a:r>
              <a:rPr lang="en-US" sz="2800" dirty="0">
                <a:ea typeface="標楷體" pitchFamily="65" charset="-120"/>
                <a:cs typeface="Calibri" pitchFamily="34" charset="0"/>
              </a:rPr>
              <a:t>. Such applications include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ea typeface="標楷體" pitchFamily="65" charset="-120"/>
                <a:cs typeface="Calibri" pitchFamily="34" charset="0"/>
              </a:rPr>
              <a:t>Machine learning and AI 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400" dirty="0">
                <a:ea typeface="標楷體" pitchFamily="65" charset="-120"/>
                <a:cs typeface="Calibri" pitchFamily="34" charset="0"/>
              </a:rPr>
              <a:t>Social network analysis can be as high as 20:1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400" dirty="0">
                <a:ea typeface="標楷體" pitchFamily="65" charset="-120"/>
                <a:cs typeface="Calibri" pitchFamily="34" charset="0"/>
              </a:rPr>
              <a:t>Recommender system can be as high as 10:1 or 20:1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400" dirty="0">
                <a:ea typeface="標楷體" pitchFamily="65" charset="-120"/>
                <a:cs typeface="Calibri" pitchFamily="34" charset="0"/>
              </a:rPr>
              <a:t>ML training is memory intensive, while inference may not be.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ea typeface="標楷體" pitchFamily="65" charset="-120"/>
                <a:cs typeface="Calibri" pitchFamily="34" charset="0"/>
              </a:rPr>
              <a:t>HPC and Scientific Computing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ea typeface="標楷體" pitchFamily="65" charset="-120"/>
                <a:cs typeface="Calibri" pitchFamily="34" charset="0"/>
              </a:rPr>
              <a:t>Databases and Data Analytics: 3:1 or 4:1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ea typeface="標楷體" pitchFamily="65" charset="-120"/>
                <a:cs typeface="Calibri" pitchFamily="34" charset="0"/>
              </a:rPr>
              <a:t>Media and Entertainment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ea typeface="標楷體" pitchFamily="65" charset="-120"/>
                <a:cs typeface="Calibri" pitchFamily="34" charset="0"/>
              </a:rPr>
              <a:t>VR/AR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ea typeface="標楷體" pitchFamily="65" charset="-120"/>
                <a:cs typeface="Calibri" pitchFamily="34" charset="0"/>
              </a:rPr>
              <a:t>Medical Image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ea typeface="標楷體" pitchFamily="65" charset="-120"/>
                <a:cs typeface="Calibri" pitchFamily="34" charset="0"/>
              </a:rPr>
              <a:t>Bioinformatics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400" dirty="0">
                <a:ea typeface="標楷體" pitchFamily="65" charset="-120"/>
                <a:cs typeface="Calibri" pitchFamily="34" charset="0"/>
              </a:rPr>
              <a:t>Could be as high as 5:1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>
              <a:ea typeface="標楷體" pitchFamily="65" charset="-120"/>
              <a:cs typeface="Calibri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E9803E-B04A-4439-8869-DC8F556573D7}"/>
              </a:ext>
            </a:extLst>
          </p:cNvPr>
          <p:cNvSpPr txBox="1"/>
          <p:nvPr/>
        </p:nvSpPr>
        <p:spPr>
          <a:xfrm>
            <a:off x="8317149" y="4215028"/>
            <a:ext cx="2319866" cy="1200329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Dot product: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3 loads, 1 store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2 operations: + and *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4/2 = 2</a:t>
            </a:r>
          </a:p>
        </p:txBody>
      </p:sp>
    </p:spTree>
    <p:extLst>
      <p:ext uri="{BB962C8B-B14F-4D97-AF65-F5344CB8AC3E}">
        <p14:creationId xmlns:p14="http://schemas.microsoft.com/office/powerpoint/2010/main" val="15328060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Pipelined RV32I Data Path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27</a:t>
            </a:fld>
            <a:endParaRPr lang="zh-TW" alt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9661C7-DC80-4341-B3D2-3328864AF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59" y="1147377"/>
            <a:ext cx="7887801" cy="49155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6493242-EAE6-4E0A-9044-773684F11D51}"/>
                  </a:ext>
                </a:extLst>
              </p:cNvPr>
              <p:cNvSpPr txBox="1"/>
              <p:nvPr/>
            </p:nvSpPr>
            <p:spPr>
              <a:xfrm>
                <a:off x="3719223" y="6062963"/>
                <a:ext cx="1999586" cy="461665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txBody>
              <a:bodyPr wrap="none" rtlCol="0" anchor="ctr" anchorCtr="1">
                <a:spAutoFit/>
              </a:bodyPr>
              <a:lstStyle/>
              <a:p>
                <a:r>
                  <a:rPr lang="en-US" sz="2400" i="1" dirty="0">
                    <a:ea typeface="標楷體" pitchFamily="65" charset="-120"/>
                    <a:cs typeface="Calibri" pitchFamily="34" charset="0"/>
                  </a:rPr>
                  <a:t>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標楷體" pitchFamily="65" charset="-120"/>
                        <a:cs typeface="Calibri" pitchFamily="34" charset="0"/>
                      </a:rPr>
                      <m:t>𝑐𝑦𝑐𝑙𝑒</m:t>
                    </m:r>
                  </m:oMath>
                </a14:m>
                <a:r>
                  <a:rPr lang="en-US" sz="2400" i="1" dirty="0">
                    <a:ea typeface="標楷體" pitchFamily="65" charset="-120"/>
                    <a:cs typeface="Calibri" pitchFamily="34" charset="0"/>
                  </a:rPr>
                  <a:t>=200ps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6493242-EAE6-4E0A-9044-773684F11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223" y="6062963"/>
                <a:ext cx="1999586" cy="461665"/>
              </a:xfrm>
              <a:prstGeom prst="rect">
                <a:avLst/>
              </a:prstGeom>
              <a:blipFill>
                <a:blip r:embed="rId3"/>
                <a:stretch>
                  <a:fillRect l="-3939" t="-7792" r="-3939" b="-2987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EBDEF8A-47A5-478E-A418-8883C7CE4C6D}"/>
              </a:ext>
            </a:extLst>
          </p:cNvPr>
          <p:cNvSpPr txBox="1"/>
          <p:nvPr/>
        </p:nvSpPr>
        <p:spPr>
          <a:xfrm>
            <a:off x="8919760" y="1985054"/>
            <a:ext cx="2839239" cy="2585323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The label of each box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indicates its state element</a:t>
            </a:r>
          </a:p>
          <a:p>
            <a:r>
              <a:rPr lang="en-US" dirty="0" err="1">
                <a:ea typeface="標楷體" pitchFamily="65" charset="-120"/>
                <a:cs typeface="Calibri" pitchFamily="34" charset="0"/>
              </a:rPr>
              <a:t>e,g</a:t>
            </a:r>
            <a:r>
              <a:rPr lang="en-US" dirty="0">
                <a:ea typeface="標楷體" pitchFamily="65" charset="-120"/>
                <a:cs typeface="Calibri" pitchFamily="34" charset="0"/>
              </a:rPr>
              <a:t>, IMEM, DMEM, Reg</a:t>
            </a:r>
          </a:p>
          <a:p>
            <a:endParaRPr lang="en-US" dirty="0">
              <a:ea typeface="標楷體" pitchFamily="65" charset="-120"/>
              <a:cs typeface="Calibri" pitchFamily="34" charset="0"/>
            </a:endParaRP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Blue shade means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the element is active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標楷體" pitchFamily="65" charset="-120"/>
              <a:cs typeface="Calibri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Calibri" pitchFamily="34" charset="0"/>
              </a:rPr>
              <a:t>Black shade means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Calibri" pitchFamily="34" charset="0"/>
              </a:rPr>
              <a:t>the element is inactive</a:t>
            </a:r>
          </a:p>
        </p:txBody>
      </p:sp>
    </p:spTree>
    <p:extLst>
      <p:ext uri="{BB962C8B-B14F-4D97-AF65-F5344CB8AC3E}">
        <p14:creationId xmlns:p14="http://schemas.microsoft.com/office/powerpoint/2010/main" val="37950048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What happens Sequentially? Simultaneously?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28</a:t>
            </a:fld>
            <a:endParaRPr lang="zh-TW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005C9C-58FB-4DC1-B70D-7DDB4755C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2990"/>
            <a:ext cx="12192000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174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Latency vs Throughput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29</a:t>
            </a:fld>
            <a:endParaRPr lang="zh-TW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005C9C-58FB-4DC1-B70D-7DDB4755C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2990"/>
            <a:ext cx="12192000" cy="50863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D0F922-E81A-408C-8C82-7D5047421CD9}"/>
              </a:ext>
            </a:extLst>
          </p:cNvPr>
          <p:cNvSpPr txBox="1"/>
          <p:nvPr/>
        </p:nvSpPr>
        <p:spPr>
          <a:xfrm>
            <a:off x="5332430" y="1085636"/>
            <a:ext cx="6859570" cy="1323439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1">
            <a:spAutoFit/>
          </a:bodyPr>
          <a:lstStyle/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Latency: </a:t>
            </a:r>
          </a:p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Single cycle data path: 800 </a:t>
            </a:r>
            <a:r>
              <a:rPr lang="en-US" sz="2000" dirty="0" err="1">
                <a:ea typeface="標楷體" pitchFamily="65" charset="-120"/>
                <a:cs typeface="Calibri" pitchFamily="34" charset="0"/>
              </a:rPr>
              <a:t>ps</a:t>
            </a:r>
            <a:endParaRPr lang="en-US" sz="2000" dirty="0">
              <a:ea typeface="標楷體" pitchFamily="65" charset="-120"/>
              <a:cs typeface="Calibri" pitchFamily="34" charset="0"/>
            </a:endParaRPr>
          </a:p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Pipelined: cycle time=200ps, one instruction takes 5 cycles</a:t>
            </a:r>
          </a:p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	200ps x 5 = 1000 </a:t>
            </a:r>
            <a:r>
              <a:rPr lang="en-US" sz="2000" dirty="0" err="1">
                <a:ea typeface="標楷體" pitchFamily="65" charset="-120"/>
                <a:cs typeface="Calibri" pitchFamily="34" charset="0"/>
              </a:rPr>
              <a:t>ps</a:t>
            </a:r>
            <a:endParaRPr lang="en-US" sz="2000" dirty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F06BEE-C829-464E-9AA0-72B8E200C5D1}"/>
              </a:ext>
            </a:extLst>
          </p:cNvPr>
          <p:cNvSpPr txBox="1"/>
          <p:nvPr/>
        </p:nvSpPr>
        <p:spPr>
          <a:xfrm>
            <a:off x="5055110" y="3474720"/>
            <a:ext cx="7136890" cy="1323439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1">
            <a:spAutoFit/>
          </a:bodyPr>
          <a:lstStyle/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Throughput: </a:t>
            </a:r>
          </a:p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Single cycle data path: one instruction every 800 </a:t>
            </a:r>
            <a:r>
              <a:rPr lang="en-US" sz="2000" dirty="0" err="1">
                <a:ea typeface="標楷體" pitchFamily="65" charset="-120"/>
                <a:cs typeface="Calibri" pitchFamily="34" charset="0"/>
              </a:rPr>
              <a:t>ps</a:t>
            </a:r>
            <a:endParaRPr lang="en-US" sz="2000" dirty="0">
              <a:ea typeface="標楷體" pitchFamily="65" charset="-120"/>
              <a:cs typeface="Calibri" pitchFamily="34" charset="0"/>
            </a:endParaRPr>
          </a:p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Pipelined: one </a:t>
            </a:r>
            <a:r>
              <a:rPr lang="en-US" sz="2000" dirty="0" err="1">
                <a:ea typeface="標楷體" pitchFamily="65" charset="-120"/>
                <a:cs typeface="Calibri" pitchFamily="34" charset="0"/>
              </a:rPr>
              <a:t>inst</a:t>
            </a:r>
            <a:r>
              <a:rPr lang="en-US" sz="2000" dirty="0">
                <a:ea typeface="標楷體" pitchFamily="65" charset="-120"/>
                <a:cs typeface="Calibri" pitchFamily="34" charset="0"/>
              </a:rPr>
              <a:t> per cycle </a:t>
            </a:r>
            <a:r>
              <a:rPr lang="en-US" sz="2000" dirty="0">
                <a:ea typeface="標楷體" pitchFamily="65" charset="-120"/>
                <a:cs typeface="Calibri" pitchFamily="34" charset="0"/>
                <a:sym typeface="Wingdings" panose="05000000000000000000" pitchFamily="2" charset="2"/>
              </a:rPr>
              <a:t> one instruction every 200 </a:t>
            </a:r>
            <a:r>
              <a:rPr lang="en-US" sz="2000" dirty="0" err="1">
                <a:ea typeface="標楷體" pitchFamily="65" charset="-120"/>
                <a:cs typeface="Calibri" pitchFamily="34" charset="0"/>
                <a:sym typeface="Wingdings" panose="05000000000000000000" pitchFamily="2" charset="2"/>
              </a:rPr>
              <a:t>ps</a:t>
            </a:r>
            <a:endParaRPr lang="en-US" sz="2000" dirty="0">
              <a:ea typeface="標楷體" pitchFamily="65" charset="-120"/>
              <a:cs typeface="Calibri" pitchFamily="34" charset="0"/>
              <a:sym typeface="Wingdings" panose="05000000000000000000" pitchFamily="2" charset="2"/>
            </a:endParaRPr>
          </a:p>
          <a:p>
            <a:r>
              <a:rPr lang="en-US" sz="2000" dirty="0">
                <a:ea typeface="標楷體" pitchFamily="65" charset="-120"/>
                <a:cs typeface="Calibri" pitchFamily="34" charset="0"/>
                <a:sym typeface="Wingdings" panose="05000000000000000000" pitchFamily="2" charset="2"/>
              </a:rPr>
              <a:t>Pipelined throughput is 4X the single cycle data path method </a:t>
            </a:r>
            <a:endParaRPr lang="en-US" sz="2000" dirty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2955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049867" y="144466"/>
            <a:ext cx="10983248" cy="692151"/>
          </a:xfrm>
        </p:spPr>
        <p:txBody>
          <a:bodyPr/>
          <a:lstStyle/>
          <a:p>
            <a:r>
              <a:rPr lang="en-US" altLang="zh-CN" dirty="0"/>
              <a:t>What happens to long latency operations?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30</a:t>
            </a:fld>
            <a:endParaRPr lang="zh-TW" alt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9661C7-DC80-4341-B3D2-3328864AF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9" y="1142657"/>
            <a:ext cx="7887801" cy="49155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45E8899-12DC-4230-927E-B3F0BB22ECC2}"/>
              </a:ext>
            </a:extLst>
          </p:cNvPr>
          <p:cNvSpPr txBox="1"/>
          <p:nvPr/>
        </p:nvSpPr>
        <p:spPr>
          <a:xfrm>
            <a:off x="72569" y="3505683"/>
            <a:ext cx="569387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1">
            <a:spAutoFit/>
          </a:bodyPr>
          <a:lstStyle/>
          <a:p>
            <a:r>
              <a:rPr lang="en-US" b="1" dirty="0">
                <a:ea typeface="標楷體" pitchFamily="65" charset="-120"/>
                <a:cs typeface="Calibri" pitchFamily="34" charset="0"/>
              </a:rPr>
              <a:t>DIV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8E3D72-5C48-47F0-8B1B-54AE468ADF96}"/>
              </a:ext>
            </a:extLst>
          </p:cNvPr>
          <p:cNvSpPr/>
          <p:nvPr/>
        </p:nvSpPr>
        <p:spPr bwMode="auto">
          <a:xfrm>
            <a:off x="5009745" y="4202349"/>
            <a:ext cx="2950625" cy="262647"/>
          </a:xfrm>
          <a:prstGeom prst="rect">
            <a:avLst/>
          </a:prstGeom>
          <a:solidFill>
            <a:srgbClr val="92D05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Div</a:t>
            </a:r>
            <a:r>
              <a:rPr kumimoji="1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 execution </a:t>
            </a:r>
            <a:r>
              <a:rPr kumimoji="1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sym typeface="Wingdings" panose="05000000000000000000" pitchFamily="2" charset="2"/>
              </a:rPr>
              <a:t></a:t>
            </a:r>
            <a:endParaRPr kumimoji="1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8BF8FE-CCC9-4628-B663-D5442C1E4586}"/>
              </a:ext>
            </a:extLst>
          </p:cNvPr>
          <p:cNvSpPr txBox="1"/>
          <p:nvPr/>
        </p:nvSpPr>
        <p:spPr>
          <a:xfrm>
            <a:off x="7942119" y="1012693"/>
            <a:ext cx="4249881" cy="535531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Two options:</a:t>
            </a:r>
          </a:p>
          <a:p>
            <a:pPr marL="342900" indent="-342900">
              <a:buAutoNum type="arabicParenR"/>
            </a:pPr>
            <a:r>
              <a:rPr lang="en-US" dirty="0">
                <a:ea typeface="標楷體" pitchFamily="65" charset="-120"/>
                <a:cs typeface="Calibri" pitchFamily="34" charset="0"/>
              </a:rPr>
              <a:t>Stall: the next instruction stalls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  at the EXE stage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2) Have a separate long latency 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pipeline. Subsequent instructions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can continue to proceed (such as 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FP instructions).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Be aware, instructions are typically 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</a:t>
            </a:r>
            <a:r>
              <a:rPr lang="en-US" dirty="0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retired at the WB stage in order</a:t>
            </a:r>
            <a:r>
              <a:rPr lang="en-US" dirty="0">
                <a:ea typeface="標楷體" pitchFamily="65" charset="-120"/>
                <a:cs typeface="Calibri" pitchFamily="34" charset="0"/>
              </a:rPr>
              <a:t>.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So even if the later instructions are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completed sooner than this long 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latency operation, they should wait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at the WB stage. This is due to the 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possibility of traps.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 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RISC-V avoids arithmetic exceptions.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So, </a:t>
            </a:r>
            <a:r>
              <a:rPr lang="en-US" dirty="0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out-of-order retirement is viable</a:t>
            </a:r>
            <a:r>
              <a:rPr lang="en-US" dirty="0">
                <a:ea typeface="標楷體" pitchFamily="65" charset="-120"/>
                <a:cs typeface="Calibri" pitchFamily="34" charset="0"/>
              </a:rPr>
              <a:t>.</a:t>
            </a:r>
          </a:p>
          <a:p>
            <a:endParaRPr lang="en-US" dirty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2712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733" dirty="0"/>
              <a:t>Multiple Instructions On-the-Fly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31</a:t>
            </a:fld>
            <a:endParaRPr lang="zh-TW" alt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1D2EDC-A3FC-4A0A-8B33-2D07FF8EC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89" y="1263138"/>
            <a:ext cx="10875523" cy="4584604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5C2BC431-E6D4-4D3C-A441-68142E6EAA97}"/>
              </a:ext>
            </a:extLst>
          </p:cNvPr>
          <p:cNvSpPr/>
          <p:nvPr/>
        </p:nvSpPr>
        <p:spPr bwMode="auto">
          <a:xfrm>
            <a:off x="7229475" y="2528585"/>
            <a:ext cx="914400" cy="2438400"/>
          </a:xfrm>
          <a:prstGeom prst="ellipse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A5E95C-54F5-4C6B-9297-48C700B78D02}"/>
              </a:ext>
            </a:extLst>
          </p:cNvPr>
          <p:cNvSpPr txBox="1"/>
          <p:nvPr/>
        </p:nvSpPr>
        <p:spPr>
          <a:xfrm>
            <a:off x="5705475" y="4622534"/>
            <a:ext cx="3634328" cy="1200329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Which </a:t>
            </a:r>
            <a:r>
              <a:rPr lang="en-US" dirty="0" err="1">
                <a:ea typeface="標楷體" pitchFamily="65" charset="-120"/>
                <a:cs typeface="Calibri" pitchFamily="34" charset="0"/>
              </a:rPr>
              <a:t>immediates</a:t>
            </a:r>
            <a:r>
              <a:rPr lang="en-US" dirty="0">
                <a:ea typeface="標楷體" pitchFamily="65" charset="-120"/>
                <a:cs typeface="Calibri" pitchFamily="34" charset="0"/>
              </a:rPr>
              <a:t> to take from?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Which rs1/rs2 to take from?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From instruction at the EXE stage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or instruction from the ID stage?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D75EA83-F158-45CA-AAF0-FD02753A825D}"/>
              </a:ext>
            </a:extLst>
          </p:cNvPr>
          <p:cNvSpPr/>
          <p:nvPr/>
        </p:nvSpPr>
        <p:spPr bwMode="auto">
          <a:xfrm>
            <a:off x="4286250" y="3057524"/>
            <a:ext cx="914400" cy="371475"/>
          </a:xfrm>
          <a:prstGeom prst="ellipse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AECDA1-5998-4DB0-A987-AA5EF3DEB044}"/>
              </a:ext>
            </a:extLst>
          </p:cNvPr>
          <p:cNvSpPr txBox="1"/>
          <p:nvPr/>
        </p:nvSpPr>
        <p:spPr>
          <a:xfrm>
            <a:off x="585889" y="1698666"/>
            <a:ext cx="4852610" cy="923330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Which Rd to write?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The Rd from the instruction at the WB stage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or the Rd from the instruction at the ID stage?</a:t>
            </a:r>
          </a:p>
        </p:txBody>
      </p:sp>
    </p:spTree>
    <p:extLst>
      <p:ext uri="{BB962C8B-B14F-4D97-AF65-F5344CB8AC3E}">
        <p14:creationId xmlns:p14="http://schemas.microsoft.com/office/powerpoint/2010/main" val="1552707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8" grpId="0" animBg="1"/>
      <p:bldP spid="1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733" dirty="0"/>
              <a:t>Key to Pipelining: Inserting Pipeline Registers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32</a:t>
            </a:fld>
            <a:endParaRPr lang="zh-TW" alt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1D2EDC-A3FC-4A0A-8B33-2D07FF8EC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64" y="1329813"/>
            <a:ext cx="10875523" cy="458460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10FF974-6EAE-4880-9914-7E6337E07166}"/>
              </a:ext>
            </a:extLst>
          </p:cNvPr>
          <p:cNvSpPr/>
          <p:nvPr/>
        </p:nvSpPr>
        <p:spPr bwMode="auto">
          <a:xfrm>
            <a:off x="3215640" y="2394747"/>
            <a:ext cx="137160" cy="857250"/>
          </a:xfrm>
          <a:prstGeom prst="rect">
            <a:avLst/>
          </a:prstGeom>
          <a:solidFill>
            <a:srgbClr val="FFFF0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97B41B-9421-4F31-A574-4A852C9C721F}"/>
              </a:ext>
            </a:extLst>
          </p:cNvPr>
          <p:cNvSpPr/>
          <p:nvPr/>
        </p:nvSpPr>
        <p:spPr bwMode="auto">
          <a:xfrm>
            <a:off x="3215640" y="3316568"/>
            <a:ext cx="137160" cy="857250"/>
          </a:xfrm>
          <a:prstGeom prst="rect">
            <a:avLst/>
          </a:prstGeom>
          <a:solidFill>
            <a:srgbClr val="FFFF0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40E3E9-3B81-4C48-918B-7EC06335C065}"/>
              </a:ext>
            </a:extLst>
          </p:cNvPr>
          <p:cNvSpPr/>
          <p:nvPr/>
        </p:nvSpPr>
        <p:spPr bwMode="auto">
          <a:xfrm>
            <a:off x="6096000" y="2914650"/>
            <a:ext cx="134404" cy="765972"/>
          </a:xfrm>
          <a:prstGeom prst="rect">
            <a:avLst/>
          </a:prstGeom>
          <a:solidFill>
            <a:srgbClr val="FFFF0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99FE55-6694-429C-94E7-74378BC27B17}"/>
              </a:ext>
            </a:extLst>
          </p:cNvPr>
          <p:cNvSpPr/>
          <p:nvPr/>
        </p:nvSpPr>
        <p:spPr bwMode="auto">
          <a:xfrm>
            <a:off x="6098756" y="3680622"/>
            <a:ext cx="134404" cy="582768"/>
          </a:xfrm>
          <a:prstGeom prst="rect">
            <a:avLst/>
          </a:prstGeom>
          <a:solidFill>
            <a:srgbClr val="FFFF0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F86EBF-FC06-46EE-9315-D8B3EE167E7E}"/>
              </a:ext>
            </a:extLst>
          </p:cNvPr>
          <p:cNvSpPr/>
          <p:nvPr/>
        </p:nvSpPr>
        <p:spPr bwMode="auto">
          <a:xfrm>
            <a:off x="6093244" y="1903257"/>
            <a:ext cx="137160" cy="857250"/>
          </a:xfrm>
          <a:prstGeom prst="rect">
            <a:avLst/>
          </a:prstGeom>
          <a:solidFill>
            <a:srgbClr val="FFFF0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170A49-183A-4029-AFF6-2A7C8A209E7D}"/>
              </a:ext>
            </a:extLst>
          </p:cNvPr>
          <p:cNvSpPr/>
          <p:nvPr/>
        </p:nvSpPr>
        <p:spPr bwMode="auto">
          <a:xfrm>
            <a:off x="6059845" y="4327961"/>
            <a:ext cx="137160" cy="857250"/>
          </a:xfrm>
          <a:prstGeom prst="rect">
            <a:avLst/>
          </a:prstGeom>
          <a:solidFill>
            <a:srgbClr val="FFFF0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8B186F-E1C0-4933-84AA-FEAB7FEDA132}"/>
              </a:ext>
            </a:extLst>
          </p:cNvPr>
          <p:cNvSpPr/>
          <p:nvPr/>
        </p:nvSpPr>
        <p:spPr bwMode="auto">
          <a:xfrm>
            <a:off x="8381351" y="2108835"/>
            <a:ext cx="137160" cy="857250"/>
          </a:xfrm>
          <a:prstGeom prst="rect">
            <a:avLst/>
          </a:prstGeom>
          <a:solidFill>
            <a:srgbClr val="FFFF0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73F6EA-C228-4AB9-98FF-CCA7B87BCF3E}"/>
              </a:ext>
            </a:extLst>
          </p:cNvPr>
          <p:cNvSpPr/>
          <p:nvPr/>
        </p:nvSpPr>
        <p:spPr bwMode="auto">
          <a:xfrm>
            <a:off x="8449931" y="3193490"/>
            <a:ext cx="137160" cy="857250"/>
          </a:xfrm>
          <a:prstGeom prst="rect">
            <a:avLst/>
          </a:prstGeom>
          <a:solidFill>
            <a:srgbClr val="FFFF0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FCE136-5ED7-4D51-9A52-44F5DADA891C}"/>
              </a:ext>
            </a:extLst>
          </p:cNvPr>
          <p:cNvSpPr/>
          <p:nvPr/>
        </p:nvSpPr>
        <p:spPr bwMode="auto">
          <a:xfrm>
            <a:off x="8449931" y="4173818"/>
            <a:ext cx="137160" cy="857250"/>
          </a:xfrm>
          <a:prstGeom prst="rect">
            <a:avLst/>
          </a:prstGeom>
          <a:solidFill>
            <a:srgbClr val="FFFF0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7ECB9D-1AFE-4E62-9128-5CD8B06CF7D0}"/>
              </a:ext>
            </a:extLst>
          </p:cNvPr>
          <p:cNvSpPr/>
          <p:nvPr/>
        </p:nvSpPr>
        <p:spPr bwMode="auto">
          <a:xfrm>
            <a:off x="9739941" y="3028950"/>
            <a:ext cx="137160" cy="857250"/>
          </a:xfrm>
          <a:prstGeom prst="rect">
            <a:avLst/>
          </a:prstGeom>
          <a:solidFill>
            <a:srgbClr val="FFFF0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6469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733" dirty="0"/>
              <a:t>Instruction Fetch/Instruction Decode Pipeline Register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33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1455A8-8188-4C46-BD7C-9074364ED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153" y="1040131"/>
            <a:ext cx="7125694" cy="515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9094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733" dirty="0"/>
              <a:t>ID/EX Pipeline Register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34</a:t>
            </a:fld>
            <a:endParaRPr lang="zh-TW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78254B-24A3-4C9B-B069-4FDC2B222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492" y="1017270"/>
            <a:ext cx="10317015" cy="533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9698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733" dirty="0"/>
              <a:t>EX/MEM Pipeline Register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35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4341C6-E225-4CDD-9875-95D536E49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4410"/>
            <a:ext cx="12192000" cy="57191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906978-990E-4E97-94FC-A0006A654BA4}"/>
              </a:ext>
            </a:extLst>
          </p:cNvPr>
          <p:cNvSpPr txBox="1"/>
          <p:nvPr/>
        </p:nvSpPr>
        <p:spPr>
          <a:xfrm>
            <a:off x="10211547" y="1550343"/>
            <a:ext cx="788806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1">
            <a:spAutoFit/>
          </a:bodyPr>
          <a:lstStyle/>
          <a:p>
            <a:r>
              <a:rPr lang="en-US" sz="2400" dirty="0">
                <a:ea typeface="標楷體" pitchFamily="65" charset="-120"/>
                <a:cs typeface="Calibri" pitchFamily="34" charset="0"/>
              </a:rPr>
              <a:t>JAL </a:t>
            </a:r>
          </a:p>
        </p:txBody>
      </p:sp>
    </p:spTree>
    <p:extLst>
      <p:ext uri="{BB962C8B-B14F-4D97-AF65-F5344CB8AC3E}">
        <p14:creationId xmlns:p14="http://schemas.microsoft.com/office/powerpoint/2010/main" val="895097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733" dirty="0"/>
              <a:t>MEM/WB Pipeline Register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36</a:t>
            </a:fld>
            <a:endParaRPr lang="zh-TW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172E91-7B52-4A08-A901-5BCA538AF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4679"/>
            <a:ext cx="12192000" cy="510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6271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733" dirty="0"/>
              <a:t>Control Signals in Pipelined Data Path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37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EA83EC-C5CB-4758-997B-96D58884B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768" y="2188262"/>
            <a:ext cx="9836702" cy="39018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23AE5E-5A00-40C4-AEBF-203F81E5C91B}"/>
              </a:ext>
            </a:extLst>
          </p:cNvPr>
          <p:cNvSpPr txBox="1"/>
          <p:nvPr/>
        </p:nvSpPr>
        <p:spPr>
          <a:xfrm>
            <a:off x="320039" y="1357265"/>
            <a:ext cx="10517721" cy="83099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ea typeface="標楷體" pitchFamily="65" charset="-120"/>
                <a:cs typeface="Calibri" pitchFamily="34" charset="0"/>
              </a:rPr>
              <a:t>Control signals are derived from instruction bits, that is, after the ID stage.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ea typeface="標楷體" pitchFamily="65" charset="-120"/>
                <a:cs typeface="Calibri" pitchFamily="34" charset="0"/>
              </a:rPr>
              <a:t>Control information for later stages are also stored in the pipeline registers</a:t>
            </a:r>
          </a:p>
        </p:txBody>
      </p:sp>
    </p:spTree>
    <p:extLst>
      <p:ext uri="{BB962C8B-B14F-4D97-AF65-F5344CB8AC3E}">
        <p14:creationId xmlns:p14="http://schemas.microsoft.com/office/powerpoint/2010/main" val="2504043901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12996</TotalTime>
  <Words>2257</Words>
  <Application>Microsoft Office PowerPoint</Application>
  <PresentationFormat>Widescreen</PresentationFormat>
  <Paragraphs>427</Paragraphs>
  <Slides>37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8" baseType="lpstr">
      <vt:lpstr>Google Sans</vt:lpstr>
      <vt:lpstr>MS Sans Serif</vt:lpstr>
      <vt:lpstr>华文楷体</vt:lpstr>
      <vt:lpstr>Arial</vt:lpstr>
      <vt:lpstr>Calibri</vt:lpstr>
      <vt:lpstr>Calibri Light</vt:lpstr>
      <vt:lpstr>Cambria Math</vt:lpstr>
      <vt:lpstr>Times New Roman</vt:lpstr>
      <vt:lpstr>Wingdings</vt:lpstr>
      <vt:lpstr>NTHU UniCloud</vt:lpstr>
      <vt:lpstr>自訂設計</vt:lpstr>
      <vt:lpstr>CSC3050 – Computer Architecture  Chapter 4 The Processor  Pipelining</vt:lpstr>
      <vt:lpstr>Pipelining</vt:lpstr>
      <vt:lpstr>Single-Cycle Disadvantages &amp; Advantages </vt:lpstr>
      <vt:lpstr>Five Stages of the Simple Data Path</vt:lpstr>
      <vt:lpstr>Divide the Single Cycle Data Path into 5 Stages</vt:lpstr>
      <vt:lpstr>Three Register Ports: One Write, Two Read</vt:lpstr>
      <vt:lpstr>Three Register Ports: One Write, Two Read</vt:lpstr>
      <vt:lpstr>Instruction Timing and Clock Cycle Time</vt:lpstr>
      <vt:lpstr>Pipelining Analogy</vt:lpstr>
      <vt:lpstr>Sequential Laundry </vt:lpstr>
      <vt:lpstr>Pipelined Laundry </vt:lpstr>
      <vt:lpstr>Pipelined Laundry </vt:lpstr>
      <vt:lpstr>Yale Patt’s Analogy</vt:lpstr>
      <vt:lpstr>PowerPoint Presentation</vt:lpstr>
      <vt:lpstr>Single cycle vs. multi-cycle vs. pipeline</vt:lpstr>
      <vt:lpstr>Pipeline Performance (1)</vt:lpstr>
      <vt:lpstr>Pipeline Performance (2)</vt:lpstr>
      <vt:lpstr>Pipeline Speedup</vt:lpstr>
      <vt:lpstr>Pipeline-oriented ISA Design</vt:lpstr>
      <vt:lpstr>Pipeline Lessons</vt:lpstr>
      <vt:lpstr>Pipeline Everywhere</vt:lpstr>
      <vt:lpstr>Exercise-1</vt:lpstr>
      <vt:lpstr>Exercise-1</vt:lpstr>
      <vt:lpstr>Exercise-1</vt:lpstr>
      <vt:lpstr>Exercise-1</vt:lpstr>
      <vt:lpstr>About Instruction Mix</vt:lpstr>
      <vt:lpstr>Pipelined RV32I Data Path</vt:lpstr>
      <vt:lpstr>What happens Sequentially? Simultaneously?</vt:lpstr>
      <vt:lpstr>Latency vs Throughput</vt:lpstr>
      <vt:lpstr>What happens to long latency operations? </vt:lpstr>
      <vt:lpstr>Multiple Instructions On-the-Fly</vt:lpstr>
      <vt:lpstr>Key to Pipelining: Inserting Pipeline Registers</vt:lpstr>
      <vt:lpstr>Instruction Fetch/Instruction Decode Pipeline Register</vt:lpstr>
      <vt:lpstr>ID/EX Pipeline Register</vt:lpstr>
      <vt:lpstr>EX/MEM Pipeline Register</vt:lpstr>
      <vt:lpstr>MEM/WB Pipeline Register</vt:lpstr>
      <vt:lpstr>Control Signals in Pipelined Data Path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Prof. HSU Wei-Chung (SDS)</cp:lastModifiedBy>
  <cp:revision>278</cp:revision>
  <dcterms:created xsi:type="dcterms:W3CDTF">2020-07-15T11:13:39Z</dcterms:created>
  <dcterms:modified xsi:type="dcterms:W3CDTF">2025-03-24T05:09:49Z</dcterms:modified>
</cp:coreProperties>
</file>