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69"/>
  </p:notesMasterIdLst>
  <p:handoutMasterIdLst>
    <p:handoutMasterId r:id="rId70"/>
  </p:handoutMasterIdLst>
  <p:sldIdLst>
    <p:sldId id="256" r:id="rId3"/>
    <p:sldId id="380" r:id="rId4"/>
    <p:sldId id="381" r:id="rId5"/>
    <p:sldId id="382" r:id="rId6"/>
    <p:sldId id="1355" r:id="rId7"/>
    <p:sldId id="1354" r:id="rId8"/>
    <p:sldId id="383" r:id="rId9"/>
    <p:sldId id="1303" r:id="rId10"/>
    <p:sldId id="1295" r:id="rId11"/>
    <p:sldId id="1323" r:id="rId12"/>
    <p:sldId id="1304" r:id="rId13"/>
    <p:sldId id="1352" r:id="rId14"/>
    <p:sldId id="1324" r:id="rId15"/>
    <p:sldId id="1296" r:id="rId16"/>
    <p:sldId id="1305" r:id="rId17"/>
    <p:sldId id="1256" r:id="rId18"/>
    <p:sldId id="1360" r:id="rId19"/>
    <p:sldId id="1298" r:id="rId20"/>
    <p:sldId id="1325" r:id="rId21"/>
    <p:sldId id="1348" r:id="rId22"/>
    <p:sldId id="1351" r:id="rId23"/>
    <p:sldId id="1358" r:id="rId24"/>
    <p:sldId id="1359" r:id="rId25"/>
    <p:sldId id="1349" r:id="rId26"/>
    <p:sldId id="1356" r:id="rId27"/>
    <p:sldId id="1336" r:id="rId28"/>
    <p:sldId id="1350" r:id="rId29"/>
    <p:sldId id="1326" r:id="rId30"/>
    <p:sldId id="1327" r:id="rId31"/>
    <p:sldId id="1328" r:id="rId32"/>
    <p:sldId id="1306" r:id="rId33"/>
    <p:sldId id="1337" r:id="rId34"/>
    <p:sldId id="1338" r:id="rId35"/>
    <p:sldId id="1339" r:id="rId36"/>
    <p:sldId id="1340" r:id="rId37"/>
    <p:sldId id="1357" r:id="rId38"/>
    <p:sldId id="1341" r:id="rId39"/>
    <p:sldId id="1307" r:id="rId40"/>
    <p:sldId id="1329" r:id="rId41"/>
    <p:sldId id="1342" r:id="rId42"/>
    <p:sldId id="1332" r:id="rId43"/>
    <p:sldId id="1333" r:id="rId44"/>
    <p:sldId id="1334" r:id="rId45"/>
    <p:sldId id="1361" r:id="rId46"/>
    <p:sldId id="1293" r:id="rId47"/>
    <p:sldId id="1362" r:id="rId48"/>
    <p:sldId id="1353" r:id="rId49"/>
    <p:sldId id="1345" r:id="rId50"/>
    <p:sldId id="1363" r:id="rId51"/>
    <p:sldId id="1281" r:id="rId52"/>
    <p:sldId id="1299" r:id="rId53"/>
    <p:sldId id="1344" r:id="rId54"/>
    <p:sldId id="1319" r:id="rId55"/>
    <p:sldId id="1300" r:id="rId56"/>
    <p:sldId id="1330" r:id="rId57"/>
    <p:sldId id="1317" r:id="rId58"/>
    <p:sldId id="1346" r:id="rId59"/>
    <p:sldId id="1331" r:id="rId60"/>
    <p:sldId id="1321" r:id="rId61"/>
    <p:sldId id="1318" r:id="rId62"/>
    <p:sldId id="1320" r:id="rId63"/>
    <p:sldId id="1322" r:id="rId64"/>
    <p:sldId id="1308" r:id="rId65"/>
    <p:sldId id="1309" r:id="rId66"/>
    <p:sldId id="1314" r:id="rId67"/>
    <p:sldId id="1347" r:id="rId6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58" autoAdjust="0"/>
    <p:restoredTop sz="94660"/>
  </p:normalViewPr>
  <p:slideViewPr>
    <p:cSldViewPr snapToGrid="0">
      <p:cViewPr varScale="1">
        <p:scale>
          <a:sx n="100" d="100"/>
          <a:sy n="100" d="100"/>
        </p:scale>
        <p:origin x="168" y="84"/>
      </p:cViewPr>
      <p:guideLst/>
    </p:cSldViewPr>
  </p:slideViewPr>
  <p:notesTextViewPr>
    <p:cViewPr>
      <p:scale>
        <a:sx n="1" d="1"/>
        <a:sy n="1" d="1"/>
      </p:scale>
      <p:origin x="0" y="0"/>
    </p:cViewPr>
  </p:notesTextViewPr>
  <p:sorterViewPr>
    <p:cViewPr>
      <p:scale>
        <a:sx n="100" d="100"/>
        <a:sy n="100" d="100"/>
      </p:scale>
      <p:origin x="0" y="-7968"/>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2/18/2025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2025/2/18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Scalable: micro-controller, embedded systems, mobile computers, desktops, servers, main frame, warehouse scale, supercomputers.</a:t>
            </a:r>
          </a:p>
          <a:p>
            <a:r>
              <a:rPr lang="en-US" altLang="zh-CN" dirty="0"/>
              <a:t>Flexible: Used for various applications. Not just for scientific computation. GPU cannot work well for general applications, does not support </a:t>
            </a:r>
            <a:r>
              <a:rPr lang="en-US" altLang="zh-CN" dirty="0" err="1"/>
              <a:t>Pcalls</a:t>
            </a:r>
            <a:r>
              <a:rPr lang="en-US" altLang="zh-CN" dirty="0"/>
              <a:t>, branches.</a:t>
            </a:r>
          </a:p>
          <a:p>
            <a:r>
              <a:rPr lang="en-US" altLang="zh-CN" dirty="0"/>
              <a:t>Extensible: extensions</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If CS students do not speak assembly language, who will translate HLL? Who will debug?</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If CS students do not speak assembly language, who will translate HLL? Who will debug?</a:t>
            </a:r>
            <a:endParaRPr lang="zh-CN" altLang="en-US" dirty="0"/>
          </a:p>
        </p:txBody>
      </p:sp>
    </p:spTree>
    <p:extLst>
      <p:ext uri="{BB962C8B-B14F-4D97-AF65-F5344CB8AC3E}">
        <p14:creationId xmlns:p14="http://schemas.microsoft.com/office/powerpoint/2010/main" val="2784673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According to the design principle of the instruction set architecture, x86 has 15 addressing mode. X86 has variable length instructions, from 1 byte to 15 bytes. </a:t>
            </a:r>
          </a:p>
          <a:p>
            <a:r>
              <a:rPr lang="en-US" altLang="zh-CN" dirty="0"/>
              <a:t>Calls is a representative CISC instruction. Calls is a subroutine call, it also handle argument count, passing argument, set up stack frame, store return address and save all used registers. </a:t>
            </a:r>
          </a:p>
          <a:p>
            <a:r>
              <a:rPr lang="en-US" altLang="zh-CN" dirty="0"/>
              <a:t>Why was the debate interesting? If you follow the argument/counter arguments, you have learned a lot about computer technology.</a:t>
            </a:r>
          </a:p>
          <a:p>
            <a:r>
              <a:rPr lang="en-US" altLang="zh-CN" dirty="0"/>
              <a:t>One scientist predicted “All future binaries will be in x86, but all processors will be implemented in RISC.”</a:t>
            </a:r>
          </a:p>
          <a:p>
            <a:r>
              <a:rPr lang="en-US" altLang="zh-CN" dirty="0"/>
              <a:t>RISC-V has only four: </a:t>
            </a:r>
            <a:r>
              <a:rPr lang="en-US" altLang="zh-CN" dirty="0" err="1"/>
              <a:t>base+offset</a:t>
            </a:r>
            <a:r>
              <a:rPr lang="en-US" altLang="zh-CN" dirty="0"/>
              <a:t>, reg-reg, PC-relative, Register indirect.</a:t>
            </a:r>
          </a:p>
          <a:p>
            <a:r>
              <a:rPr lang="en-US" altLang="zh-CN" dirty="0"/>
              <a:t>X86 has 8 registers, DEC VAX has 16</a:t>
            </a:r>
          </a:p>
        </p:txBody>
      </p:sp>
    </p:spTree>
    <p:extLst>
      <p:ext uri="{BB962C8B-B14F-4D97-AF65-F5344CB8AC3E}">
        <p14:creationId xmlns:p14="http://schemas.microsoft.com/office/powerpoint/2010/main" val="328856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Design</a:t>
            </a:r>
            <a:r>
              <a:rPr lang="zh-CN" altLang="en-US" dirty="0"/>
              <a:t> </a:t>
            </a:r>
            <a:r>
              <a:rPr lang="en-US" altLang="zh-CN" dirty="0"/>
              <a:t>for</a:t>
            </a:r>
            <a:r>
              <a:rPr lang="zh-CN" altLang="en-US" dirty="0"/>
              <a:t> </a:t>
            </a:r>
            <a:r>
              <a:rPr lang="en-US" altLang="zh-CN" dirty="0"/>
              <a:t>pipelined</a:t>
            </a:r>
            <a:r>
              <a:rPr lang="zh-CN" altLang="en-US" dirty="0"/>
              <a:t> </a:t>
            </a:r>
            <a:r>
              <a:rPr lang="en-US" altLang="zh-CN" dirty="0"/>
              <a:t>implementations</a:t>
            </a:r>
          </a:p>
          <a:p>
            <a:r>
              <a:rPr lang="en-US" altLang="zh-CN" dirty="0"/>
              <a:t>Stupid not an insult, but as a reminder to avoid overcomplicate things</a:t>
            </a:r>
          </a:p>
          <a:p>
            <a:r>
              <a:rPr lang="en-US" altLang="zh-CN" dirty="0"/>
              <a:t>Compromise:</a:t>
            </a:r>
          </a:p>
          <a:p>
            <a:r>
              <a:rPr lang="en-US" altLang="zh-CN" i="1" dirty="0"/>
              <a:t>Large register – reduces memory accesses, but increases instruction size</a:t>
            </a:r>
          </a:p>
          <a:p>
            <a:r>
              <a:rPr lang="en-US" altLang="zh-CN" i="1" dirty="0"/>
              <a:t>Instructions allow memory operands: some advantages, but may get to very nasty simulations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Samsung, Qualcomm pay license upfront. E base implementation has 16 reg, 40 instructions, fewer shift instructions, does support for 16b instructions.</a:t>
            </a:r>
          </a:p>
          <a:p>
            <a:r>
              <a:rPr lang="en-US" dirty="0"/>
              <a:t>MTK pay royalty</a:t>
            </a:r>
          </a:p>
          <a:p>
            <a:r>
              <a:rPr lang="en-US" dirty="0"/>
              <a:t>We do not study VE in this course, if you are interested, 6031 will do that</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8</a:t>
            </a:fld>
            <a:endParaRPr lang="zh-TW" altLang="en-US"/>
          </a:p>
        </p:txBody>
      </p:sp>
    </p:spTree>
    <p:extLst>
      <p:ext uri="{BB962C8B-B14F-4D97-AF65-F5344CB8AC3E}">
        <p14:creationId xmlns:p14="http://schemas.microsoft.com/office/powerpoint/2010/main" val="1204913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register , X means flexibility, extensibility, no implication like A,S,B,T,F, R, V</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9</a:t>
            </a:fld>
            <a:endParaRPr lang="en-US"/>
          </a:p>
        </p:txBody>
      </p:sp>
    </p:spTree>
    <p:extLst>
      <p:ext uri="{BB962C8B-B14F-4D97-AF65-F5344CB8AC3E}">
        <p14:creationId xmlns:p14="http://schemas.microsoft.com/office/powerpoint/2010/main" val="3622811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10</a:t>
            </a:fld>
            <a:endParaRPr lang="en-US"/>
          </a:p>
        </p:txBody>
      </p:sp>
    </p:spTree>
    <p:extLst>
      <p:ext uri="{BB962C8B-B14F-4D97-AF65-F5344CB8AC3E}">
        <p14:creationId xmlns:p14="http://schemas.microsoft.com/office/powerpoint/2010/main" val="1944950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Privileged instructions: interrupt, memory management, system calls, CSR, </a:t>
            </a:r>
            <a:r>
              <a:rPr lang="en-US"/>
              <a:t>mode change</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11</a:t>
            </a:fld>
            <a:endParaRPr lang="zh-TW" altLang="en-US"/>
          </a:p>
        </p:txBody>
      </p:sp>
    </p:spTree>
    <p:extLst>
      <p:ext uri="{BB962C8B-B14F-4D97-AF65-F5344CB8AC3E}">
        <p14:creationId xmlns:p14="http://schemas.microsoft.com/office/powerpoint/2010/main" val="539533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13</a:t>
            </a:fld>
            <a:endParaRPr lang="en-US"/>
          </a:p>
        </p:txBody>
      </p:sp>
    </p:spTree>
    <p:extLst>
      <p:ext uri="{BB962C8B-B14F-4D97-AF65-F5344CB8AC3E}">
        <p14:creationId xmlns:p14="http://schemas.microsoft.com/office/powerpoint/2010/main" val="2530778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know 001111101000 is 1000? 1024 is 010000000000, get the inverse of 1111101000 </a:t>
            </a:r>
            <a:r>
              <a:rPr lang="en-US" dirty="0">
                <a:sym typeface="Wingdings" panose="05000000000000000000" pitchFamily="2" charset="2"/>
              </a:rPr>
              <a:t> 0000010111+1 = 24, so 1024 -24 is 1000</a:t>
            </a:r>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15</a:t>
            </a:fld>
            <a:endParaRPr lang="en-US"/>
          </a:p>
        </p:txBody>
      </p:sp>
    </p:spTree>
    <p:extLst>
      <p:ext uri="{BB962C8B-B14F-4D97-AF65-F5344CB8AC3E}">
        <p14:creationId xmlns:p14="http://schemas.microsoft.com/office/powerpoint/2010/main" val="418780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role of </a:t>
            </a:r>
            <a:r>
              <a:rPr lang="en-US" sz="1200" dirty="0" err="1">
                <a:solidFill>
                  <a:srgbClr val="56127A"/>
                </a:solidFill>
                <a:sym typeface="Wingdings" panose="05000000000000000000" pitchFamily="2" charset="2"/>
              </a:rPr>
              <a:t>inst</a:t>
            </a:r>
            <a:r>
              <a:rPr lang="en-US" sz="1200" dirty="0">
                <a:solidFill>
                  <a:srgbClr val="56127A"/>
                </a:solidFill>
                <a:sym typeface="Wingdings" panose="05000000000000000000" pitchFamily="2" charset="2"/>
              </a:rPr>
              <a:t>[30]?</a:t>
            </a:r>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16</a:t>
            </a:fld>
            <a:endParaRPr lang="en-US"/>
          </a:p>
        </p:txBody>
      </p:sp>
    </p:spTree>
    <p:extLst>
      <p:ext uri="{BB962C8B-B14F-4D97-AF65-F5344CB8AC3E}">
        <p14:creationId xmlns:p14="http://schemas.microsoft.com/office/powerpoint/2010/main" val="1758581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Ignore byte and half word instructions:  LB, LBU, LH, LHU, SB, SH</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17</a:t>
            </a:fld>
            <a:endParaRPr lang="en-US"/>
          </a:p>
        </p:txBody>
      </p:sp>
    </p:spTree>
    <p:extLst>
      <p:ext uri="{BB962C8B-B14F-4D97-AF65-F5344CB8AC3E}">
        <p14:creationId xmlns:p14="http://schemas.microsoft.com/office/powerpoint/2010/main" val="3639022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Ignore byte and half word instructions:  LB, LBU, LH, LHU, SB, SH</a:t>
            </a:r>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18</a:t>
            </a:fld>
            <a:endParaRPr lang="en-US"/>
          </a:p>
        </p:txBody>
      </p:sp>
    </p:spTree>
    <p:extLst>
      <p:ext uri="{BB962C8B-B14F-4D97-AF65-F5344CB8AC3E}">
        <p14:creationId xmlns:p14="http://schemas.microsoft.com/office/powerpoint/2010/main" val="645719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19</a:t>
            </a:fld>
            <a:endParaRPr lang="en-US"/>
          </a:p>
        </p:txBody>
      </p:sp>
    </p:spTree>
    <p:extLst>
      <p:ext uri="{BB962C8B-B14F-4D97-AF65-F5344CB8AC3E}">
        <p14:creationId xmlns:p14="http://schemas.microsoft.com/office/powerpoint/2010/main" val="1979197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20</a:t>
            </a:fld>
            <a:endParaRPr lang="en-US"/>
          </a:p>
        </p:txBody>
      </p:sp>
    </p:spTree>
    <p:extLst>
      <p:ext uri="{BB962C8B-B14F-4D97-AF65-F5344CB8AC3E}">
        <p14:creationId xmlns:p14="http://schemas.microsoft.com/office/powerpoint/2010/main" val="73227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21</a:t>
            </a:fld>
            <a:endParaRPr lang="en-US"/>
          </a:p>
        </p:txBody>
      </p:sp>
    </p:spTree>
    <p:extLst>
      <p:ext uri="{BB962C8B-B14F-4D97-AF65-F5344CB8AC3E}">
        <p14:creationId xmlns:p14="http://schemas.microsoft.com/office/powerpoint/2010/main" val="1544851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Introduced inn 2019/12.</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26</a:t>
            </a:fld>
            <a:endParaRPr lang="zh-TW" altLang="en-US"/>
          </a:p>
        </p:txBody>
      </p:sp>
    </p:spTree>
    <p:extLst>
      <p:ext uri="{BB962C8B-B14F-4D97-AF65-F5344CB8AC3E}">
        <p14:creationId xmlns:p14="http://schemas.microsoft.com/office/powerpoint/2010/main" val="2020155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is called conditional jump</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32</a:t>
            </a:fld>
            <a:endParaRPr lang="zh-TW" altLang="en-US"/>
          </a:p>
        </p:txBody>
      </p:sp>
    </p:spTree>
    <p:extLst>
      <p:ext uri="{BB962C8B-B14F-4D97-AF65-F5344CB8AC3E}">
        <p14:creationId xmlns:p14="http://schemas.microsoft.com/office/powerpoint/2010/main" val="13373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Compressed format, Opcode reduced to 2b, immediate reduced to 8b, must use implicit or implied registers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34</a:t>
            </a:fld>
            <a:endParaRPr lang="zh-TW" altLang="en-US"/>
          </a:p>
        </p:txBody>
      </p:sp>
    </p:spTree>
    <p:extLst>
      <p:ext uri="{BB962C8B-B14F-4D97-AF65-F5344CB8AC3E}">
        <p14:creationId xmlns:p14="http://schemas.microsoft.com/office/powerpoint/2010/main" val="3984386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35</a:t>
            </a:fld>
            <a:endParaRPr lang="zh-TW" altLang="en-US"/>
          </a:p>
        </p:txBody>
      </p:sp>
    </p:spTree>
    <p:extLst>
      <p:ext uri="{BB962C8B-B14F-4D97-AF65-F5344CB8AC3E}">
        <p14:creationId xmlns:p14="http://schemas.microsoft.com/office/powerpoint/2010/main" val="26891474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36</a:t>
            </a:fld>
            <a:endParaRPr lang="zh-TW" altLang="en-US"/>
          </a:p>
        </p:txBody>
      </p:sp>
    </p:spTree>
    <p:extLst>
      <p:ext uri="{BB962C8B-B14F-4D97-AF65-F5344CB8AC3E}">
        <p14:creationId xmlns:p14="http://schemas.microsoft.com/office/powerpoint/2010/main" val="4980547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jump is not far enough? Use JALR indirect jump, the register can contain all 32b address, what if that is not enough? </a:t>
            </a:r>
            <a:r>
              <a:rPr lang="en-US" dirty="0" err="1"/>
              <a:t>Goto</a:t>
            </a:r>
            <a:r>
              <a:rPr lang="en-US" dirty="0"/>
              <a:t> 64b</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37</a:t>
            </a:fld>
            <a:endParaRPr lang="zh-TW" altLang="en-US"/>
          </a:p>
        </p:txBody>
      </p:sp>
    </p:spTree>
    <p:extLst>
      <p:ext uri="{BB962C8B-B14F-4D97-AF65-F5344CB8AC3E}">
        <p14:creationId xmlns:p14="http://schemas.microsoft.com/office/powerpoint/2010/main" val="2172747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Effect of </a:t>
            </a:r>
            <a:r>
              <a:rPr lang="en-US" sz="2000" dirty="0">
                <a:solidFill>
                  <a:srgbClr val="56127A"/>
                </a:solidFill>
                <a:sym typeface="Wingdings" panose="05000000000000000000" pitchFamily="2" charset="2"/>
              </a:rPr>
              <a:t>~0x01</a:t>
            </a:r>
          </a:p>
          <a:p>
            <a:endParaRPr lang="en-US"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45</a:t>
            </a:fld>
            <a:endParaRPr lang="en-US"/>
          </a:p>
        </p:txBody>
      </p:sp>
    </p:spTree>
    <p:extLst>
      <p:ext uri="{BB962C8B-B14F-4D97-AF65-F5344CB8AC3E}">
        <p14:creationId xmlns:p14="http://schemas.microsoft.com/office/powerpoint/2010/main" val="4160622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the details of such encoding.</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46</a:t>
            </a:fld>
            <a:endParaRPr lang="zh-TW" altLang="en-US"/>
          </a:p>
        </p:txBody>
      </p:sp>
    </p:spTree>
    <p:extLst>
      <p:ext uri="{BB962C8B-B14F-4D97-AF65-F5344CB8AC3E}">
        <p14:creationId xmlns:p14="http://schemas.microsoft.com/office/powerpoint/2010/main" val="1212177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JALR on Register is usually implemented as return jump or jump to functions (Function pointer passed in as a parameter)</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48</a:t>
            </a:fld>
            <a:endParaRPr lang="zh-TW" altLang="en-US"/>
          </a:p>
        </p:txBody>
      </p:sp>
    </p:spTree>
    <p:extLst>
      <p:ext uri="{BB962C8B-B14F-4D97-AF65-F5344CB8AC3E}">
        <p14:creationId xmlns:p14="http://schemas.microsoft.com/office/powerpoint/2010/main" val="34598116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JALR on Register is usually implemented as return jump or jump to functions (Function pointer passed in as a parameter)</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49</a:t>
            </a:fld>
            <a:endParaRPr lang="zh-TW" altLang="en-US"/>
          </a:p>
        </p:txBody>
      </p:sp>
    </p:spTree>
    <p:extLst>
      <p:ext uri="{BB962C8B-B14F-4D97-AF65-F5344CB8AC3E}">
        <p14:creationId xmlns:p14="http://schemas.microsoft.com/office/powerpoint/2010/main" val="1970190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currently implement the 4 CSRs (</a:t>
            </a:r>
            <a:r>
              <a:rPr lang="en-US" i="1" dirty="0"/>
              <a:t>cycle, </a:t>
            </a:r>
            <a:r>
              <a:rPr lang="en-US" i="1" dirty="0" err="1"/>
              <a:t>instret</a:t>
            </a:r>
            <a:r>
              <a:rPr lang="en-US" i="1" dirty="0"/>
              <a:t>, </a:t>
            </a:r>
            <a:r>
              <a:rPr lang="en-US" i="1" dirty="0" err="1"/>
              <a:t>hartid</a:t>
            </a:r>
            <a:r>
              <a:rPr lang="en-US" i="1" dirty="0"/>
              <a:t>, </a:t>
            </a:r>
            <a:r>
              <a:rPr lang="en-US" i="1" dirty="0" err="1"/>
              <a:t>mtohost</a:t>
            </a:r>
            <a:r>
              <a:rPr lang="en-US" dirty="0"/>
              <a:t>)</a:t>
            </a:r>
            <a:r>
              <a:rPr lang="en-US" baseline="0" dirty="0"/>
              <a:t> in the slide.</a:t>
            </a:r>
            <a:endParaRPr lang="en-US" dirty="0"/>
          </a:p>
          <a:p>
            <a:r>
              <a:rPr lang="en-US" dirty="0"/>
              <a:t>There are many other CSRs</a:t>
            </a:r>
            <a:r>
              <a:rPr lang="en-US" baseline="0" dirty="0"/>
              <a:t>: e.g. </a:t>
            </a:r>
            <a:r>
              <a:rPr lang="en-US" i="1" baseline="0" dirty="0" err="1"/>
              <a:t>mstatus</a:t>
            </a:r>
            <a:endParaRPr lang="en-US" i="1" baseline="0" dirty="0"/>
          </a:p>
          <a:p>
            <a:r>
              <a:rPr lang="en-US" baseline="0" dirty="0"/>
              <a:t>We need to implement </a:t>
            </a:r>
            <a:r>
              <a:rPr lang="en-US" i="1" baseline="0" dirty="0" err="1"/>
              <a:t>mepc</a:t>
            </a:r>
            <a:r>
              <a:rPr lang="en-US" baseline="0" dirty="0"/>
              <a:t> and </a:t>
            </a:r>
            <a:r>
              <a:rPr lang="en-US" i="1" baseline="0" dirty="0" err="1"/>
              <a:t>mcause</a:t>
            </a:r>
            <a:r>
              <a:rPr lang="en-US" i="1" baseline="0" dirty="0"/>
              <a:t> </a:t>
            </a:r>
            <a:r>
              <a:rPr lang="en-US" i="0" baseline="0" dirty="0"/>
              <a:t>when handling exceptions.</a:t>
            </a:r>
          </a:p>
          <a:p>
            <a:endParaRPr lang="en-US" i="0" baseline="0" dirty="0"/>
          </a:p>
          <a:p>
            <a:r>
              <a:rPr lang="en-US" i="1" baseline="0" dirty="0"/>
              <a:t>cycle, </a:t>
            </a:r>
            <a:r>
              <a:rPr lang="en-US" i="1" baseline="0" dirty="0" err="1"/>
              <a:t>instret</a:t>
            </a:r>
            <a:r>
              <a:rPr lang="en-US" i="1" baseline="0" dirty="0"/>
              <a:t>, </a:t>
            </a:r>
            <a:r>
              <a:rPr lang="en-US" i="1" baseline="0" dirty="0" err="1"/>
              <a:t>hartid</a:t>
            </a:r>
            <a:r>
              <a:rPr lang="en-US" i="1" baseline="0" dirty="0"/>
              <a:t> </a:t>
            </a:r>
            <a:r>
              <a:rPr lang="en-US" i="0" baseline="0" dirty="0"/>
              <a:t>– read-only</a:t>
            </a:r>
          </a:p>
          <a:p>
            <a:r>
              <a:rPr lang="en-US" i="1" baseline="0" dirty="0" err="1"/>
              <a:t>mtohost</a:t>
            </a:r>
            <a:r>
              <a:rPr lang="en-US" i="0" baseline="0" dirty="0"/>
              <a:t> – write-only</a:t>
            </a:r>
          </a:p>
          <a:p>
            <a:endParaRPr lang="en-US" i="0"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sz="1800" dirty="0">
                <a:sym typeface="Wingdings" panose="05000000000000000000" pitchFamily="2" charset="2"/>
              </a:rPr>
              <a:t>Complete instructions to access CSR: CSRRW[I], CSRRS[I], CSRRC[I]</a:t>
            </a:r>
            <a:endParaRPr lang="en-US" sz="1800" dirty="0"/>
          </a:p>
          <a:p>
            <a:r>
              <a:rPr lang="en-US" i="0" dirty="0"/>
              <a:t>These</a:t>
            </a:r>
            <a:r>
              <a:rPr lang="en-US" i="0" baseline="0" dirty="0"/>
              <a:t> instructions will read-modify-write CSRs.</a:t>
            </a:r>
          </a:p>
          <a:p>
            <a:r>
              <a:rPr lang="en-US" i="0" baseline="0" dirty="0"/>
              <a:t>CSRR and CSRW are easiest cases where only read or write happens.</a:t>
            </a:r>
            <a:endParaRPr lang="en-US" i="0" dirty="0"/>
          </a:p>
        </p:txBody>
      </p:sp>
      <p:sp>
        <p:nvSpPr>
          <p:cNvPr id="4" name="Slide Number Placeholder 3"/>
          <p:cNvSpPr>
            <a:spLocks noGrp="1"/>
          </p:cNvSpPr>
          <p:nvPr>
            <p:ph type="sldNum" sz="quarter" idx="10"/>
          </p:nvPr>
        </p:nvSpPr>
        <p:spPr/>
        <p:txBody>
          <a:bodyPr/>
          <a:lstStyle/>
          <a:p>
            <a:pPr>
              <a:defRPr/>
            </a:pPr>
            <a:fld id="{FAB5816E-92E6-4A70-B53F-671D7635E10C}" type="slidenum">
              <a:rPr lang="en-US" smtClean="0"/>
              <a:pPr>
                <a:defRPr/>
              </a:pPr>
              <a:t>51</a:t>
            </a:fld>
            <a:endParaRPr lang="en-US"/>
          </a:p>
        </p:txBody>
      </p:sp>
    </p:spTree>
    <p:extLst>
      <p:ext uri="{BB962C8B-B14F-4D97-AF65-F5344CB8AC3E}">
        <p14:creationId xmlns:p14="http://schemas.microsoft.com/office/powerpoint/2010/main" val="11743512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encoding is also messy and </a:t>
            </a:r>
            <a:r>
              <a:rPr lang="en-US"/>
              <a:t>require automation</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53</a:t>
            </a:fld>
            <a:endParaRPr lang="zh-TW" altLang="en-US"/>
          </a:p>
        </p:txBody>
      </p:sp>
    </p:spTree>
    <p:extLst>
      <p:ext uri="{BB962C8B-B14F-4D97-AF65-F5344CB8AC3E}">
        <p14:creationId xmlns:p14="http://schemas.microsoft.com/office/powerpoint/2010/main" val="3042848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interesting during the time when the number of registers were only 8</a:t>
            </a:r>
          </a:p>
          <a:p>
            <a:r>
              <a:rPr lang="en-US" dirty="0"/>
              <a:t>Be careful: if a, and b are passed in as two pointers: *a *b, then the compiler could not allocate them in registers because they may point to the same memory location.</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55</a:t>
            </a:fld>
            <a:endParaRPr lang="zh-TW" altLang="en-US"/>
          </a:p>
        </p:txBody>
      </p:sp>
    </p:spTree>
    <p:extLst>
      <p:ext uri="{BB962C8B-B14F-4D97-AF65-F5344CB8AC3E}">
        <p14:creationId xmlns:p14="http://schemas.microsoft.com/office/powerpoint/2010/main" val="19445941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calling convention? For interoperability cross different compilers, different software, different library.</a:t>
            </a:r>
          </a:p>
          <a:p>
            <a:r>
              <a:rPr lang="en-US" dirty="0"/>
              <a:t>If not well defined, arguments may not be passed by registers!!!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56</a:t>
            </a:fld>
            <a:endParaRPr lang="zh-TW" altLang="en-US"/>
          </a:p>
        </p:txBody>
      </p:sp>
    </p:spTree>
    <p:extLst>
      <p:ext uri="{BB962C8B-B14F-4D97-AF65-F5344CB8AC3E}">
        <p14:creationId xmlns:p14="http://schemas.microsoft.com/office/powerpoint/2010/main" val="29425079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8AD204-E486-472C-93F5-F552B5456D36}" type="slidenum">
              <a:rPr lang="en-US" smtClean="0"/>
              <a:pPr>
                <a:defRPr/>
              </a:pPr>
              <a:t>64</a:t>
            </a:fld>
            <a:endParaRPr lang="en-US" dirty="0"/>
          </a:p>
        </p:txBody>
      </p:sp>
    </p:spTree>
    <p:extLst>
      <p:ext uri="{BB962C8B-B14F-4D97-AF65-F5344CB8AC3E}">
        <p14:creationId xmlns:p14="http://schemas.microsoft.com/office/powerpoint/2010/main" val="5430614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8AD204-E486-472C-93F5-F552B5456D36}" type="slidenum">
              <a:rPr lang="en-US" smtClean="0"/>
              <a:pPr>
                <a:defRPr/>
              </a:pPr>
              <a:t>65</a:t>
            </a:fld>
            <a:endParaRPr lang="en-US" dirty="0"/>
          </a:p>
        </p:txBody>
      </p:sp>
    </p:spTree>
    <p:extLst>
      <p:ext uri="{BB962C8B-B14F-4D97-AF65-F5344CB8AC3E}">
        <p14:creationId xmlns:p14="http://schemas.microsoft.com/office/powerpoint/2010/main" val="1352547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75122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endParaRPr lang="zh-TW" altLang="en-US" dirty="0"/>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574825" cy="723403"/>
            <a:chOff x="86980" y="6239920"/>
            <a:chExt cx="3223375" cy="723403"/>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615553"/>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7" y="1634246"/>
            <a:ext cx="8160657" cy="2683883"/>
          </a:xfrm>
        </p:spPr>
        <p:txBody>
          <a:bodyPr/>
          <a:lstStyle/>
          <a:p>
            <a:pPr marL="0" marR="0" lvl="0" indent="0" algn="ctr"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None/>
              <a:tabLst/>
              <a:defRPr/>
            </a:pP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kumimoji="1" lang="en-US" altLang="zh-TW" sz="3600" b="0" i="0" u="none" strike="noStrike" kern="0" cap="none" spc="0" normalizeH="0" baseline="0" noProof="0" dirty="0">
                <a:ln>
                  <a:noFill/>
                </a:ln>
                <a:solidFill>
                  <a:srgbClr val="002060"/>
                </a:solidFill>
                <a:effectLst/>
                <a:uLnTx/>
                <a:uFillTx/>
                <a:latin typeface="Calibri" panose="020F0502020204030204" pitchFamily="34" charset="0"/>
                <a:ea typeface="標楷體" pitchFamily="65" charset="-120"/>
                <a:cs typeface="+mn-cs"/>
              </a:rPr>
              <a:t>RISC-V Instruction Set Architecture</a:t>
            </a:r>
            <a:br>
              <a:rPr kumimoji="1" lang="en-US" altLang="zh-TW" sz="3600" b="0" i="0" u="none" strike="noStrike" kern="0" cap="none" spc="0" normalizeH="0" baseline="0" noProof="0" dirty="0">
                <a:ln>
                  <a:noFill/>
                </a:ln>
                <a:solidFill>
                  <a:srgbClr val="002060"/>
                </a:solidFill>
                <a:effectLst/>
                <a:uLnTx/>
                <a:uFillTx/>
                <a:latin typeface="Calibri" panose="020F0502020204030204" pitchFamily="34" charset="0"/>
                <a:ea typeface="標楷體" pitchFamily="65" charset="-120"/>
                <a:cs typeface="+mn-cs"/>
              </a:rPr>
            </a:br>
            <a:br>
              <a:rPr kumimoji="1" lang="en-US" altLang="zh-TW" sz="2800" b="0" i="0" u="none" strike="noStrike" kern="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pitchFamily="34" charset="0"/>
                <a:ea typeface="標楷體" pitchFamily="65" charset="-120"/>
                <a:cs typeface="+mn-cs"/>
              </a:rPr>
            </a:b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944950" y="4185126"/>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Assembly Language Instructions</a:t>
            </a:r>
          </a:p>
        </p:txBody>
      </p:sp>
      <p:sp>
        <p:nvSpPr>
          <p:cNvPr id="3" name="Content Placeholder 2"/>
          <p:cNvSpPr>
            <a:spLocks noGrp="1"/>
          </p:cNvSpPr>
          <p:nvPr>
            <p:ph idx="1"/>
          </p:nvPr>
        </p:nvSpPr>
        <p:spPr>
          <a:xfrm>
            <a:off x="372533" y="1049919"/>
            <a:ext cx="11580284" cy="5190861"/>
          </a:xfrm>
        </p:spPr>
        <p:txBody>
          <a:bodyPr>
            <a:noAutofit/>
          </a:bodyPr>
          <a:lstStyle/>
          <a:p>
            <a:r>
              <a:rPr lang="en-US" dirty="0"/>
              <a:t>The language of the machine</a:t>
            </a:r>
          </a:p>
          <a:p>
            <a:pPr lvl="1"/>
            <a:r>
              <a:rPr lang="en-US" dirty="0"/>
              <a:t>Want an ISA that makes it easy to build the </a:t>
            </a:r>
            <a:r>
              <a:rPr lang="en-US" b="1" dirty="0">
                <a:solidFill>
                  <a:schemeClr val="accent1"/>
                </a:solidFill>
              </a:rPr>
              <a:t>hardware</a:t>
            </a:r>
            <a:r>
              <a:rPr lang="en-US" dirty="0">
                <a:solidFill>
                  <a:schemeClr val="accent1"/>
                </a:solidFill>
              </a:rPr>
              <a:t> </a:t>
            </a:r>
            <a:r>
              <a:rPr lang="en-US" dirty="0"/>
              <a:t>and the </a:t>
            </a:r>
            <a:r>
              <a:rPr lang="en-US" b="1" dirty="0">
                <a:solidFill>
                  <a:schemeClr val="accent1"/>
                </a:solidFill>
              </a:rPr>
              <a:t>compiler</a:t>
            </a:r>
            <a:r>
              <a:rPr lang="en-US" dirty="0">
                <a:solidFill>
                  <a:schemeClr val="accent1"/>
                </a:solidFill>
              </a:rPr>
              <a:t> </a:t>
            </a:r>
          </a:p>
          <a:p>
            <a:r>
              <a:rPr lang="en-US" dirty="0"/>
              <a:t>Our focus: the </a:t>
            </a:r>
            <a:r>
              <a:rPr lang="en-US" b="1" dirty="0">
                <a:solidFill>
                  <a:schemeClr val="accent1"/>
                </a:solidFill>
              </a:rPr>
              <a:t>RISC-V ISA (or RV in short)</a:t>
            </a:r>
          </a:p>
          <a:p>
            <a:r>
              <a:rPr lang="en-US" dirty="0"/>
              <a:t>Design Goals:</a:t>
            </a:r>
          </a:p>
          <a:p>
            <a:pPr lvl="1"/>
            <a:r>
              <a:rPr lang="en-US" dirty="0"/>
              <a:t>Maximize </a:t>
            </a:r>
            <a:r>
              <a:rPr lang="en-US" b="1" dirty="0">
                <a:solidFill>
                  <a:schemeClr val="accent1"/>
                </a:solidFill>
              </a:rPr>
              <a:t>performance</a:t>
            </a:r>
            <a:r>
              <a:rPr lang="en-US" dirty="0"/>
              <a:t>, minimize </a:t>
            </a:r>
            <a:r>
              <a:rPr lang="en-US" b="1" dirty="0">
                <a:solidFill>
                  <a:schemeClr val="accent1"/>
                </a:solidFill>
              </a:rPr>
              <a:t>cost</a:t>
            </a:r>
            <a:r>
              <a:rPr lang="en-US" dirty="0"/>
              <a:t>, reduce design time (</a:t>
            </a:r>
            <a:r>
              <a:rPr lang="en-US" b="1" dirty="0">
                <a:solidFill>
                  <a:schemeClr val="accent1"/>
                </a:solidFill>
              </a:rPr>
              <a:t>time-to-market</a:t>
            </a:r>
            <a:r>
              <a:rPr lang="en-US" dirty="0"/>
              <a:t>), minimize </a:t>
            </a:r>
            <a:r>
              <a:rPr lang="en-US" b="1" dirty="0">
                <a:solidFill>
                  <a:schemeClr val="accent1"/>
                </a:solidFill>
              </a:rPr>
              <a:t>memory space</a:t>
            </a:r>
            <a:r>
              <a:rPr lang="en-US" dirty="0"/>
              <a:t> (embedded systems), and minimize </a:t>
            </a:r>
            <a:r>
              <a:rPr lang="en-US" b="1" dirty="0">
                <a:solidFill>
                  <a:schemeClr val="accent1"/>
                </a:solidFill>
              </a:rPr>
              <a:t>power consumption</a:t>
            </a:r>
            <a:r>
              <a:rPr lang="en-US" dirty="0"/>
              <a:t> (mobile systems).</a:t>
            </a:r>
          </a:p>
          <a:p>
            <a:pPr lvl="1"/>
            <a:r>
              <a:rPr lang="en-US" dirty="0"/>
              <a:t>ISA should be </a:t>
            </a:r>
            <a:r>
              <a:rPr lang="en-US" b="1" dirty="0">
                <a:solidFill>
                  <a:schemeClr val="accent1"/>
                </a:solidFill>
              </a:rPr>
              <a:t>scalable,</a:t>
            </a:r>
            <a:r>
              <a:rPr lang="en-US" dirty="0"/>
              <a:t> </a:t>
            </a:r>
            <a:r>
              <a:rPr lang="en-US" b="1" dirty="0">
                <a:solidFill>
                  <a:schemeClr val="accent1"/>
                </a:solidFill>
              </a:rPr>
              <a:t>flexible, </a:t>
            </a:r>
            <a:r>
              <a:rPr lang="en-US" dirty="0"/>
              <a:t>and</a:t>
            </a:r>
            <a:r>
              <a:rPr lang="en-US" b="1" dirty="0">
                <a:solidFill>
                  <a:schemeClr val="accent1"/>
                </a:solidFill>
              </a:rPr>
              <a:t> extensible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RISC-V, MIPS, Sun SPARC, HP PA-RISC, IBM PowerPC, ARM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RISC – Reduced Instruction Set Computer</a:t>
            </a:r>
          </a:p>
        </p:txBody>
      </p:sp>
      <p:sp>
        <p:nvSpPr>
          <p:cNvPr id="3" name="Content Placeholder 2"/>
          <p:cNvSpPr>
            <a:spLocks noGrp="1"/>
          </p:cNvSpPr>
          <p:nvPr>
            <p:ph idx="1"/>
          </p:nvPr>
        </p:nvSpPr>
        <p:spPr>
          <a:xfrm>
            <a:off x="1331054" y="1125537"/>
            <a:ext cx="9831897" cy="4895851"/>
          </a:xfrm>
        </p:spPr>
        <p:txBody>
          <a:bodyPr/>
          <a:lstStyle/>
          <a:p>
            <a:r>
              <a:rPr lang="en-US" sz="3200" dirty="0"/>
              <a:t>RISC Philosophy</a:t>
            </a:r>
          </a:p>
          <a:p>
            <a:pPr lvl="1"/>
            <a:r>
              <a:rPr lang="en-US" dirty="0"/>
              <a:t>fixed instruction lengths</a:t>
            </a:r>
          </a:p>
          <a:p>
            <a:pPr lvl="1"/>
            <a:r>
              <a:rPr lang="en-US" dirty="0"/>
              <a:t>load-store instruction sets</a:t>
            </a:r>
          </a:p>
          <a:p>
            <a:pPr lvl="1"/>
            <a:r>
              <a:rPr lang="en-US" dirty="0"/>
              <a:t>limited number of addressing modes</a:t>
            </a:r>
          </a:p>
          <a:p>
            <a:pPr lvl="1"/>
            <a:r>
              <a:rPr lang="en-US" dirty="0">
                <a:solidFill>
                  <a:srgbClr val="FF0000"/>
                </a:solidFill>
              </a:rPr>
              <a:t>small </a:t>
            </a:r>
            <a:r>
              <a:rPr lang="en-US" dirty="0"/>
              <a:t>number of </a:t>
            </a:r>
            <a:r>
              <a:rPr lang="en-US" dirty="0">
                <a:solidFill>
                  <a:srgbClr val="FF0000"/>
                </a:solidFill>
              </a:rPr>
              <a:t>simple</a:t>
            </a:r>
            <a:r>
              <a:rPr lang="en-US" dirty="0"/>
              <a:t> operations</a:t>
            </a:r>
          </a:p>
          <a:p>
            <a:pPr lvl="1"/>
            <a:r>
              <a:rPr lang="en-US" dirty="0"/>
              <a:t>easier for pipelined implementation</a:t>
            </a:r>
          </a:p>
          <a:p>
            <a:r>
              <a:rPr lang="en-US" sz="3200" dirty="0"/>
              <a:t>Instruction sets are measured by how well </a:t>
            </a:r>
            <a:r>
              <a:rPr lang="en-US" sz="3200" dirty="0">
                <a:solidFill>
                  <a:srgbClr val="FF0000"/>
                </a:solidFill>
              </a:rPr>
              <a:t>compilers</a:t>
            </a:r>
            <a:r>
              <a:rPr lang="en-US" sz="3200" dirty="0"/>
              <a:t> use them as opposed to how well </a:t>
            </a:r>
            <a:r>
              <a:rPr lang="en-US" sz="3200" dirty="0">
                <a:solidFill>
                  <a:srgbClr val="FF0000"/>
                </a:solidFill>
              </a:rPr>
              <a:t>assembly language programmers</a:t>
            </a:r>
            <a:r>
              <a:rPr lang="en-US" sz="3200" dirty="0"/>
              <a:t> use them.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RISC – Reduced Instruction Set Computer</a:t>
            </a:r>
          </a:p>
        </p:txBody>
      </p:sp>
      <p:sp>
        <p:nvSpPr>
          <p:cNvPr id="3" name="Content Placeholder 2"/>
          <p:cNvSpPr>
            <a:spLocks noGrp="1"/>
          </p:cNvSpPr>
          <p:nvPr>
            <p:ph idx="1"/>
          </p:nvPr>
        </p:nvSpPr>
        <p:spPr>
          <a:xfrm>
            <a:off x="1331054" y="1125537"/>
            <a:ext cx="9831897" cy="4895851"/>
          </a:xfrm>
        </p:spPr>
        <p:txBody>
          <a:bodyPr/>
          <a:lstStyle/>
          <a:p>
            <a:r>
              <a:rPr lang="en-US" sz="3200" dirty="0"/>
              <a:t>RISC Philosophy</a:t>
            </a:r>
          </a:p>
          <a:p>
            <a:pPr lvl="1"/>
            <a:r>
              <a:rPr lang="en-US" dirty="0"/>
              <a:t>fixed instruction lengths</a:t>
            </a:r>
          </a:p>
          <a:p>
            <a:pPr lvl="1"/>
            <a:r>
              <a:rPr lang="en-US" dirty="0"/>
              <a:t>load-store instruction sets</a:t>
            </a:r>
          </a:p>
          <a:p>
            <a:pPr lvl="1"/>
            <a:r>
              <a:rPr lang="en-US" dirty="0"/>
              <a:t>limited number of addressing modes</a:t>
            </a:r>
          </a:p>
          <a:p>
            <a:pPr lvl="1"/>
            <a:r>
              <a:rPr lang="en-US" dirty="0">
                <a:solidFill>
                  <a:srgbClr val="FF0000"/>
                </a:solidFill>
              </a:rPr>
              <a:t>small </a:t>
            </a:r>
            <a:r>
              <a:rPr lang="en-US" dirty="0"/>
              <a:t>number of </a:t>
            </a:r>
            <a:r>
              <a:rPr lang="en-US" dirty="0">
                <a:solidFill>
                  <a:srgbClr val="FF0000"/>
                </a:solidFill>
              </a:rPr>
              <a:t>simple</a:t>
            </a:r>
            <a:r>
              <a:rPr lang="en-US" dirty="0"/>
              <a:t> operations</a:t>
            </a:r>
          </a:p>
          <a:p>
            <a:pPr lvl="1"/>
            <a:r>
              <a:rPr lang="en-US" dirty="0"/>
              <a:t>easier for pipelined implementation</a:t>
            </a:r>
          </a:p>
          <a:p>
            <a:r>
              <a:rPr lang="en-US" sz="3200" dirty="0"/>
              <a:t>Instruction sets are measured by how well </a:t>
            </a:r>
            <a:r>
              <a:rPr lang="en-US" sz="3200" dirty="0">
                <a:solidFill>
                  <a:srgbClr val="FF0000"/>
                </a:solidFill>
              </a:rPr>
              <a:t>compilers</a:t>
            </a:r>
            <a:r>
              <a:rPr lang="en-US" sz="3200" dirty="0"/>
              <a:t> use them as opposed to how well </a:t>
            </a:r>
            <a:r>
              <a:rPr lang="en-US" sz="3200" dirty="0">
                <a:solidFill>
                  <a:srgbClr val="FF0000"/>
                </a:solidFill>
              </a:rPr>
              <a:t>assembly language programmers</a:t>
            </a:r>
            <a:r>
              <a:rPr lang="en-US" sz="3200" dirty="0"/>
              <a:t> use them.</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5</a:t>
            </a:fld>
            <a:endParaRPr lang="zh-TW" altLang="en-US"/>
          </a:p>
        </p:txBody>
      </p:sp>
      <p:sp>
        <p:nvSpPr>
          <p:cNvPr id="4" name="TextBox 3">
            <a:extLst>
              <a:ext uri="{FF2B5EF4-FFF2-40B4-BE49-F238E27FC236}">
                <a16:creationId xmlns:a16="http://schemas.microsoft.com/office/drawing/2014/main" id="{76FBB006-603A-41B4-BEDF-0595A672510E}"/>
              </a:ext>
            </a:extLst>
          </p:cNvPr>
          <p:cNvSpPr txBox="1"/>
          <p:nvPr/>
        </p:nvSpPr>
        <p:spPr>
          <a:xfrm>
            <a:off x="6779098" y="1248460"/>
            <a:ext cx="4788490"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Most machines, including RISCs, have more </a:t>
            </a:r>
          </a:p>
          <a:p>
            <a:r>
              <a:rPr lang="en-US" dirty="0">
                <a:ea typeface="標楷體" pitchFamily="65" charset="-120"/>
                <a:cs typeface="Calibri" pitchFamily="34" charset="0"/>
              </a:rPr>
              <a:t>than one size instructions</a:t>
            </a:r>
          </a:p>
        </p:txBody>
      </p:sp>
      <p:cxnSp>
        <p:nvCxnSpPr>
          <p:cNvPr id="7" name="Straight Arrow Connector 6">
            <a:extLst>
              <a:ext uri="{FF2B5EF4-FFF2-40B4-BE49-F238E27FC236}">
                <a16:creationId xmlns:a16="http://schemas.microsoft.com/office/drawing/2014/main" id="{DCE1165C-10AA-4A4E-B76B-47DACE30118B}"/>
              </a:ext>
            </a:extLst>
          </p:cNvPr>
          <p:cNvCxnSpPr/>
          <p:nvPr/>
        </p:nvCxnSpPr>
        <p:spPr bwMode="auto">
          <a:xfrm flipH="1">
            <a:off x="6172200" y="1571625"/>
            <a:ext cx="600075" cy="352425"/>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054D149E-DEEA-4FC0-822B-530A37E9A56A}"/>
              </a:ext>
            </a:extLst>
          </p:cNvPr>
          <p:cNvSpPr txBox="1"/>
          <p:nvPr/>
        </p:nvSpPr>
        <p:spPr>
          <a:xfrm>
            <a:off x="6702898" y="2959334"/>
            <a:ext cx="5558060"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To support AI/ML/DL/LLM, fast matrix multiplications </a:t>
            </a:r>
          </a:p>
          <a:p>
            <a:r>
              <a:rPr lang="en-US" dirty="0">
                <a:ea typeface="標楷體" pitchFamily="65" charset="-120"/>
                <a:cs typeface="Calibri" pitchFamily="34" charset="0"/>
              </a:rPr>
              <a:t>are important, such new instructions are not simple.</a:t>
            </a:r>
          </a:p>
        </p:txBody>
      </p:sp>
      <p:cxnSp>
        <p:nvCxnSpPr>
          <p:cNvPr id="9" name="Straight Arrow Connector 8">
            <a:extLst>
              <a:ext uri="{FF2B5EF4-FFF2-40B4-BE49-F238E27FC236}">
                <a16:creationId xmlns:a16="http://schemas.microsoft.com/office/drawing/2014/main" id="{5C602482-8313-4B22-8F5B-FABE2681FBA9}"/>
              </a:ext>
            </a:extLst>
          </p:cNvPr>
          <p:cNvCxnSpPr/>
          <p:nvPr/>
        </p:nvCxnSpPr>
        <p:spPr bwMode="auto">
          <a:xfrm flipH="1">
            <a:off x="6096000" y="3282499"/>
            <a:ext cx="600075" cy="35242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05551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CISC vs. RISC</a:t>
            </a:r>
          </a:p>
        </p:txBody>
      </p:sp>
      <p:sp>
        <p:nvSpPr>
          <p:cNvPr id="3" name="Content Placeholder 2"/>
          <p:cNvSpPr>
            <a:spLocks noGrp="1"/>
          </p:cNvSpPr>
          <p:nvPr>
            <p:ph idx="1"/>
          </p:nvPr>
        </p:nvSpPr>
        <p:spPr>
          <a:xfrm>
            <a:off x="706363" y="1125537"/>
            <a:ext cx="10861224" cy="4895851"/>
          </a:xfrm>
        </p:spPr>
        <p:txBody>
          <a:bodyPr/>
          <a:lstStyle/>
          <a:p>
            <a:r>
              <a:rPr lang="en-US" sz="3200" b="1" dirty="0">
                <a:solidFill>
                  <a:schemeClr val="accent1"/>
                </a:solidFill>
              </a:rPr>
              <a:t>Complex Instruction Set Computer</a:t>
            </a:r>
            <a:r>
              <a:rPr lang="en-US" sz="3200" dirty="0"/>
              <a:t> (</a:t>
            </a:r>
            <a:r>
              <a:rPr lang="en-US" sz="3200" b="1" dirty="0">
                <a:solidFill>
                  <a:schemeClr val="accent1"/>
                </a:solidFill>
              </a:rPr>
              <a:t>CISC</a:t>
            </a:r>
            <a:r>
              <a:rPr lang="en-US" sz="3200" dirty="0"/>
              <a:t>)</a:t>
            </a:r>
          </a:p>
          <a:p>
            <a:pPr lvl="1"/>
            <a:r>
              <a:rPr lang="en-US" sz="2400" dirty="0"/>
              <a:t>Implement complex instruction directly by hardware (horizontal micro-code vs vertical micro-code)</a:t>
            </a:r>
          </a:p>
          <a:p>
            <a:pPr lvl="1"/>
            <a:r>
              <a:rPr lang="en-US" sz="2400" dirty="0"/>
              <a:t>Lots of instructions of variable size, optimized for memory size, typically fewer registers. (require large micro-store size) </a:t>
            </a:r>
          </a:p>
          <a:p>
            <a:pPr lvl="1"/>
            <a:r>
              <a:rPr lang="en-US" sz="2400" dirty="0"/>
              <a:t>E.g. IBM 360, Intel x86, DEC VAX. Dominant before 80’s</a:t>
            </a:r>
          </a:p>
          <a:p>
            <a:r>
              <a:rPr lang="en-US" sz="3200" b="1" dirty="0">
                <a:solidFill>
                  <a:schemeClr val="accent1"/>
                </a:solidFill>
              </a:rPr>
              <a:t>Reduced Instruction Set Computer </a:t>
            </a:r>
            <a:r>
              <a:rPr lang="en-US" sz="3200" dirty="0"/>
              <a:t>(</a:t>
            </a:r>
            <a:r>
              <a:rPr lang="en-US" sz="3200" b="1" dirty="0">
                <a:solidFill>
                  <a:schemeClr val="accent1"/>
                </a:solidFill>
              </a:rPr>
              <a:t>RISC</a:t>
            </a:r>
            <a:r>
              <a:rPr lang="en-US" sz="3200" dirty="0"/>
              <a:t>)</a:t>
            </a:r>
          </a:p>
          <a:p>
            <a:pPr lvl="1"/>
            <a:r>
              <a:rPr lang="en-US" sz="2400" dirty="0"/>
              <a:t>Fixed size instructions, more registers, optimized for pipelined implementation.</a:t>
            </a:r>
          </a:p>
          <a:p>
            <a:pPr lvl="1"/>
            <a:r>
              <a:rPr lang="en-US" sz="2400" dirty="0"/>
              <a:t>Usually called a “Load/store” architecture, only load/store instructions access memory.</a:t>
            </a:r>
          </a:p>
          <a:p>
            <a:pPr lvl="1"/>
            <a:r>
              <a:rPr lang="en-US" sz="2400" dirty="0"/>
              <a:t>RISC, MIPS, Sun SPARC, HP PA-RISC, IBM PowerPC</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6</a:t>
            </a:fld>
            <a:endParaRPr lang="zh-TW" altLang="en-US"/>
          </a:p>
        </p:txBody>
      </p:sp>
      <p:sp>
        <p:nvSpPr>
          <p:cNvPr id="5" name="TextBox 4">
            <a:extLst>
              <a:ext uri="{FF2B5EF4-FFF2-40B4-BE49-F238E27FC236}">
                <a16:creationId xmlns:a16="http://schemas.microsoft.com/office/drawing/2014/main" id="{18FD62CB-9124-4853-8D41-C229B1D2C134}"/>
              </a:ext>
            </a:extLst>
          </p:cNvPr>
          <p:cNvSpPr txBox="1"/>
          <p:nvPr/>
        </p:nvSpPr>
        <p:spPr>
          <a:xfrm>
            <a:off x="1862945" y="2305616"/>
            <a:ext cx="8098692" cy="2246769"/>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502020204030204" pitchFamily="34" charset="0"/>
              </a:rPr>
              <a:t>Key trade-off</a:t>
            </a:r>
          </a:p>
          <a:p>
            <a:endParaRPr lang="en-US" sz="2800" dirty="0">
              <a:ea typeface="標楷體" pitchFamily="65" charset="-120"/>
              <a:cs typeface="Calibri" panose="020F0502020204030204" pitchFamily="34" charset="0"/>
            </a:endParaRPr>
          </a:p>
          <a:p>
            <a:r>
              <a:rPr lang="en-US" sz="2800" dirty="0">
                <a:ea typeface="標楷體" pitchFamily="65" charset="-120"/>
                <a:cs typeface="Calibri" panose="020F0502020204030204" pitchFamily="34" charset="0"/>
              </a:rPr>
              <a:t>CISC: More complex Hardware, simpler Software</a:t>
            </a:r>
          </a:p>
          <a:p>
            <a:endParaRPr lang="en-US" sz="2800" dirty="0">
              <a:ea typeface="標楷體" pitchFamily="65" charset="-120"/>
              <a:cs typeface="Calibri" panose="020F0502020204030204" pitchFamily="34" charset="0"/>
            </a:endParaRPr>
          </a:p>
          <a:p>
            <a:r>
              <a:rPr lang="en-US" sz="2800" dirty="0">
                <a:ea typeface="標楷體" pitchFamily="65" charset="-120"/>
                <a:cs typeface="Calibri" panose="020F0502020204030204" pitchFamily="34" charset="0"/>
              </a:rPr>
              <a:t>RISC: Simpler Hardware, more complex Software</a:t>
            </a:r>
          </a:p>
        </p:txBody>
      </p:sp>
    </p:spTree>
    <p:extLst>
      <p:ext uri="{BB962C8B-B14F-4D97-AF65-F5344CB8AC3E}">
        <p14:creationId xmlns:p14="http://schemas.microsoft.com/office/powerpoint/2010/main" val="1861825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RISC Design Principles</a:t>
            </a:r>
          </a:p>
        </p:txBody>
      </p:sp>
      <p:sp>
        <p:nvSpPr>
          <p:cNvPr id="3" name="Content Placeholder 2"/>
          <p:cNvSpPr>
            <a:spLocks noGrp="1"/>
          </p:cNvSpPr>
          <p:nvPr>
            <p:ph idx="1"/>
          </p:nvPr>
        </p:nvSpPr>
        <p:spPr>
          <a:xfrm>
            <a:off x="1342239" y="1004711"/>
            <a:ext cx="10517721" cy="5136445"/>
          </a:xfrm>
        </p:spPr>
        <p:txBody>
          <a:bodyPr>
            <a:noAutofit/>
          </a:bodyPr>
          <a:lstStyle/>
          <a:p>
            <a:r>
              <a:rPr lang="en-US" sz="2667" b="1" dirty="0">
                <a:solidFill>
                  <a:srgbClr val="FF0000"/>
                </a:solidFill>
              </a:rPr>
              <a:t>Simplicity</a:t>
            </a:r>
            <a:r>
              <a:rPr lang="en-US" sz="2667" b="1" dirty="0">
                <a:solidFill>
                  <a:schemeClr val="accent1"/>
                </a:solidFill>
              </a:rPr>
              <a:t> favors regularity</a:t>
            </a:r>
          </a:p>
          <a:p>
            <a:pPr lvl="1"/>
            <a:r>
              <a:rPr lang="en-US" sz="1867" dirty="0"/>
              <a:t>Fixed size instructions</a:t>
            </a:r>
          </a:p>
          <a:p>
            <a:pPr lvl="1"/>
            <a:r>
              <a:rPr lang="en-US" sz="1867" dirty="0"/>
              <a:t>Small number of instruction formats</a:t>
            </a:r>
          </a:p>
          <a:p>
            <a:pPr lvl="1"/>
            <a:r>
              <a:rPr lang="en-US" sz="1867" dirty="0"/>
              <a:t>Opcode always the first several bits</a:t>
            </a:r>
          </a:p>
          <a:p>
            <a:r>
              <a:rPr lang="en-US" sz="2667" b="1" dirty="0">
                <a:solidFill>
                  <a:srgbClr val="FF0000"/>
                </a:solidFill>
              </a:rPr>
              <a:t>Smaller</a:t>
            </a:r>
            <a:r>
              <a:rPr lang="en-US" sz="2667" b="1" dirty="0">
                <a:solidFill>
                  <a:schemeClr val="accent1"/>
                </a:solidFill>
              </a:rPr>
              <a:t> is faster</a:t>
            </a:r>
          </a:p>
          <a:p>
            <a:pPr lvl="1"/>
            <a:r>
              <a:rPr lang="en-US" sz="1867" dirty="0"/>
              <a:t>Limited instruction set</a:t>
            </a:r>
          </a:p>
          <a:p>
            <a:pPr lvl="1"/>
            <a:r>
              <a:rPr lang="en-US" sz="1867" dirty="0"/>
              <a:t>Limited number of registers</a:t>
            </a:r>
          </a:p>
          <a:p>
            <a:pPr lvl="1"/>
            <a:r>
              <a:rPr lang="en-US" sz="1867" dirty="0"/>
              <a:t>Limited number of addressing modes</a:t>
            </a:r>
          </a:p>
          <a:p>
            <a:r>
              <a:rPr lang="en-US" sz="2667" b="1" dirty="0">
                <a:solidFill>
                  <a:schemeClr val="accent1"/>
                </a:solidFill>
              </a:rPr>
              <a:t>Make the </a:t>
            </a:r>
            <a:r>
              <a:rPr lang="en-US" sz="2667" b="1" dirty="0">
                <a:solidFill>
                  <a:srgbClr val="FF0000"/>
                </a:solidFill>
              </a:rPr>
              <a:t>common case </a:t>
            </a:r>
            <a:r>
              <a:rPr lang="en-US" sz="2667" b="1" dirty="0">
                <a:solidFill>
                  <a:schemeClr val="accent1"/>
                </a:solidFill>
              </a:rPr>
              <a:t>fast</a:t>
            </a:r>
          </a:p>
          <a:p>
            <a:pPr lvl="1"/>
            <a:r>
              <a:rPr lang="en-US" sz="1867" dirty="0"/>
              <a:t>Arithmetic operands from the registers (load-store machine)</a:t>
            </a:r>
          </a:p>
          <a:p>
            <a:pPr lvl="1"/>
            <a:r>
              <a:rPr lang="en-US" sz="1867" dirty="0"/>
              <a:t>Allow instructions to contain immediate operands</a:t>
            </a:r>
          </a:p>
          <a:p>
            <a:r>
              <a:rPr lang="en-US" sz="2667" b="1" dirty="0">
                <a:solidFill>
                  <a:schemeClr val="accent1"/>
                </a:solidFill>
              </a:rPr>
              <a:t>Good design demands good </a:t>
            </a:r>
            <a:r>
              <a:rPr lang="en-US" sz="2667" b="1" dirty="0">
                <a:solidFill>
                  <a:srgbClr val="FF0000"/>
                </a:solidFill>
              </a:rPr>
              <a:t>compromises</a:t>
            </a:r>
          </a:p>
          <a:p>
            <a:pPr lvl="1"/>
            <a:r>
              <a:rPr lang="en-US" sz="1867" dirty="0"/>
              <a:t>Instruction format and number of operands supported.</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7</a:t>
            </a:fld>
            <a:endParaRPr lang="zh-TW" altLang="en-US"/>
          </a:p>
        </p:txBody>
      </p:sp>
      <p:sp>
        <p:nvSpPr>
          <p:cNvPr id="7" name="TextBox 6">
            <a:extLst>
              <a:ext uri="{FF2B5EF4-FFF2-40B4-BE49-F238E27FC236}">
                <a16:creationId xmlns:a16="http://schemas.microsoft.com/office/drawing/2014/main" id="{11CA0072-B99E-47C6-8217-B1355BCCE2BB}"/>
              </a:ext>
            </a:extLst>
          </p:cNvPr>
          <p:cNvSpPr txBox="1"/>
          <p:nvPr/>
        </p:nvSpPr>
        <p:spPr>
          <a:xfrm>
            <a:off x="7194903" y="1374371"/>
            <a:ext cx="4304114" cy="892552"/>
          </a:xfrm>
          <a:prstGeom prst="rect">
            <a:avLst/>
          </a:prstGeom>
          <a:noFill/>
        </p:spPr>
        <p:txBody>
          <a:bodyPr wrap="square" rtlCol="0" anchor="ctr" anchorCtr="1">
            <a:spAutoFit/>
          </a:bodyPr>
          <a:lstStyle/>
          <a:p>
            <a:r>
              <a:rPr lang="en-US" sz="2800" dirty="0">
                <a:solidFill>
                  <a:srgbClr val="FF0000"/>
                </a:solidFill>
                <a:ea typeface="標楷體" pitchFamily="65" charset="-120"/>
                <a:cs typeface="Calibri" pitchFamily="34" charset="0"/>
              </a:rPr>
              <a:t>KISS</a:t>
            </a:r>
            <a:r>
              <a:rPr lang="en-US" sz="2800" dirty="0">
                <a:ea typeface="標楷體" pitchFamily="65" charset="-120"/>
                <a:cs typeface="Calibri" pitchFamily="34" charset="0"/>
              </a:rPr>
              <a:t> </a:t>
            </a:r>
            <a:r>
              <a:rPr lang="en-US" sz="2400" dirty="0">
                <a:ea typeface="標楷體" pitchFamily="65" charset="-120"/>
                <a:cs typeface="Calibri" pitchFamily="34" charset="0"/>
              </a:rPr>
              <a:t>Principle:</a:t>
            </a:r>
          </a:p>
          <a:p>
            <a:r>
              <a:rPr lang="en-US" sz="2400" dirty="0">
                <a:ea typeface="標楷體" pitchFamily="65" charset="-120"/>
                <a:cs typeface="Calibri" pitchFamily="34" charset="0"/>
              </a:rPr>
              <a:t>Keep It Simple! Stupid!</a:t>
            </a:r>
          </a:p>
        </p:txBody>
      </p:sp>
      <p:sp>
        <p:nvSpPr>
          <p:cNvPr id="8" name="TextBox 7">
            <a:extLst>
              <a:ext uri="{FF2B5EF4-FFF2-40B4-BE49-F238E27FC236}">
                <a16:creationId xmlns:a16="http://schemas.microsoft.com/office/drawing/2014/main" id="{AD7DF1C2-CC6D-4E0C-A524-F3809545B715}"/>
              </a:ext>
            </a:extLst>
          </p:cNvPr>
          <p:cNvSpPr txBox="1"/>
          <p:nvPr/>
        </p:nvSpPr>
        <p:spPr>
          <a:xfrm>
            <a:off x="7648703" y="2649602"/>
            <a:ext cx="4304114" cy="1846659"/>
          </a:xfrm>
          <a:prstGeom prst="rect">
            <a:avLst/>
          </a:prstGeom>
          <a:noFill/>
        </p:spPr>
        <p:txBody>
          <a:bodyPr wrap="square" rtlCol="0" anchor="ctr" anchorCtr="1">
            <a:spAutoFit/>
          </a:bodyPr>
          <a:lstStyle/>
          <a:p>
            <a:r>
              <a:rPr lang="en-US" dirty="0"/>
              <a:t>“You can please some of the people all of the time, you can please all of the people some of the time, but you can’t please all of the people all of the time.”</a:t>
            </a:r>
          </a:p>
          <a:p>
            <a:r>
              <a:rPr lang="en-US" sz="2400" i="1" dirty="0">
                <a:ea typeface="標楷體" pitchFamily="65" charset="-120"/>
                <a:cs typeface="Calibri" pitchFamily="34" charset="0"/>
              </a:rPr>
              <a:t>Tradeoff unavoidable!!</a:t>
            </a:r>
          </a:p>
          <a:p>
            <a:r>
              <a:rPr lang="en-US" sz="1600" i="1" dirty="0">
                <a:ea typeface="標楷體" pitchFamily="65" charset="-120"/>
                <a:cs typeface="Calibri" pitchFamily="34" charset="0"/>
              </a:rPr>
              <a:t>Quote from Lincoln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RISC-V</a:t>
            </a:r>
          </a:p>
        </p:txBody>
      </p:sp>
      <p:sp>
        <p:nvSpPr>
          <p:cNvPr id="3" name="Content Placeholder 2"/>
          <p:cNvSpPr>
            <a:spLocks noGrp="1"/>
          </p:cNvSpPr>
          <p:nvPr>
            <p:ph idx="1"/>
          </p:nvPr>
        </p:nvSpPr>
        <p:spPr>
          <a:xfrm>
            <a:off x="1357388" y="1083169"/>
            <a:ext cx="9985063" cy="5027748"/>
          </a:xfrm>
        </p:spPr>
        <p:txBody>
          <a:bodyPr/>
          <a:lstStyle/>
          <a:p>
            <a:r>
              <a:rPr lang="en-US" sz="2400" dirty="0"/>
              <a:t>The new, open standard, license/royalty-free ISA </a:t>
            </a:r>
          </a:p>
          <a:p>
            <a:r>
              <a:rPr lang="en-US" sz="2400" dirty="0"/>
              <a:t>Several variants of RV </a:t>
            </a:r>
          </a:p>
          <a:p>
            <a:pPr lvl="1"/>
            <a:r>
              <a:rPr lang="en-US" sz="2000" dirty="0"/>
              <a:t>RV32, RV64, RV128 – Different data widths (addressing capability)</a:t>
            </a:r>
          </a:p>
          <a:p>
            <a:pPr lvl="1"/>
            <a:r>
              <a:rPr lang="en-US" sz="2000" dirty="0"/>
              <a:t>‘I’ – Base Integer instructions, ‘E’ – Base for embedded systems (e.g. only 16 regs)</a:t>
            </a:r>
          </a:p>
          <a:p>
            <a:pPr lvl="1"/>
            <a:r>
              <a:rPr lang="en-US" sz="2000" dirty="0"/>
              <a:t>‘M’ – Multiply and Divide, ‘A’ – Atomic memory instructions</a:t>
            </a:r>
          </a:p>
          <a:p>
            <a:pPr lvl="1"/>
            <a:r>
              <a:rPr lang="en-US" sz="2000" dirty="0"/>
              <a:t>‘C’ – Compressed extension, with 16b instructions</a:t>
            </a:r>
          </a:p>
          <a:p>
            <a:pPr lvl="1"/>
            <a:r>
              <a:rPr lang="en-US" sz="2000" dirty="0"/>
              <a:t>‘F’ and ‘D’ – Single and Double precision floating point</a:t>
            </a:r>
          </a:p>
          <a:p>
            <a:pPr lvl="1"/>
            <a:r>
              <a:rPr lang="en-US" sz="2000" dirty="0"/>
              <a:t>‘V’ – Vector extension</a:t>
            </a:r>
          </a:p>
          <a:p>
            <a:pPr lvl="1"/>
            <a:r>
              <a:rPr lang="en-US" sz="2000" dirty="0"/>
              <a:t>And many other modular extensions</a:t>
            </a:r>
          </a:p>
          <a:p>
            <a:r>
              <a:rPr lang="en-US" sz="2400" i="1" dirty="0"/>
              <a:t>We will design a pipelined RV32I processor simulator (Project#3) with a cache simulator </a:t>
            </a:r>
            <a:r>
              <a:rPr lang="en-US" sz="2400" dirty="0"/>
              <a:t>(project #4).</a:t>
            </a:r>
          </a:p>
          <a:p>
            <a:r>
              <a:rPr lang="en-US" sz="2400" dirty="0"/>
              <a:t>The abbreviation letters following RV must follow the defined order</a:t>
            </a:r>
          </a:p>
          <a:p>
            <a:pPr lvl="1"/>
            <a:r>
              <a:rPr lang="en-US" sz="1867" dirty="0"/>
              <a:t>Base Implementation (I or E), Standard extensions, more Standard ext., Non-standard ext.</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8</a:t>
            </a:fld>
            <a:endParaRPr lang="en-US" dirty="0"/>
          </a:p>
        </p:txBody>
      </p:sp>
    </p:spTree>
    <p:extLst>
      <p:ext uri="{BB962C8B-B14F-4D97-AF65-F5344CB8AC3E}">
        <p14:creationId xmlns:p14="http://schemas.microsoft.com/office/powerpoint/2010/main" val="358099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RV32I Register State (Architecture State)</a:t>
            </a:r>
          </a:p>
        </p:txBody>
      </p:sp>
      <p:sp>
        <p:nvSpPr>
          <p:cNvPr id="3" name="Content Placeholder 2"/>
          <p:cNvSpPr>
            <a:spLocks noGrp="1"/>
          </p:cNvSpPr>
          <p:nvPr>
            <p:ph idx="1"/>
          </p:nvPr>
        </p:nvSpPr>
        <p:spPr>
          <a:xfrm>
            <a:off x="2051393" y="1159140"/>
            <a:ext cx="7772400" cy="5033621"/>
          </a:xfrm>
        </p:spPr>
        <p:txBody>
          <a:bodyPr/>
          <a:lstStyle/>
          <a:p>
            <a:pPr>
              <a:spcBef>
                <a:spcPts val="300"/>
              </a:spcBef>
            </a:pPr>
            <a:r>
              <a:rPr lang="en-US" sz="2400" dirty="0"/>
              <a:t>32 general purpose registers (GPR)</a:t>
            </a:r>
          </a:p>
          <a:p>
            <a:pPr lvl="1">
              <a:spcBef>
                <a:spcPts val="300"/>
              </a:spcBef>
            </a:pPr>
            <a:r>
              <a:rPr lang="en-US" sz="2000" dirty="0"/>
              <a:t>x0, x1, …, x31</a:t>
            </a:r>
          </a:p>
          <a:p>
            <a:pPr lvl="1">
              <a:spcBef>
                <a:spcPts val="300"/>
              </a:spcBef>
            </a:pPr>
            <a:r>
              <a:rPr lang="en-US" sz="2000" dirty="0"/>
              <a:t>32-bit wide integer registers</a:t>
            </a:r>
          </a:p>
          <a:p>
            <a:pPr lvl="1">
              <a:spcBef>
                <a:spcPts val="300"/>
              </a:spcBef>
            </a:pPr>
            <a:r>
              <a:rPr lang="en-US" sz="2000" dirty="0"/>
              <a:t>x0 is hard-wired to zero</a:t>
            </a:r>
          </a:p>
          <a:p>
            <a:pPr>
              <a:spcBef>
                <a:spcPts val="300"/>
              </a:spcBef>
            </a:pPr>
            <a:r>
              <a:rPr lang="en-US" sz="2400" dirty="0"/>
              <a:t>Program counter (PC)</a:t>
            </a:r>
          </a:p>
          <a:p>
            <a:pPr lvl="1">
              <a:spcBef>
                <a:spcPts val="300"/>
              </a:spcBef>
            </a:pPr>
            <a:r>
              <a:rPr lang="en-US" sz="2000" dirty="0"/>
              <a:t>32-bit wide</a:t>
            </a:r>
          </a:p>
          <a:p>
            <a:pPr>
              <a:spcBef>
                <a:spcPts val="300"/>
              </a:spcBef>
            </a:pPr>
            <a:r>
              <a:rPr lang="en-US" sz="2400" dirty="0"/>
              <a:t>CSR (Control and Status Registers)</a:t>
            </a:r>
          </a:p>
          <a:p>
            <a:pPr lvl="1">
              <a:spcBef>
                <a:spcPts val="300"/>
              </a:spcBef>
            </a:pPr>
            <a:r>
              <a:rPr lang="en-US" sz="2000" dirty="0"/>
              <a:t>User-mode</a:t>
            </a:r>
          </a:p>
          <a:p>
            <a:pPr lvl="2">
              <a:spcBef>
                <a:spcPts val="300"/>
              </a:spcBef>
            </a:pPr>
            <a:r>
              <a:rPr lang="en-US" sz="1600" dirty="0">
                <a:solidFill>
                  <a:srgbClr val="7030A0"/>
                </a:solidFill>
              </a:rPr>
              <a:t>cycle</a:t>
            </a:r>
            <a:r>
              <a:rPr lang="en-US" sz="1600" dirty="0"/>
              <a:t> (clock cycles) // read only</a:t>
            </a:r>
          </a:p>
          <a:p>
            <a:pPr lvl="2">
              <a:spcBef>
                <a:spcPts val="300"/>
              </a:spcBef>
            </a:pPr>
            <a:r>
              <a:rPr lang="en-US" sz="1600" dirty="0" err="1">
                <a:solidFill>
                  <a:srgbClr val="7030A0"/>
                </a:solidFill>
              </a:rPr>
              <a:t>instret</a:t>
            </a:r>
            <a:r>
              <a:rPr lang="en-US" sz="1600" dirty="0">
                <a:solidFill>
                  <a:srgbClr val="7030A0"/>
                </a:solidFill>
              </a:rPr>
              <a:t> (i</a:t>
            </a:r>
            <a:r>
              <a:rPr lang="en-US" sz="1600" dirty="0"/>
              <a:t>nstruction counts) // read only</a:t>
            </a:r>
          </a:p>
          <a:p>
            <a:pPr lvl="1">
              <a:spcBef>
                <a:spcPts val="300"/>
              </a:spcBef>
            </a:pPr>
            <a:r>
              <a:rPr lang="en-US" sz="2000" dirty="0"/>
              <a:t>Machine-mode</a:t>
            </a:r>
          </a:p>
          <a:p>
            <a:pPr lvl="2">
              <a:spcBef>
                <a:spcPts val="300"/>
              </a:spcBef>
            </a:pPr>
            <a:r>
              <a:rPr lang="en-US" sz="1600" dirty="0" err="1">
                <a:solidFill>
                  <a:srgbClr val="7030A0"/>
                </a:solidFill>
              </a:rPr>
              <a:t>hartid</a:t>
            </a:r>
            <a:r>
              <a:rPr lang="en-US" sz="1600" dirty="0"/>
              <a:t> (hardware thread ID) // read only</a:t>
            </a:r>
          </a:p>
          <a:p>
            <a:pPr lvl="2">
              <a:spcBef>
                <a:spcPts val="300"/>
              </a:spcBef>
            </a:pPr>
            <a:r>
              <a:rPr lang="en-US" sz="1600" dirty="0" err="1">
                <a:solidFill>
                  <a:schemeClr val="tx2"/>
                </a:solidFill>
              </a:rPr>
              <a:t>mepc</a:t>
            </a:r>
            <a:r>
              <a:rPr lang="en-US" sz="1600" dirty="0">
                <a:solidFill>
                  <a:schemeClr val="tx2"/>
                </a:solidFill>
              </a:rPr>
              <a:t>, </a:t>
            </a:r>
            <a:r>
              <a:rPr lang="en-US" sz="1600" dirty="0" err="1">
                <a:solidFill>
                  <a:schemeClr val="tx2"/>
                </a:solidFill>
              </a:rPr>
              <a:t>mcause</a:t>
            </a:r>
            <a:r>
              <a:rPr lang="en-US" sz="1600" dirty="0">
                <a:solidFill>
                  <a:schemeClr val="tx2"/>
                </a:solidFill>
              </a:rPr>
              <a:t> </a:t>
            </a:r>
            <a:r>
              <a:rPr lang="en-US" sz="1600" dirty="0"/>
              <a:t>etc. used for exception handling</a:t>
            </a:r>
            <a:endParaRPr lang="en-US" sz="2000" dirty="0"/>
          </a:p>
          <a:p>
            <a:pPr lvl="1">
              <a:spcBef>
                <a:spcPts val="300"/>
              </a:spcBef>
            </a:pPr>
            <a:r>
              <a:rPr lang="en-US" sz="2000" dirty="0"/>
              <a:t>Custom</a:t>
            </a:r>
          </a:p>
          <a:p>
            <a:pPr lvl="2">
              <a:spcBef>
                <a:spcPts val="300"/>
              </a:spcBef>
            </a:pPr>
            <a:r>
              <a:rPr lang="en-US" sz="1600" dirty="0" err="1">
                <a:solidFill>
                  <a:srgbClr val="7030A0"/>
                </a:solidFill>
              </a:rPr>
              <a:t>mtohost</a:t>
            </a:r>
            <a:r>
              <a:rPr lang="en-US" sz="1600" dirty="0"/>
              <a:t> (output to host) // write only – custom extension</a:t>
            </a:r>
          </a:p>
          <a:p>
            <a:pPr lvl="1">
              <a:spcBef>
                <a:spcPts val="300"/>
              </a:spcBef>
            </a:pPr>
            <a:endParaRPr lang="en-US" sz="2000" dirty="0"/>
          </a:p>
          <a:p>
            <a:pPr lvl="1">
              <a:spcBef>
                <a:spcPts val="300"/>
              </a:spcBef>
            </a:pPr>
            <a:endParaRPr lang="en-US" sz="2000" dirty="0"/>
          </a:p>
          <a:p>
            <a:pPr>
              <a:spcBef>
                <a:spcPts val="300"/>
              </a:spcBef>
            </a:pPr>
            <a:endParaRPr lang="en-US" sz="2400" dirty="0"/>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9</a:t>
            </a:fld>
            <a:endParaRPr lang="en-US" dirty="0"/>
          </a:p>
        </p:txBody>
      </p:sp>
      <p:sp>
        <p:nvSpPr>
          <p:cNvPr id="4" name="TextBox 3">
            <a:extLst>
              <a:ext uri="{FF2B5EF4-FFF2-40B4-BE49-F238E27FC236}">
                <a16:creationId xmlns:a16="http://schemas.microsoft.com/office/drawing/2014/main" id="{C4BFF360-0A02-4E67-811A-EE157D7FD1E6}"/>
              </a:ext>
            </a:extLst>
          </p:cNvPr>
          <p:cNvSpPr txBox="1"/>
          <p:nvPr/>
        </p:nvSpPr>
        <p:spPr>
          <a:xfrm>
            <a:off x="8402447" y="3404210"/>
            <a:ext cx="3558923" cy="1405256"/>
          </a:xfrm>
          <a:prstGeom prst="rect">
            <a:avLst/>
          </a:prstGeom>
          <a:solidFill>
            <a:srgbClr val="FFFF00"/>
          </a:solidFill>
          <a:ln>
            <a:solidFill>
              <a:srgbClr val="FF0000"/>
            </a:solidFill>
          </a:ln>
        </p:spPr>
        <p:txBody>
          <a:bodyPr wrap="none" rtlCol="0" anchor="ctr" anchorCtr="1">
            <a:spAutoFit/>
          </a:bodyPr>
          <a:lstStyle/>
          <a:p>
            <a:r>
              <a:rPr lang="en-US" sz="2133" dirty="0">
                <a:latin typeface="Calibri" panose="020F0502020204030204" pitchFamily="34" charset="0"/>
                <a:ea typeface="Calibri" panose="020F0502020204030204" pitchFamily="34" charset="0"/>
                <a:cs typeface="Calibri" panose="020F0502020204030204" pitchFamily="34" charset="0"/>
              </a:rPr>
              <a:t>In RISC-V, Hart refers to</a:t>
            </a:r>
          </a:p>
          <a:p>
            <a:r>
              <a:rPr lang="en-US" sz="2133" dirty="0">
                <a:latin typeface="Calibri" panose="020F0502020204030204" pitchFamily="34" charset="0"/>
                <a:ea typeface="Calibri" panose="020F0502020204030204" pitchFamily="34" charset="0"/>
                <a:cs typeface="Calibri" panose="020F0502020204030204" pitchFamily="34" charset="0"/>
              </a:rPr>
              <a:t>a hardware thread, which </a:t>
            </a:r>
          </a:p>
          <a:p>
            <a:r>
              <a:rPr lang="en-US" sz="2133" dirty="0">
                <a:latin typeface="Calibri" panose="020F0502020204030204" pitchFamily="34" charset="0"/>
                <a:ea typeface="Calibri" panose="020F0502020204030204" pitchFamily="34" charset="0"/>
                <a:cs typeface="Calibri" panose="020F0502020204030204" pitchFamily="34" charset="0"/>
              </a:rPr>
              <a:t>is often a “core” in a multicore</a:t>
            </a:r>
          </a:p>
          <a:p>
            <a:r>
              <a:rPr lang="en-US" sz="2133" dirty="0">
                <a:latin typeface="Calibri" panose="020F0502020204030204" pitchFamily="34" charset="0"/>
                <a:ea typeface="Calibri" panose="020F0502020204030204" pitchFamily="34" charset="0"/>
                <a:cs typeface="Calibri" panose="020F0502020204030204" pitchFamily="34" charset="0"/>
              </a:rPr>
              <a:t>chip.</a:t>
            </a:r>
          </a:p>
        </p:txBody>
      </p:sp>
      <p:cxnSp>
        <p:nvCxnSpPr>
          <p:cNvPr id="10" name="Straight Arrow Connector 9">
            <a:extLst>
              <a:ext uri="{FF2B5EF4-FFF2-40B4-BE49-F238E27FC236}">
                <a16:creationId xmlns:a16="http://schemas.microsoft.com/office/drawing/2014/main" id="{D39BB059-FB3F-4CC4-87FB-8DC8A3638B8B}"/>
              </a:ext>
            </a:extLst>
          </p:cNvPr>
          <p:cNvCxnSpPr>
            <a:stCxn id="4" idx="1"/>
          </p:cNvCxnSpPr>
          <p:nvPr/>
        </p:nvCxnSpPr>
        <p:spPr bwMode="auto">
          <a:xfrm flipH="1">
            <a:off x="5563811" y="4106838"/>
            <a:ext cx="2838636" cy="963486"/>
          </a:xfrm>
          <a:prstGeom prst="straightConnector1">
            <a:avLst/>
          </a:prstGeom>
          <a:noFill/>
          <a:ln w="15875" cap="flat" cmpd="sng" algn="ctr">
            <a:solidFill>
              <a:srgbClr val="FF0000"/>
            </a:solidFill>
            <a:prstDash val="solid"/>
            <a:round/>
            <a:headEnd type="none" w="med" len="med"/>
            <a:tailEnd type="triangle"/>
          </a:ln>
        </p:spPr>
      </p:cxnSp>
      <p:sp>
        <p:nvSpPr>
          <p:cNvPr id="9" name="TextBox 8">
            <a:extLst>
              <a:ext uri="{FF2B5EF4-FFF2-40B4-BE49-F238E27FC236}">
                <a16:creationId xmlns:a16="http://schemas.microsoft.com/office/drawing/2014/main" id="{F290523A-D061-4B10-8AD6-1B768A45B8AB}"/>
              </a:ext>
            </a:extLst>
          </p:cNvPr>
          <p:cNvSpPr txBox="1"/>
          <p:nvPr/>
        </p:nvSpPr>
        <p:spPr>
          <a:xfrm>
            <a:off x="6951952" y="1227733"/>
            <a:ext cx="4312130" cy="1405256"/>
          </a:xfrm>
          <a:prstGeom prst="rect">
            <a:avLst/>
          </a:prstGeom>
          <a:solidFill>
            <a:srgbClr val="FFFF00"/>
          </a:solidFill>
          <a:ln>
            <a:solidFill>
              <a:srgbClr val="FF0000"/>
            </a:solidFill>
          </a:ln>
        </p:spPr>
        <p:txBody>
          <a:bodyPr wrap="square" rtlCol="0" anchor="ctr" anchorCtr="1">
            <a:spAutoFit/>
          </a:bodyPr>
          <a:lstStyle/>
          <a:p>
            <a:pPr lvl="0"/>
            <a:r>
              <a:rPr lang="en-US" sz="2133" dirty="0">
                <a:solidFill>
                  <a:prstClr val="black"/>
                </a:solidFill>
                <a:latin typeface="Calibri" panose="020F0502020204030204" pitchFamily="34" charset="0"/>
                <a:ea typeface="Calibri" panose="020F0502020204030204" pitchFamily="34" charset="0"/>
                <a:cs typeface="Calibri" panose="020F0502020204030204" pitchFamily="34" charset="0"/>
              </a:rPr>
              <a:t>Architecture states must be saved,</a:t>
            </a:r>
          </a:p>
          <a:p>
            <a:r>
              <a:rPr lang="en-US" sz="2133" dirty="0">
                <a:latin typeface="Calibri" panose="020F0502020204030204" pitchFamily="34" charset="0"/>
                <a:ea typeface="Calibri" panose="020F0502020204030204" pitchFamily="34" charset="0"/>
                <a:cs typeface="Calibri" panose="020F0502020204030204" pitchFamily="34" charset="0"/>
              </a:rPr>
              <a:t>at context switches (e.g. a </a:t>
            </a:r>
          </a:p>
          <a:p>
            <a:r>
              <a:rPr lang="en-US" sz="2133" dirty="0">
                <a:latin typeface="Calibri" panose="020F0502020204030204" pitchFamily="34" charset="0"/>
                <a:ea typeface="Calibri" panose="020F0502020204030204" pitchFamily="34" charset="0"/>
                <a:cs typeface="Calibri" panose="020F0502020204030204" pitchFamily="34" charset="0"/>
              </a:rPr>
              <a:t>process switch, an interrupt, …).</a:t>
            </a:r>
          </a:p>
          <a:p>
            <a:r>
              <a:rPr lang="en-US" sz="2133" dirty="0">
                <a:latin typeface="Calibri" panose="020F0502020204030204" pitchFamily="34" charset="0"/>
                <a:ea typeface="Calibri" panose="020F0502020204030204" pitchFamily="34" charset="0"/>
                <a:cs typeface="Calibri" panose="020F0502020204030204" pitchFamily="34" charset="0"/>
              </a:rPr>
              <a:t>So that the program may resume!</a:t>
            </a:r>
          </a:p>
        </p:txBody>
      </p:sp>
    </p:spTree>
    <p:extLst>
      <p:ext uri="{BB962C8B-B14F-4D97-AF65-F5344CB8AC3E}">
        <p14:creationId xmlns:p14="http://schemas.microsoft.com/office/powerpoint/2010/main" val="297978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X0 is always zero</a:t>
            </a:r>
          </a:p>
        </p:txBody>
      </p:sp>
      <p:sp>
        <p:nvSpPr>
          <p:cNvPr id="3" name="Content Placeholder 2"/>
          <p:cNvSpPr>
            <a:spLocks noGrp="1"/>
          </p:cNvSpPr>
          <p:nvPr>
            <p:ph idx="1"/>
          </p:nvPr>
        </p:nvSpPr>
        <p:spPr>
          <a:xfrm>
            <a:off x="1296785" y="1159140"/>
            <a:ext cx="8527008" cy="5033621"/>
          </a:xfrm>
        </p:spPr>
        <p:txBody>
          <a:bodyPr/>
          <a:lstStyle/>
          <a:p>
            <a:pPr>
              <a:spcBef>
                <a:spcPts val="300"/>
              </a:spcBef>
            </a:pPr>
            <a:r>
              <a:rPr lang="en-US" sz="2667" dirty="0"/>
              <a:t>Why?</a:t>
            </a:r>
          </a:p>
          <a:p>
            <a:pPr lvl="1">
              <a:spcBef>
                <a:spcPts val="300"/>
              </a:spcBef>
            </a:pPr>
            <a:r>
              <a:rPr lang="en-US" sz="2133" dirty="0"/>
              <a:t>Constant zero is often used in instructions. Having X0 as zero can save one instruction to clear a register.</a:t>
            </a:r>
          </a:p>
          <a:p>
            <a:pPr lvl="2">
              <a:spcBef>
                <a:spcPts val="300"/>
              </a:spcBef>
            </a:pPr>
            <a:r>
              <a:rPr lang="en-US" sz="1867" dirty="0"/>
              <a:t>e.g.  A = - B	// suppose B is in X8</a:t>
            </a:r>
          </a:p>
          <a:p>
            <a:pPr marL="914377" lvl="2" indent="0">
              <a:spcBef>
                <a:spcPts val="300"/>
              </a:spcBef>
              <a:buNone/>
            </a:pPr>
            <a:r>
              <a:rPr lang="en-US" sz="1867" dirty="0">
                <a:solidFill>
                  <a:schemeClr val="tx2"/>
                </a:solidFill>
              </a:rPr>
              <a:t>Without X0 as 0		With X0 as 0</a:t>
            </a:r>
          </a:p>
          <a:p>
            <a:pPr marL="914377" lvl="2" indent="0">
              <a:spcBef>
                <a:spcPts val="300"/>
              </a:spcBef>
              <a:buNone/>
            </a:pPr>
            <a:r>
              <a:rPr lang="en-US" sz="1867" dirty="0">
                <a:solidFill>
                  <a:srgbClr val="FF0000"/>
                </a:solidFill>
              </a:rPr>
              <a:t>XOR X10, X10, X10		SUB X9, X0, X8</a:t>
            </a:r>
          </a:p>
          <a:p>
            <a:pPr marL="914377" lvl="2" indent="0">
              <a:spcBef>
                <a:spcPts val="300"/>
              </a:spcBef>
              <a:buNone/>
            </a:pPr>
            <a:r>
              <a:rPr lang="en-US" sz="1867" dirty="0">
                <a:solidFill>
                  <a:srgbClr val="FF0000"/>
                </a:solidFill>
              </a:rPr>
              <a:t>SUB X9, X10, X8</a:t>
            </a:r>
          </a:p>
          <a:p>
            <a:pPr lvl="1">
              <a:spcBef>
                <a:spcPts val="300"/>
              </a:spcBef>
            </a:pPr>
            <a:r>
              <a:rPr lang="en-US" sz="2133" dirty="0"/>
              <a:t>Copy X2 to X1 is simply</a:t>
            </a:r>
          </a:p>
          <a:p>
            <a:pPr lvl="2">
              <a:spcBef>
                <a:spcPts val="300"/>
              </a:spcBef>
            </a:pPr>
            <a:r>
              <a:rPr kumimoji="1" lang="en-US" sz="21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ADD X1, X0, X2</a:t>
            </a:r>
            <a:endParaRPr lang="en-US" sz="1600" dirty="0"/>
          </a:p>
          <a:p>
            <a:pPr lvl="1">
              <a:spcBef>
                <a:spcPts val="300"/>
              </a:spcBef>
            </a:pPr>
            <a:r>
              <a:rPr lang="en-US" sz="2133" dirty="0"/>
              <a:t>Compare and branch instructions often need one operand to be 0. </a:t>
            </a:r>
          </a:p>
          <a:p>
            <a:pPr marL="1142943" marR="0" lvl="2" indent="-228589" algn="l" defTabSz="914400" rtl="0" eaLnBrk="1" fontAlgn="base" latinLnBrk="0" hangingPunct="1">
              <a:lnSpc>
                <a:spcPct val="100000"/>
              </a:lnSpc>
              <a:spcBef>
                <a:spcPts val="300"/>
              </a:spcBef>
              <a:spcAft>
                <a:spcPct val="0"/>
              </a:spcAft>
              <a:buClrTx/>
              <a:buSzTx/>
              <a:buFontTx/>
              <a:buChar char="•"/>
              <a:tabLst/>
              <a:defRPr/>
            </a:pPr>
            <a:r>
              <a:rPr lang="en-US" sz="2133" dirty="0">
                <a:solidFill>
                  <a:prstClr val="black"/>
                </a:solidFill>
              </a:rPr>
              <a:t>T</a:t>
            </a:r>
            <a:r>
              <a:rPr kumimoji="1" lang="en-US" sz="2133"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here are no immediate forms in branch instructions</a:t>
            </a:r>
            <a:endParaRPr lang="en-US" sz="1334" dirty="0"/>
          </a:p>
          <a:p>
            <a:pPr lvl="1">
              <a:spcBef>
                <a:spcPts val="300"/>
              </a:spcBef>
            </a:pPr>
            <a:r>
              <a:rPr lang="en-US" sz="2133" dirty="0"/>
              <a:t>Some RISC architectures even use load to x0 as memory hints</a:t>
            </a:r>
          </a:p>
          <a:p>
            <a:pPr lvl="2">
              <a:spcBef>
                <a:spcPts val="300"/>
              </a:spcBef>
            </a:pPr>
            <a:r>
              <a:rPr lang="en-US" sz="1867" dirty="0"/>
              <a:t>e.g. </a:t>
            </a:r>
          </a:p>
          <a:p>
            <a:pPr marL="457189" lvl="1" indent="0">
              <a:spcBef>
                <a:spcPts val="300"/>
              </a:spcBef>
              <a:buNone/>
            </a:pPr>
            <a:r>
              <a:rPr lang="en-US" sz="2133" dirty="0"/>
              <a:t>       cache prefetching</a:t>
            </a:r>
          </a:p>
          <a:p>
            <a:pPr marL="457189" lvl="1" indent="0">
              <a:spcBef>
                <a:spcPts val="300"/>
              </a:spcBef>
              <a:buNone/>
            </a:pPr>
            <a:r>
              <a:rPr lang="en-US" sz="2133" dirty="0"/>
              <a:t>       </a:t>
            </a:r>
          </a:p>
        </p:txBody>
      </p:sp>
      <p:sp>
        <p:nvSpPr>
          <p:cNvPr id="6" name="Date Placeholder 5"/>
          <p:cNvSpPr>
            <a:spLocks noGrp="1"/>
          </p:cNvSpPr>
          <p:nvPr>
            <p:ph type="dt" sz="half" idx="10"/>
          </p:nvPr>
        </p:nvSpPr>
        <p:spPr/>
        <p:txBody>
          <a:bodyPr/>
          <a:lstStyle/>
          <a:p>
            <a:pPr>
              <a:defRPr/>
            </a:pPr>
            <a:r>
              <a:rPr lang="en-US" dirty="0"/>
              <a:t>September 27, 2024</a:t>
            </a:r>
          </a:p>
        </p:txBody>
      </p:sp>
      <p:sp>
        <p:nvSpPr>
          <p:cNvPr id="7" name="Footer Placeholder 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8" name="Slide Number Placeholder 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10</a:t>
            </a:fld>
            <a:endParaRPr lang="en-US" dirty="0"/>
          </a:p>
        </p:txBody>
      </p:sp>
      <p:sp>
        <p:nvSpPr>
          <p:cNvPr id="9" name="TextBox 8">
            <a:extLst>
              <a:ext uri="{FF2B5EF4-FFF2-40B4-BE49-F238E27FC236}">
                <a16:creationId xmlns:a16="http://schemas.microsoft.com/office/drawing/2014/main" id="{AA81036C-DA3D-48C0-9F7D-351237AF3979}"/>
              </a:ext>
            </a:extLst>
          </p:cNvPr>
          <p:cNvSpPr txBox="1"/>
          <p:nvPr/>
        </p:nvSpPr>
        <p:spPr>
          <a:xfrm>
            <a:off x="6437602" y="3920354"/>
            <a:ext cx="4312130" cy="420564"/>
          </a:xfrm>
          <a:prstGeom prst="rect">
            <a:avLst/>
          </a:prstGeom>
          <a:solidFill>
            <a:srgbClr val="FFFF00"/>
          </a:solidFill>
          <a:ln>
            <a:solidFill>
              <a:srgbClr val="FF0000"/>
            </a:solidFill>
          </a:ln>
        </p:spPr>
        <p:txBody>
          <a:bodyPr wrap="square" rtlCol="0" anchor="ctr" anchorCtr="1">
            <a:spAutoFit/>
          </a:bodyPr>
          <a:lstStyle/>
          <a:p>
            <a:pPr lvl="0"/>
            <a:r>
              <a:rPr lang="en-US" sz="2133" dirty="0">
                <a:latin typeface="Calibri" panose="020F0502020204030204" pitchFamily="34" charset="0"/>
                <a:ea typeface="Calibri" panose="020F0502020204030204" pitchFamily="34" charset="0"/>
                <a:cs typeface="Calibri" panose="020F0502020204030204" pitchFamily="34" charset="0"/>
              </a:rPr>
              <a:t>Can I use </a:t>
            </a:r>
            <a:r>
              <a:rPr lang="en-US" sz="2133" dirty="0" err="1">
                <a:latin typeface="Calibri" panose="020F0502020204030204" pitchFamily="34" charset="0"/>
                <a:ea typeface="Calibri" panose="020F0502020204030204" pitchFamily="34" charset="0"/>
                <a:cs typeface="Calibri" panose="020F0502020204030204" pitchFamily="34" charset="0"/>
              </a:rPr>
              <a:t>ADDi</a:t>
            </a:r>
            <a:r>
              <a:rPr lang="en-US" sz="2133" dirty="0">
                <a:latin typeface="Calibri" panose="020F0502020204030204" pitchFamily="34" charset="0"/>
                <a:ea typeface="Calibri" panose="020F0502020204030204" pitchFamily="34" charset="0"/>
                <a:cs typeface="Calibri" panose="020F0502020204030204" pitchFamily="34" charset="0"/>
              </a:rPr>
              <a:t> X1, X2,0 ? </a:t>
            </a:r>
          </a:p>
        </p:txBody>
      </p:sp>
    </p:spTree>
    <p:extLst>
      <p:ext uri="{BB962C8B-B14F-4D97-AF65-F5344CB8AC3E}">
        <p14:creationId xmlns:p14="http://schemas.microsoft.com/office/powerpoint/2010/main" val="210114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Types (</a:t>
            </a:r>
            <a:r>
              <a:rPr lang="en-US" sz="3600" dirty="0"/>
              <a:t>based on functionality</a:t>
            </a:r>
            <a:r>
              <a:rPr lang="en-US" dirty="0"/>
              <a:t>)</a:t>
            </a:r>
          </a:p>
        </p:txBody>
      </p:sp>
      <p:sp>
        <p:nvSpPr>
          <p:cNvPr id="3" name="Content Placeholder 2"/>
          <p:cNvSpPr>
            <a:spLocks noGrp="1"/>
          </p:cNvSpPr>
          <p:nvPr>
            <p:ph idx="1"/>
          </p:nvPr>
        </p:nvSpPr>
        <p:spPr>
          <a:xfrm>
            <a:off x="1219200" y="1383695"/>
            <a:ext cx="9646596" cy="3802744"/>
          </a:xfrm>
        </p:spPr>
        <p:txBody>
          <a:bodyPr/>
          <a:lstStyle/>
          <a:p>
            <a:r>
              <a:rPr lang="en-US" sz="2400" dirty="0"/>
              <a:t>Register-to-Register Arithmetic and Logical operations </a:t>
            </a:r>
            <a:r>
              <a:rPr lang="en-US" sz="2400" dirty="0">
                <a:solidFill>
                  <a:srgbClr val="FF0000"/>
                </a:solidFill>
              </a:rPr>
              <a:t>(ALU)</a:t>
            </a:r>
          </a:p>
          <a:p>
            <a:r>
              <a:rPr lang="en-US" sz="2400" dirty="0"/>
              <a:t>Control Instructions alter the sequential control flow </a:t>
            </a:r>
            <a:r>
              <a:rPr lang="en-US" sz="2400" dirty="0">
                <a:solidFill>
                  <a:srgbClr val="FF0000"/>
                </a:solidFill>
              </a:rPr>
              <a:t>(B and J)</a:t>
            </a:r>
          </a:p>
          <a:p>
            <a:r>
              <a:rPr lang="en-US" sz="2400" dirty="0"/>
              <a:t>Memory Instructions move data to and from memory </a:t>
            </a:r>
            <a:r>
              <a:rPr lang="en-US" sz="2400" dirty="0">
                <a:solidFill>
                  <a:srgbClr val="FF0000"/>
                </a:solidFill>
              </a:rPr>
              <a:t>(Memory) </a:t>
            </a:r>
          </a:p>
          <a:p>
            <a:r>
              <a:rPr lang="en-US" sz="2400" dirty="0"/>
              <a:t>CSR Instructions move data between CSRs and GPRs; the instructions often perform read-modify-write operations on CSRs </a:t>
            </a:r>
            <a:r>
              <a:rPr lang="en-US" sz="2400" dirty="0">
                <a:solidFill>
                  <a:srgbClr val="FF0000"/>
                </a:solidFill>
              </a:rPr>
              <a:t>(Privileged)</a:t>
            </a:r>
          </a:p>
          <a:p>
            <a:r>
              <a:rPr lang="en-US" sz="2400" dirty="0"/>
              <a:t>Privileged Instructions are needed by the operating systems and can only be executed under kernel (or system) mode. User programs in user mode cannot execute them.</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11</a:t>
            </a:fld>
            <a:endParaRPr lang="en-US" dirty="0"/>
          </a:p>
        </p:txBody>
      </p:sp>
    </p:spTree>
    <p:extLst>
      <p:ext uri="{BB962C8B-B14F-4D97-AF65-F5344CB8AC3E}">
        <p14:creationId xmlns:p14="http://schemas.microsoft.com/office/powerpoint/2010/main" val="291580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FE806-B147-47DC-BEC9-42301BA37B18}"/>
              </a:ext>
            </a:extLst>
          </p:cNvPr>
          <p:cNvSpPr>
            <a:spLocks noGrp="1"/>
          </p:cNvSpPr>
          <p:nvPr>
            <p:ph type="sldNum" sz="quarter" idx="10"/>
          </p:nvPr>
        </p:nvSpPr>
        <p:spPr/>
        <p:txBody>
          <a:bodyPr/>
          <a:lstStyle/>
          <a:p>
            <a:fld id="{D9B6BDF2-6896-4B98-8776-C18582F63BA5}" type="slidenum">
              <a:rPr lang="zh-TW" altLang="en-US" smtClean="0"/>
              <a:t>12</a:t>
            </a:fld>
            <a:endParaRPr lang="zh-TW" altLang="en-US"/>
          </a:p>
        </p:txBody>
      </p:sp>
      <p:pic>
        <p:nvPicPr>
          <p:cNvPr id="6" name="Picture 5">
            <a:extLst>
              <a:ext uri="{FF2B5EF4-FFF2-40B4-BE49-F238E27FC236}">
                <a16:creationId xmlns:a16="http://schemas.microsoft.com/office/drawing/2014/main" id="{1359EBE9-8A1A-4A52-8511-6B7C42EC36EA}"/>
              </a:ext>
            </a:extLst>
          </p:cNvPr>
          <p:cNvPicPr>
            <a:picLocks noChangeAspect="1"/>
          </p:cNvPicPr>
          <p:nvPr/>
        </p:nvPicPr>
        <p:blipFill>
          <a:blip r:embed="rId2"/>
          <a:stretch>
            <a:fillRect/>
          </a:stretch>
        </p:blipFill>
        <p:spPr>
          <a:xfrm>
            <a:off x="0" y="1619738"/>
            <a:ext cx="12192000" cy="3618524"/>
          </a:xfrm>
          <a:prstGeom prst="rect">
            <a:avLst/>
          </a:prstGeom>
        </p:spPr>
      </p:pic>
      <p:sp>
        <p:nvSpPr>
          <p:cNvPr id="7" name="Title 1">
            <a:extLst>
              <a:ext uri="{FF2B5EF4-FFF2-40B4-BE49-F238E27FC236}">
                <a16:creationId xmlns:a16="http://schemas.microsoft.com/office/drawing/2014/main" id="{285707FA-5F2C-49A0-9A7A-64F2A6DE3979}"/>
              </a:ext>
            </a:extLst>
          </p:cNvPr>
          <p:cNvSpPr>
            <a:spLocks noGrp="1"/>
          </p:cNvSpPr>
          <p:nvPr>
            <p:ph type="title"/>
          </p:nvPr>
        </p:nvSpPr>
        <p:spPr>
          <a:xfrm>
            <a:off x="1095023" y="106092"/>
            <a:ext cx="10555111" cy="1143000"/>
          </a:xfrm>
        </p:spPr>
        <p:txBody>
          <a:bodyPr/>
          <a:lstStyle/>
          <a:p>
            <a:r>
              <a:rPr kumimoji="1" lang="en-US" sz="4800" b="1" i="0" u="none" strike="noStrike" kern="0" cap="none" spc="0" normalizeH="0" baseline="0" noProof="0" dirty="0">
                <a:ln>
                  <a:noFill/>
                </a:ln>
                <a:solidFill>
                  <a:srgbClr val="1F497D"/>
                </a:solidFill>
                <a:effectLst/>
                <a:uLnTx/>
                <a:uFillTx/>
                <a:latin typeface="Calibri" pitchFamily="34" charset="0"/>
                <a:ea typeface="標楷體" pitchFamily="65" charset="-120"/>
              </a:rPr>
              <a:t>Instruction Types (</a:t>
            </a:r>
            <a:r>
              <a:rPr kumimoji="1" lang="en-US" sz="3600" b="1" i="0" u="none" strike="noStrike" kern="0" cap="none" spc="0" normalizeH="0" baseline="0" noProof="0" dirty="0">
                <a:ln>
                  <a:noFill/>
                </a:ln>
                <a:solidFill>
                  <a:srgbClr val="1F497D"/>
                </a:solidFill>
                <a:effectLst/>
                <a:uLnTx/>
                <a:uFillTx/>
                <a:latin typeface="Calibri" pitchFamily="34" charset="0"/>
                <a:ea typeface="標楷體" pitchFamily="65" charset="-120"/>
              </a:rPr>
              <a:t>based on</a:t>
            </a:r>
            <a:r>
              <a:rPr lang="en-US" sz="3600" dirty="0"/>
              <a:t> format</a:t>
            </a:r>
            <a:r>
              <a:rPr lang="en-US" dirty="0"/>
              <a:t>)</a:t>
            </a:r>
          </a:p>
        </p:txBody>
      </p:sp>
      <p:sp>
        <p:nvSpPr>
          <p:cNvPr id="2" name="Oval 1">
            <a:extLst>
              <a:ext uri="{FF2B5EF4-FFF2-40B4-BE49-F238E27FC236}">
                <a16:creationId xmlns:a16="http://schemas.microsoft.com/office/drawing/2014/main" id="{80B0B1AC-19BB-4244-BC3B-B2BCF863EA06}"/>
              </a:ext>
            </a:extLst>
          </p:cNvPr>
          <p:cNvSpPr/>
          <p:nvPr/>
        </p:nvSpPr>
        <p:spPr bwMode="auto">
          <a:xfrm>
            <a:off x="10875523" y="2971800"/>
            <a:ext cx="1498059" cy="91440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Oval 7">
            <a:extLst>
              <a:ext uri="{FF2B5EF4-FFF2-40B4-BE49-F238E27FC236}">
                <a16:creationId xmlns:a16="http://schemas.microsoft.com/office/drawing/2014/main" id="{3B50AD7B-0EDF-4FD9-8B6B-C6DC4DDEC207}"/>
              </a:ext>
            </a:extLst>
          </p:cNvPr>
          <p:cNvSpPr/>
          <p:nvPr/>
        </p:nvSpPr>
        <p:spPr bwMode="auto">
          <a:xfrm>
            <a:off x="10784732" y="3968886"/>
            <a:ext cx="1498059" cy="120368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CB1666C3-A9EA-48AD-B0CF-FEA28EE60899}"/>
              </a:ext>
            </a:extLst>
          </p:cNvPr>
          <p:cNvSpPr txBox="1"/>
          <p:nvPr/>
        </p:nvSpPr>
        <p:spPr>
          <a:xfrm>
            <a:off x="291830" y="5384614"/>
            <a:ext cx="1757212" cy="584775"/>
          </a:xfrm>
          <a:prstGeom prst="rect">
            <a:avLst/>
          </a:prstGeom>
          <a:solidFill>
            <a:srgbClr val="FFFF00"/>
          </a:solidFill>
          <a:ln>
            <a:solidFill>
              <a:srgbClr val="FF0000"/>
            </a:solidFill>
          </a:ln>
        </p:spPr>
        <p:txBody>
          <a:bodyPr wrap="none" rtlCol="0" anchor="ctr" anchorCtr="1">
            <a:spAutoFit/>
          </a:bodyPr>
          <a:lstStyle/>
          <a:p>
            <a:r>
              <a:rPr lang="en-US" sz="3200" dirty="0">
                <a:solidFill>
                  <a:srgbClr val="FF0000"/>
                </a:solidFill>
                <a:ea typeface="標楷體" pitchFamily="65" charset="-120"/>
                <a:cs typeface="Calibri" pitchFamily="34" charset="0"/>
              </a:rPr>
              <a:t>R, I, B, J</a:t>
            </a:r>
          </a:p>
        </p:txBody>
      </p:sp>
      <p:sp>
        <p:nvSpPr>
          <p:cNvPr id="5" name="TextBox 4">
            <a:extLst>
              <a:ext uri="{FF2B5EF4-FFF2-40B4-BE49-F238E27FC236}">
                <a16:creationId xmlns:a16="http://schemas.microsoft.com/office/drawing/2014/main" id="{71DE8148-7F08-47A0-B852-AE7F448DE5FE}"/>
              </a:ext>
            </a:extLst>
          </p:cNvPr>
          <p:cNvSpPr txBox="1"/>
          <p:nvPr/>
        </p:nvSpPr>
        <p:spPr>
          <a:xfrm>
            <a:off x="5279971" y="5292281"/>
            <a:ext cx="2467342" cy="769441"/>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12b </a:t>
            </a:r>
            <a:r>
              <a:rPr lang="en-US" sz="2000" dirty="0" err="1">
                <a:ea typeface="標楷體" pitchFamily="65" charset="-120"/>
                <a:cs typeface="Calibri" pitchFamily="34" charset="0"/>
              </a:rPr>
              <a:t>immed</a:t>
            </a:r>
            <a:r>
              <a:rPr lang="en-US" sz="2000" dirty="0">
                <a:ea typeface="標楷體" pitchFamily="65" charset="-120"/>
                <a:cs typeface="Calibri" pitchFamily="34" charset="0"/>
              </a:rPr>
              <a:t>: </a:t>
            </a:r>
            <a:r>
              <a:rPr lang="en-US" sz="2400" dirty="0">
                <a:ea typeface="標楷體" pitchFamily="65" charset="-120"/>
                <a:cs typeface="Calibri" pitchFamily="34" charset="0"/>
              </a:rPr>
              <a:t>I </a:t>
            </a:r>
            <a:r>
              <a:rPr lang="en-US" sz="2000" dirty="0">
                <a:ea typeface="標楷體" pitchFamily="65" charset="-120"/>
                <a:cs typeface="Calibri" pitchFamily="34" charset="0"/>
              </a:rPr>
              <a:t>and </a:t>
            </a:r>
            <a:r>
              <a:rPr lang="en-US" sz="2400" dirty="0">
                <a:ea typeface="標楷體" pitchFamily="65" charset="-120"/>
                <a:cs typeface="Calibri" pitchFamily="34" charset="0"/>
              </a:rPr>
              <a:t>B</a:t>
            </a:r>
          </a:p>
          <a:p>
            <a:r>
              <a:rPr lang="en-US" sz="2000" dirty="0">
                <a:ea typeface="標楷體" pitchFamily="65" charset="-120"/>
                <a:cs typeface="Calibri" pitchFamily="34" charset="0"/>
              </a:rPr>
              <a:t>B has no “</a:t>
            </a:r>
            <a:r>
              <a:rPr lang="en-US" sz="2000" dirty="0" err="1">
                <a:ea typeface="標楷體" pitchFamily="65" charset="-120"/>
                <a:cs typeface="Calibri" pitchFamily="34" charset="0"/>
              </a:rPr>
              <a:t>rd</a:t>
            </a:r>
            <a:r>
              <a:rPr lang="en-US" sz="2000" dirty="0">
                <a:ea typeface="標楷體" pitchFamily="65" charset="-120"/>
                <a:cs typeface="Calibri" pitchFamily="34" charset="0"/>
              </a:rPr>
              <a:t>” field</a:t>
            </a:r>
          </a:p>
        </p:txBody>
      </p:sp>
      <p:sp>
        <p:nvSpPr>
          <p:cNvPr id="9" name="TextBox 8">
            <a:extLst>
              <a:ext uri="{FF2B5EF4-FFF2-40B4-BE49-F238E27FC236}">
                <a16:creationId xmlns:a16="http://schemas.microsoft.com/office/drawing/2014/main" id="{86B094E0-B67F-44CC-8DEA-4FCB8B65C4B1}"/>
              </a:ext>
            </a:extLst>
          </p:cNvPr>
          <p:cNvSpPr txBox="1"/>
          <p:nvPr/>
        </p:nvSpPr>
        <p:spPr>
          <a:xfrm>
            <a:off x="2500008" y="5446169"/>
            <a:ext cx="2478564"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No immediate: R</a:t>
            </a:r>
          </a:p>
        </p:txBody>
      </p:sp>
      <p:sp>
        <p:nvSpPr>
          <p:cNvPr id="10" name="TextBox 9">
            <a:extLst>
              <a:ext uri="{FF2B5EF4-FFF2-40B4-BE49-F238E27FC236}">
                <a16:creationId xmlns:a16="http://schemas.microsoft.com/office/drawing/2014/main" id="{55C6090E-0889-4B7A-8363-986868F48E20}"/>
              </a:ext>
            </a:extLst>
          </p:cNvPr>
          <p:cNvSpPr txBox="1"/>
          <p:nvPr/>
        </p:nvSpPr>
        <p:spPr>
          <a:xfrm>
            <a:off x="7986196" y="5446169"/>
            <a:ext cx="1747594" cy="461665"/>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20b </a:t>
            </a:r>
            <a:r>
              <a:rPr lang="en-US" sz="2000" dirty="0" err="1">
                <a:ea typeface="標楷體" pitchFamily="65" charset="-120"/>
                <a:cs typeface="Calibri" pitchFamily="34" charset="0"/>
              </a:rPr>
              <a:t>immed</a:t>
            </a:r>
            <a:r>
              <a:rPr lang="en-US" sz="2000" dirty="0">
                <a:ea typeface="標楷體" pitchFamily="65" charset="-120"/>
                <a:cs typeface="Calibri" pitchFamily="34" charset="0"/>
              </a:rPr>
              <a:t>: </a:t>
            </a:r>
            <a:r>
              <a:rPr lang="en-US" sz="2400" dirty="0">
                <a:ea typeface="標楷體" pitchFamily="65" charset="-120"/>
                <a:cs typeface="Calibri" pitchFamily="34" charset="0"/>
              </a:rPr>
              <a:t>J</a:t>
            </a:r>
          </a:p>
        </p:txBody>
      </p:sp>
    </p:spTree>
    <p:extLst>
      <p:ext uri="{BB962C8B-B14F-4D97-AF65-F5344CB8AC3E}">
        <p14:creationId xmlns:p14="http://schemas.microsoft.com/office/powerpoint/2010/main" val="279301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3" grpId="0" animBg="1"/>
      <p:bldP spid="5"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(R-type)</a:t>
            </a:r>
            <a:endParaRPr lang="en-US" i="1" dirty="0"/>
          </a:p>
        </p:txBody>
      </p:sp>
      <p:grpSp>
        <p:nvGrpSpPr>
          <p:cNvPr id="46" name="Group 45"/>
          <p:cNvGrpSpPr/>
          <p:nvPr/>
        </p:nvGrpSpPr>
        <p:grpSpPr>
          <a:xfrm>
            <a:off x="2028035" y="1676940"/>
            <a:ext cx="8078703" cy="646103"/>
            <a:chOff x="723900" y="2124293"/>
            <a:chExt cx="8078703" cy="646103"/>
          </a:xfrm>
        </p:grpSpPr>
        <p:sp>
          <p:nvSpPr>
            <p:cNvPr id="7" name="TextBox 6"/>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8" name="TextBox 7"/>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0" name="TextBox 9"/>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 name="TextBox 10"/>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 name="TextBox 13"/>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15" name="TextBox 14"/>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6" name="TextBox 15"/>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49" name="TextBox 48"/>
          <p:cNvSpPr txBox="1"/>
          <p:nvPr/>
        </p:nvSpPr>
        <p:spPr>
          <a:xfrm>
            <a:off x="2024913" y="1255952"/>
            <a:ext cx="3954484"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R-type</a:t>
            </a:r>
            <a:r>
              <a:rPr lang="en-US" sz="2400" dirty="0"/>
              <a:t> instruction</a:t>
            </a:r>
            <a:endParaRPr lang="en-US" dirty="0"/>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13</a:t>
            </a:fld>
            <a:endParaRPr lang="en-US" dirty="0"/>
          </a:p>
        </p:txBody>
      </p:sp>
      <p:sp>
        <p:nvSpPr>
          <p:cNvPr id="27" name="TextBox 26">
            <a:extLst>
              <a:ext uri="{FF2B5EF4-FFF2-40B4-BE49-F238E27FC236}">
                <a16:creationId xmlns:a16="http://schemas.microsoft.com/office/drawing/2014/main" id="{862FA4E8-EE91-4949-8A8F-AF3D71904A4D}"/>
              </a:ext>
            </a:extLst>
          </p:cNvPr>
          <p:cNvSpPr txBox="1"/>
          <p:nvPr/>
        </p:nvSpPr>
        <p:spPr>
          <a:xfrm>
            <a:off x="5573006" y="1018272"/>
            <a:ext cx="982961" cy="666977"/>
          </a:xfrm>
          <a:prstGeom prst="rect">
            <a:avLst/>
          </a:prstGeom>
          <a:noFill/>
          <a:ln>
            <a:solidFill>
              <a:schemeClr val="tx1"/>
            </a:solidFill>
          </a:ln>
        </p:spPr>
        <p:txBody>
          <a:bodyPr wrap="none" rtlCol="0" anchor="ctr" anchorCtr="1">
            <a:spAutoFit/>
          </a:bodyPr>
          <a:lstStyle/>
          <a:p>
            <a:r>
              <a:rPr lang="en-US" sz="1867" dirty="0">
                <a:ea typeface="標楷體" pitchFamily="65" charset="-120"/>
                <a:cs typeface="Calibri" panose="020F0502020204030204" pitchFamily="34" charset="0"/>
              </a:rPr>
              <a:t>source </a:t>
            </a:r>
          </a:p>
          <a:p>
            <a:r>
              <a:rPr lang="en-US" sz="1867" dirty="0">
                <a:ea typeface="標楷體" pitchFamily="65" charset="-120"/>
                <a:cs typeface="Calibri" panose="020F0502020204030204" pitchFamily="34" charset="0"/>
              </a:rPr>
              <a:t>register</a:t>
            </a:r>
          </a:p>
        </p:txBody>
      </p:sp>
      <p:cxnSp>
        <p:nvCxnSpPr>
          <p:cNvPr id="30" name="Straight Arrow Connector 29">
            <a:extLst>
              <a:ext uri="{FF2B5EF4-FFF2-40B4-BE49-F238E27FC236}">
                <a16:creationId xmlns:a16="http://schemas.microsoft.com/office/drawing/2014/main" id="{A2587A6E-9FE7-42F9-978B-3B33B1E595C8}"/>
              </a:ext>
            </a:extLst>
          </p:cNvPr>
          <p:cNvCxnSpPr>
            <a:stCxn id="27" idx="1"/>
          </p:cNvCxnSpPr>
          <p:nvPr/>
        </p:nvCxnSpPr>
        <p:spPr bwMode="auto">
          <a:xfrm flipH="1">
            <a:off x="4621753" y="1351761"/>
            <a:ext cx="951253" cy="610991"/>
          </a:xfrm>
          <a:prstGeom prst="straightConnector1">
            <a:avLst/>
          </a:prstGeom>
          <a:noFill/>
          <a:ln w="15875" cap="flat" cmpd="sng" algn="ctr">
            <a:solidFill>
              <a:srgbClr val="FF0000"/>
            </a:solidFill>
            <a:prstDash val="solid"/>
            <a:round/>
            <a:headEnd type="none" w="med" len="med"/>
            <a:tailEnd type="triangle"/>
          </a:ln>
        </p:spPr>
      </p:cxnSp>
      <p:cxnSp>
        <p:nvCxnSpPr>
          <p:cNvPr id="41" name="Straight Arrow Connector 40">
            <a:extLst>
              <a:ext uri="{FF2B5EF4-FFF2-40B4-BE49-F238E27FC236}">
                <a16:creationId xmlns:a16="http://schemas.microsoft.com/office/drawing/2014/main" id="{1338EF10-518F-4F55-B6E7-8EBCC2979E9A}"/>
              </a:ext>
            </a:extLst>
          </p:cNvPr>
          <p:cNvCxnSpPr>
            <a:cxnSpLocks/>
            <a:stCxn id="27" idx="1"/>
          </p:cNvCxnSpPr>
          <p:nvPr/>
        </p:nvCxnSpPr>
        <p:spPr bwMode="auto">
          <a:xfrm>
            <a:off x="5573006" y="1351761"/>
            <a:ext cx="137879" cy="740983"/>
          </a:xfrm>
          <a:prstGeom prst="straightConnector1">
            <a:avLst/>
          </a:prstGeom>
          <a:noFill/>
          <a:ln w="15875" cap="flat" cmpd="sng" algn="ctr">
            <a:solidFill>
              <a:srgbClr val="FF0000"/>
            </a:solidFill>
            <a:prstDash val="solid"/>
            <a:round/>
            <a:headEnd type="none" w="med" len="med"/>
            <a:tailEnd type="triangle"/>
          </a:ln>
        </p:spPr>
      </p:cxnSp>
      <p:sp>
        <p:nvSpPr>
          <p:cNvPr id="76" name="TextBox 75">
            <a:extLst>
              <a:ext uri="{FF2B5EF4-FFF2-40B4-BE49-F238E27FC236}">
                <a16:creationId xmlns:a16="http://schemas.microsoft.com/office/drawing/2014/main" id="{B3F8E7E0-293E-4DDA-B9E3-3EE0A0CA05D8}"/>
              </a:ext>
            </a:extLst>
          </p:cNvPr>
          <p:cNvSpPr txBox="1"/>
          <p:nvPr/>
        </p:nvSpPr>
        <p:spPr>
          <a:xfrm>
            <a:off x="7828781" y="1056989"/>
            <a:ext cx="1340432" cy="666977"/>
          </a:xfrm>
          <a:prstGeom prst="rect">
            <a:avLst/>
          </a:prstGeom>
          <a:noFill/>
          <a:ln>
            <a:solidFill>
              <a:schemeClr val="tx1"/>
            </a:solidFill>
          </a:ln>
        </p:spPr>
        <p:txBody>
          <a:bodyPr wrap="none" rtlCol="0" anchor="ctr" anchorCtr="1">
            <a:spAutoFit/>
          </a:bodyPr>
          <a:lstStyle/>
          <a:p>
            <a:r>
              <a:rPr lang="en-US" sz="1867" dirty="0">
                <a:ea typeface="標楷體" pitchFamily="65" charset="-120"/>
                <a:cs typeface="Calibri" panose="020F0502020204030204" pitchFamily="34" charset="0"/>
              </a:rPr>
              <a:t>destination</a:t>
            </a:r>
          </a:p>
          <a:p>
            <a:r>
              <a:rPr lang="en-US" sz="1867" dirty="0">
                <a:ea typeface="標楷體" pitchFamily="65" charset="-120"/>
                <a:cs typeface="Calibri" panose="020F0502020204030204" pitchFamily="34" charset="0"/>
              </a:rPr>
              <a:t>register</a:t>
            </a:r>
          </a:p>
        </p:txBody>
      </p:sp>
      <p:cxnSp>
        <p:nvCxnSpPr>
          <p:cNvPr id="77" name="Straight Arrow Connector 76">
            <a:extLst>
              <a:ext uri="{FF2B5EF4-FFF2-40B4-BE49-F238E27FC236}">
                <a16:creationId xmlns:a16="http://schemas.microsoft.com/office/drawing/2014/main" id="{3F579A27-5ACF-4602-A00D-EB16A96A1C4C}"/>
              </a:ext>
            </a:extLst>
          </p:cNvPr>
          <p:cNvCxnSpPr>
            <a:cxnSpLocks/>
            <a:endCxn id="18" idx="1"/>
          </p:cNvCxnSpPr>
          <p:nvPr/>
        </p:nvCxnSpPr>
        <p:spPr bwMode="auto">
          <a:xfrm flipH="1">
            <a:off x="7601029" y="1360291"/>
            <a:ext cx="225872" cy="493621"/>
          </a:xfrm>
          <a:prstGeom prst="straightConnector1">
            <a:avLst/>
          </a:prstGeom>
          <a:noFill/>
          <a:ln w="15875" cap="flat" cmpd="sng" algn="ctr">
            <a:solidFill>
              <a:srgbClr val="FF0000"/>
            </a:solidFill>
            <a:prstDash val="solid"/>
            <a:round/>
            <a:headEnd type="none" w="med" len="med"/>
            <a:tailEnd type="triangle"/>
          </a:ln>
        </p:spPr>
      </p:cxnSp>
      <p:graphicFrame>
        <p:nvGraphicFramePr>
          <p:cNvPr id="3" name="Table 4">
            <a:extLst>
              <a:ext uri="{FF2B5EF4-FFF2-40B4-BE49-F238E27FC236}">
                <a16:creationId xmlns:a16="http://schemas.microsoft.com/office/drawing/2014/main" id="{CB2AD700-9429-46AA-BD3B-E82845424211}"/>
              </a:ext>
            </a:extLst>
          </p:cNvPr>
          <p:cNvGraphicFramePr>
            <a:graphicFrameLocks noGrp="1"/>
          </p:cNvGraphicFramePr>
          <p:nvPr>
            <p:extLst>
              <p:ext uri="{D42A27DB-BD31-4B8C-83A1-F6EECF244321}">
                <p14:modId xmlns:p14="http://schemas.microsoft.com/office/powerpoint/2010/main" val="3730940760"/>
              </p:ext>
            </p:extLst>
          </p:nvPr>
        </p:nvGraphicFramePr>
        <p:xfrm>
          <a:off x="176240" y="2912868"/>
          <a:ext cx="11606314" cy="2561337"/>
        </p:xfrm>
        <a:graphic>
          <a:graphicData uri="http://schemas.openxmlformats.org/drawingml/2006/table">
            <a:tbl>
              <a:tblPr firstRow="1" bandRow="1">
                <a:tableStyleId>{5C22544A-7EE6-4342-B048-85BDC9FD1C3A}</a:tableStyleId>
              </a:tblPr>
              <a:tblGrid>
                <a:gridCol w="1415963">
                  <a:extLst>
                    <a:ext uri="{9D8B030D-6E8A-4147-A177-3AD203B41FA5}">
                      <a16:colId xmlns:a16="http://schemas.microsoft.com/office/drawing/2014/main" val="1721893818"/>
                    </a:ext>
                  </a:extLst>
                </a:gridCol>
                <a:gridCol w="1415963">
                  <a:extLst>
                    <a:ext uri="{9D8B030D-6E8A-4147-A177-3AD203B41FA5}">
                      <a16:colId xmlns:a16="http://schemas.microsoft.com/office/drawing/2014/main" val="3783186759"/>
                    </a:ext>
                  </a:extLst>
                </a:gridCol>
                <a:gridCol w="1415963">
                  <a:extLst>
                    <a:ext uri="{9D8B030D-6E8A-4147-A177-3AD203B41FA5}">
                      <a16:colId xmlns:a16="http://schemas.microsoft.com/office/drawing/2014/main" val="4293167753"/>
                    </a:ext>
                  </a:extLst>
                </a:gridCol>
                <a:gridCol w="1415963">
                  <a:extLst>
                    <a:ext uri="{9D8B030D-6E8A-4147-A177-3AD203B41FA5}">
                      <a16:colId xmlns:a16="http://schemas.microsoft.com/office/drawing/2014/main" val="92472603"/>
                    </a:ext>
                  </a:extLst>
                </a:gridCol>
                <a:gridCol w="1297018">
                  <a:extLst>
                    <a:ext uri="{9D8B030D-6E8A-4147-A177-3AD203B41FA5}">
                      <a16:colId xmlns:a16="http://schemas.microsoft.com/office/drawing/2014/main" val="3276777015"/>
                    </a:ext>
                  </a:extLst>
                </a:gridCol>
                <a:gridCol w="1040522">
                  <a:extLst>
                    <a:ext uri="{9D8B030D-6E8A-4147-A177-3AD203B41FA5}">
                      <a16:colId xmlns:a16="http://schemas.microsoft.com/office/drawing/2014/main" val="499702933"/>
                    </a:ext>
                  </a:extLst>
                </a:gridCol>
                <a:gridCol w="1501389">
                  <a:extLst>
                    <a:ext uri="{9D8B030D-6E8A-4147-A177-3AD203B41FA5}">
                      <a16:colId xmlns:a16="http://schemas.microsoft.com/office/drawing/2014/main" val="2002421486"/>
                    </a:ext>
                  </a:extLst>
                </a:gridCol>
                <a:gridCol w="2103533">
                  <a:extLst>
                    <a:ext uri="{9D8B030D-6E8A-4147-A177-3AD203B41FA5}">
                      <a16:colId xmlns:a16="http://schemas.microsoft.com/office/drawing/2014/main" val="2830034558"/>
                    </a:ext>
                  </a:extLst>
                </a:gridCol>
              </a:tblGrid>
              <a:tr h="853779">
                <a:tc>
                  <a:txBody>
                    <a:bodyPr/>
                    <a:lstStyle/>
                    <a:p>
                      <a:r>
                        <a:rPr lang="en-US" sz="2400" dirty="0"/>
                        <a:t>R-type</a:t>
                      </a:r>
                    </a:p>
                  </a:txBody>
                  <a:tcPr marL="121920" marR="121920" marT="60960" marB="60960"/>
                </a:tc>
                <a:tc>
                  <a:txBody>
                    <a:bodyPr/>
                    <a:lstStyle/>
                    <a:p>
                      <a:r>
                        <a:rPr lang="en-US" sz="2400" dirty="0"/>
                        <a:t>funct7</a:t>
                      </a:r>
                    </a:p>
                  </a:txBody>
                  <a:tcPr marL="121920" marR="121920" marT="60960" marB="60960"/>
                </a:tc>
                <a:tc>
                  <a:txBody>
                    <a:bodyPr/>
                    <a:lstStyle/>
                    <a:p>
                      <a:r>
                        <a:rPr lang="en-US" sz="2400" dirty="0"/>
                        <a:t>RS2</a:t>
                      </a:r>
                    </a:p>
                  </a:txBody>
                  <a:tcPr marL="121920" marR="121920" marT="60960" marB="60960"/>
                </a:tc>
                <a:tc>
                  <a:txBody>
                    <a:bodyPr/>
                    <a:lstStyle/>
                    <a:p>
                      <a:r>
                        <a:rPr lang="en-US" sz="2400" dirty="0"/>
                        <a:t>RS1</a:t>
                      </a:r>
                    </a:p>
                  </a:txBody>
                  <a:tcPr marL="121920" marR="121920" marT="60960" marB="60960"/>
                </a:tc>
                <a:tc>
                  <a:txBody>
                    <a:bodyPr/>
                    <a:lstStyle/>
                    <a:p>
                      <a:r>
                        <a:rPr lang="en-US" sz="2400" dirty="0"/>
                        <a:t>funct3</a:t>
                      </a:r>
                    </a:p>
                  </a:txBody>
                  <a:tcPr marL="121920" marR="121920" marT="60960" marB="60960"/>
                </a:tc>
                <a:tc>
                  <a:txBody>
                    <a:bodyPr/>
                    <a:lstStyle/>
                    <a:p>
                      <a:r>
                        <a:rPr lang="en-US" sz="2400" dirty="0"/>
                        <a:t>RD</a:t>
                      </a:r>
                    </a:p>
                  </a:txBody>
                  <a:tcPr marL="121920" marR="121920" marT="60960" marB="60960"/>
                </a:tc>
                <a:tc>
                  <a:txBody>
                    <a:bodyPr/>
                    <a:lstStyle/>
                    <a:p>
                      <a:r>
                        <a:rPr lang="en-US" sz="2400" dirty="0"/>
                        <a:t>Opcode</a:t>
                      </a:r>
                    </a:p>
                  </a:txBody>
                  <a:tcPr marL="121920" marR="121920" marT="60960" marB="60960"/>
                </a:tc>
                <a:tc>
                  <a:txBody>
                    <a:bodyPr/>
                    <a:lstStyle/>
                    <a:p>
                      <a:pPr algn="ctr"/>
                      <a:r>
                        <a:rPr lang="en-US" sz="2400" dirty="0"/>
                        <a:t>Example</a:t>
                      </a:r>
                    </a:p>
                  </a:txBody>
                  <a:tcPr marL="121920" marR="121920" marT="60960" marB="60960"/>
                </a:tc>
                <a:extLst>
                  <a:ext uri="{0D108BD9-81ED-4DB2-BD59-A6C34878D82A}">
                    <a16:rowId xmlns:a16="http://schemas.microsoft.com/office/drawing/2014/main" val="3752694397"/>
                  </a:ext>
                </a:extLst>
              </a:tr>
              <a:tr h="853779">
                <a:tc>
                  <a:txBody>
                    <a:bodyPr/>
                    <a:lstStyle/>
                    <a:p>
                      <a:r>
                        <a:rPr lang="en-US" sz="2000" dirty="0"/>
                        <a:t>ADD</a:t>
                      </a:r>
                    </a:p>
                  </a:txBody>
                  <a:tcPr marL="121920" marR="121920" marT="60960" marB="60960"/>
                </a:tc>
                <a:tc>
                  <a:txBody>
                    <a:bodyPr/>
                    <a:lstStyle/>
                    <a:p>
                      <a:r>
                        <a:rPr lang="en-US" sz="2000" dirty="0"/>
                        <a:t>0000000</a:t>
                      </a:r>
                    </a:p>
                  </a:txBody>
                  <a:tcPr marL="121920" marR="121920" marT="60960" marB="60960"/>
                </a:tc>
                <a:tc>
                  <a:txBody>
                    <a:bodyPr/>
                    <a:lstStyle/>
                    <a:p>
                      <a:r>
                        <a:rPr lang="en-US" sz="2000" dirty="0"/>
                        <a:t>00011</a:t>
                      </a:r>
                    </a:p>
                  </a:txBody>
                  <a:tcPr marL="121920" marR="121920" marT="60960" marB="60960"/>
                </a:tc>
                <a:tc>
                  <a:txBody>
                    <a:bodyPr/>
                    <a:lstStyle/>
                    <a:p>
                      <a:r>
                        <a:rPr lang="en-US" sz="2000" dirty="0"/>
                        <a:t>00010</a:t>
                      </a:r>
                    </a:p>
                  </a:txBody>
                  <a:tcPr marL="121920" marR="121920" marT="60960" marB="60960"/>
                </a:tc>
                <a:tc>
                  <a:txBody>
                    <a:bodyPr/>
                    <a:lstStyle/>
                    <a:p>
                      <a:r>
                        <a:rPr lang="en-US" sz="2000" dirty="0"/>
                        <a:t>000</a:t>
                      </a:r>
                    </a:p>
                  </a:txBody>
                  <a:tcPr marL="121920" marR="121920" marT="60960" marB="60960"/>
                </a:tc>
                <a:tc>
                  <a:txBody>
                    <a:bodyPr/>
                    <a:lstStyle/>
                    <a:p>
                      <a:r>
                        <a:rPr lang="en-US" sz="2000" dirty="0"/>
                        <a:t>00001</a:t>
                      </a:r>
                    </a:p>
                  </a:txBody>
                  <a:tcPr marL="121920" marR="121920" marT="60960" marB="60960"/>
                </a:tc>
                <a:tc>
                  <a:txBody>
                    <a:bodyPr/>
                    <a:lstStyle/>
                    <a:p>
                      <a:r>
                        <a:rPr lang="en-US" sz="2000" dirty="0"/>
                        <a:t>0110011</a:t>
                      </a:r>
                    </a:p>
                  </a:txBody>
                  <a:tcPr marL="121920" marR="121920" marT="60960" marB="60960"/>
                </a:tc>
                <a:tc>
                  <a:txBody>
                    <a:bodyPr/>
                    <a:lstStyle/>
                    <a:p>
                      <a:r>
                        <a:rPr lang="en-US" sz="2000" dirty="0"/>
                        <a:t>Add x1,x2,x3</a:t>
                      </a:r>
                    </a:p>
                  </a:txBody>
                  <a:tcPr marL="121920" marR="121920" marT="60960" marB="60960"/>
                </a:tc>
                <a:extLst>
                  <a:ext uri="{0D108BD9-81ED-4DB2-BD59-A6C34878D82A}">
                    <a16:rowId xmlns:a16="http://schemas.microsoft.com/office/drawing/2014/main" val="1150738987"/>
                  </a:ext>
                </a:extLst>
              </a:tr>
              <a:tr h="853779">
                <a:tc>
                  <a:txBody>
                    <a:bodyPr/>
                    <a:lstStyle/>
                    <a:p>
                      <a:r>
                        <a:rPr lang="en-US" sz="2000" dirty="0"/>
                        <a:t>SUB</a:t>
                      </a:r>
                    </a:p>
                  </a:txBody>
                  <a:tcPr marL="121920" marR="121920" marT="60960" marB="60960"/>
                </a:tc>
                <a:tc>
                  <a:txBody>
                    <a:bodyPr/>
                    <a:lstStyle/>
                    <a:p>
                      <a:r>
                        <a:rPr lang="en-US" sz="2000" dirty="0"/>
                        <a:t>0100000</a:t>
                      </a:r>
                    </a:p>
                  </a:txBody>
                  <a:tcPr marL="121920" marR="121920" marT="60960" marB="60960"/>
                </a:tc>
                <a:tc>
                  <a:txBody>
                    <a:bodyPr/>
                    <a:lstStyle/>
                    <a:p>
                      <a:r>
                        <a:rPr lang="en-US" sz="2000" dirty="0"/>
                        <a:t>00011</a:t>
                      </a:r>
                    </a:p>
                  </a:txBody>
                  <a:tcPr marL="121920" marR="121920" marT="60960" marB="60960"/>
                </a:tc>
                <a:tc>
                  <a:txBody>
                    <a:bodyPr/>
                    <a:lstStyle/>
                    <a:p>
                      <a:r>
                        <a:rPr lang="en-US" sz="2000" dirty="0"/>
                        <a:t>00010</a:t>
                      </a:r>
                    </a:p>
                  </a:txBody>
                  <a:tcPr marL="121920" marR="121920" marT="60960" marB="60960"/>
                </a:tc>
                <a:tc>
                  <a:txBody>
                    <a:bodyPr/>
                    <a:lstStyle/>
                    <a:p>
                      <a:r>
                        <a:rPr lang="en-US" sz="2000" dirty="0"/>
                        <a:t>000</a:t>
                      </a:r>
                    </a:p>
                  </a:txBody>
                  <a:tcPr marL="121920" marR="121920" marT="60960" marB="60960"/>
                </a:tc>
                <a:tc>
                  <a:txBody>
                    <a:bodyPr/>
                    <a:lstStyle/>
                    <a:p>
                      <a:r>
                        <a:rPr lang="en-US" sz="2000" dirty="0"/>
                        <a:t>00001</a:t>
                      </a:r>
                    </a:p>
                  </a:txBody>
                  <a:tcPr marL="121920" marR="121920" marT="60960" marB="60960"/>
                </a:tc>
                <a:tc>
                  <a:txBody>
                    <a:bodyPr/>
                    <a:lstStyle/>
                    <a:p>
                      <a:r>
                        <a:rPr lang="en-US" sz="2000" dirty="0"/>
                        <a:t>0110011</a:t>
                      </a:r>
                    </a:p>
                  </a:txBody>
                  <a:tcPr marL="121920" marR="121920" marT="60960" marB="60960"/>
                </a:tc>
                <a:tc>
                  <a:txBody>
                    <a:bodyPr/>
                    <a:lstStyle/>
                    <a:p>
                      <a:r>
                        <a:rPr lang="en-US" sz="2000" dirty="0"/>
                        <a:t>Sub x1,x2,x3</a:t>
                      </a:r>
                    </a:p>
                  </a:txBody>
                  <a:tcPr marL="121920" marR="121920" marT="60960" marB="60960"/>
                </a:tc>
                <a:extLst>
                  <a:ext uri="{0D108BD9-81ED-4DB2-BD59-A6C34878D82A}">
                    <a16:rowId xmlns:a16="http://schemas.microsoft.com/office/drawing/2014/main" val="266197382"/>
                  </a:ext>
                </a:extLst>
              </a:tr>
            </a:tbl>
          </a:graphicData>
        </a:graphic>
      </p:graphicFrame>
    </p:spTree>
    <p:extLst>
      <p:ext uri="{BB962C8B-B14F-4D97-AF65-F5344CB8AC3E}">
        <p14:creationId xmlns:p14="http://schemas.microsoft.com/office/powerpoint/2010/main" val="394452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1962" y="60789"/>
            <a:ext cx="8206855" cy="585409"/>
          </a:xfrm>
        </p:spPr>
        <p:txBody>
          <a:bodyPr/>
          <a:lstStyle/>
          <a:p>
            <a:r>
              <a:rPr lang="en-US" sz="4000" dirty="0"/>
              <a:t>ALU Instructions (R) </a:t>
            </a:r>
            <a:endParaRPr lang="en-US" sz="4000" i="1" dirty="0"/>
          </a:p>
        </p:txBody>
      </p:sp>
      <p:sp>
        <p:nvSpPr>
          <p:cNvPr id="3" name="Content Placeholder 2"/>
          <p:cNvSpPr>
            <a:spLocks noGrp="1"/>
          </p:cNvSpPr>
          <p:nvPr>
            <p:ph idx="1"/>
          </p:nvPr>
        </p:nvSpPr>
        <p:spPr>
          <a:xfrm>
            <a:off x="1480457" y="1228877"/>
            <a:ext cx="9076267" cy="4915505"/>
          </a:xfrm>
        </p:spPr>
        <p:txBody>
          <a:bodyPr/>
          <a:lstStyle/>
          <a:p>
            <a:r>
              <a:rPr lang="en-US" sz="2400" dirty="0">
                <a:sym typeface="Wingdings" panose="05000000000000000000" pitchFamily="2" charset="2"/>
              </a:rPr>
              <a:t>Register-Register instructions (R-type) (opcode=0110011)</a:t>
            </a:r>
          </a:p>
          <a:p>
            <a:pPr lvl="1"/>
            <a:endParaRPr lang="en-US" sz="2000" dirty="0">
              <a:solidFill>
                <a:srgbClr val="56127A"/>
              </a:solidFill>
            </a:endParaRPr>
          </a:p>
          <a:p>
            <a:pPr marL="457189" lvl="1" indent="0">
              <a:buNone/>
            </a:pPr>
            <a:endParaRPr lang="en-US" sz="2000" dirty="0">
              <a:solidFill>
                <a:srgbClr val="56127A"/>
              </a:solidFill>
            </a:endParaRPr>
          </a:p>
          <a:p>
            <a:pPr marL="457189" lvl="1" indent="0">
              <a:buNone/>
            </a:pPr>
            <a:endParaRPr lang="en-US" sz="2000" dirty="0">
              <a:solidFill>
                <a:srgbClr val="56127A"/>
              </a:solidFill>
            </a:endParaRPr>
          </a:p>
          <a:p>
            <a:pPr marL="457189" lvl="1" indent="0">
              <a:buNone/>
            </a:pPr>
            <a:endParaRPr lang="en-US" sz="2000" dirty="0">
              <a:solidFill>
                <a:srgbClr val="56127A"/>
              </a:solidFill>
            </a:endParaRPr>
          </a:p>
          <a:p>
            <a:pPr lvl="1"/>
            <a:r>
              <a:rPr lang="en-US" sz="2133" dirty="0">
                <a:sym typeface="Wingdings" panose="05000000000000000000" pitchFamily="2" charset="2"/>
              </a:rPr>
              <a:t>opcode=OP: </a:t>
            </a:r>
            <a:r>
              <a:rPr lang="en-US" sz="2133" dirty="0" err="1">
                <a:solidFill>
                  <a:schemeClr val="tx2"/>
                </a:solidFill>
              </a:rPr>
              <a:t>rd</a:t>
            </a:r>
            <a:r>
              <a:rPr lang="en-US" sz="2133" dirty="0">
                <a:solidFill>
                  <a:schemeClr val="tx2"/>
                </a:solidFill>
              </a:rPr>
              <a:t> </a:t>
            </a:r>
            <a:r>
              <a:rPr lang="en-US" sz="2133" dirty="0">
                <a:solidFill>
                  <a:schemeClr val="tx2"/>
                </a:solidFill>
                <a:sym typeface="Wingdings" panose="05000000000000000000" pitchFamily="2" charset="2"/>
              </a:rPr>
              <a:t> rs1 (funct3, funct7) rs2</a:t>
            </a:r>
          </a:p>
          <a:p>
            <a:pPr lvl="1"/>
            <a:r>
              <a:rPr lang="en-US" sz="2133" dirty="0">
                <a:sym typeface="Wingdings" panose="05000000000000000000" pitchFamily="2" charset="2"/>
              </a:rPr>
              <a:t>funct3 = ADD/SLT/SLTU/AND/OR/XOR/SLL </a:t>
            </a:r>
          </a:p>
          <a:p>
            <a:pPr lvl="1"/>
            <a:r>
              <a:rPr lang="en-US" sz="2133" dirty="0"/>
              <a:t>funct3= ADD (000)</a:t>
            </a:r>
          </a:p>
          <a:p>
            <a:pPr lvl="2"/>
            <a:r>
              <a:rPr lang="en-US" sz="1867" dirty="0"/>
              <a:t>funct7 = 0000000: rs1 + rs2</a:t>
            </a:r>
          </a:p>
          <a:p>
            <a:pPr lvl="2"/>
            <a:r>
              <a:rPr lang="en-US" sz="1867" dirty="0"/>
              <a:t>funct7 = 0100000: rs1 – rs2</a:t>
            </a:r>
          </a:p>
          <a:p>
            <a:pPr lvl="1"/>
            <a:r>
              <a:rPr lang="en-US" sz="2133" dirty="0"/>
              <a:t>funct3 = SRL (101)</a:t>
            </a:r>
          </a:p>
          <a:p>
            <a:pPr lvl="2"/>
            <a:r>
              <a:rPr lang="en-US" sz="1867" dirty="0"/>
              <a:t>funct7 = 0000000: logical shift right</a:t>
            </a:r>
          </a:p>
          <a:p>
            <a:pPr lvl="2"/>
            <a:r>
              <a:rPr lang="en-US" sz="1867" dirty="0"/>
              <a:t>funct7 = 0100000: arithmetic shift right</a:t>
            </a:r>
          </a:p>
          <a:p>
            <a:pPr lvl="1"/>
            <a:endParaRPr lang="en-US" sz="2000" dirty="0">
              <a:sym typeface="Wingdings" panose="05000000000000000000" pitchFamily="2" charset="2"/>
            </a:endParaRPr>
          </a:p>
        </p:txBody>
      </p:sp>
      <p:grpSp>
        <p:nvGrpSpPr>
          <p:cNvPr id="8" name="Group 7"/>
          <p:cNvGrpSpPr/>
          <p:nvPr/>
        </p:nvGrpSpPr>
        <p:grpSpPr>
          <a:xfrm>
            <a:off x="2210114" y="2024084"/>
            <a:ext cx="8078703" cy="646103"/>
            <a:chOff x="723900" y="2124293"/>
            <a:chExt cx="8078703" cy="646103"/>
          </a:xfrm>
        </p:grpSpPr>
        <p:sp>
          <p:nvSpPr>
            <p:cNvPr id="9" name="TextBox 8"/>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10" name="TextBox 9"/>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16" name="TextBox 15"/>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18" name="TextBox 17"/>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9" name="TextBox 18"/>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20" name="TextBox 19"/>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14</a:t>
            </a:fld>
            <a:endParaRPr lang="en-US" dirty="0"/>
          </a:p>
        </p:txBody>
      </p:sp>
    </p:spTree>
    <p:extLst>
      <p:ext uri="{BB962C8B-B14F-4D97-AF65-F5344CB8AC3E}">
        <p14:creationId xmlns:p14="http://schemas.microsoft.com/office/powerpoint/2010/main" val="609788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(I-type)</a:t>
            </a:r>
            <a:endParaRPr lang="en-US" i="1" dirty="0"/>
          </a:p>
        </p:txBody>
      </p:sp>
      <p:grpSp>
        <p:nvGrpSpPr>
          <p:cNvPr id="47" name="Group 46"/>
          <p:cNvGrpSpPr/>
          <p:nvPr/>
        </p:nvGrpSpPr>
        <p:grpSpPr>
          <a:xfrm>
            <a:off x="2105739" y="1726271"/>
            <a:ext cx="8078703" cy="646103"/>
            <a:chOff x="723900" y="3317566"/>
            <a:chExt cx="8078703" cy="646103"/>
          </a:xfrm>
        </p:grpSpPr>
        <p:sp>
          <p:nvSpPr>
            <p:cNvPr id="29" name="TextBox 28"/>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31" name="TextBox 3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32" name="TextBox 3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33" name="TextBox 3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34" name="TextBox 3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35" name="TextBox 3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37" name="TextBox 36"/>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38" name="TextBox 37"/>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39" name="TextBox 38"/>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40" name="TextBox 39"/>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0" name="TextBox 49"/>
          <p:cNvSpPr txBox="1"/>
          <p:nvPr/>
        </p:nvSpPr>
        <p:spPr>
          <a:xfrm>
            <a:off x="2016897" y="1150277"/>
            <a:ext cx="73719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I-type</a:t>
            </a:r>
            <a:r>
              <a:rPr lang="en-US" sz="2400" dirty="0"/>
              <a:t> instruction &amp; I-immediate (32 bits)</a:t>
            </a:r>
            <a:endParaRPr lang="en-US" dirty="0"/>
          </a:p>
        </p:txBody>
      </p:sp>
      <p:sp>
        <p:nvSpPr>
          <p:cNvPr id="81" name="TextBox 80"/>
          <p:cNvSpPr txBox="1"/>
          <p:nvPr/>
        </p:nvSpPr>
        <p:spPr>
          <a:xfrm>
            <a:off x="2103822" y="2570780"/>
            <a:ext cx="7715391" cy="369332"/>
          </a:xfrm>
          <a:prstGeom prst="rect">
            <a:avLst/>
          </a:prstGeom>
          <a:noFill/>
        </p:spPr>
        <p:txBody>
          <a:bodyPr wrap="square" rtlCol="0">
            <a:spAutoFit/>
          </a:bodyPr>
          <a:lstStyle/>
          <a:p>
            <a:r>
              <a:rPr lang="en-US" dirty="0"/>
              <a:t>I-</a:t>
            </a:r>
            <a:r>
              <a:rPr lang="en-US" dirty="0" err="1"/>
              <a:t>imm</a:t>
            </a:r>
            <a:r>
              <a:rPr lang="en-US" dirty="0"/>
              <a:t> = </a:t>
            </a:r>
            <a:r>
              <a:rPr lang="en-US" dirty="0" err="1"/>
              <a:t>signExtend</a:t>
            </a:r>
            <a:r>
              <a:rPr lang="en-US" dirty="0"/>
              <a:t>(</a:t>
            </a:r>
            <a:r>
              <a:rPr lang="en-US" dirty="0" err="1"/>
              <a:t>inst</a:t>
            </a:r>
            <a:r>
              <a:rPr lang="en-US" dirty="0"/>
              <a:t>[31:20])</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15</a:t>
            </a:fld>
            <a:endParaRPr lang="en-US" dirty="0"/>
          </a:p>
        </p:txBody>
      </p:sp>
      <p:graphicFrame>
        <p:nvGraphicFramePr>
          <p:cNvPr id="53" name="Table 4">
            <a:extLst>
              <a:ext uri="{FF2B5EF4-FFF2-40B4-BE49-F238E27FC236}">
                <a16:creationId xmlns:a16="http://schemas.microsoft.com/office/drawing/2014/main" id="{377FCC45-0581-42D8-97CE-8C1A100E6206}"/>
              </a:ext>
            </a:extLst>
          </p:cNvPr>
          <p:cNvGraphicFramePr>
            <a:graphicFrameLocks noGrp="1"/>
          </p:cNvGraphicFramePr>
          <p:nvPr>
            <p:extLst>
              <p:ext uri="{D42A27DB-BD31-4B8C-83A1-F6EECF244321}">
                <p14:modId xmlns:p14="http://schemas.microsoft.com/office/powerpoint/2010/main" val="1840549160"/>
              </p:ext>
            </p:extLst>
          </p:nvPr>
        </p:nvGraphicFramePr>
        <p:xfrm>
          <a:off x="796365" y="3281989"/>
          <a:ext cx="11015032" cy="1670061"/>
        </p:xfrm>
        <a:graphic>
          <a:graphicData uri="http://schemas.openxmlformats.org/drawingml/2006/table">
            <a:tbl>
              <a:tblPr firstRow="1" bandRow="1">
                <a:tableStyleId>{5C22544A-7EE6-4342-B048-85BDC9FD1C3A}</a:tableStyleId>
              </a:tblPr>
              <a:tblGrid>
                <a:gridCol w="1394381">
                  <a:extLst>
                    <a:ext uri="{9D8B030D-6E8A-4147-A177-3AD203B41FA5}">
                      <a16:colId xmlns:a16="http://schemas.microsoft.com/office/drawing/2014/main" val="1721893818"/>
                    </a:ext>
                  </a:extLst>
                </a:gridCol>
                <a:gridCol w="2536779">
                  <a:extLst>
                    <a:ext uri="{9D8B030D-6E8A-4147-A177-3AD203B41FA5}">
                      <a16:colId xmlns:a16="http://schemas.microsoft.com/office/drawing/2014/main" val="3783186759"/>
                    </a:ext>
                  </a:extLst>
                </a:gridCol>
                <a:gridCol w="1352145">
                  <a:extLst>
                    <a:ext uri="{9D8B030D-6E8A-4147-A177-3AD203B41FA5}">
                      <a16:colId xmlns:a16="http://schemas.microsoft.com/office/drawing/2014/main" val="92472603"/>
                    </a:ext>
                  </a:extLst>
                </a:gridCol>
                <a:gridCol w="1313234">
                  <a:extLst>
                    <a:ext uri="{9D8B030D-6E8A-4147-A177-3AD203B41FA5}">
                      <a16:colId xmlns:a16="http://schemas.microsoft.com/office/drawing/2014/main" val="3276777015"/>
                    </a:ext>
                  </a:extLst>
                </a:gridCol>
                <a:gridCol w="1070043">
                  <a:extLst>
                    <a:ext uri="{9D8B030D-6E8A-4147-A177-3AD203B41FA5}">
                      <a16:colId xmlns:a16="http://schemas.microsoft.com/office/drawing/2014/main" val="499702933"/>
                    </a:ext>
                  </a:extLst>
                </a:gridCol>
                <a:gridCol w="1293870">
                  <a:extLst>
                    <a:ext uri="{9D8B030D-6E8A-4147-A177-3AD203B41FA5}">
                      <a16:colId xmlns:a16="http://schemas.microsoft.com/office/drawing/2014/main" val="2002421486"/>
                    </a:ext>
                  </a:extLst>
                </a:gridCol>
                <a:gridCol w="2054580">
                  <a:extLst>
                    <a:ext uri="{9D8B030D-6E8A-4147-A177-3AD203B41FA5}">
                      <a16:colId xmlns:a16="http://schemas.microsoft.com/office/drawing/2014/main" val="2830034558"/>
                    </a:ext>
                  </a:extLst>
                </a:gridCol>
              </a:tblGrid>
              <a:tr h="780327">
                <a:tc>
                  <a:txBody>
                    <a:bodyPr/>
                    <a:lstStyle/>
                    <a:p>
                      <a:r>
                        <a:rPr lang="en-US" sz="2400" dirty="0"/>
                        <a:t>I-type</a:t>
                      </a:r>
                    </a:p>
                  </a:txBody>
                  <a:tcPr marL="121920" marR="121920" marT="60960" marB="60960"/>
                </a:tc>
                <a:tc>
                  <a:txBody>
                    <a:bodyPr/>
                    <a:lstStyle/>
                    <a:p>
                      <a:pPr algn="ctr"/>
                      <a:r>
                        <a:rPr lang="en-US" sz="2400" dirty="0"/>
                        <a:t>immediate</a:t>
                      </a:r>
                    </a:p>
                  </a:txBody>
                  <a:tcPr marL="121920" marR="121920" marT="60960" marB="60960"/>
                </a:tc>
                <a:tc>
                  <a:txBody>
                    <a:bodyPr/>
                    <a:lstStyle/>
                    <a:p>
                      <a:r>
                        <a:rPr lang="en-US" sz="2400" dirty="0"/>
                        <a:t>RS1</a:t>
                      </a:r>
                    </a:p>
                  </a:txBody>
                  <a:tcPr marL="121920" marR="121920" marT="60960" marB="60960"/>
                </a:tc>
                <a:tc>
                  <a:txBody>
                    <a:bodyPr/>
                    <a:lstStyle/>
                    <a:p>
                      <a:r>
                        <a:rPr lang="en-US" sz="2400" dirty="0"/>
                        <a:t>funct3</a:t>
                      </a:r>
                    </a:p>
                  </a:txBody>
                  <a:tcPr marL="121920" marR="121920" marT="60960" marB="60960"/>
                </a:tc>
                <a:tc>
                  <a:txBody>
                    <a:bodyPr/>
                    <a:lstStyle/>
                    <a:p>
                      <a:r>
                        <a:rPr lang="en-US" sz="2400" dirty="0"/>
                        <a:t>RD</a:t>
                      </a:r>
                    </a:p>
                  </a:txBody>
                  <a:tcPr marL="121920" marR="121920" marT="60960" marB="60960"/>
                </a:tc>
                <a:tc>
                  <a:txBody>
                    <a:bodyPr/>
                    <a:lstStyle/>
                    <a:p>
                      <a:r>
                        <a:rPr lang="en-US" sz="2000" dirty="0"/>
                        <a:t>Opcode</a:t>
                      </a:r>
                    </a:p>
                  </a:txBody>
                  <a:tcPr marL="121920" marR="121920" marT="60960" marB="60960"/>
                </a:tc>
                <a:tc>
                  <a:txBody>
                    <a:bodyPr/>
                    <a:lstStyle/>
                    <a:p>
                      <a:pPr algn="ctr"/>
                      <a:r>
                        <a:rPr lang="en-US" sz="2400" dirty="0"/>
                        <a:t>Example</a:t>
                      </a:r>
                    </a:p>
                  </a:txBody>
                  <a:tcPr marL="121920" marR="121920" marT="60960" marB="60960"/>
                </a:tc>
                <a:extLst>
                  <a:ext uri="{0D108BD9-81ED-4DB2-BD59-A6C34878D82A}">
                    <a16:rowId xmlns:a16="http://schemas.microsoft.com/office/drawing/2014/main" val="3752694397"/>
                  </a:ext>
                </a:extLst>
              </a:tr>
              <a:tr h="444867">
                <a:tc>
                  <a:txBody>
                    <a:bodyPr/>
                    <a:lstStyle/>
                    <a:p>
                      <a:r>
                        <a:rPr lang="en-US" sz="1800" dirty="0" err="1"/>
                        <a:t>addi</a:t>
                      </a:r>
                      <a:endParaRPr lang="en-US" sz="1800" dirty="0"/>
                    </a:p>
                  </a:txBody>
                  <a:tcPr marL="121920" marR="121920" marT="60960" marB="60960"/>
                </a:tc>
                <a:tc>
                  <a:txBody>
                    <a:bodyPr/>
                    <a:lstStyle/>
                    <a:p>
                      <a:pPr algn="ctr"/>
                      <a:r>
                        <a:rPr lang="en-US" sz="1800" dirty="0"/>
                        <a:t>010000000000</a:t>
                      </a:r>
                    </a:p>
                  </a:txBody>
                  <a:tcPr marL="121920" marR="121920" marT="60960" marB="60960"/>
                </a:tc>
                <a:tc>
                  <a:txBody>
                    <a:bodyPr/>
                    <a:lstStyle/>
                    <a:p>
                      <a:r>
                        <a:rPr lang="en-US" sz="1800" dirty="0"/>
                        <a:t>00010</a:t>
                      </a:r>
                    </a:p>
                  </a:txBody>
                  <a:tcPr marL="121920" marR="121920" marT="60960" marB="60960"/>
                </a:tc>
                <a:tc>
                  <a:txBody>
                    <a:bodyPr/>
                    <a:lstStyle/>
                    <a:p>
                      <a:r>
                        <a:rPr lang="en-US" sz="1800" dirty="0"/>
                        <a:t>000</a:t>
                      </a:r>
                    </a:p>
                  </a:txBody>
                  <a:tcPr marL="121920" marR="121920" marT="60960" marB="60960"/>
                </a:tc>
                <a:tc>
                  <a:txBody>
                    <a:bodyPr/>
                    <a:lstStyle/>
                    <a:p>
                      <a:r>
                        <a:rPr lang="en-US" sz="1800" dirty="0"/>
                        <a:t>00001</a:t>
                      </a:r>
                    </a:p>
                  </a:txBody>
                  <a:tcPr marL="121920" marR="121920" marT="60960" marB="60960"/>
                </a:tc>
                <a:tc>
                  <a:txBody>
                    <a:bodyPr/>
                    <a:lstStyle/>
                    <a:p>
                      <a:r>
                        <a:rPr lang="en-US" sz="1800" dirty="0"/>
                        <a:t>0010011</a:t>
                      </a:r>
                    </a:p>
                  </a:txBody>
                  <a:tcPr marL="121920" marR="121920" marT="60960" marB="60960"/>
                </a:tc>
                <a:tc>
                  <a:txBody>
                    <a:bodyPr/>
                    <a:lstStyle/>
                    <a:p>
                      <a:r>
                        <a:rPr lang="en-US" sz="1800" dirty="0" err="1"/>
                        <a:t>Addi</a:t>
                      </a:r>
                      <a:r>
                        <a:rPr lang="en-US" sz="1800" dirty="0"/>
                        <a:t> x1,x2,1024</a:t>
                      </a:r>
                    </a:p>
                  </a:txBody>
                  <a:tcPr marL="121920" marR="121920" marT="60960" marB="60960"/>
                </a:tc>
                <a:extLst>
                  <a:ext uri="{0D108BD9-81ED-4DB2-BD59-A6C34878D82A}">
                    <a16:rowId xmlns:a16="http://schemas.microsoft.com/office/drawing/2014/main" val="1150738987"/>
                  </a:ext>
                </a:extLst>
              </a:tr>
              <a:tr h="444867">
                <a:tc>
                  <a:txBody>
                    <a:bodyPr/>
                    <a:lstStyle/>
                    <a:p>
                      <a:r>
                        <a:rPr lang="en-US" sz="1800" dirty="0" err="1"/>
                        <a:t>ld</a:t>
                      </a:r>
                      <a:endParaRPr lang="en-US" sz="1800" dirty="0"/>
                    </a:p>
                  </a:txBody>
                  <a:tcPr marL="121920" marR="121920" marT="60960" marB="60960"/>
                </a:tc>
                <a:tc>
                  <a:txBody>
                    <a:bodyPr/>
                    <a:lstStyle/>
                    <a:p>
                      <a:pPr algn="ctr"/>
                      <a:r>
                        <a:rPr lang="en-US" sz="1800" dirty="0"/>
                        <a:t>001111101000</a:t>
                      </a:r>
                    </a:p>
                  </a:txBody>
                  <a:tcPr marL="121920" marR="121920" marT="60960" marB="60960"/>
                </a:tc>
                <a:tc>
                  <a:txBody>
                    <a:bodyPr/>
                    <a:lstStyle/>
                    <a:p>
                      <a:r>
                        <a:rPr lang="en-US" sz="1800" dirty="0"/>
                        <a:t>00010</a:t>
                      </a:r>
                    </a:p>
                  </a:txBody>
                  <a:tcPr marL="121920" marR="121920" marT="60960" marB="60960"/>
                </a:tc>
                <a:tc>
                  <a:txBody>
                    <a:bodyPr/>
                    <a:lstStyle/>
                    <a:p>
                      <a:r>
                        <a:rPr lang="en-US" sz="1800" dirty="0"/>
                        <a:t>000</a:t>
                      </a:r>
                    </a:p>
                  </a:txBody>
                  <a:tcPr marL="121920" marR="121920" marT="60960" marB="60960"/>
                </a:tc>
                <a:tc>
                  <a:txBody>
                    <a:bodyPr/>
                    <a:lstStyle/>
                    <a:p>
                      <a:r>
                        <a:rPr lang="en-US" sz="1800" dirty="0"/>
                        <a:t>00001</a:t>
                      </a:r>
                    </a:p>
                  </a:txBody>
                  <a:tcPr marL="121920" marR="121920" marT="60960" marB="60960"/>
                </a:tc>
                <a:tc>
                  <a:txBody>
                    <a:bodyPr/>
                    <a:lstStyle/>
                    <a:p>
                      <a:r>
                        <a:rPr lang="en-US" sz="1800" dirty="0"/>
                        <a:t>0110011</a:t>
                      </a:r>
                    </a:p>
                  </a:txBody>
                  <a:tcPr marL="121920" marR="121920" marT="60960" marB="60960"/>
                </a:tc>
                <a:tc>
                  <a:txBody>
                    <a:bodyPr/>
                    <a:lstStyle/>
                    <a:p>
                      <a:r>
                        <a:rPr lang="en-US" sz="1800" dirty="0" err="1"/>
                        <a:t>Ld</a:t>
                      </a:r>
                      <a:r>
                        <a:rPr lang="en-US" sz="1800" dirty="0"/>
                        <a:t> x1, 1000(x2)</a:t>
                      </a:r>
                    </a:p>
                  </a:txBody>
                  <a:tcPr marL="121920" marR="121920" marT="60960" marB="60960"/>
                </a:tc>
                <a:extLst>
                  <a:ext uri="{0D108BD9-81ED-4DB2-BD59-A6C34878D82A}">
                    <a16:rowId xmlns:a16="http://schemas.microsoft.com/office/drawing/2014/main" val="266197382"/>
                  </a:ext>
                </a:extLst>
              </a:tr>
            </a:tbl>
          </a:graphicData>
        </a:graphic>
      </p:graphicFrame>
    </p:spTree>
    <p:extLst>
      <p:ext uri="{BB962C8B-B14F-4D97-AF65-F5344CB8AC3E}">
        <p14:creationId xmlns:p14="http://schemas.microsoft.com/office/powerpoint/2010/main" val="3656066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771" y="-131152"/>
            <a:ext cx="7988491" cy="1143000"/>
          </a:xfrm>
        </p:spPr>
        <p:txBody>
          <a:bodyPr/>
          <a:lstStyle/>
          <a:p>
            <a:r>
              <a:rPr lang="en-US" sz="4000" dirty="0"/>
              <a:t>ALU  Instructions (I)</a:t>
            </a:r>
          </a:p>
        </p:txBody>
      </p:sp>
      <p:sp>
        <p:nvSpPr>
          <p:cNvPr id="3" name="Content Placeholder 2"/>
          <p:cNvSpPr>
            <a:spLocks noGrp="1"/>
          </p:cNvSpPr>
          <p:nvPr>
            <p:ph idx="1"/>
          </p:nvPr>
        </p:nvSpPr>
        <p:spPr>
          <a:xfrm>
            <a:off x="1306286" y="1288825"/>
            <a:ext cx="10382553" cy="4623327"/>
          </a:xfrm>
        </p:spPr>
        <p:txBody>
          <a:bodyPr/>
          <a:lstStyle/>
          <a:p>
            <a:r>
              <a:rPr lang="en-US" sz="2400" dirty="0"/>
              <a:t>Register-immediate instructions (I-type) (0010011 for </a:t>
            </a:r>
            <a:r>
              <a:rPr lang="en-US" sz="2400" dirty="0" err="1"/>
              <a:t>alu</a:t>
            </a:r>
            <a:r>
              <a:rPr lang="en-US" sz="2400" dirty="0"/>
              <a:t>, 0000011 for load)</a:t>
            </a:r>
          </a:p>
          <a:p>
            <a:endParaRPr lang="en-US" sz="2400" dirty="0"/>
          </a:p>
          <a:p>
            <a:pPr marL="0" indent="0">
              <a:buNone/>
            </a:pPr>
            <a:endParaRPr lang="en-US" sz="2400" dirty="0"/>
          </a:p>
          <a:p>
            <a:endParaRPr lang="en-US" sz="2400" dirty="0"/>
          </a:p>
          <a:p>
            <a:pPr lvl="1"/>
            <a:r>
              <a:rPr lang="en-US" sz="2000" dirty="0">
                <a:sym typeface="Wingdings" panose="05000000000000000000" pitchFamily="2" charset="2"/>
              </a:rPr>
              <a:t>opcode = OP-IMM:</a:t>
            </a:r>
            <a:r>
              <a:rPr lang="en-US" sz="2000" dirty="0">
                <a:solidFill>
                  <a:srgbClr val="56127A"/>
                </a:solidFill>
                <a:sym typeface="Wingdings" panose="05000000000000000000" pitchFamily="2" charset="2"/>
              </a:rPr>
              <a:t>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rs1 (funct3)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a:t>
            </a:r>
          </a:p>
          <a:p>
            <a:pPr lvl="1"/>
            <a:r>
              <a:rPr lang="en-US" sz="2000" dirty="0"/>
              <a:t>I-</a:t>
            </a:r>
            <a:r>
              <a:rPr lang="en-US" sz="2000" dirty="0" err="1"/>
              <a:t>imm</a:t>
            </a:r>
            <a:r>
              <a:rPr lang="en-US" sz="2000" dirty="0"/>
              <a:t> = </a:t>
            </a:r>
            <a:r>
              <a:rPr lang="en-US" sz="2000" dirty="0" err="1"/>
              <a:t>signExtend</a:t>
            </a:r>
            <a:r>
              <a:rPr lang="en-US" sz="2000" dirty="0"/>
              <a:t> (</a:t>
            </a:r>
            <a:r>
              <a:rPr lang="en-US" sz="2000" dirty="0" err="1"/>
              <a:t>inst</a:t>
            </a:r>
            <a:r>
              <a:rPr lang="en-US" sz="2000" dirty="0"/>
              <a:t>[31:20])</a:t>
            </a:r>
          </a:p>
          <a:p>
            <a:pPr lvl="1"/>
            <a:r>
              <a:rPr lang="en-US" sz="2000" dirty="0"/>
              <a:t>funct3 = ADDI/SLTI/SLTIU/ANDI/ORI/XORI</a:t>
            </a:r>
          </a:p>
          <a:p>
            <a:pPr lvl="1"/>
            <a:endParaRPr lang="en-US" sz="2000" dirty="0"/>
          </a:p>
          <a:p>
            <a:r>
              <a:rPr lang="en-US" sz="2400" dirty="0"/>
              <a:t>A slight variant in coding for shift instructions - </a:t>
            </a:r>
            <a:r>
              <a:rPr lang="en-US" sz="2400" dirty="0">
                <a:sym typeface="Wingdings" panose="05000000000000000000" pitchFamily="2" charset="2"/>
              </a:rPr>
              <a:t>SLLI / SRLI / SRAI</a:t>
            </a:r>
          </a:p>
          <a:p>
            <a:pPr lvl="1"/>
            <a:r>
              <a:rPr lang="en-US" sz="2000" dirty="0" err="1">
                <a:solidFill>
                  <a:srgbClr val="56127A"/>
                </a:solidFill>
                <a:sym typeface="Wingdings" panose="05000000000000000000" pitchFamily="2" charset="2"/>
              </a:rPr>
              <a:t>rd</a:t>
            </a:r>
            <a:r>
              <a:rPr lang="en-US" sz="2000" dirty="0">
                <a:solidFill>
                  <a:srgbClr val="56127A"/>
                </a:solidFill>
                <a:sym typeface="Wingdings" panose="05000000000000000000" pitchFamily="2" charset="2"/>
              </a:rPr>
              <a:t>  rs1 (funct3, </a:t>
            </a:r>
            <a:r>
              <a:rPr lang="en-US" sz="2000" dirty="0" err="1">
                <a:solidFill>
                  <a:srgbClr val="56127A"/>
                </a:solidFill>
                <a:sym typeface="Wingdings" panose="05000000000000000000" pitchFamily="2" charset="2"/>
              </a:rPr>
              <a:t>inst</a:t>
            </a:r>
            <a:r>
              <a:rPr lang="en-US" sz="2000" dirty="0">
                <a:solidFill>
                  <a:srgbClr val="56127A"/>
                </a:solidFill>
                <a:sym typeface="Wingdings" panose="05000000000000000000" pitchFamily="2" charset="2"/>
              </a:rPr>
              <a:t>[30])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[4:0]</a:t>
            </a:r>
            <a:endParaRPr lang="en-US" sz="2000" dirty="0">
              <a:solidFill>
                <a:srgbClr val="56127A"/>
              </a:solidFill>
            </a:endParaRPr>
          </a:p>
          <a:p>
            <a:endParaRPr lang="en-US" sz="2400" dirty="0"/>
          </a:p>
          <a:p>
            <a:endParaRPr lang="en-US" sz="2400" dirty="0"/>
          </a:p>
          <a:p>
            <a:endParaRPr lang="en-US" sz="2400" dirty="0"/>
          </a:p>
          <a:p>
            <a:endParaRPr lang="en-US" sz="2400" dirty="0"/>
          </a:p>
          <a:p>
            <a:endParaRPr lang="en-US" sz="2400" dirty="0"/>
          </a:p>
          <a:p>
            <a:endParaRPr lang="en-US" sz="2400" dirty="0"/>
          </a:p>
        </p:txBody>
      </p:sp>
      <p:grpSp>
        <p:nvGrpSpPr>
          <p:cNvPr id="9" name="Group 8"/>
          <p:cNvGrpSpPr/>
          <p:nvPr/>
        </p:nvGrpSpPr>
        <p:grpSpPr>
          <a:xfrm>
            <a:off x="2202559" y="1968422"/>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dirty="0"/>
              <a:t>September 27, 2024</a:t>
            </a: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16</a:t>
            </a:fld>
            <a:endParaRPr lang="en-US" dirty="0"/>
          </a:p>
        </p:txBody>
      </p:sp>
      <p:sp>
        <p:nvSpPr>
          <p:cNvPr id="4" name="TextBox 3">
            <a:extLst>
              <a:ext uri="{FF2B5EF4-FFF2-40B4-BE49-F238E27FC236}">
                <a16:creationId xmlns:a16="http://schemas.microsoft.com/office/drawing/2014/main" id="{32E2D105-1FDC-41CE-A7A3-20BDC8210798}"/>
              </a:ext>
            </a:extLst>
          </p:cNvPr>
          <p:cNvSpPr txBox="1"/>
          <p:nvPr/>
        </p:nvSpPr>
        <p:spPr>
          <a:xfrm>
            <a:off x="739175" y="5636806"/>
            <a:ext cx="6330131" cy="461665"/>
          </a:xfrm>
          <a:prstGeom prst="rect">
            <a:avLst/>
          </a:prstGeom>
          <a:solidFill>
            <a:schemeClr val="tx2">
              <a:lumMod val="20000"/>
              <a:lumOff val="80000"/>
            </a:schemeClr>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To distinguish logical shift and arithmetic shift</a:t>
            </a:r>
          </a:p>
        </p:txBody>
      </p:sp>
      <p:cxnSp>
        <p:nvCxnSpPr>
          <p:cNvPr id="20" name="Straight Arrow Connector 19">
            <a:extLst>
              <a:ext uri="{FF2B5EF4-FFF2-40B4-BE49-F238E27FC236}">
                <a16:creationId xmlns:a16="http://schemas.microsoft.com/office/drawing/2014/main" id="{E7437D31-9AD4-4760-9FF9-B55A2CAA6356}"/>
              </a:ext>
            </a:extLst>
          </p:cNvPr>
          <p:cNvCxnSpPr>
            <a:stCxn id="4" idx="0"/>
          </p:cNvCxnSpPr>
          <p:nvPr/>
        </p:nvCxnSpPr>
        <p:spPr bwMode="auto">
          <a:xfrm flipV="1">
            <a:off x="3904241" y="5267553"/>
            <a:ext cx="189690" cy="369253"/>
          </a:xfrm>
          <a:prstGeom prst="straightConnector1">
            <a:avLst/>
          </a:prstGeom>
          <a:noFill/>
          <a:ln w="15875" cap="flat" cmpd="sng" algn="ctr">
            <a:solidFill>
              <a:srgbClr val="FF0000"/>
            </a:solidFill>
            <a:prstDash val="solid"/>
            <a:round/>
            <a:headEnd type="none" w="med" len="med"/>
            <a:tailEnd type="triangle"/>
          </a:ln>
        </p:spPr>
      </p:cxnSp>
      <p:sp>
        <p:nvSpPr>
          <p:cNvPr id="21" name="TextBox 20">
            <a:extLst>
              <a:ext uri="{FF2B5EF4-FFF2-40B4-BE49-F238E27FC236}">
                <a16:creationId xmlns:a16="http://schemas.microsoft.com/office/drawing/2014/main" id="{6382AA71-9CB5-4939-A628-D585F4ECB1A5}"/>
              </a:ext>
            </a:extLst>
          </p:cNvPr>
          <p:cNvSpPr txBox="1"/>
          <p:nvPr/>
        </p:nvSpPr>
        <p:spPr>
          <a:xfrm>
            <a:off x="8095158" y="5098275"/>
            <a:ext cx="3685633" cy="1200329"/>
          </a:xfrm>
          <a:prstGeom prst="rect">
            <a:avLst/>
          </a:prstGeom>
          <a:solidFill>
            <a:schemeClr val="tx2">
              <a:lumMod val="20000"/>
              <a:lumOff val="80000"/>
            </a:schemeClr>
          </a:solidFill>
          <a:ln>
            <a:solidFill>
              <a:srgbClr val="FF0000"/>
            </a:solidFill>
          </a:ln>
        </p:spPr>
        <p:txBody>
          <a:bodyPr wrap="square" rtlCol="0" anchor="ctr" anchorCtr="1">
            <a:spAutoFit/>
          </a:bodyPr>
          <a:lstStyle/>
          <a:p>
            <a:r>
              <a:rPr lang="en-US" sz="2400" dirty="0" err="1">
                <a:ea typeface="標楷體" pitchFamily="65" charset="-120"/>
                <a:cs typeface="Calibri" panose="020F0502020204030204" pitchFamily="34" charset="0"/>
              </a:rPr>
              <a:t>shamt</a:t>
            </a:r>
            <a:r>
              <a:rPr lang="en-US" sz="2400" dirty="0">
                <a:ea typeface="標楷體" pitchFamily="65" charset="-120"/>
                <a:cs typeface="Calibri" panose="020F0502020204030204" pitchFamily="34" charset="0"/>
              </a:rPr>
              <a:t> (shift amount)</a:t>
            </a:r>
          </a:p>
          <a:p>
            <a:r>
              <a:rPr lang="en-US" sz="2400" dirty="0">
                <a:ea typeface="標楷體" pitchFamily="65" charset="-120"/>
                <a:cs typeface="Calibri" panose="020F0502020204030204" pitchFamily="34" charset="0"/>
              </a:rPr>
              <a:t>5bit for RV32</a:t>
            </a:r>
          </a:p>
          <a:p>
            <a:r>
              <a:rPr lang="en-US" sz="2400" dirty="0">
                <a:ea typeface="標楷體" pitchFamily="65" charset="-120"/>
                <a:cs typeface="Calibri" panose="020F0502020204030204" pitchFamily="34" charset="0"/>
              </a:rPr>
              <a:t>6bit for RV64</a:t>
            </a:r>
          </a:p>
        </p:txBody>
      </p:sp>
      <p:cxnSp>
        <p:nvCxnSpPr>
          <p:cNvPr id="22" name="Straight Arrow Connector 21">
            <a:extLst>
              <a:ext uri="{FF2B5EF4-FFF2-40B4-BE49-F238E27FC236}">
                <a16:creationId xmlns:a16="http://schemas.microsoft.com/office/drawing/2014/main" id="{E13E02CE-EBF8-450E-8954-1E375696A4A6}"/>
              </a:ext>
            </a:extLst>
          </p:cNvPr>
          <p:cNvCxnSpPr>
            <a:cxnSpLocks/>
            <a:stCxn id="21" idx="1"/>
          </p:cNvCxnSpPr>
          <p:nvPr/>
        </p:nvCxnSpPr>
        <p:spPr bwMode="auto">
          <a:xfrm flipH="1" flipV="1">
            <a:off x="5786738" y="5267558"/>
            <a:ext cx="2308420" cy="430882"/>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105948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Load Instructions (I)</a:t>
            </a:r>
          </a:p>
        </p:txBody>
      </p:sp>
      <p:sp>
        <p:nvSpPr>
          <p:cNvPr id="3" name="Content Placeholder 2"/>
          <p:cNvSpPr>
            <a:spLocks noGrp="1"/>
          </p:cNvSpPr>
          <p:nvPr>
            <p:ph idx="1"/>
          </p:nvPr>
        </p:nvSpPr>
        <p:spPr>
          <a:xfrm>
            <a:off x="1804867" y="1210433"/>
            <a:ext cx="7772400" cy="4114800"/>
          </a:xfrm>
        </p:spPr>
        <p:txBody>
          <a:bodyPr/>
          <a:lstStyle/>
          <a:p>
            <a:r>
              <a:rPr lang="en-US" sz="2400" dirty="0"/>
              <a:t>Load (I-type)</a:t>
            </a:r>
          </a:p>
          <a:p>
            <a:pPr lvl="1"/>
            <a:endParaRPr lang="en-US" sz="2000" b="1" dirty="0"/>
          </a:p>
          <a:p>
            <a:pPr lvl="1"/>
            <a:endParaRPr lang="en-US" sz="2000" dirty="0"/>
          </a:p>
          <a:p>
            <a:pPr lvl="1"/>
            <a:r>
              <a:rPr lang="en-US" sz="2000" dirty="0"/>
              <a:t>opcode = LOAD: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mem[rs1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a:p>
            <a:pPr lvl="1"/>
            <a:r>
              <a:rPr lang="en-US" sz="2000" dirty="0">
                <a:sym typeface="Wingdings" panose="05000000000000000000" pitchFamily="2" charset="2"/>
              </a:rPr>
              <a:t>funct3 = LW/LB/LBU/LH/LHU</a:t>
            </a:r>
          </a:p>
          <a:p>
            <a:pPr marL="0" indent="0">
              <a:buNone/>
            </a:pPr>
            <a:endParaRPr lang="en-US" sz="2400" dirty="0">
              <a:sym typeface="Wingdings" panose="05000000000000000000" pitchFamily="2" charset="2"/>
            </a:endParaRPr>
          </a:p>
        </p:txBody>
      </p:sp>
      <p:grpSp>
        <p:nvGrpSpPr>
          <p:cNvPr id="9" name="Group 8"/>
          <p:cNvGrpSpPr/>
          <p:nvPr/>
        </p:nvGrpSpPr>
        <p:grpSpPr>
          <a:xfrm>
            <a:off x="1844539" y="1628697"/>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17</a:t>
            </a:fld>
            <a:endParaRPr lang="en-US" dirty="0"/>
          </a:p>
        </p:txBody>
      </p:sp>
      <p:sp>
        <p:nvSpPr>
          <p:cNvPr id="8" name="TextBox 7">
            <a:extLst>
              <a:ext uri="{FF2B5EF4-FFF2-40B4-BE49-F238E27FC236}">
                <a16:creationId xmlns:a16="http://schemas.microsoft.com/office/drawing/2014/main" id="{A755FEF0-EC32-481A-897B-7454ECE91D60}"/>
              </a:ext>
            </a:extLst>
          </p:cNvPr>
          <p:cNvSpPr txBox="1"/>
          <p:nvPr/>
        </p:nvSpPr>
        <p:spPr>
          <a:xfrm>
            <a:off x="7029450" y="4138940"/>
            <a:ext cx="236308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Base + Offset</a:t>
            </a:r>
          </a:p>
        </p:txBody>
      </p:sp>
      <p:cxnSp>
        <p:nvCxnSpPr>
          <p:cNvPr id="32" name="Straight Arrow Connector 31">
            <a:extLst>
              <a:ext uri="{FF2B5EF4-FFF2-40B4-BE49-F238E27FC236}">
                <a16:creationId xmlns:a16="http://schemas.microsoft.com/office/drawing/2014/main" id="{3C01F9FE-E67A-445A-A271-338B2FADC847}"/>
              </a:ext>
            </a:extLst>
          </p:cNvPr>
          <p:cNvCxnSpPr/>
          <p:nvPr/>
        </p:nvCxnSpPr>
        <p:spPr bwMode="auto">
          <a:xfrm flipH="1" flipV="1">
            <a:off x="5772150" y="2676525"/>
            <a:ext cx="1390650" cy="1590675"/>
          </a:xfrm>
          <a:prstGeom prst="straightConnector1">
            <a:avLst/>
          </a:prstGeom>
          <a:noFill/>
          <a:ln w="15875" cap="flat" cmpd="sng" algn="ctr">
            <a:solidFill>
              <a:srgbClr val="FF0000"/>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92BA892-0361-43F8-8B21-C9EA76D6D327}"/>
              </a:ext>
            </a:extLst>
          </p:cNvPr>
          <p:cNvCxnSpPr>
            <a:cxnSpLocks/>
          </p:cNvCxnSpPr>
          <p:nvPr/>
        </p:nvCxnSpPr>
        <p:spPr bwMode="auto">
          <a:xfrm flipH="1" flipV="1">
            <a:off x="6640463" y="2710948"/>
            <a:ext cx="1729570" cy="1590676"/>
          </a:xfrm>
          <a:prstGeom prst="straightConnector1">
            <a:avLst/>
          </a:prstGeom>
          <a:noFill/>
          <a:ln w="15875" cap="flat" cmpd="sng" algn="ctr">
            <a:solidFill>
              <a:srgbClr val="FF0000"/>
            </a:solidFill>
            <a:prstDash val="solid"/>
            <a:round/>
            <a:headEnd type="none" w="med" len="med"/>
            <a:tailEnd type="triangle"/>
          </a:ln>
          <a:effectLst/>
        </p:spPr>
      </p:cxnSp>
      <p:graphicFrame>
        <p:nvGraphicFramePr>
          <p:cNvPr id="36" name="Table 36">
            <a:extLst>
              <a:ext uri="{FF2B5EF4-FFF2-40B4-BE49-F238E27FC236}">
                <a16:creationId xmlns:a16="http://schemas.microsoft.com/office/drawing/2014/main" id="{55298CA5-C550-4495-B0EC-D48235CC140A}"/>
              </a:ext>
            </a:extLst>
          </p:cNvPr>
          <p:cNvGraphicFramePr>
            <a:graphicFrameLocks noGrp="1"/>
          </p:cNvGraphicFramePr>
          <p:nvPr>
            <p:extLst>
              <p:ext uri="{D42A27DB-BD31-4B8C-83A1-F6EECF244321}">
                <p14:modId xmlns:p14="http://schemas.microsoft.com/office/powerpoint/2010/main" val="2657507791"/>
              </p:ext>
            </p:extLst>
          </p:nvPr>
        </p:nvGraphicFramePr>
        <p:xfrm>
          <a:off x="1842909" y="4397781"/>
          <a:ext cx="3399678" cy="370840"/>
        </p:xfrm>
        <a:graphic>
          <a:graphicData uri="http://schemas.openxmlformats.org/drawingml/2006/table">
            <a:tbl>
              <a:tblPr firstRow="1" bandRow="1">
                <a:tableStyleId>{5C22544A-7EE6-4342-B048-85BDC9FD1C3A}</a:tableStyleId>
              </a:tblPr>
              <a:tblGrid>
                <a:gridCol w="566613">
                  <a:extLst>
                    <a:ext uri="{9D8B030D-6E8A-4147-A177-3AD203B41FA5}">
                      <a16:colId xmlns:a16="http://schemas.microsoft.com/office/drawing/2014/main" val="2585354835"/>
                    </a:ext>
                  </a:extLst>
                </a:gridCol>
                <a:gridCol w="566613">
                  <a:extLst>
                    <a:ext uri="{9D8B030D-6E8A-4147-A177-3AD203B41FA5}">
                      <a16:colId xmlns:a16="http://schemas.microsoft.com/office/drawing/2014/main" val="2943977885"/>
                    </a:ext>
                  </a:extLst>
                </a:gridCol>
                <a:gridCol w="566613">
                  <a:extLst>
                    <a:ext uri="{9D8B030D-6E8A-4147-A177-3AD203B41FA5}">
                      <a16:colId xmlns:a16="http://schemas.microsoft.com/office/drawing/2014/main" val="993159925"/>
                    </a:ext>
                  </a:extLst>
                </a:gridCol>
                <a:gridCol w="566613">
                  <a:extLst>
                    <a:ext uri="{9D8B030D-6E8A-4147-A177-3AD203B41FA5}">
                      <a16:colId xmlns:a16="http://schemas.microsoft.com/office/drawing/2014/main" val="3255442129"/>
                    </a:ext>
                  </a:extLst>
                </a:gridCol>
                <a:gridCol w="566613">
                  <a:extLst>
                    <a:ext uri="{9D8B030D-6E8A-4147-A177-3AD203B41FA5}">
                      <a16:colId xmlns:a16="http://schemas.microsoft.com/office/drawing/2014/main" val="2891476223"/>
                    </a:ext>
                  </a:extLst>
                </a:gridCol>
                <a:gridCol w="566613">
                  <a:extLst>
                    <a:ext uri="{9D8B030D-6E8A-4147-A177-3AD203B41FA5}">
                      <a16:colId xmlns:a16="http://schemas.microsoft.com/office/drawing/2014/main" val="2265760534"/>
                    </a:ext>
                  </a:extLst>
                </a:gridCol>
              </a:tblGrid>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833089835"/>
                  </a:ext>
                </a:extLst>
              </a:tr>
            </a:tbl>
          </a:graphicData>
        </a:graphic>
      </p:graphicFrame>
      <p:sp>
        <p:nvSpPr>
          <p:cNvPr id="38" name="TextBox 37">
            <a:extLst>
              <a:ext uri="{FF2B5EF4-FFF2-40B4-BE49-F238E27FC236}">
                <a16:creationId xmlns:a16="http://schemas.microsoft.com/office/drawing/2014/main" id="{D1985493-33D7-473D-922C-17B4AB701508}"/>
              </a:ext>
            </a:extLst>
          </p:cNvPr>
          <p:cNvSpPr txBox="1"/>
          <p:nvPr/>
        </p:nvSpPr>
        <p:spPr>
          <a:xfrm>
            <a:off x="715559" y="4397781"/>
            <a:ext cx="736099" cy="369332"/>
          </a:xfrm>
          <a:prstGeom prst="rect">
            <a:avLst/>
          </a:prstGeom>
          <a:noFill/>
        </p:spPr>
        <p:txBody>
          <a:bodyPr wrap="none" rtlCol="0" anchor="ctr" anchorCtr="1">
            <a:spAutoFit/>
          </a:bodyPr>
          <a:lstStyle/>
          <a:p>
            <a:r>
              <a:rPr lang="en-US" dirty="0">
                <a:ea typeface="標楷體" pitchFamily="65" charset="-120"/>
                <a:cs typeface="Calibri" pitchFamily="34" charset="0"/>
              </a:rPr>
              <a:t>Array</a:t>
            </a:r>
          </a:p>
        </p:txBody>
      </p:sp>
      <p:sp>
        <p:nvSpPr>
          <p:cNvPr id="39" name="TextBox 38">
            <a:extLst>
              <a:ext uri="{FF2B5EF4-FFF2-40B4-BE49-F238E27FC236}">
                <a16:creationId xmlns:a16="http://schemas.microsoft.com/office/drawing/2014/main" id="{E991A9CE-2510-4AE6-8627-72EE0ED878A5}"/>
              </a:ext>
            </a:extLst>
          </p:cNvPr>
          <p:cNvSpPr txBox="1"/>
          <p:nvPr/>
        </p:nvSpPr>
        <p:spPr>
          <a:xfrm>
            <a:off x="707601" y="4993922"/>
            <a:ext cx="787395" cy="369332"/>
          </a:xfrm>
          <a:prstGeom prst="rect">
            <a:avLst/>
          </a:prstGeom>
          <a:noFill/>
        </p:spPr>
        <p:txBody>
          <a:bodyPr wrap="none" rtlCol="0" anchor="ctr" anchorCtr="1">
            <a:spAutoFit/>
          </a:bodyPr>
          <a:lstStyle/>
          <a:p>
            <a:r>
              <a:rPr lang="en-US" dirty="0">
                <a:ea typeface="標楷體" pitchFamily="65" charset="-120"/>
                <a:cs typeface="Calibri" pitchFamily="34" charset="0"/>
              </a:rPr>
              <a:t>Struct</a:t>
            </a:r>
          </a:p>
        </p:txBody>
      </p:sp>
      <p:sp>
        <p:nvSpPr>
          <p:cNvPr id="40" name="TextBox 39">
            <a:extLst>
              <a:ext uri="{FF2B5EF4-FFF2-40B4-BE49-F238E27FC236}">
                <a16:creationId xmlns:a16="http://schemas.microsoft.com/office/drawing/2014/main" id="{43C9CCD5-9E2F-4037-AA7E-E2BD6D6F7268}"/>
              </a:ext>
            </a:extLst>
          </p:cNvPr>
          <p:cNvSpPr txBox="1"/>
          <p:nvPr/>
        </p:nvSpPr>
        <p:spPr>
          <a:xfrm>
            <a:off x="1856813"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1" name="TextBox 40">
            <a:extLst>
              <a:ext uri="{FF2B5EF4-FFF2-40B4-BE49-F238E27FC236}">
                <a16:creationId xmlns:a16="http://schemas.microsoft.com/office/drawing/2014/main" id="{CA681D65-325B-4D56-AED3-87BAD0BA8833}"/>
              </a:ext>
            </a:extLst>
          </p:cNvPr>
          <p:cNvSpPr txBox="1"/>
          <p:nvPr/>
        </p:nvSpPr>
        <p:spPr>
          <a:xfrm>
            <a:off x="2204726" y="5050642"/>
            <a:ext cx="890722"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2" name="TextBox 41">
            <a:extLst>
              <a:ext uri="{FF2B5EF4-FFF2-40B4-BE49-F238E27FC236}">
                <a16:creationId xmlns:a16="http://schemas.microsoft.com/office/drawing/2014/main" id="{05B02C76-9C3A-4D08-9105-D78B84D5926D}"/>
              </a:ext>
            </a:extLst>
          </p:cNvPr>
          <p:cNvSpPr txBox="1"/>
          <p:nvPr/>
        </p:nvSpPr>
        <p:spPr>
          <a:xfrm>
            <a:off x="3109352"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3" name="TextBox 42">
            <a:extLst>
              <a:ext uri="{FF2B5EF4-FFF2-40B4-BE49-F238E27FC236}">
                <a16:creationId xmlns:a16="http://schemas.microsoft.com/office/drawing/2014/main" id="{E7B4393B-EEAF-4F8E-94AA-5C48594ECADA}"/>
              </a:ext>
            </a:extLst>
          </p:cNvPr>
          <p:cNvSpPr txBox="1"/>
          <p:nvPr/>
        </p:nvSpPr>
        <p:spPr>
          <a:xfrm>
            <a:off x="3470999" y="5048441"/>
            <a:ext cx="1405873"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4" name="TextBox 43">
            <a:extLst>
              <a:ext uri="{FF2B5EF4-FFF2-40B4-BE49-F238E27FC236}">
                <a16:creationId xmlns:a16="http://schemas.microsoft.com/office/drawing/2014/main" id="{DCA24E1E-ADA5-42AD-9F16-0286E9E83746}"/>
              </a:ext>
            </a:extLst>
          </p:cNvPr>
          <p:cNvSpPr txBox="1"/>
          <p:nvPr/>
        </p:nvSpPr>
        <p:spPr>
          <a:xfrm>
            <a:off x="4904510" y="5048441"/>
            <a:ext cx="334009" cy="369332"/>
          </a:xfrm>
          <a:prstGeom prst="rect">
            <a:avLst/>
          </a:prstGeom>
          <a:solidFill>
            <a:schemeClr val="accent3"/>
          </a:solidFill>
        </p:spPr>
        <p:txBody>
          <a:bodyPr wrap="square" rtlCol="0" anchor="ctr" anchorCtr="1">
            <a:spAutoFit/>
          </a:bodyPr>
          <a:lstStyle/>
          <a:p>
            <a:endParaRPr lang="en-US" dirty="0">
              <a:ea typeface="標楷體" pitchFamily="65" charset="-120"/>
              <a:cs typeface="Calibri" pitchFamily="34" charset="0"/>
            </a:endParaRPr>
          </a:p>
        </p:txBody>
      </p:sp>
      <p:sp>
        <p:nvSpPr>
          <p:cNvPr id="45" name="TextBox 44">
            <a:extLst>
              <a:ext uri="{FF2B5EF4-FFF2-40B4-BE49-F238E27FC236}">
                <a16:creationId xmlns:a16="http://schemas.microsoft.com/office/drawing/2014/main" id="{9828EFF0-6926-481B-B0A9-29F44E676412}"/>
              </a:ext>
            </a:extLst>
          </p:cNvPr>
          <p:cNvSpPr txBox="1"/>
          <p:nvPr/>
        </p:nvSpPr>
        <p:spPr>
          <a:xfrm>
            <a:off x="288266" y="5598476"/>
            <a:ext cx="1210588" cy="369332"/>
          </a:xfrm>
          <a:prstGeom prst="rect">
            <a:avLst/>
          </a:prstGeom>
          <a:noFill/>
        </p:spPr>
        <p:txBody>
          <a:bodyPr wrap="none" rtlCol="0" anchor="ctr" anchorCtr="1">
            <a:spAutoFit/>
          </a:bodyPr>
          <a:lstStyle/>
          <a:p>
            <a:r>
              <a:rPr lang="en-US" dirty="0">
                <a:ea typeface="標楷體" pitchFamily="65" charset="-120"/>
                <a:cs typeface="Calibri" pitchFamily="34" charset="0"/>
              </a:rPr>
              <a:t>Linked list</a:t>
            </a:r>
          </a:p>
        </p:txBody>
      </p:sp>
      <p:sp>
        <p:nvSpPr>
          <p:cNvPr id="46" name="TextBox 45">
            <a:extLst>
              <a:ext uri="{FF2B5EF4-FFF2-40B4-BE49-F238E27FC236}">
                <a16:creationId xmlns:a16="http://schemas.microsoft.com/office/drawing/2014/main" id="{E7479B2F-4BEA-4F31-875E-CC21F661B5C0}"/>
              </a:ext>
            </a:extLst>
          </p:cNvPr>
          <p:cNvSpPr txBox="1"/>
          <p:nvPr/>
        </p:nvSpPr>
        <p:spPr>
          <a:xfrm>
            <a:off x="1856813" y="5685327"/>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48" name="Straight Arrow Connector 47">
            <a:extLst>
              <a:ext uri="{FF2B5EF4-FFF2-40B4-BE49-F238E27FC236}">
                <a16:creationId xmlns:a16="http://schemas.microsoft.com/office/drawing/2014/main" id="{3BC4F080-7197-4AF3-B01C-19E7EB6D4086}"/>
              </a:ext>
            </a:extLst>
          </p:cNvPr>
          <p:cNvCxnSpPr>
            <a:stCxn id="46" idx="3"/>
          </p:cNvCxnSpPr>
          <p:nvPr/>
        </p:nvCxnSpPr>
        <p:spPr bwMode="auto">
          <a:xfrm flipV="1">
            <a:off x="2190822" y="5858141"/>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49" name="TextBox 48">
            <a:extLst>
              <a:ext uri="{FF2B5EF4-FFF2-40B4-BE49-F238E27FC236}">
                <a16:creationId xmlns:a16="http://schemas.microsoft.com/office/drawing/2014/main" id="{312C157D-AA99-4AE4-960D-3BAE7120BAF0}"/>
              </a:ext>
            </a:extLst>
          </p:cNvPr>
          <p:cNvSpPr txBox="1"/>
          <p:nvPr/>
        </p:nvSpPr>
        <p:spPr>
          <a:xfrm>
            <a:off x="2466975" y="5685327"/>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0" name="Straight Arrow Connector 49">
            <a:extLst>
              <a:ext uri="{FF2B5EF4-FFF2-40B4-BE49-F238E27FC236}">
                <a16:creationId xmlns:a16="http://schemas.microsoft.com/office/drawing/2014/main" id="{C51B1485-518F-402C-A135-B875E3D2EA57}"/>
              </a:ext>
            </a:extLst>
          </p:cNvPr>
          <p:cNvCxnSpPr>
            <a:stCxn id="49" idx="3"/>
          </p:cNvCxnSpPr>
          <p:nvPr/>
        </p:nvCxnSpPr>
        <p:spPr bwMode="auto">
          <a:xfrm flipV="1">
            <a:off x="2800984" y="5858141"/>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1" name="TextBox 50">
            <a:extLst>
              <a:ext uri="{FF2B5EF4-FFF2-40B4-BE49-F238E27FC236}">
                <a16:creationId xmlns:a16="http://schemas.microsoft.com/office/drawing/2014/main" id="{6769F55E-AEA8-4DF9-94CB-066B49242783}"/>
              </a:ext>
            </a:extLst>
          </p:cNvPr>
          <p:cNvSpPr txBox="1"/>
          <p:nvPr/>
        </p:nvSpPr>
        <p:spPr>
          <a:xfrm>
            <a:off x="3077915" y="5673475"/>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2" name="Straight Arrow Connector 51">
            <a:extLst>
              <a:ext uri="{FF2B5EF4-FFF2-40B4-BE49-F238E27FC236}">
                <a16:creationId xmlns:a16="http://schemas.microsoft.com/office/drawing/2014/main" id="{F9C87579-514A-44EA-B725-52C08AFC64DB}"/>
              </a:ext>
            </a:extLst>
          </p:cNvPr>
          <p:cNvCxnSpPr>
            <a:stCxn id="51" idx="3"/>
          </p:cNvCxnSpPr>
          <p:nvPr/>
        </p:nvCxnSpPr>
        <p:spPr bwMode="auto">
          <a:xfrm flipV="1">
            <a:off x="3411924" y="5846289"/>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3" name="TextBox 52">
            <a:extLst>
              <a:ext uri="{FF2B5EF4-FFF2-40B4-BE49-F238E27FC236}">
                <a16:creationId xmlns:a16="http://schemas.microsoft.com/office/drawing/2014/main" id="{5E0C5829-EA32-4744-91D8-EF5CE738C269}"/>
              </a:ext>
            </a:extLst>
          </p:cNvPr>
          <p:cNvSpPr txBox="1"/>
          <p:nvPr/>
        </p:nvSpPr>
        <p:spPr>
          <a:xfrm>
            <a:off x="3688077" y="5661623"/>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4" name="Straight Arrow Connector 53">
            <a:extLst>
              <a:ext uri="{FF2B5EF4-FFF2-40B4-BE49-F238E27FC236}">
                <a16:creationId xmlns:a16="http://schemas.microsoft.com/office/drawing/2014/main" id="{99776F98-8D8C-425A-81FE-0437806E3BDF}"/>
              </a:ext>
            </a:extLst>
          </p:cNvPr>
          <p:cNvCxnSpPr>
            <a:stCxn id="53" idx="3"/>
          </p:cNvCxnSpPr>
          <p:nvPr/>
        </p:nvCxnSpPr>
        <p:spPr bwMode="auto">
          <a:xfrm flipV="1">
            <a:off x="4022086" y="5834437"/>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5" name="TextBox 54">
            <a:extLst>
              <a:ext uri="{FF2B5EF4-FFF2-40B4-BE49-F238E27FC236}">
                <a16:creationId xmlns:a16="http://schemas.microsoft.com/office/drawing/2014/main" id="{60867B3D-EB70-48B0-8B0E-C29B4FB19AFB}"/>
              </a:ext>
            </a:extLst>
          </p:cNvPr>
          <p:cNvSpPr txBox="1"/>
          <p:nvPr/>
        </p:nvSpPr>
        <p:spPr>
          <a:xfrm>
            <a:off x="4298239" y="5661623"/>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6" name="Straight Arrow Connector 55">
            <a:extLst>
              <a:ext uri="{FF2B5EF4-FFF2-40B4-BE49-F238E27FC236}">
                <a16:creationId xmlns:a16="http://schemas.microsoft.com/office/drawing/2014/main" id="{EE062063-6065-4C23-963F-29087B43044B}"/>
              </a:ext>
            </a:extLst>
          </p:cNvPr>
          <p:cNvCxnSpPr>
            <a:stCxn id="55" idx="3"/>
          </p:cNvCxnSpPr>
          <p:nvPr/>
        </p:nvCxnSpPr>
        <p:spPr bwMode="auto">
          <a:xfrm flipV="1">
            <a:off x="4632248" y="5834437"/>
            <a:ext cx="276153" cy="11852"/>
          </a:xfrm>
          <a:prstGeom prst="straightConnector1">
            <a:avLst/>
          </a:prstGeom>
          <a:noFill/>
          <a:ln w="15875" cap="flat" cmpd="sng" algn="ctr">
            <a:solidFill>
              <a:srgbClr val="FF0000"/>
            </a:solidFill>
            <a:prstDash val="solid"/>
            <a:round/>
            <a:headEnd type="none" w="med" len="med"/>
            <a:tailEnd type="triangle"/>
          </a:ln>
          <a:effectLst/>
        </p:spPr>
      </p:cxnSp>
      <p:sp>
        <p:nvSpPr>
          <p:cNvPr id="57" name="TextBox 56">
            <a:extLst>
              <a:ext uri="{FF2B5EF4-FFF2-40B4-BE49-F238E27FC236}">
                <a16:creationId xmlns:a16="http://schemas.microsoft.com/office/drawing/2014/main" id="{2FF88CC8-45D3-4824-9A6F-42055928E461}"/>
              </a:ext>
            </a:extLst>
          </p:cNvPr>
          <p:cNvSpPr txBox="1"/>
          <p:nvPr/>
        </p:nvSpPr>
        <p:spPr>
          <a:xfrm>
            <a:off x="4909179" y="5649771"/>
            <a:ext cx="334009" cy="369332"/>
          </a:xfrm>
          <a:prstGeom prst="rect">
            <a:avLst/>
          </a:prstGeom>
          <a:solidFill>
            <a:schemeClr val="accent2"/>
          </a:solidFill>
        </p:spPr>
        <p:txBody>
          <a:bodyPr wrap="square" rtlCol="0" anchor="ctr" anchorCtr="1">
            <a:spAutoFit/>
          </a:bodyPr>
          <a:lstStyle/>
          <a:p>
            <a:endParaRPr lang="en-US" dirty="0">
              <a:ea typeface="標楷體" pitchFamily="65" charset="-120"/>
              <a:cs typeface="Calibri" pitchFamily="34" charset="0"/>
            </a:endParaRPr>
          </a:p>
        </p:txBody>
      </p:sp>
      <p:cxnSp>
        <p:nvCxnSpPr>
          <p:cNvPr id="58" name="Straight Arrow Connector 57">
            <a:extLst>
              <a:ext uri="{FF2B5EF4-FFF2-40B4-BE49-F238E27FC236}">
                <a16:creationId xmlns:a16="http://schemas.microsoft.com/office/drawing/2014/main" id="{CE6E43FB-C528-4829-9D56-A2E2F3B253AC}"/>
              </a:ext>
            </a:extLst>
          </p:cNvPr>
          <p:cNvCxnSpPr>
            <a:stCxn id="57" idx="3"/>
          </p:cNvCxnSpPr>
          <p:nvPr/>
        </p:nvCxnSpPr>
        <p:spPr bwMode="auto">
          <a:xfrm flipV="1">
            <a:off x="5243188" y="5822585"/>
            <a:ext cx="276153" cy="11852"/>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833795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Load Instructions (I)</a:t>
            </a:r>
          </a:p>
        </p:txBody>
      </p:sp>
      <p:sp>
        <p:nvSpPr>
          <p:cNvPr id="3" name="Content Placeholder 2"/>
          <p:cNvSpPr>
            <a:spLocks noGrp="1"/>
          </p:cNvSpPr>
          <p:nvPr>
            <p:ph idx="1"/>
          </p:nvPr>
        </p:nvSpPr>
        <p:spPr>
          <a:xfrm>
            <a:off x="1804867" y="1210433"/>
            <a:ext cx="7772400" cy="4114800"/>
          </a:xfrm>
        </p:spPr>
        <p:txBody>
          <a:bodyPr/>
          <a:lstStyle/>
          <a:p>
            <a:r>
              <a:rPr lang="en-US" sz="2400" dirty="0"/>
              <a:t>Load (I-type)</a:t>
            </a:r>
          </a:p>
          <a:p>
            <a:pPr lvl="1"/>
            <a:endParaRPr lang="en-US" sz="2000" b="1" dirty="0"/>
          </a:p>
          <a:p>
            <a:pPr lvl="1"/>
            <a:endParaRPr lang="en-US" sz="2000" dirty="0"/>
          </a:p>
          <a:p>
            <a:pPr lvl="1"/>
            <a:r>
              <a:rPr lang="en-US" sz="2000" dirty="0"/>
              <a:t>opcode = LOAD: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mem[rs1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a:p>
            <a:pPr lvl="1"/>
            <a:r>
              <a:rPr lang="en-US" sz="2000" dirty="0">
                <a:sym typeface="Wingdings" panose="05000000000000000000" pitchFamily="2" charset="2"/>
              </a:rPr>
              <a:t>funct3 = LW/LB/LBU/LH/LHU</a:t>
            </a:r>
          </a:p>
          <a:p>
            <a:pPr marL="0" indent="0">
              <a:buNone/>
            </a:pPr>
            <a:endParaRPr lang="en-US" sz="2400" dirty="0">
              <a:sym typeface="Wingdings" panose="05000000000000000000" pitchFamily="2" charset="2"/>
            </a:endParaRPr>
          </a:p>
        </p:txBody>
      </p:sp>
      <p:grpSp>
        <p:nvGrpSpPr>
          <p:cNvPr id="9" name="Group 8"/>
          <p:cNvGrpSpPr/>
          <p:nvPr/>
        </p:nvGrpSpPr>
        <p:grpSpPr>
          <a:xfrm>
            <a:off x="1844539" y="1628697"/>
            <a:ext cx="8078703" cy="646103"/>
            <a:chOff x="723900" y="3317566"/>
            <a:chExt cx="8078703" cy="646103"/>
          </a:xfrm>
        </p:grpSpPr>
        <p:sp>
          <p:nvSpPr>
            <p:cNvPr id="10" name="TextBox 9"/>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1" name="TextBox 10"/>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2" name="TextBox 11"/>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 name="TextBox 13"/>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 name="TextBox 14"/>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6" name="TextBox 15"/>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7" name="TextBox 16"/>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8" name="TextBox 17"/>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9" name="TextBox 18"/>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18</a:t>
            </a:fld>
            <a:endParaRPr lang="en-US" dirty="0"/>
          </a:p>
        </p:txBody>
      </p:sp>
      <p:sp>
        <p:nvSpPr>
          <p:cNvPr id="4" name="TextBox 3">
            <a:extLst>
              <a:ext uri="{FF2B5EF4-FFF2-40B4-BE49-F238E27FC236}">
                <a16:creationId xmlns:a16="http://schemas.microsoft.com/office/drawing/2014/main" id="{9E276E06-AB13-4A11-882F-191F891BFF3A}"/>
              </a:ext>
            </a:extLst>
          </p:cNvPr>
          <p:cNvSpPr txBox="1"/>
          <p:nvPr/>
        </p:nvSpPr>
        <p:spPr>
          <a:xfrm>
            <a:off x="6954699" y="2567664"/>
            <a:ext cx="5237301" cy="461665"/>
          </a:xfrm>
          <a:prstGeom prst="rect">
            <a:avLst/>
          </a:prstGeom>
          <a:solidFill>
            <a:srgbClr val="FFFF00"/>
          </a:solidFill>
          <a:ln>
            <a:solidFill>
              <a:srgbClr val="FF0000"/>
            </a:solidFill>
          </a:ln>
        </p:spPr>
        <p:txBody>
          <a:bodyPr wrap="square" rtlCol="0" anchor="ctr" anchorCtr="1">
            <a:spAutoFit/>
          </a:bodyPr>
          <a:lstStyle/>
          <a:p>
            <a:r>
              <a:rPr lang="en-US" sz="2400" dirty="0">
                <a:ea typeface="標楷體" pitchFamily="65" charset="-120"/>
                <a:cs typeface="Calibri" panose="020F0502020204030204" pitchFamily="34" charset="0"/>
              </a:rPr>
              <a:t>Be aware! There is no </a:t>
            </a:r>
            <a:r>
              <a:rPr lang="en-US" sz="2400" dirty="0" err="1">
                <a:ea typeface="標楷體" pitchFamily="65" charset="-120"/>
                <a:cs typeface="Calibri" panose="020F0502020204030204" pitchFamily="34" charset="0"/>
              </a:rPr>
              <a:t>lwu</a:t>
            </a:r>
            <a:r>
              <a:rPr lang="en-US" sz="2400" dirty="0">
                <a:ea typeface="標楷體" pitchFamily="65" charset="-120"/>
                <a:cs typeface="Calibri" panose="020F0502020204030204" pitchFamily="34" charset="0"/>
              </a:rPr>
              <a:t> in RVI32</a:t>
            </a:r>
          </a:p>
        </p:txBody>
      </p:sp>
      <p:cxnSp>
        <p:nvCxnSpPr>
          <p:cNvPr id="33" name="Straight Arrow Connector 32">
            <a:extLst>
              <a:ext uri="{FF2B5EF4-FFF2-40B4-BE49-F238E27FC236}">
                <a16:creationId xmlns:a16="http://schemas.microsoft.com/office/drawing/2014/main" id="{0939CB00-3150-4639-929B-8328783016CA}"/>
              </a:ext>
            </a:extLst>
          </p:cNvPr>
          <p:cNvCxnSpPr>
            <a:cxnSpLocks/>
            <a:stCxn id="4" idx="1"/>
          </p:cNvCxnSpPr>
          <p:nvPr/>
        </p:nvCxnSpPr>
        <p:spPr bwMode="auto">
          <a:xfrm flipH="1">
            <a:off x="5581963" y="2798497"/>
            <a:ext cx="1372736" cy="472658"/>
          </a:xfrm>
          <a:prstGeom prst="straightConnector1">
            <a:avLst/>
          </a:prstGeom>
          <a:noFill/>
          <a:ln w="15875" cap="flat" cmpd="sng" algn="ctr">
            <a:solidFill>
              <a:srgbClr val="FF0000"/>
            </a:solidFill>
            <a:prstDash val="solid"/>
            <a:round/>
            <a:headEnd type="none" w="med" len="med"/>
            <a:tailEnd type="triangle"/>
          </a:ln>
        </p:spPr>
      </p:cxnSp>
      <p:sp>
        <p:nvSpPr>
          <p:cNvPr id="20" name="TextBox 19">
            <a:extLst>
              <a:ext uri="{FF2B5EF4-FFF2-40B4-BE49-F238E27FC236}">
                <a16:creationId xmlns:a16="http://schemas.microsoft.com/office/drawing/2014/main" id="{0FE4BE86-26B5-4C66-B433-91DA0164CA73}"/>
              </a:ext>
            </a:extLst>
          </p:cNvPr>
          <p:cNvSpPr txBox="1"/>
          <p:nvPr/>
        </p:nvSpPr>
        <p:spPr>
          <a:xfrm>
            <a:off x="344109" y="3879277"/>
            <a:ext cx="6687014" cy="1938992"/>
          </a:xfrm>
          <a:prstGeom prst="rect">
            <a:avLst/>
          </a:prstGeom>
          <a:noFill/>
        </p:spPr>
        <p:txBody>
          <a:bodyPr wrap="square">
            <a:spAutoFit/>
          </a:bodyPr>
          <a:lstStyle/>
          <a:p>
            <a:r>
              <a:rPr lang="en-US" sz="2400" dirty="0"/>
              <a:t>Examples:</a:t>
            </a:r>
          </a:p>
          <a:p>
            <a:r>
              <a:rPr lang="en-US" sz="2400" dirty="0"/>
              <a:t>LW x31, -4(</a:t>
            </a:r>
            <a:r>
              <a:rPr lang="en-US" sz="2400" dirty="0" err="1"/>
              <a:t>fp</a:t>
            </a:r>
            <a:r>
              <a:rPr lang="en-US" sz="2400" dirty="0"/>
              <a:t>)	// local variable</a:t>
            </a:r>
          </a:p>
          <a:p>
            <a:r>
              <a:rPr lang="en-US" sz="2400" dirty="0"/>
              <a:t>LW x1,   4(x2)	// struct element</a:t>
            </a:r>
          </a:p>
          <a:p>
            <a:r>
              <a:rPr lang="en-US" sz="2400" dirty="0"/>
              <a:t>LW x0,   4(x2)	// hint</a:t>
            </a:r>
          </a:p>
          <a:p>
            <a:r>
              <a:rPr lang="en-US" sz="2400" dirty="0"/>
              <a:t>LW x5,   0(x2)	// array A[</a:t>
            </a:r>
            <a:r>
              <a:rPr lang="en-US" sz="2400" dirty="0" err="1"/>
              <a:t>i</a:t>
            </a:r>
            <a:r>
              <a:rPr lang="en-US" sz="2400" dirty="0"/>
              <a:t>]; x2=</a:t>
            </a:r>
            <a:r>
              <a:rPr lang="en-US" sz="2400" dirty="0" err="1"/>
              <a:t>base+index</a:t>
            </a:r>
            <a:endParaRPr lang="en-US" sz="2400" dirty="0"/>
          </a:p>
        </p:txBody>
      </p:sp>
      <p:sp>
        <p:nvSpPr>
          <p:cNvPr id="21" name="TextBox 20">
            <a:extLst>
              <a:ext uri="{FF2B5EF4-FFF2-40B4-BE49-F238E27FC236}">
                <a16:creationId xmlns:a16="http://schemas.microsoft.com/office/drawing/2014/main" id="{8A4C7526-5E8C-40EF-9ADF-91298F6FC548}"/>
              </a:ext>
            </a:extLst>
          </p:cNvPr>
          <p:cNvSpPr txBox="1"/>
          <p:nvPr/>
        </p:nvSpPr>
        <p:spPr>
          <a:xfrm>
            <a:off x="6954699" y="4162180"/>
            <a:ext cx="3005951" cy="1754326"/>
          </a:xfrm>
          <a:prstGeom prst="rect">
            <a:avLst/>
          </a:prstGeom>
          <a:noFill/>
        </p:spPr>
        <p:txBody>
          <a:bodyPr wrap="none" rtlCol="0" anchor="ctr" anchorCtr="1">
            <a:spAutoFit/>
          </a:bodyPr>
          <a:lstStyle/>
          <a:p>
            <a:r>
              <a:rPr lang="en-US" dirty="0">
                <a:ea typeface="標楷體" pitchFamily="65" charset="-120"/>
                <a:cs typeface="Calibri" pitchFamily="34" charset="0"/>
              </a:rPr>
              <a:t>Load from a local variable c</a:t>
            </a:r>
          </a:p>
          <a:p>
            <a:r>
              <a:rPr lang="en-US" dirty="0">
                <a:ea typeface="標楷體" pitchFamily="65" charset="-120"/>
                <a:cs typeface="Calibri" pitchFamily="34" charset="0"/>
              </a:rPr>
              <a:t>LW X1, -4(</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Load from an array d[0]</a:t>
            </a:r>
          </a:p>
          <a:p>
            <a:r>
              <a:rPr lang="en-US" dirty="0">
                <a:ea typeface="標楷體" pitchFamily="65" charset="-120"/>
                <a:cs typeface="Calibri" pitchFamily="34" charset="0"/>
              </a:rPr>
              <a:t>LW X1, -20(</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Load from d[1]</a:t>
            </a:r>
          </a:p>
          <a:p>
            <a:r>
              <a:rPr lang="en-US" dirty="0">
                <a:ea typeface="標楷體" pitchFamily="65" charset="-120"/>
                <a:cs typeface="Calibri" pitchFamily="34" charset="0"/>
              </a:rPr>
              <a:t>LW X1, -16(</a:t>
            </a:r>
            <a:r>
              <a:rPr lang="en-US" dirty="0" err="1">
                <a:ea typeface="標楷體" pitchFamily="65" charset="-120"/>
                <a:cs typeface="Calibri" pitchFamily="34" charset="0"/>
              </a:rPr>
              <a:t>fp</a:t>
            </a:r>
            <a:r>
              <a:rPr lang="en-US" dirty="0">
                <a:ea typeface="標楷體" pitchFamily="65" charset="-120"/>
                <a:cs typeface="Calibri" pitchFamily="34" charset="0"/>
              </a:rPr>
              <a:t>)</a:t>
            </a:r>
          </a:p>
        </p:txBody>
      </p:sp>
      <p:sp>
        <p:nvSpPr>
          <p:cNvPr id="22" name="TextBox 21">
            <a:extLst>
              <a:ext uri="{FF2B5EF4-FFF2-40B4-BE49-F238E27FC236}">
                <a16:creationId xmlns:a16="http://schemas.microsoft.com/office/drawing/2014/main" id="{988962E3-B8F5-4876-9032-3A56460D59A6}"/>
              </a:ext>
            </a:extLst>
          </p:cNvPr>
          <p:cNvSpPr txBox="1"/>
          <p:nvPr/>
        </p:nvSpPr>
        <p:spPr>
          <a:xfrm>
            <a:off x="8185806" y="3107481"/>
            <a:ext cx="1588897" cy="923330"/>
          </a:xfrm>
          <a:prstGeom prst="rect">
            <a:avLst/>
          </a:prstGeom>
          <a:noFill/>
        </p:spPr>
        <p:txBody>
          <a:bodyPr wrap="none" rtlCol="0" anchor="ctr" anchorCtr="1">
            <a:spAutoFit/>
          </a:bodyPr>
          <a:lstStyle/>
          <a:p>
            <a:r>
              <a:rPr lang="en-US" dirty="0">
                <a:ea typeface="標楷體" pitchFamily="65" charset="-120"/>
                <a:cs typeface="Calibri" pitchFamily="34" charset="0"/>
              </a:rPr>
              <a:t>Int x(int </a:t>
            </a:r>
            <a:r>
              <a:rPr lang="en-US" dirty="0" err="1">
                <a:ea typeface="標楷體" pitchFamily="65" charset="-120"/>
                <a:cs typeface="Calibri" pitchFamily="34" charset="0"/>
              </a:rPr>
              <a:t>a,b</a:t>
            </a:r>
            <a:r>
              <a:rPr lang="en-US" dirty="0">
                <a:ea typeface="標楷體" pitchFamily="65" charset="-120"/>
                <a:cs typeface="Calibri" pitchFamily="34" charset="0"/>
              </a:rPr>
              <a:t>) {</a:t>
            </a:r>
          </a:p>
          <a:p>
            <a:r>
              <a:rPr lang="en-US" dirty="0">
                <a:ea typeface="標楷體" pitchFamily="65" charset="-120"/>
                <a:cs typeface="Calibri" pitchFamily="34" charset="0"/>
              </a:rPr>
              <a:t>Int </a:t>
            </a:r>
            <a:r>
              <a:rPr lang="en-US" dirty="0" err="1">
                <a:ea typeface="標楷體" pitchFamily="65" charset="-120"/>
                <a:cs typeface="Calibri" pitchFamily="34" charset="0"/>
              </a:rPr>
              <a:t>c;d</a:t>
            </a:r>
            <a:r>
              <a:rPr lang="en-US" dirty="0">
                <a:ea typeface="標楷體" pitchFamily="65" charset="-120"/>
                <a:cs typeface="Calibri" pitchFamily="34" charset="0"/>
              </a:rPr>
              <a:t>[4];</a:t>
            </a:r>
          </a:p>
          <a:p>
            <a:r>
              <a:rPr lang="en-US" dirty="0">
                <a:ea typeface="標楷體" pitchFamily="65" charset="-120"/>
                <a:cs typeface="Calibri" pitchFamily="34" charset="0"/>
              </a:rPr>
              <a:t>a=</a:t>
            </a:r>
            <a:r>
              <a:rPr lang="en-US" dirty="0" err="1">
                <a:ea typeface="標楷體" pitchFamily="65" charset="-120"/>
                <a:cs typeface="Calibri" pitchFamily="34" charset="0"/>
              </a:rPr>
              <a:t>c+d</a:t>
            </a:r>
            <a:r>
              <a:rPr lang="en-US" dirty="0">
                <a:ea typeface="標楷體" pitchFamily="65" charset="-120"/>
                <a:cs typeface="Calibri" pitchFamily="34" charset="0"/>
              </a:rPr>
              <a:t>[0]…;}</a:t>
            </a:r>
          </a:p>
        </p:txBody>
      </p:sp>
      <p:sp>
        <p:nvSpPr>
          <p:cNvPr id="23" name="Rectangle 22">
            <a:extLst>
              <a:ext uri="{FF2B5EF4-FFF2-40B4-BE49-F238E27FC236}">
                <a16:creationId xmlns:a16="http://schemas.microsoft.com/office/drawing/2014/main" id="{054B50D6-8DD1-4313-AA33-533CCF9BF913}"/>
              </a:ext>
            </a:extLst>
          </p:cNvPr>
          <p:cNvSpPr/>
          <p:nvPr/>
        </p:nvSpPr>
        <p:spPr bwMode="auto">
          <a:xfrm>
            <a:off x="10461880" y="4236091"/>
            <a:ext cx="1115289" cy="1831432"/>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TextBox 23">
            <a:extLst>
              <a:ext uri="{FF2B5EF4-FFF2-40B4-BE49-F238E27FC236}">
                <a16:creationId xmlns:a16="http://schemas.microsoft.com/office/drawing/2014/main" id="{AB736758-8427-475B-885D-178F569AAA4C}"/>
              </a:ext>
            </a:extLst>
          </p:cNvPr>
          <p:cNvSpPr txBox="1"/>
          <p:nvPr/>
        </p:nvSpPr>
        <p:spPr>
          <a:xfrm>
            <a:off x="10466053" y="4236091"/>
            <a:ext cx="1111115" cy="461665"/>
          </a:xfrm>
          <a:prstGeom prst="rect">
            <a:avLst/>
          </a:prstGeom>
          <a:noFill/>
          <a:ln>
            <a:solidFill>
              <a:schemeClr val="tx1"/>
            </a:solidFill>
          </a:ln>
        </p:spPr>
        <p:txBody>
          <a:bodyPr wrap="square" rtlCol="0" anchor="ctr" anchorCtr="1">
            <a:spAutoFit/>
          </a:bodyPr>
          <a:lstStyle/>
          <a:p>
            <a:r>
              <a:rPr lang="en-US" sz="2400" dirty="0">
                <a:ea typeface="標楷體" pitchFamily="65" charset="-120"/>
                <a:cs typeface="Calibri" pitchFamily="34" charset="0"/>
              </a:rPr>
              <a:t>c</a:t>
            </a:r>
          </a:p>
        </p:txBody>
      </p:sp>
      <p:sp>
        <p:nvSpPr>
          <p:cNvPr id="25" name="TextBox 24">
            <a:extLst>
              <a:ext uri="{FF2B5EF4-FFF2-40B4-BE49-F238E27FC236}">
                <a16:creationId xmlns:a16="http://schemas.microsoft.com/office/drawing/2014/main" id="{81467194-F42B-42F0-8E3E-2D7EFE47D7E9}"/>
              </a:ext>
            </a:extLst>
          </p:cNvPr>
          <p:cNvSpPr txBox="1"/>
          <p:nvPr/>
        </p:nvSpPr>
        <p:spPr>
          <a:xfrm>
            <a:off x="11886596" y="3977514"/>
            <a:ext cx="377026" cy="369332"/>
          </a:xfrm>
          <a:prstGeom prst="rect">
            <a:avLst/>
          </a:prstGeom>
          <a:noFill/>
        </p:spPr>
        <p:txBody>
          <a:bodyPr wrap="none" rtlCol="0" anchor="ctr" anchorCtr="1">
            <a:spAutoFit/>
          </a:bodyPr>
          <a:lstStyle/>
          <a:p>
            <a:r>
              <a:rPr lang="en-US" dirty="0" err="1">
                <a:ea typeface="標楷體" pitchFamily="65" charset="-120"/>
                <a:cs typeface="Calibri" pitchFamily="34" charset="0"/>
              </a:rPr>
              <a:t>fp</a:t>
            </a:r>
            <a:endParaRPr lang="en-US" dirty="0">
              <a:ea typeface="標楷體" pitchFamily="65" charset="-120"/>
              <a:cs typeface="Calibri" pitchFamily="34" charset="0"/>
            </a:endParaRPr>
          </a:p>
        </p:txBody>
      </p:sp>
      <p:cxnSp>
        <p:nvCxnSpPr>
          <p:cNvPr id="26" name="Straight Arrow Connector 25">
            <a:extLst>
              <a:ext uri="{FF2B5EF4-FFF2-40B4-BE49-F238E27FC236}">
                <a16:creationId xmlns:a16="http://schemas.microsoft.com/office/drawing/2014/main" id="{17C2D8D0-6028-4610-99C6-FFEFB42766E8}"/>
              </a:ext>
            </a:extLst>
          </p:cNvPr>
          <p:cNvCxnSpPr>
            <a:cxnSpLocks/>
          </p:cNvCxnSpPr>
          <p:nvPr/>
        </p:nvCxnSpPr>
        <p:spPr bwMode="auto">
          <a:xfrm flipH="1">
            <a:off x="11577168" y="4236091"/>
            <a:ext cx="389548" cy="0"/>
          </a:xfrm>
          <a:prstGeom prst="straightConnector1">
            <a:avLst/>
          </a:prstGeom>
          <a:noFill/>
          <a:ln w="15875" cap="flat" cmpd="sng" algn="ctr">
            <a:solidFill>
              <a:srgbClr val="FF0000"/>
            </a:solidFill>
            <a:prstDash val="solid"/>
            <a:round/>
            <a:headEnd type="none" w="med" len="med"/>
            <a:tailEnd type="triangle"/>
          </a:ln>
          <a:effectLst/>
        </p:spPr>
      </p:cxnSp>
      <p:sp>
        <p:nvSpPr>
          <p:cNvPr id="27" name="TextBox 26">
            <a:extLst>
              <a:ext uri="{FF2B5EF4-FFF2-40B4-BE49-F238E27FC236}">
                <a16:creationId xmlns:a16="http://schemas.microsoft.com/office/drawing/2014/main" id="{560AD2E8-54B3-4AC7-BF3A-4BD10B553E73}"/>
              </a:ext>
            </a:extLst>
          </p:cNvPr>
          <p:cNvSpPr txBox="1"/>
          <p:nvPr/>
        </p:nvSpPr>
        <p:spPr>
          <a:xfrm>
            <a:off x="10461880" y="4679496"/>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d[3]</a:t>
            </a:r>
          </a:p>
        </p:txBody>
      </p:sp>
      <p:sp>
        <p:nvSpPr>
          <p:cNvPr id="28" name="TextBox 27">
            <a:extLst>
              <a:ext uri="{FF2B5EF4-FFF2-40B4-BE49-F238E27FC236}">
                <a16:creationId xmlns:a16="http://schemas.microsoft.com/office/drawing/2014/main" id="{68F4D7D2-B7F2-4ACB-906C-596E1B4672B8}"/>
              </a:ext>
            </a:extLst>
          </p:cNvPr>
          <p:cNvSpPr txBox="1"/>
          <p:nvPr/>
        </p:nvSpPr>
        <p:spPr>
          <a:xfrm>
            <a:off x="10461880" y="5006740"/>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d[2]</a:t>
            </a:r>
          </a:p>
        </p:txBody>
      </p:sp>
      <p:sp>
        <p:nvSpPr>
          <p:cNvPr id="29" name="TextBox 28">
            <a:extLst>
              <a:ext uri="{FF2B5EF4-FFF2-40B4-BE49-F238E27FC236}">
                <a16:creationId xmlns:a16="http://schemas.microsoft.com/office/drawing/2014/main" id="{298387A0-8491-48FB-B69C-251C9806D765}"/>
              </a:ext>
            </a:extLst>
          </p:cNvPr>
          <p:cNvSpPr txBox="1"/>
          <p:nvPr/>
        </p:nvSpPr>
        <p:spPr>
          <a:xfrm>
            <a:off x="10461880" y="5345294"/>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d[1]</a:t>
            </a:r>
          </a:p>
        </p:txBody>
      </p:sp>
      <p:sp>
        <p:nvSpPr>
          <p:cNvPr id="30" name="TextBox 29">
            <a:extLst>
              <a:ext uri="{FF2B5EF4-FFF2-40B4-BE49-F238E27FC236}">
                <a16:creationId xmlns:a16="http://schemas.microsoft.com/office/drawing/2014/main" id="{4AC8A3CA-CAD7-40D4-B15F-80A4A0891555}"/>
              </a:ext>
            </a:extLst>
          </p:cNvPr>
          <p:cNvSpPr txBox="1"/>
          <p:nvPr/>
        </p:nvSpPr>
        <p:spPr>
          <a:xfrm>
            <a:off x="10461880" y="5694771"/>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d[0]</a:t>
            </a:r>
          </a:p>
        </p:txBody>
      </p:sp>
    </p:spTree>
    <p:extLst>
      <p:ext uri="{BB962C8B-B14F-4D97-AF65-F5344CB8AC3E}">
        <p14:creationId xmlns:p14="http://schemas.microsoft.com/office/powerpoint/2010/main" val="184482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p:bldP spid="22" grpId="0"/>
      <p:bldP spid="23" grpId="0" animBg="1"/>
      <p:bldP spid="24" grpId="0" animBg="1"/>
      <p:bldP spid="25" grpId="0"/>
      <p:bldP spid="27" grpId="0" animBg="1"/>
      <p:bldP spid="28" grpId="0" animBg="1"/>
      <p:bldP spid="29" grpId="0" animBg="1"/>
      <p:bldP spid="3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5739" y="-21436"/>
            <a:ext cx="8001000" cy="1143000"/>
          </a:xfrm>
        </p:spPr>
        <p:txBody>
          <a:bodyPr/>
          <a:lstStyle/>
          <a:p>
            <a:r>
              <a:rPr lang="en-US" dirty="0"/>
              <a:t>Instruction Formats (S-type)</a:t>
            </a:r>
            <a:endParaRPr lang="en-US" i="1" dirty="0"/>
          </a:p>
        </p:txBody>
      </p:sp>
      <p:sp>
        <p:nvSpPr>
          <p:cNvPr id="51" name="TextBox 50"/>
          <p:cNvSpPr txBox="1"/>
          <p:nvPr/>
        </p:nvSpPr>
        <p:spPr>
          <a:xfrm>
            <a:off x="1866867" y="1121565"/>
            <a:ext cx="73719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3"/>
              </a:buBlip>
            </a:pPr>
            <a:r>
              <a:rPr lang="en-US" sz="2400" dirty="0">
                <a:solidFill>
                  <a:srgbClr val="FF0000"/>
                </a:solidFill>
              </a:rPr>
              <a:t>S-type </a:t>
            </a:r>
            <a:r>
              <a:rPr lang="en-US" sz="2400" dirty="0"/>
              <a:t>instruction &amp; S-immediate (32 bits)</a:t>
            </a:r>
          </a:p>
        </p:txBody>
      </p:sp>
      <p:grpSp>
        <p:nvGrpSpPr>
          <p:cNvPr id="63" name="Group 62"/>
          <p:cNvGrpSpPr/>
          <p:nvPr/>
        </p:nvGrpSpPr>
        <p:grpSpPr>
          <a:xfrm>
            <a:off x="1866868" y="1482548"/>
            <a:ext cx="8081827" cy="646103"/>
            <a:chOff x="896575" y="2124293"/>
            <a:chExt cx="7729174" cy="646103"/>
          </a:xfrm>
        </p:grpSpPr>
        <p:sp>
          <p:nvSpPr>
            <p:cNvPr id="64" name="TextBox 63"/>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65" name="TextBox 64"/>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66" name="TextBox 65"/>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67" name="TextBox 66"/>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68" name="TextBox 67"/>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69" name="TextBox 68"/>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70" name="TextBox 69"/>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71" name="TextBox 70"/>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72" name="TextBox 71"/>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73" name="TextBox 72"/>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74" name="TextBox 73"/>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75" name="TextBox 74"/>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79" name="TextBox 78"/>
          <p:cNvSpPr txBox="1"/>
          <p:nvPr/>
        </p:nvSpPr>
        <p:spPr>
          <a:xfrm>
            <a:off x="1868074" y="2273580"/>
            <a:ext cx="7715391" cy="369332"/>
          </a:xfrm>
          <a:prstGeom prst="rect">
            <a:avLst/>
          </a:prstGeom>
          <a:noFill/>
        </p:spPr>
        <p:txBody>
          <a:bodyPr wrap="square" rtlCol="0">
            <a:spAutoFit/>
          </a:bodyPr>
          <a:lstStyle/>
          <a:p>
            <a:r>
              <a:rPr lang="en-US" dirty="0"/>
              <a:t>S-</a:t>
            </a:r>
            <a:r>
              <a:rPr lang="en-US" dirty="0" err="1"/>
              <a:t>imm</a:t>
            </a:r>
            <a:r>
              <a:rPr lang="en-US" dirty="0"/>
              <a:t> = </a:t>
            </a:r>
            <a:r>
              <a:rPr lang="en-US" dirty="0" err="1"/>
              <a:t>signExtend</a:t>
            </a:r>
            <a:r>
              <a:rPr lang="en-US" dirty="0"/>
              <a:t>({</a:t>
            </a:r>
            <a:r>
              <a:rPr lang="en-US" dirty="0" err="1"/>
              <a:t>inst</a:t>
            </a:r>
            <a:r>
              <a:rPr lang="en-US" dirty="0"/>
              <a:t>[31:25], </a:t>
            </a:r>
            <a:r>
              <a:rPr lang="en-US" dirty="0" err="1"/>
              <a:t>inst</a:t>
            </a:r>
            <a:r>
              <a:rPr lang="en-US" dirty="0"/>
              <a:t>[11:7]})</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9" name="Footer Placeholder 8"/>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0" name="Slide Number Placeholder 19"/>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19</a:t>
            </a:fld>
            <a:endParaRPr lang="en-US" dirty="0"/>
          </a:p>
        </p:txBody>
      </p:sp>
      <p:graphicFrame>
        <p:nvGraphicFramePr>
          <p:cNvPr id="53" name="Table 4">
            <a:extLst>
              <a:ext uri="{FF2B5EF4-FFF2-40B4-BE49-F238E27FC236}">
                <a16:creationId xmlns:a16="http://schemas.microsoft.com/office/drawing/2014/main" id="{5C2F1D34-811F-4EFA-B2D2-A3B7EAD0D1A9}"/>
              </a:ext>
            </a:extLst>
          </p:cNvPr>
          <p:cNvGraphicFramePr>
            <a:graphicFrameLocks noGrp="1"/>
          </p:cNvGraphicFramePr>
          <p:nvPr>
            <p:extLst>
              <p:ext uri="{D42A27DB-BD31-4B8C-83A1-F6EECF244321}">
                <p14:modId xmlns:p14="http://schemas.microsoft.com/office/powerpoint/2010/main" val="3381748218"/>
              </p:ext>
            </p:extLst>
          </p:nvPr>
        </p:nvGraphicFramePr>
        <p:xfrm>
          <a:off x="541866" y="3115799"/>
          <a:ext cx="11181828" cy="1707558"/>
        </p:xfrm>
        <a:graphic>
          <a:graphicData uri="http://schemas.openxmlformats.org/drawingml/2006/table">
            <a:tbl>
              <a:tblPr firstRow="1" bandRow="1">
                <a:tableStyleId>{5C22544A-7EE6-4342-B048-85BDC9FD1C3A}</a:tableStyleId>
              </a:tblPr>
              <a:tblGrid>
                <a:gridCol w="1248023">
                  <a:extLst>
                    <a:ext uri="{9D8B030D-6E8A-4147-A177-3AD203B41FA5}">
                      <a16:colId xmlns:a16="http://schemas.microsoft.com/office/drawing/2014/main" val="1721893818"/>
                    </a:ext>
                  </a:extLst>
                </a:gridCol>
                <a:gridCol w="1519004">
                  <a:extLst>
                    <a:ext uri="{9D8B030D-6E8A-4147-A177-3AD203B41FA5}">
                      <a16:colId xmlns:a16="http://schemas.microsoft.com/office/drawing/2014/main" val="3783186759"/>
                    </a:ext>
                  </a:extLst>
                </a:gridCol>
                <a:gridCol w="1402467">
                  <a:extLst>
                    <a:ext uri="{9D8B030D-6E8A-4147-A177-3AD203B41FA5}">
                      <a16:colId xmlns:a16="http://schemas.microsoft.com/office/drawing/2014/main" val="606432339"/>
                    </a:ext>
                  </a:extLst>
                </a:gridCol>
                <a:gridCol w="1315709">
                  <a:extLst>
                    <a:ext uri="{9D8B030D-6E8A-4147-A177-3AD203B41FA5}">
                      <a16:colId xmlns:a16="http://schemas.microsoft.com/office/drawing/2014/main" val="92472603"/>
                    </a:ext>
                  </a:extLst>
                </a:gridCol>
                <a:gridCol w="1185261">
                  <a:extLst>
                    <a:ext uri="{9D8B030D-6E8A-4147-A177-3AD203B41FA5}">
                      <a16:colId xmlns:a16="http://schemas.microsoft.com/office/drawing/2014/main" val="3276777015"/>
                    </a:ext>
                  </a:extLst>
                </a:gridCol>
                <a:gridCol w="1085850">
                  <a:extLst>
                    <a:ext uri="{9D8B030D-6E8A-4147-A177-3AD203B41FA5}">
                      <a16:colId xmlns:a16="http://schemas.microsoft.com/office/drawing/2014/main" val="499702933"/>
                    </a:ext>
                  </a:extLst>
                </a:gridCol>
                <a:gridCol w="1328945">
                  <a:extLst>
                    <a:ext uri="{9D8B030D-6E8A-4147-A177-3AD203B41FA5}">
                      <a16:colId xmlns:a16="http://schemas.microsoft.com/office/drawing/2014/main" val="2002421486"/>
                    </a:ext>
                  </a:extLst>
                </a:gridCol>
                <a:gridCol w="2096569">
                  <a:extLst>
                    <a:ext uri="{9D8B030D-6E8A-4147-A177-3AD203B41FA5}">
                      <a16:colId xmlns:a16="http://schemas.microsoft.com/office/drawing/2014/main" val="2830034558"/>
                    </a:ext>
                  </a:extLst>
                </a:gridCol>
              </a:tblGrid>
              <a:tr h="853779">
                <a:tc>
                  <a:txBody>
                    <a:bodyPr/>
                    <a:lstStyle/>
                    <a:p>
                      <a:r>
                        <a:rPr lang="en-US" sz="2400" dirty="0"/>
                        <a:t>S-type</a:t>
                      </a:r>
                    </a:p>
                  </a:txBody>
                  <a:tcPr marL="121920" marR="121920" marT="60960" marB="60960"/>
                </a:tc>
                <a:tc>
                  <a:txBody>
                    <a:bodyPr/>
                    <a:lstStyle/>
                    <a:p>
                      <a:pPr algn="ctr"/>
                      <a:r>
                        <a:rPr lang="en-US" sz="2000" dirty="0"/>
                        <a:t>immediate</a:t>
                      </a:r>
                    </a:p>
                  </a:txBody>
                  <a:tcPr marL="121920" marR="121920" marT="60960" marB="60960"/>
                </a:tc>
                <a:tc>
                  <a:txBody>
                    <a:bodyPr/>
                    <a:lstStyle/>
                    <a:p>
                      <a:pPr algn="ctr"/>
                      <a:r>
                        <a:rPr lang="en-US" sz="2400" dirty="0"/>
                        <a:t>RS2</a:t>
                      </a:r>
                    </a:p>
                  </a:txBody>
                  <a:tcPr marL="121920" marR="121920" marT="60960" marB="60960"/>
                </a:tc>
                <a:tc>
                  <a:txBody>
                    <a:bodyPr/>
                    <a:lstStyle/>
                    <a:p>
                      <a:r>
                        <a:rPr lang="en-US" sz="2400"/>
                        <a:t>RS1</a:t>
                      </a:r>
                      <a:endParaRPr lang="en-US" sz="2400" dirty="0"/>
                    </a:p>
                  </a:txBody>
                  <a:tcPr marL="121920" marR="121920" marT="60960" marB="60960"/>
                </a:tc>
                <a:tc>
                  <a:txBody>
                    <a:bodyPr/>
                    <a:lstStyle/>
                    <a:p>
                      <a:r>
                        <a:rPr lang="en-US" sz="2400"/>
                        <a:t>funct3</a:t>
                      </a:r>
                      <a:endParaRPr lang="en-US" sz="2400" dirty="0"/>
                    </a:p>
                  </a:txBody>
                  <a:tcPr marL="121920" marR="121920" marT="60960" marB="60960"/>
                </a:tc>
                <a:tc>
                  <a:txBody>
                    <a:bodyPr/>
                    <a:lstStyle/>
                    <a:p>
                      <a:r>
                        <a:rPr lang="en-US" sz="2000" dirty="0" err="1"/>
                        <a:t>immed</a:t>
                      </a:r>
                      <a:endParaRPr lang="en-US" sz="2000" dirty="0"/>
                    </a:p>
                  </a:txBody>
                  <a:tcPr marL="121920" marR="121920" marT="60960" marB="60960"/>
                </a:tc>
                <a:tc>
                  <a:txBody>
                    <a:bodyPr/>
                    <a:lstStyle/>
                    <a:p>
                      <a:r>
                        <a:rPr lang="en-US" sz="2000" dirty="0"/>
                        <a:t>Opcode</a:t>
                      </a:r>
                    </a:p>
                  </a:txBody>
                  <a:tcPr marL="121920" marR="121920" marT="60960" marB="60960"/>
                </a:tc>
                <a:tc>
                  <a:txBody>
                    <a:bodyPr/>
                    <a:lstStyle/>
                    <a:p>
                      <a:pPr algn="ctr"/>
                      <a:r>
                        <a:rPr lang="en-US" sz="2400"/>
                        <a:t>Example</a:t>
                      </a:r>
                      <a:endParaRPr lang="en-US" sz="2400" dirty="0"/>
                    </a:p>
                  </a:txBody>
                  <a:tcPr marL="121920" marR="121920" marT="60960" marB="60960"/>
                </a:tc>
                <a:extLst>
                  <a:ext uri="{0D108BD9-81ED-4DB2-BD59-A6C34878D82A}">
                    <a16:rowId xmlns:a16="http://schemas.microsoft.com/office/drawing/2014/main" val="3752694397"/>
                  </a:ext>
                </a:extLst>
              </a:tr>
              <a:tr h="853779">
                <a:tc>
                  <a:txBody>
                    <a:bodyPr/>
                    <a:lstStyle/>
                    <a:p>
                      <a:r>
                        <a:rPr lang="en-US" sz="2000" dirty="0" err="1"/>
                        <a:t>sw</a:t>
                      </a:r>
                      <a:endParaRPr lang="en-US" sz="2000" dirty="0"/>
                    </a:p>
                  </a:txBody>
                  <a:tcPr marL="121920" marR="121920" marT="60960" marB="60960"/>
                </a:tc>
                <a:tc>
                  <a:txBody>
                    <a:bodyPr/>
                    <a:lstStyle/>
                    <a:p>
                      <a:pPr algn="ctr"/>
                      <a:r>
                        <a:rPr lang="en-US" sz="2000" dirty="0"/>
                        <a:t>0011111</a:t>
                      </a:r>
                    </a:p>
                  </a:txBody>
                  <a:tcPr marL="121920" marR="121920" marT="60960" marB="60960"/>
                </a:tc>
                <a:tc>
                  <a:txBody>
                    <a:bodyPr/>
                    <a:lstStyle/>
                    <a:p>
                      <a:pPr algn="ctr"/>
                      <a:r>
                        <a:rPr lang="en-US" sz="2000" dirty="0"/>
                        <a:t>00001</a:t>
                      </a:r>
                    </a:p>
                  </a:txBody>
                  <a:tcPr marL="121920" marR="121920" marT="60960" marB="60960"/>
                </a:tc>
                <a:tc>
                  <a:txBody>
                    <a:bodyPr/>
                    <a:lstStyle/>
                    <a:p>
                      <a:r>
                        <a:rPr lang="en-US" sz="2000" dirty="0"/>
                        <a:t>00010</a:t>
                      </a:r>
                    </a:p>
                  </a:txBody>
                  <a:tcPr marL="121920" marR="121920" marT="60960" marB="60960"/>
                </a:tc>
                <a:tc>
                  <a:txBody>
                    <a:bodyPr/>
                    <a:lstStyle/>
                    <a:p>
                      <a:r>
                        <a:rPr lang="en-US" sz="2000" dirty="0"/>
                        <a:t>010</a:t>
                      </a:r>
                    </a:p>
                  </a:txBody>
                  <a:tcPr marL="121920" marR="121920" marT="60960" marB="60960"/>
                </a:tc>
                <a:tc>
                  <a:txBody>
                    <a:bodyPr/>
                    <a:lstStyle/>
                    <a:p>
                      <a:r>
                        <a:rPr lang="en-US" sz="2000" dirty="0"/>
                        <a:t>01000</a:t>
                      </a:r>
                    </a:p>
                  </a:txBody>
                  <a:tcPr marL="121920" marR="121920" marT="60960" marB="60960"/>
                </a:tc>
                <a:tc>
                  <a:txBody>
                    <a:bodyPr/>
                    <a:lstStyle/>
                    <a:p>
                      <a:r>
                        <a:rPr lang="en-US" sz="2000" dirty="0"/>
                        <a:t>0100011</a:t>
                      </a:r>
                    </a:p>
                  </a:txBody>
                  <a:tcPr marL="121920" marR="121920" marT="60960" marB="60960"/>
                </a:tc>
                <a:tc>
                  <a:txBody>
                    <a:bodyPr/>
                    <a:lstStyle/>
                    <a:p>
                      <a:r>
                        <a:rPr lang="en-US" sz="2000" dirty="0" err="1"/>
                        <a:t>sw</a:t>
                      </a:r>
                      <a:r>
                        <a:rPr lang="en-US" sz="2000" dirty="0"/>
                        <a:t> x1, 1000(x2)</a:t>
                      </a:r>
                    </a:p>
                  </a:txBody>
                  <a:tcPr marL="121920" marR="121920" marT="60960" marB="60960"/>
                </a:tc>
                <a:extLst>
                  <a:ext uri="{0D108BD9-81ED-4DB2-BD59-A6C34878D82A}">
                    <a16:rowId xmlns:a16="http://schemas.microsoft.com/office/drawing/2014/main" val="266197382"/>
                  </a:ext>
                </a:extLst>
              </a:tr>
            </a:tbl>
          </a:graphicData>
        </a:graphic>
      </p:graphicFrame>
      <p:sp>
        <p:nvSpPr>
          <p:cNvPr id="54" name="Content Placeholder 2">
            <a:extLst>
              <a:ext uri="{FF2B5EF4-FFF2-40B4-BE49-F238E27FC236}">
                <a16:creationId xmlns:a16="http://schemas.microsoft.com/office/drawing/2014/main" id="{1C3B0B05-D99E-4BCE-BA6C-FD3970F07B3A}"/>
              </a:ext>
            </a:extLst>
          </p:cNvPr>
          <p:cNvSpPr>
            <a:spLocks noGrp="1"/>
          </p:cNvSpPr>
          <p:nvPr>
            <p:ph idx="1"/>
          </p:nvPr>
        </p:nvSpPr>
        <p:spPr>
          <a:xfrm>
            <a:off x="541866" y="4894447"/>
            <a:ext cx="11410951" cy="1189621"/>
          </a:xfrm>
        </p:spPr>
        <p:txBody>
          <a:bodyPr/>
          <a:lstStyle/>
          <a:p>
            <a:r>
              <a:rPr lang="en-US" sz="2400" dirty="0"/>
              <a:t>SW needs two operands, rs1 and rs2. In I-type instructions, rs2 is not used. So rs2 is part of the 12b immediate field. Here, rs2 is used, so the 12b immediate is split into two parts; one part (5b) goes to </a:t>
            </a:r>
            <a:r>
              <a:rPr lang="en-US" sz="2400" dirty="0" err="1"/>
              <a:t>rd</a:t>
            </a:r>
            <a:r>
              <a:rPr lang="en-US" sz="2400" dirty="0"/>
              <a:t>, and 7b remains in the original immediate field.</a:t>
            </a:r>
          </a:p>
        </p:txBody>
      </p:sp>
    </p:spTree>
    <p:extLst>
      <p:ext uri="{BB962C8B-B14F-4D97-AF65-F5344CB8AC3E}">
        <p14:creationId xmlns:p14="http://schemas.microsoft.com/office/powerpoint/2010/main" val="1168930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Store Instructions (S)</a:t>
            </a:r>
          </a:p>
        </p:txBody>
      </p:sp>
      <p:sp>
        <p:nvSpPr>
          <p:cNvPr id="3" name="Content Placeholder 2"/>
          <p:cNvSpPr>
            <a:spLocks noGrp="1"/>
          </p:cNvSpPr>
          <p:nvPr>
            <p:ph idx="1"/>
          </p:nvPr>
        </p:nvSpPr>
        <p:spPr>
          <a:xfrm>
            <a:off x="1804867" y="1795950"/>
            <a:ext cx="7772400" cy="4114800"/>
          </a:xfrm>
        </p:spPr>
        <p:txBody>
          <a:bodyPr/>
          <a:lstStyle/>
          <a:p>
            <a:pPr marL="457176" lvl="1" indent="0">
              <a:buNone/>
            </a:pPr>
            <a:endParaRPr lang="en-US" sz="2000" dirty="0"/>
          </a:p>
          <a:p>
            <a:r>
              <a:rPr lang="en-US" sz="2400" dirty="0">
                <a:sym typeface="Wingdings" panose="05000000000000000000" pitchFamily="2" charset="2"/>
              </a:rPr>
              <a:t>Store (S-type)</a:t>
            </a:r>
          </a:p>
          <a:p>
            <a:pPr lvl="1"/>
            <a:r>
              <a:rPr lang="en-US" sz="2000" dirty="0">
                <a:sym typeface="Wingdings" panose="05000000000000000000" pitchFamily="2" charset="2"/>
              </a:rPr>
              <a:t>opcode = STORE: </a:t>
            </a:r>
            <a:r>
              <a:rPr lang="en-US" sz="2000" dirty="0">
                <a:solidFill>
                  <a:srgbClr val="56127A"/>
                </a:solidFill>
                <a:sym typeface="Wingdings" panose="05000000000000000000" pitchFamily="2" charset="2"/>
              </a:rPr>
              <a:t>mem[rs1 + S-</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rs2</a:t>
            </a:r>
          </a:p>
          <a:p>
            <a:pPr lvl="1"/>
            <a:r>
              <a:rPr lang="en-US" sz="2000" dirty="0"/>
              <a:t>S-</a:t>
            </a:r>
            <a:r>
              <a:rPr lang="en-US" sz="2000" dirty="0" err="1"/>
              <a:t>imm</a:t>
            </a:r>
            <a:r>
              <a:rPr lang="en-US" sz="2000" dirty="0"/>
              <a:t> = </a:t>
            </a:r>
            <a:r>
              <a:rPr lang="en-US" sz="2000" dirty="0" err="1"/>
              <a:t>signExtend</a:t>
            </a:r>
            <a:r>
              <a:rPr lang="en-US" sz="2000" dirty="0"/>
              <a:t>({</a:t>
            </a:r>
            <a:r>
              <a:rPr lang="en-US" sz="2000" dirty="0" err="1"/>
              <a:t>inst</a:t>
            </a:r>
            <a:r>
              <a:rPr lang="en-US" sz="2000" dirty="0"/>
              <a:t>[31:25], </a:t>
            </a:r>
            <a:r>
              <a:rPr lang="en-US" sz="2000" dirty="0" err="1"/>
              <a:t>inst</a:t>
            </a:r>
            <a:r>
              <a:rPr lang="en-US" sz="2000" dirty="0"/>
              <a:t>[11:7]})</a:t>
            </a:r>
          </a:p>
          <a:p>
            <a:pPr lvl="1"/>
            <a:r>
              <a:rPr lang="en-US" sz="2000" dirty="0"/>
              <a:t>funct3 = SW/SB/SH</a:t>
            </a:r>
          </a:p>
        </p:txBody>
      </p:sp>
      <p:grpSp>
        <p:nvGrpSpPr>
          <p:cNvPr id="20" name="Group 19"/>
          <p:cNvGrpSpPr/>
          <p:nvPr/>
        </p:nvGrpSpPr>
        <p:grpSpPr>
          <a:xfrm>
            <a:off x="1804867" y="1035728"/>
            <a:ext cx="8081827" cy="646103"/>
            <a:chOff x="896575" y="2124293"/>
            <a:chExt cx="7729174" cy="646103"/>
          </a:xfrm>
        </p:grpSpPr>
        <p:sp>
          <p:nvSpPr>
            <p:cNvPr id="21" name="TextBox 20"/>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22" name="TextBox 21"/>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23" name="TextBox 22"/>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4" name="TextBox 23"/>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5" name="TextBox 24"/>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26" name="TextBox 25"/>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7" name="TextBox 26"/>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28" name="TextBox 27"/>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29" name="TextBox 28"/>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30" name="TextBox 29"/>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31" name="TextBox 30"/>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32" name="TextBox 31"/>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dirty="0"/>
              <a:t>September 27, 2024</a:t>
            </a:r>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20</a:t>
            </a:fld>
            <a:endParaRPr lang="en-US" dirty="0"/>
          </a:p>
        </p:txBody>
      </p:sp>
      <p:sp>
        <p:nvSpPr>
          <p:cNvPr id="33" name="TextBox 32">
            <a:extLst>
              <a:ext uri="{FF2B5EF4-FFF2-40B4-BE49-F238E27FC236}">
                <a16:creationId xmlns:a16="http://schemas.microsoft.com/office/drawing/2014/main" id="{24B69F15-0A23-49A4-A203-F95227C6BB2B}"/>
              </a:ext>
            </a:extLst>
          </p:cNvPr>
          <p:cNvSpPr txBox="1"/>
          <p:nvPr/>
        </p:nvSpPr>
        <p:spPr>
          <a:xfrm>
            <a:off x="2004716" y="4140371"/>
            <a:ext cx="6113834" cy="1938992"/>
          </a:xfrm>
          <a:prstGeom prst="rect">
            <a:avLst/>
          </a:prstGeom>
          <a:noFill/>
        </p:spPr>
        <p:txBody>
          <a:bodyPr wrap="square">
            <a:spAutoFit/>
          </a:bodyPr>
          <a:lstStyle/>
          <a:p>
            <a:r>
              <a:rPr lang="en-US" sz="2400" dirty="0"/>
              <a:t>Examples:</a:t>
            </a:r>
          </a:p>
          <a:p>
            <a:r>
              <a:rPr lang="en-US" sz="2400" dirty="0"/>
              <a:t>SD x31, 1000(x2)</a:t>
            </a:r>
          </a:p>
          <a:p>
            <a:r>
              <a:rPr lang="en-US" sz="2400" dirty="0"/>
              <a:t>SW x1,   0(x2)</a:t>
            </a:r>
          </a:p>
          <a:p>
            <a:r>
              <a:rPr lang="en-US" sz="2400" dirty="0"/>
              <a:t>SW x0,   4(x2)</a:t>
            </a:r>
          </a:p>
          <a:p>
            <a:r>
              <a:rPr lang="en-US" sz="2400" dirty="0"/>
              <a:t>SB  x1,   1(x2)</a:t>
            </a:r>
          </a:p>
        </p:txBody>
      </p:sp>
    </p:spTree>
    <p:extLst>
      <p:ext uri="{BB962C8B-B14F-4D97-AF65-F5344CB8AC3E}">
        <p14:creationId xmlns:p14="http://schemas.microsoft.com/office/powerpoint/2010/main" val="3824717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1" y="36837"/>
            <a:ext cx="8124967" cy="809971"/>
          </a:xfrm>
        </p:spPr>
        <p:txBody>
          <a:bodyPr/>
          <a:lstStyle/>
          <a:p>
            <a:r>
              <a:rPr lang="en-US" dirty="0"/>
              <a:t>Store Instructions (S)</a:t>
            </a:r>
          </a:p>
        </p:txBody>
      </p:sp>
      <p:sp>
        <p:nvSpPr>
          <p:cNvPr id="3" name="Content Placeholder 2"/>
          <p:cNvSpPr>
            <a:spLocks noGrp="1"/>
          </p:cNvSpPr>
          <p:nvPr>
            <p:ph idx="1"/>
          </p:nvPr>
        </p:nvSpPr>
        <p:spPr>
          <a:xfrm>
            <a:off x="1804867" y="1795950"/>
            <a:ext cx="7772400" cy="4114800"/>
          </a:xfrm>
        </p:spPr>
        <p:txBody>
          <a:bodyPr/>
          <a:lstStyle/>
          <a:p>
            <a:pPr marL="457176" lvl="1" indent="0">
              <a:buNone/>
            </a:pPr>
            <a:endParaRPr lang="en-US" sz="2000" dirty="0"/>
          </a:p>
          <a:p>
            <a:r>
              <a:rPr lang="en-US" sz="2400" dirty="0">
                <a:sym typeface="Wingdings" panose="05000000000000000000" pitchFamily="2" charset="2"/>
              </a:rPr>
              <a:t>Store (S-type)</a:t>
            </a:r>
          </a:p>
          <a:p>
            <a:pPr lvl="1"/>
            <a:r>
              <a:rPr lang="en-US" sz="2000" dirty="0">
                <a:sym typeface="Wingdings" panose="05000000000000000000" pitchFamily="2" charset="2"/>
              </a:rPr>
              <a:t>opcode = STORE: </a:t>
            </a:r>
            <a:r>
              <a:rPr lang="en-US" sz="2000" dirty="0">
                <a:solidFill>
                  <a:srgbClr val="56127A"/>
                </a:solidFill>
                <a:sym typeface="Wingdings" panose="05000000000000000000" pitchFamily="2" charset="2"/>
              </a:rPr>
              <a:t>mem[rs1 + S-</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rs2</a:t>
            </a:r>
          </a:p>
          <a:p>
            <a:pPr lvl="1"/>
            <a:r>
              <a:rPr lang="en-US" sz="2000" dirty="0"/>
              <a:t>S-</a:t>
            </a:r>
            <a:r>
              <a:rPr lang="en-US" sz="2000" dirty="0" err="1"/>
              <a:t>imm</a:t>
            </a:r>
            <a:r>
              <a:rPr lang="en-US" sz="2000" dirty="0"/>
              <a:t> = </a:t>
            </a:r>
            <a:r>
              <a:rPr lang="en-US" sz="2000" dirty="0" err="1"/>
              <a:t>signExtend</a:t>
            </a:r>
            <a:r>
              <a:rPr lang="en-US" sz="2000" dirty="0"/>
              <a:t>({</a:t>
            </a:r>
            <a:r>
              <a:rPr lang="en-US" sz="2000" dirty="0" err="1"/>
              <a:t>inst</a:t>
            </a:r>
            <a:r>
              <a:rPr lang="en-US" sz="2000" dirty="0"/>
              <a:t>[31:25], </a:t>
            </a:r>
            <a:r>
              <a:rPr lang="en-US" sz="2000" dirty="0" err="1"/>
              <a:t>inst</a:t>
            </a:r>
            <a:r>
              <a:rPr lang="en-US" sz="2000" dirty="0"/>
              <a:t>[11:7]})</a:t>
            </a:r>
          </a:p>
          <a:p>
            <a:pPr lvl="1"/>
            <a:r>
              <a:rPr lang="en-US" sz="2000" dirty="0"/>
              <a:t>funct3 = SW/SB/SH</a:t>
            </a:r>
          </a:p>
        </p:txBody>
      </p:sp>
      <p:grpSp>
        <p:nvGrpSpPr>
          <p:cNvPr id="20" name="Group 19"/>
          <p:cNvGrpSpPr/>
          <p:nvPr/>
        </p:nvGrpSpPr>
        <p:grpSpPr>
          <a:xfrm>
            <a:off x="1804867" y="1035728"/>
            <a:ext cx="8081827" cy="646103"/>
            <a:chOff x="896575" y="2124293"/>
            <a:chExt cx="7729174" cy="646103"/>
          </a:xfrm>
        </p:grpSpPr>
        <p:sp>
          <p:nvSpPr>
            <p:cNvPr id="21" name="TextBox 20"/>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22" name="TextBox 21"/>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23" name="TextBox 22"/>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4" name="TextBox 23"/>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5" name="TextBox 24"/>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26" name="TextBox 25"/>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7" name="TextBox 26"/>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28" name="TextBox 27"/>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29" name="TextBox 28"/>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30" name="TextBox 29"/>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31" name="TextBox 30"/>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32" name="TextBox 31"/>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sp>
        <p:nvSpPr>
          <p:cNvPr id="5" name="Date Placeholder 4"/>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21</a:t>
            </a:fld>
            <a:endParaRPr lang="en-US" dirty="0"/>
          </a:p>
        </p:txBody>
      </p:sp>
      <p:sp>
        <p:nvSpPr>
          <p:cNvPr id="33" name="TextBox 32">
            <a:extLst>
              <a:ext uri="{FF2B5EF4-FFF2-40B4-BE49-F238E27FC236}">
                <a16:creationId xmlns:a16="http://schemas.microsoft.com/office/drawing/2014/main" id="{24B69F15-0A23-49A4-A203-F95227C6BB2B}"/>
              </a:ext>
            </a:extLst>
          </p:cNvPr>
          <p:cNvSpPr txBox="1"/>
          <p:nvPr/>
        </p:nvSpPr>
        <p:spPr>
          <a:xfrm>
            <a:off x="2004716" y="4140371"/>
            <a:ext cx="6113834" cy="1938992"/>
          </a:xfrm>
          <a:prstGeom prst="rect">
            <a:avLst/>
          </a:prstGeom>
          <a:noFill/>
        </p:spPr>
        <p:txBody>
          <a:bodyPr wrap="square">
            <a:spAutoFit/>
          </a:bodyPr>
          <a:lstStyle/>
          <a:p>
            <a:r>
              <a:rPr lang="en-US" sz="2400" dirty="0"/>
              <a:t>Examples:</a:t>
            </a:r>
          </a:p>
          <a:p>
            <a:r>
              <a:rPr lang="en-US" sz="2400" dirty="0"/>
              <a:t>SD x31, 1000(x2)</a:t>
            </a:r>
          </a:p>
          <a:p>
            <a:r>
              <a:rPr lang="en-US" sz="2400" dirty="0"/>
              <a:t>SW x1,   0(x2)</a:t>
            </a:r>
          </a:p>
          <a:p>
            <a:r>
              <a:rPr lang="en-US" sz="2400" dirty="0"/>
              <a:t>SW x0,   4(x2)</a:t>
            </a:r>
          </a:p>
          <a:p>
            <a:r>
              <a:rPr lang="en-US" sz="2400" dirty="0"/>
              <a:t>SB  x1,   1(x2)</a:t>
            </a:r>
          </a:p>
        </p:txBody>
      </p:sp>
      <p:sp>
        <p:nvSpPr>
          <p:cNvPr id="4" name="TextBox 3">
            <a:extLst>
              <a:ext uri="{FF2B5EF4-FFF2-40B4-BE49-F238E27FC236}">
                <a16:creationId xmlns:a16="http://schemas.microsoft.com/office/drawing/2014/main" id="{CA28E5C1-4C61-49B1-820D-0CA30745CEFD}"/>
              </a:ext>
            </a:extLst>
          </p:cNvPr>
          <p:cNvSpPr txBox="1"/>
          <p:nvPr/>
        </p:nvSpPr>
        <p:spPr>
          <a:xfrm>
            <a:off x="6379513" y="4157621"/>
            <a:ext cx="2775119" cy="1754326"/>
          </a:xfrm>
          <a:prstGeom prst="rect">
            <a:avLst/>
          </a:prstGeom>
          <a:noFill/>
        </p:spPr>
        <p:txBody>
          <a:bodyPr wrap="none" rtlCol="0" anchor="ctr" anchorCtr="1">
            <a:spAutoFit/>
          </a:bodyPr>
          <a:lstStyle/>
          <a:p>
            <a:r>
              <a:rPr lang="en-US" dirty="0">
                <a:ea typeface="標楷體" pitchFamily="65" charset="-120"/>
                <a:cs typeface="Calibri" pitchFamily="34" charset="0"/>
              </a:rPr>
              <a:t>Store to a local variable c</a:t>
            </a:r>
          </a:p>
          <a:p>
            <a:r>
              <a:rPr lang="en-US" dirty="0" err="1">
                <a:ea typeface="標楷體" pitchFamily="65" charset="-120"/>
                <a:cs typeface="Calibri" pitchFamily="34" charset="0"/>
              </a:rPr>
              <a:t>Sw</a:t>
            </a:r>
            <a:r>
              <a:rPr lang="en-US" dirty="0">
                <a:ea typeface="標楷體" pitchFamily="65" charset="-120"/>
                <a:cs typeface="Calibri" pitchFamily="34" charset="0"/>
              </a:rPr>
              <a:t> X1, -4(</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Store to array d[0]</a:t>
            </a:r>
          </a:p>
          <a:p>
            <a:r>
              <a:rPr lang="en-US" dirty="0" err="1">
                <a:ea typeface="標楷體" pitchFamily="65" charset="-120"/>
                <a:cs typeface="Calibri" pitchFamily="34" charset="0"/>
              </a:rPr>
              <a:t>Sw</a:t>
            </a:r>
            <a:r>
              <a:rPr lang="en-US" dirty="0">
                <a:ea typeface="標楷體" pitchFamily="65" charset="-120"/>
                <a:cs typeface="Calibri" pitchFamily="34" charset="0"/>
              </a:rPr>
              <a:t> X1, -20(</a:t>
            </a:r>
            <a:r>
              <a:rPr lang="en-US" dirty="0" err="1">
                <a:ea typeface="標楷體" pitchFamily="65" charset="-120"/>
                <a:cs typeface="Calibri" pitchFamily="34" charset="0"/>
              </a:rPr>
              <a:t>fp</a:t>
            </a:r>
            <a:r>
              <a:rPr lang="en-US" dirty="0">
                <a:ea typeface="標楷體" pitchFamily="65" charset="-120"/>
                <a:cs typeface="Calibri" pitchFamily="34" charset="0"/>
              </a:rPr>
              <a:t>)</a:t>
            </a:r>
          </a:p>
          <a:p>
            <a:r>
              <a:rPr lang="en-US" dirty="0">
                <a:ea typeface="標楷體" pitchFamily="65" charset="-120"/>
                <a:cs typeface="Calibri" pitchFamily="34" charset="0"/>
              </a:rPr>
              <a:t>Store to d[1]</a:t>
            </a:r>
          </a:p>
          <a:p>
            <a:r>
              <a:rPr lang="en-US" dirty="0" err="1">
                <a:ea typeface="標楷體" pitchFamily="65" charset="-120"/>
                <a:cs typeface="Calibri" pitchFamily="34" charset="0"/>
              </a:rPr>
              <a:t>Sw</a:t>
            </a:r>
            <a:r>
              <a:rPr lang="en-US" dirty="0">
                <a:ea typeface="標楷體" pitchFamily="65" charset="-120"/>
                <a:cs typeface="Calibri" pitchFamily="34" charset="0"/>
              </a:rPr>
              <a:t> X1, -16(</a:t>
            </a:r>
            <a:r>
              <a:rPr lang="en-US" dirty="0" err="1">
                <a:ea typeface="標楷體" pitchFamily="65" charset="-120"/>
                <a:cs typeface="Calibri" pitchFamily="34" charset="0"/>
              </a:rPr>
              <a:t>fp</a:t>
            </a:r>
            <a:r>
              <a:rPr lang="en-US" dirty="0">
                <a:ea typeface="標楷體" pitchFamily="65" charset="-120"/>
                <a:cs typeface="Calibri" pitchFamily="34" charset="0"/>
              </a:rPr>
              <a:t>)</a:t>
            </a:r>
          </a:p>
        </p:txBody>
      </p:sp>
      <p:sp>
        <p:nvSpPr>
          <p:cNvPr id="8" name="TextBox 7">
            <a:extLst>
              <a:ext uri="{FF2B5EF4-FFF2-40B4-BE49-F238E27FC236}">
                <a16:creationId xmlns:a16="http://schemas.microsoft.com/office/drawing/2014/main" id="{CF584C82-7267-4596-95EF-F5D7F3104070}"/>
              </a:ext>
            </a:extLst>
          </p:cNvPr>
          <p:cNvSpPr txBox="1"/>
          <p:nvPr/>
        </p:nvSpPr>
        <p:spPr>
          <a:xfrm>
            <a:off x="7610620" y="3102922"/>
            <a:ext cx="1544012" cy="923330"/>
          </a:xfrm>
          <a:prstGeom prst="rect">
            <a:avLst/>
          </a:prstGeom>
          <a:noFill/>
        </p:spPr>
        <p:txBody>
          <a:bodyPr wrap="none" rtlCol="0" anchor="ctr" anchorCtr="1">
            <a:spAutoFit/>
          </a:bodyPr>
          <a:lstStyle/>
          <a:p>
            <a:r>
              <a:rPr lang="en-US" dirty="0">
                <a:ea typeface="標楷體" pitchFamily="65" charset="-120"/>
                <a:cs typeface="Calibri" pitchFamily="34" charset="0"/>
              </a:rPr>
              <a:t>Int x(int </a:t>
            </a:r>
            <a:r>
              <a:rPr lang="en-US" dirty="0" err="1">
                <a:ea typeface="標楷體" pitchFamily="65" charset="-120"/>
                <a:cs typeface="Calibri" pitchFamily="34" charset="0"/>
              </a:rPr>
              <a:t>a,b</a:t>
            </a:r>
            <a:r>
              <a:rPr lang="en-US" dirty="0">
                <a:ea typeface="標楷體" pitchFamily="65" charset="-120"/>
                <a:cs typeface="Calibri" pitchFamily="34" charset="0"/>
              </a:rPr>
              <a:t>) {</a:t>
            </a:r>
          </a:p>
          <a:p>
            <a:r>
              <a:rPr lang="en-US" dirty="0">
                <a:ea typeface="標楷體" pitchFamily="65" charset="-120"/>
                <a:cs typeface="Calibri" pitchFamily="34" charset="0"/>
              </a:rPr>
              <a:t>Int </a:t>
            </a:r>
            <a:r>
              <a:rPr lang="en-US" dirty="0" err="1">
                <a:ea typeface="標楷體" pitchFamily="65" charset="-120"/>
                <a:cs typeface="Calibri" pitchFamily="34" charset="0"/>
              </a:rPr>
              <a:t>c;d</a:t>
            </a:r>
            <a:r>
              <a:rPr lang="en-US" dirty="0">
                <a:ea typeface="標楷體" pitchFamily="65" charset="-120"/>
                <a:cs typeface="Calibri" pitchFamily="34" charset="0"/>
              </a:rPr>
              <a:t>[4];</a:t>
            </a:r>
          </a:p>
          <a:p>
            <a:r>
              <a:rPr lang="en-US" dirty="0">
                <a:ea typeface="標楷體" pitchFamily="65" charset="-120"/>
                <a:cs typeface="Calibri" pitchFamily="34" charset="0"/>
              </a:rPr>
              <a:t>c=d[0]=…;}</a:t>
            </a:r>
          </a:p>
        </p:txBody>
      </p:sp>
      <p:sp>
        <p:nvSpPr>
          <p:cNvPr id="9" name="Rectangle 8">
            <a:extLst>
              <a:ext uri="{FF2B5EF4-FFF2-40B4-BE49-F238E27FC236}">
                <a16:creationId xmlns:a16="http://schemas.microsoft.com/office/drawing/2014/main" id="{D0D59659-E7BD-42D8-B295-A7BF31D3DCCD}"/>
              </a:ext>
            </a:extLst>
          </p:cNvPr>
          <p:cNvSpPr/>
          <p:nvPr/>
        </p:nvSpPr>
        <p:spPr bwMode="auto">
          <a:xfrm>
            <a:off x="9886694" y="4231532"/>
            <a:ext cx="1115289" cy="1831432"/>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B50D8A29-53DC-4BF5-91D5-06914EF743FF}"/>
              </a:ext>
            </a:extLst>
          </p:cNvPr>
          <p:cNvSpPr txBox="1"/>
          <p:nvPr/>
        </p:nvSpPr>
        <p:spPr>
          <a:xfrm>
            <a:off x="9890867" y="4231532"/>
            <a:ext cx="1111115" cy="461665"/>
          </a:xfrm>
          <a:prstGeom prst="rect">
            <a:avLst/>
          </a:prstGeom>
          <a:noFill/>
          <a:ln>
            <a:solidFill>
              <a:schemeClr val="tx1"/>
            </a:solidFill>
          </a:ln>
        </p:spPr>
        <p:txBody>
          <a:bodyPr wrap="square" rtlCol="0" anchor="ctr" anchorCtr="1">
            <a:spAutoFit/>
          </a:bodyPr>
          <a:lstStyle/>
          <a:p>
            <a:r>
              <a:rPr lang="en-US" sz="2400" dirty="0">
                <a:ea typeface="標楷體" pitchFamily="65" charset="-120"/>
                <a:cs typeface="Calibri" pitchFamily="34" charset="0"/>
              </a:rPr>
              <a:t>c</a:t>
            </a:r>
          </a:p>
        </p:txBody>
      </p:sp>
      <p:sp>
        <p:nvSpPr>
          <p:cNvPr id="11" name="TextBox 10">
            <a:extLst>
              <a:ext uri="{FF2B5EF4-FFF2-40B4-BE49-F238E27FC236}">
                <a16:creationId xmlns:a16="http://schemas.microsoft.com/office/drawing/2014/main" id="{6F5CFDDD-F354-417E-A669-D2A3083A7ACD}"/>
              </a:ext>
            </a:extLst>
          </p:cNvPr>
          <p:cNvSpPr txBox="1"/>
          <p:nvPr/>
        </p:nvSpPr>
        <p:spPr>
          <a:xfrm>
            <a:off x="11311410" y="3972955"/>
            <a:ext cx="377026" cy="369332"/>
          </a:xfrm>
          <a:prstGeom prst="rect">
            <a:avLst/>
          </a:prstGeom>
          <a:noFill/>
        </p:spPr>
        <p:txBody>
          <a:bodyPr wrap="none" rtlCol="0" anchor="ctr" anchorCtr="1">
            <a:spAutoFit/>
          </a:bodyPr>
          <a:lstStyle/>
          <a:p>
            <a:r>
              <a:rPr lang="en-US" dirty="0" err="1">
                <a:ea typeface="標楷體" pitchFamily="65" charset="-120"/>
                <a:cs typeface="Calibri" pitchFamily="34" charset="0"/>
              </a:rPr>
              <a:t>fp</a:t>
            </a:r>
            <a:endParaRPr lang="en-US" dirty="0">
              <a:ea typeface="標楷體" pitchFamily="65" charset="-120"/>
              <a:cs typeface="Calibri" pitchFamily="34" charset="0"/>
            </a:endParaRPr>
          </a:p>
        </p:txBody>
      </p:sp>
      <p:cxnSp>
        <p:nvCxnSpPr>
          <p:cNvPr id="15" name="Straight Arrow Connector 14">
            <a:extLst>
              <a:ext uri="{FF2B5EF4-FFF2-40B4-BE49-F238E27FC236}">
                <a16:creationId xmlns:a16="http://schemas.microsoft.com/office/drawing/2014/main" id="{81E8B724-E183-4D4D-86DC-9430C25F34AF}"/>
              </a:ext>
            </a:extLst>
          </p:cNvPr>
          <p:cNvCxnSpPr>
            <a:cxnSpLocks/>
          </p:cNvCxnSpPr>
          <p:nvPr/>
        </p:nvCxnSpPr>
        <p:spPr bwMode="auto">
          <a:xfrm flipH="1">
            <a:off x="11001982" y="4231532"/>
            <a:ext cx="389548" cy="0"/>
          </a:xfrm>
          <a:prstGeom prst="straightConnector1">
            <a:avLst/>
          </a:prstGeom>
          <a:noFill/>
          <a:ln w="15875" cap="flat" cmpd="sng" algn="ctr">
            <a:solidFill>
              <a:srgbClr val="FF0000"/>
            </a:solidFill>
            <a:prstDash val="solid"/>
            <a:round/>
            <a:headEnd type="none" w="med" len="med"/>
            <a:tailEnd type="triangle"/>
          </a:ln>
          <a:effectLst/>
        </p:spPr>
      </p:cxnSp>
      <p:sp>
        <p:nvSpPr>
          <p:cNvPr id="34" name="TextBox 33">
            <a:extLst>
              <a:ext uri="{FF2B5EF4-FFF2-40B4-BE49-F238E27FC236}">
                <a16:creationId xmlns:a16="http://schemas.microsoft.com/office/drawing/2014/main" id="{D5D924DC-9124-4F08-94D4-F20D7765BF1A}"/>
              </a:ext>
            </a:extLst>
          </p:cNvPr>
          <p:cNvSpPr txBox="1"/>
          <p:nvPr/>
        </p:nvSpPr>
        <p:spPr>
          <a:xfrm>
            <a:off x="9886694" y="4674937"/>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d[3]</a:t>
            </a:r>
          </a:p>
        </p:txBody>
      </p:sp>
      <p:sp>
        <p:nvSpPr>
          <p:cNvPr id="35" name="TextBox 34">
            <a:extLst>
              <a:ext uri="{FF2B5EF4-FFF2-40B4-BE49-F238E27FC236}">
                <a16:creationId xmlns:a16="http://schemas.microsoft.com/office/drawing/2014/main" id="{8BD4E9FF-FDA3-44FD-B82A-F298FDBC988A}"/>
              </a:ext>
            </a:extLst>
          </p:cNvPr>
          <p:cNvSpPr txBox="1"/>
          <p:nvPr/>
        </p:nvSpPr>
        <p:spPr>
          <a:xfrm>
            <a:off x="9886694" y="5002181"/>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d[2]</a:t>
            </a:r>
          </a:p>
        </p:txBody>
      </p:sp>
      <p:sp>
        <p:nvSpPr>
          <p:cNvPr id="36" name="TextBox 35">
            <a:extLst>
              <a:ext uri="{FF2B5EF4-FFF2-40B4-BE49-F238E27FC236}">
                <a16:creationId xmlns:a16="http://schemas.microsoft.com/office/drawing/2014/main" id="{B6396AE9-8207-4C10-AF3B-83BB74E76613}"/>
              </a:ext>
            </a:extLst>
          </p:cNvPr>
          <p:cNvSpPr txBox="1"/>
          <p:nvPr/>
        </p:nvSpPr>
        <p:spPr>
          <a:xfrm>
            <a:off x="9886694" y="5340735"/>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d[1]</a:t>
            </a:r>
          </a:p>
        </p:txBody>
      </p:sp>
      <p:sp>
        <p:nvSpPr>
          <p:cNvPr id="37" name="TextBox 36">
            <a:extLst>
              <a:ext uri="{FF2B5EF4-FFF2-40B4-BE49-F238E27FC236}">
                <a16:creationId xmlns:a16="http://schemas.microsoft.com/office/drawing/2014/main" id="{1921BC27-AE1D-43CF-8F84-05734263A5B1}"/>
              </a:ext>
            </a:extLst>
          </p:cNvPr>
          <p:cNvSpPr txBox="1"/>
          <p:nvPr/>
        </p:nvSpPr>
        <p:spPr>
          <a:xfrm>
            <a:off x="9886694" y="5690212"/>
            <a:ext cx="1143396" cy="338554"/>
          </a:xfrm>
          <a:prstGeom prst="rect">
            <a:avLst/>
          </a:prstGeom>
          <a:noFill/>
          <a:ln>
            <a:solidFill>
              <a:schemeClr val="tx1"/>
            </a:solidFill>
          </a:ln>
        </p:spPr>
        <p:txBody>
          <a:bodyPr wrap="square" rtlCol="0" anchor="ctr" anchorCtr="1">
            <a:spAutoFit/>
          </a:bodyPr>
          <a:lstStyle/>
          <a:p>
            <a:r>
              <a:rPr lang="en-US" sz="1600" dirty="0">
                <a:ea typeface="標楷體" pitchFamily="65" charset="-120"/>
                <a:cs typeface="Calibri" pitchFamily="34" charset="0"/>
              </a:rPr>
              <a:t>d[0]</a:t>
            </a:r>
          </a:p>
        </p:txBody>
      </p:sp>
    </p:spTree>
    <p:extLst>
      <p:ext uri="{BB962C8B-B14F-4D97-AF65-F5344CB8AC3E}">
        <p14:creationId xmlns:p14="http://schemas.microsoft.com/office/powerpoint/2010/main" val="344699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P spid="10" grpId="0" animBg="1"/>
      <p:bldP spid="11" grpId="0"/>
      <p:bldP spid="34" grpId="0" animBg="1"/>
      <p:bldP spid="35" grpId="0" animBg="1"/>
      <p:bldP spid="36" grpId="0" animBg="1"/>
      <p:bldP spid="3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r>
              <a:rPr lang="en-US" sz="2800" dirty="0">
                <a:latin typeface="Times New Roman" panose="02020603050405020304" pitchFamily="18" charset="0"/>
                <a:cs typeface="Times New Roman" panose="02020603050405020304" pitchFamily="18" charset="0"/>
              </a:rPr>
              <a:t>The target architecture of this course is</a:t>
            </a:r>
          </a:p>
          <a:p>
            <a:pPr marL="914376" lvl="1" indent="-457200">
              <a:buAutoNum type="alphaLcParenR"/>
            </a:pPr>
            <a:r>
              <a:rPr lang="en-US" sz="2800" dirty="0">
                <a:latin typeface="Times New Roman" panose="02020603050405020304" pitchFamily="18" charset="0"/>
                <a:cs typeface="Times New Roman" panose="02020603050405020304" pitchFamily="18" charset="0"/>
              </a:rPr>
              <a:t>RVI64</a:t>
            </a:r>
          </a:p>
          <a:p>
            <a:pPr marL="914376" lvl="1" indent="-457200">
              <a:buAutoNum type="alphaLcParenR"/>
            </a:pPr>
            <a:r>
              <a:rPr lang="en-US" sz="2800" dirty="0">
                <a:latin typeface="Times New Roman" panose="02020603050405020304" pitchFamily="18" charset="0"/>
                <a:cs typeface="Times New Roman" panose="02020603050405020304" pitchFamily="18" charset="0"/>
              </a:rPr>
              <a:t>RVI32</a:t>
            </a:r>
          </a:p>
          <a:p>
            <a:pPr marL="914376" lvl="1" indent="-457200">
              <a:buAutoNum type="alphaLcParenR"/>
            </a:pPr>
            <a:r>
              <a:rPr lang="en-US" sz="2800" dirty="0">
                <a:latin typeface="Times New Roman" panose="02020603050405020304" pitchFamily="18" charset="0"/>
                <a:cs typeface="Times New Roman" panose="02020603050405020304" pitchFamily="18" charset="0"/>
              </a:rPr>
              <a:t>RV32E</a:t>
            </a:r>
          </a:p>
          <a:p>
            <a:pPr marL="914376" lvl="1" indent="-457200">
              <a:buAutoNum type="alphaLcParenR"/>
            </a:pPr>
            <a:r>
              <a:rPr lang="en-US" sz="2800" dirty="0">
                <a:latin typeface="Times New Roman" panose="02020603050405020304" pitchFamily="18" charset="0"/>
                <a:cs typeface="Times New Roman" panose="02020603050405020304" pitchFamily="18" charset="0"/>
              </a:rPr>
              <a:t>RV32I</a:t>
            </a:r>
          </a:p>
          <a:p>
            <a:pPr marL="914376" lvl="1" indent="-457200">
              <a:buAutoNum type="alphaLcParenR"/>
            </a:pPr>
            <a:endParaRPr kumimoji="1" lang="en-US" sz="24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endParaRPr>
          </a:p>
          <a:p>
            <a:pPr marL="457176" lvl="1" indent="0">
              <a:buNone/>
            </a:pPr>
            <a:r>
              <a:rPr lang="en-US" sz="2800" dirty="0">
                <a:solidFill>
                  <a:prstClr val="black"/>
                </a:solidFill>
                <a:latin typeface="Times New Roman" panose="02020603050405020304" pitchFamily="18" charset="0"/>
                <a:cs typeface="Times New Roman" panose="02020603050405020304" pitchFamily="18" charset="0"/>
              </a:rPr>
              <a:t>Answer : C) RV32I</a:t>
            </a:r>
            <a:endParaRPr kumimoji="1" lang="en-US" sz="2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22</a:t>
            </a:fld>
            <a:endParaRPr lang="en-US" dirty="0"/>
          </a:p>
        </p:txBody>
      </p:sp>
    </p:spTree>
    <p:extLst>
      <p:ext uri="{BB962C8B-B14F-4D97-AF65-F5344CB8AC3E}">
        <p14:creationId xmlns:p14="http://schemas.microsoft.com/office/powerpoint/2010/main" val="102022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 Quiz</a:t>
            </a:r>
          </a:p>
        </p:txBody>
      </p:sp>
      <p:sp>
        <p:nvSpPr>
          <p:cNvPr id="3" name="Content Placeholder 2"/>
          <p:cNvSpPr>
            <a:spLocks noGrp="1"/>
          </p:cNvSpPr>
          <p:nvPr>
            <p:ph idx="1"/>
          </p:nvPr>
        </p:nvSpPr>
        <p:spPr>
          <a:xfrm>
            <a:off x="214009" y="1209675"/>
            <a:ext cx="11738808" cy="4909022"/>
          </a:xfrm>
        </p:spPr>
        <p:txBody>
          <a:bodyPr/>
          <a:lstStyle/>
          <a:p>
            <a:r>
              <a:rPr lang="en-US" sz="2800" dirty="0">
                <a:latin typeface="Times New Roman" panose="02020603050405020304" pitchFamily="18" charset="0"/>
                <a:cs typeface="Times New Roman" panose="02020603050405020304" pitchFamily="18" charset="0"/>
              </a:rPr>
              <a:t>When we say RV32I, what does it mean by 32?</a:t>
            </a:r>
          </a:p>
          <a:p>
            <a:pPr marL="914376" lvl="1" indent="-457200">
              <a:buAutoNum type="alphaLcParenR"/>
            </a:pPr>
            <a:r>
              <a:rPr lang="en-US" sz="2800" dirty="0">
                <a:latin typeface="Times New Roman" panose="02020603050405020304" pitchFamily="18" charset="0"/>
                <a:cs typeface="Times New Roman" panose="02020603050405020304" pitchFamily="18" charset="0"/>
              </a:rPr>
              <a:t>The general register width is 32 bit</a:t>
            </a:r>
          </a:p>
          <a:p>
            <a:pPr marL="914376" lvl="1" indent="-457200">
              <a:buAutoNum type="alphaLcParenR"/>
            </a:pPr>
            <a:r>
              <a:rPr lang="en-US" sz="2800" dirty="0">
                <a:latin typeface="Times New Roman" panose="02020603050405020304" pitchFamily="18" charset="0"/>
                <a:cs typeface="Times New Roman" panose="02020603050405020304" pitchFamily="18" charset="0"/>
              </a:rPr>
              <a:t>The number of register is 32</a:t>
            </a:r>
          </a:p>
          <a:p>
            <a:pPr marL="914376" lvl="1" indent="-457200">
              <a:buAutoNum type="alphaLcParenR"/>
            </a:pPr>
            <a:r>
              <a:rPr lang="en-US" sz="2800" dirty="0">
                <a:latin typeface="Times New Roman" panose="02020603050405020304" pitchFamily="18" charset="0"/>
                <a:cs typeface="Times New Roman" panose="02020603050405020304" pitchFamily="18" charset="0"/>
              </a:rPr>
              <a:t>The addressability is 32 bit</a:t>
            </a:r>
          </a:p>
          <a:p>
            <a:pPr marL="914376" lvl="1" indent="-457200">
              <a:buAutoNum type="alphaLcParenR"/>
            </a:pPr>
            <a:r>
              <a:rPr lang="en-US" sz="2800" dirty="0">
                <a:latin typeface="Times New Roman" panose="02020603050405020304" pitchFamily="18" charset="0"/>
                <a:cs typeface="Times New Roman" panose="02020603050405020304" pitchFamily="18" charset="0"/>
              </a:rPr>
              <a:t>The instruction length is 32 bit</a:t>
            </a:r>
          </a:p>
          <a:p>
            <a:pPr marL="914376" lvl="1" indent="-457200">
              <a:buAutoNum type="alphaLcParenR"/>
            </a:pPr>
            <a:endParaRPr kumimoji="1" lang="en-US" sz="24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endParaRPr>
          </a:p>
          <a:p>
            <a:pPr marL="457176" lvl="1" indent="0">
              <a:buNone/>
            </a:pPr>
            <a:r>
              <a:rPr lang="en-US" sz="2800" dirty="0">
                <a:solidFill>
                  <a:prstClr val="black"/>
                </a:solidFill>
                <a:latin typeface="Times New Roman" panose="02020603050405020304" pitchFamily="18" charset="0"/>
                <a:cs typeface="Times New Roman" panose="02020603050405020304" pitchFamily="18" charset="0"/>
              </a:rPr>
              <a:t>Answer : (A) and (C)</a:t>
            </a:r>
            <a:endParaRPr kumimoji="1" lang="en-US" sz="2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23</a:t>
            </a:fld>
            <a:endParaRPr lang="en-US" dirty="0"/>
          </a:p>
        </p:txBody>
      </p:sp>
    </p:spTree>
    <p:extLst>
      <p:ext uri="{BB962C8B-B14F-4D97-AF65-F5344CB8AC3E}">
        <p14:creationId xmlns:p14="http://schemas.microsoft.com/office/powerpoint/2010/main" val="80566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 </a:t>
            </a:r>
          </a:p>
        </p:txBody>
      </p:sp>
      <p:sp>
        <p:nvSpPr>
          <p:cNvPr id="3" name="Content Placeholder 2"/>
          <p:cNvSpPr>
            <a:spLocks noGrp="1"/>
          </p:cNvSpPr>
          <p:nvPr>
            <p:ph idx="1"/>
          </p:nvPr>
        </p:nvSpPr>
        <p:spPr>
          <a:xfrm>
            <a:off x="214009" y="953310"/>
            <a:ext cx="11738808" cy="5165387"/>
          </a:xfrm>
        </p:spPr>
        <p:txBody>
          <a:bodyPr/>
          <a:lstStyle/>
          <a:p>
            <a:r>
              <a:rPr lang="en-US" sz="2400" dirty="0"/>
              <a:t>Natural alignments: Data elements of a specific size should be stored at memory addresses that are </a:t>
            </a:r>
            <a:r>
              <a:rPr lang="en-US" sz="2400" dirty="0">
                <a:solidFill>
                  <a:srgbClr val="FF0000"/>
                </a:solidFill>
              </a:rPr>
              <a:t>multiples of that size</a:t>
            </a:r>
            <a:r>
              <a:rPr lang="en-US" sz="2400" dirty="0"/>
              <a:t>. For example, SW/LW reference addresses are multiple of 4. SD/LD reference addresses are multiple of 8. SB/LB will always be aligned.</a:t>
            </a:r>
          </a:p>
          <a:p>
            <a:r>
              <a:rPr lang="en-US" sz="2400" dirty="0"/>
              <a:t>Aligned data references simplify the hardware</a:t>
            </a:r>
          </a:p>
          <a:p>
            <a:pPr lvl="1"/>
            <a:r>
              <a:rPr lang="en-US" sz="2000" dirty="0"/>
              <a:t>No cache line crossing (may need multiple accesses to get the data); no double TLB misses; no double page faults come from a single memory instruction execution.</a:t>
            </a:r>
          </a:p>
          <a:p>
            <a:pPr lvl="1"/>
            <a:r>
              <a:rPr lang="en-US" sz="2000" dirty="0"/>
              <a:t>Better cache line utilization</a:t>
            </a:r>
          </a:p>
          <a:p>
            <a:r>
              <a:rPr lang="en-US" sz="2400" dirty="0"/>
              <a:t>Most RISC machines (MIPS, ARM, PowerPC, HP-PA, …) enforce data alignments</a:t>
            </a:r>
            <a:r>
              <a:rPr lang="en-US" sz="2000" dirty="0"/>
              <a:t>. </a:t>
            </a:r>
          </a:p>
          <a:p>
            <a:r>
              <a:rPr lang="en-US" sz="2400" dirty="0"/>
              <a:t>RISC-I to RISC-V do not explicitly enforce data alignments. But their compilers often enforce data alignments. For example, for the following data structure,</a:t>
            </a:r>
          </a:p>
          <a:p>
            <a:pPr marL="0" indent="0">
              <a:buNone/>
            </a:pPr>
            <a:r>
              <a:rPr lang="en-US" sz="2400" dirty="0"/>
              <a:t>	struct { int </a:t>
            </a:r>
            <a:r>
              <a:rPr lang="en-US" sz="2400" dirty="0">
                <a:solidFill>
                  <a:srgbClr val="FF0000"/>
                </a:solidFill>
              </a:rPr>
              <a:t>a</a:t>
            </a:r>
            <a:r>
              <a:rPr lang="en-US" sz="2400" dirty="0"/>
              <a:t>; long </a:t>
            </a:r>
            <a:r>
              <a:rPr lang="en-US" sz="2400" dirty="0" err="1"/>
              <a:t>long</a:t>
            </a:r>
            <a:r>
              <a:rPr lang="en-US" sz="2400" dirty="0"/>
              <a:t> </a:t>
            </a:r>
            <a:r>
              <a:rPr lang="en-US" sz="2400" dirty="0">
                <a:solidFill>
                  <a:srgbClr val="FF0000"/>
                </a:solidFill>
              </a:rPr>
              <a:t>b</a:t>
            </a:r>
            <a:r>
              <a:rPr lang="en-US" sz="2400" dirty="0"/>
              <a:t>; char </a:t>
            </a:r>
            <a:r>
              <a:rPr lang="en-US" sz="2400" dirty="0">
                <a:solidFill>
                  <a:srgbClr val="FF0000"/>
                </a:solidFill>
              </a:rPr>
              <a:t>c</a:t>
            </a:r>
            <a:r>
              <a:rPr lang="en-US" sz="2400" dirty="0"/>
              <a:t>; double </a:t>
            </a:r>
            <a:r>
              <a:rPr lang="en-US" sz="2400" dirty="0">
                <a:solidFill>
                  <a:srgbClr val="FF0000"/>
                </a:solidFill>
              </a:rPr>
              <a:t>d</a:t>
            </a:r>
            <a:r>
              <a:rPr lang="en-US" sz="2400" dirty="0"/>
              <a:t>);</a:t>
            </a:r>
          </a:p>
          <a:p>
            <a:pPr marL="0" indent="0">
              <a:buNone/>
            </a:pPr>
            <a:r>
              <a:rPr lang="en-US" sz="2400" dirty="0"/>
              <a:t>     the compiler will lay each field as 		a: </a:t>
            </a:r>
            <a:r>
              <a:rPr lang="en-US" sz="2400" dirty="0">
                <a:solidFill>
                  <a:srgbClr val="FF0000"/>
                </a:solidFill>
              </a:rPr>
              <a:t>0</a:t>
            </a:r>
            <a:r>
              <a:rPr lang="en-US" sz="2400" dirty="0"/>
              <a:t>		b: </a:t>
            </a:r>
            <a:r>
              <a:rPr lang="en-US" sz="2400" dirty="0">
                <a:solidFill>
                  <a:srgbClr val="FF0000"/>
                </a:solidFill>
              </a:rPr>
              <a:t>8</a:t>
            </a:r>
          </a:p>
          <a:p>
            <a:pPr marL="0" indent="0">
              <a:buNone/>
            </a:pPr>
            <a:r>
              <a:rPr lang="en-US" sz="2400" dirty="0"/>
              <a:t>    (numbers are offsets to the struct)		c: </a:t>
            </a:r>
            <a:r>
              <a:rPr lang="en-US" sz="2400" dirty="0">
                <a:solidFill>
                  <a:srgbClr val="FF0000"/>
                </a:solidFill>
              </a:rPr>
              <a:t>16</a:t>
            </a:r>
            <a:r>
              <a:rPr lang="en-US" sz="2400" dirty="0"/>
              <a:t>		d: </a:t>
            </a:r>
            <a:r>
              <a:rPr lang="en-US" sz="2400" dirty="0">
                <a:solidFill>
                  <a:srgbClr val="FF0000"/>
                </a:solidFill>
              </a:rPr>
              <a:t>24</a:t>
            </a:r>
          </a:p>
        </p:txBody>
      </p:sp>
      <p:sp>
        <p:nvSpPr>
          <p:cNvPr id="7" name="Date Placeholder 6"/>
          <p:cNvSpPr>
            <a:spLocks noGrp="1"/>
          </p:cNvSpPr>
          <p:nvPr>
            <p:ph type="dt" sz="half" idx="10"/>
          </p:nvPr>
        </p:nvSpPr>
        <p:spPr/>
        <p:txBody>
          <a:bodyPr/>
          <a:lstStyle/>
          <a:p>
            <a:pPr>
              <a:defRPr/>
            </a:pPr>
            <a:r>
              <a:rPr lang="en-US" dirty="0"/>
              <a:t>Feb. 17, 2025</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24</a:t>
            </a:fld>
            <a:endParaRPr lang="en-US" dirty="0"/>
          </a:p>
        </p:txBody>
      </p:sp>
    </p:spTree>
    <p:extLst>
      <p:ext uri="{BB962C8B-B14F-4D97-AF65-F5344CB8AC3E}">
        <p14:creationId xmlns:p14="http://schemas.microsoft.com/office/powerpoint/2010/main" val="149351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02950" cy="692151"/>
          </a:xfrm>
        </p:spPr>
        <p:txBody>
          <a:bodyPr/>
          <a:lstStyle/>
          <a:p>
            <a:r>
              <a:rPr lang="en-US" dirty="0"/>
              <a:t>Data Alignment Avoids Boundary Crossing</a:t>
            </a:r>
          </a:p>
        </p:txBody>
      </p:sp>
      <p:sp>
        <p:nvSpPr>
          <p:cNvPr id="3" name="Content Placeholder 2"/>
          <p:cNvSpPr>
            <a:spLocks noGrp="1"/>
          </p:cNvSpPr>
          <p:nvPr>
            <p:ph idx="1"/>
          </p:nvPr>
        </p:nvSpPr>
        <p:spPr>
          <a:xfrm>
            <a:off x="214009" y="1114425"/>
            <a:ext cx="11738808" cy="5004272"/>
          </a:xfrm>
        </p:spPr>
        <p:txBody>
          <a:bodyPr/>
          <a:lstStyle/>
          <a:p>
            <a:r>
              <a:rPr lang="en-US" sz="2800" dirty="0"/>
              <a:t>In computer architectures, memory is often managed as a unit of cache lines and memory pages. </a:t>
            </a:r>
          </a:p>
          <a:p>
            <a:r>
              <a:rPr lang="en-US" sz="2800" dirty="0"/>
              <a:t>Cache lines are typically 64 bytes. Other sizes are also frequently used, such as 32 bytes and  128 bytes.</a:t>
            </a:r>
          </a:p>
          <a:p>
            <a:r>
              <a:rPr lang="en-US" sz="2800" dirty="0"/>
              <a:t>Memory is managed as a unit of pages; common page sizes are 4KB, 16KB, and larger.</a:t>
            </a:r>
          </a:p>
          <a:p>
            <a:r>
              <a:rPr lang="en-US" sz="2800" dirty="0"/>
              <a:t>If data are always naturally aligned, a memory reference will not cross a line or page boundary.</a:t>
            </a:r>
          </a:p>
          <a:p>
            <a:r>
              <a:rPr lang="en-US" sz="2800" dirty="0"/>
              <a:t>Crossing a boundary makes the memory reference difficult to handle. The hardware needs to go through two exceptions instead of one.</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25</a:t>
            </a:fld>
            <a:endParaRPr lang="en-US" dirty="0"/>
          </a:p>
        </p:txBody>
      </p:sp>
    </p:spTree>
    <p:extLst>
      <p:ext uri="{BB962C8B-B14F-4D97-AF65-F5344CB8AC3E}">
        <p14:creationId xmlns:p14="http://schemas.microsoft.com/office/powerpoint/2010/main" val="4288179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Operand Instruction Format </a:t>
            </a:r>
          </a:p>
        </p:txBody>
      </p:sp>
      <p:sp>
        <p:nvSpPr>
          <p:cNvPr id="3" name="Content Placeholder 2"/>
          <p:cNvSpPr>
            <a:spLocks noGrp="1"/>
          </p:cNvSpPr>
          <p:nvPr>
            <p:ph idx="1"/>
          </p:nvPr>
        </p:nvSpPr>
        <p:spPr>
          <a:xfrm>
            <a:off x="214009" y="942657"/>
            <a:ext cx="11738808" cy="4596264"/>
          </a:xfrm>
        </p:spPr>
        <p:txBody>
          <a:bodyPr/>
          <a:lstStyle/>
          <a:p>
            <a:r>
              <a:rPr lang="en-US" sz="2400" dirty="0"/>
              <a:t>Zero and One operand instruction format</a:t>
            </a:r>
          </a:p>
          <a:p>
            <a:pPr lvl="1"/>
            <a:r>
              <a:rPr lang="en-US" sz="2000" dirty="0"/>
              <a:t>Stack architecture. All operations (add/sub…) are taking operands from the top of the stack. Those are 0-operand instructions.</a:t>
            </a:r>
          </a:p>
          <a:p>
            <a:pPr lvl="1"/>
            <a:r>
              <a:rPr lang="en-US" sz="2000" dirty="0"/>
              <a:t>Push and Pop are 1-operand instructions. They move data between the memory and the stack.</a:t>
            </a:r>
          </a:p>
          <a:p>
            <a:r>
              <a:rPr lang="en-US" sz="2400" dirty="0"/>
              <a:t>Two operand instruction format</a:t>
            </a:r>
          </a:p>
          <a:p>
            <a:pPr lvl="1"/>
            <a:r>
              <a:rPr lang="en-US" sz="2000" dirty="0"/>
              <a:t>A = A op B, one of the source operands must be identical to the destination.</a:t>
            </a:r>
          </a:p>
          <a:p>
            <a:r>
              <a:rPr lang="en-US" sz="2400" dirty="0">
                <a:solidFill>
                  <a:srgbClr val="FF0000"/>
                </a:solidFill>
              </a:rPr>
              <a:t>Three operand instruction format</a:t>
            </a:r>
          </a:p>
          <a:p>
            <a:pPr lvl="1"/>
            <a:r>
              <a:rPr lang="en-US" sz="2400" dirty="0">
                <a:solidFill>
                  <a:srgbClr val="FF0000"/>
                </a:solidFill>
              </a:rPr>
              <a:t>A = B op C</a:t>
            </a:r>
          </a:p>
          <a:p>
            <a:pPr lvl="0"/>
            <a:r>
              <a:rPr lang="en-US" sz="2400" dirty="0"/>
              <a:t>Four </a:t>
            </a:r>
            <a:r>
              <a:rPr lang="en-US" sz="2400" dirty="0">
                <a:solidFill>
                  <a:prstClr val="black"/>
                </a:solidFill>
              </a:rPr>
              <a:t>operand instruction format</a:t>
            </a:r>
          </a:p>
          <a:p>
            <a:pPr lvl="1"/>
            <a:r>
              <a:rPr lang="en-US" sz="2000" dirty="0">
                <a:solidFill>
                  <a:prstClr val="black"/>
                </a:solidFill>
              </a:rPr>
              <a:t>A = B op C op D, for example, A = B*C + D. This is the most frequently used instruction in matrix multiplication. RISC-V F/D extension has added this fused-</a:t>
            </a:r>
            <a:r>
              <a:rPr lang="en-US" sz="2000" dirty="0" err="1">
                <a:solidFill>
                  <a:prstClr val="black"/>
                </a:solidFill>
              </a:rPr>
              <a:t>mul</a:t>
            </a:r>
            <a:r>
              <a:rPr lang="en-US" sz="2000" dirty="0">
                <a:solidFill>
                  <a:prstClr val="black"/>
                </a:solidFill>
              </a:rPr>
              <a:t>-add instruction with a new R4 (4 registers) instruction type.</a:t>
            </a:r>
            <a:endParaRPr lang="en-US" sz="2000" dirty="0"/>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26</a:t>
            </a:fld>
            <a:endParaRPr lang="en-US" dirty="0"/>
          </a:p>
        </p:txBody>
      </p:sp>
      <p:grpSp>
        <p:nvGrpSpPr>
          <p:cNvPr id="10" name="Group 9">
            <a:extLst>
              <a:ext uri="{FF2B5EF4-FFF2-40B4-BE49-F238E27FC236}">
                <a16:creationId xmlns:a16="http://schemas.microsoft.com/office/drawing/2014/main" id="{F7CA0CA7-E74F-434A-9FEE-8C58D8CC940B}"/>
              </a:ext>
            </a:extLst>
          </p:cNvPr>
          <p:cNvGrpSpPr/>
          <p:nvPr/>
        </p:nvGrpSpPr>
        <p:grpSpPr>
          <a:xfrm>
            <a:off x="4696422" y="5348460"/>
            <a:ext cx="7281569" cy="683656"/>
            <a:chOff x="1521034" y="2086740"/>
            <a:chExt cx="7281569" cy="683656"/>
          </a:xfrm>
        </p:grpSpPr>
        <p:sp>
          <p:nvSpPr>
            <p:cNvPr id="11" name="TextBox 10">
              <a:extLst>
                <a:ext uri="{FF2B5EF4-FFF2-40B4-BE49-F238E27FC236}">
                  <a16:creationId xmlns:a16="http://schemas.microsoft.com/office/drawing/2014/main" id="{1B9B09D5-79A1-48C2-8B7F-9BDCDFBB421E}"/>
                </a:ext>
              </a:extLst>
            </p:cNvPr>
            <p:cNvSpPr txBox="1"/>
            <p:nvPr/>
          </p:nvSpPr>
          <p:spPr>
            <a:xfrm>
              <a:off x="1521034" y="2416453"/>
              <a:ext cx="943387" cy="318100"/>
            </a:xfrm>
            <a:prstGeom prst="rect">
              <a:avLst/>
            </a:prstGeom>
            <a:noFill/>
            <a:ln w="12700">
              <a:solidFill>
                <a:schemeClr val="tx1"/>
              </a:solidFill>
            </a:ln>
          </p:spPr>
          <p:txBody>
            <a:bodyPr wrap="square" rtlCol="0">
              <a:spAutoFit/>
            </a:bodyPr>
            <a:lstStyle/>
            <a:p>
              <a:pPr algn="ctr"/>
              <a:r>
                <a:rPr lang="en-US" sz="1467" dirty="0">
                  <a:solidFill>
                    <a:srgbClr val="56127A"/>
                  </a:solidFill>
                </a:rPr>
                <a:t>funct7</a:t>
              </a:r>
            </a:p>
          </p:txBody>
        </p:sp>
        <p:sp>
          <p:nvSpPr>
            <p:cNvPr id="12" name="TextBox 11">
              <a:extLst>
                <a:ext uri="{FF2B5EF4-FFF2-40B4-BE49-F238E27FC236}">
                  <a16:creationId xmlns:a16="http://schemas.microsoft.com/office/drawing/2014/main" id="{CC3B8D0A-81A3-41D7-8AC1-EE2733A9D40D}"/>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3" name="TextBox 12">
              <a:extLst>
                <a:ext uri="{FF2B5EF4-FFF2-40B4-BE49-F238E27FC236}">
                  <a16:creationId xmlns:a16="http://schemas.microsoft.com/office/drawing/2014/main" id="{24C08C00-15AB-4CFD-BAC4-01EE6FA50A51}"/>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4" name="TextBox 13">
              <a:extLst>
                <a:ext uri="{FF2B5EF4-FFF2-40B4-BE49-F238E27FC236}">
                  <a16:creationId xmlns:a16="http://schemas.microsoft.com/office/drawing/2014/main" id="{D38F4129-0E2F-48D0-8181-C59A4004D8E9}"/>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5" name="TextBox 14">
              <a:extLst>
                <a:ext uri="{FF2B5EF4-FFF2-40B4-BE49-F238E27FC236}">
                  <a16:creationId xmlns:a16="http://schemas.microsoft.com/office/drawing/2014/main" id="{B7FC415F-2651-42CE-839E-46B5C7F7DDD4}"/>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6" name="TextBox 15">
              <a:extLst>
                <a:ext uri="{FF2B5EF4-FFF2-40B4-BE49-F238E27FC236}">
                  <a16:creationId xmlns:a16="http://schemas.microsoft.com/office/drawing/2014/main" id="{ACC2F9F0-5DF5-49F0-B4FF-2149EA6B893A}"/>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7" name="TextBox 16">
              <a:extLst>
                <a:ext uri="{FF2B5EF4-FFF2-40B4-BE49-F238E27FC236}">
                  <a16:creationId xmlns:a16="http://schemas.microsoft.com/office/drawing/2014/main" id="{9354B789-1F5F-4B3A-BCFA-F405B6585748}"/>
                </a:ext>
              </a:extLst>
            </p:cNvPr>
            <p:cNvSpPr txBox="1"/>
            <p:nvPr/>
          </p:nvSpPr>
          <p:spPr>
            <a:xfrm>
              <a:off x="1792787" y="2086740"/>
              <a:ext cx="306494" cy="353943"/>
            </a:xfrm>
            <a:prstGeom prst="rect">
              <a:avLst/>
            </a:prstGeom>
            <a:noFill/>
          </p:spPr>
          <p:txBody>
            <a:bodyPr wrap="none" rtlCol="0">
              <a:spAutoFit/>
            </a:bodyPr>
            <a:lstStyle/>
            <a:p>
              <a:pPr algn="ctr"/>
              <a:r>
                <a:rPr lang="en-US" sz="1700" dirty="0"/>
                <a:t>2</a:t>
              </a:r>
            </a:p>
          </p:txBody>
        </p:sp>
        <p:sp>
          <p:nvSpPr>
            <p:cNvPr id="18" name="TextBox 17">
              <a:extLst>
                <a:ext uri="{FF2B5EF4-FFF2-40B4-BE49-F238E27FC236}">
                  <a16:creationId xmlns:a16="http://schemas.microsoft.com/office/drawing/2014/main" id="{89607D20-BA56-4FEF-831F-237A9FD1A890}"/>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19" name="TextBox 18">
              <a:extLst>
                <a:ext uri="{FF2B5EF4-FFF2-40B4-BE49-F238E27FC236}">
                  <a16:creationId xmlns:a16="http://schemas.microsoft.com/office/drawing/2014/main" id="{4BE5781F-B31F-4967-BCC0-99E43E8FB746}"/>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20" name="TextBox 19">
              <a:extLst>
                <a:ext uri="{FF2B5EF4-FFF2-40B4-BE49-F238E27FC236}">
                  <a16:creationId xmlns:a16="http://schemas.microsoft.com/office/drawing/2014/main" id="{18B514F5-FD9C-470A-A712-1402C4F8835F}"/>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21" name="TextBox 20">
              <a:extLst>
                <a:ext uri="{FF2B5EF4-FFF2-40B4-BE49-F238E27FC236}">
                  <a16:creationId xmlns:a16="http://schemas.microsoft.com/office/drawing/2014/main" id="{3B392788-71CD-4B6D-B218-33B7D39C51EE}"/>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22" name="TextBox 21">
              <a:extLst>
                <a:ext uri="{FF2B5EF4-FFF2-40B4-BE49-F238E27FC236}">
                  <a16:creationId xmlns:a16="http://schemas.microsoft.com/office/drawing/2014/main" id="{B1308D19-762B-4124-8820-4D3D6162D54F}"/>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sp>
        <p:nvSpPr>
          <p:cNvPr id="23" name="TextBox 22">
            <a:extLst>
              <a:ext uri="{FF2B5EF4-FFF2-40B4-BE49-F238E27FC236}">
                <a16:creationId xmlns:a16="http://schemas.microsoft.com/office/drawing/2014/main" id="{BEB43445-5D2A-415E-8928-C691EC11AAAE}"/>
              </a:ext>
            </a:extLst>
          </p:cNvPr>
          <p:cNvSpPr txBox="1"/>
          <p:nvPr/>
        </p:nvSpPr>
        <p:spPr>
          <a:xfrm>
            <a:off x="3597372" y="5660251"/>
            <a:ext cx="108565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rs3</a:t>
            </a:r>
          </a:p>
        </p:txBody>
      </p:sp>
      <p:sp>
        <p:nvSpPr>
          <p:cNvPr id="24" name="TextBox 23">
            <a:extLst>
              <a:ext uri="{FF2B5EF4-FFF2-40B4-BE49-F238E27FC236}">
                <a16:creationId xmlns:a16="http://schemas.microsoft.com/office/drawing/2014/main" id="{7CC2B172-B348-4BFE-84B5-AF6F7E875BAB}"/>
              </a:ext>
            </a:extLst>
          </p:cNvPr>
          <p:cNvSpPr txBox="1"/>
          <p:nvPr/>
        </p:nvSpPr>
        <p:spPr>
          <a:xfrm>
            <a:off x="3913388" y="5348460"/>
            <a:ext cx="306494" cy="353943"/>
          </a:xfrm>
          <a:prstGeom prst="rect">
            <a:avLst/>
          </a:prstGeom>
          <a:noFill/>
        </p:spPr>
        <p:txBody>
          <a:bodyPr wrap="none" rtlCol="0">
            <a:spAutoFit/>
          </a:bodyPr>
          <a:lstStyle/>
          <a:p>
            <a:pPr algn="ctr"/>
            <a:r>
              <a:rPr lang="en-US" sz="1700" dirty="0"/>
              <a:t>5</a:t>
            </a:r>
          </a:p>
        </p:txBody>
      </p:sp>
    </p:spTree>
    <p:extLst>
      <p:ext uri="{BB962C8B-B14F-4D97-AF65-F5344CB8AC3E}">
        <p14:creationId xmlns:p14="http://schemas.microsoft.com/office/powerpoint/2010/main" val="4053171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Fused-Multiply-Add (FMA) instruction</a:t>
            </a:r>
          </a:p>
        </p:txBody>
      </p:sp>
      <p:sp>
        <p:nvSpPr>
          <p:cNvPr id="3" name="Content Placeholder 2"/>
          <p:cNvSpPr>
            <a:spLocks noGrp="1"/>
          </p:cNvSpPr>
          <p:nvPr>
            <p:ph idx="1"/>
          </p:nvPr>
        </p:nvSpPr>
        <p:spPr>
          <a:xfrm>
            <a:off x="214009" y="1060314"/>
            <a:ext cx="11738808" cy="4834647"/>
          </a:xfrm>
        </p:spPr>
        <p:txBody>
          <a:bodyPr/>
          <a:lstStyle/>
          <a:p>
            <a:pPr lvl="0"/>
            <a:r>
              <a:rPr lang="en-US" sz="2800" dirty="0"/>
              <a:t>RISC-V favors “simplicity” and “regularity”, so why does it include the four-operand instructions? Is breaking the </a:t>
            </a:r>
            <a:r>
              <a:rPr lang="en-US" sz="2800" dirty="0" err="1"/>
              <a:t>RISCy</a:t>
            </a:r>
            <a:r>
              <a:rPr lang="en-US" sz="2800" dirty="0"/>
              <a:t> philosophy worthwhile?</a:t>
            </a:r>
          </a:p>
          <a:p>
            <a:pPr lvl="0"/>
            <a:r>
              <a:rPr lang="en-US" sz="2800" dirty="0"/>
              <a:t>This instruction (FMA) is extremely important for the F/D (Floating Point) extension. </a:t>
            </a:r>
          </a:p>
          <a:p>
            <a:pPr lvl="1"/>
            <a:r>
              <a:rPr lang="en-US" sz="2400" dirty="0"/>
              <a:t>It is applicable to the most commonly used linear algebra operation: matrix multiply</a:t>
            </a:r>
          </a:p>
          <a:p>
            <a:pPr lvl="2"/>
            <a:r>
              <a:rPr lang="en-US" sz="2200" dirty="0"/>
              <a:t>In the inner loop: C[</a:t>
            </a:r>
            <a:r>
              <a:rPr lang="en-US" sz="2200" dirty="0" err="1"/>
              <a:t>i</a:t>
            </a:r>
            <a:r>
              <a:rPr lang="en-US" sz="2200" dirty="0"/>
              <a:t>][j] = C[</a:t>
            </a:r>
            <a:r>
              <a:rPr lang="en-US" sz="2200" dirty="0" err="1"/>
              <a:t>i</a:t>
            </a:r>
            <a:r>
              <a:rPr lang="en-US" sz="2200" dirty="0"/>
              <a:t>][j] + A[</a:t>
            </a:r>
            <a:r>
              <a:rPr lang="en-US" sz="2200" dirty="0" err="1"/>
              <a:t>i</a:t>
            </a:r>
            <a:r>
              <a:rPr lang="en-US" sz="2200" dirty="0"/>
              <a:t>][k] * B[k][j]</a:t>
            </a:r>
          </a:p>
          <a:p>
            <a:pPr lvl="1"/>
            <a:r>
              <a:rPr lang="en-US" sz="2400" dirty="0"/>
              <a:t>It can substitute two instructions: reduce half of the instructions</a:t>
            </a:r>
          </a:p>
          <a:p>
            <a:pPr lvl="1"/>
            <a:r>
              <a:rPr lang="en-US" sz="2400" dirty="0"/>
              <a:t>It computes faster: two FP </a:t>
            </a:r>
            <a:r>
              <a:rPr lang="en-US" sz="2400" dirty="0" err="1"/>
              <a:t>roundings</a:t>
            </a:r>
            <a:r>
              <a:rPr lang="en-US" sz="2400" dirty="0"/>
              <a:t> can be saved.</a:t>
            </a:r>
          </a:p>
          <a:p>
            <a:pPr lvl="1"/>
            <a:r>
              <a:rPr lang="en-US" sz="2400" dirty="0"/>
              <a:t>Its result is more precise: two FP </a:t>
            </a:r>
            <a:r>
              <a:rPr lang="en-US" sz="2400" dirty="0" err="1"/>
              <a:t>roundings</a:t>
            </a:r>
            <a:r>
              <a:rPr lang="en-US" sz="2400" dirty="0"/>
              <a:t> can be skipped</a:t>
            </a:r>
          </a:p>
          <a:p>
            <a:pPr lvl="1"/>
            <a:r>
              <a:rPr lang="en-US" sz="2400" dirty="0"/>
              <a:t>Most newer machines include this instruction.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27</a:t>
            </a:fld>
            <a:endParaRPr lang="en-US" dirty="0"/>
          </a:p>
        </p:txBody>
      </p:sp>
    </p:spTree>
    <p:extLst>
      <p:ext uri="{BB962C8B-B14F-4D97-AF65-F5344CB8AC3E}">
        <p14:creationId xmlns:p14="http://schemas.microsoft.com/office/powerpoint/2010/main" val="1179919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Logical/Shift Operations in RISC-V</a:t>
            </a:r>
          </a:p>
        </p:txBody>
      </p:sp>
      <p:graphicFrame>
        <p:nvGraphicFramePr>
          <p:cNvPr id="4" name="Table 4">
            <a:extLst>
              <a:ext uri="{FF2B5EF4-FFF2-40B4-BE49-F238E27FC236}">
                <a16:creationId xmlns:a16="http://schemas.microsoft.com/office/drawing/2014/main" id="{9F541562-7D16-43A5-86E0-FAD0FAC1A382}"/>
              </a:ext>
            </a:extLst>
          </p:cNvPr>
          <p:cNvGraphicFramePr>
            <a:graphicFrameLocks noGrp="1"/>
          </p:cNvGraphicFramePr>
          <p:nvPr>
            <p:ph idx="1"/>
            <p:extLst>
              <p:ext uri="{D42A27DB-BD31-4B8C-83A1-F6EECF244321}">
                <p14:modId xmlns:p14="http://schemas.microsoft.com/office/powerpoint/2010/main" val="1267343938"/>
              </p:ext>
            </p:extLst>
          </p:nvPr>
        </p:nvGraphicFramePr>
        <p:xfrm>
          <a:off x="707678" y="1247069"/>
          <a:ext cx="10859910" cy="4674276"/>
        </p:xfrm>
        <a:graphic>
          <a:graphicData uri="http://schemas.openxmlformats.org/drawingml/2006/table">
            <a:tbl>
              <a:tblPr firstRow="1" bandRow="1">
                <a:tableStyleId>{5C22544A-7EE6-4342-B048-85BDC9FD1C3A}</a:tableStyleId>
              </a:tblPr>
              <a:tblGrid>
                <a:gridCol w="2904916">
                  <a:extLst>
                    <a:ext uri="{9D8B030D-6E8A-4147-A177-3AD203B41FA5}">
                      <a16:colId xmlns:a16="http://schemas.microsoft.com/office/drawing/2014/main" val="2108928852"/>
                    </a:ext>
                  </a:extLst>
                </a:gridCol>
                <a:gridCol w="2525040">
                  <a:extLst>
                    <a:ext uri="{9D8B030D-6E8A-4147-A177-3AD203B41FA5}">
                      <a16:colId xmlns:a16="http://schemas.microsoft.com/office/drawing/2014/main" val="319748222"/>
                    </a:ext>
                  </a:extLst>
                </a:gridCol>
                <a:gridCol w="2714977">
                  <a:extLst>
                    <a:ext uri="{9D8B030D-6E8A-4147-A177-3AD203B41FA5}">
                      <a16:colId xmlns:a16="http://schemas.microsoft.com/office/drawing/2014/main" val="2168498136"/>
                    </a:ext>
                  </a:extLst>
                </a:gridCol>
                <a:gridCol w="2714977">
                  <a:extLst>
                    <a:ext uri="{9D8B030D-6E8A-4147-A177-3AD203B41FA5}">
                      <a16:colId xmlns:a16="http://schemas.microsoft.com/office/drawing/2014/main" val="946357523"/>
                    </a:ext>
                  </a:extLst>
                </a:gridCol>
              </a:tblGrid>
              <a:tr h="853779">
                <a:tc>
                  <a:txBody>
                    <a:bodyPr/>
                    <a:lstStyle/>
                    <a:p>
                      <a:r>
                        <a:rPr lang="en-US" sz="2400" dirty="0"/>
                        <a:t>Logical operations</a:t>
                      </a:r>
                    </a:p>
                  </a:txBody>
                  <a:tcPr marL="121920" marR="121920" marT="60960" marB="60960"/>
                </a:tc>
                <a:tc>
                  <a:txBody>
                    <a:bodyPr/>
                    <a:lstStyle/>
                    <a:p>
                      <a:r>
                        <a:rPr lang="en-US" sz="2400" dirty="0"/>
                        <a:t>C operators</a:t>
                      </a:r>
                    </a:p>
                  </a:txBody>
                  <a:tcPr marL="121920" marR="121920" marT="60960" marB="60960"/>
                </a:tc>
                <a:tc>
                  <a:txBody>
                    <a:bodyPr/>
                    <a:lstStyle/>
                    <a:p>
                      <a:r>
                        <a:rPr lang="en-US" sz="2400" dirty="0"/>
                        <a:t>Java operators</a:t>
                      </a:r>
                    </a:p>
                  </a:txBody>
                  <a:tcPr marL="121920" marR="121920" marT="60960" marB="60960"/>
                </a:tc>
                <a:tc>
                  <a:txBody>
                    <a:bodyPr/>
                    <a:lstStyle/>
                    <a:p>
                      <a:r>
                        <a:rPr lang="en-US" sz="2400" dirty="0"/>
                        <a:t>RISC-V  instructions</a:t>
                      </a:r>
                    </a:p>
                  </a:txBody>
                  <a:tcPr marL="121920" marR="121920" marT="60960" marB="60960"/>
                </a:tc>
                <a:extLst>
                  <a:ext uri="{0D108BD9-81ED-4DB2-BD59-A6C34878D82A}">
                    <a16:rowId xmlns:a16="http://schemas.microsoft.com/office/drawing/2014/main" val="2127078557"/>
                  </a:ext>
                </a:extLst>
              </a:tr>
              <a:tr h="494453">
                <a:tc>
                  <a:txBody>
                    <a:bodyPr/>
                    <a:lstStyle/>
                    <a:p>
                      <a:r>
                        <a:rPr lang="en-US" sz="2400" dirty="0"/>
                        <a:t>Shift Left</a:t>
                      </a:r>
                    </a:p>
                  </a:txBody>
                  <a:tcPr marL="121920" marR="121920" marT="60960" marB="60960"/>
                </a:tc>
                <a:tc>
                  <a:txBody>
                    <a:bodyPr/>
                    <a:lstStyle/>
                    <a:p>
                      <a:pPr algn="ctr"/>
                      <a:r>
                        <a:rPr lang="en-US" sz="2400" dirty="0"/>
                        <a:t>&lt;&lt;</a:t>
                      </a:r>
                    </a:p>
                  </a:txBody>
                  <a:tcPr marL="121920" marR="121920" marT="60960" marB="60960"/>
                </a:tc>
                <a:tc>
                  <a:txBody>
                    <a:bodyPr/>
                    <a:lstStyle/>
                    <a:p>
                      <a:pPr algn="ctr"/>
                      <a:r>
                        <a:rPr lang="en-US" sz="2400" dirty="0"/>
                        <a:t>&lt;&lt;</a:t>
                      </a:r>
                    </a:p>
                  </a:txBody>
                  <a:tcPr marL="121920" marR="121920" marT="60960" marB="60960"/>
                </a:tc>
                <a:tc>
                  <a:txBody>
                    <a:bodyPr/>
                    <a:lstStyle/>
                    <a:p>
                      <a:pPr algn="ctr"/>
                      <a:r>
                        <a:rPr lang="en-US" sz="2400" dirty="0"/>
                        <a:t>SLL, </a:t>
                      </a:r>
                      <a:r>
                        <a:rPr lang="en-US" sz="2400" dirty="0" err="1"/>
                        <a:t>SLLi</a:t>
                      </a:r>
                      <a:endParaRPr lang="en-US" sz="2400" dirty="0"/>
                    </a:p>
                  </a:txBody>
                  <a:tcPr marL="121920" marR="121920" marT="60960" marB="60960"/>
                </a:tc>
                <a:extLst>
                  <a:ext uri="{0D108BD9-81ED-4DB2-BD59-A6C34878D82A}">
                    <a16:rowId xmlns:a16="http://schemas.microsoft.com/office/drawing/2014/main" val="919059081"/>
                  </a:ext>
                </a:extLst>
              </a:tr>
              <a:tr h="494453">
                <a:tc>
                  <a:txBody>
                    <a:bodyPr/>
                    <a:lstStyle/>
                    <a:p>
                      <a:r>
                        <a:rPr lang="en-US" sz="2400" dirty="0"/>
                        <a:t>Shift Right</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&gt;&gt;&gt;</a:t>
                      </a:r>
                    </a:p>
                  </a:txBody>
                  <a:tcPr marL="121920" marR="121920" marT="60960" marB="60960"/>
                </a:tc>
                <a:tc>
                  <a:txBody>
                    <a:bodyPr/>
                    <a:lstStyle/>
                    <a:p>
                      <a:pPr algn="ctr"/>
                      <a:r>
                        <a:rPr lang="en-US" sz="2400" dirty="0"/>
                        <a:t>SRL, </a:t>
                      </a:r>
                      <a:r>
                        <a:rPr lang="en-US" sz="2400" dirty="0" err="1"/>
                        <a:t>SRLi</a:t>
                      </a:r>
                      <a:endParaRPr lang="en-US" sz="2400" dirty="0"/>
                    </a:p>
                  </a:txBody>
                  <a:tcPr marL="121920" marR="121920" marT="60960" marB="60960"/>
                </a:tc>
                <a:extLst>
                  <a:ext uri="{0D108BD9-81ED-4DB2-BD59-A6C34878D82A}">
                    <a16:rowId xmlns:a16="http://schemas.microsoft.com/office/drawing/2014/main" val="983492529"/>
                  </a:ext>
                </a:extLst>
              </a:tr>
              <a:tr h="853779">
                <a:tc>
                  <a:txBody>
                    <a:bodyPr/>
                    <a:lstStyle/>
                    <a:p>
                      <a:r>
                        <a:rPr lang="en-US" sz="2400" dirty="0"/>
                        <a:t>Shift right arithmetic</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&gt;&gt;</a:t>
                      </a:r>
                    </a:p>
                  </a:txBody>
                  <a:tcPr marL="121920" marR="121920" marT="60960" marB="60960"/>
                </a:tc>
                <a:tc>
                  <a:txBody>
                    <a:bodyPr/>
                    <a:lstStyle/>
                    <a:p>
                      <a:pPr algn="ctr"/>
                      <a:r>
                        <a:rPr lang="en-US" sz="2400" dirty="0"/>
                        <a:t>SRA, </a:t>
                      </a:r>
                      <a:r>
                        <a:rPr lang="en-US" sz="2400" dirty="0" err="1"/>
                        <a:t>SRAi</a:t>
                      </a:r>
                      <a:endParaRPr lang="en-US" sz="2400" dirty="0"/>
                    </a:p>
                  </a:txBody>
                  <a:tcPr marL="121920" marR="121920" marT="60960" marB="60960"/>
                </a:tc>
                <a:extLst>
                  <a:ext uri="{0D108BD9-81ED-4DB2-BD59-A6C34878D82A}">
                    <a16:rowId xmlns:a16="http://schemas.microsoft.com/office/drawing/2014/main" val="181492610"/>
                  </a:ext>
                </a:extLst>
              </a:tr>
              <a:tr h="494453">
                <a:tc>
                  <a:txBody>
                    <a:bodyPr/>
                    <a:lstStyle/>
                    <a:p>
                      <a:r>
                        <a:rPr lang="en-US" sz="2400" dirty="0"/>
                        <a:t>Bitwise AND</a:t>
                      </a:r>
                    </a:p>
                  </a:txBody>
                  <a:tcPr marL="121920" marR="121920" marT="60960" marB="60960"/>
                </a:tc>
                <a:tc>
                  <a:txBody>
                    <a:bodyPr/>
                    <a:lstStyle/>
                    <a:p>
                      <a:pPr algn="ctr"/>
                      <a:r>
                        <a:rPr lang="en-US" sz="2400" dirty="0"/>
                        <a:t>&amp;</a:t>
                      </a:r>
                    </a:p>
                  </a:txBody>
                  <a:tcPr marL="121920" marR="121920" marT="60960" marB="60960"/>
                </a:tc>
                <a:tc>
                  <a:txBody>
                    <a:bodyPr/>
                    <a:lstStyle/>
                    <a:p>
                      <a:pPr algn="ctr"/>
                      <a:r>
                        <a:rPr lang="en-US" sz="2400" dirty="0"/>
                        <a:t>&amp;</a:t>
                      </a:r>
                    </a:p>
                  </a:txBody>
                  <a:tcPr marL="121920" marR="121920" marT="60960" marB="60960"/>
                </a:tc>
                <a:tc>
                  <a:txBody>
                    <a:bodyPr/>
                    <a:lstStyle/>
                    <a:p>
                      <a:pPr algn="ctr"/>
                      <a:r>
                        <a:rPr lang="en-US" sz="2400" dirty="0"/>
                        <a:t>AND, </a:t>
                      </a:r>
                      <a:r>
                        <a:rPr lang="en-US" sz="2400" dirty="0" err="1"/>
                        <a:t>ANDi</a:t>
                      </a:r>
                      <a:endParaRPr lang="en-US" sz="2400" dirty="0"/>
                    </a:p>
                  </a:txBody>
                  <a:tcPr marL="121920" marR="121920" marT="60960" marB="60960"/>
                </a:tc>
                <a:extLst>
                  <a:ext uri="{0D108BD9-81ED-4DB2-BD59-A6C34878D82A}">
                    <a16:rowId xmlns:a16="http://schemas.microsoft.com/office/drawing/2014/main" val="2015835075"/>
                  </a:ext>
                </a:extLst>
              </a:tr>
              <a:tr h="494453">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Bitwise OR</a:t>
                      </a:r>
                    </a:p>
                  </a:txBody>
                  <a:tcPr marL="121920" marR="121920" marT="60960" marB="60960"/>
                </a:tc>
                <a:tc>
                  <a:txBody>
                    <a:bodyPr/>
                    <a:lstStyle/>
                    <a:p>
                      <a:pPr algn="ctr"/>
                      <a:r>
                        <a:rPr lang="en-US" sz="2400" dirty="0"/>
                        <a:t>I</a:t>
                      </a:r>
                    </a:p>
                  </a:txBody>
                  <a:tcPr marL="121920" marR="121920" marT="60960" marB="60960"/>
                </a:tc>
                <a:tc>
                  <a:txBody>
                    <a:bodyPr/>
                    <a:lstStyle/>
                    <a:p>
                      <a:pPr algn="ctr"/>
                      <a:r>
                        <a:rPr lang="en-US" sz="2400" dirty="0"/>
                        <a:t>I</a:t>
                      </a:r>
                    </a:p>
                  </a:txBody>
                  <a:tcPr marL="121920" marR="121920" marT="60960" marB="60960"/>
                </a:tc>
                <a:tc>
                  <a:txBody>
                    <a:bodyPr/>
                    <a:lstStyle/>
                    <a:p>
                      <a:pPr algn="ctr"/>
                      <a:r>
                        <a:rPr lang="en-US" sz="2400" dirty="0"/>
                        <a:t>OR, </a:t>
                      </a:r>
                      <a:r>
                        <a:rPr lang="en-US" sz="2400" dirty="0" err="1"/>
                        <a:t>ORi</a:t>
                      </a:r>
                      <a:endParaRPr lang="en-US" sz="2400" dirty="0"/>
                    </a:p>
                  </a:txBody>
                  <a:tcPr marL="121920" marR="121920" marT="60960" marB="60960"/>
                </a:tc>
                <a:extLst>
                  <a:ext uri="{0D108BD9-81ED-4DB2-BD59-A6C34878D82A}">
                    <a16:rowId xmlns:a16="http://schemas.microsoft.com/office/drawing/2014/main" val="2310722298"/>
                  </a:ext>
                </a:extLst>
              </a:tr>
              <a:tr h="494453">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Bitwise XOR</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XOR, </a:t>
                      </a:r>
                      <a:r>
                        <a:rPr lang="en-US" sz="2400" dirty="0" err="1"/>
                        <a:t>XORi</a:t>
                      </a:r>
                      <a:endParaRPr lang="en-US" sz="2400" dirty="0"/>
                    </a:p>
                  </a:txBody>
                  <a:tcPr marL="121920" marR="121920" marT="60960" marB="60960"/>
                </a:tc>
                <a:extLst>
                  <a:ext uri="{0D108BD9-81ED-4DB2-BD59-A6C34878D82A}">
                    <a16:rowId xmlns:a16="http://schemas.microsoft.com/office/drawing/2014/main" val="4001689429"/>
                  </a:ext>
                </a:extLst>
              </a:tr>
              <a:tr h="494453">
                <a:tc>
                  <a:txBody>
                    <a:bodyPr/>
                    <a:lstStyle/>
                    <a:p>
                      <a:r>
                        <a:rPr lang="en-US" sz="2400" dirty="0">
                          <a:solidFill>
                            <a:srgbClr val="FF0000"/>
                          </a:solidFill>
                        </a:rPr>
                        <a:t>Bitwise NOT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400" dirty="0"/>
                        <a:t>~</a:t>
                      </a:r>
                    </a:p>
                  </a:txBody>
                  <a:tcPr marL="121920" marR="121920" marT="60960" marB="60960"/>
                </a:tc>
                <a:tc>
                  <a:txBody>
                    <a:bodyPr/>
                    <a:lstStyle/>
                    <a:p>
                      <a:pPr algn="ctr"/>
                      <a:r>
                        <a:rPr lang="en-US" sz="2100" dirty="0" err="1">
                          <a:solidFill>
                            <a:srgbClr val="FF0000"/>
                          </a:solidFill>
                        </a:rPr>
                        <a:t>XORi</a:t>
                      </a:r>
                      <a:r>
                        <a:rPr lang="en-US" sz="2100" dirty="0">
                          <a:solidFill>
                            <a:srgbClr val="FF0000"/>
                          </a:solidFill>
                        </a:rPr>
                        <a:t> with -1</a:t>
                      </a:r>
                    </a:p>
                  </a:txBody>
                  <a:tcPr marL="121920" marR="121920" marT="60960" marB="60960"/>
                </a:tc>
                <a:extLst>
                  <a:ext uri="{0D108BD9-81ED-4DB2-BD59-A6C34878D82A}">
                    <a16:rowId xmlns:a16="http://schemas.microsoft.com/office/drawing/2014/main" val="4133769179"/>
                  </a:ext>
                </a:extLst>
              </a:tr>
            </a:tbl>
          </a:graphicData>
        </a:graphic>
      </p:graphicFrame>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28</a:t>
            </a:fld>
            <a:endParaRPr lang="en-US" dirty="0"/>
          </a:p>
        </p:txBody>
      </p:sp>
    </p:spTree>
    <p:extLst>
      <p:ext uri="{BB962C8B-B14F-4D97-AF65-F5344CB8AC3E}">
        <p14:creationId xmlns:p14="http://schemas.microsoft.com/office/powerpoint/2010/main" val="1235079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SRL (</a:t>
            </a:r>
            <a:r>
              <a:rPr lang="en-US" sz="4000" dirty="0"/>
              <a:t>logic</a:t>
            </a:r>
            <a:r>
              <a:rPr lang="en-US" dirty="0"/>
              <a:t>) or SRA (</a:t>
            </a:r>
            <a:r>
              <a:rPr lang="en-US" sz="4000" dirty="0"/>
              <a:t>arithmetic</a:t>
            </a:r>
            <a:r>
              <a:rPr lang="en-US" dirty="0"/>
              <a:t>) ?</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29</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09600" y="1125537"/>
            <a:ext cx="10972800" cy="5149533"/>
          </a:xfrm>
        </p:spPr>
        <p:txBody>
          <a:bodyPr/>
          <a:lstStyle/>
          <a:p>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SRA will fill with the sign bit to preserve the negative values of 2’s complement. SRL will fill with zeros. </a:t>
            </a:r>
          </a:p>
          <a:p>
            <a:r>
              <a:rPr lang="en-US" sz="3200" dirty="0"/>
              <a:t>In Java, &gt;&gt;&gt; means SRL, and &gt;&gt; means SRA</a:t>
            </a:r>
          </a:p>
          <a:p>
            <a:r>
              <a:rPr lang="en-US" sz="3200" dirty="0"/>
              <a:t>In C, both shifts use the same operator: &gt;&gt;. The compiler chooses SRA for signed data types and SRL for unsigned ones. </a:t>
            </a:r>
          </a:p>
          <a:p>
            <a:r>
              <a:rPr lang="en-US" dirty="0"/>
              <a:t>e.g. </a:t>
            </a:r>
          </a:p>
          <a:p>
            <a:pPr marL="0" indent="0">
              <a:buNone/>
            </a:pPr>
            <a:r>
              <a:rPr lang="en-US" sz="3200" dirty="0"/>
              <a:t>-4 &gt;&gt; 2 </a:t>
            </a:r>
          </a:p>
          <a:p>
            <a:pPr marL="0" indent="0">
              <a:buNone/>
            </a:pPr>
            <a:r>
              <a:rPr lang="en-US" sz="2800" dirty="0"/>
              <a:t>1111….100 Shift right by 2:     	SRL (Logical shift) 	  	</a:t>
            </a:r>
            <a:r>
              <a:rPr lang="en-US" sz="2800" dirty="0">
                <a:sym typeface="Wingdings" panose="05000000000000000000" pitchFamily="2" charset="2"/>
              </a:rPr>
              <a:t> 00111…111</a:t>
            </a:r>
          </a:p>
          <a:p>
            <a:pPr marL="0" indent="0">
              <a:buNone/>
            </a:pPr>
            <a:r>
              <a:rPr lang="en-US" dirty="0">
                <a:sym typeface="Wingdings" panose="05000000000000000000" pitchFamily="2" charset="2"/>
              </a:rPr>
              <a:t>					</a:t>
            </a:r>
            <a:r>
              <a:rPr lang="en-US" sz="2800" dirty="0">
                <a:sym typeface="Wingdings" panose="05000000000000000000" pitchFamily="2" charset="2"/>
              </a:rPr>
              <a:t>SRA (Arithmetic shift) 	 1111….111 </a:t>
            </a:r>
            <a:endParaRPr lang="en-US" sz="2800" dirty="0"/>
          </a:p>
        </p:txBody>
      </p:sp>
    </p:spTree>
    <p:extLst>
      <p:ext uri="{BB962C8B-B14F-4D97-AF65-F5344CB8AC3E}">
        <p14:creationId xmlns:p14="http://schemas.microsoft.com/office/powerpoint/2010/main" val="1858053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Masked Operations</a:t>
            </a:r>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30</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19840" y="1232697"/>
            <a:ext cx="10972800" cy="4895851"/>
          </a:xfrm>
        </p:spPr>
        <p:txBody>
          <a:bodyPr/>
          <a:lstStyle/>
          <a:p>
            <a:r>
              <a:rPr lang="en-US" sz="3200" dirty="0"/>
              <a:t>If you only want the lower 10 bits of a variable A, or </a:t>
            </a:r>
          </a:p>
          <a:p>
            <a:pPr marL="0" indent="0" defTabSz="1219170">
              <a:buClr>
                <a:srgbClr val="8064A2"/>
              </a:buClr>
              <a:buNone/>
              <a:defRPr/>
            </a:pPr>
            <a:r>
              <a:rPr lang="en-US" sz="3200" dirty="0">
                <a:solidFill>
                  <a:prstClr val="black"/>
                </a:solidFill>
              </a:rPr>
              <a:t>    If you want to get the remainder of A div by 1024</a:t>
            </a:r>
            <a:endParaRPr lang="en-US" sz="3200" dirty="0"/>
          </a:p>
          <a:p>
            <a:pPr lvl="1"/>
            <a:r>
              <a:rPr lang="en-US" sz="2800" dirty="0"/>
              <a:t>A </a:t>
            </a:r>
            <a:r>
              <a:rPr lang="en-US" sz="2800" b="1" dirty="0"/>
              <a:t>and</a:t>
            </a:r>
            <a:r>
              <a:rPr lang="en-US" sz="2800" dirty="0"/>
              <a:t> 1023 (i.e. 0000….1111111111)</a:t>
            </a:r>
          </a:p>
          <a:p>
            <a:r>
              <a:rPr lang="en-US" sz="3200" dirty="0"/>
              <a:t>If you want to get rid of the lower 10 bits of A</a:t>
            </a:r>
          </a:p>
          <a:p>
            <a:pPr lvl="1"/>
            <a:r>
              <a:rPr lang="en-US" sz="2800" dirty="0"/>
              <a:t>A </a:t>
            </a:r>
            <a:r>
              <a:rPr lang="en-US" sz="2800" b="1" dirty="0"/>
              <a:t>and</a:t>
            </a:r>
            <a:r>
              <a:rPr lang="en-US" sz="2800" dirty="0"/>
              <a:t> (1111…..1110000000000)</a:t>
            </a:r>
          </a:p>
          <a:p>
            <a:r>
              <a:rPr lang="en-US" sz="3200" dirty="0"/>
              <a:t>Setting specific bits in a word (e.g., the 3</a:t>
            </a:r>
            <a:r>
              <a:rPr lang="en-US" sz="3200" baseline="30000" dirty="0"/>
              <a:t>rd</a:t>
            </a:r>
            <a:r>
              <a:rPr lang="en-US" sz="3200" dirty="0"/>
              <a:t> and 4</a:t>
            </a:r>
            <a:r>
              <a:rPr lang="en-US" sz="3200" baseline="30000" dirty="0"/>
              <a:t>th</a:t>
            </a:r>
            <a:r>
              <a:rPr lang="en-US" sz="3200" dirty="0"/>
              <a:t> bits)</a:t>
            </a:r>
          </a:p>
          <a:p>
            <a:pPr lvl="1"/>
            <a:r>
              <a:rPr lang="en-US" sz="2800" b="1" dirty="0"/>
              <a:t>OR</a:t>
            </a:r>
            <a:r>
              <a:rPr lang="en-US" sz="2800" dirty="0"/>
              <a:t> ….0001100</a:t>
            </a:r>
          </a:p>
        </p:txBody>
      </p:sp>
    </p:spTree>
    <p:extLst>
      <p:ext uri="{BB962C8B-B14F-4D97-AF65-F5344CB8AC3E}">
        <p14:creationId xmlns:p14="http://schemas.microsoft.com/office/powerpoint/2010/main" val="3590566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900" y="-90071"/>
            <a:ext cx="8706089" cy="1143000"/>
          </a:xfrm>
        </p:spPr>
        <p:txBody>
          <a:bodyPr/>
          <a:lstStyle/>
          <a:p>
            <a:r>
              <a:rPr lang="en-US" dirty="0"/>
              <a:t>Instruction Formats SB, U, J  </a:t>
            </a:r>
            <a:endParaRPr lang="en-US" sz="4000" i="1" dirty="0"/>
          </a:p>
        </p:txBody>
      </p:sp>
      <p:sp>
        <p:nvSpPr>
          <p:cNvPr id="7" name="TextBox 6"/>
          <p:cNvSpPr txBox="1"/>
          <p:nvPr/>
        </p:nvSpPr>
        <p:spPr>
          <a:xfrm>
            <a:off x="1802855" y="1052930"/>
            <a:ext cx="7903959"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2"/>
              </a:buBlip>
            </a:pPr>
            <a:r>
              <a:rPr lang="en-US" sz="2400" dirty="0">
                <a:solidFill>
                  <a:srgbClr val="FF0000"/>
                </a:solidFill>
              </a:rPr>
              <a:t>SB</a:t>
            </a:r>
            <a:r>
              <a:rPr lang="en-US" sz="2400" dirty="0"/>
              <a:t>-type instruction &amp; B-immediate (32 bits) </a:t>
            </a:r>
            <a:endParaRPr lang="en-US" dirty="0"/>
          </a:p>
        </p:txBody>
      </p:sp>
      <p:grpSp>
        <p:nvGrpSpPr>
          <p:cNvPr id="24" name="Group 23"/>
          <p:cNvGrpSpPr/>
          <p:nvPr/>
        </p:nvGrpSpPr>
        <p:grpSpPr>
          <a:xfrm>
            <a:off x="1802855" y="1514603"/>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25" name="TextBox 24"/>
          <p:cNvSpPr txBox="1"/>
          <p:nvPr/>
        </p:nvSpPr>
        <p:spPr>
          <a:xfrm>
            <a:off x="1802855" y="2322942"/>
            <a:ext cx="8587247" cy="369332"/>
          </a:xfrm>
          <a:prstGeom prst="rect">
            <a:avLst/>
          </a:prstGeom>
          <a:noFill/>
        </p:spPr>
        <p:txBody>
          <a:bodyPr wrap="square" rtlCol="0">
            <a:spAutoFit/>
          </a:bodyPr>
          <a:lstStyle/>
          <a:p>
            <a:r>
              <a:rPr lang="en-US" dirty="0"/>
              <a:t>B-</a:t>
            </a:r>
            <a:r>
              <a:rPr lang="en-US" dirty="0" err="1"/>
              <a:t>imm</a:t>
            </a:r>
            <a:r>
              <a:rPr lang="en-US" dirty="0"/>
              <a:t> = </a:t>
            </a:r>
            <a:r>
              <a:rPr lang="en-US" dirty="0" err="1"/>
              <a:t>signExtend</a:t>
            </a:r>
            <a:r>
              <a:rPr lang="en-US" dirty="0"/>
              <a:t>({</a:t>
            </a:r>
            <a:r>
              <a:rPr lang="en-US" dirty="0" err="1"/>
              <a:t>inst</a:t>
            </a:r>
            <a:r>
              <a:rPr lang="en-US" dirty="0"/>
              <a:t>[31], </a:t>
            </a:r>
            <a:r>
              <a:rPr lang="en-US" dirty="0" err="1"/>
              <a:t>inst</a:t>
            </a:r>
            <a:r>
              <a:rPr lang="en-US" dirty="0"/>
              <a:t>[7], </a:t>
            </a:r>
            <a:r>
              <a:rPr lang="en-US" dirty="0" err="1"/>
              <a:t>inst</a:t>
            </a:r>
            <a:r>
              <a:rPr lang="en-US" dirty="0"/>
              <a:t>[30:25], </a:t>
            </a:r>
            <a:r>
              <a:rPr lang="en-US" dirty="0" err="1"/>
              <a:t>inst</a:t>
            </a:r>
            <a:r>
              <a:rPr lang="en-US" dirty="0"/>
              <a:t>[11:8], 1’b0})</a:t>
            </a:r>
          </a:p>
        </p:txBody>
      </p:sp>
      <p:sp>
        <p:nvSpPr>
          <p:cNvPr id="26" name="TextBox 25"/>
          <p:cNvSpPr txBox="1"/>
          <p:nvPr/>
        </p:nvSpPr>
        <p:spPr>
          <a:xfrm>
            <a:off x="1802855" y="2817087"/>
            <a:ext cx="8142747"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2"/>
              </a:buBlip>
            </a:pPr>
            <a:r>
              <a:rPr lang="en-US" sz="2400" dirty="0">
                <a:solidFill>
                  <a:srgbClr val="FF0000"/>
                </a:solidFill>
              </a:rPr>
              <a:t>U</a:t>
            </a:r>
            <a:r>
              <a:rPr lang="en-US" sz="2400" dirty="0"/>
              <a:t>-type instruction &amp; U-immediate (32 bits)</a:t>
            </a:r>
            <a:endParaRPr lang="en-US" dirty="0"/>
          </a:p>
        </p:txBody>
      </p:sp>
      <p:grpSp>
        <p:nvGrpSpPr>
          <p:cNvPr id="48" name="Group 47"/>
          <p:cNvGrpSpPr/>
          <p:nvPr/>
        </p:nvGrpSpPr>
        <p:grpSpPr>
          <a:xfrm>
            <a:off x="1802855" y="3278751"/>
            <a:ext cx="8267207" cy="642123"/>
            <a:chOff x="721854" y="4278336"/>
            <a:chExt cx="8267206" cy="642123"/>
          </a:xfrm>
        </p:grpSpPr>
        <p:sp>
          <p:nvSpPr>
            <p:cNvPr id="34" name="TextBox 33"/>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35" name="TextBox 34"/>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42" name="TextBox 41"/>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43" name="TextBox 42"/>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44" name="TextBox 43"/>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sp>
          <p:nvSpPr>
            <p:cNvPr id="47" name="TextBox 46"/>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49" name="TextBox 48"/>
          <p:cNvSpPr txBox="1"/>
          <p:nvPr/>
        </p:nvSpPr>
        <p:spPr>
          <a:xfrm>
            <a:off x="1802855" y="4021509"/>
            <a:ext cx="7715391" cy="369332"/>
          </a:xfrm>
          <a:prstGeom prst="rect">
            <a:avLst/>
          </a:prstGeom>
          <a:noFill/>
        </p:spPr>
        <p:txBody>
          <a:bodyPr wrap="square" rtlCol="0">
            <a:spAutoFit/>
          </a:bodyPr>
          <a:lstStyle/>
          <a:p>
            <a:r>
              <a:rPr lang="en-US" dirty="0"/>
              <a:t>U-</a:t>
            </a:r>
            <a:r>
              <a:rPr lang="en-US" dirty="0" err="1"/>
              <a:t>imm</a:t>
            </a:r>
            <a:r>
              <a:rPr lang="en-US" dirty="0"/>
              <a:t> = </a:t>
            </a:r>
            <a:r>
              <a:rPr lang="en-US" dirty="0" err="1"/>
              <a:t>signExtend</a:t>
            </a:r>
            <a:r>
              <a:rPr lang="en-US" dirty="0"/>
              <a:t>({</a:t>
            </a:r>
            <a:r>
              <a:rPr lang="en-US" dirty="0" err="1"/>
              <a:t>inst</a:t>
            </a:r>
            <a:r>
              <a:rPr lang="en-US" dirty="0"/>
              <a:t>[31:12], 12’b0})</a:t>
            </a:r>
          </a:p>
        </p:txBody>
      </p:sp>
      <p:sp>
        <p:nvSpPr>
          <p:cNvPr id="50" name="TextBox 49"/>
          <p:cNvSpPr txBox="1"/>
          <p:nvPr/>
        </p:nvSpPr>
        <p:spPr>
          <a:xfrm>
            <a:off x="1802855" y="4476713"/>
            <a:ext cx="7985419" cy="461665"/>
          </a:xfrm>
          <a:prstGeom prst="rect">
            <a:avLst/>
          </a:prstGeom>
          <a:noFill/>
        </p:spPr>
        <p:txBody>
          <a:bodyPr wrap="square" rtlCol="0">
            <a:spAutoFit/>
          </a:bodyPr>
          <a:lstStyle/>
          <a:p>
            <a:pPr marL="342891" indent="-342891" eaLnBrk="0" hangingPunct="0">
              <a:spcBef>
                <a:spcPct val="20000"/>
              </a:spcBef>
              <a:buClr>
                <a:schemeClr val="hlink"/>
              </a:buClr>
              <a:buSzPct val="110000"/>
              <a:buBlip>
                <a:blip r:embed="rId2"/>
              </a:buBlip>
            </a:pPr>
            <a:r>
              <a:rPr lang="en-US" sz="2400" dirty="0">
                <a:solidFill>
                  <a:srgbClr val="FF0000"/>
                </a:solidFill>
              </a:rPr>
              <a:t>UJ</a:t>
            </a:r>
            <a:r>
              <a:rPr lang="en-US" sz="2400" dirty="0"/>
              <a:t>-type instruction &amp; J-immediate (32 bits)</a:t>
            </a:r>
            <a:endParaRPr lang="en-US" dirty="0"/>
          </a:p>
        </p:txBody>
      </p:sp>
      <p:grpSp>
        <p:nvGrpSpPr>
          <p:cNvPr id="69" name="Group 68"/>
          <p:cNvGrpSpPr/>
          <p:nvPr/>
        </p:nvGrpSpPr>
        <p:grpSpPr>
          <a:xfrm>
            <a:off x="1802857" y="4898033"/>
            <a:ext cx="8262135" cy="667543"/>
            <a:chOff x="721854" y="5395393"/>
            <a:chExt cx="8262135" cy="667543"/>
          </a:xfrm>
        </p:grpSpPr>
        <p:sp>
          <p:nvSpPr>
            <p:cNvPr id="52" name="TextBox 51"/>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53" name="TextBox 52"/>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54" name="TextBox 53"/>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56" name="TextBox 55"/>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[19:12]</a:t>
              </a:r>
            </a:p>
          </p:txBody>
        </p:sp>
        <p:sp>
          <p:nvSpPr>
            <p:cNvPr id="58" name="TextBox 57"/>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59" name="TextBox 58"/>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60" name="TextBox 59"/>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61" name="TextBox 60"/>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64" name="TextBox 63"/>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65" name="TextBox 64"/>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66" name="TextBox 65"/>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67" name="TextBox 66"/>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sp>
        <p:nvSpPr>
          <p:cNvPr id="68" name="TextBox 67"/>
          <p:cNvSpPr txBox="1"/>
          <p:nvPr/>
        </p:nvSpPr>
        <p:spPr>
          <a:xfrm>
            <a:off x="1564729" y="5654165"/>
            <a:ext cx="8660272" cy="369332"/>
          </a:xfrm>
          <a:prstGeom prst="rect">
            <a:avLst/>
          </a:prstGeom>
          <a:noFill/>
        </p:spPr>
        <p:txBody>
          <a:bodyPr wrap="square" rtlCol="0">
            <a:spAutoFit/>
          </a:bodyPr>
          <a:lstStyle/>
          <a:p>
            <a:r>
              <a:rPr lang="en-US" dirty="0"/>
              <a:t>J-</a:t>
            </a:r>
            <a:r>
              <a:rPr lang="en-US" dirty="0" err="1"/>
              <a:t>imm</a:t>
            </a:r>
            <a:r>
              <a:rPr lang="en-US" dirty="0"/>
              <a:t> = </a:t>
            </a:r>
            <a:r>
              <a:rPr lang="en-US" dirty="0" err="1"/>
              <a:t>signExtend</a:t>
            </a:r>
            <a:r>
              <a:rPr lang="en-US" dirty="0"/>
              <a:t>({</a:t>
            </a:r>
            <a:r>
              <a:rPr lang="en-US" dirty="0" err="1"/>
              <a:t>inst</a:t>
            </a:r>
            <a:r>
              <a:rPr lang="en-US" dirty="0"/>
              <a:t>[31], </a:t>
            </a:r>
            <a:r>
              <a:rPr lang="en-US" dirty="0" err="1"/>
              <a:t>inst</a:t>
            </a:r>
            <a:r>
              <a:rPr lang="en-US" dirty="0"/>
              <a:t>[19:12], </a:t>
            </a:r>
            <a:r>
              <a:rPr lang="en-US" dirty="0" err="1"/>
              <a:t>inst</a:t>
            </a:r>
            <a:r>
              <a:rPr lang="en-US" dirty="0"/>
              <a:t>[20], </a:t>
            </a:r>
            <a:r>
              <a:rPr lang="en-US" dirty="0" err="1"/>
              <a:t>inst</a:t>
            </a:r>
            <a:r>
              <a:rPr lang="en-US" dirty="0"/>
              <a:t>[30:21], 1’b0})</a:t>
            </a:r>
          </a:p>
        </p:txBody>
      </p:sp>
      <p:sp>
        <p:nvSpPr>
          <p:cNvPr id="4" name="Date Placeholder 3"/>
          <p:cNvSpPr>
            <a:spLocks noGrp="1"/>
          </p:cNvSpPr>
          <p:nvPr>
            <p:ph type="dt" sz="half" idx="10"/>
          </p:nvPr>
        </p:nvSpPr>
        <p:spPr/>
        <p:txBody>
          <a:bodyPr/>
          <a:lstStyle/>
          <a:p>
            <a:pPr>
              <a:defRPr/>
            </a:pPr>
            <a:r>
              <a:rPr lang="en-US" dirty="0"/>
              <a:t>September 27, 2024</a:t>
            </a:r>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31</a:t>
            </a:fld>
            <a:endParaRPr lang="en-US" dirty="0"/>
          </a:p>
        </p:txBody>
      </p:sp>
    </p:spTree>
    <p:extLst>
      <p:ext uri="{BB962C8B-B14F-4D97-AF65-F5344CB8AC3E}">
        <p14:creationId xmlns:p14="http://schemas.microsoft.com/office/powerpoint/2010/main" val="21961479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Instructions (SB)</a:t>
            </a:r>
          </a:p>
        </p:txBody>
      </p:sp>
      <p:sp>
        <p:nvSpPr>
          <p:cNvPr id="3" name="Content Placeholder 2"/>
          <p:cNvSpPr>
            <a:spLocks noGrp="1"/>
          </p:cNvSpPr>
          <p:nvPr>
            <p:ph idx="1"/>
          </p:nvPr>
        </p:nvSpPr>
        <p:spPr>
          <a:xfrm>
            <a:off x="530578" y="1208313"/>
            <a:ext cx="11037009" cy="4831243"/>
          </a:xfrm>
        </p:spPr>
        <p:txBody>
          <a:bodyPr/>
          <a:lstStyle/>
          <a:p>
            <a:pPr marL="0" indent="0">
              <a:buNone/>
            </a:pPr>
            <a:r>
              <a:rPr lang="en-US" dirty="0"/>
              <a:t>e.g. </a:t>
            </a:r>
            <a:r>
              <a:rPr lang="en-US" dirty="0" err="1"/>
              <a:t>beq</a:t>
            </a:r>
            <a:r>
              <a:rPr lang="en-US" dirty="0"/>
              <a:t> x1,x2, Label</a:t>
            </a:r>
          </a:p>
          <a:p>
            <a:pPr>
              <a:buFont typeface="Wingdings" panose="05000000000000000000" pitchFamily="2" charset="2"/>
              <a:buChar char="§"/>
            </a:pPr>
            <a:r>
              <a:rPr lang="en-US" sz="2667" dirty="0"/>
              <a:t>Branches read two registers, compare them, and determine whether the branch should be taken or fall through.</a:t>
            </a:r>
          </a:p>
          <a:p>
            <a:pPr>
              <a:buFont typeface="Wingdings" panose="05000000000000000000" pitchFamily="2" charset="2"/>
              <a:buChar char="§"/>
            </a:pPr>
            <a:r>
              <a:rPr lang="en-US" sz="2667" dirty="0"/>
              <a:t>The instruction type is SB, which is similar to S type. There is no destination register operand, </a:t>
            </a:r>
            <a:r>
              <a:rPr lang="en-US" sz="2667" b="1" dirty="0"/>
              <a:t>rd</a:t>
            </a:r>
            <a:r>
              <a:rPr lang="en-US" sz="2667" dirty="0"/>
              <a:t>. However, immediate is composed in different ways.</a:t>
            </a:r>
          </a:p>
          <a:p>
            <a:pPr>
              <a:buFont typeface="Wingdings" panose="05000000000000000000" pitchFamily="2" charset="2"/>
              <a:buChar char="§"/>
            </a:pPr>
            <a:r>
              <a:rPr lang="en-US" sz="2667" dirty="0"/>
              <a:t>Branches are used for loops and if-then-else control statements.</a:t>
            </a:r>
          </a:p>
          <a:p>
            <a:pPr>
              <a:buFont typeface="Wingdings" panose="05000000000000000000" pitchFamily="2" charset="2"/>
              <a:buChar char="§"/>
            </a:pPr>
            <a:r>
              <a:rPr lang="en-US" sz="2667" dirty="0"/>
              <a:t>Function calls and jumps are handled with JAL (J-format)</a:t>
            </a:r>
          </a:p>
          <a:p>
            <a:pPr>
              <a:buFont typeface="Wingdings" panose="05000000000000000000" pitchFamily="2" charset="2"/>
              <a:buChar char="§"/>
            </a:pPr>
            <a:r>
              <a:rPr lang="en-US" sz="2667" dirty="0"/>
              <a:t>Branch targets are encoded as offset to the current PC (Program Counter), called </a:t>
            </a:r>
            <a:r>
              <a:rPr lang="en-US" sz="2667" i="1" dirty="0">
                <a:solidFill>
                  <a:srgbClr val="FF0000"/>
                </a:solidFill>
              </a:rPr>
              <a:t>PC-relative addressing</a:t>
            </a:r>
            <a:r>
              <a:rPr lang="en-US" sz="2667" dirty="0"/>
              <a:t>. </a:t>
            </a:r>
          </a:p>
          <a:p>
            <a:pPr marL="0" indent="0">
              <a:buNone/>
            </a:pPr>
            <a:endParaRPr lang="en-US" dirty="0"/>
          </a:p>
        </p:txBody>
      </p:sp>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32</a:t>
            </a:fld>
            <a:endParaRPr lang="en-US" dirty="0"/>
          </a:p>
        </p:txBody>
      </p:sp>
    </p:spTree>
    <p:extLst>
      <p:ext uri="{BB962C8B-B14F-4D97-AF65-F5344CB8AC3E}">
        <p14:creationId xmlns:p14="http://schemas.microsoft.com/office/powerpoint/2010/main" val="230794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PC-relative Addressing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9" y="1013378"/>
                <a:ext cx="11037009" cy="5173413"/>
              </a:xfrm>
            </p:spPr>
            <p:txBody>
              <a:bodyPr/>
              <a:lstStyle/>
              <a:p>
                <a:pPr>
                  <a:buFont typeface="Wingdings" panose="05000000000000000000" pitchFamily="2" charset="2"/>
                  <a:buChar char="§"/>
                </a:pPr>
                <a:r>
                  <a:rPr lang="en-US" sz="3200" dirty="0"/>
                  <a:t>Use the immediate field as a 2’s complement offset to PC.</a:t>
                </a:r>
              </a:p>
              <a:p>
                <a:pPr lvl="1">
                  <a:buFont typeface="Wingdings" panose="05000000000000000000" pitchFamily="2" charset="2"/>
                  <a:buChar char="§"/>
                </a:pPr>
                <a:r>
                  <a:rPr lang="en-US" sz="2800" dirty="0"/>
                  <a:t>Branch instructions change the PC by a small amount.</a:t>
                </a:r>
              </a:p>
              <a:p>
                <a:pPr lvl="2">
                  <a:buFont typeface="Wingdings" panose="05000000000000000000" pitchFamily="2" charset="2"/>
                  <a:buChar char="Ø"/>
                </a:pPr>
                <a:r>
                  <a:rPr lang="en-US" dirty="0"/>
                  <a:t> either </a:t>
                </a:r>
                <a:r>
                  <a:rPr lang="en-US" dirty="0">
                    <a:solidFill>
                      <a:srgbClr val="FF0000"/>
                    </a:solidFill>
                  </a:rPr>
                  <a:t>PC+4</a:t>
                </a:r>
                <a:r>
                  <a:rPr lang="en-US" dirty="0"/>
                  <a:t> or </a:t>
                </a:r>
                <a:r>
                  <a:rPr lang="en-US" dirty="0" err="1">
                    <a:solidFill>
                      <a:srgbClr val="FF0000"/>
                    </a:solidFill>
                  </a:rPr>
                  <a:t>PC+offset</a:t>
                </a:r>
                <a:endParaRPr lang="en-US" dirty="0">
                  <a:solidFill>
                    <a:srgbClr val="FF0000"/>
                  </a:solidFill>
                </a:endParaRPr>
              </a:p>
              <a:p>
                <a:pPr lvl="1">
                  <a:buFont typeface="Wingdings" panose="05000000000000000000" pitchFamily="2" charset="2"/>
                  <a:buChar char="§"/>
                </a:pPr>
                <a:r>
                  <a:rPr lang="en-US" sz="2800" dirty="0"/>
                  <a:t>Can specify </a:t>
                </a:r>
                <a:r>
                  <a:rPr lang="en-US" sz="2800" dirty="0">
                    <a:solidFill>
                      <a:prstClr val="black"/>
                    </a:solidFill>
                    <a:cs typeface="+mn-cs"/>
                  </a:rPr>
                  <a:t> ± </a:t>
                </a:r>
                <a14:m>
                  <m:oMath xmlns:m="http://schemas.openxmlformats.org/officeDocument/2006/math">
                    <m:sSup>
                      <m:sSupPr>
                        <m:ctrlPr>
                          <a:rPr lang="en-US" sz="2800" i="1">
                            <a:solidFill>
                              <a:prstClr val="black"/>
                            </a:solidFill>
                            <a:latin typeface="Cambria Math" panose="02040503050406030204" pitchFamily="18" charset="0"/>
                            <a:cs typeface="+mn-cs"/>
                          </a:rPr>
                        </m:ctrlPr>
                      </m:sSupPr>
                      <m:e>
                        <m:r>
                          <a:rPr lang="en-US" sz="2800" i="1">
                            <a:solidFill>
                              <a:prstClr val="black"/>
                            </a:solidFill>
                            <a:latin typeface="Cambria Math" panose="02040503050406030204" pitchFamily="18" charset="0"/>
                            <a:cs typeface="+mn-cs"/>
                          </a:rPr>
                          <m:t>2</m:t>
                        </m:r>
                      </m:e>
                      <m:sup>
                        <m:r>
                          <a:rPr lang="en-US" sz="2800" i="1">
                            <a:solidFill>
                              <a:prstClr val="black"/>
                            </a:solidFill>
                            <a:latin typeface="Cambria Math" panose="02040503050406030204" pitchFamily="18" charset="0"/>
                            <a:cs typeface="+mn-cs"/>
                          </a:rPr>
                          <m:t>11</m:t>
                        </m:r>
                      </m:sup>
                    </m:sSup>
                  </m:oMath>
                </a14:m>
                <a:r>
                  <a:rPr lang="en-US" sz="2800" dirty="0">
                    <a:solidFill>
                      <a:prstClr val="black"/>
                    </a:solidFill>
                    <a:cs typeface="+mn-cs"/>
                  </a:rPr>
                  <a:t> different addresses from the PC</a:t>
                </a:r>
              </a:p>
              <a:p>
                <a:pPr lvl="1">
                  <a:buFont typeface="Wingdings" panose="05000000000000000000" pitchFamily="2" charset="2"/>
                  <a:buChar char="§"/>
                </a:pPr>
                <a:r>
                  <a:rPr lang="en-US" sz="2800" dirty="0">
                    <a:solidFill>
                      <a:prstClr val="black"/>
                    </a:solidFill>
                    <a:cs typeface="+mn-cs"/>
                  </a:rPr>
                  <a:t>In the S-type (store instruction), the offset is relative to the </a:t>
                </a:r>
                <a:r>
                  <a:rPr lang="en-US" sz="2800" i="1" dirty="0">
                    <a:solidFill>
                      <a:srgbClr val="FF0000"/>
                    </a:solidFill>
                    <a:cs typeface="+mn-cs"/>
                  </a:rPr>
                  <a:t>base address</a:t>
                </a:r>
                <a:r>
                  <a:rPr lang="en-US" sz="2800" dirty="0">
                    <a:solidFill>
                      <a:prstClr val="black"/>
                    </a:solidFill>
                    <a:cs typeface="+mn-cs"/>
                  </a:rPr>
                  <a:t>, in SB-type (branch), the offset is </a:t>
                </a:r>
                <a:r>
                  <a:rPr lang="en-US" sz="2800" i="1" dirty="0">
                    <a:solidFill>
                      <a:srgbClr val="FF0000"/>
                    </a:solidFill>
                    <a:cs typeface="+mn-cs"/>
                  </a:rPr>
                  <a:t>relative to PC</a:t>
                </a:r>
                <a:r>
                  <a:rPr lang="en-US" sz="2800" dirty="0">
                    <a:solidFill>
                      <a:prstClr val="black"/>
                    </a:solidFill>
                    <a:cs typeface="+mn-cs"/>
                  </a:rPr>
                  <a:t>.</a:t>
                </a:r>
              </a:p>
              <a:p>
                <a:pPr lvl="1">
                  <a:buFont typeface="Wingdings" panose="05000000000000000000" pitchFamily="2" charset="2"/>
                  <a:buChar char="§"/>
                </a:pPr>
                <a:r>
                  <a:rPr lang="en-US" sz="2800" dirty="0">
                    <a:solidFill>
                      <a:prstClr val="black"/>
                    </a:solidFill>
                    <a:cs typeface="+mn-cs"/>
                  </a:rPr>
                  <a:t>For </a:t>
                </a:r>
                <a:r>
                  <a:rPr lang="en-US" sz="2800" dirty="0">
                    <a:solidFill>
                      <a:srgbClr val="FF0000"/>
                    </a:solidFill>
                    <a:cs typeface="+mn-cs"/>
                  </a:rPr>
                  <a:t>store instructions, the offset is in bytes</a:t>
                </a:r>
                <a:r>
                  <a:rPr lang="en-US" sz="2800" dirty="0">
                    <a:solidFill>
                      <a:prstClr val="black"/>
                    </a:solidFill>
                    <a:cs typeface="+mn-cs"/>
                  </a:rPr>
                  <a:t>, for </a:t>
                </a:r>
                <a:r>
                  <a:rPr lang="en-US" sz="2800" dirty="0">
                    <a:solidFill>
                      <a:srgbClr val="FF0000"/>
                    </a:solidFill>
                    <a:cs typeface="+mn-cs"/>
                  </a:rPr>
                  <a:t>branch instructions, the offset is in two bytes (half word)</a:t>
                </a:r>
                <a:r>
                  <a:rPr lang="en-US" sz="2800" dirty="0">
                    <a:solidFill>
                      <a:prstClr val="black"/>
                    </a:solidFill>
                    <a:cs typeface="+mn-cs"/>
                  </a:rPr>
                  <a:t>. Why? Because RV instructions are either 32b (regular) or 16b (compressed, as in the C extension) , the branch range can be doubled using two bytes as a unit. (unfortunately, not quadrupled)</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9" y="1013378"/>
                <a:ext cx="11037009" cy="5173413"/>
              </a:xfrm>
              <a:blipFill>
                <a:blip r:embed="rId2"/>
                <a:stretch>
                  <a:fillRect l="-828" t="-1531" b="-4829"/>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33</a:t>
            </a:fld>
            <a:endParaRPr lang="en-US" dirty="0"/>
          </a:p>
        </p:txBody>
      </p:sp>
    </p:spTree>
    <p:extLst>
      <p:ext uri="{BB962C8B-B14F-4D97-AF65-F5344CB8AC3E}">
        <p14:creationId xmlns:p14="http://schemas.microsoft.com/office/powerpoint/2010/main" val="2126755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Branch Offsets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8" y="1208313"/>
                <a:ext cx="11037009" cy="4831243"/>
              </a:xfrm>
            </p:spPr>
            <p:txBody>
              <a:bodyPr/>
              <a:lstStyle/>
              <a:p>
                <a:pPr>
                  <a:buFont typeface="Wingdings" panose="05000000000000000000" pitchFamily="2" charset="2"/>
                  <a:buChar char="§"/>
                </a:pPr>
                <a:r>
                  <a:rPr lang="en-US" sz="2667" dirty="0"/>
                  <a:t>If all instructions are words (32b), we could scale the immediate value by 4x, before adding to the PC. This would allow one branch instruction to reach </a:t>
                </a:r>
                <a:r>
                  <a:rPr lang="en-US" sz="2667" dirty="0">
                    <a:solidFill>
                      <a:prstClr val="black"/>
                    </a:solidFill>
                  </a:rPr>
                  <a:t>±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11</m:t>
                        </m:r>
                      </m:sup>
                    </m:sSup>
                  </m:oMath>
                </a14:m>
                <a:r>
                  <a:rPr lang="en-US" sz="2667" dirty="0">
                    <a:solidFill>
                      <a:prstClr val="black"/>
                    </a:solidFill>
                  </a:rPr>
                  <a:t> X 32b instructions either side of PC.</a:t>
                </a:r>
              </a:p>
              <a:p>
                <a:pPr marL="0" indent="0">
                  <a:buNone/>
                </a:pPr>
                <a:r>
                  <a:rPr lang="en-US" sz="2667" dirty="0">
                    <a:solidFill>
                      <a:prstClr val="black"/>
                    </a:solidFill>
                  </a:rPr>
                  <a:t>	If branch taken: PC = PC + immediate * 4</a:t>
                </a:r>
              </a:p>
              <a:p>
                <a:pPr marL="0" indent="0">
                  <a:buNone/>
                </a:pPr>
                <a:r>
                  <a:rPr lang="en-US" sz="2667" dirty="0">
                    <a:solidFill>
                      <a:prstClr val="black"/>
                    </a:solidFill>
                  </a:rPr>
                  <a:t>	If branch fall through: PC = PC + 4</a:t>
                </a:r>
              </a:p>
              <a:p>
                <a:pPr>
                  <a:buFont typeface="Wingdings" panose="05000000000000000000" pitchFamily="2" charset="2"/>
                  <a:buChar char="§"/>
                </a:pPr>
                <a:r>
                  <a:rPr lang="en-US" sz="2667" dirty="0">
                    <a:solidFill>
                      <a:prstClr val="black"/>
                    </a:solidFill>
                  </a:rPr>
                  <a:t>Due to the support for 16b instructions (required by C extension), the ISA decides to only scale the immediate by 2 (2 bytes).</a:t>
                </a:r>
              </a:p>
              <a:p>
                <a:pPr>
                  <a:buFont typeface="Wingdings" panose="05000000000000000000" pitchFamily="2" charset="2"/>
                  <a:buChar char="§"/>
                </a:pPr>
                <a:r>
                  <a:rPr lang="en-US" sz="2667" dirty="0">
                    <a:solidFill>
                      <a:prstClr val="black"/>
                    </a:solidFill>
                  </a:rPr>
                  <a:t>In summary, RV branch instructions can only reach ±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10</m:t>
                        </m:r>
                      </m:sup>
                    </m:sSup>
                  </m:oMath>
                </a14:m>
                <a:r>
                  <a:rPr lang="en-US" sz="2667" dirty="0"/>
                  <a:t> X 32b instructions.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8" y="1208313"/>
                <a:ext cx="11037009" cy="4831243"/>
              </a:xfrm>
              <a:blipFill>
                <a:blip r:embed="rId3"/>
                <a:stretch>
                  <a:fillRect l="-552" t="-1261" r="-149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34</a:t>
            </a:fld>
            <a:endParaRPr lang="en-US" dirty="0"/>
          </a:p>
        </p:txBody>
      </p:sp>
      <p:sp>
        <p:nvSpPr>
          <p:cNvPr id="4" name="TextBox 3">
            <a:extLst>
              <a:ext uri="{FF2B5EF4-FFF2-40B4-BE49-F238E27FC236}">
                <a16:creationId xmlns:a16="http://schemas.microsoft.com/office/drawing/2014/main" id="{A7C45221-D263-4E93-B174-8660063FBB26}"/>
              </a:ext>
            </a:extLst>
          </p:cNvPr>
          <p:cNvSpPr txBox="1"/>
          <p:nvPr/>
        </p:nvSpPr>
        <p:spPr>
          <a:xfrm>
            <a:off x="4901315" y="5665077"/>
            <a:ext cx="6994222"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Q: How to reduce the instruction from 32b to 16b?</a:t>
            </a:r>
          </a:p>
        </p:txBody>
      </p:sp>
      <p:sp>
        <p:nvSpPr>
          <p:cNvPr id="5" name="TextBox 4">
            <a:extLst>
              <a:ext uri="{FF2B5EF4-FFF2-40B4-BE49-F238E27FC236}">
                <a16:creationId xmlns:a16="http://schemas.microsoft.com/office/drawing/2014/main" id="{AC7E4291-E6BE-4D78-98F3-E0FAE4682367}"/>
              </a:ext>
            </a:extLst>
          </p:cNvPr>
          <p:cNvSpPr txBox="1"/>
          <p:nvPr/>
        </p:nvSpPr>
        <p:spPr>
          <a:xfrm>
            <a:off x="8657617" y="4831142"/>
            <a:ext cx="950901" cy="502766"/>
          </a:xfrm>
          <a:prstGeom prst="rect">
            <a:avLst/>
          </a:prstGeom>
          <a:solidFill>
            <a:srgbClr val="FFFF00"/>
          </a:solidFill>
          <a:ln>
            <a:solidFill>
              <a:srgbClr val="FF0000"/>
            </a:solidFill>
          </a:ln>
        </p:spPr>
        <p:txBody>
          <a:bodyPr wrap="none" rtlCol="0" anchor="ctr" anchorCtr="1">
            <a:spAutoFit/>
          </a:bodyPr>
          <a:lstStyle/>
          <a:p>
            <a:r>
              <a:rPr kumimoji="1" lang="en-US" sz="2667" kern="0" dirty="0">
                <a:solidFill>
                  <a:prstClr val="black"/>
                </a:solidFill>
                <a:latin typeface="Calibri" pitchFamily="34" charset="0"/>
                <a:ea typeface="標楷體" pitchFamily="65" charset="-120"/>
              </a:rPr>
              <a:t>± </a:t>
            </a:r>
            <a:r>
              <a:rPr lang="en-US" dirty="0">
                <a:ea typeface="標楷體" pitchFamily="65" charset="-120"/>
                <a:cs typeface="Calibri" pitchFamily="34" charset="0"/>
              </a:rPr>
              <a:t>4KB</a:t>
            </a:r>
          </a:p>
        </p:txBody>
      </p:sp>
    </p:spTree>
    <p:extLst>
      <p:ext uri="{BB962C8B-B14F-4D97-AF65-F5344CB8AC3E}">
        <p14:creationId xmlns:p14="http://schemas.microsoft.com/office/powerpoint/2010/main" val="174926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900" y="-90071"/>
            <a:ext cx="8706089" cy="1143000"/>
          </a:xfrm>
        </p:spPr>
        <p:txBody>
          <a:bodyPr/>
          <a:lstStyle/>
          <a:p>
            <a:r>
              <a:rPr lang="en-US" dirty="0"/>
              <a:t>Branch Instruction</a:t>
            </a:r>
            <a:endParaRPr lang="en-US" sz="4000" i="1" dirty="0"/>
          </a:p>
        </p:txBody>
      </p:sp>
      <p:grpSp>
        <p:nvGrpSpPr>
          <p:cNvPr id="24" name="Group 23"/>
          <p:cNvGrpSpPr/>
          <p:nvPr/>
        </p:nvGrpSpPr>
        <p:grpSpPr>
          <a:xfrm>
            <a:off x="1801899" y="1052931"/>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25" name="TextBox 24"/>
          <p:cNvSpPr txBox="1"/>
          <p:nvPr/>
        </p:nvSpPr>
        <p:spPr>
          <a:xfrm>
            <a:off x="1801899" y="1861270"/>
            <a:ext cx="8587247" cy="369332"/>
          </a:xfrm>
          <a:prstGeom prst="rect">
            <a:avLst/>
          </a:prstGeom>
          <a:noFill/>
        </p:spPr>
        <p:txBody>
          <a:bodyPr wrap="square" rtlCol="0">
            <a:spAutoFit/>
          </a:bodyPr>
          <a:lstStyle/>
          <a:p>
            <a:r>
              <a:rPr lang="en-US" dirty="0"/>
              <a:t>B-</a:t>
            </a:r>
            <a:r>
              <a:rPr lang="en-US" dirty="0" err="1"/>
              <a:t>imm</a:t>
            </a:r>
            <a:r>
              <a:rPr lang="en-US" dirty="0"/>
              <a:t> = </a:t>
            </a:r>
            <a:r>
              <a:rPr lang="en-US" dirty="0" err="1"/>
              <a:t>signExtend</a:t>
            </a:r>
            <a:r>
              <a:rPr lang="en-US" dirty="0"/>
              <a:t>({</a:t>
            </a:r>
            <a:r>
              <a:rPr lang="en-US" dirty="0" err="1">
                <a:solidFill>
                  <a:srgbClr val="0000FF"/>
                </a:solidFill>
              </a:rPr>
              <a:t>inst</a:t>
            </a:r>
            <a:r>
              <a:rPr lang="en-US" dirty="0">
                <a:solidFill>
                  <a:srgbClr val="0000FF"/>
                </a:solidFill>
              </a:rPr>
              <a:t>[31], </a:t>
            </a:r>
            <a:r>
              <a:rPr lang="en-US" dirty="0" err="1"/>
              <a:t>inst</a:t>
            </a:r>
            <a:r>
              <a:rPr lang="en-US" dirty="0"/>
              <a:t>[7</a:t>
            </a:r>
            <a:r>
              <a:rPr lang="en-US" dirty="0">
                <a:solidFill>
                  <a:srgbClr val="00B050"/>
                </a:solidFill>
              </a:rPr>
              <a:t>], </a:t>
            </a:r>
            <a:r>
              <a:rPr lang="en-US" dirty="0" err="1">
                <a:solidFill>
                  <a:srgbClr val="00B050"/>
                </a:solidFill>
              </a:rPr>
              <a:t>inst</a:t>
            </a:r>
            <a:r>
              <a:rPr lang="en-US" dirty="0">
                <a:solidFill>
                  <a:srgbClr val="00B050"/>
                </a:solidFill>
              </a:rPr>
              <a:t>[30:25], </a:t>
            </a:r>
            <a:r>
              <a:rPr lang="en-US" dirty="0" err="1">
                <a:solidFill>
                  <a:srgbClr val="FF0000"/>
                </a:solidFill>
              </a:rPr>
              <a:t>inst</a:t>
            </a:r>
            <a:r>
              <a:rPr lang="en-US" dirty="0">
                <a:solidFill>
                  <a:srgbClr val="FF0000"/>
                </a:solidFill>
              </a:rPr>
              <a:t>[11:8], </a:t>
            </a:r>
            <a:r>
              <a:rPr lang="en-US" dirty="0"/>
              <a:t>1’b0})</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35</a:t>
            </a:fld>
            <a:endParaRPr lang="en-US" dirty="0"/>
          </a:p>
        </p:txBody>
      </p:sp>
      <p:sp>
        <p:nvSpPr>
          <p:cNvPr id="51" name="Content Placeholder 2">
            <a:extLst>
              <a:ext uri="{FF2B5EF4-FFF2-40B4-BE49-F238E27FC236}">
                <a16:creationId xmlns:a16="http://schemas.microsoft.com/office/drawing/2014/main" id="{A769BBBB-579E-4630-B9B6-08A737BAAE3B}"/>
              </a:ext>
            </a:extLst>
          </p:cNvPr>
          <p:cNvSpPr>
            <a:spLocks noGrp="1"/>
          </p:cNvSpPr>
          <p:nvPr>
            <p:ph idx="1"/>
          </p:nvPr>
        </p:nvSpPr>
        <p:spPr>
          <a:xfrm>
            <a:off x="1686412" y="2289024"/>
            <a:ext cx="3654845" cy="3802744"/>
          </a:xfrm>
        </p:spPr>
        <p:txBody>
          <a:bodyPr/>
          <a:lstStyle/>
          <a:p>
            <a:pPr marL="0" indent="0">
              <a:buNone/>
            </a:pPr>
            <a:r>
              <a:rPr lang="en-US" sz="2400" dirty="0"/>
              <a:t>Loop: 	</a:t>
            </a:r>
            <a:r>
              <a:rPr lang="en-US" sz="2400" dirty="0" err="1"/>
              <a:t>beq</a:t>
            </a:r>
            <a:r>
              <a:rPr lang="en-US" sz="2400" dirty="0"/>
              <a:t> x19,x10,end</a:t>
            </a:r>
          </a:p>
          <a:p>
            <a:pPr marL="0" indent="0">
              <a:buNone/>
            </a:pPr>
            <a:r>
              <a:rPr lang="en-US" sz="2400" dirty="0"/>
              <a:t>	add x19,x18,x10</a:t>
            </a:r>
          </a:p>
          <a:p>
            <a:pPr marL="0" indent="0">
              <a:buNone/>
            </a:pPr>
            <a:r>
              <a:rPr lang="en-US" sz="2400" dirty="0"/>
              <a:t>	</a:t>
            </a:r>
            <a:r>
              <a:rPr lang="en-US" sz="2400" dirty="0" err="1"/>
              <a:t>addi</a:t>
            </a:r>
            <a:r>
              <a:rPr lang="en-US" sz="2400" dirty="0"/>
              <a:t> x19,x19,-1</a:t>
            </a:r>
          </a:p>
          <a:p>
            <a:pPr marL="0" indent="0">
              <a:buNone/>
            </a:pPr>
            <a:r>
              <a:rPr lang="en-US" sz="2400" dirty="0"/>
              <a:t>	j        loop</a:t>
            </a:r>
          </a:p>
          <a:p>
            <a:pPr marL="0" indent="0">
              <a:buNone/>
            </a:pPr>
            <a:r>
              <a:rPr lang="en-US" sz="2400" dirty="0"/>
              <a:t>end:	//branch target</a:t>
            </a:r>
          </a:p>
          <a:p>
            <a:pPr marL="0" indent="0">
              <a:buNone/>
            </a:pPr>
            <a:endParaRPr lang="en-US" sz="2400" dirty="0"/>
          </a:p>
        </p:txBody>
      </p:sp>
      <p:sp>
        <p:nvSpPr>
          <p:cNvPr id="55" name="Content Placeholder 2">
            <a:extLst>
              <a:ext uri="{FF2B5EF4-FFF2-40B4-BE49-F238E27FC236}">
                <a16:creationId xmlns:a16="http://schemas.microsoft.com/office/drawing/2014/main" id="{13830773-F363-4869-AF1F-05C64C1D8C11}"/>
              </a:ext>
            </a:extLst>
          </p:cNvPr>
          <p:cNvSpPr txBox="1">
            <a:spLocks/>
          </p:cNvSpPr>
          <p:nvPr/>
        </p:nvSpPr>
        <p:spPr bwMode="auto">
          <a:xfrm>
            <a:off x="5426134" y="2580651"/>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What is the branch offset?</a:t>
            </a:r>
          </a:p>
          <a:p>
            <a:pPr marL="0" indent="0">
              <a:buNone/>
            </a:pPr>
            <a:endParaRPr lang="en-US" kern="0" dirty="0"/>
          </a:p>
        </p:txBody>
      </p:sp>
      <p:sp>
        <p:nvSpPr>
          <p:cNvPr id="57" name="Content Placeholder 2">
            <a:extLst>
              <a:ext uri="{FF2B5EF4-FFF2-40B4-BE49-F238E27FC236}">
                <a16:creationId xmlns:a16="http://schemas.microsoft.com/office/drawing/2014/main" id="{5ACC780F-6D43-4CA5-8454-6BD713489F4C}"/>
              </a:ext>
            </a:extLst>
          </p:cNvPr>
          <p:cNvSpPr txBox="1">
            <a:spLocks/>
          </p:cNvSpPr>
          <p:nvPr/>
        </p:nvSpPr>
        <p:spPr bwMode="auto">
          <a:xfrm>
            <a:off x="5453172" y="3184466"/>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16</a:t>
            </a:r>
          </a:p>
        </p:txBody>
      </p:sp>
      <p:sp>
        <p:nvSpPr>
          <p:cNvPr id="62" name="Content Placeholder 2">
            <a:extLst>
              <a:ext uri="{FF2B5EF4-FFF2-40B4-BE49-F238E27FC236}">
                <a16:creationId xmlns:a16="http://schemas.microsoft.com/office/drawing/2014/main" id="{A537618B-E396-48C5-BDBB-2391F7EEA941}"/>
              </a:ext>
            </a:extLst>
          </p:cNvPr>
          <p:cNvSpPr txBox="1">
            <a:spLocks/>
          </p:cNvSpPr>
          <p:nvPr/>
        </p:nvSpPr>
        <p:spPr bwMode="auto">
          <a:xfrm>
            <a:off x="5487302" y="3847687"/>
            <a:ext cx="3654845"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How to encode it ?</a:t>
            </a:r>
          </a:p>
          <a:p>
            <a:pPr marL="0" indent="0">
              <a:buNone/>
            </a:pPr>
            <a:endParaRPr lang="en-US" kern="0" dirty="0"/>
          </a:p>
        </p:txBody>
      </p:sp>
      <p:sp>
        <p:nvSpPr>
          <p:cNvPr id="63" name="Content Placeholder 2">
            <a:extLst>
              <a:ext uri="{FF2B5EF4-FFF2-40B4-BE49-F238E27FC236}">
                <a16:creationId xmlns:a16="http://schemas.microsoft.com/office/drawing/2014/main" id="{134AF2A1-9671-45BF-A989-2DC8F731214C}"/>
              </a:ext>
            </a:extLst>
          </p:cNvPr>
          <p:cNvSpPr txBox="1">
            <a:spLocks/>
          </p:cNvSpPr>
          <p:nvPr/>
        </p:nvSpPr>
        <p:spPr bwMode="auto">
          <a:xfrm>
            <a:off x="5477449" y="4617575"/>
            <a:ext cx="3953964" cy="489068"/>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0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kern="0" dirty="0"/>
              <a:t>Intuitively: </a:t>
            </a:r>
            <a:r>
              <a:rPr lang="en-US" kern="0" dirty="0">
                <a:solidFill>
                  <a:srgbClr val="0000FF"/>
                </a:solidFill>
              </a:rPr>
              <a:t>0</a:t>
            </a:r>
            <a:r>
              <a:rPr lang="en-US" kern="0" dirty="0"/>
              <a:t>0</a:t>
            </a:r>
            <a:r>
              <a:rPr lang="en-US" kern="0" dirty="0">
                <a:solidFill>
                  <a:srgbClr val="00B050"/>
                </a:solidFill>
              </a:rPr>
              <a:t>000000</a:t>
            </a:r>
            <a:r>
              <a:rPr lang="en-US" kern="0" dirty="0">
                <a:solidFill>
                  <a:srgbClr val="FF0000"/>
                </a:solidFill>
              </a:rPr>
              <a:t>1000 </a:t>
            </a:r>
            <a:r>
              <a:rPr lang="en-US" kern="0" dirty="0">
                <a:solidFill>
                  <a:schemeClr val="tx2"/>
                </a:solidFill>
              </a:rPr>
              <a:t>0</a:t>
            </a:r>
          </a:p>
        </p:txBody>
      </p:sp>
      <p:grpSp>
        <p:nvGrpSpPr>
          <p:cNvPr id="71" name="Group 70">
            <a:extLst>
              <a:ext uri="{FF2B5EF4-FFF2-40B4-BE49-F238E27FC236}">
                <a16:creationId xmlns:a16="http://schemas.microsoft.com/office/drawing/2014/main" id="{B99933DA-35EE-4947-A5B9-4CA3EA15F1C3}"/>
              </a:ext>
            </a:extLst>
          </p:cNvPr>
          <p:cNvGrpSpPr/>
          <p:nvPr/>
        </p:nvGrpSpPr>
        <p:grpSpPr>
          <a:xfrm>
            <a:off x="1872743" y="5173902"/>
            <a:ext cx="8267207" cy="656639"/>
            <a:chOff x="721854" y="2240557"/>
            <a:chExt cx="8267206" cy="656637"/>
          </a:xfrm>
        </p:grpSpPr>
        <p:sp>
          <p:nvSpPr>
            <p:cNvPr id="72" name="TextBox 71">
              <a:extLst>
                <a:ext uri="{FF2B5EF4-FFF2-40B4-BE49-F238E27FC236}">
                  <a16:creationId xmlns:a16="http://schemas.microsoft.com/office/drawing/2014/main" id="{3CF17D0E-31E3-41CD-BA00-B3E049A40CE4}"/>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a:solidFill>
                    <a:srgbClr val="0000FF"/>
                  </a:solidFill>
                </a:rPr>
                <a:t>0</a:t>
              </a:r>
            </a:p>
          </p:txBody>
        </p:sp>
        <p:sp>
          <p:nvSpPr>
            <p:cNvPr id="73" name="TextBox 72">
              <a:extLst>
                <a:ext uri="{FF2B5EF4-FFF2-40B4-BE49-F238E27FC236}">
                  <a16:creationId xmlns:a16="http://schemas.microsoft.com/office/drawing/2014/main" id="{C41B95B8-966E-41A0-8854-FC5C58BCF622}"/>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a:solidFill>
                    <a:srgbClr val="00B050"/>
                  </a:solidFill>
                </a:rPr>
                <a:t>000000</a:t>
              </a:r>
            </a:p>
          </p:txBody>
        </p:sp>
        <p:sp>
          <p:nvSpPr>
            <p:cNvPr id="74" name="TextBox 73">
              <a:extLst>
                <a:ext uri="{FF2B5EF4-FFF2-40B4-BE49-F238E27FC236}">
                  <a16:creationId xmlns:a16="http://schemas.microsoft.com/office/drawing/2014/main" id="{3487ADE4-56E5-49FB-877C-334DDA0B01F3}"/>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75" name="TextBox 74">
              <a:extLst>
                <a:ext uri="{FF2B5EF4-FFF2-40B4-BE49-F238E27FC236}">
                  <a16:creationId xmlns:a16="http://schemas.microsoft.com/office/drawing/2014/main" id="{E4E0F4A7-8BE0-412A-AB8A-F54EA0D46A39}"/>
                </a:ext>
              </a:extLst>
            </p:cNvPr>
            <p:cNvSpPr txBox="1"/>
            <p:nvPr/>
          </p:nvSpPr>
          <p:spPr>
            <a:xfrm>
              <a:off x="3977487" y="2543252"/>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76" name="TextBox 75">
              <a:extLst>
                <a:ext uri="{FF2B5EF4-FFF2-40B4-BE49-F238E27FC236}">
                  <a16:creationId xmlns:a16="http://schemas.microsoft.com/office/drawing/2014/main" id="{2DC83C32-35E6-46F3-9527-80BA3552DF51}"/>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77" name="TextBox 76">
              <a:extLst>
                <a:ext uri="{FF2B5EF4-FFF2-40B4-BE49-F238E27FC236}">
                  <a16:creationId xmlns:a16="http://schemas.microsoft.com/office/drawing/2014/main" id="{9C1D2FF5-D9A8-4396-A645-5D423CDBBA85}"/>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a:solidFill>
                    <a:srgbClr val="FF0000"/>
                  </a:solidFill>
                </a:rPr>
                <a:t>1000</a:t>
              </a:r>
            </a:p>
          </p:txBody>
        </p:sp>
        <p:sp>
          <p:nvSpPr>
            <p:cNvPr id="78" name="TextBox 77">
              <a:extLst>
                <a:ext uri="{FF2B5EF4-FFF2-40B4-BE49-F238E27FC236}">
                  <a16:creationId xmlns:a16="http://schemas.microsoft.com/office/drawing/2014/main" id="{4392F1E1-F24C-4C9C-B67C-621ABB96A831}"/>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0</a:t>
              </a:r>
            </a:p>
          </p:txBody>
        </p:sp>
        <p:sp>
          <p:nvSpPr>
            <p:cNvPr id="79" name="TextBox 78">
              <a:extLst>
                <a:ext uri="{FF2B5EF4-FFF2-40B4-BE49-F238E27FC236}">
                  <a16:creationId xmlns:a16="http://schemas.microsoft.com/office/drawing/2014/main" id="{FC7C212A-3D31-4EDA-8EAB-5CBA90CC3D7E}"/>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80" name="TextBox 79">
              <a:extLst>
                <a:ext uri="{FF2B5EF4-FFF2-40B4-BE49-F238E27FC236}">
                  <a16:creationId xmlns:a16="http://schemas.microsoft.com/office/drawing/2014/main" id="{5774B951-2449-472C-97D5-BE40D29EA3F3}"/>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81" name="TextBox 80">
              <a:extLst>
                <a:ext uri="{FF2B5EF4-FFF2-40B4-BE49-F238E27FC236}">
                  <a16:creationId xmlns:a16="http://schemas.microsoft.com/office/drawing/2014/main" id="{F9827F30-7A43-4795-926B-5FB9F30C5E8A}"/>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82" name="TextBox 81">
              <a:extLst>
                <a:ext uri="{FF2B5EF4-FFF2-40B4-BE49-F238E27FC236}">
                  <a16:creationId xmlns:a16="http://schemas.microsoft.com/office/drawing/2014/main" id="{182003EC-777C-470D-A5E4-780F1837B19A}"/>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83" name="TextBox 82">
              <a:extLst>
                <a:ext uri="{FF2B5EF4-FFF2-40B4-BE49-F238E27FC236}">
                  <a16:creationId xmlns:a16="http://schemas.microsoft.com/office/drawing/2014/main" id="{A8E917C5-DA15-4A29-BDB1-5C1427C943D5}"/>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84" name="TextBox 83">
              <a:extLst>
                <a:ext uri="{FF2B5EF4-FFF2-40B4-BE49-F238E27FC236}">
                  <a16:creationId xmlns:a16="http://schemas.microsoft.com/office/drawing/2014/main" id="{B8CA98A9-AA0F-4265-B9FC-895EBEBD550C}"/>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85" name="TextBox 84">
              <a:extLst>
                <a:ext uri="{FF2B5EF4-FFF2-40B4-BE49-F238E27FC236}">
                  <a16:creationId xmlns:a16="http://schemas.microsoft.com/office/drawing/2014/main" id="{48F814D8-726A-422A-979D-DABB30028C4B}"/>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86" name="TextBox 85">
              <a:extLst>
                <a:ext uri="{FF2B5EF4-FFF2-40B4-BE49-F238E27FC236}">
                  <a16:creationId xmlns:a16="http://schemas.microsoft.com/office/drawing/2014/main" id="{80A2D1F6-5155-4750-9931-088E5E126EEB}"/>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87" name="TextBox 86">
              <a:extLst>
                <a:ext uri="{FF2B5EF4-FFF2-40B4-BE49-F238E27FC236}">
                  <a16:creationId xmlns:a16="http://schemas.microsoft.com/office/drawing/2014/main" id="{F3B722C2-5E10-468D-9DAA-30004CE9289E}"/>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cxnSp>
        <p:nvCxnSpPr>
          <p:cNvPr id="5" name="Straight Arrow Connector 4">
            <a:extLst>
              <a:ext uri="{FF2B5EF4-FFF2-40B4-BE49-F238E27FC236}">
                <a16:creationId xmlns:a16="http://schemas.microsoft.com/office/drawing/2014/main" id="{95479ECD-6FCA-41DB-AE22-DEC92C0BBD52}"/>
              </a:ext>
            </a:extLst>
          </p:cNvPr>
          <p:cNvCxnSpPr>
            <a:cxnSpLocks/>
          </p:cNvCxnSpPr>
          <p:nvPr/>
        </p:nvCxnSpPr>
        <p:spPr bwMode="auto">
          <a:xfrm>
            <a:off x="8037690" y="2189750"/>
            <a:ext cx="962356" cy="2525895"/>
          </a:xfrm>
          <a:prstGeom prst="straightConnector1">
            <a:avLst/>
          </a:prstGeom>
          <a:noFill/>
          <a:ln w="15875" cap="flat" cmpd="sng" algn="ctr">
            <a:solidFill>
              <a:srgbClr val="FF0000"/>
            </a:solidFill>
            <a:prstDash val="solid"/>
            <a:round/>
            <a:headEnd type="stealth" w="lg" len="lg"/>
            <a:tailEnd type="none"/>
          </a:ln>
        </p:spPr>
      </p:cxnSp>
      <p:cxnSp>
        <p:nvCxnSpPr>
          <p:cNvPr id="30" name="Straight Arrow Connector 29">
            <a:extLst>
              <a:ext uri="{FF2B5EF4-FFF2-40B4-BE49-F238E27FC236}">
                <a16:creationId xmlns:a16="http://schemas.microsoft.com/office/drawing/2014/main" id="{18CDD176-00F2-43BF-95BC-93768C7C71AA}"/>
              </a:ext>
            </a:extLst>
          </p:cNvPr>
          <p:cNvCxnSpPr>
            <a:cxnSpLocks/>
          </p:cNvCxnSpPr>
          <p:nvPr/>
        </p:nvCxnSpPr>
        <p:spPr bwMode="auto">
          <a:xfrm>
            <a:off x="4413874" y="2189750"/>
            <a:ext cx="2547695" cy="2525895"/>
          </a:xfrm>
          <a:prstGeom prst="straightConnector1">
            <a:avLst/>
          </a:prstGeom>
          <a:noFill/>
          <a:ln w="15875" cap="flat" cmpd="sng" algn="ctr">
            <a:solidFill>
              <a:srgbClr val="FF0000"/>
            </a:solidFill>
            <a:prstDash val="solid"/>
            <a:round/>
            <a:headEnd type="stealth" w="lg" len="lg"/>
            <a:tailEnd type="none"/>
          </a:ln>
        </p:spPr>
      </p:cxnSp>
      <p:cxnSp>
        <p:nvCxnSpPr>
          <p:cNvPr id="88" name="Straight Arrow Connector 87">
            <a:extLst>
              <a:ext uri="{FF2B5EF4-FFF2-40B4-BE49-F238E27FC236}">
                <a16:creationId xmlns:a16="http://schemas.microsoft.com/office/drawing/2014/main" id="{6A79CDE1-8486-4D14-BAB8-D3E00D49E7CA}"/>
              </a:ext>
            </a:extLst>
          </p:cNvPr>
          <p:cNvCxnSpPr>
            <a:cxnSpLocks/>
          </p:cNvCxnSpPr>
          <p:nvPr/>
        </p:nvCxnSpPr>
        <p:spPr bwMode="auto">
          <a:xfrm>
            <a:off x="5268799" y="2189750"/>
            <a:ext cx="1960055" cy="2525895"/>
          </a:xfrm>
          <a:prstGeom prst="straightConnector1">
            <a:avLst/>
          </a:prstGeom>
          <a:noFill/>
          <a:ln w="15875" cap="flat" cmpd="sng" algn="ctr">
            <a:solidFill>
              <a:srgbClr val="FF0000"/>
            </a:solidFill>
            <a:prstDash val="solid"/>
            <a:round/>
            <a:headEnd type="stealth" w="lg" len="lg"/>
            <a:tailEnd type="none"/>
          </a:ln>
        </p:spPr>
      </p:cxnSp>
      <p:cxnSp>
        <p:nvCxnSpPr>
          <p:cNvPr id="89" name="Straight Arrow Connector 88">
            <a:extLst>
              <a:ext uri="{FF2B5EF4-FFF2-40B4-BE49-F238E27FC236}">
                <a16:creationId xmlns:a16="http://schemas.microsoft.com/office/drawing/2014/main" id="{7D2412D2-CDAC-414A-95C4-F5808CA0C146}"/>
              </a:ext>
            </a:extLst>
          </p:cNvPr>
          <p:cNvCxnSpPr>
            <a:cxnSpLocks/>
          </p:cNvCxnSpPr>
          <p:nvPr/>
        </p:nvCxnSpPr>
        <p:spPr bwMode="auto">
          <a:xfrm flipH="1">
            <a:off x="2461777" y="4927912"/>
            <a:ext cx="4518412" cy="630707"/>
          </a:xfrm>
          <a:prstGeom prst="straightConnector1">
            <a:avLst/>
          </a:prstGeom>
          <a:noFill/>
          <a:ln w="15875" cap="flat" cmpd="sng" algn="ctr">
            <a:solidFill>
              <a:srgbClr val="FF0000"/>
            </a:solidFill>
            <a:prstDash val="solid"/>
            <a:round/>
            <a:headEnd type="stealth" w="lg" len="lg"/>
            <a:tailEnd type="none"/>
          </a:ln>
        </p:spPr>
      </p:cxnSp>
      <p:cxnSp>
        <p:nvCxnSpPr>
          <p:cNvPr id="90" name="Straight Arrow Connector 89">
            <a:extLst>
              <a:ext uri="{FF2B5EF4-FFF2-40B4-BE49-F238E27FC236}">
                <a16:creationId xmlns:a16="http://schemas.microsoft.com/office/drawing/2014/main" id="{E6EFF826-911F-4826-B4D8-B617F75F08F8}"/>
              </a:ext>
            </a:extLst>
          </p:cNvPr>
          <p:cNvCxnSpPr>
            <a:cxnSpLocks/>
            <a:endCxn id="86" idx="2"/>
          </p:cNvCxnSpPr>
          <p:nvPr/>
        </p:nvCxnSpPr>
        <p:spPr bwMode="auto">
          <a:xfrm>
            <a:off x="7253557" y="4996464"/>
            <a:ext cx="1260718" cy="531381"/>
          </a:xfrm>
          <a:prstGeom prst="straightConnector1">
            <a:avLst/>
          </a:prstGeom>
          <a:noFill/>
          <a:ln w="15875" cap="flat" cmpd="sng" algn="ctr">
            <a:solidFill>
              <a:srgbClr val="FF0000"/>
            </a:solidFill>
            <a:prstDash val="solid"/>
            <a:round/>
            <a:headEnd type="stealth" w="lg" len="lg"/>
            <a:tailEnd type="none"/>
          </a:ln>
        </p:spPr>
      </p:cxnSp>
      <p:cxnSp>
        <p:nvCxnSpPr>
          <p:cNvPr id="91" name="Straight Arrow Connector 90">
            <a:extLst>
              <a:ext uri="{FF2B5EF4-FFF2-40B4-BE49-F238E27FC236}">
                <a16:creationId xmlns:a16="http://schemas.microsoft.com/office/drawing/2014/main" id="{D60F3E91-63A6-4A34-993A-EAD82459418A}"/>
              </a:ext>
            </a:extLst>
          </p:cNvPr>
          <p:cNvCxnSpPr>
            <a:cxnSpLocks/>
          </p:cNvCxnSpPr>
          <p:nvPr/>
        </p:nvCxnSpPr>
        <p:spPr bwMode="auto">
          <a:xfrm>
            <a:off x="6400078" y="2238601"/>
            <a:ext cx="1347745" cy="2504688"/>
          </a:xfrm>
          <a:prstGeom prst="straightConnector1">
            <a:avLst/>
          </a:prstGeom>
          <a:noFill/>
          <a:ln w="15875" cap="flat" cmpd="sng" algn="ctr">
            <a:solidFill>
              <a:srgbClr val="FF0000"/>
            </a:solidFill>
            <a:prstDash val="solid"/>
            <a:round/>
            <a:headEnd type="stealth" w="lg" len="lg"/>
            <a:tailEnd type="none"/>
          </a:ln>
        </p:spPr>
      </p:cxnSp>
      <p:cxnSp>
        <p:nvCxnSpPr>
          <p:cNvPr id="92" name="Straight Arrow Connector 91">
            <a:extLst>
              <a:ext uri="{FF2B5EF4-FFF2-40B4-BE49-F238E27FC236}">
                <a16:creationId xmlns:a16="http://schemas.microsoft.com/office/drawing/2014/main" id="{1999A030-D063-4A43-AE6A-8C74E6488399}"/>
              </a:ext>
            </a:extLst>
          </p:cNvPr>
          <p:cNvCxnSpPr>
            <a:cxnSpLocks/>
          </p:cNvCxnSpPr>
          <p:nvPr/>
        </p:nvCxnSpPr>
        <p:spPr bwMode="auto">
          <a:xfrm>
            <a:off x="7394079" y="2195930"/>
            <a:ext cx="1049351" cy="2508081"/>
          </a:xfrm>
          <a:prstGeom prst="straightConnector1">
            <a:avLst/>
          </a:prstGeom>
          <a:noFill/>
          <a:ln w="15875" cap="flat" cmpd="sng" algn="ctr">
            <a:solidFill>
              <a:srgbClr val="FF0000"/>
            </a:solidFill>
            <a:prstDash val="solid"/>
            <a:round/>
            <a:headEnd type="stealth" w="lg" len="lg"/>
            <a:tailEnd type="none"/>
          </a:ln>
        </p:spPr>
      </p:cxnSp>
      <p:cxnSp>
        <p:nvCxnSpPr>
          <p:cNvPr id="93" name="Straight Arrow Connector 92">
            <a:extLst>
              <a:ext uri="{FF2B5EF4-FFF2-40B4-BE49-F238E27FC236}">
                <a16:creationId xmlns:a16="http://schemas.microsoft.com/office/drawing/2014/main" id="{42ECBAEF-9F6A-4053-BE16-A2CA03F89DCA}"/>
              </a:ext>
            </a:extLst>
          </p:cNvPr>
          <p:cNvCxnSpPr>
            <a:cxnSpLocks/>
          </p:cNvCxnSpPr>
          <p:nvPr/>
        </p:nvCxnSpPr>
        <p:spPr bwMode="auto">
          <a:xfrm flipH="1">
            <a:off x="3928255" y="4961630"/>
            <a:ext cx="3668877" cy="514957"/>
          </a:xfrm>
          <a:prstGeom prst="straightConnector1">
            <a:avLst/>
          </a:prstGeom>
          <a:noFill/>
          <a:ln w="15875" cap="flat" cmpd="sng" algn="ctr">
            <a:solidFill>
              <a:srgbClr val="FF0000"/>
            </a:solidFill>
            <a:prstDash val="solid"/>
            <a:round/>
            <a:headEnd type="stealth" w="lg" len="lg"/>
            <a:tailEnd type="none"/>
          </a:ln>
        </p:spPr>
      </p:cxnSp>
      <p:cxnSp>
        <p:nvCxnSpPr>
          <p:cNvPr id="97" name="Straight Arrow Connector 96">
            <a:extLst>
              <a:ext uri="{FF2B5EF4-FFF2-40B4-BE49-F238E27FC236}">
                <a16:creationId xmlns:a16="http://schemas.microsoft.com/office/drawing/2014/main" id="{853FAD50-FBF2-4A81-809E-F7E75A1A11E5}"/>
              </a:ext>
            </a:extLst>
          </p:cNvPr>
          <p:cNvCxnSpPr>
            <a:cxnSpLocks/>
          </p:cNvCxnSpPr>
          <p:nvPr/>
        </p:nvCxnSpPr>
        <p:spPr bwMode="auto">
          <a:xfrm flipH="1">
            <a:off x="7447189" y="4996463"/>
            <a:ext cx="1096849" cy="525325"/>
          </a:xfrm>
          <a:prstGeom prst="straightConnector1">
            <a:avLst/>
          </a:prstGeom>
          <a:noFill/>
          <a:ln w="15875" cap="flat" cmpd="sng" algn="ctr">
            <a:solidFill>
              <a:srgbClr val="FF0000"/>
            </a:solidFill>
            <a:prstDash val="solid"/>
            <a:round/>
            <a:headEnd type="stealth" w="lg" len="lg"/>
            <a:tailEnd type="none"/>
          </a:ln>
        </p:spPr>
      </p:cxnSp>
    </p:spTree>
    <p:extLst>
      <p:ext uri="{BB962C8B-B14F-4D97-AF65-F5344CB8AC3E}">
        <p14:creationId xmlns:p14="http://schemas.microsoft.com/office/powerpoint/2010/main" val="28326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62" grpId="0"/>
      <p:bldP spid="6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90071"/>
            <a:ext cx="10924117" cy="1143000"/>
          </a:xfrm>
        </p:spPr>
        <p:txBody>
          <a:bodyPr/>
          <a:lstStyle/>
          <a:p>
            <a:r>
              <a:rPr lang="en-US" sz="4000" dirty="0"/>
              <a:t>Why Different Immediate Encoding in S and B</a:t>
            </a:r>
            <a:r>
              <a:rPr lang="en-US" sz="4000" i="1" dirty="0"/>
              <a:t> </a:t>
            </a:r>
          </a:p>
        </p:txBody>
      </p:sp>
      <p:grpSp>
        <p:nvGrpSpPr>
          <p:cNvPr id="24" name="Group 23"/>
          <p:cNvGrpSpPr/>
          <p:nvPr/>
        </p:nvGrpSpPr>
        <p:grpSpPr>
          <a:xfrm>
            <a:off x="3030624" y="1109435"/>
            <a:ext cx="8267207" cy="656641"/>
            <a:chOff x="721854" y="2240557"/>
            <a:chExt cx="8267206" cy="656639"/>
          </a:xfrm>
        </p:grpSpPr>
        <p:sp>
          <p:nvSpPr>
            <p:cNvPr id="8" name="TextBox 7"/>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 name="TextBox 8"/>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 name="TextBox 9"/>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 name="TextBox 10"/>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 name="TextBox 12"/>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4" name="TextBox 13"/>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7" name="TextBox 16"/>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8" name="TextBox 17"/>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9" name="TextBox 18"/>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1" name="TextBox 20"/>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2" name="TextBox 21"/>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3" name="TextBox 22"/>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36</a:t>
            </a:fld>
            <a:endParaRPr lang="en-US" dirty="0"/>
          </a:p>
        </p:txBody>
      </p:sp>
      <p:sp>
        <p:nvSpPr>
          <p:cNvPr id="6" name="Content Placeholder 5">
            <a:extLst>
              <a:ext uri="{FF2B5EF4-FFF2-40B4-BE49-F238E27FC236}">
                <a16:creationId xmlns:a16="http://schemas.microsoft.com/office/drawing/2014/main" id="{318F9773-8339-4670-8F1D-E6CBD9CFB4F7}"/>
              </a:ext>
            </a:extLst>
          </p:cNvPr>
          <p:cNvSpPr>
            <a:spLocks noGrp="1"/>
          </p:cNvSpPr>
          <p:nvPr>
            <p:ph idx="1"/>
          </p:nvPr>
        </p:nvSpPr>
        <p:spPr/>
        <p:txBody>
          <a:bodyPr/>
          <a:lstStyle/>
          <a:p>
            <a:r>
              <a:rPr lang="en-US" dirty="0"/>
              <a:t>B</a:t>
            </a:r>
          </a:p>
          <a:p>
            <a:r>
              <a:rPr lang="en-US" dirty="0"/>
              <a:t>S </a:t>
            </a:r>
          </a:p>
        </p:txBody>
      </p:sp>
      <p:grpSp>
        <p:nvGrpSpPr>
          <p:cNvPr id="58" name="Group 57">
            <a:extLst>
              <a:ext uri="{FF2B5EF4-FFF2-40B4-BE49-F238E27FC236}">
                <a16:creationId xmlns:a16="http://schemas.microsoft.com/office/drawing/2014/main" id="{047417E9-451B-4FB9-BB8A-7F4B9A03EF7C}"/>
              </a:ext>
            </a:extLst>
          </p:cNvPr>
          <p:cNvGrpSpPr/>
          <p:nvPr/>
        </p:nvGrpSpPr>
        <p:grpSpPr>
          <a:xfrm>
            <a:off x="3030624" y="1766071"/>
            <a:ext cx="8267207" cy="687853"/>
            <a:chOff x="896574" y="2082543"/>
            <a:chExt cx="7906465" cy="687853"/>
          </a:xfrm>
        </p:grpSpPr>
        <p:sp>
          <p:nvSpPr>
            <p:cNvPr id="59" name="TextBox 58">
              <a:extLst>
                <a:ext uri="{FF2B5EF4-FFF2-40B4-BE49-F238E27FC236}">
                  <a16:creationId xmlns:a16="http://schemas.microsoft.com/office/drawing/2014/main" id="{7B3DFBA3-E51B-43CC-91A8-21B24D4C7B9C}"/>
                </a:ext>
              </a:extLst>
            </p:cNvPr>
            <p:cNvSpPr txBox="1"/>
            <p:nvPr/>
          </p:nvSpPr>
          <p:spPr>
            <a:xfrm>
              <a:off x="896574" y="2416453"/>
              <a:ext cx="242260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[12:6]</a:t>
              </a:r>
            </a:p>
          </p:txBody>
        </p:sp>
        <p:sp>
          <p:nvSpPr>
            <p:cNvPr id="60" name="TextBox 59">
              <a:extLst>
                <a:ext uri="{FF2B5EF4-FFF2-40B4-BE49-F238E27FC236}">
                  <a16:creationId xmlns:a16="http://schemas.microsoft.com/office/drawing/2014/main" id="{F9CD8B83-E7A6-43FF-A736-CAEAB682AF35}"/>
                </a:ext>
              </a:extLst>
            </p:cNvPr>
            <p:cNvSpPr txBox="1"/>
            <p:nvPr/>
          </p:nvSpPr>
          <p:spPr>
            <a:xfrm>
              <a:off x="3335784" y="2412254"/>
              <a:ext cx="66802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61" name="TextBox 60">
              <a:extLst>
                <a:ext uri="{FF2B5EF4-FFF2-40B4-BE49-F238E27FC236}">
                  <a16:creationId xmlns:a16="http://schemas.microsoft.com/office/drawing/2014/main" id="{B7A12797-4BE3-4A34-AC4E-94C4BD7F569C}"/>
                </a:ext>
              </a:extLst>
            </p:cNvPr>
            <p:cNvSpPr txBox="1"/>
            <p:nvPr/>
          </p:nvSpPr>
          <p:spPr>
            <a:xfrm>
              <a:off x="4678168" y="2412254"/>
              <a:ext cx="85658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64" name="TextBox 63">
              <a:extLst>
                <a:ext uri="{FF2B5EF4-FFF2-40B4-BE49-F238E27FC236}">
                  <a16:creationId xmlns:a16="http://schemas.microsoft.com/office/drawing/2014/main" id="{1E08ED7A-3E35-4A59-89F3-153DC0E66B8C}"/>
                </a:ext>
              </a:extLst>
            </p:cNvPr>
            <p:cNvSpPr txBox="1"/>
            <p:nvPr/>
          </p:nvSpPr>
          <p:spPr>
            <a:xfrm>
              <a:off x="4020412" y="2412254"/>
              <a:ext cx="66802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65" name="TextBox 64">
              <a:extLst>
                <a:ext uri="{FF2B5EF4-FFF2-40B4-BE49-F238E27FC236}">
                  <a16:creationId xmlns:a16="http://schemas.microsoft.com/office/drawing/2014/main" id="{CC01FFCD-138C-40AE-B0B7-4FA9A152B1AA}"/>
                </a:ext>
              </a:extLst>
            </p:cNvPr>
            <p:cNvSpPr txBox="1"/>
            <p:nvPr/>
          </p:nvSpPr>
          <p:spPr>
            <a:xfrm>
              <a:off x="5520640" y="2412254"/>
              <a:ext cx="226254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[5:1]</a:t>
              </a:r>
            </a:p>
          </p:txBody>
        </p:sp>
        <p:sp>
          <p:nvSpPr>
            <p:cNvPr id="66" name="TextBox 65">
              <a:extLst>
                <a:ext uri="{FF2B5EF4-FFF2-40B4-BE49-F238E27FC236}">
                  <a16:creationId xmlns:a16="http://schemas.microsoft.com/office/drawing/2014/main" id="{0B5CD066-6BAC-4C15-A735-802CBF6E34E8}"/>
                </a:ext>
              </a:extLst>
            </p:cNvPr>
            <p:cNvSpPr txBox="1"/>
            <p:nvPr/>
          </p:nvSpPr>
          <p:spPr>
            <a:xfrm>
              <a:off x="7799793" y="2416453"/>
              <a:ext cx="100324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67" name="TextBox 66">
              <a:extLst>
                <a:ext uri="{FF2B5EF4-FFF2-40B4-BE49-F238E27FC236}">
                  <a16:creationId xmlns:a16="http://schemas.microsoft.com/office/drawing/2014/main" id="{3191C31F-235B-4504-A19D-E41DA8275E72}"/>
                </a:ext>
              </a:extLst>
            </p:cNvPr>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68" name="TextBox 67">
              <a:extLst>
                <a:ext uri="{FF2B5EF4-FFF2-40B4-BE49-F238E27FC236}">
                  <a16:creationId xmlns:a16="http://schemas.microsoft.com/office/drawing/2014/main" id="{EF4A3364-779F-41FD-AB92-99BDABDF764F}"/>
                </a:ext>
              </a:extLst>
            </p:cNvPr>
            <p:cNvSpPr txBox="1"/>
            <p:nvPr/>
          </p:nvSpPr>
          <p:spPr>
            <a:xfrm>
              <a:off x="3498511" y="2082543"/>
              <a:ext cx="293120" cy="353943"/>
            </a:xfrm>
            <a:prstGeom prst="rect">
              <a:avLst/>
            </a:prstGeom>
            <a:noFill/>
          </p:spPr>
          <p:txBody>
            <a:bodyPr wrap="none" rtlCol="0">
              <a:spAutoFit/>
            </a:bodyPr>
            <a:lstStyle/>
            <a:p>
              <a:pPr algn="ctr"/>
              <a:r>
                <a:rPr lang="en-US" sz="1700" dirty="0"/>
                <a:t>5</a:t>
              </a:r>
            </a:p>
          </p:txBody>
        </p:sp>
        <p:sp>
          <p:nvSpPr>
            <p:cNvPr id="69" name="TextBox 68">
              <a:extLst>
                <a:ext uri="{FF2B5EF4-FFF2-40B4-BE49-F238E27FC236}">
                  <a16:creationId xmlns:a16="http://schemas.microsoft.com/office/drawing/2014/main" id="{4145B9BD-E7C2-4FF5-9BA2-86C0F847B57F}"/>
                </a:ext>
              </a:extLst>
            </p:cNvPr>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70" name="TextBox 69">
              <a:extLst>
                <a:ext uri="{FF2B5EF4-FFF2-40B4-BE49-F238E27FC236}">
                  <a16:creationId xmlns:a16="http://schemas.microsoft.com/office/drawing/2014/main" id="{781ECEFE-8046-4F7D-9308-8EFE9EAD90E9}"/>
                </a:ext>
              </a:extLst>
            </p:cNvPr>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94" name="TextBox 93">
              <a:extLst>
                <a:ext uri="{FF2B5EF4-FFF2-40B4-BE49-F238E27FC236}">
                  <a16:creationId xmlns:a16="http://schemas.microsoft.com/office/drawing/2014/main" id="{EB16A4FD-2D27-4CB0-94C3-39543CCF9E95}"/>
                </a:ext>
              </a:extLst>
            </p:cNvPr>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95" name="TextBox 94">
              <a:extLst>
                <a:ext uri="{FF2B5EF4-FFF2-40B4-BE49-F238E27FC236}">
                  <a16:creationId xmlns:a16="http://schemas.microsoft.com/office/drawing/2014/main" id="{C7253AC4-E04D-46BC-A89E-A3D82FFD1803}"/>
                </a:ext>
              </a:extLst>
            </p:cNvPr>
            <p:cNvSpPr txBox="1"/>
            <p:nvPr/>
          </p:nvSpPr>
          <p:spPr>
            <a:xfrm>
              <a:off x="8159983" y="2124293"/>
              <a:ext cx="293120" cy="353943"/>
            </a:xfrm>
            <a:prstGeom prst="rect">
              <a:avLst/>
            </a:prstGeom>
            <a:noFill/>
          </p:spPr>
          <p:txBody>
            <a:bodyPr wrap="none" rtlCol="0">
              <a:spAutoFit/>
            </a:bodyPr>
            <a:lstStyle/>
            <a:p>
              <a:pPr algn="ctr"/>
              <a:r>
                <a:rPr lang="en-US" sz="1700" dirty="0"/>
                <a:t>7</a:t>
              </a:r>
            </a:p>
          </p:txBody>
        </p:sp>
      </p:grpSp>
      <p:sp>
        <p:nvSpPr>
          <p:cNvPr id="96" name="TextBox 95">
            <a:extLst>
              <a:ext uri="{FF2B5EF4-FFF2-40B4-BE49-F238E27FC236}">
                <a16:creationId xmlns:a16="http://schemas.microsoft.com/office/drawing/2014/main" id="{2303F660-AF8D-45CD-8A11-6A9C0476F0D4}"/>
              </a:ext>
            </a:extLst>
          </p:cNvPr>
          <p:cNvSpPr txBox="1"/>
          <p:nvPr/>
        </p:nvSpPr>
        <p:spPr>
          <a:xfrm>
            <a:off x="497488" y="3883712"/>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98" name="TextBox 97">
            <a:extLst>
              <a:ext uri="{FF2B5EF4-FFF2-40B4-BE49-F238E27FC236}">
                <a16:creationId xmlns:a16="http://schemas.microsoft.com/office/drawing/2014/main" id="{AA94BD5E-13AB-4DB2-9A82-CB69D9D7762E}"/>
              </a:ext>
            </a:extLst>
          </p:cNvPr>
          <p:cNvSpPr txBox="1"/>
          <p:nvPr/>
        </p:nvSpPr>
        <p:spPr>
          <a:xfrm>
            <a:off x="1645638" y="3890749"/>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99" name="TextBox 98">
            <a:extLst>
              <a:ext uri="{FF2B5EF4-FFF2-40B4-BE49-F238E27FC236}">
                <a16:creationId xmlns:a16="http://schemas.microsoft.com/office/drawing/2014/main" id="{7AFE021A-72B8-483D-B323-B27881BFA3D0}"/>
              </a:ext>
            </a:extLst>
          </p:cNvPr>
          <p:cNvSpPr txBox="1"/>
          <p:nvPr/>
        </p:nvSpPr>
        <p:spPr>
          <a:xfrm>
            <a:off x="2815198" y="3883711"/>
            <a:ext cx="32425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00" name="TextBox 99">
            <a:extLst>
              <a:ext uri="{FF2B5EF4-FFF2-40B4-BE49-F238E27FC236}">
                <a16:creationId xmlns:a16="http://schemas.microsoft.com/office/drawing/2014/main" id="{3112F1D0-160A-4F98-8FFE-4D7E95266FB0}"/>
              </a:ext>
            </a:extLst>
          </p:cNvPr>
          <p:cNvSpPr txBox="1"/>
          <p:nvPr/>
        </p:nvSpPr>
        <p:spPr>
          <a:xfrm>
            <a:off x="6134230" y="3881613"/>
            <a:ext cx="189534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01" name="TextBox 100">
            <a:extLst>
              <a:ext uri="{FF2B5EF4-FFF2-40B4-BE49-F238E27FC236}">
                <a16:creationId xmlns:a16="http://schemas.microsoft.com/office/drawing/2014/main" id="{A2AD8936-3A46-4EE0-8C18-3A6F91FDBE6D}"/>
              </a:ext>
            </a:extLst>
          </p:cNvPr>
          <p:cNvSpPr txBox="1"/>
          <p:nvPr/>
        </p:nvSpPr>
        <p:spPr>
          <a:xfrm>
            <a:off x="8092945" y="3844582"/>
            <a:ext cx="591385" cy="400110"/>
          </a:xfrm>
          <a:prstGeom prst="rect">
            <a:avLst/>
          </a:prstGeom>
          <a:noFill/>
          <a:ln w="12700">
            <a:solidFill>
              <a:schemeClr val="tx1"/>
            </a:solidFill>
          </a:ln>
        </p:spPr>
        <p:txBody>
          <a:bodyPr wrap="square" rtlCol="0">
            <a:spAutoFit/>
          </a:bodyPr>
          <a:lstStyle/>
          <a:p>
            <a:pPr algn="ctr"/>
            <a:r>
              <a:rPr lang="en-US" sz="2000" b="1" dirty="0">
                <a:solidFill>
                  <a:srgbClr val="56127A"/>
                </a:solidFill>
              </a:rPr>
              <a:t>0</a:t>
            </a:r>
          </a:p>
        </p:txBody>
      </p:sp>
      <p:sp>
        <p:nvSpPr>
          <p:cNvPr id="102" name="TextBox 101">
            <a:extLst>
              <a:ext uri="{FF2B5EF4-FFF2-40B4-BE49-F238E27FC236}">
                <a16:creationId xmlns:a16="http://schemas.microsoft.com/office/drawing/2014/main" id="{7ED882AF-2CB2-431F-BBA8-62806BD90482}"/>
              </a:ext>
            </a:extLst>
          </p:cNvPr>
          <p:cNvSpPr txBox="1"/>
          <p:nvPr/>
        </p:nvSpPr>
        <p:spPr>
          <a:xfrm>
            <a:off x="497488" y="4501678"/>
            <a:ext cx="1036038"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04" name="TextBox 103">
            <a:extLst>
              <a:ext uri="{FF2B5EF4-FFF2-40B4-BE49-F238E27FC236}">
                <a16:creationId xmlns:a16="http://schemas.microsoft.com/office/drawing/2014/main" id="{9644D58F-8CC5-48AD-93D7-01F185E3756C}"/>
              </a:ext>
            </a:extLst>
          </p:cNvPr>
          <p:cNvSpPr txBox="1"/>
          <p:nvPr/>
        </p:nvSpPr>
        <p:spPr>
          <a:xfrm>
            <a:off x="1645638" y="4501677"/>
            <a:ext cx="441213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[11:6]</a:t>
            </a:r>
          </a:p>
        </p:txBody>
      </p:sp>
      <p:sp>
        <p:nvSpPr>
          <p:cNvPr id="105" name="TextBox 104">
            <a:extLst>
              <a:ext uri="{FF2B5EF4-FFF2-40B4-BE49-F238E27FC236}">
                <a16:creationId xmlns:a16="http://schemas.microsoft.com/office/drawing/2014/main" id="{8C2B14AC-6A16-498E-8AD4-19E9F23B64F2}"/>
              </a:ext>
            </a:extLst>
          </p:cNvPr>
          <p:cNvSpPr txBox="1"/>
          <p:nvPr/>
        </p:nvSpPr>
        <p:spPr>
          <a:xfrm>
            <a:off x="6134229" y="4499579"/>
            <a:ext cx="255010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[5:1]</a:t>
            </a:r>
          </a:p>
        </p:txBody>
      </p:sp>
      <p:sp>
        <p:nvSpPr>
          <p:cNvPr id="26" name="Oval 25">
            <a:extLst>
              <a:ext uri="{FF2B5EF4-FFF2-40B4-BE49-F238E27FC236}">
                <a16:creationId xmlns:a16="http://schemas.microsoft.com/office/drawing/2014/main" id="{F3134A10-7A57-48A1-A11D-8E85782C6631}"/>
              </a:ext>
            </a:extLst>
          </p:cNvPr>
          <p:cNvSpPr/>
          <p:nvPr/>
        </p:nvSpPr>
        <p:spPr bwMode="auto">
          <a:xfrm>
            <a:off x="9718549" y="1340890"/>
            <a:ext cx="490992" cy="119276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31" name="Straight Arrow Connector 30">
            <a:extLst>
              <a:ext uri="{FF2B5EF4-FFF2-40B4-BE49-F238E27FC236}">
                <a16:creationId xmlns:a16="http://schemas.microsoft.com/office/drawing/2014/main" id="{D4FB1C23-9E6D-4C50-B6F1-14DB9F19A095}"/>
              </a:ext>
            </a:extLst>
          </p:cNvPr>
          <p:cNvCxnSpPr>
            <a:cxnSpLocks/>
          </p:cNvCxnSpPr>
          <p:nvPr/>
        </p:nvCxnSpPr>
        <p:spPr bwMode="auto">
          <a:xfrm flipH="1">
            <a:off x="2343151" y="1550836"/>
            <a:ext cx="7482252" cy="2330777"/>
          </a:xfrm>
          <a:prstGeom prst="straightConnector1">
            <a:avLst/>
          </a:prstGeom>
          <a:noFill/>
          <a:ln w="15875" cap="flat" cmpd="sng" algn="ctr">
            <a:solidFill>
              <a:srgbClr val="FF0000"/>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E1E7806A-10F0-4DC5-9BA4-130F5EBDBFC7}"/>
              </a:ext>
            </a:extLst>
          </p:cNvPr>
          <p:cNvCxnSpPr>
            <a:cxnSpLocks/>
            <a:stCxn id="26" idx="4"/>
          </p:cNvCxnSpPr>
          <p:nvPr/>
        </p:nvCxnSpPr>
        <p:spPr bwMode="auto">
          <a:xfrm flipH="1">
            <a:off x="8515351" y="2533650"/>
            <a:ext cx="1448694" cy="1975065"/>
          </a:xfrm>
          <a:prstGeom prst="straightConnector1">
            <a:avLst/>
          </a:prstGeom>
          <a:noFill/>
          <a:ln w="15875" cap="flat" cmpd="sng" algn="ctr">
            <a:solidFill>
              <a:srgbClr val="FF0000"/>
            </a:solidFill>
            <a:prstDash val="solid"/>
            <a:round/>
            <a:headEnd type="none" w="med" len="med"/>
            <a:tailEnd type="triangle"/>
          </a:ln>
          <a:effectLst/>
        </p:spPr>
      </p:cxnSp>
      <p:sp>
        <p:nvSpPr>
          <p:cNvPr id="108" name="Oval 107">
            <a:extLst>
              <a:ext uri="{FF2B5EF4-FFF2-40B4-BE49-F238E27FC236}">
                <a16:creationId xmlns:a16="http://schemas.microsoft.com/office/drawing/2014/main" id="{3D12E8B2-9F4C-4C69-A97C-C702B291EA70}"/>
              </a:ext>
            </a:extLst>
          </p:cNvPr>
          <p:cNvSpPr/>
          <p:nvPr/>
        </p:nvSpPr>
        <p:spPr bwMode="auto">
          <a:xfrm>
            <a:off x="3051249" y="1412128"/>
            <a:ext cx="490992" cy="119276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09" name="Straight Arrow Connector 108">
            <a:extLst>
              <a:ext uri="{FF2B5EF4-FFF2-40B4-BE49-F238E27FC236}">
                <a16:creationId xmlns:a16="http://schemas.microsoft.com/office/drawing/2014/main" id="{B89E5703-303F-4900-86E5-0E94D15DE98B}"/>
              </a:ext>
            </a:extLst>
          </p:cNvPr>
          <p:cNvCxnSpPr>
            <a:cxnSpLocks/>
            <a:stCxn id="108" idx="1"/>
            <a:endCxn id="96" idx="0"/>
          </p:cNvCxnSpPr>
          <p:nvPr/>
        </p:nvCxnSpPr>
        <p:spPr bwMode="auto">
          <a:xfrm flipH="1">
            <a:off x="1015507" y="1586804"/>
            <a:ext cx="2107646" cy="2296908"/>
          </a:xfrm>
          <a:prstGeom prst="straightConnector1">
            <a:avLst/>
          </a:prstGeom>
          <a:noFill/>
          <a:ln w="15875" cap="flat" cmpd="sng" algn="ctr">
            <a:solidFill>
              <a:srgbClr val="FF0000"/>
            </a:solidFill>
            <a:prstDash val="solid"/>
            <a:round/>
            <a:headEnd type="none" w="med" len="med"/>
            <a:tailEnd type="triangle"/>
          </a:ln>
          <a:effectLst/>
        </p:spPr>
      </p:cxnSp>
      <p:cxnSp>
        <p:nvCxnSpPr>
          <p:cNvPr id="110" name="Straight Arrow Connector 109">
            <a:extLst>
              <a:ext uri="{FF2B5EF4-FFF2-40B4-BE49-F238E27FC236}">
                <a16:creationId xmlns:a16="http://schemas.microsoft.com/office/drawing/2014/main" id="{67EFB03C-AA68-4880-9339-1B633B6BF5A6}"/>
              </a:ext>
            </a:extLst>
          </p:cNvPr>
          <p:cNvCxnSpPr>
            <a:cxnSpLocks/>
          </p:cNvCxnSpPr>
          <p:nvPr/>
        </p:nvCxnSpPr>
        <p:spPr bwMode="auto">
          <a:xfrm flipH="1">
            <a:off x="1457007" y="2585929"/>
            <a:ext cx="1818453" cy="1922786"/>
          </a:xfrm>
          <a:prstGeom prst="straightConnector1">
            <a:avLst/>
          </a:prstGeom>
          <a:noFill/>
          <a:ln w="15875" cap="flat" cmpd="sng" algn="ctr">
            <a:solidFill>
              <a:srgbClr val="FF0000"/>
            </a:solidFill>
            <a:prstDash val="solid"/>
            <a:round/>
            <a:headEnd type="none" w="med" len="med"/>
            <a:tailEnd type="triangle"/>
          </a:ln>
          <a:effectLst/>
        </p:spPr>
      </p:cxnSp>
      <p:sp>
        <p:nvSpPr>
          <p:cNvPr id="39" name="TextBox 38">
            <a:extLst>
              <a:ext uri="{FF2B5EF4-FFF2-40B4-BE49-F238E27FC236}">
                <a16:creationId xmlns:a16="http://schemas.microsoft.com/office/drawing/2014/main" id="{460958E3-B612-4E96-B518-CC779867A447}"/>
              </a:ext>
            </a:extLst>
          </p:cNvPr>
          <p:cNvSpPr txBox="1"/>
          <p:nvPr/>
        </p:nvSpPr>
        <p:spPr>
          <a:xfrm>
            <a:off x="9190985" y="3702428"/>
            <a:ext cx="2403222" cy="646331"/>
          </a:xfrm>
          <a:prstGeom prst="rect">
            <a:avLst/>
          </a:prstGeom>
          <a:noFill/>
        </p:spPr>
        <p:txBody>
          <a:bodyPr wrap="none" rtlCol="0" anchor="ctr" anchorCtr="1">
            <a:spAutoFit/>
          </a:bodyPr>
          <a:lstStyle/>
          <a:p>
            <a:r>
              <a:rPr lang="en-US" dirty="0">
                <a:ea typeface="標楷體" pitchFamily="65" charset="-120"/>
                <a:cs typeface="Calibri" pitchFamily="34" charset="0"/>
              </a:rPr>
              <a:t>Address to instruction</a:t>
            </a:r>
          </a:p>
          <a:p>
            <a:r>
              <a:rPr lang="en-US" dirty="0">
                <a:ea typeface="標楷體" pitchFamily="65" charset="-120"/>
                <a:cs typeface="Calibri" pitchFamily="34" charset="0"/>
              </a:rPr>
              <a:t>(in 16 bits)</a:t>
            </a:r>
          </a:p>
        </p:txBody>
      </p:sp>
      <p:sp>
        <p:nvSpPr>
          <p:cNvPr id="111" name="TextBox 110">
            <a:extLst>
              <a:ext uri="{FF2B5EF4-FFF2-40B4-BE49-F238E27FC236}">
                <a16:creationId xmlns:a16="http://schemas.microsoft.com/office/drawing/2014/main" id="{B047CE57-FC25-46CB-A5D2-F8135F54630D}"/>
              </a:ext>
            </a:extLst>
          </p:cNvPr>
          <p:cNvSpPr txBox="1"/>
          <p:nvPr/>
        </p:nvSpPr>
        <p:spPr>
          <a:xfrm>
            <a:off x="9190985" y="4464210"/>
            <a:ext cx="1800493" cy="646331"/>
          </a:xfrm>
          <a:prstGeom prst="rect">
            <a:avLst/>
          </a:prstGeom>
          <a:noFill/>
        </p:spPr>
        <p:txBody>
          <a:bodyPr wrap="none" rtlCol="0" anchor="ctr" anchorCtr="1">
            <a:spAutoFit/>
          </a:bodyPr>
          <a:lstStyle/>
          <a:p>
            <a:r>
              <a:rPr lang="en-US" dirty="0">
                <a:ea typeface="標楷體" pitchFamily="65" charset="-120"/>
                <a:cs typeface="Calibri" pitchFamily="34" charset="0"/>
              </a:rPr>
              <a:t>Address to data</a:t>
            </a:r>
          </a:p>
          <a:p>
            <a:r>
              <a:rPr lang="en-US" dirty="0">
                <a:ea typeface="標楷體" pitchFamily="65" charset="-120"/>
                <a:cs typeface="Calibri" pitchFamily="34" charset="0"/>
              </a:rPr>
              <a:t>(in 8 bits)</a:t>
            </a:r>
          </a:p>
        </p:txBody>
      </p:sp>
      <p:sp>
        <p:nvSpPr>
          <p:cNvPr id="3" name="TextBox 2">
            <a:extLst>
              <a:ext uri="{FF2B5EF4-FFF2-40B4-BE49-F238E27FC236}">
                <a16:creationId xmlns:a16="http://schemas.microsoft.com/office/drawing/2014/main" id="{B7570CA5-50DE-442C-80E8-C00C927099DB}"/>
              </a:ext>
            </a:extLst>
          </p:cNvPr>
          <p:cNvSpPr txBox="1"/>
          <p:nvPr/>
        </p:nvSpPr>
        <p:spPr>
          <a:xfrm>
            <a:off x="422725" y="5150576"/>
            <a:ext cx="1646605" cy="369332"/>
          </a:xfrm>
          <a:prstGeom prst="rect">
            <a:avLst/>
          </a:prstGeom>
          <a:noFill/>
        </p:spPr>
        <p:txBody>
          <a:bodyPr wrap="none" rtlCol="0" anchor="ctr" anchorCtr="1">
            <a:spAutoFit/>
          </a:bodyPr>
          <a:lstStyle/>
          <a:p>
            <a:r>
              <a:rPr lang="en-US" dirty="0">
                <a:ea typeface="標楷體" pitchFamily="65" charset="-120"/>
                <a:cs typeface="Calibri" pitchFamily="34" charset="0"/>
              </a:rPr>
              <a:t>Sign bit: same</a:t>
            </a:r>
          </a:p>
        </p:txBody>
      </p:sp>
      <p:sp>
        <p:nvSpPr>
          <p:cNvPr id="54" name="TextBox 53">
            <a:extLst>
              <a:ext uri="{FF2B5EF4-FFF2-40B4-BE49-F238E27FC236}">
                <a16:creationId xmlns:a16="http://schemas.microsoft.com/office/drawing/2014/main" id="{8D06D024-E995-468E-B9EA-B37D814A881E}"/>
              </a:ext>
            </a:extLst>
          </p:cNvPr>
          <p:cNvSpPr txBox="1"/>
          <p:nvPr/>
        </p:nvSpPr>
        <p:spPr>
          <a:xfrm>
            <a:off x="422725" y="5545485"/>
            <a:ext cx="1838965"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[10:1] same</a:t>
            </a:r>
          </a:p>
        </p:txBody>
      </p:sp>
      <p:sp>
        <p:nvSpPr>
          <p:cNvPr id="55" name="TextBox 54">
            <a:extLst>
              <a:ext uri="{FF2B5EF4-FFF2-40B4-BE49-F238E27FC236}">
                <a16:creationId xmlns:a16="http://schemas.microsoft.com/office/drawing/2014/main" id="{CE7C8DC3-6F0E-4070-806D-0BFBB4E5713D}"/>
              </a:ext>
            </a:extLst>
          </p:cNvPr>
          <p:cNvSpPr txBox="1"/>
          <p:nvPr/>
        </p:nvSpPr>
        <p:spPr>
          <a:xfrm>
            <a:off x="2642741" y="5119704"/>
            <a:ext cx="6194837"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[11] for B comes from </a:t>
            </a:r>
            <a:r>
              <a:rPr lang="en-US" dirty="0" err="1">
                <a:ea typeface="標楷體" pitchFamily="65" charset="-120"/>
                <a:cs typeface="Calibri" pitchFamily="34" charset="0"/>
              </a:rPr>
              <a:t>inst</a:t>
            </a:r>
            <a:r>
              <a:rPr lang="en-US" dirty="0">
                <a:ea typeface="標楷體" pitchFamily="65" charset="-120"/>
                <a:cs typeface="Calibri" pitchFamily="34" charset="0"/>
              </a:rPr>
              <a:t>[7], for S comes from </a:t>
            </a:r>
            <a:r>
              <a:rPr lang="en-US" dirty="0" err="1">
                <a:ea typeface="標楷體" pitchFamily="65" charset="-120"/>
                <a:cs typeface="Calibri" pitchFamily="34" charset="0"/>
              </a:rPr>
              <a:t>inst</a:t>
            </a:r>
            <a:r>
              <a:rPr lang="en-US" dirty="0">
                <a:ea typeface="標楷體" pitchFamily="65" charset="-120"/>
                <a:cs typeface="Calibri" pitchFamily="34" charset="0"/>
              </a:rPr>
              <a:t>[30]</a:t>
            </a:r>
          </a:p>
        </p:txBody>
      </p:sp>
      <p:sp>
        <p:nvSpPr>
          <p:cNvPr id="56" name="TextBox 55">
            <a:extLst>
              <a:ext uri="{FF2B5EF4-FFF2-40B4-BE49-F238E27FC236}">
                <a16:creationId xmlns:a16="http://schemas.microsoft.com/office/drawing/2014/main" id="{44D57D39-0218-4E91-B4C1-3074661225DC}"/>
              </a:ext>
            </a:extLst>
          </p:cNvPr>
          <p:cNvSpPr txBox="1"/>
          <p:nvPr/>
        </p:nvSpPr>
        <p:spPr>
          <a:xfrm>
            <a:off x="2623820" y="5549564"/>
            <a:ext cx="5198859" cy="369332"/>
          </a:xfrm>
          <a:prstGeom prst="rect">
            <a:avLst/>
          </a:prstGeom>
          <a:noFill/>
        </p:spPr>
        <p:txBody>
          <a:bodyPr wrap="none" rtlCol="0" anchor="ctr" anchorCtr="1">
            <a:spAutoFit/>
          </a:bodyPr>
          <a:lstStyle/>
          <a:p>
            <a:r>
              <a:rPr lang="en-US" dirty="0" err="1">
                <a:ea typeface="標楷體" pitchFamily="65" charset="-120"/>
                <a:cs typeface="Calibri" pitchFamily="34" charset="0"/>
              </a:rPr>
              <a:t>Imm</a:t>
            </a:r>
            <a:r>
              <a:rPr lang="en-US" dirty="0">
                <a:ea typeface="標楷體" pitchFamily="65" charset="-120"/>
                <a:cs typeface="Calibri" pitchFamily="34" charset="0"/>
              </a:rPr>
              <a:t>[0] for B is always 0, for S comes from </a:t>
            </a:r>
            <a:r>
              <a:rPr lang="en-US" dirty="0" err="1">
                <a:ea typeface="標楷體" pitchFamily="65" charset="-120"/>
                <a:cs typeface="Calibri" pitchFamily="34" charset="0"/>
              </a:rPr>
              <a:t>inst</a:t>
            </a:r>
            <a:r>
              <a:rPr lang="en-US" dirty="0">
                <a:ea typeface="標楷體" pitchFamily="65" charset="-120"/>
                <a:cs typeface="Calibri" pitchFamily="34" charset="0"/>
              </a:rPr>
              <a:t>[7]</a:t>
            </a:r>
          </a:p>
        </p:txBody>
      </p:sp>
    </p:spTree>
    <p:extLst>
      <p:ext uri="{BB962C8B-B14F-4D97-AF65-F5344CB8AC3E}">
        <p14:creationId xmlns:p14="http://schemas.microsoft.com/office/powerpoint/2010/main" val="136838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0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What if the branch target is &gt; </a:t>
                </a:r>
                <a14:m>
                  <m:oMath xmlns:m="http://schemas.openxmlformats.org/officeDocument/2006/math">
                    <m:sSup>
                      <m:sSupPr>
                        <m:ctrlPr>
                          <a:rPr lang="en-US" sz="3733" b="0" i="1">
                            <a:latin typeface="Cambria Math" panose="02040503050406030204" pitchFamily="18" charset="0"/>
                            <a:cs typeface="+mn-cs"/>
                          </a:rPr>
                        </m:ctrlPr>
                      </m:sSupPr>
                      <m:e>
                        <m:r>
                          <m:rPr>
                            <m:nor/>
                          </m:rPr>
                          <a:rPr lang="en-US" sz="3733" b="0" dirty="0">
                            <a:cs typeface="+mn-cs"/>
                          </a:rPr>
                          <m:t>±</m:t>
                        </m:r>
                        <m:r>
                          <a:rPr lang="en-US" sz="3733" b="0" i="1">
                            <a:latin typeface="Cambria Math" panose="02040503050406030204" pitchFamily="18" charset="0"/>
                            <a:cs typeface="+mn-cs"/>
                          </a:rPr>
                          <m:t>2</m:t>
                        </m:r>
                      </m:e>
                      <m:sup>
                        <m:r>
                          <a:rPr lang="en-US" sz="3733" b="0" i="1">
                            <a:latin typeface="Cambria Math" panose="02040503050406030204" pitchFamily="18" charset="0"/>
                            <a:cs typeface="+mn-cs"/>
                          </a:rPr>
                          <m:t>10</m:t>
                        </m:r>
                      </m:sup>
                    </m:sSup>
                  </m:oMath>
                </a14:m>
                <a:r>
                  <a:rPr lang="en-US" dirty="0">
                    <a:solidFill>
                      <a:schemeClr val="tx2"/>
                    </a:solidFill>
                  </a:rPr>
                  <a:t>  </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2059" t="-21176" b="-4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0578" y="1208313"/>
                <a:ext cx="11037009" cy="4831243"/>
              </a:xfrm>
            </p:spPr>
            <p:txBody>
              <a:bodyPr/>
              <a:lstStyle/>
              <a:p>
                <a:pPr>
                  <a:buFont typeface="Wingdings" panose="05000000000000000000" pitchFamily="2" charset="2"/>
                  <a:buChar char="§"/>
                </a:pPr>
                <a:r>
                  <a:rPr lang="en-US" sz="2667" dirty="0">
                    <a:solidFill>
                      <a:prstClr val="black"/>
                    </a:solidFill>
                  </a:rPr>
                  <a:t>RV branch instructions can only reach ± </a:t>
                </a:r>
                <a14:m>
                  <m:oMath xmlns:m="http://schemas.openxmlformats.org/officeDocument/2006/math">
                    <m:sSup>
                      <m:sSupPr>
                        <m:ctrlPr>
                          <a:rPr lang="en-US" sz="2667" i="1">
                            <a:solidFill>
                              <a:prstClr val="black"/>
                            </a:solidFill>
                            <a:latin typeface="Cambria Math" panose="02040503050406030204" pitchFamily="18" charset="0"/>
                          </a:rPr>
                        </m:ctrlPr>
                      </m:sSupPr>
                      <m:e>
                        <m:r>
                          <a:rPr lang="en-US" sz="2667" i="1">
                            <a:solidFill>
                              <a:prstClr val="black"/>
                            </a:solidFill>
                            <a:latin typeface="Cambria Math" panose="02040503050406030204" pitchFamily="18" charset="0"/>
                          </a:rPr>
                          <m:t>2</m:t>
                        </m:r>
                      </m:e>
                      <m:sup>
                        <m:r>
                          <a:rPr lang="en-US" sz="2667" i="1">
                            <a:solidFill>
                              <a:prstClr val="black"/>
                            </a:solidFill>
                            <a:latin typeface="Cambria Math" panose="02040503050406030204" pitchFamily="18" charset="0"/>
                          </a:rPr>
                          <m:t>10</m:t>
                        </m:r>
                      </m:sup>
                    </m:sSup>
                  </m:oMath>
                </a14:m>
                <a:r>
                  <a:rPr lang="en-US" sz="2667" dirty="0"/>
                  <a:t> X 32b instructions.</a:t>
                </a:r>
              </a:p>
              <a:p>
                <a:pPr>
                  <a:buFont typeface="Wingdings" panose="05000000000000000000" pitchFamily="2" charset="2"/>
                  <a:buChar char="§"/>
                </a:pPr>
                <a:r>
                  <a:rPr lang="en-US" sz="2667" dirty="0"/>
                  <a:t>If the target is more than </a:t>
                </a:r>
                <a14:m>
                  <m:oMath xmlns:m="http://schemas.openxmlformats.org/officeDocument/2006/math">
                    <m:sSup>
                      <m:sSupPr>
                        <m:ctrlPr>
                          <a:rPr lang="en-US" sz="2667" i="1">
                            <a:solidFill>
                              <a:srgbClr val="1F497D"/>
                            </a:solidFill>
                            <a:latin typeface="Cambria Math" panose="02040503050406030204" pitchFamily="18" charset="0"/>
                            <a:cs typeface="+mj-cs"/>
                          </a:rPr>
                        </m:ctrlPr>
                      </m:sSupPr>
                      <m:e>
                        <m:r>
                          <m:rPr>
                            <m:nor/>
                          </m:rPr>
                          <a:rPr lang="en-US" sz="2667" dirty="0">
                            <a:solidFill>
                              <a:srgbClr val="1F497D"/>
                            </a:solidFill>
                            <a:cs typeface="+mj-cs"/>
                          </a:rPr>
                          <m:t>±</m:t>
                        </m:r>
                        <m:r>
                          <a:rPr lang="en-US" sz="2667" i="1">
                            <a:solidFill>
                              <a:srgbClr val="1F497D"/>
                            </a:solidFill>
                            <a:latin typeface="Cambria Math" panose="02040503050406030204" pitchFamily="18" charset="0"/>
                            <a:cs typeface="+mj-cs"/>
                          </a:rPr>
                          <m:t>2</m:t>
                        </m:r>
                      </m:e>
                      <m:sup>
                        <m:r>
                          <a:rPr lang="en-US" sz="2667" i="1">
                            <a:solidFill>
                              <a:srgbClr val="1F497D"/>
                            </a:solidFill>
                            <a:latin typeface="Cambria Math" panose="02040503050406030204" pitchFamily="18" charset="0"/>
                            <a:cs typeface="+mj-cs"/>
                          </a:rPr>
                          <m:t>10</m:t>
                        </m:r>
                      </m:sup>
                    </m:sSup>
                  </m:oMath>
                </a14:m>
                <a:r>
                  <a:rPr lang="en-US" sz="2667" b="1" dirty="0">
                    <a:solidFill>
                      <a:srgbClr val="1F497D"/>
                    </a:solidFill>
                  </a:rPr>
                  <a:t> </a:t>
                </a:r>
                <a:r>
                  <a:rPr lang="en-US" sz="2667" dirty="0"/>
                  <a:t>instructions away, we must resort to the JUMP instruction, which can reach </a:t>
                </a:r>
                <a14:m>
                  <m:oMath xmlns:m="http://schemas.openxmlformats.org/officeDocument/2006/math">
                    <m:sSup>
                      <m:sSupPr>
                        <m:ctrlPr>
                          <a:rPr lang="en-US" sz="2667" i="1">
                            <a:solidFill>
                              <a:srgbClr val="1F497D"/>
                            </a:solidFill>
                            <a:latin typeface="Cambria Math" panose="02040503050406030204" pitchFamily="18" charset="0"/>
                            <a:cs typeface="+mj-cs"/>
                          </a:rPr>
                        </m:ctrlPr>
                      </m:sSupPr>
                      <m:e>
                        <m:r>
                          <m:rPr>
                            <m:nor/>
                          </m:rPr>
                          <a:rPr lang="en-US" sz="2667" dirty="0">
                            <a:solidFill>
                              <a:srgbClr val="1F497D"/>
                            </a:solidFill>
                            <a:cs typeface="+mj-cs"/>
                          </a:rPr>
                          <m:t>±</m:t>
                        </m:r>
                        <m:r>
                          <a:rPr lang="en-US" sz="2667" i="1">
                            <a:solidFill>
                              <a:srgbClr val="1F497D"/>
                            </a:solidFill>
                            <a:latin typeface="Cambria Math" panose="02040503050406030204" pitchFamily="18" charset="0"/>
                            <a:cs typeface="+mj-cs"/>
                          </a:rPr>
                          <m:t>2</m:t>
                        </m:r>
                      </m:e>
                      <m:sup>
                        <m:r>
                          <a:rPr lang="en-US" sz="2667" i="1">
                            <a:solidFill>
                              <a:srgbClr val="1F497D"/>
                            </a:solidFill>
                            <a:latin typeface="Cambria Math" panose="02040503050406030204" pitchFamily="18" charset="0"/>
                            <a:cs typeface="+mj-cs"/>
                          </a:rPr>
                          <m:t>19 </m:t>
                        </m:r>
                      </m:sup>
                    </m:sSup>
                  </m:oMath>
                </a14:m>
                <a:r>
                  <a:rPr lang="en-US" sz="2667" b="1" dirty="0">
                    <a:solidFill>
                      <a:srgbClr val="1F497D"/>
                    </a:solidFill>
                  </a:rPr>
                  <a:t> </a:t>
                </a:r>
                <a:r>
                  <a:rPr lang="en-US" sz="2667" dirty="0"/>
                  <a:t>instructions, or </a:t>
                </a:r>
                <a14:m>
                  <m:oMath xmlns:m="http://schemas.openxmlformats.org/officeDocument/2006/math">
                    <m:sSup>
                      <m:sSupPr>
                        <m:ctrlPr>
                          <a:rPr lang="en-US" sz="2667" i="1">
                            <a:solidFill>
                              <a:srgbClr val="1F497D"/>
                            </a:solidFill>
                            <a:latin typeface="Cambria Math" panose="02040503050406030204" pitchFamily="18" charset="0"/>
                          </a:rPr>
                        </m:ctrlPr>
                      </m:sSupPr>
                      <m:e>
                        <m:r>
                          <m:rPr>
                            <m:nor/>
                          </m:rPr>
                          <a:rPr lang="en-US" sz="2667" dirty="0">
                            <a:solidFill>
                              <a:srgbClr val="1F497D"/>
                            </a:solidFill>
                          </a:rPr>
                          <m:t>±</m:t>
                        </m:r>
                        <m:r>
                          <a:rPr lang="en-US" sz="2667" i="1">
                            <a:solidFill>
                              <a:srgbClr val="1F497D"/>
                            </a:solidFill>
                            <a:latin typeface="Cambria Math" panose="02040503050406030204" pitchFamily="18" charset="0"/>
                          </a:rPr>
                          <m:t>2</m:t>
                        </m:r>
                      </m:e>
                      <m:sup>
                        <m:r>
                          <a:rPr lang="en-US" sz="2667" i="1">
                            <a:solidFill>
                              <a:srgbClr val="1F497D"/>
                            </a:solidFill>
                            <a:latin typeface="Cambria Math" panose="02040503050406030204" pitchFamily="18" charset="0"/>
                          </a:rPr>
                          <m:t>20  </m:t>
                        </m:r>
                      </m:sup>
                    </m:sSup>
                    <m:r>
                      <m:rPr>
                        <m:sty m:val="p"/>
                      </m:rPr>
                      <a:rPr lang="en-US" sz="2667">
                        <a:solidFill>
                          <a:srgbClr val="1F497D"/>
                        </a:solidFill>
                        <a:latin typeface="Cambria Math" panose="02040503050406030204" pitchFamily="18" charset="0"/>
                      </a:rPr>
                      <m:t>b</m:t>
                    </m:r>
                  </m:oMath>
                </a14:m>
                <a:r>
                  <a:rPr lang="en-US" sz="2667" dirty="0"/>
                  <a:t>ytes</a:t>
                </a:r>
              </a:p>
              <a:p>
                <a:pPr>
                  <a:buFont typeface="Wingdings" panose="05000000000000000000" pitchFamily="2" charset="2"/>
                  <a:buChar char="§"/>
                </a:pPr>
                <a:r>
                  <a:rPr lang="en-US" sz="2667" dirty="0"/>
                  <a:t>Example:</a:t>
                </a:r>
              </a:p>
              <a:p>
                <a:pPr>
                  <a:buFont typeface="Wingdings" panose="05000000000000000000" pitchFamily="2" charset="2"/>
                  <a:buChar char="§"/>
                </a:pPr>
                <a:endParaRPr lang="en-US" sz="2667" dirty="0"/>
              </a:p>
              <a:p>
                <a:pPr marL="0" indent="0">
                  <a:buNone/>
                </a:pPr>
                <a:r>
                  <a:rPr lang="en-US" sz="2667" dirty="0"/>
                  <a:t>	</a:t>
                </a:r>
                <a:r>
                  <a:rPr lang="en-US" sz="2667" dirty="0" err="1"/>
                  <a:t>beq</a:t>
                </a:r>
                <a:r>
                  <a:rPr lang="en-US" sz="2667" dirty="0"/>
                  <a:t> X10, X0, </a:t>
                </a:r>
                <a:r>
                  <a:rPr lang="en-US" sz="2667" dirty="0" err="1"/>
                  <a:t>far_away</a:t>
                </a:r>
                <a:r>
                  <a:rPr lang="en-US" sz="2667" dirty="0"/>
                  <a:t>		</a:t>
                </a:r>
                <a:r>
                  <a:rPr lang="en-US" sz="2667" dirty="0" err="1"/>
                  <a:t>bne</a:t>
                </a:r>
                <a:r>
                  <a:rPr lang="en-US" sz="2667" dirty="0"/>
                  <a:t> x10, x0, NEXT_LABEL	</a:t>
                </a:r>
              </a:p>
              <a:p>
                <a:pPr marL="0" indent="0">
                  <a:buNone/>
                </a:pPr>
                <a:r>
                  <a:rPr lang="en-US" sz="2667" dirty="0"/>
                  <a:t>	next-</a:t>
                </a:r>
                <a:r>
                  <a:rPr lang="en-US" sz="2667" dirty="0" err="1"/>
                  <a:t>inst</a:t>
                </a:r>
                <a:r>
                  <a:rPr lang="en-US" sz="2667" dirty="0"/>
                  <a:t>				j </a:t>
                </a:r>
                <a:r>
                  <a:rPr lang="en-US" sz="2667" dirty="0" err="1"/>
                  <a:t>far_away</a:t>
                </a:r>
                <a:endParaRPr lang="en-US" sz="2667" dirty="0"/>
              </a:p>
              <a:p>
                <a:pPr marL="0" indent="0">
                  <a:buNone/>
                </a:pPr>
                <a:r>
                  <a:rPr lang="en-US" sz="2667" dirty="0"/>
                  <a:t>				NEXT_LABEL: next-</a:t>
                </a:r>
                <a:r>
                  <a:rPr lang="en-US" sz="2667" dirty="0" err="1"/>
                  <a:t>inst</a:t>
                </a:r>
                <a:endParaRPr lang="en-US" sz="2667"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0578" y="1208313"/>
                <a:ext cx="11037009" cy="4831243"/>
              </a:xfrm>
              <a:blipFill>
                <a:blip r:embed="rId4"/>
                <a:stretch>
                  <a:fillRect l="-552" t="-1387"/>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37</a:t>
            </a:fld>
            <a:endParaRPr lang="en-US" dirty="0"/>
          </a:p>
        </p:txBody>
      </p:sp>
      <p:sp>
        <p:nvSpPr>
          <p:cNvPr id="4" name="Arrow: Right 3">
            <a:extLst>
              <a:ext uri="{FF2B5EF4-FFF2-40B4-BE49-F238E27FC236}">
                <a16:creationId xmlns:a16="http://schemas.microsoft.com/office/drawing/2014/main" id="{C05C8ABC-9C2E-4A93-962F-48F2FFD5A398}"/>
              </a:ext>
            </a:extLst>
          </p:cNvPr>
          <p:cNvSpPr/>
          <p:nvPr/>
        </p:nvSpPr>
        <p:spPr bwMode="auto">
          <a:xfrm>
            <a:off x="4786008" y="3842425"/>
            <a:ext cx="978408" cy="484632"/>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252922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06440"/>
            <a:ext cx="8097672" cy="687009"/>
          </a:xfrm>
        </p:spPr>
        <p:txBody>
          <a:bodyPr/>
          <a:lstStyle/>
          <a:p>
            <a:r>
              <a:rPr lang="en-US" sz="4000" dirty="0"/>
              <a:t>LUI and AUIPC Instructions</a:t>
            </a:r>
          </a:p>
        </p:txBody>
      </p:sp>
      <p:sp>
        <p:nvSpPr>
          <p:cNvPr id="3" name="Content Placeholder 2"/>
          <p:cNvSpPr>
            <a:spLocks noGrp="1"/>
          </p:cNvSpPr>
          <p:nvPr>
            <p:ph idx="1"/>
          </p:nvPr>
        </p:nvSpPr>
        <p:spPr>
          <a:xfrm>
            <a:off x="1411111" y="1514966"/>
            <a:ext cx="10137423" cy="4513300"/>
          </a:xfrm>
        </p:spPr>
        <p:txBody>
          <a:bodyPr/>
          <a:lstStyle/>
          <a:p>
            <a:r>
              <a:rPr lang="en-US" sz="2667" dirty="0"/>
              <a:t>Register-immediate instructions (U-type)</a:t>
            </a:r>
          </a:p>
          <a:p>
            <a:pPr lvl="1"/>
            <a:endParaRPr lang="en-US" sz="1600" dirty="0"/>
          </a:p>
          <a:p>
            <a:pPr lvl="1"/>
            <a:endParaRPr lang="en-US" sz="1600" dirty="0"/>
          </a:p>
          <a:p>
            <a:pPr lvl="1"/>
            <a:endParaRPr lang="en-US" sz="1600" dirty="0"/>
          </a:p>
          <a:p>
            <a:pPr lvl="1"/>
            <a:r>
              <a:rPr lang="en-US" sz="2400" dirty="0"/>
              <a:t>opcode = LUI	: 	</a:t>
            </a:r>
            <a:r>
              <a:rPr lang="en-US" sz="2400" dirty="0" err="1">
                <a:solidFill>
                  <a:srgbClr val="56127A"/>
                </a:solidFill>
              </a:rPr>
              <a:t>rd</a:t>
            </a:r>
            <a:r>
              <a:rPr lang="en-US" sz="2400" dirty="0">
                <a:solidFill>
                  <a:srgbClr val="56127A"/>
                </a:solidFill>
              </a:rPr>
              <a:t> </a:t>
            </a:r>
            <a:r>
              <a:rPr lang="en-US" sz="2400" dirty="0">
                <a:solidFill>
                  <a:srgbClr val="56127A"/>
                </a:solidFill>
                <a:sym typeface="Wingdings" panose="05000000000000000000" pitchFamily="2" charset="2"/>
              </a:rPr>
              <a:t> U-</a:t>
            </a:r>
            <a:r>
              <a:rPr lang="en-US" sz="2400" dirty="0" err="1">
                <a:solidFill>
                  <a:srgbClr val="56127A"/>
                </a:solidFill>
                <a:sym typeface="Wingdings" panose="05000000000000000000" pitchFamily="2" charset="2"/>
              </a:rPr>
              <a:t>imm</a:t>
            </a:r>
            <a:r>
              <a:rPr lang="en-US" sz="2400" dirty="0">
                <a:solidFill>
                  <a:srgbClr val="56127A"/>
                </a:solidFill>
                <a:sym typeface="Wingdings" panose="05000000000000000000" pitchFamily="2" charset="2"/>
              </a:rPr>
              <a:t> </a:t>
            </a:r>
          </a:p>
          <a:p>
            <a:pPr lvl="1"/>
            <a:r>
              <a:rPr lang="en-US" sz="2400" dirty="0"/>
              <a:t>opcode = </a:t>
            </a:r>
            <a:r>
              <a:rPr lang="en-US" sz="2400" dirty="0">
                <a:sym typeface="Wingdings" panose="05000000000000000000" pitchFamily="2" charset="2"/>
              </a:rPr>
              <a:t>AUIPC: 	</a:t>
            </a:r>
            <a:r>
              <a:rPr lang="en-US" sz="2400" dirty="0" err="1">
                <a:solidFill>
                  <a:srgbClr val="56127A"/>
                </a:solidFill>
                <a:sym typeface="Wingdings" panose="05000000000000000000" pitchFamily="2" charset="2"/>
              </a:rPr>
              <a:t>rd</a:t>
            </a:r>
            <a:r>
              <a:rPr lang="en-US" sz="2400" dirty="0">
                <a:solidFill>
                  <a:srgbClr val="56127A"/>
                </a:solidFill>
                <a:sym typeface="Wingdings" panose="05000000000000000000" pitchFamily="2" charset="2"/>
              </a:rPr>
              <a:t>  pc + U-</a:t>
            </a:r>
            <a:r>
              <a:rPr lang="en-US" sz="2400" dirty="0" err="1">
                <a:solidFill>
                  <a:srgbClr val="56127A"/>
                </a:solidFill>
                <a:sym typeface="Wingdings" panose="05000000000000000000" pitchFamily="2" charset="2"/>
              </a:rPr>
              <a:t>imm</a:t>
            </a:r>
            <a:endParaRPr lang="en-US" sz="2400" dirty="0">
              <a:solidFill>
                <a:srgbClr val="56127A"/>
              </a:solidFill>
              <a:sym typeface="Wingdings" panose="05000000000000000000" pitchFamily="2" charset="2"/>
            </a:endParaRPr>
          </a:p>
          <a:p>
            <a:pPr lvl="1"/>
            <a:r>
              <a:rPr lang="en-US" sz="2400" dirty="0"/>
              <a:t>U-</a:t>
            </a:r>
            <a:r>
              <a:rPr lang="en-US" sz="2400" dirty="0" err="1"/>
              <a:t>imm</a:t>
            </a:r>
            <a:r>
              <a:rPr lang="en-US" sz="2400" dirty="0"/>
              <a:t> = 		{</a:t>
            </a:r>
            <a:r>
              <a:rPr lang="en-US" sz="2400" dirty="0" err="1"/>
              <a:t>inst</a:t>
            </a:r>
            <a:r>
              <a:rPr lang="en-US" sz="2400" dirty="0"/>
              <a:t>[31:12], 12’b0}</a:t>
            </a:r>
          </a:p>
          <a:p>
            <a:pPr marL="457189" lvl="1" indent="0">
              <a:buNone/>
            </a:pPr>
            <a:endParaRPr lang="en-US" sz="2400" dirty="0"/>
          </a:p>
          <a:p>
            <a:pPr marL="457189" lvl="1" indent="0">
              <a:buNone/>
            </a:pPr>
            <a:r>
              <a:rPr lang="en-US" sz="2400" dirty="0"/>
              <a:t>AUIPC can be used in conjunction with the JALR instruction to jump to a faraway place (greater than </a:t>
            </a:r>
            <a:r>
              <a:rPr lang="en-US" sz="2400" dirty="0">
                <a:solidFill>
                  <a:prstClr val="black"/>
                </a:solidFill>
                <a:cs typeface="+mn-cs"/>
              </a:rPr>
              <a:t>±1MB)</a:t>
            </a:r>
            <a:r>
              <a:rPr lang="en-US" sz="2400" dirty="0"/>
              <a:t>. However, this is not ideal for binary patching (modern software like patching to modify executables on the fly) </a:t>
            </a:r>
          </a:p>
          <a:p>
            <a:pPr marL="457189" lvl="1" indent="0">
              <a:buNone/>
            </a:pPr>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1"/>
            <a:endParaRPr lang="en-US" sz="2000" dirty="0">
              <a:solidFill>
                <a:srgbClr val="56127A"/>
              </a:solidFill>
              <a:sym typeface="Wingdings" panose="05000000000000000000" pitchFamily="2" charset="2"/>
            </a:endParaRPr>
          </a:p>
          <a:p>
            <a:pPr lvl="2"/>
            <a:endParaRPr lang="en-US" sz="1600" dirty="0"/>
          </a:p>
        </p:txBody>
      </p:sp>
      <p:grpSp>
        <p:nvGrpSpPr>
          <p:cNvPr id="9" name="Group 8"/>
          <p:cNvGrpSpPr/>
          <p:nvPr/>
        </p:nvGrpSpPr>
        <p:grpSpPr>
          <a:xfrm>
            <a:off x="2170285" y="1947311"/>
            <a:ext cx="8267207" cy="642123"/>
            <a:chOff x="721854" y="4278336"/>
            <a:chExt cx="8267206" cy="642123"/>
          </a:xfrm>
        </p:grpSpPr>
        <p:sp>
          <p:nvSpPr>
            <p:cNvPr id="10" name="TextBox 9"/>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1" name="TextBox 10"/>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2" name="TextBox 11"/>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13" name="TextBox 12"/>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14" name="TextBox 13"/>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sp>
          <p:nvSpPr>
            <p:cNvPr id="15" name="TextBox 14"/>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4" name="Date Placeholder 3"/>
          <p:cNvSpPr>
            <a:spLocks noGrp="1"/>
          </p:cNvSpPr>
          <p:nvPr>
            <p:ph type="dt" sz="half" idx="10"/>
          </p:nvPr>
        </p:nvSpPr>
        <p:spPr/>
        <p:txBody>
          <a:bodyPr/>
          <a:lstStyle/>
          <a:p>
            <a:pPr>
              <a:defRPr/>
            </a:pPr>
            <a:r>
              <a:rPr lang="en-US" dirty="0"/>
              <a:t>September 27, 2024</a:t>
            </a:r>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16" name="Slide Number Placeholder 1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38</a:t>
            </a:fld>
            <a:endParaRPr lang="en-US" dirty="0"/>
          </a:p>
        </p:txBody>
      </p:sp>
    </p:spTree>
    <p:extLst>
      <p:ext uri="{BB962C8B-B14F-4D97-AF65-F5344CB8AC3E}">
        <p14:creationId xmlns:p14="http://schemas.microsoft.com/office/powerpoint/2010/main" val="1408251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load a 32b const into a register?</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39</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p:txBody>
          <a:bodyPr/>
          <a:lstStyle/>
          <a:p>
            <a:r>
              <a:rPr lang="en-US" sz="3200" dirty="0"/>
              <a:t>Assuming the constant is 0x12345678 (Hexadecimal number)</a:t>
            </a:r>
          </a:p>
          <a:p>
            <a:r>
              <a:rPr lang="en-US" sz="3200" dirty="0"/>
              <a:t>Option 1: store the constant in memory, then use a LW (load word) instruction. (load instruction is usually expensive)</a:t>
            </a:r>
          </a:p>
          <a:p>
            <a:r>
              <a:rPr lang="en-US" sz="3200" dirty="0"/>
              <a:t>Option 2: use the LUI and ADDI instruction pair.</a:t>
            </a:r>
          </a:p>
          <a:p>
            <a:pPr lvl="1"/>
            <a:r>
              <a:rPr lang="en-US" dirty="0" err="1"/>
              <a:t>lui</a:t>
            </a:r>
            <a:r>
              <a:rPr lang="en-US" dirty="0"/>
              <a:t> X1, 0x12345 (move the 20b value to the upper 20b in X1)</a:t>
            </a:r>
          </a:p>
          <a:p>
            <a:pPr marL="457189" lvl="1" indent="0">
              <a:buNone/>
            </a:pPr>
            <a:r>
              <a:rPr lang="en-US" dirty="0"/>
              <a:t>    </a:t>
            </a:r>
            <a:r>
              <a:rPr lang="en-US" dirty="0" err="1"/>
              <a:t>addi</a:t>
            </a:r>
            <a:r>
              <a:rPr lang="en-US" dirty="0"/>
              <a:t> x1, 0x678 (add the lower 12 bits to X1) </a:t>
            </a:r>
          </a:p>
        </p:txBody>
      </p:sp>
      <p:grpSp>
        <p:nvGrpSpPr>
          <p:cNvPr id="10" name="Group 9">
            <a:extLst>
              <a:ext uri="{FF2B5EF4-FFF2-40B4-BE49-F238E27FC236}">
                <a16:creationId xmlns:a16="http://schemas.microsoft.com/office/drawing/2014/main" id="{787C8E9D-769E-4CBC-94CC-772D7271F221}"/>
              </a:ext>
            </a:extLst>
          </p:cNvPr>
          <p:cNvGrpSpPr/>
          <p:nvPr/>
        </p:nvGrpSpPr>
        <p:grpSpPr>
          <a:xfrm>
            <a:off x="1296785" y="4518128"/>
            <a:ext cx="8320288" cy="642123"/>
            <a:chOff x="721854" y="4278336"/>
            <a:chExt cx="8320287" cy="642123"/>
          </a:xfrm>
        </p:grpSpPr>
        <p:sp>
          <p:nvSpPr>
            <p:cNvPr id="11" name="TextBox 10">
              <a:extLst>
                <a:ext uri="{FF2B5EF4-FFF2-40B4-BE49-F238E27FC236}">
                  <a16:creationId xmlns:a16="http://schemas.microsoft.com/office/drawing/2014/main" id="{06CCE1C6-EAF7-4E2A-9F0A-D590C52131EB}"/>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sp>
          <p:nvSpPr>
            <p:cNvPr id="15" name="TextBox 14">
              <a:extLst>
                <a:ext uri="{FF2B5EF4-FFF2-40B4-BE49-F238E27FC236}">
                  <a16:creationId xmlns:a16="http://schemas.microsoft.com/office/drawing/2014/main" id="{FF593FB2-69EF-4BA1-830F-31E9A3DD1BE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16" name="TextBox 15">
              <a:extLst>
                <a:ext uri="{FF2B5EF4-FFF2-40B4-BE49-F238E27FC236}">
                  <a16:creationId xmlns:a16="http://schemas.microsoft.com/office/drawing/2014/main" id="{DE8308B7-8CCA-4D18-8273-FD2DF825F790}"/>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3" name="TextBox 2">
            <a:extLst>
              <a:ext uri="{FF2B5EF4-FFF2-40B4-BE49-F238E27FC236}">
                <a16:creationId xmlns:a16="http://schemas.microsoft.com/office/drawing/2014/main" id="{7556AA28-532E-4A89-9765-2BD99795F002}"/>
              </a:ext>
            </a:extLst>
          </p:cNvPr>
          <p:cNvSpPr txBox="1"/>
          <p:nvPr/>
        </p:nvSpPr>
        <p:spPr>
          <a:xfrm>
            <a:off x="1206475" y="432925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17" name="TextBox 16">
            <a:extLst>
              <a:ext uri="{FF2B5EF4-FFF2-40B4-BE49-F238E27FC236}">
                <a16:creationId xmlns:a16="http://schemas.microsoft.com/office/drawing/2014/main" id="{E781635C-5152-413A-9F22-ECAAF8F04E9C}"/>
              </a:ext>
            </a:extLst>
          </p:cNvPr>
          <p:cNvSpPr txBox="1"/>
          <p:nvPr/>
        </p:nvSpPr>
        <p:spPr>
          <a:xfrm>
            <a:off x="8051368" y="4482693"/>
            <a:ext cx="428322" cy="353943"/>
          </a:xfrm>
          <a:prstGeom prst="rect">
            <a:avLst/>
          </a:prstGeom>
          <a:noFill/>
        </p:spPr>
        <p:txBody>
          <a:bodyPr wrap="none" rtlCol="0">
            <a:spAutoFit/>
          </a:bodyPr>
          <a:lstStyle/>
          <a:p>
            <a:pPr algn="ctr"/>
            <a:r>
              <a:rPr lang="en-US" sz="1700" dirty="0"/>
              <a:t>12</a:t>
            </a:r>
          </a:p>
        </p:txBody>
      </p:sp>
      <p:grpSp>
        <p:nvGrpSpPr>
          <p:cNvPr id="18" name="Group 17">
            <a:extLst>
              <a:ext uri="{FF2B5EF4-FFF2-40B4-BE49-F238E27FC236}">
                <a16:creationId xmlns:a16="http://schemas.microsoft.com/office/drawing/2014/main" id="{C6E5A46C-AA7D-45A2-B134-EA22E73A884A}"/>
              </a:ext>
            </a:extLst>
          </p:cNvPr>
          <p:cNvGrpSpPr/>
          <p:nvPr/>
        </p:nvGrpSpPr>
        <p:grpSpPr>
          <a:xfrm>
            <a:off x="1331712" y="5325080"/>
            <a:ext cx="8320288" cy="642123"/>
            <a:chOff x="721854" y="4278336"/>
            <a:chExt cx="8320287" cy="642123"/>
          </a:xfrm>
        </p:grpSpPr>
        <p:sp>
          <p:nvSpPr>
            <p:cNvPr id="19" name="TextBox 18">
              <a:extLst>
                <a:ext uri="{FF2B5EF4-FFF2-40B4-BE49-F238E27FC236}">
                  <a16:creationId xmlns:a16="http://schemas.microsoft.com/office/drawing/2014/main" id="{F4177F97-AF80-4D61-A3F4-9E1645CBFFF2}"/>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0x678</a:t>
              </a:r>
            </a:p>
          </p:txBody>
        </p:sp>
        <p:sp>
          <p:nvSpPr>
            <p:cNvPr id="20" name="TextBox 19">
              <a:extLst>
                <a:ext uri="{FF2B5EF4-FFF2-40B4-BE49-F238E27FC236}">
                  <a16:creationId xmlns:a16="http://schemas.microsoft.com/office/drawing/2014/main" id="{9BB48325-F02C-4A81-BC0F-9F537CD86F0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21" name="TextBox 20">
              <a:extLst>
                <a:ext uri="{FF2B5EF4-FFF2-40B4-BE49-F238E27FC236}">
                  <a16:creationId xmlns:a16="http://schemas.microsoft.com/office/drawing/2014/main" id="{4FEAF8A2-27BA-4970-9739-656ACC382BCE}"/>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22" name="TextBox 21">
            <a:extLst>
              <a:ext uri="{FF2B5EF4-FFF2-40B4-BE49-F238E27FC236}">
                <a16:creationId xmlns:a16="http://schemas.microsoft.com/office/drawing/2014/main" id="{17BEDF1E-0091-4608-91FD-71F63DB66C4F}"/>
              </a:ext>
            </a:extLst>
          </p:cNvPr>
          <p:cNvSpPr txBox="1"/>
          <p:nvPr/>
        </p:nvSpPr>
        <p:spPr>
          <a:xfrm>
            <a:off x="1241401" y="5136210"/>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23" name="TextBox 22">
            <a:extLst>
              <a:ext uri="{FF2B5EF4-FFF2-40B4-BE49-F238E27FC236}">
                <a16:creationId xmlns:a16="http://schemas.microsoft.com/office/drawing/2014/main" id="{355A6A2A-3CF7-4C8D-B539-22852A1CB5BA}"/>
              </a:ext>
            </a:extLst>
          </p:cNvPr>
          <p:cNvSpPr txBox="1"/>
          <p:nvPr/>
        </p:nvSpPr>
        <p:spPr>
          <a:xfrm>
            <a:off x="8086295" y="5289645"/>
            <a:ext cx="428322" cy="353943"/>
          </a:xfrm>
          <a:prstGeom prst="rect">
            <a:avLst/>
          </a:prstGeom>
          <a:noFill/>
        </p:spPr>
        <p:txBody>
          <a:bodyPr wrap="none" rtlCol="0">
            <a:spAutoFit/>
          </a:bodyPr>
          <a:lstStyle/>
          <a:p>
            <a:pPr algn="ctr"/>
            <a:r>
              <a:rPr lang="en-US" sz="1700" dirty="0"/>
              <a:t>12</a:t>
            </a:r>
          </a:p>
        </p:txBody>
      </p:sp>
    </p:spTree>
    <p:extLst>
      <p:ext uri="{BB962C8B-B14F-4D97-AF65-F5344CB8AC3E}">
        <p14:creationId xmlns:p14="http://schemas.microsoft.com/office/powerpoint/2010/main" val="4208521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Corner case (when the 12b is &gt; 0x800)</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40</a:t>
            </a:fld>
            <a:endParaRPr lang="en-US" dirty="0"/>
          </a:p>
        </p:txBody>
      </p:sp>
      <p:sp>
        <p:nvSpPr>
          <p:cNvPr id="5" name="Content Placeholder 4">
            <a:extLst>
              <a:ext uri="{FF2B5EF4-FFF2-40B4-BE49-F238E27FC236}">
                <a16:creationId xmlns:a16="http://schemas.microsoft.com/office/drawing/2014/main" id="{D68DFEF5-E307-4126-9568-27BD3C50F64D}"/>
              </a:ext>
            </a:extLst>
          </p:cNvPr>
          <p:cNvSpPr>
            <a:spLocks noGrp="1"/>
          </p:cNvSpPr>
          <p:nvPr>
            <p:ph idx="1"/>
          </p:nvPr>
        </p:nvSpPr>
        <p:spPr>
          <a:xfrm>
            <a:off x="619839" y="981075"/>
            <a:ext cx="10972800" cy="4895851"/>
          </a:xfrm>
        </p:spPr>
        <p:txBody>
          <a:bodyPr/>
          <a:lstStyle/>
          <a:p>
            <a:pPr marL="342891" indent="-342891" defTabSz="1219170">
              <a:buClr>
                <a:srgbClr val="8064A2"/>
              </a:buClr>
              <a:defRPr/>
            </a:pPr>
            <a:r>
              <a:rPr lang="en-US" dirty="0"/>
              <a:t>What if the </a:t>
            </a:r>
            <a:r>
              <a:rPr lang="en-US" sz="3200" dirty="0">
                <a:solidFill>
                  <a:prstClr val="black"/>
                </a:solidFill>
              </a:rPr>
              <a:t>constant is 0x12345800 (Hexadecimal number)</a:t>
            </a:r>
          </a:p>
          <a:p>
            <a:pPr marL="457189" lvl="1" indent="0" defTabSz="1219170">
              <a:buClr>
                <a:srgbClr val="8064A2"/>
              </a:buClr>
              <a:buNone/>
              <a:defRPr/>
            </a:pPr>
            <a:r>
              <a:rPr lang="en-US" sz="2667" dirty="0">
                <a:solidFill>
                  <a:prstClr val="black"/>
                </a:solidFill>
              </a:rPr>
              <a:t>	</a:t>
            </a:r>
            <a:r>
              <a:rPr lang="en-US" sz="2667" dirty="0" err="1">
                <a:solidFill>
                  <a:prstClr val="black"/>
                </a:solidFill>
              </a:rPr>
              <a:t>lui</a:t>
            </a:r>
            <a:r>
              <a:rPr lang="en-US" sz="2667" dirty="0">
                <a:solidFill>
                  <a:prstClr val="black"/>
                </a:solidFill>
              </a:rPr>
              <a:t> X1, 0x12345 (move the 20b value to the upper 20b in X1)</a:t>
            </a:r>
          </a:p>
          <a:p>
            <a:pPr marL="457189" lvl="1" indent="0" defTabSz="1219170">
              <a:buClr>
                <a:srgbClr val="8064A2"/>
              </a:buClr>
              <a:buNone/>
              <a:defRPr/>
            </a:pPr>
            <a:r>
              <a:rPr lang="en-US" sz="2667" dirty="0">
                <a:solidFill>
                  <a:prstClr val="black"/>
                </a:solidFill>
              </a:rPr>
              <a:t>    	</a:t>
            </a:r>
            <a:r>
              <a:rPr lang="en-US" sz="2667" dirty="0" err="1">
                <a:solidFill>
                  <a:prstClr val="black"/>
                </a:solidFill>
              </a:rPr>
              <a:t>addi</a:t>
            </a:r>
            <a:r>
              <a:rPr lang="en-US" sz="2667" dirty="0">
                <a:solidFill>
                  <a:prstClr val="black"/>
                </a:solidFill>
              </a:rPr>
              <a:t> x1, 0x800 (add the lower 12 bits to X1) </a:t>
            </a:r>
          </a:p>
          <a:p>
            <a:pPr marL="0" indent="0">
              <a:buNone/>
            </a:pPr>
            <a:endParaRPr lang="en-US" dirty="0"/>
          </a:p>
        </p:txBody>
      </p:sp>
      <p:grpSp>
        <p:nvGrpSpPr>
          <p:cNvPr id="10" name="Group 9">
            <a:extLst>
              <a:ext uri="{FF2B5EF4-FFF2-40B4-BE49-F238E27FC236}">
                <a16:creationId xmlns:a16="http://schemas.microsoft.com/office/drawing/2014/main" id="{787C8E9D-769E-4CBC-94CC-772D7271F221}"/>
              </a:ext>
            </a:extLst>
          </p:cNvPr>
          <p:cNvGrpSpPr/>
          <p:nvPr/>
        </p:nvGrpSpPr>
        <p:grpSpPr>
          <a:xfrm>
            <a:off x="1165011" y="2529837"/>
            <a:ext cx="8320288" cy="642123"/>
            <a:chOff x="721854" y="4278336"/>
            <a:chExt cx="8320287" cy="642123"/>
          </a:xfrm>
        </p:grpSpPr>
        <p:sp>
          <p:nvSpPr>
            <p:cNvPr id="11" name="TextBox 10">
              <a:extLst>
                <a:ext uri="{FF2B5EF4-FFF2-40B4-BE49-F238E27FC236}">
                  <a16:creationId xmlns:a16="http://schemas.microsoft.com/office/drawing/2014/main" id="{06CCE1C6-EAF7-4E2A-9F0A-D590C52131EB}"/>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sp>
          <p:nvSpPr>
            <p:cNvPr id="15" name="TextBox 14">
              <a:extLst>
                <a:ext uri="{FF2B5EF4-FFF2-40B4-BE49-F238E27FC236}">
                  <a16:creationId xmlns:a16="http://schemas.microsoft.com/office/drawing/2014/main" id="{FF593FB2-69EF-4BA1-830F-31E9A3DD1BE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16" name="TextBox 15">
              <a:extLst>
                <a:ext uri="{FF2B5EF4-FFF2-40B4-BE49-F238E27FC236}">
                  <a16:creationId xmlns:a16="http://schemas.microsoft.com/office/drawing/2014/main" id="{DE8308B7-8CCA-4D18-8273-FD2DF825F790}"/>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3" name="TextBox 2">
            <a:extLst>
              <a:ext uri="{FF2B5EF4-FFF2-40B4-BE49-F238E27FC236}">
                <a16:creationId xmlns:a16="http://schemas.microsoft.com/office/drawing/2014/main" id="{7556AA28-532E-4A89-9765-2BD99795F002}"/>
              </a:ext>
            </a:extLst>
          </p:cNvPr>
          <p:cNvSpPr txBox="1"/>
          <p:nvPr/>
        </p:nvSpPr>
        <p:spPr>
          <a:xfrm>
            <a:off x="1074700" y="238923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17" name="TextBox 16">
            <a:extLst>
              <a:ext uri="{FF2B5EF4-FFF2-40B4-BE49-F238E27FC236}">
                <a16:creationId xmlns:a16="http://schemas.microsoft.com/office/drawing/2014/main" id="{E781635C-5152-413A-9F22-ECAAF8F04E9C}"/>
              </a:ext>
            </a:extLst>
          </p:cNvPr>
          <p:cNvSpPr txBox="1"/>
          <p:nvPr/>
        </p:nvSpPr>
        <p:spPr>
          <a:xfrm>
            <a:off x="7622554" y="2553431"/>
            <a:ext cx="428322" cy="353943"/>
          </a:xfrm>
          <a:prstGeom prst="rect">
            <a:avLst/>
          </a:prstGeom>
          <a:noFill/>
        </p:spPr>
        <p:txBody>
          <a:bodyPr wrap="none" rtlCol="0">
            <a:spAutoFit/>
          </a:bodyPr>
          <a:lstStyle/>
          <a:p>
            <a:pPr algn="ctr"/>
            <a:r>
              <a:rPr lang="en-US" sz="1700" dirty="0"/>
              <a:t>12</a:t>
            </a:r>
          </a:p>
        </p:txBody>
      </p:sp>
      <p:grpSp>
        <p:nvGrpSpPr>
          <p:cNvPr id="18" name="Group 17">
            <a:extLst>
              <a:ext uri="{FF2B5EF4-FFF2-40B4-BE49-F238E27FC236}">
                <a16:creationId xmlns:a16="http://schemas.microsoft.com/office/drawing/2014/main" id="{C6E5A46C-AA7D-45A2-B134-EA22E73A884A}"/>
              </a:ext>
            </a:extLst>
          </p:cNvPr>
          <p:cNvGrpSpPr/>
          <p:nvPr/>
        </p:nvGrpSpPr>
        <p:grpSpPr>
          <a:xfrm>
            <a:off x="1165011" y="3268127"/>
            <a:ext cx="8320288" cy="642123"/>
            <a:chOff x="721854" y="4278336"/>
            <a:chExt cx="8320287" cy="642123"/>
          </a:xfrm>
        </p:grpSpPr>
        <p:sp>
          <p:nvSpPr>
            <p:cNvPr id="19" name="TextBox 18">
              <a:extLst>
                <a:ext uri="{FF2B5EF4-FFF2-40B4-BE49-F238E27FC236}">
                  <a16:creationId xmlns:a16="http://schemas.microsoft.com/office/drawing/2014/main" id="{F4177F97-AF80-4D61-A3F4-9E1645CBFFF2}"/>
                </a:ext>
              </a:extLst>
            </p:cNvPr>
            <p:cNvSpPr txBox="1"/>
            <p:nvPr/>
          </p:nvSpPr>
          <p:spPr>
            <a:xfrm>
              <a:off x="6786727" y="4566516"/>
              <a:ext cx="2255414"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0x800</a:t>
              </a:r>
            </a:p>
          </p:txBody>
        </p:sp>
        <p:sp>
          <p:nvSpPr>
            <p:cNvPr id="20" name="TextBox 19">
              <a:extLst>
                <a:ext uri="{FF2B5EF4-FFF2-40B4-BE49-F238E27FC236}">
                  <a16:creationId xmlns:a16="http://schemas.microsoft.com/office/drawing/2014/main" id="{9BB48325-F02C-4A81-BC0F-9F537CD86F0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0x12345</a:t>
              </a:r>
            </a:p>
          </p:txBody>
        </p:sp>
        <p:sp>
          <p:nvSpPr>
            <p:cNvPr id="21" name="TextBox 20">
              <a:extLst>
                <a:ext uri="{FF2B5EF4-FFF2-40B4-BE49-F238E27FC236}">
                  <a16:creationId xmlns:a16="http://schemas.microsoft.com/office/drawing/2014/main" id="{4FEAF8A2-27BA-4970-9739-656ACC382BCE}"/>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sp>
        <p:nvSpPr>
          <p:cNvPr id="22" name="TextBox 21">
            <a:extLst>
              <a:ext uri="{FF2B5EF4-FFF2-40B4-BE49-F238E27FC236}">
                <a16:creationId xmlns:a16="http://schemas.microsoft.com/office/drawing/2014/main" id="{17BEDF1E-0091-4608-91FD-71F63DB66C4F}"/>
              </a:ext>
            </a:extLst>
          </p:cNvPr>
          <p:cNvSpPr txBox="1"/>
          <p:nvPr/>
        </p:nvSpPr>
        <p:spPr>
          <a:xfrm>
            <a:off x="1074700" y="3137748"/>
            <a:ext cx="561372"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X1</a:t>
            </a:r>
          </a:p>
        </p:txBody>
      </p:sp>
      <p:sp>
        <p:nvSpPr>
          <p:cNvPr id="23" name="TextBox 22">
            <a:extLst>
              <a:ext uri="{FF2B5EF4-FFF2-40B4-BE49-F238E27FC236}">
                <a16:creationId xmlns:a16="http://schemas.microsoft.com/office/drawing/2014/main" id="{355A6A2A-3CF7-4C8D-B539-22852A1CB5BA}"/>
              </a:ext>
            </a:extLst>
          </p:cNvPr>
          <p:cNvSpPr txBox="1"/>
          <p:nvPr/>
        </p:nvSpPr>
        <p:spPr>
          <a:xfrm>
            <a:off x="7622554" y="3265307"/>
            <a:ext cx="428322" cy="353943"/>
          </a:xfrm>
          <a:prstGeom prst="rect">
            <a:avLst/>
          </a:prstGeom>
          <a:noFill/>
        </p:spPr>
        <p:txBody>
          <a:bodyPr wrap="none" rtlCol="0">
            <a:spAutoFit/>
          </a:bodyPr>
          <a:lstStyle/>
          <a:p>
            <a:pPr algn="ctr"/>
            <a:r>
              <a:rPr lang="en-US" sz="1700" dirty="0"/>
              <a:t>12</a:t>
            </a:r>
          </a:p>
        </p:txBody>
      </p:sp>
      <p:sp>
        <p:nvSpPr>
          <p:cNvPr id="4" name="TextBox 3">
            <a:extLst>
              <a:ext uri="{FF2B5EF4-FFF2-40B4-BE49-F238E27FC236}">
                <a16:creationId xmlns:a16="http://schemas.microsoft.com/office/drawing/2014/main" id="{F2B7D28C-97AF-4B4E-A126-AC77C0E446EC}"/>
              </a:ext>
            </a:extLst>
          </p:cNvPr>
          <p:cNvSpPr txBox="1"/>
          <p:nvPr/>
        </p:nvSpPr>
        <p:spPr>
          <a:xfrm>
            <a:off x="1074701" y="4068809"/>
            <a:ext cx="3321743" cy="461665"/>
          </a:xfrm>
          <a:prstGeom prst="rect">
            <a:avLst/>
          </a:prstGeom>
          <a:noFill/>
        </p:spPr>
        <p:txBody>
          <a:bodyPr wrap="none" rtlCol="0" anchor="ctr" anchorCtr="1">
            <a:spAutoFit/>
          </a:bodyPr>
          <a:lstStyle/>
          <a:p>
            <a:r>
              <a:rPr lang="en-US" sz="2400" dirty="0" err="1">
                <a:ea typeface="標楷體" pitchFamily="65" charset="-120"/>
                <a:cs typeface="Calibri" panose="020F0502020204030204" pitchFamily="34" charset="0"/>
              </a:rPr>
              <a:t>addi</a:t>
            </a:r>
            <a:r>
              <a:rPr lang="en-US" sz="2400" dirty="0">
                <a:ea typeface="標楷體" pitchFamily="65" charset="-120"/>
                <a:cs typeface="Calibri" panose="020F0502020204030204" pitchFamily="34" charset="0"/>
              </a:rPr>
              <a:t> x1,100000000000</a:t>
            </a:r>
          </a:p>
        </p:txBody>
      </p:sp>
      <p:sp>
        <p:nvSpPr>
          <p:cNvPr id="6" name="TextBox 5">
            <a:extLst>
              <a:ext uri="{FF2B5EF4-FFF2-40B4-BE49-F238E27FC236}">
                <a16:creationId xmlns:a16="http://schemas.microsoft.com/office/drawing/2014/main" id="{ABE99FBE-7A20-4E99-A615-D88B9B586C78}"/>
              </a:ext>
            </a:extLst>
          </p:cNvPr>
          <p:cNvSpPr txBox="1"/>
          <p:nvPr/>
        </p:nvSpPr>
        <p:spPr>
          <a:xfrm>
            <a:off x="4327769" y="4052780"/>
            <a:ext cx="7528023" cy="461665"/>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The sign bit is on, and the immediate is sign extended</a:t>
            </a:r>
          </a:p>
        </p:txBody>
      </p:sp>
      <p:sp>
        <p:nvSpPr>
          <p:cNvPr id="24" name="TextBox 23">
            <a:extLst>
              <a:ext uri="{FF2B5EF4-FFF2-40B4-BE49-F238E27FC236}">
                <a16:creationId xmlns:a16="http://schemas.microsoft.com/office/drawing/2014/main" id="{325A0624-E0A8-43A1-A35A-E2CEFEDFDC69}"/>
              </a:ext>
            </a:extLst>
          </p:cNvPr>
          <p:cNvSpPr txBox="1"/>
          <p:nvPr/>
        </p:nvSpPr>
        <p:spPr>
          <a:xfrm>
            <a:off x="454781" y="4550706"/>
            <a:ext cx="11330819" cy="1446358"/>
          </a:xfrm>
          <a:prstGeom prst="rect">
            <a:avLst/>
          </a:prstGeom>
          <a:noFill/>
        </p:spPr>
        <p:txBody>
          <a:bodyPr wrap="square" rtlCol="0" anchor="ctr" anchorCtr="1">
            <a:spAutoFit/>
          </a:bodyPr>
          <a:lstStyle/>
          <a:p>
            <a:r>
              <a:rPr lang="en-US" sz="2133" dirty="0">
                <a:ea typeface="標楷體" pitchFamily="65" charset="-120"/>
                <a:cs typeface="Calibri" panose="020F0502020204030204" pitchFamily="34" charset="0"/>
              </a:rPr>
              <a:t>So the value becomes FFFFF8000 in the 32b temporary register !! Bad news!!</a:t>
            </a:r>
          </a:p>
          <a:p>
            <a:r>
              <a:rPr lang="en-US" sz="2133" dirty="0">
                <a:ea typeface="標楷體" pitchFamily="65" charset="-120"/>
                <a:cs typeface="Calibri" panose="020F0502020204030204" pitchFamily="34" charset="0"/>
              </a:rPr>
              <a:t>Some adjustments are needed. (</a:t>
            </a:r>
            <a:r>
              <a:rPr lang="en-US" sz="2133" i="1" dirty="0">
                <a:ea typeface="標楷體" pitchFamily="65" charset="-120"/>
                <a:cs typeface="Calibri" panose="020F0502020204030204" pitchFamily="34" charset="0"/>
              </a:rPr>
              <a:t>perhaps add 1 to 0x1235, make it to 0x12346</a:t>
            </a:r>
            <a:r>
              <a:rPr lang="en-US" sz="2133" dirty="0">
                <a:ea typeface="標楷體" pitchFamily="65" charset="-120"/>
                <a:cs typeface="Calibri" panose="020F0502020204030204" pitchFamily="34" charset="0"/>
              </a:rPr>
              <a:t>). </a:t>
            </a:r>
          </a:p>
          <a:p>
            <a:r>
              <a:rPr lang="en-US" sz="2133" dirty="0">
                <a:ea typeface="標楷體" pitchFamily="65" charset="-120"/>
                <a:cs typeface="Calibri" panose="020F0502020204030204" pitchFamily="34" charset="0"/>
              </a:rPr>
              <a:t>Don’t worry about this, just use the </a:t>
            </a:r>
          </a:p>
          <a:p>
            <a:r>
              <a:rPr lang="en-US" sz="2133" dirty="0">
                <a:solidFill>
                  <a:srgbClr val="FF0000"/>
                </a:solidFill>
                <a:ea typeface="標楷體" pitchFamily="65" charset="-120"/>
                <a:cs typeface="Calibri" panose="020F0502020204030204" pitchFamily="34" charset="0"/>
              </a:rPr>
              <a:t>Li X1, 0x12345800 </a:t>
            </a:r>
            <a:r>
              <a:rPr lang="en-US" sz="2400" b="1" dirty="0">
                <a:solidFill>
                  <a:srgbClr val="FF0000"/>
                </a:solidFill>
                <a:ea typeface="標楷體" pitchFamily="65" charset="-120"/>
                <a:cs typeface="Calibri" panose="020F0502020204030204" pitchFamily="34" charset="0"/>
              </a:rPr>
              <a:t>pseudo</a:t>
            </a:r>
            <a:r>
              <a:rPr lang="en-US" sz="2133" dirty="0">
                <a:solidFill>
                  <a:srgbClr val="FF0000"/>
                </a:solidFill>
                <a:ea typeface="標楷體" pitchFamily="65" charset="-120"/>
                <a:cs typeface="Calibri" panose="020F0502020204030204" pitchFamily="34" charset="0"/>
              </a:rPr>
              <a:t> instructions</a:t>
            </a:r>
            <a:r>
              <a:rPr lang="en-US" sz="2133" dirty="0">
                <a:ea typeface="標楷體" pitchFamily="65" charset="-120"/>
                <a:cs typeface="Calibri" panose="020F0502020204030204" pitchFamily="34" charset="0"/>
              </a:rPr>
              <a:t>, the assembler will handle the needed adjustments.</a:t>
            </a:r>
          </a:p>
        </p:txBody>
      </p:sp>
    </p:spTree>
    <p:extLst>
      <p:ext uri="{BB962C8B-B14F-4D97-AF65-F5344CB8AC3E}">
        <p14:creationId xmlns:p14="http://schemas.microsoft.com/office/powerpoint/2010/main" val="747475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Compiling two C statements into RV</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41</a:t>
            </a:fld>
            <a:endParaRPr lang="zh-TW" altLang="en-US"/>
          </a:p>
        </p:txBody>
      </p:sp>
      <p:sp>
        <p:nvSpPr>
          <p:cNvPr id="10" name="Content Placeholder 4">
            <a:extLst>
              <a:ext uri="{FF2B5EF4-FFF2-40B4-BE49-F238E27FC236}">
                <a16:creationId xmlns:a16="http://schemas.microsoft.com/office/drawing/2014/main" id="{0C29EB4F-E805-4706-8D83-529331B07198}"/>
              </a:ext>
            </a:extLst>
          </p:cNvPr>
          <p:cNvSpPr txBox="1">
            <a:spLocks/>
          </p:cNvSpPr>
          <p:nvPr/>
        </p:nvSpPr>
        <p:spPr bwMode="auto">
          <a:xfrm>
            <a:off x="598311" y="981425"/>
            <a:ext cx="11176000" cy="1150408"/>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Example: </a:t>
            </a:r>
          </a:p>
          <a:p>
            <a:r>
              <a:rPr lang="en-US" sz="3200" kern="0" dirty="0"/>
              <a:t>1) a = b + c; d = a – e;		2) f = (</a:t>
            </a:r>
            <a:r>
              <a:rPr lang="en-US" sz="3200" kern="0" dirty="0" err="1"/>
              <a:t>g+h</a:t>
            </a:r>
            <a:r>
              <a:rPr lang="en-US" sz="3200" kern="0" dirty="0"/>
              <a:t>) – (</a:t>
            </a:r>
            <a:r>
              <a:rPr lang="en-US" sz="3200" kern="0" dirty="0" err="1"/>
              <a:t>i+j</a:t>
            </a:r>
            <a:r>
              <a:rPr lang="en-US" sz="3200" kern="0" dirty="0"/>
              <a:t>)</a:t>
            </a:r>
          </a:p>
        </p:txBody>
      </p:sp>
      <p:sp>
        <p:nvSpPr>
          <p:cNvPr id="11" name="Content Placeholder 4">
            <a:extLst>
              <a:ext uri="{FF2B5EF4-FFF2-40B4-BE49-F238E27FC236}">
                <a16:creationId xmlns:a16="http://schemas.microsoft.com/office/drawing/2014/main" id="{85FA1443-90D2-4C20-BA6D-7EA3589278E3}"/>
              </a:ext>
            </a:extLst>
          </p:cNvPr>
          <p:cNvSpPr txBox="1">
            <a:spLocks/>
          </p:cNvSpPr>
          <p:nvPr/>
        </p:nvSpPr>
        <p:spPr bwMode="auto">
          <a:xfrm>
            <a:off x="598311" y="2300459"/>
            <a:ext cx="11176000" cy="164606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add a, b, c				add t0, g, h</a:t>
            </a:r>
          </a:p>
          <a:p>
            <a:r>
              <a:rPr lang="en-US" sz="3200" kern="0" dirty="0"/>
              <a:t>sub d, a, e 				add t1, </a:t>
            </a:r>
            <a:r>
              <a:rPr lang="en-US" sz="3200" kern="0" dirty="0" err="1"/>
              <a:t>i</a:t>
            </a:r>
            <a:r>
              <a:rPr lang="en-US" sz="3200" kern="0" dirty="0"/>
              <a:t>, j</a:t>
            </a:r>
          </a:p>
          <a:p>
            <a:r>
              <a:rPr lang="en-US" sz="3200" kern="0" dirty="0"/>
              <a:t>					sub f, t0, t1</a:t>
            </a:r>
          </a:p>
        </p:txBody>
      </p:sp>
      <p:sp>
        <p:nvSpPr>
          <p:cNvPr id="12" name="Content Placeholder 4">
            <a:extLst>
              <a:ext uri="{FF2B5EF4-FFF2-40B4-BE49-F238E27FC236}">
                <a16:creationId xmlns:a16="http://schemas.microsoft.com/office/drawing/2014/main" id="{CCC981E5-6904-458A-8E3C-8249711668D1}"/>
              </a:ext>
            </a:extLst>
          </p:cNvPr>
          <p:cNvSpPr txBox="1">
            <a:spLocks/>
          </p:cNvSpPr>
          <p:nvPr/>
        </p:nvSpPr>
        <p:spPr bwMode="auto">
          <a:xfrm>
            <a:off x="598311" y="4526497"/>
            <a:ext cx="11176000" cy="164606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r>
              <a:rPr lang="en-US" sz="3200" kern="0" dirty="0"/>
              <a:t>add x1, x2, x3			add x5, x20, x21</a:t>
            </a:r>
          </a:p>
          <a:p>
            <a:r>
              <a:rPr lang="en-US" sz="3200" kern="0" dirty="0"/>
              <a:t>sub x4, x1, x5 			add x6, x22, x23</a:t>
            </a:r>
          </a:p>
          <a:p>
            <a:r>
              <a:rPr lang="en-US" sz="3200" kern="0" dirty="0"/>
              <a:t>					sub x19, x5, x6</a:t>
            </a:r>
          </a:p>
        </p:txBody>
      </p:sp>
      <p:sp>
        <p:nvSpPr>
          <p:cNvPr id="13" name="TextBox 12">
            <a:extLst>
              <a:ext uri="{FF2B5EF4-FFF2-40B4-BE49-F238E27FC236}">
                <a16:creationId xmlns:a16="http://schemas.microsoft.com/office/drawing/2014/main" id="{2E35211B-DD24-4F12-8CDA-9D49D292F5E7}"/>
              </a:ext>
            </a:extLst>
          </p:cNvPr>
          <p:cNvSpPr txBox="1"/>
          <p:nvPr/>
        </p:nvSpPr>
        <p:spPr>
          <a:xfrm>
            <a:off x="9144995" y="1590005"/>
            <a:ext cx="1391728" cy="1938992"/>
          </a:xfrm>
          <a:prstGeom prst="rect">
            <a:avLst/>
          </a:prstGeom>
          <a:noFill/>
        </p:spPr>
        <p:txBody>
          <a:bodyPr wrap="none" rtlCol="0" anchor="ctr" anchorCtr="1">
            <a:spAutoFit/>
          </a:bodyPr>
          <a:lstStyle/>
          <a:p>
            <a:r>
              <a:rPr lang="en-US" sz="2400" dirty="0">
                <a:ea typeface="標楷體" pitchFamily="65" charset="-120"/>
                <a:cs typeface="Calibri" panose="020F0502020204030204" pitchFamily="34" charset="0"/>
              </a:rPr>
              <a:t>f  </a:t>
            </a:r>
            <a:r>
              <a:rPr lang="en-US" sz="2400" dirty="0">
                <a:ea typeface="標楷體" pitchFamily="65" charset="-120"/>
                <a:cs typeface="Calibri" panose="020F0502020204030204" pitchFamily="34" charset="0"/>
                <a:sym typeface="Wingdings" panose="05000000000000000000" pitchFamily="2" charset="2"/>
              </a:rPr>
              <a:t> x19</a:t>
            </a:r>
          </a:p>
          <a:p>
            <a:r>
              <a:rPr lang="en-US" sz="2400" dirty="0">
                <a:ea typeface="標楷體" pitchFamily="65" charset="-120"/>
                <a:cs typeface="Calibri" panose="020F0502020204030204" pitchFamily="34" charset="0"/>
                <a:sym typeface="Wingdings" panose="05000000000000000000" pitchFamily="2" charset="2"/>
              </a:rPr>
              <a:t>g  x20</a:t>
            </a:r>
          </a:p>
          <a:p>
            <a:r>
              <a:rPr lang="en-US" sz="2400" dirty="0">
                <a:ea typeface="標楷體" pitchFamily="65" charset="-120"/>
                <a:cs typeface="Calibri" panose="020F0502020204030204" pitchFamily="34" charset="0"/>
                <a:sym typeface="Wingdings" panose="05000000000000000000" pitchFamily="2" charset="2"/>
              </a:rPr>
              <a:t>h  x21</a:t>
            </a:r>
          </a:p>
          <a:p>
            <a:r>
              <a:rPr lang="en-US" sz="2400" dirty="0" err="1">
                <a:ea typeface="標楷體" pitchFamily="65" charset="-120"/>
                <a:cs typeface="Calibri" panose="020F0502020204030204" pitchFamily="34" charset="0"/>
                <a:sym typeface="Wingdings" panose="05000000000000000000" pitchFamily="2" charset="2"/>
              </a:rPr>
              <a:t>i</a:t>
            </a:r>
            <a:r>
              <a:rPr lang="en-US" sz="2400" dirty="0">
                <a:ea typeface="標楷體" pitchFamily="65" charset="-120"/>
                <a:cs typeface="Calibri" panose="020F0502020204030204" pitchFamily="34" charset="0"/>
                <a:sym typeface="Wingdings" panose="05000000000000000000" pitchFamily="2" charset="2"/>
              </a:rPr>
              <a:t>    x22</a:t>
            </a:r>
          </a:p>
          <a:p>
            <a:r>
              <a:rPr lang="en-US" sz="2400" dirty="0">
                <a:ea typeface="標楷體" pitchFamily="65" charset="-120"/>
                <a:cs typeface="Calibri" panose="020F0502020204030204" pitchFamily="34" charset="0"/>
              </a:rPr>
              <a:t>J </a:t>
            </a:r>
            <a:r>
              <a:rPr lang="en-US" sz="2400" dirty="0">
                <a:ea typeface="標楷體" pitchFamily="65" charset="-120"/>
                <a:cs typeface="Calibri" panose="020F0502020204030204" pitchFamily="34" charset="0"/>
                <a:sym typeface="Wingdings" panose="05000000000000000000" pitchFamily="2" charset="2"/>
              </a:rPr>
              <a:t>  x23</a:t>
            </a:r>
            <a:endParaRPr lang="en-US" sz="2400" dirty="0">
              <a:ea typeface="標楷體" pitchFamily="65" charset="-120"/>
              <a:cs typeface="Calibri" panose="020F0502020204030204" pitchFamily="34" charset="0"/>
            </a:endParaRPr>
          </a:p>
        </p:txBody>
      </p:sp>
      <p:sp>
        <p:nvSpPr>
          <p:cNvPr id="2" name="TextBox 1">
            <a:extLst>
              <a:ext uri="{FF2B5EF4-FFF2-40B4-BE49-F238E27FC236}">
                <a16:creationId xmlns:a16="http://schemas.microsoft.com/office/drawing/2014/main" id="{63156250-5129-4BEA-90EB-25B96B2AD387}"/>
              </a:ext>
            </a:extLst>
          </p:cNvPr>
          <p:cNvSpPr txBox="1"/>
          <p:nvPr/>
        </p:nvSpPr>
        <p:spPr>
          <a:xfrm>
            <a:off x="8847629" y="4447936"/>
            <a:ext cx="2491388" cy="1405256"/>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Note that registers </a:t>
            </a:r>
          </a:p>
          <a:p>
            <a:r>
              <a:rPr lang="en-US" sz="2133" dirty="0">
                <a:ea typeface="標楷體" pitchFamily="65" charset="-120"/>
                <a:cs typeface="Calibri" panose="020F0502020204030204" pitchFamily="34" charset="0"/>
              </a:rPr>
              <a:t>can be allocated to</a:t>
            </a:r>
          </a:p>
          <a:p>
            <a:r>
              <a:rPr lang="en-US" sz="2133" dirty="0">
                <a:ea typeface="標楷體" pitchFamily="65" charset="-120"/>
                <a:cs typeface="Calibri" panose="020F0502020204030204" pitchFamily="34" charset="0"/>
              </a:rPr>
              <a:t>scalar variables or</a:t>
            </a:r>
          </a:p>
          <a:p>
            <a:r>
              <a:rPr lang="en-US" sz="2133" dirty="0">
                <a:ea typeface="標楷體" pitchFamily="65" charset="-120"/>
                <a:cs typeface="Calibri" panose="020F0502020204030204" pitchFamily="34" charset="0"/>
              </a:rPr>
              <a:t>temporaries.</a:t>
            </a:r>
          </a:p>
        </p:txBody>
      </p:sp>
    </p:spTree>
    <p:extLst>
      <p:ext uri="{BB962C8B-B14F-4D97-AF65-F5344CB8AC3E}">
        <p14:creationId xmlns:p14="http://schemas.microsoft.com/office/powerpoint/2010/main" val="114859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Memory Operands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42</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395739"/>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Simple variables may be allocated in registers. How about complex data structures such as </a:t>
            </a:r>
            <a:r>
              <a:rPr lang="en-US" sz="2400" kern="0" dirty="0">
                <a:solidFill>
                  <a:srgbClr val="FF0000"/>
                </a:solidFill>
              </a:rPr>
              <a:t>arrays, strings,</a:t>
            </a:r>
            <a:r>
              <a:rPr lang="en-US" sz="2400" kern="0" dirty="0"/>
              <a:t> and </a:t>
            </a:r>
            <a:r>
              <a:rPr lang="en-US" sz="2400" kern="0" dirty="0">
                <a:solidFill>
                  <a:srgbClr val="FF0000"/>
                </a:solidFill>
              </a:rPr>
              <a:t>structures</a:t>
            </a:r>
            <a:r>
              <a:rPr lang="en-US" sz="2400" kern="0" dirty="0"/>
              <a:t>?  </a:t>
            </a:r>
          </a:p>
          <a:p>
            <a:pPr marL="380990" indent="-380990">
              <a:buFont typeface="Wingdings" panose="05000000000000000000" pitchFamily="2" charset="2"/>
              <a:buChar char="§"/>
            </a:pPr>
            <a:r>
              <a:rPr lang="en-US" sz="2400" kern="0" dirty="0"/>
              <a:t>Arrays, structures, and strings will be stored in the memory.</a:t>
            </a:r>
          </a:p>
          <a:p>
            <a:pPr marL="380990" indent="-380990">
              <a:buFont typeface="Wingdings" panose="05000000000000000000" pitchFamily="2" charset="2"/>
              <a:buChar char="§"/>
            </a:pPr>
            <a:r>
              <a:rPr lang="en-US" sz="2400" kern="0" dirty="0"/>
              <a:t>We specify the address of the data we need and use load instructions to move it to registers.</a:t>
            </a:r>
          </a:p>
          <a:p>
            <a:pPr marL="380990" indent="-380990">
              <a:buFont typeface="Wingdings" panose="05000000000000000000" pitchFamily="2" charset="2"/>
              <a:buChar char="§"/>
            </a:pPr>
            <a:r>
              <a:rPr lang="en-US" sz="2400" kern="0" dirty="0"/>
              <a:t>For example, to reference A[8], suppose A is a 32b integer array, with the starting address stored in register X1. Then, the following load-word instruction will be used:</a:t>
            </a:r>
          </a:p>
          <a:p>
            <a:r>
              <a:rPr lang="en-US" sz="2400" kern="0" dirty="0"/>
              <a:t>		</a:t>
            </a:r>
            <a:r>
              <a:rPr lang="en-US" sz="2400" kern="0" dirty="0" err="1"/>
              <a:t>lw</a:t>
            </a:r>
            <a:r>
              <a:rPr lang="en-US" sz="2400" kern="0" dirty="0"/>
              <a:t> X2, 32(X1); 32 is the offset to the base address.</a:t>
            </a:r>
          </a:p>
          <a:p>
            <a:pPr marL="380990" indent="-380990">
              <a:buFont typeface="Arial" panose="020B0604020202020204" pitchFamily="34" charset="0"/>
              <a:buChar char="•"/>
            </a:pPr>
            <a:r>
              <a:rPr lang="en-US" sz="2400" kern="0" dirty="0"/>
              <a:t>The offset is calculated as 4 x 8 (4 is the word size, and 8 is the index of array A). RV does not use 8(X1), because most machines use byte addresses rather than word or double word addresses.</a:t>
            </a:r>
          </a:p>
          <a:p>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15047188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Exercises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43</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643466" y="897466"/>
            <a:ext cx="10566399" cy="2325511"/>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Suppose A is a 64b long </a:t>
            </a:r>
            <a:r>
              <a:rPr lang="en-US" sz="2400" kern="0" dirty="0" err="1"/>
              <a:t>long</a:t>
            </a:r>
            <a:r>
              <a:rPr lang="en-US" sz="2400" kern="0" dirty="0"/>
              <a:t> int array, with the starting address stored in register X1. what instruction should be used to access A[100]?</a:t>
            </a:r>
          </a:p>
          <a:p>
            <a:r>
              <a:rPr lang="en-US" sz="2400" kern="0" dirty="0"/>
              <a:t>	1) LW X2, 100(X1)</a:t>
            </a:r>
          </a:p>
          <a:p>
            <a:r>
              <a:rPr lang="en-US" sz="2400" kern="0" dirty="0"/>
              <a:t>	2) LB   X2, 800(x1)</a:t>
            </a:r>
          </a:p>
          <a:p>
            <a:r>
              <a:rPr lang="en-US" sz="2400" kern="0" dirty="0"/>
              <a:t>	3) LD   X2, 800(X1)	</a:t>
            </a:r>
          </a:p>
          <a:p>
            <a:pPr marL="838179" lvl="1" indent="-380990">
              <a:buFont typeface="Wingdings" panose="05000000000000000000" pitchFamily="2" charset="2"/>
              <a:buChar char="§"/>
            </a:pPr>
            <a:endParaRPr lang="en-US" sz="467" kern="0" dirty="0"/>
          </a:p>
        </p:txBody>
      </p:sp>
      <p:sp>
        <p:nvSpPr>
          <p:cNvPr id="5" name="Content Placeholder 2">
            <a:extLst>
              <a:ext uri="{FF2B5EF4-FFF2-40B4-BE49-F238E27FC236}">
                <a16:creationId xmlns:a16="http://schemas.microsoft.com/office/drawing/2014/main" id="{217BE57A-4626-4412-A4E5-DBB5511F3C2F}"/>
              </a:ext>
            </a:extLst>
          </p:cNvPr>
          <p:cNvSpPr txBox="1">
            <a:spLocks/>
          </p:cNvSpPr>
          <p:nvPr/>
        </p:nvSpPr>
        <p:spPr bwMode="auto">
          <a:xfrm>
            <a:off x="553154" y="3307642"/>
            <a:ext cx="10566399" cy="3019601"/>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Struct  S1 { int green; int red; int blue} A[]; </a:t>
            </a:r>
          </a:p>
          <a:p>
            <a:r>
              <a:rPr lang="en-US" sz="2400" kern="0" dirty="0"/>
              <a:t>Suppose A is an array of structure S1, and the starting address of A is stored in register X1. what instruction should be used to access A[100].red?</a:t>
            </a:r>
          </a:p>
          <a:p>
            <a:r>
              <a:rPr lang="en-US" sz="2400" kern="0" dirty="0"/>
              <a:t>	1) LW X2, 100(X1)</a:t>
            </a:r>
          </a:p>
          <a:p>
            <a:r>
              <a:rPr lang="en-US" sz="2400" kern="0" dirty="0"/>
              <a:t>	2) LW X2, 1204(x1)</a:t>
            </a:r>
          </a:p>
          <a:p>
            <a:r>
              <a:rPr lang="en-US" sz="2400" kern="0" dirty="0"/>
              <a:t>	3) LW X2, 1200(X1)</a:t>
            </a:r>
          </a:p>
          <a:p>
            <a:r>
              <a:rPr lang="en-US" sz="2400" kern="0" dirty="0"/>
              <a:t>	4) LW X2, 104(X1)	</a:t>
            </a:r>
          </a:p>
          <a:p>
            <a:pPr marL="838179" lvl="1" indent="-380990">
              <a:buFont typeface="Wingdings" panose="05000000000000000000" pitchFamily="2" charset="2"/>
              <a:buChar char="§"/>
            </a:pPr>
            <a:endParaRPr lang="en-US" sz="467" kern="0" dirty="0"/>
          </a:p>
        </p:txBody>
      </p:sp>
      <p:sp>
        <p:nvSpPr>
          <p:cNvPr id="2" name="TextBox 1">
            <a:extLst>
              <a:ext uri="{FF2B5EF4-FFF2-40B4-BE49-F238E27FC236}">
                <a16:creationId xmlns:a16="http://schemas.microsoft.com/office/drawing/2014/main" id="{0D221EDB-EBBF-4879-ABC4-E2BEE165657B}"/>
              </a:ext>
            </a:extLst>
          </p:cNvPr>
          <p:cNvSpPr txBox="1"/>
          <p:nvPr/>
        </p:nvSpPr>
        <p:spPr>
          <a:xfrm>
            <a:off x="9782628" y="2598396"/>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3</a:t>
            </a:r>
          </a:p>
        </p:txBody>
      </p:sp>
      <p:sp>
        <p:nvSpPr>
          <p:cNvPr id="7" name="TextBox 6">
            <a:extLst>
              <a:ext uri="{FF2B5EF4-FFF2-40B4-BE49-F238E27FC236}">
                <a16:creationId xmlns:a16="http://schemas.microsoft.com/office/drawing/2014/main" id="{9D1C025D-DE69-4EAA-BDEC-75FF2670BCD3}"/>
              </a:ext>
            </a:extLst>
          </p:cNvPr>
          <p:cNvSpPr txBox="1"/>
          <p:nvPr/>
        </p:nvSpPr>
        <p:spPr>
          <a:xfrm>
            <a:off x="9889067" y="4985742"/>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2</a:t>
            </a:r>
          </a:p>
        </p:txBody>
      </p:sp>
    </p:spTree>
    <p:extLst>
      <p:ext uri="{BB962C8B-B14F-4D97-AF65-F5344CB8AC3E}">
        <p14:creationId xmlns:p14="http://schemas.microsoft.com/office/powerpoint/2010/main" val="42405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A More Challenging Exercises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44</a:t>
            </a:fld>
            <a:endParaRPr lang="zh-TW" altLang="en-US"/>
          </a:p>
        </p:txBody>
      </p:sp>
      <p:sp>
        <p:nvSpPr>
          <p:cNvPr id="5" name="Content Placeholder 2">
            <a:extLst>
              <a:ext uri="{FF2B5EF4-FFF2-40B4-BE49-F238E27FC236}">
                <a16:creationId xmlns:a16="http://schemas.microsoft.com/office/drawing/2014/main" id="{217BE57A-4626-4412-A4E5-DBB5511F3C2F}"/>
              </a:ext>
            </a:extLst>
          </p:cNvPr>
          <p:cNvSpPr txBox="1">
            <a:spLocks/>
          </p:cNvSpPr>
          <p:nvPr/>
        </p:nvSpPr>
        <p:spPr bwMode="auto">
          <a:xfrm>
            <a:off x="457904" y="1209676"/>
            <a:ext cx="10566399" cy="3875672"/>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Struct  S1 { int white; long </a:t>
            </a:r>
            <a:r>
              <a:rPr lang="en-US" sz="2400" kern="0" dirty="0" err="1"/>
              <a:t>long</a:t>
            </a:r>
            <a:r>
              <a:rPr lang="en-US" sz="2400" kern="0" dirty="0"/>
              <a:t> count; char c; </a:t>
            </a:r>
            <a:r>
              <a:rPr lang="en-US" sz="2400" kern="0" dirty="0">
                <a:solidFill>
                  <a:srgbClr val="FF0000"/>
                </a:solidFill>
              </a:rPr>
              <a:t>int  red</a:t>
            </a:r>
            <a:r>
              <a:rPr lang="en-US" sz="2400" kern="0" dirty="0"/>
              <a:t>; int blue } A[]; </a:t>
            </a:r>
          </a:p>
          <a:p>
            <a:r>
              <a:rPr lang="en-US" sz="2400" kern="0" dirty="0"/>
              <a:t>Suppose A is an array of structure S1, and the starting address of A is stored in register X1. what instruction should be used to access A[100].red?</a:t>
            </a:r>
          </a:p>
          <a:p>
            <a:r>
              <a:rPr lang="en-US" sz="2400" kern="0" dirty="0"/>
              <a:t>	1) LW X2, 2817(X1)</a:t>
            </a:r>
          </a:p>
          <a:p>
            <a:r>
              <a:rPr lang="en-US" sz="2400" kern="0" dirty="0"/>
              <a:t>	2) LW X2, 3220(x1)</a:t>
            </a:r>
          </a:p>
          <a:p>
            <a:r>
              <a:rPr lang="en-US" sz="2400" kern="0" dirty="0"/>
              <a:t>	3) LW X2, 2820(X1)</a:t>
            </a:r>
          </a:p>
          <a:p>
            <a:r>
              <a:rPr lang="en-US" sz="2400" kern="0" dirty="0"/>
              <a:t>	4) LW X2, 3617(X1)</a:t>
            </a:r>
          </a:p>
          <a:p>
            <a:r>
              <a:rPr lang="en-US" sz="2400" kern="0" dirty="0"/>
              <a:t>	5) LW X2, 2020(X1)	</a:t>
            </a:r>
          </a:p>
          <a:p>
            <a:pPr marL="838179" lvl="1" indent="-380990">
              <a:buFont typeface="Wingdings" panose="05000000000000000000" pitchFamily="2" charset="2"/>
              <a:buChar char="§"/>
            </a:pPr>
            <a:endParaRPr lang="en-US" sz="467" kern="0" dirty="0"/>
          </a:p>
        </p:txBody>
      </p:sp>
      <p:sp>
        <p:nvSpPr>
          <p:cNvPr id="7" name="TextBox 6">
            <a:extLst>
              <a:ext uri="{FF2B5EF4-FFF2-40B4-BE49-F238E27FC236}">
                <a16:creationId xmlns:a16="http://schemas.microsoft.com/office/drawing/2014/main" id="{9D1C025D-DE69-4EAA-BDEC-75FF2670BCD3}"/>
              </a:ext>
            </a:extLst>
          </p:cNvPr>
          <p:cNvSpPr txBox="1"/>
          <p:nvPr/>
        </p:nvSpPr>
        <p:spPr>
          <a:xfrm>
            <a:off x="9574742" y="4528542"/>
            <a:ext cx="35618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2</a:t>
            </a:r>
          </a:p>
        </p:txBody>
      </p:sp>
      <p:sp>
        <p:nvSpPr>
          <p:cNvPr id="6" name="TextBox 5">
            <a:extLst>
              <a:ext uri="{FF2B5EF4-FFF2-40B4-BE49-F238E27FC236}">
                <a16:creationId xmlns:a16="http://schemas.microsoft.com/office/drawing/2014/main" id="{121758F6-51B2-4B00-A972-BEFF156CD977}"/>
              </a:ext>
            </a:extLst>
          </p:cNvPr>
          <p:cNvSpPr txBox="1"/>
          <p:nvPr/>
        </p:nvSpPr>
        <p:spPr>
          <a:xfrm>
            <a:off x="2257425" y="5412915"/>
            <a:ext cx="6772110" cy="646331"/>
          </a:xfrm>
          <a:prstGeom prst="rect">
            <a:avLst/>
          </a:prstGeom>
          <a:noFill/>
        </p:spPr>
        <p:txBody>
          <a:bodyPr wrap="none" rtlCol="0" anchor="ctr" anchorCtr="1">
            <a:spAutoFit/>
          </a:bodyPr>
          <a:lstStyle/>
          <a:p>
            <a:r>
              <a:rPr lang="en-US" dirty="0">
                <a:ea typeface="標楷體" pitchFamily="65" charset="-120"/>
                <a:cs typeface="Calibri" pitchFamily="34" charset="0"/>
              </a:rPr>
              <a:t>4, </a:t>
            </a:r>
            <a:r>
              <a:rPr lang="en-US" dirty="0">
                <a:solidFill>
                  <a:srgbClr val="FF0000"/>
                </a:solidFill>
                <a:ea typeface="標楷體" pitchFamily="65" charset="-120"/>
                <a:cs typeface="Calibri" pitchFamily="34" charset="0"/>
              </a:rPr>
              <a:t>pad 4</a:t>
            </a:r>
            <a:r>
              <a:rPr lang="en-US" dirty="0">
                <a:ea typeface="標楷體" pitchFamily="65" charset="-120"/>
                <a:cs typeface="Calibri" pitchFamily="34" charset="0"/>
              </a:rPr>
              <a:t>, 8, 1, </a:t>
            </a:r>
            <a:r>
              <a:rPr lang="en-US" dirty="0">
                <a:solidFill>
                  <a:srgbClr val="FF0000"/>
                </a:solidFill>
                <a:ea typeface="標楷體" pitchFamily="65" charset="-120"/>
                <a:cs typeface="Calibri" pitchFamily="34" charset="0"/>
              </a:rPr>
              <a:t>pad 3</a:t>
            </a:r>
            <a:r>
              <a:rPr lang="en-US" dirty="0">
                <a:ea typeface="標楷體" pitchFamily="65" charset="-120"/>
                <a:cs typeface="Calibri" pitchFamily="34" charset="0"/>
              </a:rPr>
              <a:t>, 4, 4      Total 28, </a:t>
            </a:r>
          </a:p>
          <a:p>
            <a:r>
              <a:rPr lang="en-US" dirty="0">
                <a:ea typeface="標楷體" pitchFamily="65" charset="-120"/>
                <a:cs typeface="Calibri" pitchFamily="34" charset="0"/>
              </a:rPr>
              <a:t>Struct size must be multiple of the largest field, so Total size is 32</a:t>
            </a:r>
          </a:p>
        </p:txBody>
      </p:sp>
    </p:spTree>
    <p:extLst>
      <p:ext uri="{BB962C8B-B14F-4D97-AF65-F5344CB8AC3E}">
        <p14:creationId xmlns:p14="http://schemas.microsoft.com/office/powerpoint/2010/main" val="37181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Jump Instructions</a:t>
            </a:r>
          </a:p>
        </p:txBody>
      </p:sp>
      <p:sp>
        <p:nvSpPr>
          <p:cNvPr id="3" name="Content Placeholder 2"/>
          <p:cNvSpPr>
            <a:spLocks noGrp="1"/>
          </p:cNvSpPr>
          <p:nvPr>
            <p:ph idx="1"/>
          </p:nvPr>
        </p:nvSpPr>
        <p:spPr>
          <a:xfrm>
            <a:off x="1129402" y="951895"/>
            <a:ext cx="8917209" cy="4954211"/>
          </a:xfrm>
        </p:spPr>
        <p:txBody>
          <a:bodyPr/>
          <a:lstStyle/>
          <a:p>
            <a:pPr marL="342891" lvl="1" indent="-342891">
              <a:buClr>
                <a:schemeClr val="hlink"/>
              </a:buClr>
              <a:buSzPct val="110000"/>
              <a:buBlip>
                <a:blip r:embed="rId3"/>
              </a:buBlip>
            </a:pPr>
            <a:r>
              <a:rPr lang="en-US" sz="2400" dirty="0">
                <a:solidFill>
                  <a:srgbClr val="FF0000"/>
                </a:solidFill>
              </a:rPr>
              <a:t>Unconditional jump and link </a:t>
            </a:r>
            <a:r>
              <a:rPr lang="en-US" sz="2400" dirty="0"/>
              <a:t>(UJ-type)</a:t>
            </a:r>
          </a:p>
          <a:p>
            <a:pPr marL="0" lvl="1" indent="0">
              <a:buSzPct val="110000"/>
              <a:buNone/>
            </a:pPr>
            <a:endParaRPr lang="en-US" dirty="0"/>
          </a:p>
          <a:p>
            <a:pPr lvl="1"/>
            <a:endParaRPr lang="en-US" sz="2000" dirty="0"/>
          </a:p>
          <a:p>
            <a:pPr lvl="1"/>
            <a:r>
              <a:rPr lang="en-US" sz="2000" dirty="0"/>
              <a:t>opcode = JAL: </a:t>
            </a:r>
            <a:r>
              <a:rPr lang="en-US" sz="2000" dirty="0" err="1">
                <a:solidFill>
                  <a:srgbClr val="56127A"/>
                </a:solidFill>
              </a:rPr>
              <a:t>rd</a:t>
            </a:r>
            <a:r>
              <a:rPr lang="en-US" sz="2000" dirty="0">
                <a:solidFill>
                  <a:srgbClr val="56127A"/>
                </a:solidFill>
              </a:rPr>
              <a:t> </a:t>
            </a:r>
            <a:r>
              <a:rPr lang="en-US" sz="2000" dirty="0">
                <a:solidFill>
                  <a:srgbClr val="56127A"/>
                </a:solidFill>
                <a:sym typeface="Wingdings" panose="05000000000000000000" pitchFamily="2" charset="2"/>
              </a:rPr>
              <a:t> pc + 4; pc  pc + J-</a:t>
            </a:r>
            <a:r>
              <a:rPr lang="en-US" sz="2000" dirty="0" err="1">
                <a:solidFill>
                  <a:srgbClr val="56127A"/>
                </a:solidFill>
                <a:sym typeface="Wingdings" panose="05000000000000000000" pitchFamily="2" charset="2"/>
              </a:rPr>
              <a:t>imm</a:t>
            </a:r>
            <a:endParaRPr lang="en-US" sz="2000" dirty="0"/>
          </a:p>
          <a:p>
            <a:pPr lvl="1"/>
            <a:r>
              <a:rPr lang="en-US" sz="2000" dirty="0"/>
              <a:t>J-</a:t>
            </a:r>
            <a:r>
              <a:rPr lang="en-US" sz="2000" dirty="0" err="1"/>
              <a:t>imm</a:t>
            </a:r>
            <a:r>
              <a:rPr lang="en-US" sz="2000" dirty="0"/>
              <a:t> = </a:t>
            </a:r>
            <a:r>
              <a:rPr lang="en-US" sz="2000" dirty="0" err="1"/>
              <a:t>signExtend</a:t>
            </a:r>
            <a:r>
              <a:rPr lang="en-US" sz="2000" dirty="0"/>
              <a:t>({</a:t>
            </a:r>
            <a:r>
              <a:rPr lang="en-US" sz="2000" dirty="0" err="1"/>
              <a:t>inst</a:t>
            </a:r>
            <a:r>
              <a:rPr lang="en-US" sz="2000" dirty="0"/>
              <a:t>[31], </a:t>
            </a:r>
            <a:r>
              <a:rPr lang="en-US" sz="2000" dirty="0" err="1"/>
              <a:t>inst</a:t>
            </a:r>
            <a:r>
              <a:rPr lang="en-US" sz="2000" dirty="0"/>
              <a:t>[19:12], </a:t>
            </a:r>
            <a:r>
              <a:rPr lang="en-US" sz="2000" dirty="0" err="1"/>
              <a:t>inst</a:t>
            </a:r>
            <a:r>
              <a:rPr lang="en-US" sz="2000" dirty="0"/>
              <a:t>[20], </a:t>
            </a:r>
            <a:r>
              <a:rPr lang="en-US" sz="2000" dirty="0" err="1"/>
              <a:t>inst</a:t>
            </a:r>
            <a:r>
              <a:rPr lang="en-US" sz="2000" dirty="0"/>
              <a:t>[30:21], 1’b0})</a:t>
            </a:r>
          </a:p>
          <a:p>
            <a:pPr lvl="1"/>
            <a:r>
              <a:rPr lang="en-US" sz="2000" dirty="0"/>
              <a:t>Jump ±1MB range</a:t>
            </a:r>
          </a:p>
          <a:p>
            <a:pPr lvl="1"/>
            <a:r>
              <a:rPr lang="en-US" sz="2000" dirty="0"/>
              <a:t>To reach a range greater than 1MB, AUIPC+JALR is needed. </a:t>
            </a:r>
          </a:p>
          <a:p>
            <a:r>
              <a:rPr lang="en-US" sz="2400" dirty="0">
                <a:solidFill>
                  <a:srgbClr val="FF0000"/>
                </a:solidFill>
              </a:rPr>
              <a:t>Unconditional jump via register and link </a:t>
            </a:r>
            <a:r>
              <a:rPr lang="en-US" sz="2400" dirty="0"/>
              <a:t>(I-type)</a:t>
            </a:r>
          </a:p>
          <a:p>
            <a:pPr marL="0" indent="0">
              <a:buNone/>
            </a:pPr>
            <a:endParaRPr lang="en-US" sz="2400" dirty="0"/>
          </a:p>
          <a:p>
            <a:pPr marL="0" indent="0">
              <a:buNone/>
            </a:pPr>
            <a:endParaRPr lang="en-US" sz="2400" dirty="0"/>
          </a:p>
          <a:p>
            <a:pPr lvl="1"/>
            <a:endParaRPr lang="en-US" sz="2000" dirty="0"/>
          </a:p>
          <a:p>
            <a:pPr lvl="1"/>
            <a:r>
              <a:rPr lang="en-US" sz="2000" dirty="0"/>
              <a:t>opcode = JALR: </a:t>
            </a:r>
            <a:r>
              <a:rPr lang="en-US" sz="2000" dirty="0" err="1">
                <a:solidFill>
                  <a:srgbClr val="56127A"/>
                </a:solidFill>
                <a:sym typeface="Wingdings" panose="05000000000000000000" pitchFamily="2" charset="2"/>
              </a:rPr>
              <a:t>rd</a:t>
            </a:r>
            <a:r>
              <a:rPr lang="en-US" sz="2000" dirty="0">
                <a:solidFill>
                  <a:srgbClr val="56127A"/>
                </a:solidFill>
                <a:sym typeface="Wingdings" panose="05000000000000000000" pitchFamily="2" charset="2"/>
              </a:rPr>
              <a:t>  pc + 4; pc  (rs1 + I-</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&amp; ~0x01</a:t>
            </a:r>
          </a:p>
          <a:p>
            <a:pPr lvl="1"/>
            <a:r>
              <a:rPr lang="en-US" sz="2000" dirty="0"/>
              <a:t>I-</a:t>
            </a:r>
            <a:r>
              <a:rPr lang="en-US" sz="2000" dirty="0" err="1"/>
              <a:t>imm</a:t>
            </a:r>
            <a:r>
              <a:rPr lang="en-US" sz="2000" dirty="0"/>
              <a:t> = </a:t>
            </a:r>
            <a:r>
              <a:rPr lang="en-US" sz="2000" dirty="0" err="1"/>
              <a:t>signExtend</a:t>
            </a:r>
            <a:r>
              <a:rPr lang="en-US" sz="2000" dirty="0"/>
              <a:t>(</a:t>
            </a:r>
            <a:r>
              <a:rPr lang="en-US" sz="2000" dirty="0" err="1"/>
              <a:t>inst</a:t>
            </a:r>
            <a:r>
              <a:rPr lang="en-US" sz="2000" dirty="0"/>
              <a:t>[31:20])</a:t>
            </a:r>
          </a:p>
        </p:txBody>
      </p:sp>
      <p:grpSp>
        <p:nvGrpSpPr>
          <p:cNvPr id="9" name="Group 8"/>
          <p:cNvGrpSpPr/>
          <p:nvPr/>
        </p:nvGrpSpPr>
        <p:grpSpPr>
          <a:xfrm>
            <a:off x="1389866" y="1379696"/>
            <a:ext cx="8262135" cy="667543"/>
            <a:chOff x="721854" y="5395393"/>
            <a:chExt cx="8262135" cy="667543"/>
          </a:xfrm>
        </p:grpSpPr>
        <p:sp>
          <p:nvSpPr>
            <p:cNvPr id="10" name="TextBox 9"/>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11" name="TextBox 10"/>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12" name="TextBox 11"/>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[19:12]</a:t>
              </a:r>
            </a:p>
          </p:txBody>
        </p:sp>
        <p:sp>
          <p:nvSpPr>
            <p:cNvPr id="14" name="TextBox 13"/>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5" name="TextBox 14"/>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6" name="TextBox 15"/>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17" name="TextBox 16"/>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18" name="TextBox 17"/>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19" name="TextBox 18"/>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20" name="TextBox 19"/>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21" name="TextBox 20"/>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grpSp>
        <p:nvGrpSpPr>
          <p:cNvPr id="23" name="Group 22"/>
          <p:cNvGrpSpPr/>
          <p:nvPr/>
        </p:nvGrpSpPr>
        <p:grpSpPr>
          <a:xfrm>
            <a:off x="1389866" y="4114086"/>
            <a:ext cx="8078703" cy="646103"/>
            <a:chOff x="723900" y="3317566"/>
            <a:chExt cx="8078703" cy="646103"/>
          </a:xfrm>
        </p:grpSpPr>
        <p:sp>
          <p:nvSpPr>
            <p:cNvPr id="24" name="TextBox 23"/>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25" name="TextBox 24"/>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26" name="TextBox 25"/>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27" name="TextBox 26"/>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28" name="TextBox 27"/>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29" name="TextBox 28"/>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30" name="TextBox 29"/>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31" name="TextBox 30"/>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32" name="TextBox 31"/>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33" name="TextBox 32"/>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2" name="Slide Number Placeholder 21"/>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45</a:t>
            </a:fld>
            <a:endParaRPr lang="en-US" dirty="0"/>
          </a:p>
        </p:txBody>
      </p:sp>
      <p:sp>
        <p:nvSpPr>
          <p:cNvPr id="5" name="TextBox 4">
            <a:extLst>
              <a:ext uri="{FF2B5EF4-FFF2-40B4-BE49-F238E27FC236}">
                <a16:creationId xmlns:a16="http://schemas.microsoft.com/office/drawing/2014/main" id="{46EBAD47-7B38-4786-94F3-341D5809452E}"/>
              </a:ext>
            </a:extLst>
          </p:cNvPr>
          <p:cNvSpPr txBox="1"/>
          <p:nvPr/>
        </p:nvSpPr>
        <p:spPr>
          <a:xfrm>
            <a:off x="8193960" y="4609969"/>
            <a:ext cx="3890809" cy="1446358"/>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anose="020F0502020204030204" pitchFamily="34" charset="0"/>
              </a:rPr>
              <a:t>Indirect-Jump</a:t>
            </a:r>
          </a:p>
          <a:p>
            <a:r>
              <a:rPr lang="en-US" sz="2133" dirty="0">
                <a:ea typeface="標楷體" pitchFamily="65" charset="-120"/>
                <a:cs typeface="Calibri" panose="020F0502020204030204" pitchFamily="34" charset="0"/>
              </a:rPr>
              <a:t>A location in a jump table</a:t>
            </a:r>
          </a:p>
          <a:p>
            <a:r>
              <a:rPr lang="en-US" sz="2133" dirty="0">
                <a:ea typeface="標楷體" pitchFamily="65" charset="-120"/>
                <a:cs typeface="Calibri" panose="020F0502020204030204" pitchFamily="34" charset="0"/>
              </a:rPr>
              <a:t>Jump table stores multiple</a:t>
            </a:r>
          </a:p>
          <a:p>
            <a:r>
              <a:rPr lang="en-US" sz="2133" dirty="0">
                <a:ea typeface="標楷體" pitchFamily="65" charset="-120"/>
                <a:cs typeface="Calibri" panose="020F0502020204030204" pitchFamily="34" charset="0"/>
              </a:rPr>
              <a:t>jump instructions or addresses</a:t>
            </a:r>
          </a:p>
        </p:txBody>
      </p:sp>
      <p:cxnSp>
        <p:nvCxnSpPr>
          <p:cNvPr id="7" name="Straight Arrow Connector 6">
            <a:extLst>
              <a:ext uri="{FF2B5EF4-FFF2-40B4-BE49-F238E27FC236}">
                <a16:creationId xmlns:a16="http://schemas.microsoft.com/office/drawing/2014/main" id="{8C182A90-8668-4584-85A3-B3A1B02B5F5A}"/>
              </a:ext>
            </a:extLst>
          </p:cNvPr>
          <p:cNvCxnSpPr>
            <a:cxnSpLocks/>
            <a:stCxn id="5" idx="1"/>
          </p:cNvCxnSpPr>
          <p:nvPr/>
        </p:nvCxnSpPr>
        <p:spPr bwMode="auto">
          <a:xfrm flipH="1">
            <a:off x="6581775" y="5333148"/>
            <a:ext cx="1612185" cy="292228"/>
          </a:xfrm>
          <a:prstGeom prst="straightConnector1">
            <a:avLst/>
          </a:prstGeom>
          <a:noFill/>
          <a:ln w="28575" cap="flat" cmpd="sng" algn="ctr">
            <a:solidFill>
              <a:srgbClr val="FF0000"/>
            </a:solidFill>
            <a:prstDash val="solid"/>
            <a:round/>
            <a:headEnd type="none" w="med" len="med"/>
            <a:tailEnd type="stealth" w="lg" len="lg"/>
          </a:ln>
        </p:spPr>
      </p:cxnSp>
    </p:spTree>
    <p:extLst>
      <p:ext uri="{BB962C8B-B14F-4D97-AF65-F5344CB8AC3E}">
        <p14:creationId xmlns:p14="http://schemas.microsoft.com/office/powerpoint/2010/main" val="416142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7167" y="-185288"/>
            <a:ext cx="10924117" cy="1143000"/>
          </a:xfrm>
        </p:spPr>
        <p:txBody>
          <a:bodyPr/>
          <a:lstStyle/>
          <a:p>
            <a:r>
              <a:rPr lang="en-US" sz="4000" dirty="0"/>
              <a:t>Why Different Immediate Encoding in U and J</a:t>
            </a:r>
            <a:r>
              <a:rPr lang="en-US" sz="4000" i="1" dirty="0"/>
              <a:t> </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7" name="Footer Placeholder 26"/>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8" name="Slide Number Placeholder 27"/>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46</a:t>
            </a:fld>
            <a:endParaRPr lang="en-US" dirty="0"/>
          </a:p>
        </p:txBody>
      </p:sp>
      <p:sp>
        <p:nvSpPr>
          <p:cNvPr id="6" name="Content Placeholder 5">
            <a:extLst>
              <a:ext uri="{FF2B5EF4-FFF2-40B4-BE49-F238E27FC236}">
                <a16:creationId xmlns:a16="http://schemas.microsoft.com/office/drawing/2014/main" id="{318F9773-8339-4670-8F1D-E6CBD9CFB4F7}"/>
              </a:ext>
            </a:extLst>
          </p:cNvPr>
          <p:cNvSpPr>
            <a:spLocks noGrp="1"/>
          </p:cNvSpPr>
          <p:nvPr>
            <p:ph idx="1"/>
          </p:nvPr>
        </p:nvSpPr>
        <p:spPr>
          <a:xfrm>
            <a:off x="109129" y="1073256"/>
            <a:ext cx="10972800" cy="4895851"/>
          </a:xfrm>
        </p:spPr>
        <p:txBody>
          <a:bodyPr/>
          <a:lstStyle/>
          <a:p>
            <a:r>
              <a:rPr lang="en-US" dirty="0"/>
              <a:t>U</a:t>
            </a:r>
          </a:p>
          <a:p>
            <a:r>
              <a:rPr lang="en-US" dirty="0"/>
              <a:t>J </a:t>
            </a:r>
          </a:p>
        </p:txBody>
      </p:sp>
      <p:sp>
        <p:nvSpPr>
          <p:cNvPr id="96" name="TextBox 95">
            <a:extLst>
              <a:ext uri="{FF2B5EF4-FFF2-40B4-BE49-F238E27FC236}">
                <a16:creationId xmlns:a16="http://schemas.microsoft.com/office/drawing/2014/main" id="{2303F660-AF8D-45CD-8A11-6A9C0476F0D4}"/>
              </a:ext>
            </a:extLst>
          </p:cNvPr>
          <p:cNvSpPr txBox="1"/>
          <p:nvPr/>
        </p:nvSpPr>
        <p:spPr>
          <a:xfrm>
            <a:off x="497487" y="3790950"/>
            <a:ext cx="8186843" cy="353943"/>
          </a:xfrm>
          <a:prstGeom prst="rect">
            <a:avLst/>
          </a:prstGeom>
          <a:solidFill>
            <a:srgbClr val="92D050"/>
          </a:solid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cxnSp>
        <p:nvCxnSpPr>
          <p:cNvPr id="107" name="Straight Arrow Connector 106">
            <a:extLst>
              <a:ext uri="{FF2B5EF4-FFF2-40B4-BE49-F238E27FC236}">
                <a16:creationId xmlns:a16="http://schemas.microsoft.com/office/drawing/2014/main" id="{E1E7806A-10F0-4DC5-9BA4-130F5EBDBFC7}"/>
              </a:ext>
            </a:extLst>
          </p:cNvPr>
          <p:cNvCxnSpPr>
            <a:cxnSpLocks/>
          </p:cNvCxnSpPr>
          <p:nvPr/>
        </p:nvCxnSpPr>
        <p:spPr bwMode="auto">
          <a:xfrm flipH="1">
            <a:off x="8684330" y="1598396"/>
            <a:ext cx="157254" cy="2188766"/>
          </a:xfrm>
          <a:prstGeom prst="straightConnector1">
            <a:avLst/>
          </a:prstGeom>
          <a:noFill/>
          <a:ln w="15875" cap="flat" cmpd="sng" algn="ctr">
            <a:solidFill>
              <a:srgbClr val="FF0000"/>
            </a:solidFill>
            <a:prstDash val="solid"/>
            <a:round/>
            <a:headEnd type="none" w="med" len="med"/>
            <a:tailEnd type="triangle"/>
          </a:ln>
          <a:effectLst/>
        </p:spPr>
      </p:cxnSp>
      <p:grpSp>
        <p:nvGrpSpPr>
          <p:cNvPr id="53" name="Group 52">
            <a:extLst>
              <a:ext uri="{FF2B5EF4-FFF2-40B4-BE49-F238E27FC236}">
                <a16:creationId xmlns:a16="http://schemas.microsoft.com/office/drawing/2014/main" id="{01B650A3-FCCA-4DD1-A694-1EEA396A651C}"/>
              </a:ext>
            </a:extLst>
          </p:cNvPr>
          <p:cNvGrpSpPr/>
          <p:nvPr/>
        </p:nvGrpSpPr>
        <p:grpSpPr>
          <a:xfrm>
            <a:off x="2738697" y="965751"/>
            <a:ext cx="8267207" cy="642123"/>
            <a:chOff x="721854" y="4278336"/>
            <a:chExt cx="8267206" cy="642123"/>
          </a:xfrm>
        </p:grpSpPr>
        <p:sp>
          <p:nvSpPr>
            <p:cNvPr id="54" name="TextBox 53">
              <a:extLst>
                <a:ext uri="{FF2B5EF4-FFF2-40B4-BE49-F238E27FC236}">
                  <a16:creationId xmlns:a16="http://schemas.microsoft.com/office/drawing/2014/main" id="{2F7A2CAB-B6D9-49F3-B7FE-8D3942106B6D}"/>
                </a:ext>
              </a:extLst>
            </p:cNvPr>
            <p:cNvSpPr txBox="1"/>
            <p:nvPr/>
          </p:nvSpPr>
          <p:spPr>
            <a:xfrm>
              <a:off x="6786728" y="4566516"/>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55" name="TextBox 54">
              <a:extLst>
                <a:ext uri="{FF2B5EF4-FFF2-40B4-BE49-F238E27FC236}">
                  <a16:creationId xmlns:a16="http://schemas.microsoft.com/office/drawing/2014/main" id="{E176D73F-FCC7-4EAA-8CC9-A4B15AA3BB92}"/>
                </a:ext>
              </a:extLst>
            </p:cNvPr>
            <p:cNvSpPr txBox="1"/>
            <p:nvPr/>
          </p:nvSpPr>
          <p:spPr>
            <a:xfrm>
              <a:off x="7940040" y="4566516"/>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56" name="TextBox 55">
              <a:extLst>
                <a:ext uri="{FF2B5EF4-FFF2-40B4-BE49-F238E27FC236}">
                  <a16:creationId xmlns:a16="http://schemas.microsoft.com/office/drawing/2014/main" id="{AC6B0720-10F5-47D5-BC01-E9215AA5AEBC}"/>
                </a:ext>
              </a:extLst>
            </p:cNvPr>
            <p:cNvSpPr txBox="1"/>
            <p:nvPr/>
          </p:nvSpPr>
          <p:spPr>
            <a:xfrm>
              <a:off x="7210138" y="4278336"/>
              <a:ext cx="306494" cy="353943"/>
            </a:xfrm>
            <a:prstGeom prst="rect">
              <a:avLst/>
            </a:prstGeom>
            <a:noFill/>
          </p:spPr>
          <p:txBody>
            <a:bodyPr wrap="none" rtlCol="0">
              <a:spAutoFit/>
            </a:bodyPr>
            <a:lstStyle/>
            <a:p>
              <a:pPr algn="ctr"/>
              <a:r>
                <a:rPr lang="en-US" sz="1700" dirty="0"/>
                <a:t>5</a:t>
              </a:r>
            </a:p>
          </p:txBody>
        </p:sp>
        <p:sp>
          <p:nvSpPr>
            <p:cNvPr id="57" name="TextBox 56">
              <a:extLst>
                <a:ext uri="{FF2B5EF4-FFF2-40B4-BE49-F238E27FC236}">
                  <a16:creationId xmlns:a16="http://schemas.microsoft.com/office/drawing/2014/main" id="{FF1248BC-7294-4C9E-93BA-17F84E5B346D}"/>
                </a:ext>
              </a:extLst>
            </p:cNvPr>
            <p:cNvSpPr txBox="1"/>
            <p:nvPr/>
          </p:nvSpPr>
          <p:spPr>
            <a:xfrm>
              <a:off x="8311303" y="4278336"/>
              <a:ext cx="306494" cy="353943"/>
            </a:xfrm>
            <a:prstGeom prst="rect">
              <a:avLst/>
            </a:prstGeom>
            <a:noFill/>
          </p:spPr>
          <p:txBody>
            <a:bodyPr wrap="none" rtlCol="0">
              <a:spAutoFit/>
            </a:bodyPr>
            <a:lstStyle/>
            <a:p>
              <a:pPr algn="ctr"/>
              <a:r>
                <a:rPr lang="en-US" sz="1700" dirty="0"/>
                <a:t>7</a:t>
              </a:r>
            </a:p>
          </p:txBody>
        </p:sp>
        <p:sp>
          <p:nvSpPr>
            <p:cNvPr id="62" name="TextBox 61">
              <a:extLst>
                <a:ext uri="{FF2B5EF4-FFF2-40B4-BE49-F238E27FC236}">
                  <a16:creationId xmlns:a16="http://schemas.microsoft.com/office/drawing/2014/main" id="{73DE0E3C-0E57-4505-AD00-BB3247C684DF}"/>
                </a:ext>
              </a:extLst>
            </p:cNvPr>
            <p:cNvSpPr txBox="1"/>
            <p:nvPr/>
          </p:nvSpPr>
          <p:spPr>
            <a:xfrm>
              <a:off x="721854" y="4566516"/>
              <a:ext cx="6064873"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     </a:t>
              </a:r>
              <a:r>
                <a:rPr lang="en-US" sz="1700" dirty="0" err="1">
                  <a:solidFill>
                    <a:srgbClr val="56127A"/>
                  </a:solidFill>
                </a:rPr>
                <a:t>imm</a:t>
              </a:r>
              <a:r>
                <a:rPr lang="en-US" sz="1700" dirty="0">
                  <a:solidFill>
                    <a:srgbClr val="56127A"/>
                  </a:solidFill>
                </a:rPr>
                <a:t>[31:20]                                                 </a:t>
              </a:r>
              <a:r>
                <a:rPr lang="en-US" sz="1700" dirty="0" err="1">
                  <a:solidFill>
                    <a:srgbClr val="56127A"/>
                  </a:solidFill>
                  <a:highlight>
                    <a:srgbClr val="FFFF00"/>
                  </a:highlight>
                </a:rPr>
                <a:t>imm</a:t>
              </a:r>
              <a:r>
                <a:rPr lang="en-US" sz="1700" dirty="0">
                  <a:solidFill>
                    <a:srgbClr val="56127A"/>
                  </a:solidFill>
                  <a:highlight>
                    <a:srgbClr val="FFFF00"/>
                  </a:highlight>
                </a:rPr>
                <a:t>[19:12]</a:t>
              </a:r>
            </a:p>
          </p:txBody>
        </p:sp>
        <p:sp>
          <p:nvSpPr>
            <p:cNvPr id="63" name="TextBox 62">
              <a:extLst>
                <a:ext uri="{FF2B5EF4-FFF2-40B4-BE49-F238E27FC236}">
                  <a16:creationId xmlns:a16="http://schemas.microsoft.com/office/drawing/2014/main" id="{325E66C0-B366-4652-8952-2BD7EC775345}"/>
                </a:ext>
              </a:extLst>
            </p:cNvPr>
            <p:cNvSpPr txBox="1"/>
            <p:nvPr/>
          </p:nvSpPr>
          <p:spPr>
            <a:xfrm>
              <a:off x="3540129" y="4278336"/>
              <a:ext cx="428322" cy="353943"/>
            </a:xfrm>
            <a:prstGeom prst="rect">
              <a:avLst/>
            </a:prstGeom>
            <a:noFill/>
          </p:spPr>
          <p:txBody>
            <a:bodyPr wrap="none" rtlCol="0">
              <a:spAutoFit/>
            </a:bodyPr>
            <a:lstStyle/>
            <a:p>
              <a:pPr algn="ctr"/>
              <a:r>
                <a:rPr lang="en-US" sz="1700" dirty="0"/>
                <a:t>20</a:t>
              </a:r>
            </a:p>
          </p:txBody>
        </p:sp>
      </p:grpSp>
      <p:cxnSp>
        <p:nvCxnSpPr>
          <p:cNvPr id="29" name="Straight Arrow Connector 28">
            <a:extLst>
              <a:ext uri="{FF2B5EF4-FFF2-40B4-BE49-F238E27FC236}">
                <a16:creationId xmlns:a16="http://schemas.microsoft.com/office/drawing/2014/main" id="{37275147-50FA-4283-B906-5582DA2583B9}"/>
              </a:ext>
            </a:extLst>
          </p:cNvPr>
          <p:cNvCxnSpPr>
            <a:stCxn id="62" idx="1"/>
          </p:cNvCxnSpPr>
          <p:nvPr/>
        </p:nvCxnSpPr>
        <p:spPr bwMode="auto">
          <a:xfrm flipH="1">
            <a:off x="497487" y="1430903"/>
            <a:ext cx="2241210" cy="2360047"/>
          </a:xfrm>
          <a:prstGeom prst="straightConnector1">
            <a:avLst/>
          </a:prstGeom>
          <a:noFill/>
          <a:ln w="15875" cap="flat" cmpd="sng" algn="ctr">
            <a:solidFill>
              <a:srgbClr val="FF0000"/>
            </a:solidFill>
            <a:prstDash val="solid"/>
            <a:round/>
            <a:headEnd type="none" w="med" len="med"/>
            <a:tailEnd type="triangle"/>
          </a:ln>
          <a:effectLst/>
        </p:spPr>
      </p:cxnSp>
      <p:sp>
        <p:nvSpPr>
          <p:cNvPr id="71" name="TextBox 70">
            <a:extLst>
              <a:ext uri="{FF2B5EF4-FFF2-40B4-BE49-F238E27FC236}">
                <a16:creationId xmlns:a16="http://schemas.microsoft.com/office/drawing/2014/main" id="{3D85B6A5-F9BD-41FE-AC23-270281DD5860}"/>
              </a:ext>
            </a:extLst>
          </p:cNvPr>
          <p:cNvSpPr txBox="1"/>
          <p:nvPr/>
        </p:nvSpPr>
        <p:spPr>
          <a:xfrm>
            <a:off x="8722659" y="3787162"/>
            <a:ext cx="255010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[11:1]</a:t>
            </a:r>
          </a:p>
        </p:txBody>
      </p:sp>
      <p:grpSp>
        <p:nvGrpSpPr>
          <p:cNvPr id="72" name="Group 71">
            <a:extLst>
              <a:ext uri="{FF2B5EF4-FFF2-40B4-BE49-F238E27FC236}">
                <a16:creationId xmlns:a16="http://schemas.microsoft.com/office/drawing/2014/main" id="{9BDB2954-46EE-4297-AC2E-6C82733FFCA5}"/>
              </a:ext>
            </a:extLst>
          </p:cNvPr>
          <p:cNvGrpSpPr/>
          <p:nvPr/>
        </p:nvGrpSpPr>
        <p:grpSpPr>
          <a:xfrm>
            <a:off x="2743769" y="1875215"/>
            <a:ext cx="8262135" cy="667543"/>
            <a:chOff x="721854" y="5395393"/>
            <a:chExt cx="8262135" cy="667543"/>
          </a:xfrm>
        </p:grpSpPr>
        <p:sp>
          <p:nvSpPr>
            <p:cNvPr id="73" name="TextBox 72">
              <a:extLst>
                <a:ext uri="{FF2B5EF4-FFF2-40B4-BE49-F238E27FC236}">
                  <a16:creationId xmlns:a16="http://schemas.microsoft.com/office/drawing/2014/main" id="{EE3AB75E-B85E-401C-9967-4964E3264C64}"/>
                </a:ext>
              </a:extLst>
            </p:cNvPr>
            <p:cNvSpPr txBox="1"/>
            <p:nvPr/>
          </p:nvSpPr>
          <p:spPr>
            <a:xfrm>
              <a:off x="721854" y="5708993"/>
              <a:ext cx="1178065"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[20]</a:t>
              </a:r>
            </a:p>
          </p:txBody>
        </p:sp>
        <p:sp>
          <p:nvSpPr>
            <p:cNvPr id="74" name="TextBox 73">
              <a:extLst>
                <a:ext uri="{FF2B5EF4-FFF2-40B4-BE49-F238E27FC236}">
                  <a16:creationId xmlns:a16="http://schemas.microsoft.com/office/drawing/2014/main" id="{D54A8212-A166-4F69-8E3D-711F6367CAD5}"/>
                </a:ext>
              </a:extLst>
            </p:cNvPr>
            <p:cNvSpPr txBox="1"/>
            <p:nvPr/>
          </p:nvSpPr>
          <p:spPr>
            <a:xfrm>
              <a:off x="1899919" y="5708993"/>
              <a:ext cx="20845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75" name="TextBox 74">
              <a:extLst>
                <a:ext uri="{FF2B5EF4-FFF2-40B4-BE49-F238E27FC236}">
                  <a16:creationId xmlns:a16="http://schemas.microsoft.com/office/drawing/2014/main" id="{099D39C7-6C53-48A3-9007-BFDB200843AF}"/>
                </a:ext>
              </a:extLst>
            </p:cNvPr>
            <p:cNvSpPr txBox="1"/>
            <p:nvPr/>
          </p:nvSpPr>
          <p:spPr>
            <a:xfrm>
              <a:off x="6786728" y="5708992"/>
              <a:ext cx="114824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76" name="TextBox 75">
              <a:extLst>
                <a:ext uri="{FF2B5EF4-FFF2-40B4-BE49-F238E27FC236}">
                  <a16:creationId xmlns:a16="http://schemas.microsoft.com/office/drawing/2014/main" id="{2C076C2F-E86E-4F8F-9E28-2D7EDB99C61A}"/>
                </a:ext>
              </a:extLst>
            </p:cNvPr>
            <p:cNvSpPr txBox="1"/>
            <p:nvPr/>
          </p:nvSpPr>
          <p:spPr>
            <a:xfrm>
              <a:off x="5137793" y="5708992"/>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highlight>
                    <a:srgbClr val="FFFF00"/>
                  </a:highlight>
                </a:rPr>
                <a:t>imm</a:t>
              </a:r>
              <a:r>
                <a:rPr lang="en-US" sz="1700" dirty="0">
                  <a:solidFill>
                    <a:srgbClr val="56127A"/>
                  </a:solidFill>
                  <a:highlight>
                    <a:srgbClr val="FFFF00"/>
                  </a:highlight>
                </a:rPr>
                <a:t>[19:12]</a:t>
              </a:r>
            </a:p>
          </p:txBody>
        </p:sp>
        <p:sp>
          <p:nvSpPr>
            <p:cNvPr id="77" name="TextBox 76">
              <a:extLst>
                <a:ext uri="{FF2B5EF4-FFF2-40B4-BE49-F238E27FC236}">
                  <a16:creationId xmlns:a16="http://schemas.microsoft.com/office/drawing/2014/main" id="{8B054265-A4EF-4EA0-990D-30FF853A45C4}"/>
                </a:ext>
              </a:extLst>
            </p:cNvPr>
            <p:cNvSpPr txBox="1"/>
            <p:nvPr/>
          </p:nvSpPr>
          <p:spPr>
            <a:xfrm>
              <a:off x="3984481" y="5708992"/>
              <a:ext cx="115331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78" name="TextBox 77">
              <a:extLst>
                <a:ext uri="{FF2B5EF4-FFF2-40B4-BE49-F238E27FC236}">
                  <a16:creationId xmlns:a16="http://schemas.microsoft.com/office/drawing/2014/main" id="{22020CE2-E8F6-4F94-90D9-663FFD3458D9}"/>
                </a:ext>
              </a:extLst>
            </p:cNvPr>
            <p:cNvSpPr txBox="1"/>
            <p:nvPr/>
          </p:nvSpPr>
          <p:spPr>
            <a:xfrm>
              <a:off x="7934969" y="5708992"/>
              <a:ext cx="104902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79" name="TextBox 78">
              <a:extLst>
                <a:ext uri="{FF2B5EF4-FFF2-40B4-BE49-F238E27FC236}">
                  <a16:creationId xmlns:a16="http://schemas.microsoft.com/office/drawing/2014/main" id="{262D860B-EC55-4178-8B2F-FF40C40ABF43}"/>
                </a:ext>
              </a:extLst>
            </p:cNvPr>
            <p:cNvSpPr txBox="1"/>
            <p:nvPr/>
          </p:nvSpPr>
          <p:spPr>
            <a:xfrm>
              <a:off x="1157640" y="5395393"/>
              <a:ext cx="306494" cy="353943"/>
            </a:xfrm>
            <a:prstGeom prst="rect">
              <a:avLst/>
            </a:prstGeom>
            <a:noFill/>
          </p:spPr>
          <p:txBody>
            <a:bodyPr wrap="none" rtlCol="0">
              <a:spAutoFit/>
            </a:bodyPr>
            <a:lstStyle/>
            <a:p>
              <a:pPr algn="ctr"/>
              <a:r>
                <a:rPr lang="en-US" sz="1700" dirty="0"/>
                <a:t>1</a:t>
              </a:r>
            </a:p>
          </p:txBody>
        </p:sp>
        <p:sp>
          <p:nvSpPr>
            <p:cNvPr id="80" name="TextBox 79">
              <a:extLst>
                <a:ext uri="{FF2B5EF4-FFF2-40B4-BE49-F238E27FC236}">
                  <a16:creationId xmlns:a16="http://schemas.microsoft.com/office/drawing/2014/main" id="{CAC9CC46-CC84-4929-8F75-FA58C62390C8}"/>
                </a:ext>
              </a:extLst>
            </p:cNvPr>
            <p:cNvSpPr txBox="1"/>
            <p:nvPr/>
          </p:nvSpPr>
          <p:spPr>
            <a:xfrm>
              <a:off x="2728038" y="5395393"/>
              <a:ext cx="428322" cy="353943"/>
            </a:xfrm>
            <a:prstGeom prst="rect">
              <a:avLst/>
            </a:prstGeom>
            <a:noFill/>
          </p:spPr>
          <p:txBody>
            <a:bodyPr wrap="none" rtlCol="0">
              <a:spAutoFit/>
            </a:bodyPr>
            <a:lstStyle/>
            <a:p>
              <a:pPr algn="ctr"/>
              <a:r>
                <a:rPr lang="en-US" sz="1700" dirty="0"/>
                <a:t>10</a:t>
              </a:r>
            </a:p>
          </p:txBody>
        </p:sp>
        <p:sp>
          <p:nvSpPr>
            <p:cNvPr id="81" name="TextBox 80">
              <a:extLst>
                <a:ext uri="{FF2B5EF4-FFF2-40B4-BE49-F238E27FC236}">
                  <a16:creationId xmlns:a16="http://schemas.microsoft.com/office/drawing/2014/main" id="{5B7481B6-6097-49E2-9D4C-C795B8FB5FD9}"/>
                </a:ext>
              </a:extLst>
            </p:cNvPr>
            <p:cNvSpPr txBox="1"/>
            <p:nvPr/>
          </p:nvSpPr>
          <p:spPr>
            <a:xfrm>
              <a:off x="4410425" y="5395393"/>
              <a:ext cx="306494" cy="353943"/>
            </a:xfrm>
            <a:prstGeom prst="rect">
              <a:avLst/>
            </a:prstGeom>
            <a:noFill/>
          </p:spPr>
          <p:txBody>
            <a:bodyPr wrap="none" rtlCol="0">
              <a:spAutoFit/>
            </a:bodyPr>
            <a:lstStyle/>
            <a:p>
              <a:pPr algn="ctr"/>
              <a:r>
                <a:rPr lang="en-US" sz="1700" dirty="0"/>
                <a:t>1</a:t>
              </a:r>
            </a:p>
          </p:txBody>
        </p:sp>
        <p:sp>
          <p:nvSpPr>
            <p:cNvPr id="82" name="TextBox 81">
              <a:extLst>
                <a:ext uri="{FF2B5EF4-FFF2-40B4-BE49-F238E27FC236}">
                  <a16:creationId xmlns:a16="http://schemas.microsoft.com/office/drawing/2014/main" id="{EB27EC34-EAEF-4E54-BF0D-E5CFA9C9F2E0}"/>
                </a:ext>
              </a:extLst>
            </p:cNvPr>
            <p:cNvSpPr txBox="1"/>
            <p:nvPr/>
          </p:nvSpPr>
          <p:spPr>
            <a:xfrm>
              <a:off x="5806479" y="5395393"/>
              <a:ext cx="306494" cy="353943"/>
            </a:xfrm>
            <a:prstGeom prst="rect">
              <a:avLst/>
            </a:prstGeom>
            <a:noFill/>
          </p:spPr>
          <p:txBody>
            <a:bodyPr wrap="none" rtlCol="0">
              <a:spAutoFit/>
            </a:bodyPr>
            <a:lstStyle/>
            <a:p>
              <a:pPr algn="ctr"/>
              <a:r>
                <a:rPr lang="en-US" sz="1700" dirty="0"/>
                <a:t>8</a:t>
              </a:r>
            </a:p>
          </p:txBody>
        </p:sp>
        <p:sp>
          <p:nvSpPr>
            <p:cNvPr id="83" name="TextBox 82">
              <a:extLst>
                <a:ext uri="{FF2B5EF4-FFF2-40B4-BE49-F238E27FC236}">
                  <a16:creationId xmlns:a16="http://schemas.microsoft.com/office/drawing/2014/main" id="{8D7A1015-0610-4747-B4A7-E296BF84D497}"/>
                </a:ext>
              </a:extLst>
            </p:cNvPr>
            <p:cNvSpPr txBox="1"/>
            <p:nvPr/>
          </p:nvSpPr>
          <p:spPr>
            <a:xfrm>
              <a:off x="7202532" y="5395393"/>
              <a:ext cx="306494" cy="353943"/>
            </a:xfrm>
            <a:prstGeom prst="rect">
              <a:avLst/>
            </a:prstGeom>
            <a:noFill/>
          </p:spPr>
          <p:txBody>
            <a:bodyPr wrap="none" rtlCol="0">
              <a:spAutoFit/>
            </a:bodyPr>
            <a:lstStyle/>
            <a:p>
              <a:pPr algn="ctr"/>
              <a:r>
                <a:rPr lang="en-US" sz="1700" dirty="0"/>
                <a:t>5</a:t>
              </a:r>
            </a:p>
          </p:txBody>
        </p:sp>
        <p:sp>
          <p:nvSpPr>
            <p:cNvPr id="84" name="TextBox 83">
              <a:extLst>
                <a:ext uri="{FF2B5EF4-FFF2-40B4-BE49-F238E27FC236}">
                  <a16:creationId xmlns:a16="http://schemas.microsoft.com/office/drawing/2014/main" id="{B5FCBBC4-C278-4836-8BC1-E5E818250109}"/>
                </a:ext>
              </a:extLst>
            </p:cNvPr>
            <p:cNvSpPr txBox="1"/>
            <p:nvPr/>
          </p:nvSpPr>
          <p:spPr>
            <a:xfrm>
              <a:off x="8306232" y="5395393"/>
              <a:ext cx="306494" cy="353943"/>
            </a:xfrm>
            <a:prstGeom prst="rect">
              <a:avLst/>
            </a:prstGeom>
            <a:noFill/>
          </p:spPr>
          <p:txBody>
            <a:bodyPr wrap="none" rtlCol="0">
              <a:spAutoFit/>
            </a:bodyPr>
            <a:lstStyle/>
            <a:p>
              <a:pPr algn="ctr"/>
              <a:r>
                <a:rPr lang="en-US" sz="1700" dirty="0"/>
                <a:t>7</a:t>
              </a:r>
            </a:p>
          </p:txBody>
        </p:sp>
      </p:grpSp>
      <p:sp>
        <p:nvSpPr>
          <p:cNvPr id="85" name="TextBox 84">
            <a:extLst>
              <a:ext uri="{FF2B5EF4-FFF2-40B4-BE49-F238E27FC236}">
                <a16:creationId xmlns:a16="http://schemas.microsoft.com/office/drawing/2014/main" id="{C7B11DE2-2F17-4E55-AED4-419335DD7EEE}"/>
              </a:ext>
            </a:extLst>
          </p:cNvPr>
          <p:cNvSpPr txBox="1"/>
          <p:nvPr/>
        </p:nvSpPr>
        <p:spPr>
          <a:xfrm>
            <a:off x="4629151" y="4766092"/>
            <a:ext cx="4055180" cy="353943"/>
          </a:xfrm>
          <a:prstGeom prst="rect">
            <a:avLst/>
          </a:prstGeom>
          <a:solidFill>
            <a:srgbClr val="92D050"/>
          </a:solidFill>
          <a:ln w="12700">
            <a:solidFill>
              <a:schemeClr val="tx1"/>
            </a:solidFill>
          </a:ln>
        </p:spPr>
        <p:txBody>
          <a:bodyPr wrap="square" rtlCol="0">
            <a:spAutoFit/>
          </a:bodyPr>
          <a:lstStyle/>
          <a:p>
            <a:pPr algn="ctr"/>
            <a:endParaRPr lang="en-US" sz="1700" dirty="0">
              <a:solidFill>
                <a:srgbClr val="56127A"/>
              </a:solidFill>
            </a:endParaRPr>
          </a:p>
        </p:txBody>
      </p:sp>
      <p:sp>
        <p:nvSpPr>
          <p:cNvPr id="86" name="TextBox 85">
            <a:extLst>
              <a:ext uri="{FF2B5EF4-FFF2-40B4-BE49-F238E27FC236}">
                <a16:creationId xmlns:a16="http://schemas.microsoft.com/office/drawing/2014/main" id="{D76AE1D4-B6C4-45F2-92D5-46E8CACC716D}"/>
              </a:ext>
            </a:extLst>
          </p:cNvPr>
          <p:cNvSpPr txBox="1"/>
          <p:nvPr/>
        </p:nvSpPr>
        <p:spPr>
          <a:xfrm>
            <a:off x="8722659" y="4762304"/>
            <a:ext cx="2550101" cy="353943"/>
          </a:xfrm>
          <a:prstGeom prst="rect">
            <a:avLst/>
          </a:prstGeom>
          <a:solidFill>
            <a:srgbClr val="92D050"/>
          </a:solid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[11:1]</a:t>
            </a:r>
          </a:p>
        </p:txBody>
      </p:sp>
      <p:sp>
        <p:nvSpPr>
          <p:cNvPr id="33" name="TextBox 32">
            <a:extLst>
              <a:ext uri="{FF2B5EF4-FFF2-40B4-BE49-F238E27FC236}">
                <a16:creationId xmlns:a16="http://schemas.microsoft.com/office/drawing/2014/main" id="{DDB1D972-E8B9-49F8-9182-8A9E5DF57BE9}"/>
              </a:ext>
            </a:extLst>
          </p:cNvPr>
          <p:cNvSpPr txBox="1"/>
          <p:nvPr/>
        </p:nvSpPr>
        <p:spPr>
          <a:xfrm>
            <a:off x="109129" y="3725607"/>
            <a:ext cx="407484"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U</a:t>
            </a:r>
          </a:p>
        </p:txBody>
      </p:sp>
      <p:sp>
        <p:nvSpPr>
          <p:cNvPr id="87" name="TextBox 86">
            <a:extLst>
              <a:ext uri="{FF2B5EF4-FFF2-40B4-BE49-F238E27FC236}">
                <a16:creationId xmlns:a16="http://schemas.microsoft.com/office/drawing/2014/main" id="{4779D097-C3EB-4816-AF10-22643E68213A}"/>
              </a:ext>
            </a:extLst>
          </p:cNvPr>
          <p:cNvSpPr txBox="1"/>
          <p:nvPr/>
        </p:nvSpPr>
        <p:spPr>
          <a:xfrm>
            <a:off x="83046" y="4762304"/>
            <a:ext cx="338554"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J</a:t>
            </a:r>
          </a:p>
        </p:txBody>
      </p:sp>
      <p:sp>
        <p:nvSpPr>
          <p:cNvPr id="88" name="TextBox 87">
            <a:extLst>
              <a:ext uri="{FF2B5EF4-FFF2-40B4-BE49-F238E27FC236}">
                <a16:creationId xmlns:a16="http://schemas.microsoft.com/office/drawing/2014/main" id="{51534CC4-F7E9-4E73-A8C9-AF34CBAE8187}"/>
              </a:ext>
            </a:extLst>
          </p:cNvPr>
          <p:cNvSpPr txBox="1"/>
          <p:nvPr/>
        </p:nvSpPr>
        <p:spPr>
          <a:xfrm>
            <a:off x="545526" y="4754108"/>
            <a:ext cx="4055180" cy="353943"/>
          </a:xfrm>
          <a:prstGeom prst="rect">
            <a:avLst/>
          </a:prstGeom>
          <a:noFill/>
          <a:ln w="12700">
            <a:solidFill>
              <a:schemeClr val="tx1"/>
            </a:solidFill>
          </a:ln>
        </p:spPr>
        <p:txBody>
          <a:bodyPr wrap="square" rtlCol="0">
            <a:spAutoFit/>
          </a:bodyPr>
          <a:lstStyle/>
          <a:p>
            <a:pPr algn="ctr"/>
            <a:endParaRPr lang="en-US" sz="1700" dirty="0">
              <a:solidFill>
                <a:srgbClr val="56127A"/>
              </a:solidFill>
            </a:endParaRPr>
          </a:p>
        </p:txBody>
      </p:sp>
      <p:cxnSp>
        <p:nvCxnSpPr>
          <p:cNvPr id="35" name="Straight Arrow Connector 34">
            <a:extLst>
              <a:ext uri="{FF2B5EF4-FFF2-40B4-BE49-F238E27FC236}">
                <a16:creationId xmlns:a16="http://schemas.microsoft.com/office/drawing/2014/main" id="{AB6A062F-B118-48B7-8BC7-0C99CE658C9F}"/>
              </a:ext>
            </a:extLst>
          </p:cNvPr>
          <p:cNvCxnSpPr>
            <a:cxnSpLocks/>
          </p:cNvCxnSpPr>
          <p:nvPr/>
        </p:nvCxnSpPr>
        <p:spPr bwMode="auto">
          <a:xfrm>
            <a:off x="3921834" y="2610926"/>
            <a:ext cx="5198893" cy="2137921"/>
          </a:xfrm>
          <a:prstGeom prst="straightConnector1">
            <a:avLst/>
          </a:prstGeom>
          <a:noFill/>
          <a:ln w="15875" cap="flat" cmpd="sng" algn="ctr">
            <a:solidFill>
              <a:srgbClr val="FF0000"/>
            </a:solidFill>
            <a:prstDash val="solid"/>
            <a:round/>
            <a:headEnd type="none" w="med" len="med"/>
            <a:tailEnd type="triangle"/>
          </a:ln>
          <a:effectLst/>
        </p:spPr>
      </p:cxnSp>
      <p:cxnSp>
        <p:nvCxnSpPr>
          <p:cNvPr id="89" name="Straight Arrow Connector 88">
            <a:extLst>
              <a:ext uri="{FF2B5EF4-FFF2-40B4-BE49-F238E27FC236}">
                <a16:creationId xmlns:a16="http://schemas.microsoft.com/office/drawing/2014/main" id="{30ACC627-64DC-4F2A-B8C9-858CFDF8F83C}"/>
              </a:ext>
            </a:extLst>
          </p:cNvPr>
          <p:cNvCxnSpPr>
            <a:cxnSpLocks/>
          </p:cNvCxnSpPr>
          <p:nvPr/>
        </p:nvCxnSpPr>
        <p:spPr bwMode="auto">
          <a:xfrm>
            <a:off x="5985294" y="2542757"/>
            <a:ext cx="5325795" cy="2219547"/>
          </a:xfrm>
          <a:prstGeom prst="straightConnector1">
            <a:avLst/>
          </a:prstGeom>
          <a:noFill/>
          <a:ln w="15875" cap="flat" cmpd="sng" algn="ctr">
            <a:solidFill>
              <a:srgbClr val="FF0000"/>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4205B364-00BE-4B94-B188-136A2F923063}"/>
              </a:ext>
            </a:extLst>
          </p:cNvPr>
          <p:cNvCxnSpPr>
            <a:stCxn id="77" idx="2"/>
          </p:cNvCxnSpPr>
          <p:nvPr/>
        </p:nvCxnSpPr>
        <p:spPr bwMode="auto">
          <a:xfrm>
            <a:off x="6583052" y="2542757"/>
            <a:ext cx="2258532" cy="2223335"/>
          </a:xfrm>
          <a:prstGeom prst="straightConnector1">
            <a:avLst/>
          </a:prstGeom>
          <a:noFill/>
          <a:ln w="15875" cap="flat" cmpd="sng" algn="ctr">
            <a:solidFill>
              <a:srgbClr val="FF0000"/>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CABFA1DC-A828-4879-89AB-744D2E242043}"/>
              </a:ext>
            </a:extLst>
          </p:cNvPr>
          <p:cNvCxnSpPr>
            <a:cxnSpLocks/>
          </p:cNvCxnSpPr>
          <p:nvPr/>
        </p:nvCxnSpPr>
        <p:spPr bwMode="auto">
          <a:xfrm>
            <a:off x="7138605" y="1280423"/>
            <a:ext cx="1" cy="36153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9486524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Why Jump and Link? Why no Normal Jumps?</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47</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972801" cy="5395739"/>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kern="0" dirty="0"/>
              <a:t>RISC-V has only Jump and Link instruction: </a:t>
            </a:r>
          </a:p>
          <a:p>
            <a:pPr marL="723890" lvl="1" indent="-380990">
              <a:buFont typeface="Wingdings" panose="05000000000000000000" pitchFamily="2" charset="2"/>
              <a:buChar char="§"/>
            </a:pPr>
            <a:r>
              <a:rPr lang="en-US" sz="2400" kern="0" dirty="0"/>
              <a:t>Two variations: JAL (direct) and JALR (indirect)</a:t>
            </a:r>
          </a:p>
          <a:p>
            <a:pPr marL="380990" indent="-380990">
              <a:buFont typeface="Wingdings" panose="05000000000000000000" pitchFamily="2" charset="2"/>
              <a:buChar char="§"/>
            </a:pPr>
            <a:r>
              <a:rPr lang="en-US" kern="0" dirty="0"/>
              <a:t>What happens to a normal jump? Is the link register wasted?</a:t>
            </a:r>
          </a:p>
          <a:p>
            <a:pPr marL="723890" lvl="1" indent="-380990">
              <a:buFont typeface="Wingdings" panose="05000000000000000000" pitchFamily="2" charset="2"/>
              <a:buChar char="§"/>
            </a:pPr>
            <a:r>
              <a:rPr lang="en-US" sz="2400" kern="0" dirty="0"/>
              <a:t>There is a pseudo instruction “J”, which the assembler will set the “</a:t>
            </a:r>
            <a:r>
              <a:rPr lang="en-US" sz="2400" kern="0" dirty="0" err="1"/>
              <a:t>rd</a:t>
            </a:r>
            <a:r>
              <a:rPr lang="en-US" sz="2400" kern="0" dirty="0"/>
              <a:t>” as 0</a:t>
            </a:r>
          </a:p>
          <a:p>
            <a:pPr marL="723890" lvl="1" indent="-380990">
              <a:buFont typeface="Wingdings" panose="05000000000000000000" pitchFamily="2" charset="2"/>
              <a:buChar char="§"/>
            </a:pPr>
            <a:r>
              <a:rPr lang="en-US" sz="2400" kern="0" dirty="0"/>
              <a:t>If not using the pseudo instruction “J,” the compiler can still discover the link register is unused and reuse it for another purpose.</a:t>
            </a:r>
          </a:p>
          <a:p>
            <a:pPr marL="380990" indent="-380990">
              <a:buFont typeface="Wingdings" panose="05000000000000000000" pitchFamily="2" charset="2"/>
              <a:buChar char="§"/>
            </a:pPr>
            <a:r>
              <a:rPr lang="en-US" kern="0" dirty="0"/>
              <a:t>This helps to avoid using additional jump instructions, such as one for call and one for jump. This is related to simplicity and regularity.</a:t>
            </a:r>
          </a:p>
          <a:p>
            <a:pPr marL="380990" indent="-380990">
              <a:buFont typeface="Wingdings" panose="05000000000000000000" pitchFamily="2" charset="2"/>
              <a:buChar char="§"/>
            </a:pPr>
            <a:r>
              <a:rPr lang="en-US" kern="0" dirty="0"/>
              <a:t>But normal jumps do not need “</a:t>
            </a:r>
            <a:r>
              <a:rPr lang="en-US" kern="0" dirty="0" err="1"/>
              <a:t>rd</a:t>
            </a:r>
            <a:r>
              <a:rPr lang="en-US" kern="0" dirty="0"/>
              <a:t>”, so “</a:t>
            </a:r>
            <a:r>
              <a:rPr lang="en-US" kern="0" dirty="0" err="1"/>
              <a:t>rd</a:t>
            </a:r>
            <a:r>
              <a:rPr lang="en-US" kern="0" dirty="0"/>
              <a:t>” field could be used for immediate, and this could increase the jump range (32x greater)</a:t>
            </a:r>
          </a:p>
          <a:p>
            <a:pPr marL="723890" lvl="1" indent="-380990">
              <a:buFont typeface="Wingdings" panose="05000000000000000000" pitchFamily="2" charset="2"/>
              <a:buChar char="§"/>
            </a:pPr>
            <a:r>
              <a:rPr lang="en-US" sz="2400" kern="0" dirty="0"/>
              <a:t>This calls for another instruction format (25 bits of immediate) is it worthwhile?</a:t>
            </a:r>
          </a:p>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2445514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JALR Instruction</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48</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08434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
        <p:nvSpPr>
          <p:cNvPr id="7" name="Content Placeholder 2">
            <a:extLst>
              <a:ext uri="{FF2B5EF4-FFF2-40B4-BE49-F238E27FC236}">
                <a16:creationId xmlns:a16="http://schemas.microsoft.com/office/drawing/2014/main" id="{5B223498-FCAE-45EC-AF40-C3973D6C408F}"/>
              </a:ext>
            </a:extLst>
          </p:cNvPr>
          <p:cNvSpPr txBox="1">
            <a:spLocks/>
          </p:cNvSpPr>
          <p:nvPr/>
        </p:nvSpPr>
        <p:spPr bwMode="auto">
          <a:xfrm>
            <a:off x="203201" y="891195"/>
            <a:ext cx="11988799" cy="5803295"/>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sz="2400" kern="0" dirty="0"/>
              <a:t>JALR is an indirect branch. This instruction is in </a:t>
            </a:r>
            <a:r>
              <a:rPr lang="en-US" kern="0" dirty="0">
                <a:solidFill>
                  <a:srgbClr val="FF0000"/>
                </a:solidFill>
              </a:rPr>
              <a:t>I-type</a:t>
            </a:r>
            <a:r>
              <a:rPr lang="en-US" sz="2400" kern="0" dirty="0"/>
              <a:t>. It is usually used for addresses computed at runtime (such as return addresses, functional pointers, etc.).</a:t>
            </a:r>
          </a:p>
          <a:p>
            <a:pPr marL="380990" indent="-380990">
              <a:buFont typeface="Wingdings" panose="05000000000000000000" pitchFamily="2" charset="2"/>
              <a:buChar char="§"/>
            </a:pPr>
            <a:r>
              <a:rPr lang="en-US" sz="2667" kern="0" dirty="0">
                <a:solidFill>
                  <a:prstClr val="black"/>
                </a:solidFill>
              </a:rPr>
              <a:t>JALR: 		</a:t>
            </a:r>
            <a:r>
              <a:rPr lang="en-US" sz="2667" kern="0" dirty="0" err="1">
                <a:solidFill>
                  <a:srgbClr val="56127A"/>
                </a:solidFill>
                <a:sym typeface="Wingdings" panose="05000000000000000000" pitchFamily="2" charset="2"/>
              </a:rPr>
              <a:t>rd</a:t>
            </a:r>
            <a:r>
              <a:rPr lang="en-US" sz="2667" kern="0" dirty="0">
                <a:solidFill>
                  <a:srgbClr val="56127A"/>
                </a:solidFill>
                <a:sym typeface="Wingdings" panose="05000000000000000000" pitchFamily="2" charset="2"/>
              </a:rPr>
              <a:t>  pc + 4;  // set up link</a:t>
            </a:r>
          </a:p>
          <a:p>
            <a:pPr lvl="2"/>
            <a:r>
              <a:rPr lang="en-US" sz="2400" kern="0" dirty="0">
                <a:solidFill>
                  <a:srgbClr val="56127A"/>
                </a:solidFill>
                <a:latin typeface="Calibri" panose="020F0502020204030204" pitchFamily="34" charset="0"/>
                <a:ea typeface="標楷體" pitchFamily="65" charset="-120"/>
                <a:sym typeface="Wingdings" panose="05000000000000000000" pitchFamily="2" charset="2"/>
              </a:rPr>
              <a:t>			</a:t>
            </a:r>
            <a:r>
              <a:rPr lang="en-US" sz="2667" kern="0" dirty="0">
                <a:solidFill>
                  <a:srgbClr val="56127A"/>
                </a:solidFill>
                <a:latin typeface="Calibri" panose="020F0502020204030204" pitchFamily="34" charset="0"/>
                <a:ea typeface="標楷體" pitchFamily="65" charset="-120"/>
                <a:sym typeface="Wingdings" panose="05000000000000000000" pitchFamily="2" charset="2"/>
              </a:rPr>
              <a:t>pc  (rs1 + I-</a:t>
            </a:r>
            <a:r>
              <a:rPr lang="en-US" sz="2667" kern="0" dirty="0" err="1">
                <a:solidFill>
                  <a:srgbClr val="56127A"/>
                </a:solidFill>
                <a:latin typeface="Calibri" panose="020F0502020204030204" pitchFamily="34" charset="0"/>
                <a:ea typeface="標楷體" pitchFamily="65" charset="-120"/>
                <a:sym typeface="Wingdings" panose="05000000000000000000" pitchFamily="2" charset="2"/>
              </a:rPr>
              <a:t>imm</a:t>
            </a:r>
            <a:r>
              <a:rPr lang="en-US" sz="2667" kern="0" dirty="0">
                <a:solidFill>
                  <a:srgbClr val="56127A"/>
                </a:solidFill>
                <a:latin typeface="Calibri" panose="020F0502020204030204" pitchFamily="34" charset="0"/>
                <a:ea typeface="標楷體" pitchFamily="65" charset="-120"/>
                <a:sym typeface="Wingdings" panose="05000000000000000000" pitchFamily="2" charset="2"/>
              </a:rPr>
              <a:t>) &amp; ~0x01	// branch to target</a:t>
            </a:r>
          </a:p>
          <a:p>
            <a:pPr marL="457189" indent="-457189">
              <a:buFont typeface="Wingdings" panose="05000000000000000000" pitchFamily="2" charset="2"/>
              <a:buChar char="§"/>
            </a:pPr>
            <a:r>
              <a:rPr lang="en-US" sz="2667" kern="0" dirty="0"/>
              <a:t>For return branch:</a:t>
            </a:r>
          </a:p>
          <a:p>
            <a:r>
              <a:rPr lang="en-US" sz="2667" kern="0" dirty="0"/>
              <a:t>		</a:t>
            </a:r>
            <a:r>
              <a:rPr lang="en-US" sz="2667" kern="0" dirty="0">
                <a:solidFill>
                  <a:srgbClr val="56127A"/>
                </a:solidFill>
                <a:sym typeface="Wingdings" panose="05000000000000000000" pitchFamily="2" charset="2"/>
              </a:rPr>
              <a:t> 	pc  (rs1) &amp; ~0x01			//  byte address in rs1</a:t>
            </a:r>
          </a:p>
          <a:p>
            <a:endParaRPr lang="en-US" sz="467" kern="0" dirty="0"/>
          </a:p>
          <a:p>
            <a:pPr marL="457189" indent="-457189" defTabSz="1219170" fontAlgn="auto">
              <a:spcBef>
                <a:spcPts val="0"/>
              </a:spcBef>
              <a:spcAft>
                <a:spcPts val="0"/>
              </a:spcAft>
              <a:buClrTx/>
              <a:buSzTx/>
              <a:buFont typeface="Wingdings" panose="05000000000000000000" pitchFamily="2" charset="2"/>
              <a:buChar char="§"/>
              <a:defRPr/>
            </a:pPr>
            <a:r>
              <a:rPr kumimoji="0" lang="en-US" sz="2667" kern="0" dirty="0">
                <a:solidFill>
                  <a:prstClr val="black"/>
                </a:solidFill>
                <a:ea typeface="Calibri" panose="020F0502020204030204" pitchFamily="34" charset="0"/>
                <a:cs typeface="Calibri" panose="020F0502020204030204" pitchFamily="34" charset="0"/>
              </a:rPr>
              <a:t>For branch table:</a:t>
            </a:r>
          </a:p>
          <a:p>
            <a:pPr defTabSz="1219170" fontAlgn="auto">
              <a:spcBef>
                <a:spcPts val="0"/>
              </a:spcBef>
              <a:spcAft>
                <a:spcPts val="0"/>
              </a:spcAft>
              <a:buClrTx/>
              <a:buSzTx/>
              <a:defRPr/>
            </a:pPr>
            <a:r>
              <a:rPr kumimoji="0" lang="en-US" sz="2667" kern="0" dirty="0">
                <a:solidFill>
                  <a:prstClr val="black"/>
                </a:solidFill>
                <a:ea typeface="Calibri" panose="020F0502020204030204" pitchFamily="34" charset="0"/>
                <a:cs typeface="Calibri" panose="020F0502020204030204" pitchFamily="34" charset="0"/>
              </a:rPr>
              <a:t>		</a:t>
            </a:r>
            <a:r>
              <a:rPr lang="en-US" sz="2667" kern="0" dirty="0">
                <a:solidFill>
                  <a:srgbClr val="56127A"/>
                </a:solidFill>
                <a:ea typeface="Calibri" panose="020F0502020204030204" pitchFamily="34" charset="0"/>
                <a:cs typeface="Calibri" panose="020F0502020204030204" pitchFamily="34" charset="0"/>
                <a:sym typeface="Wingdings" panose="05000000000000000000" pitchFamily="2" charset="2"/>
              </a:rPr>
              <a:t> pc  (rs1 + I-</a:t>
            </a:r>
            <a:r>
              <a:rPr lang="en-US" sz="2667" kern="0" dirty="0" err="1">
                <a:solidFill>
                  <a:srgbClr val="56127A"/>
                </a:solidFill>
                <a:ea typeface="Calibri" panose="020F0502020204030204" pitchFamily="34" charset="0"/>
                <a:cs typeface="Calibri" panose="020F0502020204030204" pitchFamily="34" charset="0"/>
                <a:sym typeface="Wingdings" panose="05000000000000000000" pitchFamily="2" charset="2"/>
              </a:rPr>
              <a:t>imm</a:t>
            </a:r>
            <a:r>
              <a:rPr lang="en-US" sz="2667" kern="0" dirty="0">
                <a:solidFill>
                  <a:srgbClr val="56127A"/>
                </a:solidFill>
                <a:ea typeface="Calibri" panose="020F0502020204030204" pitchFamily="34" charset="0"/>
                <a:cs typeface="Calibri" panose="020F0502020204030204" pitchFamily="34" charset="0"/>
                <a:sym typeface="Wingdings" panose="05000000000000000000" pitchFamily="2" charset="2"/>
              </a:rPr>
              <a:t>) &amp; ~0x01	// jump to one entry in 						    	the branch table, which 						   	 is another jump instruction.</a:t>
            </a:r>
          </a:p>
          <a:p>
            <a:pPr marL="380990" indent="-380990" defTabSz="1219170" fontAlgn="auto">
              <a:spcBef>
                <a:spcPts val="0"/>
              </a:spcBef>
              <a:spcAft>
                <a:spcPts val="0"/>
              </a:spcAft>
              <a:buClrTx/>
              <a:buSzTx/>
              <a:buFont typeface="Wingdings" panose="05000000000000000000" pitchFamily="2" charset="2"/>
              <a:buChar char="§"/>
              <a:defRPr/>
            </a:pPr>
            <a:r>
              <a:rPr lang="en-US" sz="2400" kern="0" dirty="0">
                <a:solidFill>
                  <a:srgbClr val="56127A"/>
                </a:solidFill>
                <a:ea typeface="Calibri" panose="020F0502020204030204" pitchFamily="34" charset="0"/>
                <a:cs typeface="Calibri" panose="020F0502020204030204" pitchFamily="34" charset="0"/>
                <a:sym typeface="Wingdings" panose="05000000000000000000" pitchFamily="2" charset="2"/>
              </a:rPr>
              <a:t>The hardware does not distinguish a return branch from a branch to the first entry of the branch table. In both cases, the offset is 0, i.e. 0(rs1).</a:t>
            </a:r>
            <a:endParaRPr lang="en-US" sz="2400" kern="0" dirty="0"/>
          </a:p>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4176918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D83093-6614-4A16-8105-9070ED2CD9BC}"/>
              </a:ext>
            </a:extLst>
          </p:cNvPr>
          <p:cNvSpPr>
            <a:spLocks noGrp="1"/>
          </p:cNvSpPr>
          <p:nvPr>
            <p:ph type="body" idx="1"/>
          </p:nvPr>
        </p:nvSpPr>
        <p:spPr>
          <a:xfrm>
            <a:off x="1140179" y="174624"/>
            <a:ext cx="10363200" cy="638177"/>
          </a:xfrm>
        </p:spPr>
        <p:txBody>
          <a:bodyPr/>
          <a:lstStyle/>
          <a:p>
            <a:r>
              <a:rPr lang="en-US" dirty="0"/>
              <a:t>How to infer a return branch?</a:t>
            </a:r>
          </a:p>
        </p:txBody>
      </p:sp>
      <p:sp>
        <p:nvSpPr>
          <p:cNvPr id="4" name="Slide Number Placeholder 3">
            <a:extLst>
              <a:ext uri="{FF2B5EF4-FFF2-40B4-BE49-F238E27FC236}">
                <a16:creationId xmlns:a16="http://schemas.microsoft.com/office/drawing/2014/main" id="{97D0DDAE-E632-42B4-AB7F-28A5D1F1623A}"/>
              </a:ext>
            </a:extLst>
          </p:cNvPr>
          <p:cNvSpPr>
            <a:spLocks noGrp="1"/>
          </p:cNvSpPr>
          <p:nvPr>
            <p:ph type="sldNum" sz="quarter" idx="10"/>
          </p:nvPr>
        </p:nvSpPr>
        <p:spPr/>
        <p:txBody>
          <a:bodyPr/>
          <a:lstStyle/>
          <a:p>
            <a:fld id="{D9B6BDF2-6896-4B98-8776-C18582F63BA5}" type="slidenum">
              <a:rPr lang="zh-TW" altLang="en-US" smtClean="0"/>
              <a:t>49</a:t>
            </a:fld>
            <a:endParaRPr lang="zh-TW" altLang="en-US"/>
          </a:p>
        </p:txBody>
      </p:sp>
      <p:sp>
        <p:nvSpPr>
          <p:cNvPr id="8" name="Content Placeholder 2">
            <a:extLst>
              <a:ext uri="{FF2B5EF4-FFF2-40B4-BE49-F238E27FC236}">
                <a16:creationId xmlns:a16="http://schemas.microsoft.com/office/drawing/2014/main" id="{73B5A2CD-D338-4458-969D-09E90B8A5D3A}"/>
              </a:ext>
            </a:extLst>
          </p:cNvPr>
          <p:cNvSpPr txBox="1">
            <a:spLocks/>
          </p:cNvSpPr>
          <p:nvPr/>
        </p:nvSpPr>
        <p:spPr bwMode="auto">
          <a:xfrm>
            <a:off x="530578" y="1128891"/>
            <a:ext cx="10566399" cy="5084340"/>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endParaRPr lang="en-US" sz="2400" kern="0" dirty="0"/>
          </a:p>
          <a:p>
            <a:pPr marL="838179" lvl="1" indent="-380990">
              <a:buFont typeface="Wingdings" panose="05000000000000000000" pitchFamily="2" charset="2"/>
              <a:buChar char="§"/>
            </a:pPr>
            <a:endParaRPr lang="en-US" sz="467" kern="0" dirty="0"/>
          </a:p>
        </p:txBody>
      </p:sp>
      <p:sp>
        <p:nvSpPr>
          <p:cNvPr id="7" name="Content Placeholder 2">
            <a:extLst>
              <a:ext uri="{FF2B5EF4-FFF2-40B4-BE49-F238E27FC236}">
                <a16:creationId xmlns:a16="http://schemas.microsoft.com/office/drawing/2014/main" id="{5B223498-FCAE-45EC-AF40-C3973D6C408F}"/>
              </a:ext>
            </a:extLst>
          </p:cNvPr>
          <p:cNvSpPr txBox="1">
            <a:spLocks/>
          </p:cNvSpPr>
          <p:nvPr/>
        </p:nvSpPr>
        <p:spPr bwMode="auto">
          <a:xfrm>
            <a:off x="203201" y="891195"/>
            <a:ext cx="11988799" cy="5803295"/>
          </a:xfrm>
          <a:prstGeom prst="rect">
            <a:avLst/>
          </a:prstGeom>
          <a:noFill/>
          <a:ln w="9525">
            <a:noFill/>
            <a:miter lim="800000"/>
          </a:ln>
        </p:spPr>
        <p:txBody>
          <a:bodyPr vert="horz" wrap="square" lIns="121920" tIns="60960" rIns="121920" bIns="60960" numCol="1" anchor="b" anchorCtr="0" compatLnSpc="1"/>
          <a:lstStyle>
            <a:lvl1pPr marL="0" indent="0" algn="l" rtl="0" eaLnBrk="1" fontAlgn="base" hangingPunct="1">
              <a:spcBef>
                <a:spcPct val="20000"/>
              </a:spcBef>
              <a:spcAft>
                <a:spcPct val="0"/>
              </a:spcAft>
              <a:buClr>
                <a:srgbClr val="8064A2"/>
              </a:buClr>
              <a:buSzPct val="80000"/>
              <a:buFont typeface="Wingdings" panose="05000000000000000000" pitchFamily="2" charset="2"/>
              <a:buNone/>
              <a:defRPr kumimoji="1" sz="2800">
                <a:solidFill>
                  <a:schemeClr val="tx1"/>
                </a:solidFill>
                <a:latin typeface="Calibri" panose="020F0502020204030204" pitchFamily="34" charset="0"/>
                <a:ea typeface="標楷體" pitchFamily="65" charset="-120"/>
                <a:cs typeface="+mn-cs"/>
              </a:defRPr>
            </a:lvl1pPr>
            <a:lvl2pPr marL="342900" indent="0" algn="l" rtl="0" eaLnBrk="1" fontAlgn="base" hangingPunct="1">
              <a:spcBef>
                <a:spcPct val="20000"/>
              </a:spcBef>
              <a:spcAft>
                <a:spcPct val="0"/>
              </a:spcAft>
              <a:buClr>
                <a:srgbClr val="8064A2"/>
              </a:buClr>
              <a:buSzPct val="90000"/>
              <a:buFont typeface="Arial" panose="020B0604020202020204" pitchFamily="34" charset="0"/>
              <a:buNone/>
              <a:defRPr kumimoji="1" sz="1350">
                <a:solidFill>
                  <a:schemeClr val="tx1"/>
                </a:solidFill>
                <a:latin typeface="Calibri" panose="020F0502020204030204" pitchFamily="34" charset="0"/>
                <a:ea typeface="標楷體" pitchFamily="65" charset="-120"/>
              </a:defRPr>
            </a:lvl2pPr>
            <a:lvl3pPr marL="685800" indent="0" algn="l" rtl="0" eaLnBrk="1" fontAlgn="base" hangingPunct="1">
              <a:spcBef>
                <a:spcPct val="20000"/>
              </a:spcBef>
              <a:spcAft>
                <a:spcPct val="0"/>
              </a:spcAft>
              <a:buNone/>
              <a:defRPr kumimoji="1" sz="1200">
                <a:solidFill>
                  <a:schemeClr val="tx1"/>
                </a:solidFill>
                <a:latin typeface="+mn-lt"/>
                <a:ea typeface="+mn-ea"/>
              </a:defRPr>
            </a:lvl3pPr>
            <a:lvl4pPr marL="1028700" indent="0" algn="l" rtl="0" eaLnBrk="1" fontAlgn="base" hangingPunct="1">
              <a:spcBef>
                <a:spcPct val="20000"/>
              </a:spcBef>
              <a:spcAft>
                <a:spcPct val="0"/>
              </a:spcAft>
              <a:buNone/>
              <a:defRPr kumimoji="1" sz="1050">
                <a:solidFill>
                  <a:schemeClr val="tx1"/>
                </a:solidFill>
                <a:latin typeface="+mn-lt"/>
                <a:ea typeface="+mn-ea"/>
              </a:defRPr>
            </a:lvl4pPr>
            <a:lvl5pPr marL="1371600" indent="0" algn="l" rtl="0" eaLnBrk="1" fontAlgn="base" hangingPunct="1">
              <a:spcBef>
                <a:spcPct val="20000"/>
              </a:spcBef>
              <a:spcAft>
                <a:spcPct val="0"/>
              </a:spcAft>
              <a:buNone/>
              <a:defRPr kumimoji="1" sz="1050">
                <a:solidFill>
                  <a:schemeClr val="tx1"/>
                </a:solidFill>
                <a:latin typeface="+mn-lt"/>
                <a:ea typeface="+mn-ea"/>
              </a:defRPr>
            </a:lvl5pPr>
            <a:lvl6pPr marL="1714500" indent="0" algn="l" rtl="0" eaLnBrk="1" fontAlgn="base" hangingPunct="1">
              <a:spcBef>
                <a:spcPct val="20000"/>
              </a:spcBef>
              <a:spcAft>
                <a:spcPct val="0"/>
              </a:spcAft>
              <a:buNone/>
              <a:defRPr kumimoji="1" sz="1050">
                <a:solidFill>
                  <a:schemeClr val="tx1"/>
                </a:solidFill>
                <a:latin typeface="+mn-lt"/>
                <a:ea typeface="+mn-ea"/>
              </a:defRPr>
            </a:lvl6pPr>
            <a:lvl7pPr marL="2057400" indent="0" algn="l" rtl="0" eaLnBrk="1" fontAlgn="base" hangingPunct="1">
              <a:spcBef>
                <a:spcPct val="20000"/>
              </a:spcBef>
              <a:spcAft>
                <a:spcPct val="0"/>
              </a:spcAft>
              <a:buNone/>
              <a:defRPr kumimoji="1" sz="1050">
                <a:solidFill>
                  <a:schemeClr val="tx1"/>
                </a:solidFill>
                <a:latin typeface="+mn-lt"/>
                <a:ea typeface="+mn-ea"/>
              </a:defRPr>
            </a:lvl7pPr>
            <a:lvl8pPr marL="2400300" indent="0" algn="l" rtl="0" eaLnBrk="1" fontAlgn="base" hangingPunct="1">
              <a:spcBef>
                <a:spcPct val="20000"/>
              </a:spcBef>
              <a:spcAft>
                <a:spcPct val="0"/>
              </a:spcAft>
              <a:buNone/>
              <a:defRPr kumimoji="1" sz="1050">
                <a:solidFill>
                  <a:schemeClr val="tx1"/>
                </a:solidFill>
                <a:latin typeface="+mn-lt"/>
                <a:ea typeface="+mn-ea"/>
              </a:defRPr>
            </a:lvl8pPr>
            <a:lvl9pPr marL="2743200" indent="0" algn="l" rtl="0" eaLnBrk="1" fontAlgn="base" hangingPunct="1">
              <a:spcBef>
                <a:spcPct val="20000"/>
              </a:spcBef>
              <a:spcAft>
                <a:spcPct val="0"/>
              </a:spcAft>
              <a:buNone/>
              <a:defRPr kumimoji="1" sz="1050">
                <a:solidFill>
                  <a:schemeClr val="tx1"/>
                </a:solidFill>
                <a:latin typeface="+mn-lt"/>
                <a:ea typeface="+mn-ea"/>
              </a:defRPr>
            </a:lvl9pPr>
          </a:lstStyle>
          <a:p>
            <a:pPr marL="380990" indent="-380990">
              <a:buFont typeface="Wingdings" panose="05000000000000000000" pitchFamily="2" charset="2"/>
              <a:buChar char="§"/>
            </a:pPr>
            <a:r>
              <a:rPr lang="en-US" kern="0" dirty="0"/>
              <a:t>Why does the hardware want to know whether the indirect jump-and-link (JALR) is a return branch?</a:t>
            </a:r>
          </a:p>
          <a:p>
            <a:pPr marL="800100" lvl="1" indent="-457200">
              <a:buFont typeface="Wingdings" panose="05000000000000000000" pitchFamily="2" charset="2"/>
              <a:buChar char="Ø"/>
            </a:pPr>
            <a:r>
              <a:rPr lang="en-US" sz="2400" kern="0" dirty="0"/>
              <a:t>This is related to how to predict the return target address.</a:t>
            </a:r>
          </a:p>
          <a:p>
            <a:pPr marL="800100" lvl="1" indent="-457200">
              <a:buFont typeface="Wingdings" panose="05000000000000000000" pitchFamily="2" charset="2"/>
              <a:buChar char="Ø"/>
            </a:pPr>
            <a:r>
              <a:rPr lang="en-US" sz="2400" kern="0" dirty="0"/>
              <a:t>Many machines implement the return address stack: a call pushes the return address on the stack, and a return pops the top entry of the return address stack and uses the popped address as the predicted return address.</a:t>
            </a:r>
          </a:p>
          <a:p>
            <a:pPr marL="571500" indent="-571500">
              <a:buFont typeface="Wingdings" panose="05000000000000000000" pitchFamily="2" charset="2"/>
              <a:buChar char="§"/>
            </a:pPr>
            <a:r>
              <a:rPr lang="en-US" kern="0" dirty="0"/>
              <a:t>So, how does the hardware identify a return instruction?</a:t>
            </a:r>
          </a:p>
          <a:p>
            <a:pPr marL="800100" lvl="1" indent="-457200">
              <a:buFont typeface="Wingdings" panose="05000000000000000000" pitchFamily="2" charset="2"/>
              <a:buChar char="Ø"/>
            </a:pPr>
            <a:r>
              <a:rPr lang="en-US" sz="2400" kern="0" dirty="0"/>
              <a:t>One possibility is to use the calling convention that the link register is usually </a:t>
            </a:r>
            <a:r>
              <a:rPr lang="en-US" sz="2400" kern="0" dirty="0">
                <a:solidFill>
                  <a:srgbClr val="FF0000"/>
                </a:solidFill>
              </a:rPr>
              <a:t>X1</a:t>
            </a:r>
            <a:r>
              <a:rPr lang="en-US" sz="2400" kern="0" dirty="0"/>
              <a:t>. So, a JALR </a:t>
            </a:r>
            <a:r>
              <a:rPr lang="en-US" sz="2400" kern="0" dirty="0">
                <a:solidFill>
                  <a:srgbClr val="FF0000"/>
                </a:solidFill>
              </a:rPr>
              <a:t>0(X1) </a:t>
            </a:r>
            <a:r>
              <a:rPr lang="en-US" sz="2400" kern="0" dirty="0"/>
              <a:t>instruction can be assumed to be a return instruction.  </a:t>
            </a:r>
          </a:p>
          <a:p>
            <a:pPr marL="800100" lvl="1" indent="-457200">
              <a:buFont typeface="Wingdings" panose="05000000000000000000" pitchFamily="2" charset="2"/>
              <a:buChar char="Ø"/>
            </a:pPr>
            <a:r>
              <a:rPr lang="en-US" sz="2400" kern="0" dirty="0"/>
              <a:t>This prediction could be wrong if the compiler sets a starting address of a jump table in X1, and the indirect jump is going to the first entry of the jump table.  </a:t>
            </a:r>
          </a:p>
          <a:p>
            <a:pPr marL="800100" lvl="1" indent="-457200">
              <a:buFont typeface="Wingdings" panose="05000000000000000000" pitchFamily="2" charset="2"/>
              <a:buChar char="Ø"/>
            </a:pPr>
            <a:endParaRPr lang="en-US" sz="2400" kern="0" dirty="0"/>
          </a:p>
          <a:p>
            <a:endParaRPr lang="en-US" sz="2400" kern="0" dirty="0"/>
          </a:p>
          <a:p>
            <a:pPr marL="838179" lvl="1" indent="-380990">
              <a:buFont typeface="Wingdings" panose="05000000000000000000" pitchFamily="2" charset="2"/>
              <a:buChar char="§"/>
            </a:pPr>
            <a:endParaRPr lang="en-US" sz="467" kern="0" dirty="0"/>
          </a:p>
        </p:txBody>
      </p:sp>
    </p:spTree>
    <p:extLst>
      <p:ext uri="{BB962C8B-B14F-4D97-AF65-F5344CB8AC3E}">
        <p14:creationId xmlns:p14="http://schemas.microsoft.com/office/powerpoint/2010/main" val="2210713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Branches </a:t>
            </a:r>
            <a:endParaRPr lang="en-US" i="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53017" y="1591101"/>
                <a:ext cx="8004675" cy="4114800"/>
              </a:xfrm>
            </p:spPr>
            <p:txBody>
              <a:bodyPr/>
              <a:lstStyle/>
              <a:p>
                <a:r>
                  <a:rPr lang="en-US" sz="2400" dirty="0"/>
                  <a:t>Conditional branches (SB-type)</a:t>
                </a:r>
              </a:p>
              <a:p>
                <a:pPr lvl="1"/>
                <a:endParaRPr lang="en-US" sz="2000" dirty="0"/>
              </a:p>
              <a:p>
                <a:pPr marL="457189" lvl="1" indent="0">
                  <a:buNone/>
                </a:pPr>
                <a:endParaRPr lang="en-US" sz="2000" dirty="0"/>
              </a:p>
              <a:p>
                <a:pPr lvl="1"/>
                <a:r>
                  <a:rPr lang="en-US" sz="2000" dirty="0"/>
                  <a:t>opcode = BRANCH: </a:t>
                </a:r>
                <a:r>
                  <a:rPr lang="en-US" sz="2000" dirty="0">
                    <a:solidFill>
                      <a:srgbClr val="56127A"/>
                    </a:solidFill>
                  </a:rPr>
                  <a:t>pc </a:t>
                </a:r>
                <a:r>
                  <a:rPr lang="en-US" sz="2000" dirty="0">
                    <a:solidFill>
                      <a:srgbClr val="56127A"/>
                    </a:solidFill>
                    <a:sym typeface="Wingdings" panose="05000000000000000000" pitchFamily="2" charset="2"/>
                  </a:rPr>
                  <a:t> compare(funct3, rs1, rs2) ? pc + B-</a:t>
                </a:r>
                <a:r>
                  <a:rPr lang="en-US" sz="2000" dirty="0" err="1">
                    <a:solidFill>
                      <a:srgbClr val="56127A"/>
                    </a:solidFill>
                    <a:sym typeface="Wingdings" panose="05000000000000000000" pitchFamily="2" charset="2"/>
                  </a:rPr>
                  <a:t>imm</a:t>
                </a:r>
                <a:r>
                  <a:rPr lang="en-US" sz="2000" dirty="0">
                    <a:solidFill>
                      <a:srgbClr val="56127A"/>
                    </a:solidFill>
                    <a:sym typeface="Wingdings" panose="05000000000000000000" pitchFamily="2" charset="2"/>
                  </a:rPr>
                  <a:t> : pc + 4</a:t>
                </a:r>
              </a:p>
              <a:p>
                <a:pPr lvl="1"/>
                <a:r>
                  <a:rPr lang="en-US" sz="2000" dirty="0"/>
                  <a:t>B-</a:t>
                </a:r>
                <a:r>
                  <a:rPr lang="en-US" sz="2000" dirty="0" err="1"/>
                  <a:t>imm</a:t>
                </a:r>
                <a:r>
                  <a:rPr lang="en-US" sz="2000" dirty="0"/>
                  <a:t> = </a:t>
                </a:r>
                <a:r>
                  <a:rPr lang="en-US" sz="2000" dirty="0" err="1"/>
                  <a:t>signExtend</a:t>
                </a:r>
                <a:r>
                  <a:rPr lang="en-US" sz="2000" dirty="0"/>
                  <a:t>({</a:t>
                </a:r>
                <a:r>
                  <a:rPr lang="en-US" sz="2000" dirty="0" err="1"/>
                  <a:t>inst</a:t>
                </a:r>
                <a:r>
                  <a:rPr lang="en-US" sz="2000" dirty="0"/>
                  <a:t>[31], </a:t>
                </a:r>
                <a:r>
                  <a:rPr lang="en-US" sz="2000" dirty="0" err="1"/>
                  <a:t>inst</a:t>
                </a:r>
                <a:r>
                  <a:rPr lang="en-US" sz="2000" dirty="0"/>
                  <a:t>[7], </a:t>
                </a:r>
                <a:r>
                  <a:rPr lang="en-US" sz="2000" dirty="0" err="1"/>
                  <a:t>inst</a:t>
                </a:r>
                <a:r>
                  <a:rPr lang="en-US" sz="2000" dirty="0"/>
                  <a:t>[30:25], </a:t>
                </a:r>
                <a:r>
                  <a:rPr lang="en-US" sz="2000" dirty="0" err="1"/>
                  <a:t>inst</a:t>
                </a:r>
                <a:r>
                  <a:rPr lang="en-US" sz="2000" dirty="0"/>
                  <a:t>[11:8], 1’b0})</a:t>
                </a:r>
              </a:p>
              <a:p>
                <a:pPr lvl="1"/>
                <a:r>
                  <a:rPr lang="en-US" sz="2000" dirty="0">
                    <a:sym typeface="Wingdings" panose="05000000000000000000" pitchFamily="2" charset="2"/>
                  </a:rPr>
                  <a:t>Jump </a:t>
                </a:r>
                <a14:m>
                  <m:oMath xmlns:m="http://schemas.openxmlformats.org/officeDocument/2006/math">
                    <m:r>
                      <a:rPr lang="en-US" sz="2000" i="1">
                        <a:latin typeface="Cambria Math" panose="02040503050406030204" pitchFamily="18" charset="0"/>
                        <a:ea typeface="Cambria Math" panose="02040503050406030204" pitchFamily="18" charset="0"/>
                        <a:sym typeface="Wingdings" panose="05000000000000000000" pitchFamily="2" charset="2"/>
                      </a:rPr>
                      <m:t>±</m:t>
                    </m:r>
                  </m:oMath>
                </a14:m>
                <a:r>
                  <a:rPr lang="en-US" sz="2000" dirty="0">
                    <a:sym typeface="Wingdings" panose="05000000000000000000" pitchFamily="2" charset="2"/>
                  </a:rPr>
                  <a:t>4KB range</a:t>
                </a:r>
              </a:p>
              <a:p>
                <a:pPr lvl="1"/>
                <a:r>
                  <a:rPr lang="en-US" sz="2000" dirty="0"/>
                  <a:t>funct3 = BEQ/BNE/BLT/BLTU/BGE/BGEU</a:t>
                </a:r>
                <a:endParaRPr lang="en-US" sz="2000" dirty="0">
                  <a:sym typeface="Wingdings" panose="05000000000000000000" pitchFamily="2" charset="2"/>
                </a:endParaRPr>
              </a:p>
              <a:p>
                <a:pPr lvl="2"/>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53017" y="1591101"/>
                <a:ext cx="8004675" cy="4114800"/>
              </a:xfrm>
              <a:blipFill>
                <a:blip r:embed="rId2"/>
                <a:stretch>
                  <a:fillRect l="-609" t="-1185" r="-1219"/>
                </a:stretch>
              </a:blipFill>
            </p:spPr>
            <p:txBody>
              <a:bodyPr/>
              <a:lstStyle/>
              <a:p>
                <a:r>
                  <a:rPr lang="en-US">
                    <a:noFill/>
                  </a:rPr>
                  <a:t> </a:t>
                </a:r>
              </a:p>
            </p:txBody>
          </p:sp>
        </mc:Fallback>
      </mc:AlternateContent>
      <p:grpSp>
        <p:nvGrpSpPr>
          <p:cNvPr id="8" name="Group 7"/>
          <p:cNvGrpSpPr/>
          <p:nvPr/>
        </p:nvGrpSpPr>
        <p:grpSpPr>
          <a:xfrm>
            <a:off x="2245854" y="1939774"/>
            <a:ext cx="8267207" cy="656641"/>
            <a:chOff x="721854" y="2240557"/>
            <a:chExt cx="8267206" cy="656639"/>
          </a:xfrm>
        </p:grpSpPr>
        <p:sp>
          <p:nvSpPr>
            <p:cNvPr id="9" name="TextBox 8"/>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0" name="TextBox 9"/>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1" name="TextBox 10"/>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2" name="TextBox 11"/>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 name="TextBox 12"/>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4" name="TextBox 13"/>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5" name="TextBox 14"/>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6" name="TextBox 15"/>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7" name="TextBox 16"/>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8" name="TextBox 17"/>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9" name="TextBox 18"/>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20" name="TextBox 19"/>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21" name="TextBox 20"/>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22" name="TextBox 21"/>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23" name="TextBox 22"/>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24" name="TextBox 23"/>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25" name="Footer Placeholder 2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26" name="Slide Number Placeholder 2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50</a:t>
            </a:fld>
            <a:endParaRPr lang="en-US" dirty="0"/>
          </a:p>
        </p:txBody>
      </p:sp>
      <p:sp>
        <p:nvSpPr>
          <p:cNvPr id="27" name="TextBox 26">
            <a:extLst>
              <a:ext uri="{FF2B5EF4-FFF2-40B4-BE49-F238E27FC236}">
                <a16:creationId xmlns:a16="http://schemas.microsoft.com/office/drawing/2014/main" id="{DEFCC0D9-58BD-49CD-A4CD-C3510C979C22}"/>
              </a:ext>
            </a:extLst>
          </p:cNvPr>
          <p:cNvSpPr txBox="1"/>
          <p:nvPr/>
        </p:nvSpPr>
        <p:spPr>
          <a:xfrm>
            <a:off x="540914" y="1250001"/>
            <a:ext cx="3890809" cy="1733488"/>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We have BLT, BGE, but </a:t>
            </a:r>
          </a:p>
          <a:p>
            <a:r>
              <a:rPr lang="en-US" sz="2133" dirty="0">
                <a:ea typeface="標楷體" pitchFamily="65" charset="-120"/>
                <a:cs typeface="Calibri" panose="020F0502020204030204" pitchFamily="34" charset="0"/>
              </a:rPr>
              <a:t>Why there are no</a:t>
            </a:r>
          </a:p>
          <a:p>
            <a:r>
              <a:rPr lang="en-US" sz="2133" dirty="0">
                <a:ea typeface="標楷體" pitchFamily="65" charset="-120"/>
                <a:cs typeface="Calibri" panose="020F0502020204030204" pitchFamily="34" charset="0"/>
              </a:rPr>
              <a:t>BLE</a:t>
            </a:r>
          </a:p>
          <a:p>
            <a:r>
              <a:rPr lang="en-US" sz="2133" dirty="0">
                <a:ea typeface="標楷體" pitchFamily="65" charset="-120"/>
                <a:cs typeface="Calibri" panose="020F0502020204030204" pitchFamily="34" charset="0"/>
              </a:rPr>
              <a:t>BGT instructions?</a:t>
            </a:r>
          </a:p>
          <a:p>
            <a:r>
              <a:rPr lang="en-US" sz="2133" dirty="0">
                <a:ea typeface="標楷體" pitchFamily="65" charset="-120"/>
                <a:cs typeface="Calibri" panose="020F0502020204030204" pitchFamily="34" charset="0"/>
              </a:rPr>
              <a:t>Does this break the regularity?</a:t>
            </a:r>
          </a:p>
        </p:txBody>
      </p:sp>
      <p:sp>
        <p:nvSpPr>
          <p:cNvPr id="28" name="TextBox 27">
            <a:extLst>
              <a:ext uri="{FF2B5EF4-FFF2-40B4-BE49-F238E27FC236}">
                <a16:creationId xmlns:a16="http://schemas.microsoft.com/office/drawing/2014/main" id="{9ABE9B6B-E2DF-4D82-A079-266ADAF6EFEC}"/>
              </a:ext>
            </a:extLst>
          </p:cNvPr>
          <p:cNvSpPr txBox="1"/>
          <p:nvPr/>
        </p:nvSpPr>
        <p:spPr>
          <a:xfrm>
            <a:off x="540914" y="3451443"/>
            <a:ext cx="5050261" cy="1015663"/>
          </a:xfrm>
          <a:prstGeom prst="rect">
            <a:avLst/>
          </a:prstGeom>
          <a:solidFill>
            <a:srgbClr val="FFFF00"/>
          </a:solidFill>
          <a:ln>
            <a:solidFill>
              <a:srgbClr val="FF0000"/>
            </a:solidFill>
          </a:ln>
        </p:spPr>
        <p:txBody>
          <a:bodyPr wrap="square" rtlCol="0" anchor="ctr" anchorCtr="1">
            <a:spAutoFit/>
          </a:bodyPr>
          <a:lstStyle/>
          <a:p>
            <a:r>
              <a:rPr lang="en-US" sz="2000" dirty="0">
                <a:ea typeface="標楷體" pitchFamily="65" charset="-120"/>
                <a:cs typeface="Calibri" panose="020F0502020204030204" pitchFamily="34" charset="0"/>
              </a:rPr>
              <a:t>To implement BG, you may simply swap the operands of the BLT instruction:</a:t>
            </a:r>
          </a:p>
          <a:p>
            <a:r>
              <a:rPr lang="en-US" sz="2000" dirty="0">
                <a:ea typeface="標楷體" pitchFamily="65" charset="-120"/>
                <a:cs typeface="Calibri" panose="020F0502020204030204" pitchFamily="34" charset="0"/>
              </a:rPr>
              <a:t>BLE X1,X2, label </a:t>
            </a:r>
            <a:r>
              <a:rPr lang="en-US" sz="2000" dirty="0">
                <a:ea typeface="標楷體" pitchFamily="65" charset="-120"/>
                <a:cs typeface="Calibri" panose="020F0502020204030204" pitchFamily="34" charset="0"/>
                <a:sym typeface="Wingdings" panose="05000000000000000000" pitchFamily="2" charset="2"/>
              </a:rPr>
              <a:t> BG X2,X1, label</a:t>
            </a:r>
            <a:endParaRPr lang="en-US" sz="2000" dirty="0">
              <a:ea typeface="標楷體" pitchFamily="65" charset="-120"/>
              <a:cs typeface="Calibri" panose="020F0502020204030204" pitchFamily="34" charset="0"/>
            </a:endParaRPr>
          </a:p>
        </p:txBody>
      </p:sp>
      <p:sp>
        <p:nvSpPr>
          <p:cNvPr id="29" name="TextBox 28">
            <a:extLst>
              <a:ext uri="{FF2B5EF4-FFF2-40B4-BE49-F238E27FC236}">
                <a16:creationId xmlns:a16="http://schemas.microsoft.com/office/drawing/2014/main" id="{0BF3F3CF-45E0-4F60-98B8-0E39832BE816}"/>
              </a:ext>
            </a:extLst>
          </p:cNvPr>
          <p:cNvSpPr txBox="1"/>
          <p:nvPr/>
        </p:nvSpPr>
        <p:spPr>
          <a:xfrm>
            <a:off x="6375247" y="1250001"/>
            <a:ext cx="5325497" cy="3046411"/>
          </a:xfrm>
          <a:prstGeom prst="rect">
            <a:avLst/>
          </a:prstGeom>
          <a:solidFill>
            <a:srgbClr val="FFFF00"/>
          </a:solidFill>
          <a:ln>
            <a:solidFill>
              <a:srgbClr val="FF0000"/>
            </a:solidFill>
          </a:ln>
        </p:spPr>
        <p:txBody>
          <a:bodyPr wrap="none" rtlCol="0" anchor="ctr" anchorCtr="1">
            <a:spAutoFit/>
          </a:bodyPr>
          <a:lstStyle/>
          <a:p>
            <a:r>
              <a:rPr lang="en-US" sz="2133" dirty="0">
                <a:ea typeface="標楷體" pitchFamily="65" charset="-120"/>
                <a:cs typeface="Calibri" panose="020F0502020204030204" pitchFamily="34" charset="0"/>
              </a:rPr>
              <a:t>Checking 0 &lt;= x &lt; y (is x in bound) usually</a:t>
            </a:r>
          </a:p>
          <a:p>
            <a:r>
              <a:rPr lang="en-US" sz="2133" dirty="0">
                <a:ea typeface="標楷體" pitchFamily="65" charset="-120"/>
                <a:cs typeface="Calibri" panose="020F0502020204030204" pitchFamily="34" charset="0"/>
              </a:rPr>
              <a:t>takes two instructions:</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If (x &lt;= 0) ||  (x &gt; y)</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However, if you treat x and y as unsigned</a:t>
            </a:r>
          </a:p>
          <a:p>
            <a:r>
              <a:rPr lang="en-US" sz="2133" dirty="0">
                <a:ea typeface="標楷體" pitchFamily="65" charset="-120"/>
                <a:cs typeface="Calibri" panose="020F0502020204030204" pitchFamily="34" charset="0"/>
              </a:rPr>
              <a:t>one check would be sufficient</a:t>
            </a:r>
          </a:p>
          <a:p>
            <a:endParaRPr lang="en-US" sz="2133" dirty="0">
              <a:ea typeface="標楷體" pitchFamily="65" charset="-120"/>
              <a:cs typeface="Calibri" panose="020F0502020204030204" pitchFamily="34" charset="0"/>
            </a:endParaRPr>
          </a:p>
          <a:p>
            <a:r>
              <a:rPr lang="en-US" sz="2133" dirty="0">
                <a:ea typeface="標楷體" pitchFamily="65" charset="-120"/>
                <a:cs typeface="Calibri" panose="020F0502020204030204" pitchFamily="34" charset="0"/>
              </a:rPr>
              <a:t>BGEU X, Y</a:t>
            </a:r>
          </a:p>
        </p:txBody>
      </p:sp>
    </p:spTree>
    <p:extLst>
      <p:ext uri="{BB962C8B-B14F-4D97-AF65-F5344CB8AC3E}">
        <p14:creationId xmlns:p14="http://schemas.microsoft.com/office/powerpoint/2010/main" val="3931923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 to Read and Write CSR</a:t>
            </a:r>
          </a:p>
        </p:txBody>
      </p:sp>
      <p:sp>
        <p:nvSpPr>
          <p:cNvPr id="3" name="Content Placeholder 2"/>
          <p:cNvSpPr>
            <a:spLocks noGrp="1"/>
          </p:cNvSpPr>
          <p:nvPr>
            <p:ph idx="1"/>
          </p:nvPr>
        </p:nvSpPr>
        <p:spPr>
          <a:xfrm>
            <a:off x="2179321" y="1516808"/>
            <a:ext cx="8387081" cy="4883993"/>
          </a:xfrm>
        </p:spPr>
        <p:txBody>
          <a:bodyPr/>
          <a:lstStyle/>
          <a:p>
            <a:pPr marL="0" indent="0">
              <a:buNone/>
            </a:pPr>
            <a:endParaRPr lang="en-US" sz="2000" dirty="0"/>
          </a:p>
          <a:p>
            <a:pPr marL="0" indent="0">
              <a:buNone/>
            </a:pPr>
            <a:endParaRPr lang="en-US" sz="2000" dirty="0"/>
          </a:p>
          <a:p>
            <a:endParaRPr lang="en-US" sz="2400" dirty="0"/>
          </a:p>
          <a:p>
            <a:pPr lvl="1"/>
            <a:r>
              <a:rPr lang="en-US" sz="2133" dirty="0"/>
              <a:t>opcode = SYSTEM</a:t>
            </a:r>
          </a:p>
          <a:p>
            <a:pPr lvl="1"/>
            <a:r>
              <a:rPr lang="en-US" sz="2133" dirty="0"/>
              <a:t>CSRW rs1, </a:t>
            </a:r>
            <a:r>
              <a:rPr lang="en-US" sz="2133" dirty="0" err="1"/>
              <a:t>csr</a:t>
            </a:r>
            <a:r>
              <a:rPr lang="en-US" sz="2133" dirty="0"/>
              <a:t> (funct3 = CSRRW, </a:t>
            </a:r>
            <a:r>
              <a:rPr lang="en-US" sz="2133" dirty="0" err="1"/>
              <a:t>rd</a:t>
            </a:r>
            <a:r>
              <a:rPr lang="en-US" sz="2133" dirty="0"/>
              <a:t> = x0): </a:t>
            </a:r>
            <a:r>
              <a:rPr lang="en-US" sz="2133" dirty="0" err="1"/>
              <a:t>csr</a:t>
            </a:r>
            <a:r>
              <a:rPr lang="en-US" sz="2133" dirty="0"/>
              <a:t> </a:t>
            </a:r>
            <a:r>
              <a:rPr lang="en-US" sz="2133" dirty="0">
                <a:sym typeface="Wingdings" panose="05000000000000000000" pitchFamily="2" charset="2"/>
              </a:rPr>
              <a:t> rs1</a:t>
            </a:r>
          </a:p>
          <a:p>
            <a:pPr lvl="1"/>
            <a:r>
              <a:rPr lang="en-US" sz="2133" dirty="0">
                <a:sym typeface="Wingdings" panose="05000000000000000000" pitchFamily="2" charset="2"/>
              </a:rPr>
              <a:t>CSRR  </a:t>
            </a:r>
            <a:r>
              <a:rPr lang="en-US" sz="2133" dirty="0" err="1">
                <a:sym typeface="Wingdings" panose="05000000000000000000" pitchFamily="2" charset="2"/>
              </a:rPr>
              <a:t>csr</a:t>
            </a:r>
            <a:r>
              <a:rPr lang="en-US" sz="2133" dirty="0">
                <a:sym typeface="Wingdings" panose="05000000000000000000" pitchFamily="2" charset="2"/>
              </a:rPr>
              <a:t>, </a:t>
            </a:r>
            <a:r>
              <a:rPr lang="en-US" sz="2133" dirty="0" err="1">
                <a:sym typeface="Wingdings" panose="05000000000000000000" pitchFamily="2" charset="2"/>
              </a:rPr>
              <a:t>rd</a:t>
            </a:r>
            <a:r>
              <a:rPr lang="en-US" sz="2133" dirty="0">
                <a:sym typeface="Wingdings" panose="05000000000000000000" pitchFamily="2" charset="2"/>
              </a:rPr>
              <a:t>  (funct3 = CSRRS, rs1 = x0): </a:t>
            </a:r>
            <a:r>
              <a:rPr lang="en-US" sz="2133" dirty="0" err="1">
                <a:sym typeface="Wingdings" panose="05000000000000000000" pitchFamily="2" charset="2"/>
              </a:rPr>
              <a:t>rd</a:t>
            </a:r>
            <a:r>
              <a:rPr lang="en-US" sz="2133" dirty="0">
                <a:sym typeface="Wingdings" panose="05000000000000000000" pitchFamily="2" charset="2"/>
              </a:rPr>
              <a:t>  </a:t>
            </a:r>
            <a:r>
              <a:rPr lang="en-US" sz="2133" dirty="0" err="1">
                <a:sym typeface="Wingdings" panose="05000000000000000000" pitchFamily="2" charset="2"/>
              </a:rPr>
              <a:t>csr</a:t>
            </a:r>
            <a:endParaRPr lang="en-US" sz="2133" dirty="0">
              <a:sym typeface="Wingdings" panose="05000000000000000000" pitchFamily="2" charset="2"/>
            </a:endParaRPr>
          </a:p>
        </p:txBody>
      </p:sp>
      <p:grpSp>
        <p:nvGrpSpPr>
          <p:cNvPr id="8" name="Group 7"/>
          <p:cNvGrpSpPr/>
          <p:nvPr/>
        </p:nvGrpSpPr>
        <p:grpSpPr>
          <a:xfrm>
            <a:off x="2298590" y="1667157"/>
            <a:ext cx="8078703" cy="646103"/>
            <a:chOff x="723900" y="3317566"/>
            <a:chExt cx="8078703" cy="646103"/>
          </a:xfrm>
        </p:grpSpPr>
        <p:sp>
          <p:nvSpPr>
            <p:cNvPr id="9" name="TextBox 8"/>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CSR</a:t>
              </a:r>
            </a:p>
          </p:txBody>
        </p:sp>
        <p:sp>
          <p:nvSpPr>
            <p:cNvPr id="10" name="TextBox 9"/>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 name="TextBox 10"/>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2" name="TextBox 11"/>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3" name="TextBox 12"/>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 name="TextBox 13"/>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5" name="TextBox 14"/>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6" name="TextBox 15"/>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7" name="TextBox 16"/>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8" name="TextBox 17"/>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51</a:t>
            </a:fld>
            <a:endParaRPr lang="en-US" dirty="0"/>
          </a:p>
        </p:txBody>
      </p:sp>
    </p:spTree>
    <p:extLst>
      <p:ext uri="{BB962C8B-B14F-4D97-AF65-F5344CB8AC3E}">
        <p14:creationId xmlns:p14="http://schemas.microsoft.com/office/powerpoint/2010/main" val="22398272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EFE806-B147-47DC-BEC9-42301BA37B18}"/>
              </a:ext>
            </a:extLst>
          </p:cNvPr>
          <p:cNvSpPr>
            <a:spLocks noGrp="1"/>
          </p:cNvSpPr>
          <p:nvPr>
            <p:ph type="sldNum" sz="quarter" idx="10"/>
          </p:nvPr>
        </p:nvSpPr>
        <p:spPr/>
        <p:txBody>
          <a:bodyPr/>
          <a:lstStyle/>
          <a:p>
            <a:fld id="{D9B6BDF2-6896-4B98-8776-C18582F63BA5}" type="slidenum">
              <a:rPr lang="zh-TW" altLang="en-US" smtClean="0"/>
              <a:t>52</a:t>
            </a:fld>
            <a:endParaRPr lang="zh-TW" altLang="en-US"/>
          </a:p>
        </p:txBody>
      </p:sp>
      <p:pic>
        <p:nvPicPr>
          <p:cNvPr id="6" name="Picture 5">
            <a:extLst>
              <a:ext uri="{FF2B5EF4-FFF2-40B4-BE49-F238E27FC236}">
                <a16:creationId xmlns:a16="http://schemas.microsoft.com/office/drawing/2014/main" id="{1359EBE9-8A1A-4A52-8511-6B7C42EC36EA}"/>
              </a:ext>
            </a:extLst>
          </p:cNvPr>
          <p:cNvPicPr>
            <a:picLocks noChangeAspect="1"/>
          </p:cNvPicPr>
          <p:nvPr/>
        </p:nvPicPr>
        <p:blipFill>
          <a:blip r:embed="rId2"/>
          <a:stretch>
            <a:fillRect/>
          </a:stretch>
        </p:blipFill>
        <p:spPr>
          <a:xfrm>
            <a:off x="0" y="1619738"/>
            <a:ext cx="12192000" cy="3618524"/>
          </a:xfrm>
          <a:prstGeom prst="rect">
            <a:avLst/>
          </a:prstGeom>
        </p:spPr>
      </p:pic>
      <p:sp>
        <p:nvSpPr>
          <p:cNvPr id="7" name="Title 1">
            <a:extLst>
              <a:ext uri="{FF2B5EF4-FFF2-40B4-BE49-F238E27FC236}">
                <a16:creationId xmlns:a16="http://schemas.microsoft.com/office/drawing/2014/main" id="{285707FA-5F2C-49A0-9A7A-64F2A6DE3979}"/>
              </a:ext>
            </a:extLst>
          </p:cNvPr>
          <p:cNvSpPr>
            <a:spLocks noGrp="1"/>
          </p:cNvSpPr>
          <p:nvPr>
            <p:ph type="title"/>
          </p:nvPr>
        </p:nvSpPr>
        <p:spPr>
          <a:xfrm>
            <a:off x="1095023" y="106092"/>
            <a:ext cx="10555111" cy="1143000"/>
          </a:xfrm>
        </p:spPr>
        <p:txBody>
          <a:bodyPr/>
          <a:lstStyle/>
          <a:p>
            <a:r>
              <a:rPr lang="en-US" dirty="0"/>
              <a:t>Summary of RISC-V Instruction Format</a:t>
            </a:r>
          </a:p>
        </p:txBody>
      </p:sp>
    </p:spTree>
    <p:extLst>
      <p:ext uri="{BB962C8B-B14F-4D97-AF65-F5344CB8AC3E}">
        <p14:creationId xmlns:p14="http://schemas.microsoft.com/office/powerpoint/2010/main" val="10411873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Assembly Code VS Binary</a:t>
            </a:r>
          </a:p>
        </p:txBody>
      </p:sp>
      <p:sp>
        <p:nvSpPr>
          <p:cNvPr id="3" name="Content Placeholder 2"/>
          <p:cNvSpPr>
            <a:spLocks noGrp="1"/>
          </p:cNvSpPr>
          <p:nvPr>
            <p:ph idx="1"/>
          </p:nvPr>
        </p:nvSpPr>
        <p:spPr>
          <a:xfrm>
            <a:off x="1016000" y="1190172"/>
            <a:ext cx="10551587" cy="4951816"/>
          </a:xfrm>
        </p:spPr>
        <p:txBody>
          <a:bodyPr/>
          <a:lstStyle/>
          <a:p>
            <a:pPr>
              <a:spcBef>
                <a:spcPts val="300"/>
              </a:spcBef>
            </a:pPr>
            <a:r>
              <a:rPr lang="en-US" sz="2400" dirty="0"/>
              <a:t>Its too tedious to write programs in binary</a:t>
            </a:r>
          </a:p>
          <a:p>
            <a:pPr>
              <a:spcBef>
                <a:spcPts val="300"/>
              </a:spcBef>
            </a:pPr>
            <a:r>
              <a:rPr lang="en-US" sz="2400" dirty="0"/>
              <a:t>To simplify writing programs, assemblers provide:</a:t>
            </a:r>
          </a:p>
          <a:p>
            <a:pPr lvl="1">
              <a:spcBef>
                <a:spcPts val="300"/>
              </a:spcBef>
            </a:pPr>
            <a:r>
              <a:rPr lang="en-US" sz="2400" dirty="0">
                <a:solidFill>
                  <a:srgbClr val="FF0000"/>
                </a:solidFill>
              </a:rPr>
              <a:t>mnemonics for instructions</a:t>
            </a:r>
          </a:p>
          <a:p>
            <a:pPr lvl="2">
              <a:spcBef>
                <a:spcPts val="300"/>
              </a:spcBef>
            </a:pPr>
            <a:r>
              <a:rPr lang="en-US" sz="1867" dirty="0"/>
              <a:t>add x1, x2, x3</a:t>
            </a:r>
          </a:p>
          <a:p>
            <a:pPr lvl="1">
              <a:spcBef>
                <a:spcPts val="300"/>
              </a:spcBef>
            </a:pPr>
            <a:r>
              <a:rPr lang="en-US" sz="2400" b="1" dirty="0">
                <a:solidFill>
                  <a:srgbClr val="FF0000"/>
                </a:solidFill>
              </a:rPr>
              <a:t>pseudo instructions</a:t>
            </a:r>
          </a:p>
          <a:p>
            <a:pPr lvl="2">
              <a:spcBef>
                <a:spcPts val="300"/>
              </a:spcBef>
            </a:pPr>
            <a:r>
              <a:rPr lang="en-US" sz="1867" dirty="0" err="1"/>
              <a:t>mov</a:t>
            </a:r>
            <a:r>
              <a:rPr lang="en-US" sz="1867" dirty="0"/>
              <a:t> x1, x2 // short for add x1, x2, x0</a:t>
            </a:r>
          </a:p>
          <a:p>
            <a:pPr lvl="2">
              <a:spcBef>
                <a:spcPts val="300"/>
              </a:spcBef>
            </a:pPr>
            <a:r>
              <a:rPr lang="en-US" sz="1867" dirty="0"/>
              <a:t>li x1, 6175 // short for </a:t>
            </a:r>
            <a:r>
              <a:rPr lang="en-US" sz="1867" dirty="0" err="1"/>
              <a:t>lui</a:t>
            </a:r>
            <a:r>
              <a:rPr lang="en-US" sz="1867" dirty="0"/>
              <a:t> x1, 2 ; </a:t>
            </a:r>
            <a:r>
              <a:rPr lang="en-US" sz="1867" dirty="0" err="1"/>
              <a:t>addi</a:t>
            </a:r>
            <a:r>
              <a:rPr lang="en-US" sz="1867" dirty="0"/>
              <a:t> x1, x1, -2017 (exact sequence depends </a:t>
            </a:r>
          </a:p>
          <a:p>
            <a:pPr marL="914377" lvl="2" indent="0">
              <a:spcBef>
                <a:spcPts val="300"/>
              </a:spcBef>
              <a:buNone/>
            </a:pPr>
            <a:r>
              <a:rPr lang="en-US" sz="1867" dirty="0"/>
              <a:t>	on immediate value)</a:t>
            </a:r>
          </a:p>
          <a:p>
            <a:pPr lvl="1">
              <a:spcBef>
                <a:spcPts val="300"/>
              </a:spcBef>
            </a:pPr>
            <a:r>
              <a:rPr lang="en-US" sz="2400" dirty="0">
                <a:solidFill>
                  <a:srgbClr val="FF0000"/>
                </a:solidFill>
              </a:rPr>
              <a:t>symbols for program locations and data</a:t>
            </a:r>
          </a:p>
          <a:p>
            <a:pPr lvl="2">
              <a:spcBef>
                <a:spcPts val="300"/>
              </a:spcBef>
            </a:pPr>
            <a:r>
              <a:rPr lang="en-US" sz="1867" dirty="0" err="1"/>
              <a:t>bnz</a:t>
            </a:r>
            <a:r>
              <a:rPr lang="en-US" sz="1867" dirty="0"/>
              <a:t> x1, </a:t>
            </a:r>
            <a:r>
              <a:rPr lang="en-US" sz="1867" dirty="0" err="1"/>
              <a:t>loop_begin</a:t>
            </a:r>
            <a:endParaRPr lang="en-US" sz="1867" dirty="0"/>
          </a:p>
          <a:p>
            <a:pPr lvl="2">
              <a:spcBef>
                <a:spcPts val="300"/>
              </a:spcBef>
            </a:pPr>
            <a:r>
              <a:rPr lang="en-US" sz="1867" dirty="0" err="1"/>
              <a:t>lw</a:t>
            </a:r>
            <a:r>
              <a:rPr lang="en-US" sz="1867" dirty="0"/>
              <a:t> x1, flag</a:t>
            </a:r>
          </a:p>
          <a:p>
            <a:pPr>
              <a:spcBef>
                <a:spcPts val="300"/>
              </a:spcBef>
            </a:pPr>
            <a:r>
              <a:rPr lang="en-US" sz="2400" dirty="0"/>
              <a:t>Assemblers translate programs into machine code for the processor to execute</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53</a:t>
            </a:fld>
            <a:endParaRPr lang="en-US" dirty="0"/>
          </a:p>
        </p:txBody>
      </p:sp>
    </p:spTree>
    <p:extLst>
      <p:ext uri="{BB962C8B-B14F-4D97-AF65-F5344CB8AC3E}">
        <p14:creationId xmlns:p14="http://schemas.microsoft.com/office/powerpoint/2010/main" val="302875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C</a:t>
            </a:r>
          </a:p>
        </p:txBody>
      </p:sp>
      <p:sp>
        <p:nvSpPr>
          <p:cNvPr id="3" name="Content Placeholder 2"/>
          <p:cNvSpPr>
            <a:spLocks noGrp="1"/>
          </p:cNvSpPr>
          <p:nvPr>
            <p:ph idx="1"/>
          </p:nvPr>
        </p:nvSpPr>
        <p:spPr>
          <a:xfrm>
            <a:off x="2675468" y="1020570"/>
            <a:ext cx="5336419" cy="5162516"/>
          </a:xfrm>
          <a:solidFill>
            <a:schemeClr val="accent1">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require: a &gt;= 0 &amp;&amp; b &gt; 0</a:t>
            </a:r>
          </a:p>
          <a:p>
            <a:pPr marL="0" indent="0">
              <a:spcBef>
                <a:spcPts val="300"/>
              </a:spcBef>
              <a:buNone/>
            </a:pP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b) {</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t;</a:t>
            </a:r>
          </a:p>
          <a:p>
            <a:pPr marL="0" indent="0">
              <a:spcBef>
                <a:spcPts val="300"/>
              </a:spcBef>
              <a:buNone/>
            </a:pPr>
            <a:r>
              <a:rPr lang="en-US" sz="2000" dirty="0">
                <a:latin typeface="Courier New" panose="02070309020205020404" pitchFamily="49" charset="0"/>
                <a:cs typeface="Courier New" panose="02070309020205020404" pitchFamily="49" charset="0"/>
              </a:rPr>
              <a:t>  while(a != 0) {</a:t>
            </a:r>
          </a:p>
          <a:p>
            <a:pPr marL="0" indent="0">
              <a:spcBef>
                <a:spcPts val="300"/>
              </a:spcBef>
              <a:buNone/>
            </a:pPr>
            <a:r>
              <a:rPr lang="en-US" sz="2000" dirty="0">
                <a:latin typeface="Courier New" panose="02070309020205020404" pitchFamily="49" charset="0"/>
                <a:cs typeface="Courier New" panose="02070309020205020404" pitchFamily="49" charset="0"/>
              </a:rPr>
              <a:t>    if(a &gt;= b) {</a:t>
            </a:r>
          </a:p>
          <a:p>
            <a:pPr marL="0" indent="0">
              <a:spcBef>
                <a:spcPts val="300"/>
              </a:spcBef>
              <a:buNone/>
            </a:pPr>
            <a:r>
              <a:rPr lang="en-US" sz="2000" dirty="0">
                <a:latin typeface="Courier New" panose="02070309020205020404" pitchFamily="49" charset="0"/>
                <a:cs typeface="Courier New" panose="02070309020205020404" pitchFamily="49" charset="0"/>
              </a:rPr>
              <a:t>      a = a - b;</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else {</a:t>
            </a:r>
          </a:p>
          <a:p>
            <a:pPr marL="0" indent="0">
              <a:spcBef>
                <a:spcPts val="300"/>
              </a:spcBef>
              <a:buNone/>
            </a:pPr>
            <a:r>
              <a:rPr lang="en-US" sz="2000" dirty="0">
                <a:latin typeface="Courier New" panose="02070309020205020404" pitchFamily="49" charset="0"/>
                <a:cs typeface="Courier New" panose="02070309020205020404" pitchFamily="49" charset="0"/>
              </a:rPr>
              <a:t>      t = a; </a:t>
            </a:r>
          </a:p>
          <a:p>
            <a:pPr marL="0" indent="0">
              <a:spcBef>
                <a:spcPts val="300"/>
              </a:spcBef>
              <a:buNone/>
            </a:pPr>
            <a:r>
              <a:rPr lang="en-US" sz="2000" dirty="0">
                <a:latin typeface="Courier New" panose="02070309020205020404" pitchFamily="49" charset="0"/>
                <a:cs typeface="Courier New" panose="02070309020205020404" pitchFamily="49" charset="0"/>
              </a:rPr>
              <a:t>	a = b; </a:t>
            </a:r>
          </a:p>
          <a:p>
            <a:pPr marL="0" indent="0">
              <a:spcBef>
                <a:spcPts val="300"/>
              </a:spcBef>
              <a:buNone/>
            </a:pPr>
            <a:r>
              <a:rPr lang="en-US" sz="2000" dirty="0">
                <a:latin typeface="Courier New" panose="02070309020205020404" pitchFamily="49" charset="0"/>
                <a:cs typeface="Courier New" panose="02070309020205020404" pitchFamily="49" charset="0"/>
              </a:rPr>
              <a:t>	b = t;</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a:t>
            </a:r>
          </a:p>
          <a:p>
            <a:pPr marL="0" indent="0">
              <a:spcBef>
                <a:spcPts val="300"/>
              </a:spcBef>
              <a:buNone/>
            </a:pPr>
            <a:r>
              <a:rPr lang="en-US" sz="2000" dirty="0">
                <a:latin typeface="Courier New" panose="02070309020205020404" pitchFamily="49" charset="0"/>
                <a:cs typeface="Courier New" panose="02070309020205020404" pitchFamily="49" charset="0"/>
              </a:rPr>
              <a:t>  return b;</a:t>
            </a:r>
          </a:p>
          <a:p>
            <a:pPr marL="0" indent="0">
              <a:spcBef>
                <a:spcPts val="300"/>
              </a:spcBef>
              <a:buNone/>
            </a:pPr>
            <a:r>
              <a:rPr lang="en-US" sz="2000" dirty="0">
                <a:latin typeface="Courier New" panose="02070309020205020404" pitchFamily="49" charset="0"/>
                <a:cs typeface="Courier New" panose="02070309020205020404" pitchFamily="49" charset="0"/>
              </a:rPr>
              <a:t>}</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54</a:t>
            </a:fld>
            <a:endParaRPr lang="en-US" dirty="0"/>
          </a:p>
        </p:txBody>
      </p:sp>
      <p:sp>
        <p:nvSpPr>
          <p:cNvPr id="6" name="TextBox 5">
            <a:extLst>
              <a:ext uri="{FF2B5EF4-FFF2-40B4-BE49-F238E27FC236}">
                <a16:creationId xmlns:a16="http://schemas.microsoft.com/office/drawing/2014/main" id="{B58E4A8D-40A7-422D-AAAE-DDDB9D9035B3}"/>
              </a:ext>
            </a:extLst>
          </p:cNvPr>
          <p:cNvSpPr txBox="1"/>
          <p:nvPr/>
        </p:nvSpPr>
        <p:spPr>
          <a:xfrm>
            <a:off x="8239328" y="1396122"/>
            <a:ext cx="2056973" cy="2862322"/>
          </a:xfrm>
          <a:prstGeom prst="rect">
            <a:avLst/>
          </a:prstGeom>
          <a:noFill/>
        </p:spPr>
        <p:txBody>
          <a:bodyPr wrap="none" rtlCol="0" anchor="ctr" anchorCtr="1">
            <a:spAutoFit/>
          </a:bodyPr>
          <a:lstStyle/>
          <a:p>
            <a:r>
              <a:rPr lang="en-US" dirty="0">
                <a:ea typeface="標楷體" pitchFamily="65" charset="-120"/>
                <a:cs typeface="Calibri" pitchFamily="34" charset="0"/>
              </a:rPr>
              <a:t>Example:</a:t>
            </a:r>
          </a:p>
          <a:p>
            <a:r>
              <a:rPr lang="en-US" dirty="0">
                <a:ea typeface="標楷體" pitchFamily="65" charset="-120"/>
                <a:cs typeface="Calibri" pitchFamily="34" charset="0"/>
              </a:rPr>
              <a:t>Assume a=12 b=4</a:t>
            </a:r>
          </a:p>
          <a:p>
            <a:r>
              <a:rPr lang="en-US" dirty="0">
                <a:ea typeface="標楷體" pitchFamily="65" charset="-120"/>
                <a:cs typeface="Calibri" pitchFamily="34" charset="0"/>
              </a:rPr>
              <a:t>a&gt;=b</a:t>
            </a:r>
          </a:p>
          <a:p>
            <a:r>
              <a:rPr lang="en-US" dirty="0">
                <a:ea typeface="標楷體" pitchFamily="65" charset="-120"/>
                <a:cs typeface="Calibri" pitchFamily="34" charset="0"/>
              </a:rPr>
              <a:t>a=a-b = 12-4 = 8</a:t>
            </a:r>
          </a:p>
          <a:p>
            <a:r>
              <a:rPr lang="en-US" dirty="0">
                <a:ea typeface="標楷體" pitchFamily="65" charset="-120"/>
                <a:cs typeface="Calibri" pitchFamily="34" charset="0"/>
              </a:rPr>
              <a:t>a&gt;=b</a:t>
            </a:r>
          </a:p>
          <a:p>
            <a:r>
              <a:rPr lang="en-US" dirty="0">
                <a:ea typeface="標楷體" pitchFamily="65" charset="-120"/>
                <a:cs typeface="Calibri" pitchFamily="34" charset="0"/>
              </a:rPr>
              <a:t>a=a-b=8-4=4</a:t>
            </a:r>
          </a:p>
          <a:p>
            <a:r>
              <a:rPr lang="en-US" dirty="0">
                <a:ea typeface="標楷體" pitchFamily="65" charset="-120"/>
                <a:cs typeface="Calibri" pitchFamily="34" charset="0"/>
              </a:rPr>
              <a:t>a&gt;=b</a:t>
            </a:r>
          </a:p>
          <a:p>
            <a:r>
              <a:rPr lang="en-US" dirty="0">
                <a:ea typeface="標楷體" pitchFamily="65" charset="-120"/>
                <a:cs typeface="Calibri" pitchFamily="34" charset="0"/>
              </a:rPr>
              <a:t>a=a-b=4-4= 0</a:t>
            </a:r>
          </a:p>
          <a:p>
            <a:r>
              <a:rPr lang="en-US" dirty="0">
                <a:ea typeface="標楷體" pitchFamily="65" charset="-120"/>
                <a:cs typeface="Calibri" pitchFamily="34" charset="0"/>
              </a:rPr>
              <a:t>a==0</a:t>
            </a:r>
          </a:p>
          <a:p>
            <a:r>
              <a:rPr lang="en-US" dirty="0">
                <a:ea typeface="標楷體" pitchFamily="65" charset="-120"/>
                <a:cs typeface="Calibri" pitchFamily="34" charset="0"/>
              </a:rPr>
              <a:t>return b</a:t>
            </a:r>
          </a:p>
        </p:txBody>
      </p:sp>
    </p:spTree>
    <p:extLst>
      <p:ext uri="{BB962C8B-B14F-4D97-AF65-F5344CB8AC3E}">
        <p14:creationId xmlns:p14="http://schemas.microsoft.com/office/powerpoint/2010/main" val="181411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RV Assembly Language</a:t>
            </a:r>
          </a:p>
        </p:txBody>
      </p:sp>
      <p:sp>
        <p:nvSpPr>
          <p:cNvPr id="3" name="Content Placeholder 2"/>
          <p:cNvSpPr>
            <a:spLocks noGrp="1"/>
          </p:cNvSpPr>
          <p:nvPr>
            <p:ph idx="1"/>
          </p:nvPr>
        </p:nvSpPr>
        <p:spPr>
          <a:xfrm>
            <a:off x="194310" y="1221372"/>
            <a:ext cx="8444571" cy="4692747"/>
          </a:xfrm>
          <a:solidFill>
            <a:schemeClr val="accent2">
              <a:lumMod val="40000"/>
              <a:lumOff val="60000"/>
            </a:schemeClr>
          </a:solidFill>
        </p:spPr>
        <p:txBody>
          <a:bodyPr/>
          <a:lstStyle/>
          <a:p>
            <a:pPr marL="0" indent="0">
              <a:buNone/>
            </a:pPr>
            <a:r>
              <a:rPr lang="en-US" sz="2000" dirty="0">
                <a:latin typeface="Courier New" panose="02070309020205020404" pitchFamily="49" charset="0"/>
                <a:cs typeface="Courier New" panose="02070309020205020404" pitchFamily="49" charset="0"/>
              </a:rPr>
              <a:t>// a: x1, b: x2, t: x3</a:t>
            </a:r>
          </a:p>
          <a:p>
            <a:pPr marL="0" indent="0">
              <a:buNone/>
            </a:pPr>
            <a:r>
              <a:rPr lang="en-US" sz="2000" dirty="0">
                <a:latin typeface="Courier New" panose="02070309020205020404" pitchFamily="49" charset="0"/>
                <a:cs typeface="Courier New" panose="02070309020205020404" pitchFamily="49" charset="0"/>
              </a:rPr>
              <a:t>begin:</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beq</a:t>
            </a:r>
            <a:r>
              <a:rPr lang="en-US" sz="2000" dirty="0">
                <a:latin typeface="Courier New" panose="02070309020205020404" pitchFamily="49" charset="0"/>
                <a:cs typeface="Courier New" panose="02070309020205020404" pitchFamily="49" charset="0"/>
              </a:rPr>
              <a:t> x1, x0, done // if(x1 == 0)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done</a:t>
            </a:r>
          </a:p>
          <a:p>
            <a:pPr marL="0"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blt</a:t>
            </a:r>
            <a:r>
              <a:rPr lang="en-US" sz="2000" dirty="0">
                <a:latin typeface="Courier New" panose="02070309020205020404" pitchFamily="49" charset="0"/>
                <a:cs typeface="Courier New" panose="02070309020205020404" pitchFamily="49" charset="0"/>
              </a:rPr>
              <a:t> x1, x2, </a:t>
            </a: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 // if(x1 &lt; x2)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b_bigger</a:t>
            </a: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  sub x1, x1, x2 // x1 := x1 - x2</a:t>
            </a:r>
          </a:p>
          <a:p>
            <a:pPr marL="0" indent="0">
              <a:buNone/>
            </a:pPr>
            <a:r>
              <a:rPr lang="en-US" sz="2000" dirty="0">
                <a:latin typeface="Courier New" panose="02070309020205020404" pitchFamily="49" charset="0"/>
                <a:cs typeface="Courier New" panose="02070309020205020404" pitchFamily="49" charset="0"/>
              </a:rPr>
              <a:t>  j begin // </a:t>
            </a:r>
            <a:r>
              <a:rPr lang="en-US" sz="1800" i="1" dirty="0">
                <a:latin typeface="Courier New" panose="02070309020205020404" pitchFamily="49" charset="0"/>
                <a:cs typeface="Courier New" panose="02070309020205020404" pitchFamily="49" charset="0"/>
              </a:rPr>
              <a:t>was a jump </a:t>
            </a:r>
            <a:r>
              <a:rPr lang="en-US" sz="1800" i="1" dirty="0" err="1">
                <a:latin typeface="Courier New" panose="02070309020205020404" pitchFamily="49" charset="0"/>
                <a:cs typeface="Courier New" panose="02070309020205020404" pitchFamily="49" charset="0"/>
              </a:rPr>
              <a:t>inst</a:t>
            </a:r>
            <a:r>
              <a:rPr lang="en-US" sz="1800" i="1" dirty="0">
                <a:latin typeface="Courier New" panose="02070309020205020404" pitchFamily="49" charset="0"/>
                <a:cs typeface="Courier New" panose="02070309020205020404" pitchFamily="49" charset="0"/>
              </a:rPr>
              <a:t> to skip over else part</a:t>
            </a:r>
          </a:p>
          <a:p>
            <a:pPr marL="0" indent="0">
              <a:buNone/>
            </a:pP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add x3, x1,x0 // x3 := x1 </a:t>
            </a:r>
          </a:p>
          <a:p>
            <a:pPr marL="0" indent="0">
              <a:buNone/>
            </a:pPr>
            <a:r>
              <a:rPr lang="en-US" sz="2000" dirty="0">
                <a:latin typeface="Courier New" panose="02070309020205020404" pitchFamily="49" charset="0"/>
                <a:cs typeface="Courier New" panose="02070309020205020404" pitchFamily="49" charset="0"/>
              </a:rPr>
              <a:t>  add x1, x2,x0 // x1 := x2</a:t>
            </a:r>
          </a:p>
          <a:p>
            <a:pPr marL="0" indent="0">
              <a:buNone/>
            </a:pPr>
            <a:r>
              <a:rPr lang="en-US" sz="2000" dirty="0">
                <a:latin typeface="Courier New" panose="02070309020205020404" pitchFamily="49" charset="0"/>
                <a:cs typeface="Courier New" panose="02070309020205020404" pitchFamily="49" charset="0"/>
              </a:rPr>
              <a:t>  add x2, x3,x0 // x2 := x3</a:t>
            </a:r>
          </a:p>
          <a:p>
            <a:pPr marL="0" indent="0">
              <a:buNone/>
            </a:pPr>
            <a:r>
              <a:rPr lang="en-US" sz="2000" dirty="0">
                <a:latin typeface="Courier New" panose="02070309020205020404" pitchFamily="49" charset="0"/>
                <a:cs typeface="Courier New" panose="02070309020205020404" pitchFamily="49" charset="0"/>
              </a:rPr>
              <a:t>  j begin // </a:t>
            </a:r>
            <a:r>
              <a:rPr lang="en-US" sz="2000" dirty="0" err="1">
                <a:latin typeface="Courier New" panose="02070309020205020404" pitchFamily="49" charset="0"/>
                <a:cs typeface="Courier New" panose="02070309020205020404" pitchFamily="49" charset="0"/>
              </a:rPr>
              <a:t>goto</a:t>
            </a:r>
            <a:r>
              <a:rPr lang="en-US" sz="2000" dirty="0">
                <a:latin typeface="Courier New" panose="02070309020205020404" pitchFamily="49" charset="0"/>
                <a:cs typeface="Courier New" panose="02070309020205020404" pitchFamily="49" charset="0"/>
              </a:rPr>
              <a:t> begin</a:t>
            </a:r>
          </a:p>
          <a:p>
            <a:pPr marL="0" indent="0">
              <a:buNone/>
            </a:pPr>
            <a:r>
              <a:rPr lang="en-US" sz="2000" dirty="0">
                <a:latin typeface="Courier New" panose="02070309020205020404" pitchFamily="49" charset="0"/>
                <a:cs typeface="Courier New" panose="02070309020205020404" pitchFamily="49" charset="0"/>
              </a:rPr>
              <a:t>done:  // now x2 contains the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55</a:t>
            </a:fld>
            <a:endParaRPr lang="en-US" dirty="0"/>
          </a:p>
        </p:txBody>
      </p:sp>
      <p:sp>
        <p:nvSpPr>
          <p:cNvPr id="6" name="TextBox 5">
            <a:extLst>
              <a:ext uri="{FF2B5EF4-FFF2-40B4-BE49-F238E27FC236}">
                <a16:creationId xmlns:a16="http://schemas.microsoft.com/office/drawing/2014/main" id="{B761B3CA-B865-4E90-98AF-DAE74BA7D5C2}"/>
              </a:ext>
            </a:extLst>
          </p:cNvPr>
          <p:cNvSpPr txBox="1"/>
          <p:nvPr/>
        </p:nvSpPr>
        <p:spPr>
          <a:xfrm>
            <a:off x="7250033" y="3942438"/>
            <a:ext cx="4565673" cy="1938992"/>
          </a:xfrm>
          <a:prstGeom prst="rect">
            <a:avLst/>
          </a:prstGeom>
          <a:solidFill>
            <a:srgbClr val="FFFF00"/>
          </a:solidFill>
        </p:spPr>
        <p:txBody>
          <a:bodyPr wrap="none" rtlCol="0" anchor="ctr" anchorCtr="1">
            <a:spAutoFit/>
          </a:bodyPr>
          <a:lstStyle/>
          <a:p>
            <a:r>
              <a:rPr lang="en-US" sz="2400" dirty="0">
                <a:ea typeface="標楷體" pitchFamily="65" charset="-120"/>
                <a:cs typeface="Calibri" panose="020F0502020204030204" pitchFamily="34" charset="0"/>
              </a:rPr>
              <a:t>Another way to swap X1 and X2</a:t>
            </a:r>
          </a:p>
          <a:p>
            <a:r>
              <a:rPr lang="en-US" sz="2400" dirty="0">
                <a:ea typeface="標楷體" pitchFamily="65" charset="-120"/>
                <a:cs typeface="Calibri" panose="020F0502020204030204" pitchFamily="34" charset="0"/>
              </a:rPr>
              <a:t>without using X3 is:</a:t>
            </a:r>
          </a:p>
          <a:p>
            <a:r>
              <a:rPr lang="en-US" sz="2400" dirty="0">
                <a:ea typeface="標楷體" pitchFamily="65" charset="-120"/>
                <a:cs typeface="Calibri" panose="020F0502020204030204" pitchFamily="34" charset="0"/>
              </a:rPr>
              <a:t>X1 = X1 </a:t>
            </a:r>
            <a:r>
              <a:rPr lang="en-US" sz="2400" dirty="0" err="1">
                <a:ea typeface="標楷體" pitchFamily="65" charset="-120"/>
                <a:cs typeface="Calibri" panose="020F0502020204030204" pitchFamily="34" charset="0"/>
              </a:rPr>
              <a:t>xor</a:t>
            </a:r>
            <a:r>
              <a:rPr lang="en-US" sz="2400" dirty="0">
                <a:ea typeface="標楷體" pitchFamily="65" charset="-120"/>
                <a:cs typeface="Calibri" panose="020F0502020204030204" pitchFamily="34" charset="0"/>
              </a:rPr>
              <a:t> X2</a:t>
            </a:r>
          </a:p>
          <a:p>
            <a:r>
              <a:rPr lang="en-US" sz="2400" dirty="0">
                <a:ea typeface="標楷體" pitchFamily="65" charset="-120"/>
                <a:cs typeface="Calibri" panose="020F0502020204030204" pitchFamily="34" charset="0"/>
              </a:rPr>
              <a:t>X2 = X1 </a:t>
            </a:r>
            <a:r>
              <a:rPr lang="en-US" sz="2400" dirty="0" err="1">
                <a:ea typeface="標楷體" pitchFamily="65" charset="-120"/>
                <a:cs typeface="Calibri" panose="020F0502020204030204" pitchFamily="34" charset="0"/>
              </a:rPr>
              <a:t>xor</a:t>
            </a:r>
            <a:r>
              <a:rPr lang="en-US" sz="2400" dirty="0">
                <a:ea typeface="標楷體" pitchFamily="65" charset="-120"/>
                <a:cs typeface="Calibri" panose="020F0502020204030204" pitchFamily="34" charset="0"/>
              </a:rPr>
              <a:t> X2</a:t>
            </a:r>
          </a:p>
          <a:p>
            <a:r>
              <a:rPr lang="en-US" sz="2400" dirty="0">
                <a:ea typeface="標楷體" pitchFamily="65" charset="-120"/>
                <a:cs typeface="Calibri" panose="020F0502020204030204" pitchFamily="34" charset="0"/>
              </a:rPr>
              <a:t>X1 = X1 </a:t>
            </a:r>
            <a:r>
              <a:rPr lang="en-US" sz="2400" dirty="0" err="1">
                <a:ea typeface="標楷體" pitchFamily="65" charset="-120"/>
                <a:cs typeface="Calibri" panose="020F0502020204030204" pitchFamily="34" charset="0"/>
              </a:rPr>
              <a:t>xor</a:t>
            </a:r>
            <a:r>
              <a:rPr lang="en-US" sz="2400" dirty="0">
                <a:ea typeface="標楷體" pitchFamily="65" charset="-120"/>
                <a:cs typeface="Calibri" panose="020F0502020204030204" pitchFamily="34" charset="0"/>
              </a:rPr>
              <a:t> X2</a:t>
            </a:r>
          </a:p>
        </p:txBody>
      </p:sp>
      <p:cxnSp>
        <p:nvCxnSpPr>
          <p:cNvPr id="9" name="Straight Arrow Connector 8">
            <a:extLst>
              <a:ext uri="{FF2B5EF4-FFF2-40B4-BE49-F238E27FC236}">
                <a16:creationId xmlns:a16="http://schemas.microsoft.com/office/drawing/2014/main" id="{F6AE3BC4-0604-4955-9FDA-BF3EBB191C3F}"/>
              </a:ext>
            </a:extLst>
          </p:cNvPr>
          <p:cNvCxnSpPr>
            <a:cxnSpLocks/>
            <a:stCxn id="10" idx="1"/>
          </p:cNvCxnSpPr>
          <p:nvPr/>
        </p:nvCxnSpPr>
        <p:spPr bwMode="auto">
          <a:xfrm flipH="1" flipV="1">
            <a:off x="3714750" y="1463040"/>
            <a:ext cx="4924131" cy="773995"/>
          </a:xfrm>
          <a:prstGeom prst="straightConnector1">
            <a:avLst/>
          </a:prstGeom>
          <a:noFill/>
          <a:ln w="15875" cap="flat" cmpd="sng" algn="ctr">
            <a:solidFill>
              <a:srgbClr val="FF0000"/>
            </a:solidFill>
            <a:prstDash val="solid"/>
            <a:round/>
            <a:headEnd type="none" w="med" len="med"/>
            <a:tailEnd type="triangle"/>
          </a:ln>
          <a:effectLst/>
        </p:spPr>
      </p:cxnSp>
      <p:sp>
        <p:nvSpPr>
          <p:cNvPr id="10" name="TextBox 9">
            <a:extLst>
              <a:ext uri="{FF2B5EF4-FFF2-40B4-BE49-F238E27FC236}">
                <a16:creationId xmlns:a16="http://schemas.microsoft.com/office/drawing/2014/main" id="{7DFA68B1-7112-4EBA-AE35-DB1A7A40F838}"/>
              </a:ext>
            </a:extLst>
          </p:cNvPr>
          <p:cNvSpPr txBox="1"/>
          <p:nvPr/>
        </p:nvSpPr>
        <p:spPr>
          <a:xfrm>
            <a:off x="8638881" y="1221372"/>
            <a:ext cx="3514745" cy="2031325"/>
          </a:xfrm>
          <a:prstGeom prst="rect">
            <a:avLst/>
          </a:prstGeom>
          <a:noFill/>
        </p:spPr>
        <p:txBody>
          <a:bodyPr wrap="none" rtlCol="0" anchor="ctr" anchorCtr="1">
            <a:spAutoFit/>
          </a:bodyPr>
          <a:lstStyle/>
          <a:p>
            <a:r>
              <a:rPr lang="en-US" dirty="0">
                <a:ea typeface="標楷體" pitchFamily="65" charset="-120"/>
                <a:cs typeface="Calibri" pitchFamily="34" charset="0"/>
              </a:rPr>
              <a:t>If a and b are passed in as</a:t>
            </a:r>
          </a:p>
          <a:p>
            <a:r>
              <a:rPr lang="en-US" dirty="0">
                <a:ea typeface="標楷體" pitchFamily="65" charset="-120"/>
                <a:cs typeface="Calibri" pitchFamily="34" charset="0"/>
              </a:rPr>
              <a:t>*a,*b, two pointers. The compiler</a:t>
            </a:r>
          </a:p>
          <a:p>
            <a:r>
              <a:rPr lang="en-US" dirty="0">
                <a:ea typeface="標楷體" pitchFamily="65" charset="-120"/>
                <a:cs typeface="Calibri" pitchFamily="34" charset="0"/>
              </a:rPr>
              <a:t>would not allocate *a, and *b</a:t>
            </a:r>
          </a:p>
          <a:p>
            <a:r>
              <a:rPr lang="en-US" dirty="0">
                <a:ea typeface="標楷體" pitchFamily="65" charset="-120"/>
                <a:cs typeface="Calibri" pitchFamily="34" charset="0"/>
              </a:rPr>
              <a:t>to registers, because </a:t>
            </a:r>
            <a:r>
              <a:rPr lang="en-US" dirty="0" err="1">
                <a:ea typeface="標楷體" pitchFamily="65" charset="-120"/>
                <a:cs typeface="Calibri" pitchFamily="34" charset="0"/>
              </a:rPr>
              <a:t>a,b</a:t>
            </a:r>
            <a:r>
              <a:rPr lang="en-US" dirty="0">
                <a:ea typeface="標楷體" pitchFamily="65" charset="-120"/>
                <a:cs typeface="Calibri" pitchFamily="34" charset="0"/>
              </a:rPr>
              <a:t> may </a:t>
            </a:r>
          </a:p>
          <a:p>
            <a:r>
              <a:rPr lang="en-US" dirty="0">
                <a:ea typeface="標楷體" pitchFamily="65" charset="-120"/>
                <a:cs typeface="Calibri" pitchFamily="34" charset="0"/>
              </a:rPr>
              <a:t>point to the same memory </a:t>
            </a:r>
          </a:p>
          <a:p>
            <a:r>
              <a:rPr lang="en-US" dirty="0">
                <a:ea typeface="標楷體" pitchFamily="65" charset="-120"/>
                <a:cs typeface="Calibri" pitchFamily="34" charset="0"/>
              </a:rPr>
              <a:t>location</a:t>
            </a:r>
          </a:p>
          <a:p>
            <a:endParaRPr lang="en-US" dirty="0">
              <a:ea typeface="標楷體" pitchFamily="65" charset="-120"/>
              <a:cs typeface="Calibri" pitchFamily="34" charset="0"/>
            </a:endParaRPr>
          </a:p>
        </p:txBody>
      </p:sp>
      <p:sp>
        <p:nvSpPr>
          <p:cNvPr id="8" name="Oval 7">
            <a:extLst>
              <a:ext uri="{FF2B5EF4-FFF2-40B4-BE49-F238E27FC236}">
                <a16:creationId xmlns:a16="http://schemas.microsoft.com/office/drawing/2014/main" id="{ACDEB8B5-E82F-46BC-B316-D6B2BF71FB98}"/>
              </a:ext>
            </a:extLst>
          </p:cNvPr>
          <p:cNvSpPr/>
          <p:nvPr/>
        </p:nvSpPr>
        <p:spPr bwMode="auto">
          <a:xfrm>
            <a:off x="-126460" y="3037858"/>
            <a:ext cx="9056451" cy="456507"/>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TextBox 10">
            <a:extLst>
              <a:ext uri="{FF2B5EF4-FFF2-40B4-BE49-F238E27FC236}">
                <a16:creationId xmlns:a16="http://schemas.microsoft.com/office/drawing/2014/main" id="{3E88E788-4908-41E4-998E-A594D32DA0D5}"/>
              </a:ext>
            </a:extLst>
          </p:cNvPr>
          <p:cNvSpPr txBox="1"/>
          <p:nvPr/>
        </p:nvSpPr>
        <p:spPr>
          <a:xfrm>
            <a:off x="9185983" y="3066841"/>
            <a:ext cx="2082621" cy="369332"/>
          </a:xfrm>
          <a:prstGeom prst="rect">
            <a:avLst/>
          </a:prstGeom>
          <a:noFill/>
        </p:spPr>
        <p:txBody>
          <a:bodyPr wrap="none" rtlCol="0" anchor="ctr" anchorCtr="1">
            <a:spAutoFit/>
          </a:bodyPr>
          <a:lstStyle/>
          <a:p>
            <a:r>
              <a:rPr lang="en-US" dirty="0">
                <a:highlight>
                  <a:srgbClr val="FFFF00"/>
                </a:highlight>
                <a:ea typeface="標楷體" pitchFamily="65" charset="-120"/>
                <a:cs typeface="Calibri" pitchFamily="34" charset="0"/>
              </a:rPr>
              <a:t>Pseudo instruction</a:t>
            </a:r>
          </a:p>
        </p:txBody>
      </p:sp>
      <p:cxnSp>
        <p:nvCxnSpPr>
          <p:cNvPr id="13" name="Straight Arrow Connector 12">
            <a:extLst>
              <a:ext uri="{FF2B5EF4-FFF2-40B4-BE49-F238E27FC236}">
                <a16:creationId xmlns:a16="http://schemas.microsoft.com/office/drawing/2014/main" id="{069D8023-3896-406C-8911-3AA8D746E7A4}"/>
              </a:ext>
            </a:extLst>
          </p:cNvPr>
          <p:cNvCxnSpPr>
            <a:stCxn id="11" idx="1"/>
            <a:endCxn id="8" idx="6"/>
          </p:cNvCxnSpPr>
          <p:nvPr/>
        </p:nvCxnSpPr>
        <p:spPr bwMode="auto">
          <a:xfrm flipH="1">
            <a:off x="8929991" y="3251507"/>
            <a:ext cx="255992" cy="14605"/>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30562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8" grpId="0" animBg="1"/>
      <p:bldP spid="1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Binary Interface (ABI)</a:t>
            </a:r>
          </a:p>
        </p:txBody>
      </p:sp>
      <p:sp>
        <p:nvSpPr>
          <p:cNvPr id="3" name="Content Placeholder 2"/>
          <p:cNvSpPr>
            <a:spLocks noGrp="1"/>
          </p:cNvSpPr>
          <p:nvPr>
            <p:ph idx="1"/>
          </p:nvPr>
        </p:nvSpPr>
        <p:spPr>
          <a:xfrm>
            <a:off x="1335617" y="1130615"/>
            <a:ext cx="8795355" cy="4815101"/>
          </a:xfrm>
        </p:spPr>
        <p:txBody>
          <a:bodyPr/>
          <a:lstStyle/>
          <a:p>
            <a:r>
              <a:rPr lang="en-US" sz="2400" dirty="0"/>
              <a:t>Calling convention in ABI defines specifies rules for register usage in passing arguments and results for function calls</a:t>
            </a:r>
          </a:p>
          <a:p>
            <a:pPr lvl="1"/>
            <a:r>
              <a:rPr lang="en-US" sz="2000" dirty="0" err="1"/>
              <a:t>Callee</a:t>
            </a:r>
            <a:r>
              <a:rPr lang="en-US" sz="2000" dirty="0"/>
              <a:t>-saved registers vs Caller-saved registers</a:t>
            </a:r>
          </a:p>
          <a:p>
            <a:r>
              <a:rPr lang="en-US" sz="2400" dirty="0"/>
              <a:t>Assigns aliases for registers x1-x31</a:t>
            </a:r>
          </a:p>
          <a:p>
            <a:pPr lvl="1"/>
            <a:r>
              <a:rPr lang="en-US" sz="2000" dirty="0"/>
              <a:t>a0 to a7 – function argument registers (caller-saved)</a:t>
            </a:r>
          </a:p>
          <a:p>
            <a:pPr lvl="1"/>
            <a:r>
              <a:rPr lang="en-US" sz="2000" dirty="0"/>
              <a:t>a0 and a1 – function return value registers</a:t>
            </a:r>
          </a:p>
          <a:p>
            <a:pPr lvl="1"/>
            <a:r>
              <a:rPr lang="en-US" sz="2000" dirty="0"/>
              <a:t>s0 to s11 – Saved registers (</a:t>
            </a:r>
            <a:r>
              <a:rPr lang="en-US" sz="2000" dirty="0" err="1"/>
              <a:t>callee</a:t>
            </a:r>
            <a:r>
              <a:rPr lang="en-US" sz="2000" dirty="0"/>
              <a:t>-saved)</a:t>
            </a:r>
          </a:p>
          <a:p>
            <a:pPr lvl="1"/>
            <a:r>
              <a:rPr lang="en-US" sz="2000" dirty="0"/>
              <a:t>t0 to t6 – temporary registers (caller-saved)</a:t>
            </a:r>
          </a:p>
          <a:p>
            <a:pPr lvl="1"/>
            <a:r>
              <a:rPr lang="en-US" sz="2000" dirty="0" err="1"/>
              <a:t>ra</a:t>
            </a:r>
            <a:r>
              <a:rPr lang="en-US" sz="2000" dirty="0"/>
              <a:t> – return address (caller-saved)</a:t>
            </a:r>
          </a:p>
          <a:p>
            <a:pPr lvl="1"/>
            <a:r>
              <a:rPr lang="en-US" sz="2000" dirty="0" err="1"/>
              <a:t>sp</a:t>
            </a:r>
            <a:r>
              <a:rPr lang="en-US" sz="2000" dirty="0"/>
              <a:t> – stack pointer (</a:t>
            </a:r>
            <a:r>
              <a:rPr lang="en-US" sz="2000" dirty="0" err="1"/>
              <a:t>callee</a:t>
            </a:r>
            <a:r>
              <a:rPr lang="en-US" sz="2000" dirty="0"/>
              <a:t>-saved)</a:t>
            </a:r>
          </a:p>
          <a:p>
            <a:pPr lvl="1"/>
            <a:r>
              <a:rPr lang="en-US" sz="2000" dirty="0" err="1"/>
              <a:t>gp</a:t>
            </a:r>
            <a:r>
              <a:rPr lang="en-US" sz="2000" dirty="0"/>
              <a:t> (global pointer), and </a:t>
            </a:r>
            <a:r>
              <a:rPr lang="en-US" sz="2000" dirty="0" err="1"/>
              <a:t>tp</a:t>
            </a:r>
            <a:r>
              <a:rPr lang="en-US" sz="2000" dirty="0"/>
              <a:t> (thread pointer) point to specific locations in memory used by the program for global and thread-local variables respectively</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56</a:t>
            </a:fld>
            <a:endParaRPr lang="en-US" dirty="0"/>
          </a:p>
        </p:txBody>
      </p:sp>
    </p:spTree>
    <p:extLst>
      <p:ext uri="{BB962C8B-B14F-4D97-AF65-F5344CB8AC3E}">
        <p14:creationId xmlns:p14="http://schemas.microsoft.com/office/powerpoint/2010/main" val="164955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Mapping between Physical Reg to ABI Reg</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57</a:t>
            </a:fld>
            <a:endParaRPr lang="en-US" dirty="0"/>
          </a:p>
        </p:txBody>
      </p:sp>
      <p:graphicFrame>
        <p:nvGraphicFramePr>
          <p:cNvPr id="6" name="Table 9">
            <a:extLst>
              <a:ext uri="{FF2B5EF4-FFF2-40B4-BE49-F238E27FC236}">
                <a16:creationId xmlns:a16="http://schemas.microsoft.com/office/drawing/2014/main" id="{E53A32D8-7626-4428-9889-215DEA7EAD8E}"/>
              </a:ext>
            </a:extLst>
          </p:cNvPr>
          <p:cNvGraphicFramePr>
            <a:graphicFrameLocks noGrp="1"/>
          </p:cNvGraphicFramePr>
          <p:nvPr>
            <p:extLst>
              <p:ext uri="{D42A27DB-BD31-4B8C-83A1-F6EECF244321}">
                <p14:modId xmlns:p14="http://schemas.microsoft.com/office/powerpoint/2010/main" val="3590367389"/>
              </p:ext>
            </p:extLst>
          </p:nvPr>
        </p:nvGraphicFramePr>
        <p:xfrm>
          <a:off x="1485900" y="1158241"/>
          <a:ext cx="8835389" cy="4967853"/>
        </p:xfrm>
        <a:graphic>
          <a:graphicData uri="http://schemas.openxmlformats.org/drawingml/2006/table">
            <a:tbl>
              <a:tblPr firstRow="1" bandRow="1">
                <a:tableStyleId>{5C22544A-7EE6-4342-B048-85BDC9FD1C3A}</a:tableStyleId>
              </a:tblPr>
              <a:tblGrid>
                <a:gridCol w="3358467">
                  <a:extLst>
                    <a:ext uri="{9D8B030D-6E8A-4147-A177-3AD203B41FA5}">
                      <a16:colId xmlns:a16="http://schemas.microsoft.com/office/drawing/2014/main" val="2102270064"/>
                    </a:ext>
                  </a:extLst>
                </a:gridCol>
                <a:gridCol w="2738461">
                  <a:extLst>
                    <a:ext uri="{9D8B030D-6E8A-4147-A177-3AD203B41FA5}">
                      <a16:colId xmlns:a16="http://schemas.microsoft.com/office/drawing/2014/main" val="1917935184"/>
                    </a:ext>
                  </a:extLst>
                </a:gridCol>
                <a:gridCol w="2738461">
                  <a:extLst>
                    <a:ext uri="{9D8B030D-6E8A-4147-A177-3AD203B41FA5}">
                      <a16:colId xmlns:a16="http://schemas.microsoft.com/office/drawing/2014/main" val="3267213686"/>
                    </a:ext>
                  </a:extLst>
                </a:gridCol>
              </a:tblGrid>
              <a:tr h="825136">
                <a:tc>
                  <a:txBody>
                    <a:bodyPr/>
                    <a:lstStyle/>
                    <a:p>
                      <a:r>
                        <a:rPr lang="en-US" sz="2400" dirty="0"/>
                        <a:t>Names</a:t>
                      </a:r>
                    </a:p>
                  </a:txBody>
                  <a:tcPr marL="121920" marR="121920" marT="60960" marB="60960"/>
                </a:tc>
                <a:tc>
                  <a:txBody>
                    <a:bodyPr/>
                    <a:lstStyle/>
                    <a:p>
                      <a:r>
                        <a:rPr lang="en-US" sz="2400" dirty="0"/>
                        <a:t>RISC-V registers</a:t>
                      </a:r>
                    </a:p>
                  </a:txBody>
                  <a:tcPr marL="121920" marR="121920" marT="60960" marB="60960"/>
                </a:tc>
                <a:tc>
                  <a:txBody>
                    <a:bodyPr/>
                    <a:lstStyle/>
                    <a:p>
                      <a:r>
                        <a:rPr lang="en-US" sz="2400" dirty="0"/>
                        <a:t>ABI register name</a:t>
                      </a:r>
                    </a:p>
                  </a:txBody>
                  <a:tcPr marL="121920" marR="121920" marT="60960" marB="60960"/>
                </a:tc>
                <a:extLst>
                  <a:ext uri="{0D108BD9-81ED-4DB2-BD59-A6C34878D82A}">
                    <a16:rowId xmlns:a16="http://schemas.microsoft.com/office/drawing/2014/main" val="3214105056"/>
                  </a:ext>
                </a:extLst>
              </a:tr>
              <a:tr h="471506">
                <a:tc>
                  <a:txBody>
                    <a:bodyPr/>
                    <a:lstStyle/>
                    <a:p>
                      <a:r>
                        <a:rPr lang="en-US" sz="2400" dirty="0"/>
                        <a:t>Zero register </a:t>
                      </a:r>
                    </a:p>
                  </a:txBody>
                  <a:tcPr marL="121920" marR="121920" marT="60960" marB="60960"/>
                </a:tc>
                <a:tc>
                  <a:txBody>
                    <a:bodyPr/>
                    <a:lstStyle/>
                    <a:p>
                      <a:r>
                        <a:rPr lang="en-US" sz="2400" dirty="0"/>
                        <a:t>X0</a:t>
                      </a:r>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285642056"/>
                  </a:ext>
                </a:extLst>
              </a:tr>
              <a:tr h="471506">
                <a:tc>
                  <a:txBody>
                    <a:bodyPr/>
                    <a:lstStyle/>
                    <a:p>
                      <a:r>
                        <a:rPr lang="en-US" sz="2400" dirty="0"/>
                        <a:t>Return Address</a:t>
                      </a:r>
                    </a:p>
                  </a:txBody>
                  <a:tcPr marL="121920" marR="121920" marT="60960" marB="60960"/>
                </a:tc>
                <a:tc>
                  <a:txBody>
                    <a:bodyPr/>
                    <a:lstStyle/>
                    <a:p>
                      <a:r>
                        <a:rPr lang="en-US" sz="2400" dirty="0"/>
                        <a:t>X1</a:t>
                      </a:r>
                    </a:p>
                  </a:txBody>
                  <a:tcPr marL="121920" marR="121920" marT="60960" marB="60960"/>
                </a:tc>
                <a:tc>
                  <a:txBody>
                    <a:bodyPr/>
                    <a:lstStyle/>
                    <a:p>
                      <a:r>
                        <a:rPr lang="en-US" sz="2400" dirty="0"/>
                        <a:t>ra</a:t>
                      </a:r>
                    </a:p>
                  </a:txBody>
                  <a:tcPr marL="121920" marR="121920" marT="60960" marB="60960"/>
                </a:tc>
                <a:extLst>
                  <a:ext uri="{0D108BD9-81ED-4DB2-BD59-A6C34878D82A}">
                    <a16:rowId xmlns:a16="http://schemas.microsoft.com/office/drawing/2014/main" val="3602459823"/>
                  </a:ext>
                </a:extLst>
              </a:tr>
              <a:tr h="471506">
                <a:tc>
                  <a:txBody>
                    <a:bodyPr/>
                    <a:lstStyle/>
                    <a:p>
                      <a:r>
                        <a:rPr lang="en-US" sz="2400" dirty="0"/>
                        <a:t>Stack pointer</a:t>
                      </a:r>
                    </a:p>
                  </a:txBody>
                  <a:tcPr marL="121920" marR="121920" marT="60960" marB="60960"/>
                </a:tc>
                <a:tc>
                  <a:txBody>
                    <a:bodyPr/>
                    <a:lstStyle/>
                    <a:p>
                      <a:r>
                        <a:rPr lang="en-US" sz="2400" dirty="0"/>
                        <a:t>X2</a:t>
                      </a:r>
                    </a:p>
                  </a:txBody>
                  <a:tcPr marL="121920" marR="121920" marT="60960" marB="60960"/>
                </a:tc>
                <a:tc>
                  <a:txBody>
                    <a:bodyPr/>
                    <a:lstStyle/>
                    <a:p>
                      <a:r>
                        <a:rPr lang="en-US" sz="2400" dirty="0" err="1"/>
                        <a:t>sp</a:t>
                      </a:r>
                      <a:endParaRPr lang="en-US" sz="2400" dirty="0"/>
                    </a:p>
                  </a:txBody>
                  <a:tcPr marL="121920" marR="121920" marT="60960" marB="60960"/>
                </a:tc>
                <a:extLst>
                  <a:ext uri="{0D108BD9-81ED-4DB2-BD59-A6C34878D82A}">
                    <a16:rowId xmlns:a16="http://schemas.microsoft.com/office/drawing/2014/main" val="2359337686"/>
                  </a:ext>
                </a:extLst>
              </a:tr>
              <a:tr h="471506">
                <a:tc>
                  <a:txBody>
                    <a:bodyPr/>
                    <a:lstStyle/>
                    <a:p>
                      <a:r>
                        <a:rPr lang="en-US" sz="2400" dirty="0"/>
                        <a:t>Global pointer</a:t>
                      </a:r>
                    </a:p>
                  </a:txBody>
                  <a:tcPr marL="121920" marR="121920" marT="60960" marB="60960"/>
                </a:tc>
                <a:tc>
                  <a:txBody>
                    <a:bodyPr/>
                    <a:lstStyle/>
                    <a:p>
                      <a:r>
                        <a:rPr lang="en-US" sz="2400" dirty="0"/>
                        <a:t>X3</a:t>
                      </a:r>
                    </a:p>
                  </a:txBody>
                  <a:tcPr marL="121920" marR="121920" marT="60960" marB="60960"/>
                </a:tc>
                <a:tc>
                  <a:txBody>
                    <a:bodyPr/>
                    <a:lstStyle/>
                    <a:p>
                      <a:r>
                        <a:rPr lang="en-US" sz="2400" dirty="0" err="1"/>
                        <a:t>gp</a:t>
                      </a:r>
                      <a:endParaRPr lang="en-US" sz="2400" dirty="0"/>
                    </a:p>
                  </a:txBody>
                  <a:tcPr marL="121920" marR="121920" marT="60960" marB="60960"/>
                </a:tc>
                <a:extLst>
                  <a:ext uri="{0D108BD9-81ED-4DB2-BD59-A6C34878D82A}">
                    <a16:rowId xmlns:a16="http://schemas.microsoft.com/office/drawing/2014/main" val="3756952032"/>
                  </a:ext>
                </a:extLst>
              </a:tr>
              <a:tr h="471506">
                <a:tc>
                  <a:txBody>
                    <a:bodyPr/>
                    <a:lstStyle/>
                    <a:p>
                      <a:r>
                        <a:rPr lang="en-US" sz="2400" dirty="0"/>
                        <a:t>Thread pointer</a:t>
                      </a:r>
                    </a:p>
                  </a:txBody>
                  <a:tcPr marL="121920" marR="121920" marT="60960" marB="60960"/>
                </a:tc>
                <a:tc>
                  <a:txBody>
                    <a:bodyPr/>
                    <a:lstStyle/>
                    <a:p>
                      <a:r>
                        <a:rPr lang="en-US" sz="2400" dirty="0"/>
                        <a:t>X4</a:t>
                      </a:r>
                    </a:p>
                  </a:txBody>
                  <a:tcPr marL="121920" marR="121920" marT="60960" marB="60960"/>
                </a:tc>
                <a:tc>
                  <a:txBody>
                    <a:bodyPr/>
                    <a:lstStyle/>
                    <a:p>
                      <a:r>
                        <a:rPr lang="en-US" sz="2400" dirty="0" err="1"/>
                        <a:t>tp</a:t>
                      </a:r>
                      <a:endParaRPr lang="en-US" sz="2400" dirty="0"/>
                    </a:p>
                  </a:txBody>
                  <a:tcPr marL="121920" marR="121920" marT="60960" marB="60960"/>
                </a:tc>
                <a:extLst>
                  <a:ext uri="{0D108BD9-81ED-4DB2-BD59-A6C34878D82A}">
                    <a16:rowId xmlns:a16="http://schemas.microsoft.com/office/drawing/2014/main" val="2984917401"/>
                  </a:ext>
                </a:extLst>
              </a:tr>
              <a:tr h="471506">
                <a:tc>
                  <a:txBody>
                    <a:bodyPr/>
                    <a:lstStyle/>
                    <a:p>
                      <a:r>
                        <a:rPr lang="en-US" sz="2400" dirty="0"/>
                        <a:t>Temporary</a:t>
                      </a:r>
                    </a:p>
                  </a:txBody>
                  <a:tcPr marL="121920" marR="121920" marT="60960" marB="60960"/>
                </a:tc>
                <a:tc>
                  <a:txBody>
                    <a:bodyPr/>
                    <a:lstStyle/>
                    <a:p>
                      <a:r>
                        <a:rPr lang="en-US" sz="2400" dirty="0"/>
                        <a:t>X5-X7, X28-X31</a:t>
                      </a:r>
                    </a:p>
                  </a:txBody>
                  <a:tcPr marL="121920" marR="121920" marT="60960" marB="60960"/>
                </a:tc>
                <a:tc>
                  <a:txBody>
                    <a:bodyPr/>
                    <a:lstStyle/>
                    <a:p>
                      <a:r>
                        <a:rPr lang="en-US" sz="2400" dirty="0"/>
                        <a:t>t0-t6</a:t>
                      </a:r>
                    </a:p>
                  </a:txBody>
                  <a:tcPr marL="121920" marR="121920" marT="60960" marB="60960"/>
                </a:tc>
                <a:extLst>
                  <a:ext uri="{0D108BD9-81ED-4DB2-BD59-A6C34878D82A}">
                    <a16:rowId xmlns:a16="http://schemas.microsoft.com/office/drawing/2014/main" val="1787943509"/>
                  </a:ext>
                </a:extLst>
              </a:tr>
              <a:tr h="498064">
                <a:tc>
                  <a:txBody>
                    <a:bodyPr/>
                    <a:lstStyle/>
                    <a:p>
                      <a:r>
                        <a:rPr lang="en-US" sz="2400" dirty="0"/>
                        <a:t>Saved registers</a:t>
                      </a:r>
                    </a:p>
                  </a:txBody>
                  <a:tcPr marL="121920" marR="121920" marT="60960" marB="60960"/>
                </a:tc>
                <a:tc>
                  <a:txBody>
                    <a:bodyPr/>
                    <a:lstStyle/>
                    <a:p>
                      <a:r>
                        <a:rPr lang="en-US" sz="2400" dirty="0"/>
                        <a:t>X8-X9, X18-X27</a:t>
                      </a:r>
                    </a:p>
                  </a:txBody>
                  <a:tcPr marL="121920" marR="121920" marT="60960" marB="60960"/>
                </a:tc>
                <a:tc>
                  <a:txBody>
                    <a:bodyPr/>
                    <a:lstStyle/>
                    <a:p>
                      <a:r>
                        <a:rPr lang="en-US" sz="2400" dirty="0"/>
                        <a:t>s0-s11</a:t>
                      </a:r>
                    </a:p>
                  </a:txBody>
                  <a:tcPr marL="121920" marR="121920" marT="60960" marB="60960"/>
                </a:tc>
                <a:extLst>
                  <a:ext uri="{0D108BD9-81ED-4DB2-BD59-A6C34878D82A}">
                    <a16:rowId xmlns:a16="http://schemas.microsoft.com/office/drawing/2014/main" val="3829943340"/>
                  </a:ext>
                </a:extLst>
              </a:tr>
              <a:tr h="690269">
                <a:tc>
                  <a:txBody>
                    <a:bodyPr/>
                    <a:lstStyle/>
                    <a:p>
                      <a:r>
                        <a:rPr lang="en-US" sz="2400" dirty="0"/>
                        <a:t>Function arguments</a:t>
                      </a:r>
                    </a:p>
                  </a:txBody>
                  <a:tcPr marL="121920" marR="121920" marT="60960" marB="60960"/>
                </a:tc>
                <a:tc>
                  <a:txBody>
                    <a:bodyPr/>
                    <a:lstStyle/>
                    <a:p>
                      <a:r>
                        <a:rPr lang="en-US" sz="2400" dirty="0"/>
                        <a:t>X10-X17</a:t>
                      </a:r>
                    </a:p>
                  </a:txBody>
                  <a:tcPr marL="121920" marR="121920" marT="60960" marB="60960"/>
                </a:tc>
                <a:tc>
                  <a:txBody>
                    <a:bodyPr/>
                    <a:lstStyle/>
                    <a:p>
                      <a:r>
                        <a:rPr lang="en-US" sz="2400" dirty="0"/>
                        <a:t>a0-a7</a:t>
                      </a:r>
                    </a:p>
                  </a:txBody>
                  <a:tcPr marL="121920" marR="121920" marT="60960" marB="60960"/>
                </a:tc>
                <a:extLst>
                  <a:ext uri="{0D108BD9-81ED-4DB2-BD59-A6C34878D82A}">
                    <a16:rowId xmlns:a16="http://schemas.microsoft.com/office/drawing/2014/main" val="1256411330"/>
                  </a:ext>
                </a:extLst>
              </a:tr>
            </a:tbl>
          </a:graphicData>
        </a:graphic>
      </p:graphicFrame>
    </p:spTree>
    <p:extLst>
      <p:ext uri="{BB962C8B-B14F-4D97-AF65-F5344CB8AC3E}">
        <p14:creationId xmlns:p14="http://schemas.microsoft.com/office/powerpoint/2010/main" val="2757162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Mapping between Physical Reg to ABI Reg</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58</a:t>
            </a:fld>
            <a:endParaRPr lang="en-US" dirty="0"/>
          </a:p>
        </p:txBody>
      </p:sp>
      <p:graphicFrame>
        <p:nvGraphicFramePr>
          <p:cNvPr id="6" name="Table 9">
            <a:extLst>
              <a:ext uri="{FF2B5EF4-FFF2-40B4-BE49-F238E27FC236}">
                <a16:creationId xmlns:a16="http://schemas.microsoft.com/office/drawing/2014/main" id="{E53A32D8-7626-4428-9889-215DEA7EAD8E}"/>
              </a:ext>
            </a:extLst>
          </p:cNvPr>
          <p:cNvGraphicFramePr>
            <a:graphicFrameLocks noGrp="1"/>
          </p:cNvGraphicFramePr>
          <p:nvPr>
            <p:extLst>
              <p:ext uri="{D42A27DB-BD31-4B8C-83A1-F6EECF244321}">
                <p14:modId xmlns:p14="http://schemas.microsoft.com/office/powerpoint/2010/main" val="1991933404"/>
              </p:ext>
            </p:extLst>
          </p:nvPr>
        </p:nvGraphicFramePr>
        <p:xfrm>
          <a:off x="2133601" y="1203960"/>
          <a:ext cx="8381999" cy="5168729"/>
        </p:xfrm>
        <a:graphic>
          <a:graphicData uri="http://schemas.openxmlformats.org/drawingml/2006/table">
            <a:tbl>
              <a:tblPr firstRow="1" bandRow="1">
                <a:tableStyleId>{5C22544A-7EE6-4342-B048-85BDC9FD1C3A}</a:tableStyleId>
              </a:tblPr>
              <a:tblGrid>
                <a:gridCol w="3078479">
                  <a:extLst>
                    <a:ext uri="{9D8B030D-6E8A-4147-A177-3AD203B41FA5}">
                      <a16:colId xmlns:a16="http://schemas.microsoft.com/office/drawing/2014/main" val="2102270064"/>
                    </a:ext>
                  </a:extLst>
                </a:gridCol>
                <a:gridCol w="2823210">
                  <a:extLst>
                    <a:ext uri="{9D8B030D-6E8A-4147-A177-3AD203B41FA5}">
                      <a16:colId xmlns:a16="http://schemas.microsoft.com/office/drawing/2014/main" val="1917935184"/>
                    </a:ext>
                  </a:extLst>
                </a:gridCol>
                <a:gridCol w="2480310">
                  <a:extLst>
                    <a:ext uri="{9D8B030D-6E8A-4147-A177-3AD203B41FA5}">
                      <a16:colId xmlns:a16="http://schemas.microsoft.com/office/drawing/2014/main" val="3267213686"/>
                    </a:ext>
                  </a:extLst>
                </a:gridCol>
              </a:tblGrid>
              <a:tr h="853779">
                <a:tc>
                  <a:txBody>
                    <a:bodyPr/>
                    <a:lstStyle/>
                    <a:p>
                      <a:r>
                        <a:rPr lang="en-US" sz="2400" dirty="0"/>
                        <a:t>Names</a:t>
                      </a:r>
                    </a:p>
                  </a:txBody>
                  <a:tcPr marL="121920" marR="121920" marT="60960" marB="60960"/>
                </a:tc>
                <a:tc>
                  <a:txBody>
                    <a:bodyPr/>
                    <a:lstStyle/>
                    <a:p>
                      <a:r>
                        <a:rPr lang="en-US" sz="2400" dirty="0"/>
                        <a:t>RISC-V registers</a:t>
                      </a:r>
                    </a:p>
                  </a:txBody>
                  <a:tcPr marL="121920" marR="121920" marT="60960" marB="60960"/>
                </a:tc>
                <a:tc>
                  <a:txBody>
                    <a:bodyPr/>
                    <a:lstStyle/>
                    <a:p>
                      <a:r>
                        <a:rPr lang="en-US" sz="2400" dirty="0"/>
                        <a:t>ABI register name</a:t>
                      </a:r>
                    </a:p>
                  </a:txBody>
                  <a:tcPr marL="121920" marR="121920" marT="60960" marB="60960"/>
                </a:tc>
                <a:extLst>
                  <a:ext uri="{0D108BD9-81ED-4DB2-BD59-A6C34878D82A}">
                    <a16:rowId xmlns:a16="http://schemas.microsoft.com/office/drawing/2014/main" val="3214105056"/>
                  </a:ext>
                </a:extLst>
              </a:tr>
              <a:tr h="494453">
                <a:tc>
                  <a:txBody>
                    <a:bodyPr/>
                    <a:lstStyle/>
                    <a:p>
                      <a:r>
                        <a:rPr lang="en-US" sz="2400" dirty="0"/>
                        <a:t>Zero register </a:t>
                      </a:r>
                    </a:p>
                  </a:txBody>
                  <a:tcPr marL="121920" marR="121920" marT="60960" marB="60960"/>
                </a:tc>
                <a:tc>
                  <a:txBody>
                    <a:bodyPr/>
                    <a:lstStyle/>
                    <a:p>
                      <a:r>
                        <a:rPr lang="en-US" sz="2400" dirty="0"/>
                        <a:t>X0</a:t>
                      </a:r>
                    </a:p>
                  </a:txBody>
                  <a:tcPr marL="121920" marR="121920" marT="60960" marB="60960"/>
                </a:tc>
                <a:tc>
                  <a:txBody>
                    <a:bodyPr/>
                    <a:lstStyle/>
                    <a:p>
                      <a:endParaRPr lang="en-US" sz="2400" dirty="0"/>
                    </a:p>
                  </a:txBody>
                  <a:tcPr marL="121920" marR="121920" marT="60960" marB="60960"/>
                </a:tc>
                <a:extLst>
                  <a:ext uri="{0D108BD9-81ED-4DB2-BD59-A6C34878D82A}">
                    <a16:rowId xmlns:a16="http://schemas.microsoft.com/office/drawing/2014/main" val="2285642056"/>
                  </a:ext>
                </a:extLst>
              </a:tr>
              <a:tr h="494453">
                <a:tc>
                  <a:txBody>
                    <a:bodyPr/>
                    <a:lstStyle/>
                    <a:p>
                      <a:r>
                        <a:rPr lang="en-US" sz="2400" dirty="0"/>
                        <a:t>Return Address</a:t>
                      </a:r>
                    </a:p>
                  </a:txBody>
                  <a:tcPr marL="121920" marR="121920" marT="60960" marB="60960"/>
                </a:tc>
                <a:tc>
                  <a:txBody>
                    <a:bodyPr/>
                    <a:lstStyle/>
                    <a:p>
                      <a:r>
                        <a:rPr lang="en-US" sz="2400" dirty="0"/>
                        <a:t>X1</a:t>
                      </a:r>
                    </a:p>
                  </a:txBody>
                  <a:tcPr marL="121920" marR="121920" marT="60960" marB="60960"/>
                </a:tc>
                <a:tc>
                  <a:txBody>
                    <a:bodyPr/>
                    <a:lstStyle/>
                    <a:p>
                      <a:r>
                        <a:rPr lang="en-US" sz="2400" dirty="0"/>
                        <a:t>ra</a:t>
                      </a:r>
                    </a:p>
                  </a:txBody>
                  <a:tcPr marL="121920" marR="121920" marT="60960" marB="60960"/>
                </a:tc>
                <a:extLst>
                  <a:ext uri="{0D108BD9-81ED-4DB2-BD59-A6C34878D82A}">
                    <a16:rowId xmlns:a16="http://schemas.microsoft.com/office/drawing/2014/main" val="3602459823"/>
                  </a:ext>
                </a:extLst>
              </a:tr>
              <a:tr h="494453">
                <a:tc>
                  <a:txBody>
                    <a:bodyPr/>
                    <a:lstStyle/>
                    <a:p>
                      <a:r>
                        <a:rPr lang="en-US" sz="2400" dirty="0"/>
                        <a:t>Stack pointer</a:t>
                      </a:r>
                    </a:p>
                  </a:txBody>
                  <a:tcPr marL="121920" marR="121920" marT="60960" marB="60960"/>
                </a:tc>
                <a:tc>
                  <a:txBody>
                    <a:bodyPr/>
                    <a:lstStyle/>
                    <a:p>
                      <a:r>
                        <a:rPr lang="en-US" sz="2400" dirty="0"/>
                        <a:t>X2</a:t>
                      </a:r>
                    </a:p>
                  </a:txBody>
                  <a:tcPr marL="121920" marR="121920" marT="60960" marB="60960"/>
                </a:tc>
                <a:tc>
                  <a:txBody>
                    <a:bodyPr/>
                    <a:lstStyle/>
                    <a:p>
                      <a:r>
                        <a:rPr lang="en-US" sz="2400" dirty="0" err="1"/>
                        <a:t>sp</a:t>
                      </a:r>
                      <a:endParaRPr lang="en-US" sz="2400" dirty="0"/>
                    </a:p>
                  </a:txBody>
                  <a:tcPr marL="121920" marR="121920" marT="60960" marB="60960"/>
                </a:tc>
                <a:extLst>
                  <a:ext uri="{0D108BD9-81ED-4DB2-BD59-A6C34878D82A}">
                    <a16:rowId xmlns:a16="http://schemas.microsoft.com/office/drawing/2014/main" val="2359337686"/>
                  </a:ext>
                </a:extLst>
              </a:tr>
              <a:tr h="494453">
                <a:tc>
                  <a:txBody>
                    <a:bodyPr/>
                    <a:lstStyle/>
                    <a:p>
                      <a:r>
                        <a:rPr lang="en-US" sz="2400" dirty="0"/>
                        <a:t>Global pointer</a:t>
                      </a:r>
                    </a:p>
                  </a:txBody>
                  <a:tcPr marL="121920" marR="121920" marT="60960" marB="60960"/>
                </a:tc>
                <a:tc>
                  <a:txBody>
                    <a:bodyPr/>
                    <a:lstStyle/>
                    <a:p>
                      <a:r>
                        <a:rPr lang="en-US" sz="2400" dirty="0"/>
                        <a:t>X3</a:t>
                      </a:r>
                    </a:p>
                  </a:txBody>
                  <a:tcPr marL="121920" marR="121920" marT="60960" marB="60960"/>
                </a:tc>
                <a:tc>
                  <a:txBody>
                    <a:bodyPr/>
                    <a:lstStyle/>
                    <a:p>
                      <a:r>
                        <a:rPr lang="en-US" sz="2400" dirty="0" err="1"/>
                        <a:t>gp</a:t>
                      </a:r>
                      <a:endParaRPr lang="en-US" sz="2400" dirty="0"/>
                    </a:p>
                  </a:txBody>
                  <a:tcPr marL="121920" marR="121920" marT="60960" marB="60960"/>
                </a:tc>
                <a:extLst>
                  <a:ext uri="{0D108BD9-81ED-4DB2-BD59-A6C34878D82A}">
                    <a16:rowId xmlns:a16="http://schemas.microsoft.com/office/drawing/2014/main" val="3756952032"/>
                  </a:ext>
                </a:extLst>
              </a:tr>
              <a:tr h="494453">
                <a:tc>
                  <a:txBody>
                    <a:bodyPr/>
                    <a:lstStyle/>
                    <a:p>
                      <a:r>
                        <a:rPr lang="en-US" sz="2400" dirty="0"/>
                        <a:t>Thread pointer</a:t>
                      </a:r>
                    </a:p>
                  </a:txBody>
                  <a:tcPr marL="121920" marR="121920" marT="60960" marB="60960"/>
                </a:tc>
                <a:tc>
                  <a:txBody>
                    <a:bodyPr/>
                    <a:lstStyle/>
                    <a:p>
                      <a:r>
                        <a:rPr lang="en-US" sz="2400" dirty="0"/>
                        <a:t>X4</a:t>
                      </a:r>
                    </a:p>
                  </a:txBody>
                  <a:tcPr marL="121920" marR="121920" marT="60960" marB="60960"/>
                </a:tc>
                <a:tc>
                  <a:txBody>
                    <a:bodyPr/>
                    <a:lstStyle/>
                    <a:p>
                      <a:r>
                        <a:rPr lang="en-US" sz="2400" dirty="0" err="1"/>
                        <a:t>tp</a:t>
                      </a:r>
                      <a:endParaRPr lang="en-US" sz="2400" dirty="0"/>
                    </a:p>
                  </a:txBody>
                  <a:tcPr marL="121920" marR="121920" marT="60960" marB="60960"/>
                </a:tc>
                <a:extLst>
                  <a:ext uri="{0D108BD9-81ED-4DB2-BD59-A6C34878D82A}">
                    <a16:rowId xmlns:a16="http://schemas.microsoft.com/office/drawing/2014/main" val="2984917401"/>
                  </a:ext>
                </a:extLst>
              </a:tr>
              <a:tr h="494453">
                <a:tc>
                  <a:txBody>
                    <a:bodyPr/>
                    <a:lstStyle/>
                    <a:p>
                      <a:r>
                        <a:rPr lang="en-US" sz="2400" dirty="0"/>
                        <a:t>Temporary</a:t>
                      </a:r>
                    </a:p>
                  </a:txBody>
                  <a:tcPr marL="121920" marR="121920" marT="60960" marB="60960"/>
                </a:tc>
                <a:tc>
                  <a:txBody>
                    <a:bodyPr/>
                    <a:lstStyle/>
                    <a:p>
                      <a:r>
                        <a:rPr lang="en-US" sz="2400" dirty="0"/>
                        <a:t>X5-X7, X28-X31</a:t>
                      </a:r>
                    </a:p>
                  </a:txBody>
                  <a:tcPr marL="121920" marR="121920" marT="60960" marB="60960"/>
                </a:tc>
                <a:tc>
                  <a:txBody>
                    <a:bodyPr/>
                    <a:lstStyle/>
                    <a:p>
                      <a:r>
                        <a:rPr lang="en-US" sz="2400" dirty="0">
                          <a:solidFill>
                            <a:srgbClr val="FF0000"/>
                          </a:solidFill>
                        </a:rPr>
                        <a:t>t0-t6</a:t>
                      </a:r>
                    </a:p>
                  </a:txBody>
                  <a:tcPr marL="121920" marR="121920" marT="60960" marB="60960"/>
                </a:tc>
                <a:extLst>
                  <a:ext uri="{0D108BD9-81ED-4DB2-BD59-A6C34878D82A}">
                    <a16:rowId xmlns:a16="http://schemas.microsoft.com/office/drawing/2014/main" val="1787943509"/>
                  </a:ext>
                </a:extLst>
              </a:tr>
              <a:tr h="494453">
                <a:tc>
                  <a:txBody>
                    <a:bodyPr/>
                    <a:lstStyle/>
                    <a:p>
                      <a:r>
                        <a:rPr lang="en-US" sz="2400" dirty="0"/>
                        <a:t>Saved registers</a:t>
                      </a:r>
                    </a:p>
                  </a:txBody>
                  <a:tcPr marL="121920" marR="121920" marT="60960" marB="60960"/>
                </a:tc>
                <a:tc>
                  <a:txBody>
                    <a:bodyPr/>
                    <a:lstStyle/>
                    <a:p>
                      <a:r>
                        <a:rPr lang="en-US" sz="2400" dirty="0">
                          <a:solidFill>
                            <a:srgbClr val="00B050"/>
                          </a:solidFill>
                        </a:rPr>
                        <a:t>X8-X9, X18-X27</a:t>
                      </a:r>
                    </a:p>
                  </a:txBody>
                  <a:tcPr marL="121920" marR="121920" marT="60960" marB="60960"/>
                </a:tc>
                <a:tc>
                  <a:txBody>
                    <a:bodyPr/>
                    <a:lstStyle/>
                    <a:p>
                      <a:r>
                        <a:rPr lang="en-US" sz="2400" dirty="0"/>
                        <a:t>s0-s11</a:t>
                      </a:r>
                    </a:p>
                  </a:txBody>
                  <a:tcPr marL="121920" marR="121920" marT="60960" marB="60960"/>
                </a:tc>
                <a:extLst>
                  <a:ext uri="{0D108BD9-81ED-4DB2-BD59-A6C34878D82A}">
                    <a16:rowId xmlns:a16="http://schemas.microsoft.com/office/drawing/2014/main" val="3829943340"/>
                  </a:ext>
                </a:extLst>
              </a:tr>
              <a:tr h="853779">
                <a:tc>
                  <a:txBody>
                    <a:bodyPr/>
                    <a:lstStyle/>
                    <a:p>
                      <a:r>
                        <a:rPr lang="en-US" sz="2400" dirty="0"/>
                        <a:t>Function arguments</a:t>
                      </a:r>
                    </a:p>
                  </a:txBody>
                  <a:tcPr marL="121920" marR="121920" marT="60960" marB="60960"/>
                </a:tc>
                <a:tc>
                  <a:txBody>
                    <a:bodyPr/>
                    <a:lstStyle/>
                    <a:p>
                      <a:r>
                        <a:rPr lang="en-US" sz="2400" dirty="0"/>
                        <a:t>X10-X17</a:t>
                      </a:r>
                    </a:p>
                  </a:txBody>
                  <a:tcPr marL="121920" marR="121920" marT="60960" marB="60960"/>
                </a:tc>
                <a:tc>
                  <a:txBody>
                    <a:bodyPr/>
                    <a:lstStyle/>
                    <a:p>
                      <a:r>
                        <a:rPr lang="en-US" sz="2400" dirty="0">
                          <a:solidFill>
                            <a:srgbClr val="FF0000"/>
                          </a:solidFill>
                        </a:rPr>
                        <a:t>a0-a7</a:t>
                      </a:r>
                    </a:p>
                  </a:txBody>
                  <a:tcPr marL="121920" marR="121920" marT="60960" marB="60960"/>
                </a:tc>
                <a:extLst>
                  <a:ext uri="{0D108BD9-81ED-4DB2-BD59-A6C34878D82A}">
                    <a16:rowId xmlns:a16="http://schemas.microsoft.com/office/drawing/2014/main" val="1256411330"/>
                  </a:ext>
                </a:extLst>
              </a:tr>
            </a:tbl>
          </a:graphicData>
        </a:graphic>
      </p:graphicFrame>
      <p:sp>
        <p:nvSpPr>
          <p:cNvPr id="3" name="TextBox 2">
            <a:extLst>
              <a:ext uri="{FF2B5EF4-FFF2-40B4-BE49-F238E27FC236}">
                <a16:creationId xmlns:a16="http://schemas.microsoft.com/office/drawing/2014/main" id="{754D7C50-3072-4421-9ADF-0A7E555A34E2}"/>
              </a:ext>
            </a:extLst>
          </p:cNvPr>
          <p:cNvSpPr txBox="1"/>
          <p:nvPr/>
        </p:nvSpPr>
        <p:spPr>
          <a:xfrm>
            <a:off x="10406897" y="4174521"/>
            <a:ext cx="1726755"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anose="020F0502020204030204" pitchFamily="34" charset="0"/>
              </a:rPr>
              <a:t>Caller save</a:t>
            </a:r>
          </a:p>
        </p:txBody>
      </p:sp>
      <p:cxnSp>
        <p:nvCxnSpPr>
          <p:cNvPr id="5" name="Straight Arrow Connector 4">
            <a:extLst>
              <a:ext uri="{FF2B5EF4-FFF2-40B4-BE49-F238E27FC236}">
                <a16:creationId xmlns:a16="http://schemas.microsoft.com/office/drawing/2014/main" id="{CBA5FE2F-3022-4381-B3DB-57E7959DF167}"/>
              </a:ext>
            </a:extLst>
          </p:cNvPr>
          <p:cNvCxnSpPr>
            <a:cxnSpLocks/>
            <a:stCxn id="3" idx="1"/>
          </p:cNvCxnSpPr>
          <p:nvPr/>
        </p:nvCxnSpPr>
        <p:spPr bwMode="auto">
          <a:xfrm flipH="1">
            <a:off x="8846820" y="4405354"/>
            <a:ext cx="1560077" cy="349526"/>
          </a:xfrm>
          <a:prstGeom prst="straightConnector1">
            <a:avLst/>
          </a:prstGeom>
          <a:noFill/>
          <a:ln w="15875" cap="flat" cmpd="sng" algn="ctr">
            <a:solidFill>
              <a:srgbClr val="FF0000"/>
            </a:solidFill>
            <a:prstDash val="solid"/>
            <a:round/>
            <a:headEnd type="none" w="med" len="med"/>
            <a:tailEnd type="triangle"/>
          </a:ln>
        </p:spPr>
      </p:cxnSp>
      <p:cxnSp>
        <p:nvCxnSpPr>
          <p:cNvPr id="11" name="Straight Arrow Connector 10">
            <a:extLst>
              <a:ext uri="{FF2B5EF4-FFF2-40B4-BE49-F238E27FC236}">
                <a16:creationId xmlns:a16="http://schemas.microsoft.com/office/drawing/2014/main" id="{DC222273-83AE-4CA9-A535-E710FC43031F}"/>
              </a:ext>
            </a:extLst>
          </p:cNvPr>
          <p:cNvCxnSpPr>
            <a:cxnSpLocks/>
            <a:stCxn id="3" idx="1"/>
          </p:cNvCxnSpPr>
          <p:nvPr/>
        </p:nvCxnSpPr>
        <p:spPr bwMode="auto">
          <a:xfrm flipH="1">
            <a:off x="8961120" y="4405354"/>
            <a:ext cx="1445777" cy="1389656"/>
          </a:xfrm>
          <a:prstGeom prst="straightConnector1">
            <a:avLst/>
          </a:prstGeom>
          <a:noFill/>
          <a:ln w="15875" cap="flat" cmpd="sng" algn="ctr">
            <a:solidFill>
              <a:srgbClr val="FF0000"/>
            </a:solidFill>
            <a:prstDash val="solid"/>
            <a:round/>
            <a:headEnd type="none" w="med" len="med"/>
            <a:tailEnd type="triangle"/>
          </a:ln>
        </p:spPr>
      </p:cxnSp>
      <p:sp>
        <p:nvSpPr>
          <p:cNvPr id="12" name="TextBox 11">
            <a:extLst>
              <a:ext uri="{FF2B5EF4-FFF2-40B4-BE49-F238E27FC236}">
                <a16:creationId xmlns:a16="http://schemas.microsoft.com/office/drawing/2014/main" id="{864D7CA0-73C8-4EF1-927F-4AC9DAC8D461}"/>
              </a:ext>
            </a:extLst>
          </p:cNvPr>
          <p:cNvSpPr txBox="1"/>
          <p:nvPr/>
        </p:nvSpPr>
        <p:spPr>
          <a:xfrm>
            <a:off x="0" y="3913840"/>
            <a:ext cx="1795684"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anose="020F0502020204030204" pitchFamily="34" charset="0"/>
              </a:rPr>
              <a:t>Callee save</a:t>
            </a:r>
          </a:p>
        </p:txBody>
      </p:sp>
      <p:cxnSp>
        <p:nvCxnSpPr>
          <p:cNvPr id="14" name="Straight Arrow Connector 13">
            <a:extLst>
              <a:ext uri="{FF2B5EF4-FFF2-40B4-BE49-F238E27FC236}">
                <a16:creationId xmlns:a16="http://schemas.microsoft.com/office/drawing/2014/main" id="{99DFA532-A6C4-4BF0-BAF1-B2F54EFB96FA}"/>
              </a:ext>
            </a:extLst>
          </p:cNvPr>
          <p:cNvCxnSpPr>
            <a:cxnSpLocks/>
            <a:stCxn id="12" idx="3"/>
          </p:cNvCxnSpPr>
          <p:nvPr/>
        </p:nvCxnSpPr>
        <p:spPr bwMode="auto">
          <a:xfrm>
            <a:off x="1795684" y="4144673"/>
            <a:ext cx="3542126" cy="1090267"/>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1496413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Calling GCD (Using the ABI)</a:t>
            </a:r>
          </a:p>
        </p:txBody>
      </p:sp>
      <p:sp>
        <p:nvSpPr>
          <p:cNvPr id="3" name="Content Placeholder 2"/>
          <p:cNvSpPr>
            <a:spLocks noGrp="1"/>
          </p:cNvSpPr>
          <p:nvPr>
            <p:ph idx="1"/>
          </p:nvPr>
        </p:nvSpPr>
        <p:spPr>
          <a:xfrm>
            <a:off x="1535289" y="1581445"/>
            <a:ext cx="10160000" cy="4628857"/>
          </a:xfrm>
          <a:solidFill>
            <a:schemeClr val="accent2">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 assume we want to do the </a:t>
            </a: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 of s0 and s1</a:t>
            </a:r>
          </a:p>
          <a:p>
            <a:pPr marL="0" indent="0">
              <a:spcBef>
                <a:spcPts val="300"/>
              </a:spcBef>
              <a:buNone/>
            </a:pPr>
            <a:r>
              <a:rPr lang="en-US" sz="2000" dirty="0">
                <a:latin typeface="Courier New" panose="02070309020205020404" pitchFamily="49" charset="0"/>
                <a:cs typeface="Courier New" panose="02070309020205020404" pitchFamily="49" charset="0"/>
              </a:rPr>
              <a:t>  // and put the result in s2</a:t>
            </a:r>
          </a:p>
          <a:p>
            <a:pPr marL="0" indent="0">
              <a:spcBef>
                <a:spcPts val="300"/>
              </a:spcBef>
              <a:buNone/>
            </a:pPr>
            <a:r>
              <a:rPr lang="en-US" sz="2000" dirty="0">
                <a:latin typeface="Courier New" panose="02070309020205020404" pitchFamily="49" charset="0"/>
                <a:cs typeface="Courier New" panose="02070309020205020404" pitchFamily="49" charset="0"/>
              </a:rPr>
              <a:t>  mv a0, s0</a:t>
            </a:r>
          </a:p>
          <a:p>
            <a:pPr marL="0" indent="0">
              <a:spcBef>
                <a:spcPts val="300"/>
              </a:spcBef>
              <a:buNone/>
            </a:pPr>
            <a:r>
              <a:rPr lang="en-US" sz="2000" dirty="0">
                <a:latin typeface="Courier New" panose="02070309020205020404" pitchFamily="49" charset="0"/>
                <a:cs typeface="Courier New" panose="02070309020205020404" pitchFamily="49" charset="0"/>
              </a:rPr>
              <a:t>  mv a1, s1</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addi</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-8 // allocate stack space for saving registers </a:t>
            </a:r>
          </a:p>
          <a:p>
            <a:pPr marL="0" indent="0">
              <a:spcBef>
                <a:spcPts val="300"/>
              </a:spcBef>
              <a:buNone/>
            </a:pPr>
            <a:r>
              <a:rPr lang="en-US" sz="2000" dirty="0">
                <a:latin typeface="Courier New" panose="02070309020205020404" pitchFamily="49" charset="0"/>
                <a:cs typeface="Courier New" panose="02070309020205020404" pitchFamily="49" charset="0"/>
              </a:rPr>
              <a:t>			in the stack as needed by the caller</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sw</a:t>
            </a:r>
            <a:r>
              <a:rPr lang="en-US" sz="2000" dirty="0">
                <a:latin typeface="Courier New" panose="02070309020205020404" pitchFamily="49" charset="0"/>
                <a:cs typeface="Courier New" panose="02070309020205020404" pitchFamily="49" charset="0"/>
              </a:rPr>
              <a:t> t0, 4(</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sw</a:t>
            </a:r>
            <a:r>
              <a:rPr lang="en-US" sz="2000" dirty="0">
                <a:latin typeface="Courier New" panose="02070309020205020404" pitchFamily="49" charset="0"/>
                <a:cs typeface="Courier New" panose="02070309020205020404" pitchFamily="49" charset="0"/>
              </a:rPr>
              <a:t> t1, 0(</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jal</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gcd</a:t>
            </a:r>
            <a:r>
              <a:rPr lang="en-US" sz="2400" b="1" dirty="0">
                <a:latin typeface="Courier New" panose="02070309020205020404" pitchFamily="49" charset="0"/>
                <a:cs typeface="Courier New" panose="02070309020205020404" pitchFamily="49" charset="0"/>
              </a:rPr>
              <a:t> // call the </a:t>
            </a:r>
            <a:r>
              <a:rPr lang="en-US" sz="2400" b="1" dirty="0" err="1">
                <a:latin typeface="Courier New" panose="02070309020205020404" pitchFamily="49" charset="0"/>
                <a:cs typeface="Courier New" panose="02070309020205020404" pitchFamily="49" charset="0"/>
              </a:rPr>
              <a:t>gcd</a:t>
            </a:r>
            <a:r>
              <a:rPr lang="en-US" sz="2400" b="1" dirty="0">
                <a:latin typeface="Courier New" panose="02070309020205020404" pitchFamily="49" charset="0"/>
                <a:cs typeface="Courier New" panose="02070309020205020404" pitchFamily="49" charset="0"/>
              </a:rPr>
              <a:t> function</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lw</a:t>
            </a:r>
            <a:r>
              <a:rPr lang="en-US" sz="2000" dirty="0">
                <a:latin typeface="Courier New" panose="02070309020205020404" pitchFamily="49" charset="0"/>
                <a:cs typeface="Courier New" panose="02070309020205020404" pitchFamily="49" charset="0"/>
              </a:rPr>
              <a:t> t0, 4(</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 restoring caller-saved registers</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lw</a:t>
            </a:r>
            <a:r>
              <a:rPr lang="en-US" sz="2000" dirty="0">
                <a:latin typeface="Courier New" panose="02070309020205020404" pitchFamily="49" charset="0"/>
                <a:cs typeface="Courier New" panose="02070309020205020404" pitchFamily="49" charset="0"/>
              </a:rPr>
              <a:t> t1, 0(</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addi</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sp</a:t>
            </a:r>
            <a:r>
              <a:rPr lang="en-US" sz="2000" dirty="0">
                <a:latin typeface="Courier New" panose="02070309020205020404" pitchFamily="49" charset="0"/>
                <a:cs typeface="Courier New" panose="02070309020205020404" pitchFamily="49" charset="0"/>
              </a:rPr>
              <a:t>, 8 // pop off the stack space</a:t>
            </a:r>
          </a:p>
          <a:p>
            <a:pPr marL="0" indent="0">
              <a:spcBef>
                <a:spcPts val="300"/>
              </a:spcBef>
              <a:buNone/>
            </a:pPr>
            <a:r>
              <a:rPr lang="en-US" sz="2000" dirty="0">
                <a:latin typeface="Courier New" panose="02070309020205020404" pitchFamily="49" charset="0"/>
                <a:cs typeface="Courier New" panose="02070309020205020404" pitchFamily="49" charset="0"/>
              </a:rPr>
              <a:t>  mv s2, a0</a:t>
            </a: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59</a:t>
            </a:fld>
            <a:endParaRPr lang="en-US" dirty="0"/>
          </a:p>
        </p:txBody>
      </p:sp>
      <p:sp>
        <p:nvSpPr>
          <p:cNvPr id="12" name="TextBox 11"/>
          <p:cNvSpPr txBox="1"/>
          <p:nvPr/>
        </p:nvSpPr>
        <p:spPr>
          <a:xfrm>
            <a:off x="5381626" y="2286000"/>
            <a:ext cx="4979248" cy="420564"/>
          </a:xfrm>
          <a:prstGeom prst="rect">
            <a:avLst/>
          </a:prstGeom>
          <a:noFill/>
        </p:spPr>
        <p:txBody>
          <a:bodyPr wrap="none" rtlCol="0">
            <a:spAutoFit/>
          </a:bodyPr>
          <a:lstStyle/>
          <a:p>
            <a:r>
              <a:rPr lang="en-US" sz="2133" b="1" dirty="0">
                <a:latin typeface="Comic Sans MS" panose="030F0702030302020204" pitchFamily="66" charset="0"/>
              </a:rPr>
              <a:t>preparing arguments in a0, a1, etc.</a:t>
            </a:r>
          </a:p>
        </p:txBody>
      </p:sp>
      <p:sp>
        <p:nvSpPr>
          <p:cNvPr id="13" name="TextBox 12"/>
          <p:cNvSpPr txBox="1"/>
          <p:nvPr/>
        </p:nvSpPr>
        <p:spPr>
          <a:xfrm>
            <a:off x="5372102" y="3724275"/>
            <a:ext cx="2286203" cy="420564"/>
          </a:xfrm>
          <a:prstGeom prst="rect">
            <a:avLst/>
          </a:prstGeom>
          <a:noFill/>
        </p:spPr>
        <p:txBody>
          <a:bodyPr wrap="none" rtlCol="0">
            <a:spAutoFit/>
          </a:bodyPr>
          <a:lstStyle/>
          <a:p>
            <a:r>
              <a:rPr lang="en-US" sz="2133" b="1" dirty="0">
                <a:latin typeface="Comic Sans MS" panose="030F0702030302020204" pitchFamily="66" charset="0"/>
              </a:rPr>
              <a:t>Temporary save</a:t>
            </a:r>
          </a:p>
        </p:txBody>
      </p:sp>
      <p:sp>
        <p:nvSpPr>
          <p:cNvPr id="9" name="TextBox 8">
            <a:extLst>
              <a:ext uri="{FF2B5EF4-FFF2-40B4-BE49-F238E27FC236}">
                <a16:creationId xmlns:a16="http://schemas.microsoft.com/office/drawing/2014/main" id="{01CE6419-DE09-4804-B8F1-64FE71FD407F}"/>
              </a:ext>
            </a:extLst>
          </p:cNvPr>
          <p:cNvSpPr txBox="1"/>
          <p:nvPr/>
        </p:nvSpPr>
        <p:spPr>
          <a:xfrm>
            <a:off x="5372101" y="4920508"/>
            <a:ext cx="2688557" cy="420564"/>
          </a:xfrm>
          <a:prstGeom prst="rect">
            <a:avLst/>
          </a:prstGeom>
          <a:noFill/>
        </p:spPr>
        <p:txBody>
          <a:bodyPr wrap="none" rtlCol="0">
            <a:spAutoFit/>
          </a:bodyPr>
          <a:lstStyle/>
          <a:p>
            <a:r>
              <a:rPr lang="en-US" sz="2133" b="1" dirty="0">
                <a:latin typeface="Comic Sans MS" panose="030F0702030302020204" pitchFamily="66" charset="0"/>
              </a:rPr>
              <a:t>Temporary restore</a:t>
            </a:r>
          </a:p>
        </p:txBody>
      </p:sp>
    </p:spTree>
    <p:extLst>
      <p:ext uri="{BB962C8B-B14F-4D97-AF65-F5344CB8AC3E}">
        <p14:creationId xmlns:p14="http://schemas.microsoft.com/office/powerpoint/2010/main" val="377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GCD in RISC-V Assembler</a:t>
            </a:r>
            <a:br>
              <a:rPr lang="en-US" dirty="0"/>
            </a:br>
            <a:r>
              <a:rPr lang="en-US" sz="2400" dirty="0"/>
              <a:t>Using the ABI</a:t>
            </a:r>
            <a:endParaRPr lang="en-US" sz="3600" dirty="0"/>
          </a:p>
        </p:txBody>
      </p:sp>
      <p:sp>
        <p:nvSpPr>
          <p:cNvPr id="3" name="Content Placeholder 2"/>
          <p:cNvSpPr>
            <a:spLocks noGrp="1"/>
          </p:cNvSpPr>
          <p:nvPr>
            <p:ph idx="1"/>
          </p:nvPr>
        </p:nvSpPr>
        <p:spPr>
          <a:xfrm>
            <a:off x="2105026" y="1533819"/>
            <a:ext cx="8161607" cy="4847932"/>
          </a:xfrm>
          <a:solidFill>
            <a:schemeClr val="accent2">
              <a:lumMod val="40000"/>
              <a:lumOff val="60000"/>
            </a:schemeClr>
          </a:solidFill>
        </p:spPr>
        <p:txBody>
          <a:bodyPr/>
          <a:lstStyle/>
          <a:p>
            <a:pPr marL="0" indent="0">
              <a:spcBef>
                <a:spcPts val="300"/>
              </a:spcBef>
              <a:buNone/>
            </a:pPr>
            <a:r>
              <a:rPr lang="en-US" sz="2000" dirty="0">
                <a:latin typeface="Courier New" panose="02070309020205020404" pitchFamily="49" charset="0"/>
                <a:cs typeface="Courier New" panose="02070309020205020404" pitchFamily="49" charset="0"/>
              </a:rPr>
              <a:t>// a: a0, b: a1, t: t0</a:t>
            </a:r>
          </a:p>
          <a:p>
            <a:pPr marL="0" indent="0">
              <a:spcBef>
                <a:spcPts val="300"/>
              </a:spcBef>
              <a:buNone/>
            </a:pPr>
            <a:r>
              <a:rPr lang="en-US" sz="2000" dirty="0" err="1">
                <a:latin typeface="Courier New" panose="02070309020205020404" pitchFamily="49" charset="0"/>
                <a:cs typeface="Courier New" panose="02070309020205020404" pitchFamily="49" charset="0"/>
              </a:rPr>
              <a:t>gcd</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beqz</a:t>
            </a:r>
            <a:r>
              <a:rPr lang="en-US" sz="2000" dirty="0">
                <a:latin typeface="Courier New" panose="02070309020205020404" pitchFamily="49" charset="0"/>
                <a:cs typeface="Courier New" panose="02070309020205020404" pitchFamily="49" charset="0"/>
              </a:rPr>
              <a:t> a0, done</a:t>
            </a:r>
          </a:p>
          <a:p>
            <a:pPr marL="0" indent="0">
              <a:spcBef>
                <a:spcPts val="30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blt</a:t>
            </a:r>
            <a:r>
              <a:rPr lang="en-US" sz="2000" dirty="0">
                <a:latin typeface="Courier New" panose="02070309020205020404" pitchFamily="49" charset="0"/>
                <a:cs typeface="Courier New" panose="02070309020205020404" pitchFamily="49" charset="0"/>
              </a:rPr>
              <a:t> a0, a1, </a:t>
            </a:r>
            <a:r>
              <a:rPr lang="en-US" sz="2000" dirty="0" err="1">
                <a:latin typeface="Courier New" panose="02070309020205020404" pitchFamily="49" charset="0"/>
                <a:cs typeface="Courier New" panose="02070309020205020404" pitchFamily="49" charset="0"/>
              </a:rPr>
              <a:t>b_bigger</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  sub a0, a0, a1</a:t>
            </a:r>
          </a:p>
          <a:p>
            <a:pPr marL="0" indent="0">
              <a:spcBef>
                <a:spcPts val="300"/>
              </a:spcBef>
              <a:buNone/>
            </a:pPr>
            <a:r>
              <a:rPr lang="en-US" sz="2000" dirty="0">
                <a:latin typeface="Courier New" panose="02070309020205020404" pitchFamily="49" charset="0"/>
                <a:cs typeface="Courier New" panose="02070309020205020404" pitchFamily="49" charset="0"/>
              </a:rPr>
              <a:t>  j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err="1">
                <a:latin typeface="Courier New" panose="02070309020205020404" pitchFamily="49" charset="0"/>
                <a:cs typeface="Courier New" panose="02070309020205020404" pitchFamily="49" charset="0"/>
              </a:rPr>
              <a:t>b_bigger</a:t>
            </a:r>
            <a:r>
              <a:rPr lang="en-US" sz="2000" dirty="0">
                <a:latin typeface="Courier New" panose="02070309020205020404" pitchFamily="49" charset="0"/>
                <a:cs typeface="Courier New" panose="02070309020205020404" pitchFamily="49" charset="0"/>
              </a:rPr>
              <a:t>:</a:t>
            </a:r>
          </a:p>
          <a:p>
            <a:pPr marL="0" indent="0">
              <a:spcBef>
                <a:spcPts val="300"/>
              </a:spcBef>
              <a:buNone/>
            </a:pPr>
            <a:r>
              <a:rPr lang="en-US" sz="2000" dirty="0">
                <a:latin typeface="Courier New" panose="02070309020205020404" pitchFamily="49" charset="0"/>
                <a:cs typeface="Courier New" panose="02070309020205020404" pitchFamily="49" charset="0"/>
              </a:rPr>
              <a:t>  mv t0, a0 </a:t>
            </a:r>
          </a:p>
          <a:p>
            <a:pPr marL="0" indent="0">
              <a:spcBef>
                <a:spcPts val="300"/>
              </a:spcBef>
              <a:buNone/>
            </a:pPr>
            <a:r>
              <a:rPr lang="en-US" sz="2000" dirty="0">
                <a:latin typeface="Courier New" panose="02070309020205020404" pitchFamily="49" charset="0"/>
                <a:cs typeface="Courier New" panose="02070309020205020404" pitchFamily="49" charset="0"/>
              </a:rPr>
              <a:t>  mv a0, a1</a:t>
            </a:r>
          </a:p>
          <a:p>
            <a:pPr marL="0" indent="0">
              <a:spcBef>
                <a:spcPts val="300"/>
              </a:spcBef>
              <a:buNone/>
            </a:pPr>
            <a:r>
              <a:rPr lang="en-US" sz="2000" dirty="0">
                <a:latin typeface="Courier New" panose="02070309020205020404" pitchFamily="49" charset="0"/>
                <a:cs typeface="Courier New" panose="02070309020205020404" pitchFamily="49" charset="0"/>
              </a:rPr>
              <a:t>  mv a1, t0</a:t>
            </a:r>
          </a:p>
          <a:p>
            <a:pPr marL="0" indent="0">
              <a:spcBef>
                <a:spcPts val="300"/>
              </a:spcBef>
              <a:buNone/>
            </a:pPr>
            <a:r>
              <a:rPr lang="en-US" sz="2000" dirty="0">
                <a:latin typeface="Courier New" panose="02070309020205020404" pitchFamily="49" charset="0"/>
                <a:cs typeface="Courier New" panose="02070309020205020404" pitchFamily="49" charset="0"/>
              </a:rPr>
              <a:t>  j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done:  // now a1 contains the </a:t>
            </a:r>
            <a:r>
              <a:rPr lang="en-US" sz="2000" dirty="0" err="1">
                <a:latin typeface="Courier New" panose="02070309020205020404" pitchFamily="49" charset="0"/>
                <a:cs typeface="Courier New" panose="02070309020205020404" pitchFamily="49" charset="0"/>
              </a:rPr>
              <a:t>gcd</a:t>
            </a:r>
            <a:endParaRPr lang="en-US" sz="2000" dirty="0">
              <a:latin typeface="Courier New" panose="02070309020205020404" pitchFamily="49" charset="0"/>
              <a:cs typeface="Courier New" panose="02070309020205020404" pitchFamily="49" charset="0"/>
            </a:endParaRPr>
          </a:p>
          <a:p>
            <a:pPr marL="0" indent="0">
              <a:spcBef>
                <a:spcPts val="300"/>
              </a:spcBef>
              <a:buNone/>
            </a:pPr>
            <a:r>
              <a:rPr lang="en-US" sz="2000" dirty="0">
                <a:latin typeface="Courier New" panose="02070309020205020404" pitchFamily="49" charset="0"/>
                <a:cs typeface="Courier New" panose="02070309020205020404" pitchFamily="49" charset="0"/>
              </a:rPr>
              <a:t>  mv a0, a1 // move to a0 for returning</a:t>
            </a:r>
          </a:p>
          <a:p>
            <a:pPr marL="0" indent="0">
              <a:spcBef>
                <a:spcPts val="300"/>
              </a:spcBef>
              <a:buNone/>
            </a:pPr>
            <a:r>
              <a:rPr lang="en-US" sz="2000" dirty="0">
                <a:latin typeface="Courier New" panose="02070309020205020404" pitchFamily="49" charset="0"/>
                <a:cs typeface="Courier New" panose="02070309020205020404" pitchFamily="49" charset="0"/>
              </a:rPr>
              <a:t>  ret // </a:t>
            </a:r>
            <a:r>
              <a:rPr lang="en-US" sz="2000" dirty="0" err="1">
                <a:latin typeface="Courier New" panose="02070309020205020404" pitchFamily="49" charset="0"/>
                <a:cs typeface="Courier New" panose="02070309020205020404" pitchFamily="49" charset="0"/>
              </a:rPr>
              <a:t>jr</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ra</a:t>
            </a:r>
            <a:endParaRPr lang="en-US" sz="2000" dirty="0">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pPr>
              <a:defRPr/>
            </a:pPr>
            <a:r>
              <a:rPr lang="en-US"/>
              <a:t>September 27, 2017</a:t>
            </a:r>
            <a:endParaRPr lang="en-US" dirty="0"/>
          </a:p>
        </p:txBody>
      </p:sp>
      <p:sp>
        <p:nvSpPr>
          <p:cNvPr id="5" name="Footer Placeholder 4"/>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7" name="Slide Number Placeholder 6"/>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60</a:t>
            </a:fld>
            <a:endParaRPr lang="en-US" dirty="0"/>
          </a:p>
        </p:txBody>
      </p:sp>
      <p:sp>
        <p:nvSpPr>
          <p:cNvPr id="14" name="TextBox 13"/>
          <p:cNvSpPr txBox="1"/>
          <p:nvPr/>
        </p:nvSpPr>
        <p:spPr>
          <a:xfrm>
            <a:off x="3571876" y="1876425"/>
            <a:ext cx="1191352" cy="369332"/>
          </a:xfrm>
          <a:prstGeom prst="rect">
            <a:avLst/>
          </a:prstGeom>
          <a:noFill/>
        </p:spPr>
        <p:txBody>
          <a:bodyPr wrap="none" rtlCol="0">
            <a:spAutoFit/>
          </a:bodyPr>
          <a:lstStyle/>
          <a:p>
            <a:r>
              <a:rPr lang="en-US" dirty="0">
                <a:latin typeface="Comic Sans MS" panose="030F0702030302020204" pitchFamily="66" charset="0"/>
              </a:rPr>
              <a:t>argument</a:t>
            </a:r>
          </a:p>
        </p:txBody>
      </p:sp>
      <p:sp>
        <p:nvSpPr>
          <p:cNvPr id="15" name="TextBox 14"/>
          <p:cNvSpPr txBox="1"/>
          <p:nvPr/>
        </p:nvSpPr>
        <p:spPr>
          <a:xfrm>
            <a:off x="3762377" y="3590925"/>
            <a:ext cx="1305165" cy="369332"/>
          </a:xfrm>
          <a:prstGeom prst="rect">
            <a:avLst/>
          </a:prstGeom>
          <a:noFill/>
        </p:spPr>
        <p:txBody>
          <a:bodyPr wrap="none" rtlCol="0">
            <a:spAutoFit/>
          </a:bodyPr>
          <a:lstStyle/>
          <a:p>
            <a:r>
              <a:rPr lang="en-US" dirty="0">
                <a:latin typeface="Comic Sans MS" panose="030F0702030302020204" pitchFamily="66" charset="0"/>
              </a:rPr>
              <a:t>temporary</a:t>
            </a:r>
          </a:p>
        </p:txBody>
      </p:sp>
      <p:sp>
        <p:nvSpPr>
          <p:cNvPr id="16" name="TextBox 15"/>
          <p:cNvSpPr txBox="1"/>
          <p:nvPr/>
        </p:nvSpPr>
        <p:spPr>
          <a:xfrm>
            <a:off x="8315326" y="5448302"/>
            <a:ext cx="2543175" cy="923330"/>
          </a:xfrm>
          <a:prstGeom prst="rect">
            <a:avLst/>
          </a:prstGeom>
          <a:noFill/>
        </p:spPr>
        <p:txBody>
          <a:bodyPr wrap="square" rtlCol="0">
            <a:spAutoFit/>
          </a:bodyPr>
          <a:lstStyle/>
          <a:p>
            <a:r>
              <a:rPr lang="en-US" dirty="0">
                <a:latin typeface="Comic Sans MS" panose="030F0702030302020204" pitchFamily="66" charset="0"/>
              </a:rPr>
              <a:t>ABI dictates that the result must come back in a0</a:t>
            </a:r>
          </a:p>
        </p:txBody>
      </p:sp>
      <p:sp>
        <p:nvSpPr>
          <p:cNvPr id="9" name="Content Placeholder 2"/>
          <p:cNvSpPr txBox="1">
            <a:spLocks/>
          </p:cNvSpPr>
          <p:nvPr/>
        </p:nvSpPr>
        <p:spPr bwMode="auto">
          <a:xfrm>
            <a:off x="6734175" y="990893"/>
            <a:ext cx="4267653" cy="4343107"/>
          </a:xfrm>
          <a:prstGeom prst="rect">
            <a:avLst/>
          </a:prstGeom>
          <a:solidFill>
            <a:schemeClr val="bg1"/>
          </a:solidFill>
          <a:ln w="9525">
            <a:solidFill>
              <a:srgbClr val="FF000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marL="0" indent="0">
              <a:buNone/>
            </a:pPr>
            <a:r>
              <a:rPr lang="en-US" sz="2000" kern="0" dirty="0">
                <a:latin typeface="Courier New" panose="02070309020205020404" pitchFamily="49" charset="0"/>
                <a:cs typeface="Courier New" panose="02070309020205020404" pitchFamily="49" charset="0"/>
              </a:rPr>
              <a:t>// a: x10, b: x11, t: x5</a:t>
            </a:r>
          </a:p>
          <a:p>
            <a:pPr marL="0" indent="0">
              <a:buNone/>
            </a:pPr>
            <a:r>
              <a:rPr lang="en-US" sz="2000" kern="0" dirty="0">
                <a:latin typeface="Courier New" panose="02070309020205020404" pitchFamily="49" charset="0"/>
                <a:cs typeface="Courier New" panose="02070309020205020404" pitchFamily="49" charset="0"/>
              </a:rPr>
              <a:t>begin:</a:t>
            </a:r>
          </a:p>
          <a:p>
            <a:pPr marL="0" indent="0">
              <a:buNone/>
            </a:pPr>
            <a:r>
              <a:rPr lang="en-US" sz="2000" kern="0" dirty="0">
                <a:latin typeface="Courier New" panose="02070309020205020404" pitchFamily="49" charset="0"/>
                <a:cs typeface="Courier New" panose="02070309020205020404" pitchFamily="49" charset="0"/>
              </a:rPr>
              <a:t>  </a:t>
            </a:r>
            <a:r>
              <a:rPr lang="en-US" sz="2000" kern="0" dirty="0" err="1">
                <a:latin typeface="Courier New" panose="02070309020205020404" pitchFamily="49" charset="0"/>
                <a:cs typeface="Courier New" panose="02070309020205020404" pitchFamily="49" charset="0"/>
              </a:rPr>
              <a:t>beqz</a:t>
            </a:r>
            <a:r>
              <a:rPr lang="en-US" sz="2000" kern="0" dirty="0">
                <a:latin typeface="Courier New" panose="02070309020205020404" pitchFamily="49" charset="0"/>
                <a:cs typeface="Courier New" panose="02070309020205020404" pitchFamily="49" charset="0"/>
              </a:rPr>
              <a:t> x10, done </a:t>
            </a:r>
          </a:p>
          <a:p>
            <a:pPr marL="0" indent="0">
              <a:buNone/>
            </a:pPr>
            <a:r>
              <a:rPr lang="en-US" sz="2000" kern="0" dirty="0">
                <a:latin typeface="Courier New" panose="02070309020205020404" pitchFamily="49" charset="0"/>
                <a:cs typeface="Courier New" panose="02070309020205020404" pitchFamily="49" charset="0"/>
              </a:rPr>
              <a:t>  </a:t>
            </a:r>
            <a:r>
              <a:rPr lang="en-US" sz="2000" kern="0" dirty="0" err="1">
                <a:latin typeface="Courier New" panose="02070309020205020404" pitchFamily="49" charset="0"/>
                <a:cs typeface="Courier New" panose="02070309020205020404" pitchFamily="49" charset="0"/>
              </a:rPr>
              <a:t>blt</a:t>
            </a:r>
            <a:r>
              <a:rPr lang="en-US" sz="2000" kern="0" dirty="0">
                <a:latin typeface="Courier New" panose="02070309020205020404" pitchFamily="49" charset="0"/>
                <a:cs typeface="Courier New" panose="02070309020205020404" pitchFamily="49" charset="0"/>
              </a:rPr>
              <a:t> x10, x11, </a:t>
            </a:r>
            <a:r>
              <a:rPr lang="en-US" sz="2000" kern="0" dirty="0" err="1">
                <a:latin typeface="Courier New" panose="02070309020205020404" pitchFamily="49" charset="0"/>
                <a:cs typeface="Courier New" panose="02070309020205020404" pitchFamily="49" charset="0"/>
              </a:rPr>
              <a:t>b_bigger</a:t>
            </a:r>
            <a:endParaRPr lang="en-US" sz="2000" kern="0" dirty="0">
              <a:latin typeface="Courier New" panose="02070309020205020404" pitchFamily="49" charset="0"/>
              <a:cs typeface="Courier New" panose="02070309020205020404" pitchFamily="49" charset="0"/>
            </a:endParaRPr>
          </a:p>
          <a:p>
            <a:pPr marL="0" indent="0">
              <a:buNone/>
            </a:pPr>
            <a:r>
              <a:rPr lang="en-US" sz="2000" kern="0" dirty="0">
                <a:latin typeface="Courier New" panose="02070309020205020404" pitchFamily="49" charset="0"/>
                <a:cs typeface="Courier New" panose="02070309020205020404" pitchFamily="49" charset="0"/>
              </a:rPr>
              <a:t>  sub x10, x10, x11</a:t>
            </a:r>
          </a:p>
          <a:p>
            <a:pPr marL="0" indent="0">
              <a:buNone/>
            </a:pPr>
            <a:r>
              <a:rPr lang="en-US" sz="2000" kern="0" dirty="0">
                <a:latin typeface="Courier New" panose="02070309020205020404" pitchFamily="49" charset="0"/>
                <a:cs typeface="Courier New" panose="02070309020205020404" pitchFamily="49" charset="0"/>
              </a:rPr>
              <a:t>  j begin</a:t>
            </a:r>
          </a:p>
          <a:p>
            <a:pPr marL="0" indent="0">
              <a:buNone/>
            </a:pPr>
            <a:r>
              <a:rPr lang="en-US" sz="2000" kern="0" dirty="0" err="1">
                <a:latin typeface="Courier New" panose="02070309020205020404" pitchFamily="49" charset="0"/>
                <a:cs typeface="Courier New" panose="02070309020205020404" pitchFamily="49" charset="0"/>
              </a:rPr>
              <a:t>b_bigger</a:t>
            </a:r>
            <a:r>
              <a:rPr lang="en-US" sz="2000" kern="0" dirty="0">
                <a:latin typeface="Courier New" panose="02070309020205020404" pitchFamily="49" charset="0"/>
                <a:cs typeface="Courier New" panose="02070309020205020404" pitchFamily="49" charset="0"/>
              </a:rPr>
              <a:t>:</a:t>
            </a:r>
          </a:p>
          <a:p>
            <a:pPr marL="0" indent="0">
              <a:buNone/>
            </a:pPr>
            <a:r>
              <a:rPr lang="en-US" sz="2000" kern="0" dirty="0">
                <a:latin typeface="Courier New" panose="02070309020205020404" pitchFamily="49" charset="0"/>
                <a:cs typeface="Courier New" panose="02070309020205020404" pitchFamily="49" charset="0"/>
              </a:rPr>
              <a:t>  mv x5, x10</a:t>
            </a:r>
          </a:p>
          <a:p>
            <a:pPr marL="0" indent="0">
              <a:buNone/>
            </a:pPr>
            <a:r>
              <a:rPr lang="en-US" sz="2000" kern="0" dirty="0">
                <a:latin typeface="Courier New" panose="02070309020205020404" pitchFamily="49" charset="0"/>
                <a:cs typeface="Courier New" panose="02070309020205020404" pitchFamily="49" charset="0"/>
              </a:rPr>
              <a:t>  mv x10, x11</a:t>
            </a:r>
          </a:p>
          <a:p>
            <a:pPr marL="0" indent="0">
              <a:buNone/>
            </a:pPr>
            <a:r>
              <a:rPr lang="en-US" sz="2000" kern="0" dirty="0">
                <a:latin typeface="Courier New" panose="02070309020205020404" pitchFamily="49" charset="0"/>
                <a:cs typeface="Courier New" panose="02070309020205020404" pitchFamily="49" charset="0"/>
              </a:rPr>
              <a:t>  mv x11, x5</a:t>
            </a:r>
          </a:p>
          <a:p>
            <a:pPr marL="0" indent="0">
              <a:buNone/>
            </a:pPr>
            <a:r>
              <a:rPr lang="en-US" sz="2000" kern="0" dirty="0">
                <a:latin typeface="Courier New" panose="02070309020205020404" pitchFamily="49" charset="0"/>
                <a:cs typeface="Courier New" panose="02070309020205020404" pitchFamily="49" charset="0"/>
              </a:rPr>
              <a:t>  j begin</a:t>
            </a:r>
          </a:p>
          <a:p>
            <a:pPr marL="0" indent="0">
              <a:buNone/>
            </a:pPr>
            <a:r>
              <a:rPr lang="en-US" sz="2000" kern="0" dirty="0">
                <a:latin typeface="Courier New" panose="02070309020205020404" pitchFamily="49" charset="0"/>
                <a:cs typeface="Courier New" panose="02070309020205020404" pitchFamily="49" charset="0"/>
              </a:rPr>
              <a:t>done:</a:t>
            </a:r>
          </a:p>
        </p:txBody>
      </p:sp>
    </p:spTree>
    <p:extLst>
      <p:ext uri="{BB962C8B-B14F-4D97-AF65-F5344CB8AC3E}">
        <p14:creationId xmlns:p14="http://schemas.microsoft.com/office/powerpoint/2010/main" val="182211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Multiply</a:t>
            </a:r>
          </a:p>
        </p:txBody>
      </p:sp>
      <p:sp>
        <p:nvSpPr>
          <p:cNvPr id="3" name="Content Placeholder 2"/>
          <p:cNvSpPr>
            <a:spLocks noGrp="1"/>
          </p:cNvSpPr>
          <p:nvPr>
            <p:ph idx="1"/>
          </p:nvPr>
        </p:nvSpPr>
        <p:spPr>
          <a:xfrm>
            <a:off x="2212075" y="1550158"/>
            <a:ext cx="7772400" cy="4879217"/>
          </a:xfrm>
        </p:spPr>
        <p:txBody>
          <a:bodyPr/>
          <a:lstStyle/>
          <a:p>
            <a:pPr>
              <a:spcBef>
                <a:spcPts val="300"/>
              </a:spcBef>
            </a:pPr>
            <a:r>
              <a:rPr lang="en-US" sz="2400" dirty="0" err="1"/>
              <a:t>mul</a:t>
            </a:r>
            <a:r>
              <a:rPr lang="en-US" sz="2400" dirty="0"/>
              <a:t> x1, x2, x3 is an instruction in the ‘M’ extension (x1 := x2 * x3)</a:t>
            </a:r>
          </a:p>
          <a:p>
            <a:pPr lvl="1">
              <a:spcBef>
                <a:spcPts val="300"/>
              </a:spcBef>
            </a:pPr>
            <a:r>
              <a:rPr lang="en-US" sz="2000" dirty="0"/>
              <a:t>If ‘M’ is </a:t>
            </a:r>
            <a:r>
              <a:rPr lang="en-US" sz="2000" b="1" dirty="0"/>
              <a:t>NOT</a:t>
            </a:r>
            <a:r>
              <a:rPr lang="en-US" sz="2000" dirty="0"/>
              <a:t> implemented, this is an illegal instruction</a:t>
            </a:r>
          </a:p>
          <a:p>
            <a:pPr>
              <a:spcBef>
                <a:spcPts val="300"/>
              </a:spcBef>
            </a:pPr>
            <a:r>
              <a:rPr lang="en-US" sz="2400" dirty="0"/>
              <a:t>What happens if we run code from an RV32IM machine on an RV32I machine?</a:t>
            </a:r>
          </a:p>
          <a:p>
            <a:pPr lvl="1">
              <a:spcBef>
                <a:spcPts val="300"/>
              </a:spcBef>
            </a:pPr>
            <a:r>
              <a:rPr lang="en-US" sz="2000" dirty="0" err="1"/>
              <a:t>mul</a:t>
            </a:r>
            <a:r>
              <a:rPr lang="en-US" sz="2000" dirty="0"/>
              <a:t> causes an illegal instruction exception</a:t>
            </a:r>
          </a:p>
          <a:p>
            <a:pPr>
              <a:spcBef>
                <a:spcPts val="300"/>
              </a:spcBef>
            </a:pPr>
            <a:r>
              <a:rPr lang="en-US" sz="2400" dirty="0"/>
              <a:t>An exception handler can take over and abort the program or emulate the instruction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61</a:t>
            </a:fld>
            <a:endParaRPr lang="en-US" dirty="0"/>
          </a:p>
        </p:txBody>
      </p:sp>
    </p:spTree>
    <p:extLst>
      <p:ext uri="{BB962C8B-B14F-4D97-AF65-F5344CB8AC3E}">
        <p14:creationId xmlns:p14="http://schemas.microsoft.com/office/powerpoint/2010/main" val="390839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handling </a:t>
            </a:r>
          </a:p>
        </p:txBody>
      </p:sp>
      <p:sp>
        <p:nvSpPr>
          <p:cNvPr id="3" name="Content Placeholder 2"/>
          <p:cNvSpPr>
            <a:spLocks noGrp="1"/>
          </p:cNvSpPr>
          <p:nvPr>
            <p:ph idx="1"/>
          </p:nvPr>
        </p:nvSpPr>
        <p:spPr>
          <a:xfrm>
            <a:off x="846668" y="1550158"/>
            <a:ext cx="10137421" cy="4879217"/>
          </a:xfrm>
        </p:spPr>
        <p:txBody>
          <a:bodyPr/>
          <a:lstStyle/>
          <a:p>
            <a:pPr>
              <a:spcBef>
                <a:spcPts val="300"/>
              </a:spcBef>
            </a:pPr>
            <a:r>
              <a:rPr lang="en-US" sz="2667" dirty="0"/>
              <a:t>When an exception is caused</a:t>
            </a:r>
          </a:p>
          <a:p>
            <a:pPr lvl="1">
              <a:spcBef>
                <a:spcPts val="300"/>
              </a:spcBef>
            </a:pPr>
            <a:r>
              <a:rPr lang="en-US" sz="2400" dirty="0"/>
              <a:t>Hardware saves the information about the exception in CSRs:</a:t>
            </a:r>
          </a:p>
          <a:p>
            <a:pPr lvl="2">
              <a:spcBef>
                <a:spcPts val="300"/>
              </a:spcBef>
            </a:pPr>
            <a:r>
              <a:rPr lang="en-US" sz="2133" dirty="0" err="1"/>
              <a:t>mepc</a:t>
            </a:r>
            <a:r>
              <a:rPr lang="en-US" sz="2133" dirty="0"/>
              <a:t> – exception PC</a:t>
            </a:r>
          </a:p>
          <a:p>
            <a:pPr lvl="2">
              <a:spcBef>
                <a:spcPts val="300"/>
              </a:spcBef>
            </a:pPr>
            <a:r>
              <a:rPr lang="en-US" sz="2133" dirty="0" err="1"/>
              <a:t>mcause</a:t>
            </a:r>
            <a:r>
              <a:rPr lang="en-US" sz="2133" dirty="0"/>
              <a:t> – cause of the exception</a:t>
            </a:r>
          </a:p>
          <a:p>
            <a:pPr lvl="2">
              <a:spcBef>
                <a:spcPts val="300"/>
              </a:spcBef>
            </a:pPr>
            <a:r>
              <a:rPr lang="en-US" sz="2133" dirty="0" err="1"/>
              <a:t>mstatus.mpp</a:t>
            </a:r>
            <a:r>
              <a:rPr lang="en-US" sz="2133" dirty="0"/>
              <a:t> – privilege mode of exception</a:t>
            </a:r>
          </a:p>
          <a:p>
            <a:pPr lvl="1">
              <a:spcBef>
                <a:spcPts val="300"/>
              </a:spcBef>
            </a:pPr>
            <a:r>
              <a:rPr lang="en-US" sz="2400" dirty="0"/>
              <a:t>Processor jumps to the address of the trap handler (stored in the </a:t>
            </a:r>
            <a:r>
              <a:rPr lang="en-US" sz="2400" dirty="0" err="1"/>
              <a:t>mtvec</a:t>
            </a:r>
            <a:r>
              <a:rPr lang="en-US" sz="2400" dirty="0"/>
              <a:t> CSR) and increases the privilege level</a:t>
            </a:r>
          </a:p>
          <a:p>
            <a:pPr>
              <a:spcBef>
                <a:spcPts val="300"/>
              </a:spcBef>
            </a:pPr>
            <a:r>
              <a:rPr lang="en-US" sz="2667" dirty="0"/>
              <a:t>An exception handler, a software program, takes over and performs the necessary action</a:t>
            </a: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8" name="Footer Placeholder 7"/>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62</a:t>
            </a:fld>
            <a:endParaRPr lang="en-US" dirty="0"/>
          </a:p>
        </p:txBody>
      </p:sp>
    </p:spTree>
    <p:extLst>
      <p:ext uri="{BB962C8B-B14F-4D97-AF65-F5344CB8AC3E}">
        <p14:creationId xmlns:p14="http://schemas.microsoft.com/office/powerpoint/2010/main" val="97813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for interrupt handling</a:t>
            </a:r>
          </a:p>
        </p:txBody>
      </p:sp>
      <p:sp>
        <p:nvSpPr>
          <p:cNvPr id="3" name="Content Placeholder 2"/>
          <p:cNvSpPr>
            <a:spLocks noGrp="1"/>
          </p:cNvSpPr>
          <p:nvPr>
            <p:ph idx="1"/>
          </p:nvPr>
        </p:nvSpPr>
        <p:spPr>
          <a:xfrm>
            <a:off x="980325" y="1396376"/>
            <a:ext cx="7138225" cy="4570229"/>
          </a:xfrm>
        </p:spPr>
        <p:txBody>
          <a:bodyPr/>
          <a:lstStyle/>
          <a:p>
            <a:r>
              <a:rPr lang="en-US" sz="2400" dirty="0"/>
              <a:t>Hardware transfers control to the common software interrupt handler (CH) which:</a:t>
            </a:r>
          </a:p>
          <a:p>
            <a:pPr marL="914377" lvl="1" indent="-457189">
              <a:buFont typeface="+mj-lt"/>
              <a:buAutoNum type="arabicPeriod"/>
            </a:pPr>
            <a:r>
              <a:rPr lang="en-US" sz="2000" dirty="0"/>
              <a:t>Saves all GPRs into the memory pointed by </a:t>
            </a:r>
            <a:r>
              <a:rPr lang="en-US" sz="2000" dirty="0" err="1">
                <a:latin typeface="Courier New" panose="02070309020205020404" pitchFamily="49" charset="0"/>
                <a:cs typeface="Courier New" panose="02070309020205020404" pitchFamily="49" charset="0"/>
              </a:rPr>
              <a:t>mscratch</a:t>
            </a:r>
            <a:endParaRPr lang="en-US" sz="2000" dirty="0">
              <a:latin typeface="Courier New" panose="02070309020205020404" pitchFamily="49" charset="0"/>
              <a:cs typeface="Courier New" panose="02070309020205020404" pitchFamily="49" charset="0"/>
            </a:endParaRPr>
          </a:p>
          <a:p>
            <a:pPr marL="914377" lvl="1" indent="-457189">
              <a:buFont typeface="+mj-lt"/>
              <a:buAutoNum type="arabicPeriod"/>
            </a:pPr>
            <a:r>
              <a:rPr lang="en-US" sz="2000" dirty="0"/>
              <a:t>Passes </a:t>
            </a:r>
            <a:r>
              <a:rPr lang="en-US" sz="2000" dirty="0" err="1">
                <a:latin typeface="Courier New" panose="02070309020205020404" pitchFamily="49" charset="0"/>
                <a:cs typeface="Courier New" panose="02070309020205020404" pitchFamily="49" charset="0"/>
              </a:rPr>
              <a:t>mcause</a:t>
            </a:r>
            <a:r>
              <a:rPr lang="en-US" sz="2000" dirty="0"/>
              <a:t>, </a:t>
            </a:r>
            <a:r>
              <a:rPr lang="en-US" sz="2000" dirty="0" err="1">
                <a:latin typeface="Courier New" panose="02070309020205020404" pitchFamily="49" charset="0"/>
                <a:cs typeface="Courier New" panose="02070309020205020404" pitchFamily="49" charset="0"/>
              </a:rPr>
              <a:t>mepc</a:t>
            </a:r>
            <a:r>
              <a:rPr lang="en-US" sz="2000" dirty="0"/>
              <a:t>, stack pointer to the IH (a C function) to handle the specific interrupt</a:t>
            </a:r>
          </a:p>
          <a:p>
            <a:pPr marL="914377" lvl="1" indent="-457189">
              <a:buFont typeface="+mj-lt"/>
              <a:buAutoNum type="arabicPeriod"/>
            </a:pPr>
            <a:r>
              <a:rPr lang="en-US" sz="2000" dirty="0"/>
              <a:t>On the return from the IH, first determine which instruction to return to, and modify </a:t>
            </a:r>
            <a:r>
              <a:rPr lang="en-US" sz="2000" dirty="0" err="1">
                <a:latin typeface="Courier New" panose="02070309020205020404" pitchFamily="49" charset="0"/>
                <a:cs typeface="Courier New" panose="02070309020205020404" pitchFamily="49" charset="0"/>
              </a:rPr>
              <a:t>mepc</a:t>
            </a:r>
            <a:r>
              <a:rPr lang="en-US" sz="2000" dirty="0">
                <a:latin typeface="Courier New" panose="02070309020205020404" pitchFamily="49" charset="0"/>
                <a:cs typeface="Courier New" panose="02070309020205020404" pitchFamily="49" charset="0"/>
              </a:rPr>
              <a:t> (+4 or +2)</a:t>
            </a:r>
          </a:p>
          <a:p>
            <a:pPr marL="914377" lvl="1" indent="-457189">
              <a:buFont typeface="+mj-lt"/>
              <a:buAutoNum type="arabicPeriod"/>
            </a:pPr>
            <a:r>
              <a:rPr lang="en-US" sz="2000" dirty="0"/>
              <a:t>Loads all GPRs from the memory</a:t>
            </a:r>
          </a:p>
          <a:p>
            <a:pPr marL="914377" lvl="1" indent="-457189">
              <a:buFont typeface="+mj-lt"/>
              <a:buAutoNum type="arabicPeriod"/>
            </a:pPr>
            <a:r>
              <a:rPr lang="en-US" sz="2000" dirty="0"/>
              <a:t>Execute ERET, which does:</a:t>
            </a:r>
          </a:p>
          <a:p>
            <a:pPr lvl="2"/>
            <a:r>
              <a:rPr lang="en-US" sz="1800" dirty="0"/>
              <a:t>set pc to </a:t>
            </a:r>
            <a:r>
              <a:rPr lang="en-US" sz="1800" dirty="0" err="1">
                <a:latin typeface="Courier New" panose="02070309020205020404" pitchFamily="49" charset="0"/>
                <a:cs typeface="Courier New" panose="02070309020205020404" pitchFamily="49" charset="0"/>
              </a:rPr>
              <a:t>mepc</a:t>
            </a:r>
            <a:endParaRPr lang="en-US" sz="1800" dirty="0">
              <a:latin typeface="Courier New" panose="02070309020205020404" pitchFamily="49" charset="0"/>
              <a:cs typeface="Courier New" panose="02070309020205020404" pitchFamily="49" charset="0"/>
            </a:endParaRPr>
          </a:p>
          <a:p>
            <a:pPr lvl="2"/>
            <a:r>
              <a:rPr lang="en-US" sz="1800" dirty="0"/>
              <a:t>pop </a:t>
            </a:r>
            <a:r>
              <a:rPr lang="en-US" sz="1800" dirty="0" err="1">
                <a:latin typeface="Courier New" panose="02070309020205020404" pitchFamily="49" charset="0"/>
                <a:cs typeface="Courier New" panose="02070309020205020404" pitchFamily="49" charset="0"/>
              </a:rPr>
              <a:t>mstatus</a:t>
            </a:r>
            <a:r>
              <a:rPr lang="en-US" sz="1800" dirty="0"/>
              <a:t> (mode, enable) stack</a:t>
            </a:r>
          </a:p>
          <a:p>
            <a:pPr marL="1257269" lvl="2" indent="-342891">
              <a:buFont typeface="+mj-lt"/>
              <a:buAutoNum type="arabicPeriod"/>
            </a:pPr>
            <a:endParaRPr lang="en-US" sz="1600" dirty="0"/>
          </a:p>
          <a:p>
            <a:pPr lvl="1"/>
            <a:endParaRPr lang="en-US" sz="2000" dirty="0"/>
          </a:p>
        </p:txBody>
      </p:sp>
      <p:sp>
        <p:nvSpPr>
          <p:cNvPr id="6" name="Rectangle 5"/>
          <p:cNvSpPr/>
          <p:nvPr/>
        </p:nvSpPr>
        <p:spPr bwMode="auto">
          <a:xfrm>
            <a:off x="9917503" y="3536832"/>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9" name="Rectangle 8"/>
          <p:cNvSpPr/>
          <p:nvPr/>
        </p:nvSpPr>
        <p:spPr bwMode="auto">
          <a:xfrm>
            <a:off x="9917503" y="5362756"/>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10" name="Rectangle 9"/>
          <p:cNvSpPr/>
          <p:nvPr/>
        </p:nvSpPr>
        <p:spPr bwMode="auto">
          <a:xfrm>
            <a:off x="9917503" y="4454106"/>
            <a:ext cx="457200" cy="603849"/>
          </a:xfrm>
          <a:prstGeom prst="rect">
            <a:avLst/>
          </a:prstGeom>
          <a:solidFill>
            <a:schemeClr val="accent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377" fontAlgn="base">
              <a:lnSpc>
                <a:spcPct val="90000"/>
              </a:lnSpc>
              <a:spcBef>
                <a:spcPct val="25000"/>
              </a:spcBef>
              <a:spcAft>
                <a:spcPct val="0"/>
              </a:spcAft>
              <a:buClr>
                <a:schemeClr val="bg1"/>
              </a:buClr>
              <a:buSzPct val="100000"/>
            </a:pPr>
            <a:r>
              <a:rPr lang="en-US" dirty="0"/>
              <a:t>IH</a:t>
            </a:r>
            <a:endParaRPr lang="en-US" dirty="0">
              <a:latin typeface="Verdana" pitchFamily="34" charset="0"/>
            </a:endParaRPr>
          </a:p>
        </p:txBody>
      </p:sp>
      <p:sp>
        <p:nvSpPr>
          <p:cNvPr id="11" name="Rectangle 10"/>
          <p:cNvSpPr/>
          <p:nvPr/>
        </p:nvSpPr>
        <p:spPr bwMode="auto">
          <a:xfrm>
            <a:off x="8413629" y="4094671"/>
            <a:ext cx="623979" cy="1995579"/>
          </a:xfrm>
          <a:prstGeom prst="rect">
            <a:avLst/>
          </a:prstGeom>
          <a:solidFill>
            <a:schemeClr val="accent2">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77" fontAlgn="base">
              <a:lnSpc>
                <a:spcPct val="90000"/>
              </a:lnSpc>
              <a:spcBef>
                <a:spcPct val="25000"/>
              </a:spcBef>
              <a:spcAft>
                <a:spcPct val="0"/>
              </a:spcAft>
              <a:buClr>
                <a:schemeClr val="bg1"/>
              </a:buClr>
              <a:buSzPct val="100000"/>
            </a:pPr>
            <a:r>
              <a:rPr lang="en-US" dirty="0"/>
              <a:t>CH</a:t>
            </a:r>
          </a:p>
          <a:p>
            <a:pPr algn="ctr" defTabSz="914377" fontAlgn="base">
              <a:lnSpc>
                <a:spcPct val="90000"/>
              </a:lnSpc>
              <a:spcBef>
                <a:spcPct val="25000"/>
              </a:spcBef>
              <a:spcAft>
                <a:spcPct val="0"/>
              </a:spcAft>
              <a:buClr>
                <a:schemeClr val="bg1"/>
              </a:buClr>
              <a:buSzPct val="100000"/>
            </a:pPr>
            <a:r>
              <a:rPr lang="en-US" dirty="0">
                <a:latin typeface="Verdana" pitchFamily="34" charset="0"/>
              </a:rPr>
              <a:t>1</a:t>
            </a:r>
          </a:p>
          <a:p>
            <a:pPr algn="ctr" defTabSz="914377" fontAlgn="base">
              <a:lnSpc>
                <a:spcPct val="90000"/>
              </a:lnSpc>
              <a:spcBef>
                <a:spcPct val="25000"/>
              </a:spcBef>
              <a:spcAft>
                <a:spcPct val="0"/>
              </a:spcAft>
              <a:buClr>
                <a:schemeClr val="bg1"/>
              </a:buClr>
              <a:buSzPct val="100000"/>
            </a:pPr>
            <a:r>
              <a:rPr lang="en-US" dirty="0"/>
              <a:t>2</a:t>
            </a:r>
          </a:p>
          <a:p>
            <a:pPr algn="ctr" defTabSz="914377" fontAlgn="base">
              <a:lnSpc>
                <a:spcPct val="90000"/>
              </a:lnSpc>
              <a:spcBef>
                <a:spcPct val="25000"/>
              </a:spcBef>
              <a:spcAft>
                <a:spcPct val="0"/>
              </a:spcAft>
              <a:buClr>
                <a:schemeClr val="bg1"/>
              </a:buClr>
              <a:buSzPct val="100000"/>
            </a:pPr>
            <a:r>
              <a:rPr lang="en-US" dirty="0">
                <a:latin typeface="Verdana" pitchFamily="34" charset="0"/>
              </a:rPr>
              <a:t>3</a:t>
            </a:r>
          </a:p>
          <a:p>
            <a:pPr algn="ctr" defTabSz="914377" fontAlgn="base">
              <a:lnSpc>
                <a:spcPct val="90000"/>
              </a:lnSpc>
              <a:spcBef>
                <a:spcPct val="25000"/>
              </a:spcBef>
              <a:spcAft>
                <a:spcPct val="0"/>
              </a:spcAft>
              <a:buClr>
                <a:schemeClr val="bg1"/>
              </a:buClr>
              <a:buSzPct val="100000"/>
            </a:pPr>
            <a:r>
              <a:rPr lang="en-US" dirty="0"/>
              <a:t>4</a:t>
            </a:r>
          </a:p>
          <a:p>
            <a:pPr algn="ctr" defTabSz="914377" fontAlgn="base">
              <a:lnSpc>
                <a:spcPct val="90000"/>
              </a:lnSpc>
              <a:spcBef>
                <a:spcPct val="25000"/>
              </a:spcBef>
              <a:spcAft>
                <a:spcPct val="0"/>
              </a:spcAft>
              <a:buClr>
                <a:schemeClr val="bg1"/>
              </a:buClr>
              <a:buSzPct val="100000"/>
            </a:pPr>
            <a:r>
              <a:rPr lang="en-US" dirty="0">
                <a:latin typeface="Verdana" pitchFamily="34" charset="0"/>
              </a:rPr>
              <a:t>5</a:t>
            </a:r>
          </a:p>
        </p:txBody>
      </p:sp>
      <p:sp>
        <p:nvSpPr>
          <p:cNvPr id="13" name="Freeform 12"/>
          <p:cNvSpPr/>
          <p:nvPr/>
        </p:nvSpPr>
        <p:spPr bwMode="auto">
          <a:xfrm>
            <a:off x="8890959" y="4865299"/>
            <a:ext cx="1066712" cy="533533"/>
          </a:xfrm>
          <a:custGeom>
            <a:avLst/>
            <a:gdLst>
              <a:gd name="connsiteX0" fmla="*/ 0 w 1066712"/>
              <a:gd name="connsiteY0" fmla="*/ 0 h 533533"/>
              <a:gd name="connsiteX1" fmla="*/ 707367 w 1066712"/>
              <a:gd name="connsiteY1" fmla="*/ 120770 h 533533"/>
              <a:gd name="connsiteX2" fmla="*/ 1035170 w 1066712"/>
              <a:gd name="connsiteY2" fmla="*/ 491706 h 533533"/>
              <a:gd name="connsiteX3" fmla="*/ 1035170 w 1066712"/>
              <a:gd name="connsiteY3" fmla="*/ 508959 h 533533"/>
            </a:gdLst>
            <a:ahLst/>
            <a:cxnLst>
              <a:cxn ang="0">
                <a:pos x="connsiteX0" y="connsiteY0"/>
              </a:cxn>
              <a:cxn ang="0">
                <a:pos x="connsiteX1" y="connsiteY1"/>
              </a:cxn>
              <a:cxn ang="0">
                <a:pos x="connsiteX2" y="connsiteY2"/>
              </a:cxn>
              <a:cxn ang="0">
                <a:pos x="connsiteX3" y="connsiteY3"/>
              </a:cxn>
            </a:cxnLst>
            <a:rect l="l" t="t" r="r" b="b"/>
            <a:pathLst>
              <a:path w="1066712" h="533533">
                <a:moveTo>
                  <a:pt x="0" y="0"/>
                </a:moveTo>
                <a:cubicBezTo>
                  <a:pt x="267419" y="19409"/>
                  <a:pt x="534839" y="38819"/>
                  <a:pt x="707367" y="120770"/>
                </a:cubicBezTo>
                <a:cubicBezTo>
                  <a:pt x="879895" y="202721"/>
                  <a:pt x="980536" y="427008"/>
                  <a:pt x="1035170" y="491706"/>
                </a:cubicBezTo>
                <a:cubicBezTo>
                  <a:pt x="1089804" y="556404"/>
                  <a:pt x="1062487" y="532681"/>
                  <a:pt x="1035170" y="508959"/>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14" name="Freeform 13"/>
          <p:cNvSpPr/>
          <p:nvPr/>
        </p:nvSpPr>
        <p:spPr bwMode="auto">
          <a:xfrm flipH="1" flipV="1">
            <a:off x="8741433" y="5262114"/>
            <a:ext cx="1167443" cy="655607"/>
          </a:xfrm>
          <a:custGeom>
            <a:avLst/>
            <a:gdLst>
              <a:gd name="connsiteX0" fmla="*/ 0 w 1066712"/>
              <a:gd name="connsiteY0" fmla="*/ 0 h 533533"/>
              <a:gd name="connsiteX1" fmla="*/ 707367 w 1066712"/>
              <a:gd name="connsiteY1" fmla="*/ 120770 h 533533"/>
              <a:gd name="connsiteX2" fmla="*/ 1035170 w 1066712"/>
              <a:gd name="connsiteY2" fmla="*/ 491706 h 533533"/>
              <a:gd name="connsiteX3" fmla="*/ 1035170 w 1066712"/>
              <a:gd name="connsiteY3" fmla="*/ 508959 h 533533"/>
            </a:gdLst>
            <a:ahLst/>
            <a:cxnLst>
              <a:cxn ang="0">
                <a:pos x="connsiteX0" y="connsiteY0"/>
              </a:cxn>
              <a:cxn ang="0">
                <a:pos x="connsiteX1" y="connsiteY1"/>
              </a:cxn>
              <a:cxn ang="0">
                <a:pos x="connsiteX2" y="connsiteY2"/>
              </a:cxn>
              <a:cxn ang="0">
                <a:pos x="connsiteX3" y="connsiteY3"/>
              </a:cxn>
            </a:cxnLst>
            <a:rect l="l" t="t" r="r" b="b"/>
            <a:pathLst>
              <a:path w="1066712" h="533533">
                <a:moveTo>
                  <a:pt x="0" y="0"/>
                </a:moveTo>
                <a:cubicBezTo>
                  <a:pt x="267419" y="19409"/>
                  <a:pt x="534839" y="38819"/>
                  <a:pt x="707367" y="120770"/>
                </a:cubicBezTo>
                <a:cubicBezTo>
                  <a:pt x="879895" y="202721"/>
                  <a:pt x="980536" y="427008"/>
                  <a:pt x="1035170" y="491706"/>
                </a:cubicBezTo>
                <a:cubicBezTo>
                  <a:pt x="1089804" y="556404"/>
                  <a:pt x="1062487" y="532681"/>
                  <a:pt x="1035170" y="508959"/>
                </a:cubicBezTo>
              </a:path>
            </a:pathLst>
          </a:custGeom>
          <a:noFill/>
          <a:ln w="952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15" name="Rectangle 14"/>
          <p:cNvSpPr/>
          <p:nvPr/>
        </p:nvSpPr>
        <p:spPr bwMode="auto">
          <a:xfrm>
            <a:off x="9848492" y="1768417"/>
            <a:ext cx="560717" cy="1535503"/>
          </a:xfrm>
          <a:prstGeom prst="rect">
            <a:avLst/>
          </a:prstGeom>
          <a:solidFill>
            <a:schemeClr val="tx1">
              <a:lumMod val="40000"/>
              <a:lumOff val="6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cxnSp>
        <p:nvCxnSpPr>
          <p:cNvPr id="17" name="Straight Connector 16"/>
          <p:cNvCxnSpPr/>
          <p:nvPr/>
        </p:nvCxnSpPr>
        <p:spPr bwMode="auto">
          <a:xfrm>
            <a:off x="9857118" y="2182483"/>
            <a:ext cx="569343" cy="0"/>
          </a:xfrm>
          <a:prstGeom prst="line">
            <a:avLst/>
          </a:prstGeom>
          <a:noFill/>
          <a:ln w="9525" cap="flat" cmpd="sng" algn="ctr">
            <a:solidFill>
              <a:srgbClr val="FF0000"/>
            </a:solidFill>
            <a:prstDash val="solid"/>
            <a:round/>
            <a:headEnd type="none" w="med" len="med"/>
            <a:tailEnd type="none" w="med" len="med"/>
          </a:ln>
          <a:effectLst/>
        </p:spPr>
      </p:cxnSp>
      <p:cxnSp>
        <p:nvCxnSpPr>
          <p:cNvPr id="18" name="Straight Connector 17"/>
          <p:cNvCxnSpPr/>
          <p:nvPr/>
        </p:nvCxnSpPr>
        <p:spPr bwMode="auto">
          <a:xfrm>
            <a:off x="9857118" y="2458525"/>
            <a:ext cx="569343" cy="0"/>
          </a:xfrm>
          <a:prstGeom prst="line">
            <a:avLst/>
          </a:prstGeom>
          <a:noFill/>
          <a:ln w="9525" cap="flat" cmpd="sng" algn="ctr">
            <a:solidFill>
              <a:srgbClr val="FF0000"/>
            </a:solidFill>
            <a:prstDash val="solid"/>
            <a:round/>
            <a:headEnd type="none" w="med" len="med"/>
            <a:tailEnd type="none" w="med" len="med"/>
          </a:ln>
          <a:effectLst/>
        </p:spPr>
      </p:cxnSp>
      <p:sp>
        <p:nvSpPr>
          <p:cNvPr id="20" name="TextBox 19"/>
          <p:cNvSpPr txBox="1"/>
          <p:nvPr/>
        </p:nvSpPr>
        <p:spPr>
          <a:xfrm>
            <a:off x="9857117" y="2173857"/>
            <a:ext cx="574196" cy="307777"/>
          </a:xfrm>
          <a:prstGeom prst="rect">
            <a:avLst/>
          </a:prstGeom>
          <a:noFill/>
        </p:spPr>
        <p:txBody>
          <a:bodyPr wrap="none" rtlCol="0">
            <a:spAutoFit/>
          </a:bodyPr>
          <a:lstStyle/>
          <a:p>
            <a:r>
              <a:rPr lang="en-US" sz="1400" dirty="0"/>
              <a:t>GPR</a:t>
            </a:r>
          </a:p>
        </p:txBody>
      </p:sp>
      <p:sp>
        <p:nvSpPr>
          <p:cNvPr id="23" name="Freeform 22"/>
          <p:cNvSpPr/>
          <p:nvPr/>
        </p:nvSpPr>
        <p:spPr bwMode="auto">
          <a:xfrm>
            <a:off x="8890959" y="2320507"/>
            <a:ext cx="931653" cy="2225615"/>
          </a:xfrm>
          <a:custGeom>
            <a:avLst/>
            <a:gdLst>
              <a:gd name="connsiteX0" fmla="*/ 0 w 931653"/>
              <a:gd name="connsiteY0" fmla="*/ 2225615 h 2225615"/>
              <a:gd name="connsiteX1" fmla="*/ 474453 w 931653"/>
              <a:gd name="connsiteY1" fmla="*/ 1613139 h 2225615"/>
              <a:gd name="connsiteX2" fmla="*/ 534838 w 931653"/>
              <a:gd name="connsiteY2" fmla="*/ 336430 h 2225615"/>
              <a:gd name="connsiteX3" fmla="*/ 931653 w 931653"/>
              <a:gd name="connsiteY3" fmla="*/ 0 h 2225615"/>
            </a:gdLst>
            <a:ahLst/>
            <a:cxnLst>
              <a:cxn ang="0">
                <a:pos x="connsiteX0" y="connsiteY0"/>
              </a:cxn>
              <a:cxn ang="0">
                <a:pos x="connsiteX1" y="connsiteY1"/>
              </a:cxn>
              <a:cxn ang="0">
                <a:pos x="connsiteX2" y="connsiteY2"/>
              </a:cxn>
              <a:cxn ang="0">
                <a:pos x="connsiteX3" y="connsiteY3"/>
              </a:cxn>
            </a:cxnLst>
            <a:rect l="l" t="t" r="r" b="b"/>
            <a:pathLst>
              <a:path w="931653" h="2225615">
                <a:moveTo>
                  <a:pt x="0" y="2225615"/>
                </a:moveTo>
                <a:cubicBezTo>
                  <a:pt x="192656" y="2076809"/>
                  <a:pt x="385313" y="1928003"/>
                  <a:pt x="474453" y="1613139"/>
                </a:cubicBezTo>
                <a:cubicBezTo>
                  <a:pt x="563593" y="1298275"/>
                  <a:pt x="458638" y="605286"/>
                  <a:pt x="534838" y="336430"/>
                </a:cubicBezTo>
                <a:cubicBezTo>
                  <a:pt x="611038" y="67573"/>
                  <a:pt x="771345" y="33786"/>
                  <a:pt x="931653" y="0"/>
                </a:cubicBezTo>
              </a:path>
            </a:pathLst>
          </a:custGeom>
          <a:noFill/>
          <a:ln w="9525" cap="flat" cmpd="sng" algn="ctr">
            <a:solidFill>
              <a:srgbClr val="FF0000"/>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24" name="Freeform 23"/>
          <p:cNvSpPr/>
          <p:nvPr/>
        </p:nvSpPr>
        <p:spPr bwMode="auto">
          <a:xfrm>
            <a:off x="8856454" y="2406771"/>
            <a:ext cx="940279" cy="3131388"/>
          </a:xfrm>
          <a:custGeom>
            <a:avLst/>
            <a:gdLst>
              <a:gd name="connsiteX0" fmla="*/ 940279 w 940279"/>
              <a:gd name="connsiteY0" fmla="*/ 0 h 3131388"/>
              <a:gd name="connsiteX1" fmla="*/ 664234 w 940279"/>
              <a:gd name="connsiteY1" fmla="*/ 301924 h 3131388"/>
              <a:gd name="connsiteX2" fmla="*/ 646981 w 940279"/>
              <a:gd name="connsiteY2" fmla="*/ 1207698 h 3131388"/>
              <a:gd name="connsiteX3" fmla="*/ 629728 w 940279"/>
              <a:gd name="connsiteY3" fmla="*/ 2639683 h 3131388"/>
              <a:gd name="connsiteX4" fmla="*/ 0 w 940279"/>
              <a:gd name="connsiteY4" fmla="*/ 3131388 h 3131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279" h="3131388">
                <a:moveTo>
                  <a:pt x="940279" y="0"/>
                </a:moveTo>
                <a:cubicBezTo>
                  <a:pt x="826698" y="50320"/>
                  <a:pt x="713117" y="100641"/>
                  <a:pt x="664234" y="301924"/>
                </a:cubicBezTo>
                <a:cubicBezTo>
                  <a:pt x="615351" y="503207"/>
                  <a:pt x="652732" y="818072"/>
                  <a:pt x="646981" y="1207698"/>
                </a:cubicBezTo>
                <a:cubicBezTo>
                  <a:pt x="641230" y="1597324"/>
                  <a:pt x="737558" y="2319068"/>
                  <a:pt x="629728" y="2639683"/>
                </a:cubicBezTo>
                <a:cubicBezTo>
                  <a:pt x="521898" y="2960298"/>
                  <a:pt x="260949" y="3045843"/>
                  <a:pt x="0" y="3131388"/>
                </a:cubicBezTo>
              </a:path>
            </a:pathLst>
          </a:custGeom>
          <a:noFill/>
          <a:ln w="9525" cap="flat" cmpd="sng" algn="ctr">
            <a:solidFill>
              <a:srgbClr val="FF0000"/>
            </a:solidFill>
            <a:prstDash val="dash"/>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defTabSz="914377" fontAlgn="base">
              <a:lnSpc>
                <a:spcPct val="90000"/>
              </a:lnSpc>
              <a:spcBef>
                <a:spcPct val="25000"/>
              </a:spcBef>
              <a:spcAft>
                <a:spcPct val="0"/>
              </a:spcAft>
              <a:buClr>
                <a:schemeClr val="bg1"/>
              </a:buClr>
              <a:buSzPct val="100000"/>
              <a:buFont typeface="Wingdings" pitchFamily="2" charset="2"/>
              <a:buChar char="•"/>
            </a:pPr>
            <a:endParaRPr lang="en-US" sz="2000">
              <a:latin typeface="Verdana" pitchFamily="34" charset="0"/>
            </a:endParaRPr>
          </a:p>
        </p:txBody>
      </p:sp>
      <p:sp>
        <p:nvSpPr>
          <p:cNvPr id="7" name="Date Placeholder 6"/>
          <p:cNvSpPr>
            <a:spLocks noGrp="1"/>
          </p:cNvSpPr>
          <p:nvPr>
            <p:ph type="dt" sz="half" idx="10"/>
          </p:nvPr>
        </p:nvSpPr>
        <p:spPr/>
        <p:txBody>
          <a:bodyPr/>
          <a:lstStyle/>
          <a:p>
            <a:pPr>
              <a:defRPr/>
            </a:pPr>
            <a:r>
              <a:rPr lang="en-US"/>
              <a:t>September 27, 2017</a:t>
            </a:r>
            <a:endParaRPr lang="en-US" dirty="0"/>
          </a:p>
        </p:txBody>
      </p:sp>
      <p:sp>
        <p:nvSpPr>
          <p:cNvPr id="12" name="Footer Placeholder 11"/>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16" name="Slide Number Placeholder 15"/>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63</a:t>
            </a:fld>
            <a:endParaRPr lang="en-US" dirty="0"/>
          </a:p>
        </p:txBody>
      </p:sp>
    </p:spTree>
    <p:extLst>
      <p:ext uri="{BB962C8B-B14F-4D97-AF65-F5344CB8AC3E}">
        <p14:creationId xmlns:p14="http://schemas.microsoft.com/office/powerpoint/2010/main" val="55671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3" grpId="0" animBg="1"/>
      <p:bldP spid="2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Interrupt Handler- SW (1)</a:t>
            </a:r>
          </a:p>
        </p:txBody>
      </p:sp>
      <p:sp>
        <p:nvSpPr>
          <p:cNvPr id="7" name="TextBox 6"/>
          <p:cNvSpPr txBox="1"/>
          <p:nvPr/>
        </p:nvSpPr>
        <p:spPr>
          <a:xfrm>
            <a:off x="2156567" y="1505206"/>
            <a:ext cx="7491153" cy="3416320"/>
          </a:xfrm>
          <a:prstGeom prst="rect">
            <a:avLst/>
          </a:prstGeom>
          <a:solidFill>
            <a:schemeClr val="accent2">
              <a:lumMod val="40000"/>
              <a:lumOff val="60000"/>
            </a:schemeClr>
          </a:solidFill>
        </p:spPr>
        <p:txBody>
          <a:bodyPr wrap="none" rtlCol="0">
            <a:spAutoFit/>
          </a:bodyPr>
          <a:lstStyle/>
          <a:p>
            <a:r>
              <a:rPr lang="en-US" dirty="0" err="1">
                <a:latin typeface="Courier New" panose="02070309020205020404" pitchFamily="49" charset="0"/>
                <a:cs typeface="Courier New" panose="02070309020205020404" pitchFamily="49" charset="0"/>
              </a:rPr>
              <a:t>common_handler</a:t>
            </a:r>
            <a:r>
              <a:rPr lang="en-US" dirty="0">
                <a:latin typeface="Courier New" panose="02070309020205020404" pitchFamily="49" charset="0"/>
                <a:cs typeface="Courier New" panose="02070309020205020404" pitchFamily="49" charset="0"/>
              </a:rPr>
              <a:t>: # entry point for exception handler</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 get the pointer to HW-thread local stack</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csrrw</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 swap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and </a:t>
            </a:r>
            <a:r>
              <a:rPr lang="en-US" dirty="0" err="1">
                <a:latin typeface="Courier New" panose="02070309020205020404" pitchFamily="49" charset="0"/>
                <a:cs typeface="Courier New" panose="02070309020205020404" pitchFamily="49" charset="0"/>
              </a:rPr>
              <a:t>mscratch</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 save x1, x3 ~ x31 to stack (x2 is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save later)</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addi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-128</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x1, 4(</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x3, 12(</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x31, 124(</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 save original </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 (now in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to stack</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csrr</a:t>
            </a:r>
            <a:r>
              <a:rPr lang="en-US" dirty="0">
                <a:latin typeface="Courier New" panose="02070309020205020404" pitchFamily="49" charset="0"/>
                <a:cs typeface="Courier New" panose="02070309020205020404" pitchFamily="49" charset="0"/>
              </a:rPr>
              <a:t> s0,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 store </a:t>
            </a:r>
            <a:r>
              <a:rPr lang="en-US" dirty="0" err="1">
                <a:latin typeface="Courier New" panose="02070309020205020404" pitchFamily="49" charset="0"/>
                <a:cs typeface="Courier New" panose="02070309020205020404" pitchFamily="49" charset="0"/>
              </a:rPr>
              <a:t>mscratch</a:t>
            </a:r>
            <a:r>
              <a:rPr lang="en-US" dirty="0">
                <a:latin typeface="Courier New" panose="02070309020205020404" pitchFamily="49" charset="0"/>
                <a:cs typeface="Courier New" panose="02070309020205020404" pitchFamily="49" charset="0"/>
              </a:rPr>
              <a:t> to s0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sw</a:t>
            </a:r>
            <a:r>
              <a:rPr lang="en-US" dirty="0">
                <a:latin typeface="Courier New" panose="02070309020205020404" pitchFamily="49" charset="0"/>
                <a:cs typeface="Courier New" panose="02070309020205020404" pitchFamily="49" charset="0"/>
              </a:rPr>
              <a:t> s0, 8(</a:t>
            </a:r>
            <a:r>
              <a:rPr lang="en-US" dirty="0" err="1">
                <a:latin typeface="Courier New" panose="02070309020205020404" pitchFamily="49" charset="0"/>
                <a:cs typeface="Courier New" panose="02070309020205020404" pitchFamily="49" charset="0"/>
              </a:rPr>
              <a:t>sp</a:t>
            </a:r>
            <a:r>
              <a:rPr lang="en-US" dirty="0">
                <a:latin typeface="Courier New" panose="02070309020205020404" pitchFamily="49" charset="0"/>
                <a:cs typeface="Courier New" panose="02070309020205020404" pitchFamily="49" charset="0"/>
              </a:rPr>
              <a:t>)</a:t>
            </a:r>
          </a:p>
        </p:txBody>
      </p:sp>
      <p:sp>
        <p:nvSpPr>
          <p:cNvPr id="3" name="Date Placeholder 2"/>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64</a:t>
            </a:fld>
            <a:endParaRPr lang="en-US" dirty="0"/>
          </a:p>
        </p:txBody>
      </p:sp>
    </p:spTree>
    <p:extLst>
      <p:ext uri="{BB962C8B-B14F-4D97-AF65-F5344CB8AC3E}">
        <p14:creationId xmlns:p14="http://schemas.microsoft.com/office/powerpoint/2010/main" val="235448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776" y="-164841"/>
            <a:ext cx="8162925" cy="1143000"/>
          </a:xfrm>
        </p:spPr>
        <p:txBody>
          <a:bodyPr/>
          <a:lstStyle/>
          <a:p>
            <a:r>
              <a:rPr lang="en-US" dirty="0"/>
              <a:t>Illegal Instruction IH (in C)</a:t>
            </a:r>
            <a:endParaRPr lang="en-US" i="1" dirty="0"/>
          </a:p>
        </p:txBody>
      </p:sp>
      <p:sp>
        <p:nvSpPr>
          <p:cNvPr id="7" name="TextBox 6"/>
          <p:cNvSpPr txBox="1"/>
          <p:nvPr/>
        </p:nvSpPr>
        <p:spPr>
          <a:xfrm>
            <a:off x="948268" y="1268730"/>
            <a:ext cx="10161692" cy="3979872"/>
          </a:xfrm>
          <a:prstGeom prst="rect">
            <a:avLst/>
          </a:prstGeom>
          <a:solidFill>
            <a:schemeClr val="accent2">
              <a:lumMod val="40000"/>
              <a:lumOff val="60000"/>
            </a:schemeClr>
          </a:solidFill>
        </p:spPr>
        <p:txBody>
          <a:bodyPr wrap="square" rtlCol="0">
            <a:spAutoFit/>
          </a:bodyPr>
          <a:lstStyle/>
          <a:p>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illegal_inst_ih</a:t>
            </a:r>
            <a:r>
              <a:rPr lang="en-US" sz="2133" dirty="0">
                <a:latin typeface="Courier New" panose="02070309020205020404" pitchFamily="49" charset="0"/>
                <a:cs typeface="Courier New" panose="02070309020205020404" pitchFamily="49" charset="0"/>
              </a:rPr>
              <a:t>(</a:t>
            </a:r>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cause, </a:t>
            </a:r>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epc</a:t>
            </a:r>
            <a:r>
              <a:rPr lang="en-US" sz="2133" dirty="0">
                <a:latin typeface="Courier New" panose="02070309020205020404" pitchFamily="49" charset="0"/>
                <a:cs typeface="Courier New" panose="02070309020205020404" pitchFamily="49" charset="0"/>
              </a:rPr>
              <a:t>, </a:t>
            </a:r>
            <a:r>
              <a:rPr lang="en-US" sz="2133" b="1" dirty="0">
                <a:latin typeface="Courier New" panose="02070309020205020404" pitchFamily="49" charset="0"/>
                <a:cs typeface="Courier New" panose="02070309020205020404" pitchFamily="49" charset="0"/>
              </a:rPr>
              <a:t>long</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a:t>
            </a:r>
          </a:p>
          <a:p>
            <a:r>
              <a:rPr lang="en-US" sz="2133" dirty="0">
                <a:latin typeface="Courier New" panose="02070309020205020404" pitchFamily="49" charset="0"/>
                <a:cs typeface="Courier New" panose="02070309020205020404" pitchFamily="49" charset="0"/>
              </a:rPr>
              <a:t>{   </a:t>
            </a:r>
            <a:r>
              <a:rPr lang="en-US" sz="2133" b="1" dirty="0">
                <a:latin typeface="Courier New" panose="02070309020205020404" pitchFamily="49" charset="0"/>
                <a:cs typeface="Courier New" panose="02070309020205020404" pitchFamily="49" charset="0"/>
              </a:rPr>
              <a:t>uint32_t</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inst</a:t>
            </a:r>
            <a:r>
              <a:rPr lang="en-US" sz="2133" dirty="0">
                <a:latin typeface="Courier New" panose="02070309020205020404" pitchFamily="49" charset="0"/>
                <a:cs typeface="Courier New" panose="02070309020205020404" pitchFamily="49" charset="0"/>
              </a:rPr>
              <a:t> = *((</a:t>
            </a:r>
            <a:r>
              <a:rPr lang="en-US" sz="2133" b="1" dirty="0">
                <a:latin typeface="Courier New" panose="02070309020205020404" pitchFamily="49" charset="0"/>
                <a:cs typeface="Courier New" panose="02070309020205020404" pitchFamily="49" charset="0"/>
              </a:rPr>
              <a:t>uint32_t</a:t>
            </a:r>
            <a:r>
              <a:rPr lang="en-US" sz="2133" dirty="0">
                <a:latin typeface="Courier New" panose="02070309020205020404" pitchFamily="49" charset="0"/>
                <a:cs typeface="Courier New" panose="02070309020205020404" pitchFamily="49" charset="0"/>
              </a:rPr>
              <a:t>*)</a:t>
            </a:r>
            <a:r>
              <a:rPr lang="en-US" sz="2133" dirty="0" err="1">
                <a:latin typeface="Courier New" panose="02070309020205020404" pitchFamily="49" charset="0"/>
                <a:cs typeface="Courier New" panose="02070309020205020404" pitchFamily="49" charset="0"/>
              </a:rPr>
              <a:t>epc</a:t>
            </a:r>
            <a:r>
              <a:rPr lang="en-US" sz="2133" dirty="0">
                <a:latin typeface="Courier New" panose="02070309020205020404" pitchFamily="49" charset="0"/>
                <a:cs typeface="Courier New" panose="02070309020205020404" pitchFamily="49" charset="0"/>
              </a:rPr>
              <a:t>); // fetch </a:t>
            </a:r>
            <a:r>
              <a:rPr lang="en-US" sz="2133" dirty="0" err="1">
                <a:latin typeface="Courier New" panose="02070309020205020404" pitchFamily="49" charset="0"/>
                <a:cs typeface="Courier New" panose="02070309020205020404" pitchFamily="49" charset="0"/>
              </a:rPr>
              <a:t>inst</a:t>
            </a:r>
            <a:endParaRPr lang="en-US" sz="2133" dirty="0">
              <a:latin typeface="Courier New" panose="02070309020205020404" pitchFamily="49" charset="0"/>
              <a:cs typeface="Courier New" panose="02070309020205020404" pitchFamily="49" charset="0"/>
            </a:endParaRPr>
          </a:p>
          <a:p>
            <a:r>
              <a:rPr lang="en-US" sz="2133" dirty="0">
                <a:latin typeface="Courier New" panose="02070309020205020404" pitchFamily="49" charset="0"/>
                <a:cs typeface="Courier New" panose="02070309020205020404" pitchFamily="49" charset="0"/>
              </a:rPr>
              <a:t>    // check opcode &amp; function codes</a:t>
            </a:r>
          </a:p>
          <a:p>
            <a:r>
              <a:rPr lang="en-US" sz="2133" dirty="0">
                <a:latin typeface="Courier New" panose="02070309020205020404" pitchFamily="49" charset="0"/>
                <a:cs typeface="Courier New" panose="02070309020205020404" pitchFamily="49" charset="0"/>
              </a:rPr>
              <a:t>    if((</a:t>
            </a:r>
            <a:r>
              <a:rPr lang="en-US" sz="2133" dirty="0" err="1">
                <a:latin typeface="Courier New" panose="02070309020205020404" pitchFamily="49" charset="0"/>
                <a:cs typeface="Courier New" panose="02070309020205020404" pitchFamily="49" charset="0"/>
              </a:rPr>
              <a:t>inst</a:t>
            </a:r>
            <a:r>
              <a:rPr lang="en-US" sz="2133" dirty="0">
                <a:latin typeface="Courier New" panose="02070309020205020404" pitchFamily="49" charset="0"/>
                <a:cs typeface="Courier New" panose="02070309020205020404" pitchFamily="49" charset="0"/>
              </a:rPr>
              <a:t> &amp; MASK_MUL) == MATCH_MUL) {</a:t>
            </a:r>
          </a:p>
          <a:p>
            <a:r>
              <a:rPr lang="en-US" sz="2133" dirty="0">
                <a:latin typeface="Courier New" panose="02070309020205020404" pitchFamily="49" charset="0"/>
                <a:cs typeface="Courier New" panose="02070309020205020404" pitchFamily="49" charset="0"/>
              </a:rPr>
              <a:t>      // is MUL, extract </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rs1, rs2 fields</a:t>
            </a:r>
          </a:p>
          <a:p>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int</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 (</a:t>
            </a:r>
            <a:r>
              <a:rPr lang="en-US" sz="2133" dirty="0" err="1">
                <a:latin typeface="Courier New" panose="02070309020205020404" pitchFamily="49" charset="0"/>
                <a:cs typeface="Courier New" panose="02070309020205020404" pitchFamily="49" charset="0"/>
              </a:rPr>
              <a:t>inst</a:t>
            </a:r>
            <a:r>
              <a:rPr lang="en-US" sz="2133" dirty="0">
                <a:latin typeface="Courier New" panose="02070309020205020404" pitchFamily="49" charset="0"/>
                <a:cs typeface="Courier New" panose="02070309020205020404" pitchFamily="49" charset="0"/>
              </a:rPr>
              <a:t> &gt;&gt; 7) &amp; 0x01F; </a:t>
            </a:r>
          </a:p>
          <a:p>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int</a:t>
            </a:r>
            <a:r>
              <a:rPr lang="en-US" sz="2133" dirty="0">
                <a:latin typeface="Courier New" panose="02070309020205020404" pitchFamily="49" charset="0"/>
                <a:cs typeface="Courier New" panose="02070309020205020404" pitchFamily="49" charset="0"/>
              </a:rPr>
              <a:t> rs1 = ...; </a:t>
            </a:r>
            <a:r>
              <a:rPr lang="en-US" sz="2133" dirty="0" err="1">
                <a:latin typeface="Courier New" panose="02070309020205020404" pitchFamily="49" charset="0"/>
                <a:cs typeface="Courier New" panose="02070309020205020404" pitchFamily="49" charset="0"/>
              </a:rPr>
              <a:t>int</a:t>
            </a:r>
            <a:r>
              <a:rPr lang="en-US" sz="2133" dirty="0">
                <a:latin typeface="Courier New" panose="02070309020205020404" pitchFamily="49" charset="0"/>
                <a:cs typeface="Courier New" panose="02070309020205020404" pitchFamily="49" charset="0"/>
              </a:rPr>
              <a:t> rs2 = ...;</a:t>
            </a:r>
          </a:p>
          <a:p>
            <a:r>
              <a:rPr lang="en-US" sz="2133" dirty="0">
                <a:latin typeface="Courier New" panose="02070309020205020404" pitchFamily="49" charset="0"/>
                <a:cs typeface="Courier New" panose="02070309020205020404" pitchFamily="49" charset="0"/>
              </a:rPr>
              <a:t>      // emulate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[rs1] *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[rs2]</a:t>
            </a:r>
          </a:p>
          <a:p>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emulate_multiply</a:t>
            </a:r>
            <a:r>
              <a:rPr lang="en-US" sz="2133" dirty="0">
                <a:latin typeface="Courier New" panose="02070309020205020404" pitchFamily="49" charset="0"/>
                <a:cs typeface="Courier New" panose="02070309020205020404" pitchFamily="49" charset="0"/>
              </a:rPr>
              <a:t>(</a:t>
            </a:r>
            <a:r>
              <a:rPr lang="en-US" sz="2133" dirty="0" err="1">
                <a:latin typeface="Courier New" panose="02070309020205020404" pitchFamily="49" charset="0"/>
                <a:cs typeface="Courier New" panose="02070309020205020404" pitchFamily="49" charset="0"/>
              </a:rPr>
              <a:t>rd</a:t>
            </a:r>
            <a:r>
              <a:rPr lang="en-US" sz="2133" dirty="0">
                <a:latin typeface="Courier New" panose="02070309020205020404" pitchFamily="49" charset="0"/>
                <a:cs typeface="Courier New" panose="02070309020205020404" pitchFamily="49" charset="0"/>
              </a:rPr>
              <a:t>, rs1, rs2, </a:t>
            </a:r>
            <a:r>
              <a:rPr lang="en-US" sz="2133" dirty="0" err="1">
                <a:latin typeface="Courier New" panose="02070309020205020404" pitchFamily="49" charset="0"/>
                <a:cs typeface="Courier New" panose="02070309020205020404" pitchFamily="49" charset="0"/>
              </a:rPr>
              <a:t>regs</a:t>
            </a:r>
            <a:r>
              <a:rPr lang="en-US" sz="2133" dirty="0">
                <a:latin typeface="Courier New" panose="02070309020205020404" pitchFamily="49" charset="0"/>
                <a:cs typeface="Courier New" panose="02070309020205020404" pitchFamily="49" charset="0"/>
              </a:rPr>
              <a:t>);</a:t>
            </a:r>
          </a:p>
          <a:p>
            <a:r>
              <a:rPr lang="en-US" sz="2133" b="1" dirty="0">
                <a:latin typeface="Courier New" panose="02070309020205020404" pitchFamily="49" charset="0"/>
                <a:cs typeface="Courier New" panose="02070309020205020404" pitchFamily="49" charset="0"/>
              </a:rPr>
              <a:t>      return</a:t>
            </a:r>
            <a:r>
              <a:rPr lang="en-US" sz="2133" dirty="0">
                <a:latin typeface="Courier New" panose="02070309020205020404" pitchFamily="49" charset="0"/>
                <a:cs typeface="Courier New" panose="02070309020205020404" pitchFamily="49" charset="0"/>
              </a:rPr>
              <a:t> </a:t>
            </a:r>
            <a:r>
              <a:rPr lang="en-US" sz="2133" dirty="0" err="1">
                <a:latin typeface="Courier New" panose="02070309020205020404" pitchFamily="49" charset="0"/>
                <a:cs typeface="Courier New" panose="02070309020205020404" pitchFamily="49" charset="0"/>
              </a:rPr>
              <a:t>epc</a:t>
            </a:r>
            <a:r>
              <a:rPr lang="en-US" sz="2133" dirty="0">
                <a:latin typeface="Courier New" panose="02070309020205020404" pitchFamily="49" charset="0"/>
                <a:cs typeface="Courier New" panose="02070309020205020404" pitchFamily="49" charset="0"/>
              </a:rPr>
              <a:t> + 4; // done, resume at epc+4</a:t>
            </a:r>
          </a:p>
          <a:p>
            <a:r>
              <a:rPr lang="en-US" sz="2133" dirty="0">
                <a:latin typeface="Courier New" panose="02070309020205020404" pitchFamily="49" charset="0"/>
                <a:cs typeface="Courier New" panose="02070309020205020404" pitchFamily="49" charset="0"/>
              </a:rPr>
              <a:t>    } </a:t>
            </a:r>
            <a:r>
              <a:rPr lang="en-US" sz="2133" b="1" dirty="0">
                <a:latin typeface="Courier New" panose="02070309020205020404" pitchFamily="49" charset="0"/>
                <a:cs typeface="Courier New" panose="02070309020205020404" pitchFamily="49" charset="0"/>
              </a:rPr>
              <a:t>else</a:t>
            </a:r>
            <a:r>
              <a:rPr lang="en-US" sz="2133" dirty="0">
                <a:latin typeface="Courier New" panose="02070309020205020404" pitchFamily="49" charset="0"/>
                <a:cs typeface="Courier New" panose="02070309020205020404" pitchFamily="49" charset="0"/>
              </a:rPr>
              <a:t> abort();</a:t>
            </a:r>
          </a:p>
          <a:p>
            <a:r>
              <a:rPr lang="en-US" dirty="0">
                <a:latin typeface="Courier New" panose="02070309020205020404" pitchFamily="49" charset="0"/>
                <a:cs typeface="Courier New" panose="02070309020205020404" pitchFamily="49" charset="0"/>
              </a:rPr>
              <a:t>}</a:t>
            </a:r>
          </a:p>
        </p:txBody>
      </p:sp>
      <p:sp>
        <p:nvSpPr>
          <p:cNvPr id="3" name="Date Placeholder 2"/>
          <p:cNvSpPr>
            <a:spLocks noGrp="1"/>
          </p:cNvSpPr>
          <p:nvPr>
            <p:ph type="dt" sz="half" idx="10"/>
          </p:nvPr>
        </p:nvSpPr>
        <p:spPr/>
        <p:txBody>
          <a:bodyPr/>
          <a:lstStyle/>
          <a:p>
            <a:pPr>
              <a:defRPr/>
            </a:pPr>
            <a:r>
              <a:rPr lang="en-US"/>
              <a:t>September 27, 2017</a:t>
            </a:r>
            <a:endParaRPr lang="en-US" dirty="0"/>
          </a:p>
        </p:txBody>
      </p:sp>
      <p:sp>
        <p:nvSpPr>
          <p:cNvPr id="6" name="Footer Placeholder 5"/>
          <p:cNvSpPr>
            <a:spLocks noGrp="1"/>
          </p:cNvSpPr>
          <p:nvPr>
            <p:ph type="ftr" sz="quarter" idx="12"/>
          </p:nvPr>
        </p:nvSpPr>
        <p:spPr bwMode="auto">
          <a:xfrm>
            <a:off x="4093930"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http://csg.csail.mit.edu/6.175</a:t>
            </a:r>
            <a:endParaRPr lang="en-US" dirty="0"/>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85" algn="l" rtl="0" fontAlgn="base">
              <a:spcBef>
                <a:spcPct val="0"/>
              </a:spcBef>
              <a:spcAft>
                <a:spcPct val="0"/>
              </a:spcAft>
              <a:defRPr sz="2667" kern="1200">
                <a:solidFill>
                  <a:schemeClr val="tx1"/>
                </a:solidFill>
                <a:latin typeface="Verdana" pitchFamily="34" charset="0"/>
                <a:ea typeface="+mn-ea"/>
                <a:cs typeface="+mn-cs"/>
              </a:defRPr>
            </a:lvl2pPr>
            <a:lvl3pPr marL="1219170" algn="l" rtl="0" fontAlgn="base">
              <a:spcBef>
                <a:spcPct val="0"/>
              </a:spcBef>
              <a:spcAft>
                <a:spcPct val="0"/>
              </a:spcAft>
              <a:defRPr sz="2667" kern="1200">
                <a:solidFill>
                  <a:schemeClr val="tx1"/>
                </a:solidFill>
                <a:latin typeface="Verdana" pitchFamily="34" charset="0"/>
                <a:ea typeface="+mn-ea"/>
                <a:cs typeface="+mn-cs"/>
              </a:defRPr>
            </a:lvl3pPr>
            <a:lvl4pPr marL="1828754" algn="l" rtl="0" fontAlgn="base">
              <a:spcBef>
                <a:spcPct val="0"/>
              </a:spcBef>
              <a:spcAft>
                <a:spcPct val="0"/>
              </a:spcAft>
              <a:defRPr sz="2667" kern="1200">
                <a:solidFill>
                  <a:schemeClr val="tx1"/>
                </a:solidFill>
                <a:latin typeface="Verdana" pitchFamily="34" charset="0"/>
                <a:ea typeface="+mn-ea"/>
                <a:cs typeface="+mn-cs"/>
              </a:defRPr>
            </a:lvl4pPr>
            <a:lvl5pPr marL="2438339" algn="l" rtl="0" fontAlgn="base">
              <a:spcBef>
                <a:spcPct val="0"/>
              </a:spcBef>
              <a:spcAft>
                <a:spcPct val="0"/>
              </a:spcAft>
              <a:defRPr sz="2667" kern="1200">
                <a:solidFill>
                  <a:schemeClr val="tx1"/>
                </a:solidFill>
                <a:latin typeface="Verdana" pitchFamily="34" charset="0"/>
                <a:ea typeface="+mn-ea"/>
                <a:cs typeface="+mn-cs"/>
              </a:defRPr>
            </a:lvl5pPr>
            <a:lvl6pPr marL="3047924" algn="l" defTabSz="1219170" rtl="0" eaLnBrk="1" latinLnBrk="0" hangingPunct="1">
              <a:defRPr sz="2667" kern="1200">
                <a:solidFill>
                  <a:schemeClr val="tx1"/>
                </a:solidFill>
                <a:latin typeface="Verdana" pitchFamily="34" charset="0"/>
                <a:ea typeface="+mn-ea"/>
                <a:cs typeface="+mn-cs"/>
              </a:defRPr>
            </a:lvl6pPr>
            <a:lvl7pPr marL="3657509" algn="l" defTabSz="1219170" rtl="0" eaLnBrk="1" latinLnBrk="0" hangingPunct="1">
              <a:defRPr sz="2667" kern="1200">
                <a:solidFill>
                  <a:schemeClr val="tx1"/>
                </a:solidFill>
                <a:latin typeface="Verdana" pitchFamily="34" charset="0"/>
                <a:ea typeface="+mn-ea"/>
                <a:cs typeface="+mn-cs"/>
              </a:defRPr>
            </a:lvl7pPr>
            <a:lvl8pPr marL="4267093" algn="l" defTabSz="1219170" rtl="0" eaLnBrk="1" latinLnBrk="0" hangingPunct="1">
              <a:defRPr sz="2667" kern="1200">
                <a:solidFill>
                  <a:schemeClr val="tx1"/>
                </a:solidFill>
                <a:latin typeface="Verdana" pitchFamily="34" charset="0"/>
                <a:ea typeface="+mn-ea"/>
                <a:cs typeface="+mn-cs"/>
              </a:defRPr>
            </a:lvl8pPr>
            <a:lvl9pPr marL="4876678" algn="l" defTabSz="1219170" rtl="0" eaLnBrk="1" latinLnBrk="0" hangingPunct="1">
              <a:defRPr sz="2667" kern="1200">
                <a:solidFill>
                  <a:schemeClr val="tx1"/>
                </a:solidFill>
                <a:latin typeface="Verdana" pitchFamily="34" charset="0"/>
                <a:ea typeface="+mn-ea"/>
                <a:cs typeface="+mn-cs"/>
              </a:defRPr>
            </a:lvl9pPr>
          </a:lstStyle>
          <a:p>
            <a:pPr>
              <a:defRPr/>
            </a:pPr>
            <a:r>
              <a:rPr lang="en-US"/>
              <a:t>L09-</a:t>
            </a:r>
            <a:fld id="{D02EE386-C9BD-4FB7-9577-6096B5320EC4}" type="slidenum">
              <a:rPr lang="en-US" smtClean="0"/>
              <a:pPr>
                <a:defRPr/>
              </a:pPr>
              <a:t>65</a:t>
            </a:fld>
            <a:endParaRPr lang="en-US" dirty="0"/>
          </a:p>
        </p:txBody>
      </p:sp>
    </p:spTree>
    <p:extLst>
      <p:ext uri="{BB962C8B-B14F-4D97-AF65-F5344CB8AC3E}">
        <p14:creationId xmlns:p14="http://schemas.microsoft.com/office/powerpoint/2010/main" val="37215798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Instruction Set Design Issues</a:t>
            </a:r>
          </a:p>
        </p:txBody>
      </p:sp>
      <p:sp>
        <p:nvSpPr>
          <p:cNvPr id="3" name="Content Placeholder 2"/>
          <p:cNvSpPr>
            <a:spLocks noGrp="1"/>
          </p:cNvSpPr>
          <p:nvPr>
            <p:ph idx="1"/>
          </p:nvPr>
        </p:nvSpPr>
        <p:spPr>
          <a:xfrm>
            <a:off x="223736" y="1049919"/>
            <a:ext cx="11729081" cy="5190861"/>
          </a:xfrm>
        </p:spPr>
        <p:txBody>
          <a:bodyPr>
            <a:noAutofit/>
          </a:bodyPr>
          <a:lstStyle/>
          <a:p>
            <a:r>
              <a:rPr lang="en-US" sz="2800" b="1" dirty="0">
                <a:solidFill>
                  <a:schemeClr val="accent1"/>
                </a:solidFill>
              </a:rPr>
              <a:t>Some questions for you to keep in mind. We will revisit them </a:t>
            </a:r>
          </a:p>
          <a:p>
            <a:pPr marL="0" indent="0">
              <a:buNone/>
            </a:pPr>
            <a:r>
              <a:rPr lang="en-US" sz="2800" b="1" dirty="0">
                <a:solidFill>
                  <a:schemeClr val="accent1"/>
                </a:solidFill>
              </a:rPr>
              <a:t>	after Chapter 4 (Data Path implementation)</a:t>
            </a:r>
          </a:p>
          <a:p>
            <a:pPr lvl="1"/>
            <a:r>
              <a:rPr lang="en-US" sz="2800" b="1" dirty="0">
                <a:solidFill>
                  <a:schemeClr val="accent1"/>
                </a:solidFill>
              </a:rPr>
              <a:t>Should we have 1024 general-purpose registers in the ISA?</a:t>
            </a:r>
          </a:p>
          <a:p>
            <a:pPr lvl="1"/>
            <a:r>
              <a:rPr lang="en-US" sz="2800" b="1" dirty="0">
                <a:solidFill>
                  <a:schemeClr val="accent1"/>
                </a:solidFill>
              </a:rPr>
              <a:t>Should we use Compare and Branch or Condition-Code-based branches?</a:t>
            </a:r>
          </a:p>
          <a:p>
            <a:pPr lvl="1"/>
            <a:r>
              <a:rPr lang="en-US" sz="2800" b="1" dirty="0">
                <a:solidFill>
                  <a:schemeClr val="accent1"/>
                </a:solidFill>
              </a:rPr>
              <a:t>Should we support fast procedure calls with a single instruction?</a:t>
            </a:r>
          </a:p>
          <a:p>
            <a:pPr lvl="1"/>
            <a:r>
              <a:rPr lang="en-US" sz="2800" b="1" dirty="0">
                <a:solidFill>
                  <a:schemeClr val="accent1"/>
                </a:solidFill>
              </a:rPr>
              <a:t>Should we support 3-operand or 4-operand instruction formats?</a:t>
            </a:r>
          </a:p>
          <a:p>
            <a:pPr lvl="1"/>
            <a:r>
              <a:rPr lang="en-US" sz="2800" b="1" dirty="0">
                <a:solidFill>
                  <a:schemeClr val="accent1"/>
                </a:solidFill>
              </a:rPr>
              <a:t>Should we adopt register pairs to handle wider data requirements?</a:t>
            </a:r>
          </a:p>
          <a:p>
            <a:pPr lvl="1"/>
            <a:r>
              <a:rPr lang="en-US" sz="2800" b="1" dirty="0">
                <a:solidFill>
                  <a:schemeClr val="accent1"/>
                </a:solidFill>
              </a:rPr>
              <a:t>Should we support post-increment memory loads?</a:t>
            </a:r>
          </a:p>
          <a:p>
            <a:pPr lvl="1"/>
            <a:r>
              <a:rPr lang="en-US" sz="2800" b="1" dirty="0">
                <a:solidFill>
                  <a:schemeClr val="accent1"/>
                </a:solidFill>
              </a:rPr>
              <a:t>Should we support a dedicated bit for static branch prediction?</a:t>
            </a:r>
          </a:p>
          <a:p>
            <a:pPr lvl="1"/>
            <a:r>
              <a:rPr lang="en-US" sz="2800" b="1" dirty="0">
                <a:solidFill>
                  <a:schemeClr val="accent1"/>
                </a:solidFill>
              </a:rPr>
              <a:t>…..</a:t>
            </a:r>
          </a:p>
          <a:p>
            <a:pPr lvl="1"/>
            <a:endParaRPr lang="en-US" sz="2400" b="1" dirty="0">
              <a:solidFill>
                <a:schemeClr val="accent1"/>
              </a:solidFill>
            </a:endParaRPr>
          </a:p>
          <a:p>
            <a:pPr lvl="1"/>
            <a:endParaRPr lang="en-US" sz="2400" b="1" dirty="0">
              <a:solidFill>
                <a:schemeClr val="accent1"/>
              </a:solidFill>
            </a:endParaRPr>
          </a:p>
          <a:p>
            <a:pPr lvl="1"/>
            <a:endParaRPr lang="en-US" sz="2400" b="1" dirty="0">
              <a:solidFill>
                <a:schemeClr val="accent1"/>
              </a:solidFill>
            </a:endParaRPr>
          </a:p>
        </p:txBody>
      </p:sp>
      <p:sp>
        <p:nvSpPr>
          <p:cNvPr id="6" name="灯片编号占位符 5"/>
          <p:cNvSpPr>
            <a:spLocks noGrp="1"/>
          </p:cNvSpPr>
          <p:nvPr>
            <p:ph type="sldNum" sz="quarter" idx="10"/>
          </p:nvPr>
        </p:nvSpPr>
        <p:spPr/>
        <p:txBody>
          <a:bodyPr/>
          <a:lstStyle/>
          <a:p>
            <a:fld id="{D9B6BDF2-6896-4B98-8776-C18582F63BA5}" type="slidenum">
              <a:rPr lang="zh-TW" altLang="en-US" smtClean="0"/>
              <a:t>66</a:t>
            </a:fld>
            <a:endParaRPr lang="zh-TW" altLang="en-US"/>
          </a:p>
        </p:txBody>
      </p:sp>
    </p:spTree>
    <p:extLst>
      <p:ext uri="{BB962C8B-B14F-4D97-AF65-F5344CB8AC3E}">
        <p14:creationId xmlns:p14="http://schemas.microsoft.com/office/powerpoint/2010/main" val="2578337791"/>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32207</TotalTime>
  <Words>9040</Words>
  <Application>Microsoft Office PowerPoint</Application>
  <PresentationFormat>Widescreen</PresentationFormat>
  <Paragraphs>1448</Paragraphs>
  <Slides>66</Slides>
  <Notes>35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66</vt:i4>
      </vt:variant>
    </vt:vector>
  </HeadingPairs>
  <TitlesOfParts>
    <vt:vector size="79" baseType="lpstr">
      <vt:lpstr>MS Sans Serif</vt:lpstr>
      <vt:lpstr>华文楷体</vt:lpstr>
      <vt:lpstr>Arial</vt:lpstr>
      <vt:lpstr>Calibri</vt:lpstr>
      <vt:lpstr>Calibri Light</vt:lpstr>
      <vt:lpstr>Cambria Math</vt:lpstr>
      <vt:lpstr>Comic Sans MS</vt:lpstr>
      <vt:lpstr>Courier New</vt:lpstr>
      <vt:lpstr>Times New Roman</vt:lpstr>
      <vt:lpstr>Verdana</vt:lpstr>
      <vt:lpstr>Wingdings</vt:lpstr>
      <vt:lpstr>NTHU UniCloud</vt:lpstr>
      <vt:lpstr>自訂設計</vt:lpstr>
      <vt:lpstr>CSC3050 – Computer Architecture  RISC-V Instruction Set Architecture  </vt:lpstr>
      <vt:lpstr>Assembly Language Instructions</vt:lpstr>
      <vt:lpstr>CISC vs. RISC</vt:lpstr>
      <vt:lpstr>RISC – Reduced Instruction Set Computer</vt:lpstr>
      <vt:lpstr>RISC – Reduced Instruction Set Computer</vt:lpstr>
      <vt:lpstr>CISC vs. RISC</vt:lpstr>
      <vt:lpstr>Some RISC Design Principles</vt:lpstr>
      <vt:lpstr>RISC-V</vt:lpstr>
      <vt:lpstr>RV32I Register State (Architecture State)</vt:lpstr>
      <vt:lpstr>X0 is always zero</vt:lpstr>
      <vt:lpstr>Instruction Types (based on functionality)</vt:lpstr>
      <vt:lpstr>Instruction Types (based on format)</vt:lpstr>
      <vt:lpstr>Instruction Formats (R-type)</vt:lpstr>
      <vt:lpstr>ALU Instructions (R) </vt:lpstr>
      <vt:lpstr>Instruction Formats (I-type)</vt:lpstr>
      <vt:lpstr>ALU  Instructions (I)</vt:lpstr>
      <vt:lpstr>Load Instructions (I)</vt:lpstr>
      <vt:lpstr>Load Instructions (I)</vt:lpstr>
      <vt:lpstr>Instruction Formats (S-type)</vt:lpstr>
      <vt:lpstr>Store Instructions (S)</vt:lpstr>
      <vt:lpstr>Store Instructions (S)</vt:lpstr>
      <vt:lpstr>Pop Quiz</vt:lpstr>
      <vt:lpstr>Pop Quiz</vt:lpstr>
      <vt:lpstr>Data Alignment </vt:lpstr>
      <vt:lpstr>Data Alignment Avoids Boundary Crossing</vt:lpstr>
      <vt:lpstr>Three Operand Instruction Format </vt:lpstr>
      <vt:lpstr>Fused-Multiply-Add (FMA) instruction</vt:lpstr>
      <vt:lpstr>Logical/Shift Operations in RISC-V</vt:lpstr>
      <vt:lpstr>SRL (logic) or SRA (arithmetic) ?</vt:lpstr>
      <vt:lpstr>Masked Operations</vt:lpstr>
      <vt:lpstr>Instruction Formats SB, U, J  </vt:lpstr>
      <vt:lpstr>Branch Instructions (SB)</vt:lpstr>
      <vt:lpstr>PC-relative Addressing</vt:lpstr>
      <vt:lpstr>Scaling Branch Offsets</vt:lpstr>
      <vt:lpstr>Branch Instruction</vt:lpstr>
      <vt:lpstr>Why Different Immediate Encoding in S and B </vt:lpstr>
      <vt:lpstr>What if the branch target is &gt; 〖"±" 2〗^10  </vt:lpstr>
      <vt:lpstr>LUI and AUIPC Instructions</vt:lpstr>
      <vt:lpstr>How to load a 32b const into a register?</vt:lpstr>
      <vt:lpstr>Corner case (when the 12b is &gt; 0x800)</vt:lpstr>
      <vt:lpstr>PowerPoint Presentation</vt:lpstr>
      <vt:lpstr>PowerPoint Presentation</vt:lpstr>
      <vt:lpstr>PowerPoint Presentation</vt:lpstr>
      <vt:lpstr>PowerPoint Presentation</vt:lpstr>
      <vt:lpstr>Jump Instructions</vt:lpstr>
      <vt:lpstr>Why Different Immediate Encoding in U and J </vt:lpstr>
      <vt:lpstr>PowerPoint Presentation</vt:lpstr>
      <vt:lpstr>PowerPoint Presentation</vt:lpstr>
      <vt:lpstr>PowerPoint Presentation</vt:lpstr>
      <vt:lpstr>More About Branches </vt:lpstr>
      <vt:lpstr>Instructions to Read and Write CSR</vt:lpstr>
      <vt:lpstr>Summary of RISC-V Instruction Format</vt:lpstr>
      <vt:lpstr>Assembly Code VS Binary</vt:lpstr>
      <vt:lpstr>GCD in C</vt:lpstr>
      <vt:lpstr>GCD in RV Assembly Language</vt:lpstr>
      <vt:lpstr>Application Binary Interface (ABI)</vt:lpstr>
      <vt:lpstr>Mapping between Physical Reg to ABI Reg</vt:lpstr>
      <vt:lpstr>Mapping between Physical Reg to ABI Reg</vt:lpstr>
      <vt:lpstr>Calling GCD (Using the ABI)</vt:lpstr>
      <vt:lpstr>GCD in RISC-V Assembler Using the ABI</vt:lpstr>
      <vt:lpstr>Multiply</vt:lpstr>
      <vt:lpstr>Exception handling </vt:lpstr>
      <vt:lpstr>Software for interrupt handling</vt:lpstr>
      <vt:lpstr>Common Interrupt Handler- SW (1)</vt:lpstr>
      <vt:lpstr>Illegal Instruction IH (in C)</vt:lpstr>
      <vt:lpstr>Instruction Set Design Issues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292</cp:revision>
  <dcterms:created xsi:type="dcterms:W3CDTF">2020-07-15T11:13:39Z</dcterms:created>
  <dcterms:modified xsi:type="dcterms:W3CDTF">2025-02-19T07:06:36Z</dcterms:modified>
</cp:coreProperties>
</file>