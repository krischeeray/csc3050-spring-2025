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handoutMasterIdLst>
    <p:handoutMasterId r:id="rId28"/>
  </p:handoutMasterIdLst>
  <p:sldIdLst>
    <p:sldId id="295" r:id="rId2"/>
    <p:sldId id="378" r:id="rId3"/>
    <p:sldId id="404" r:id="rId4"/>
    <p:sldId id="405" r:id="rId5"/>
    <p:sldId id="403" r:id="rId6"/>
    <p:sldId id="406" r:id="rId7"/>
    <p:sldId id="407" r:id="rId8"/>
    <p:sldId id="401" r:id="rId9"/>
    <p:sldId id="412" r:id="rId10"/>
    <p:sldId id="408" r:id="rId11"/>
    <p:sldId id="409" r:id="rId12"/>
    <p:sldId id="410" r:id="rId13"/>
    <p:sldId id="411" r:id="rId14"/>
    <p:sldId id="379" r:id="rId15"/>
    <p:sldId id="380" r:id="rId16"/>
    <p:sldId id="381" r:id="rId17"/>
    <p:sldId id="382" r:id="rId18"/>
    <p:sldId id="383" r:id="rId19"/>
    <p:sldId id="384" r:id="rId20"/>
    <p:sldId id="394" r:id="rId21"/>
    <p:sldId id="386" r:id="rId22"/>
    <p:sldId id="388" r:id="rId23"/>
    <p:sldId id="399" r:id="rId24"/>
    <p:sldId id="400" r:id="rId25"/>
    <p:sldId id="413" r:id="rId26"/>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907">
          <p15:clr>
            <a:srgbClr val="A4A3A4"/>
          </p15:clr>
        </p15:guide>
        <p15:guide id="3" orient="horz" pos="16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73632"/>
    <a:srgbClr val="4F81BD"/>
    <a:srgbClr val="46ACC8"/>
    <a:srgbClr val="633869"/>
    <a:srgbClr val="0000FF"/>
    <a:srgbClr val="8064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3" autoAdjust="0"/>
    <p:restoredTop sz="96197"/>
  </p:normalViewPr>
  <p:slideViewPr>
    <p:cSldViewPr snapToGrid="0">
      <p:cViewPr varScale="1">
        <p:scale>
          <a:sx n="134" d="100"/>
          <a:sy n="134" d="100"/>
        </p:scale>
        <p:origin x="810" y="-336"/>
      </p:cViewPr>
      <p:guideLst>
        <p:guide orient="horz" pos="2160"/>
        <p:guide pos="2907"/>
        <p:guide orient="horz" pos="162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65" d="100"/>
          <a:sy n="65" d="100"/>
        </p:scale>
        <p:origin x="3082"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of. Wang Fangxin (SSE)" userId="ce1f3ee1-525b-4f0b-8f12-bc5b2dd7d371" providerId="ADAL" clId="{072444D5-B6E1-794C-B782-80CEB355B39B}"/>
    <pc:docChg chg="undo custSel addSld modSld">
      <pc:chgData name="Prof. Wang Fangxin (SSE)" userId="ce1f3ee1-525b-4f0b-8f12-bc5b2dd7d371" providerId="ADAL" clId="{072444D5-B6E1-794C-B782-80CEB355B39B}" dt="2023-01-04T10:36:32.720" v="702" actId="20577"/>
      <pc:docMkLst>
        <pc:docMk/>
      </pc:docMkLst>
      <pc:sldChg chg="modSp mod">
        <pc:chgData name="Prof. Wang Fangxin (SSE)" userId="ce1f3ee1-525b-4f0b-8f12-bc5b2dd7d371" providerId="ADAL" clId="{072444D5-B6E1-794C-B782-80CEB355B39B}" dt="2023-01-04T10:36:26.792" v="695" actId="20577"/>
        <pc:sldMkLst>
          <pc:docMk/>
          <pc:sldMk cId="0" sldId="296"/>
        </pc:sldMkLst>
        <pc:spChg chg="mod">
          <ac:chgData name="Prof. Wang Fangxin (SSE)" userId="ce1f3ee1-525b-4f0b-8f12-bc5b2dd7d371" providerId="ADAL" clId="{072444D5-B6E1-794C-B782-80CEB355B39B}" dt="2023-01-04T10:36:06.733" v="685" actId="20577"/>
          <ac:spMkLst>
            <pc:docMk/>
            <pc:sldMk cId="0" sldId="296"/>
            <ac:spMk id="3" creationId="{00000000-0000-0000-0000-000000000000}"/>
          </ac:spMkLst>
        </pc:spChg>
        <pc:spChg chg="mod">
          <ac:chgData name="Prof. Wang Fangxin (SSE)" userId="ce1f3ee1-525b-4f0b-8f12-bc5b2dd7d371" providerId="ADAL" clId="{072444D5-B6E1-794C-B782-80CEB355B39B}" dt="2023-01-04T10:36:26.792" v="695" actId="20577"/>
          <ac:spMkLst>
            <pc:docMk/>
            <pc:sldMk cId="0" sldId="296"/>
            <ac:spMk id="6" creationId="{00000000-0000-0000-0000-000000000000}"/>
          </ac:spMkLst>
        </pc:spChg>
      </pc:sldChg>
      <pc:sldChg chg="modSp mod">
        <pc:chgData name="Prof. Wang Fangxin (SSE)" userId="ce1f3ee1-525b-4f0b-8f12-bc5b2dd7d371" providerId="ADAL" clId="{072444D5-B6E1-794C-B782-80CEB355B39B}" dt="2023-01-04T10:27:49.456" v="356" actId="20577"/>
        <pc:sldMkLst>
          <pc:docMk/>
          <pc:sldMk cId="0" sldId="299"/>
        </pc:sldMkLst>
        <pc:spChg chg="mod">
          <ac:chgData name="Prof. Wang Fangxin (SSE)" userId="ce1f3ee1-525b-4f0b-8f12-bc5b2dd7d371" providerId="ADAL" clId="{072444D5-B6E1-794C-B782-80CEB355B39B}" dt="2023-01-04T10:27:49.456" v="356" actId="20577"/>
          <ac:spMkLst>
            <pc:docMk/>
            <pc:sldMk cId="0" sldId="299"/>
            <ac:spMk id="3" creationId="{00000000-0000-0000-0000-000000000000}"/>
          </ac:spMkLst>
        </pc:spChg>
      </pc:sldChg>
      <pc:sldChg chg="modSp mod">
        <pc:chgData name="Prof. Wang Fangxin (SSE)" userId="ce1f3ee1-525b-4f0b-8f12-bc5b2dd7d371" providerId="ADAL" clId="{072444D5-B6E1-794C-B782-80CEB355B39B}" dt="2023-01-04T10:24:58.830" v="335" actId="20577"/>
        <pc:sldMkLst>
          <pc:docMk/>
          <pc:sldMk cId="0" sldId="391"/>
        </pc:sldMkLst>
        <pc:spChg chg="mod">
          <ac:chgData name="Prof. Wang Fangxin (SSE)" userId="ce1f3ee1-525b-4f0b-8f12-bc5b2dd7d371" providerId="ADAL" clId="{072444D5-B6E1-794C-B782-80CEB355B39B}" dt="2023-01-04T10:24:58.830" v="335" actId="20577"/>
          <ac:spMkLst>
            <pc:docMk/>
            <pc:sldMk cId="0" sldId="391"/>
            <ac:spMk id="6" creationId="{00000000-0000-0000-0000-000000000000}"/>
          </ac:spMkLst>
        </pc:spChg>
      </pc:sldChg>
      <pc:sldChg chg="modSp add mod">
        <pc:chgData name="Prof. Wang Fangxin (SSE)" userId="ce1f3ee1-525b-4f0b-8f12-bc5b2dd7d371" providerId="ADAL" clId="{072444D5-B6E1-794C-B782-80CEB355B39B}" dt="2023-01-04T10:36:32.720" v="702" actId="20577"/>
        <pc:sldMkLst>
          <pc:docMk/>
          <pc:sldMk cId="2341894575" sldId="447"/>
        </pc:sldMkLst>
        <pc:spChg chg="mod">
          <ac:chgData name="Prof. Wang Fangxin (SSE)" userId="ce1f3ee1-525b-4f0b-8f12-bc5b2dd7d371" providerId="ADAL" clId="{072444D5-B6E1-794C-B782-80CEB355B39B}" dt="2023-01-04T10:32:31.287" v="384" actId="20577"/>
          <ac:spMkLst>
            <pc:docMk/>
            <pc:sldMk cId="2341894575" sldId="447"/>
            <ac:spMk id="3" creationId="{00000000-0000-0000-0000-000000000000}"/>
          </ac:spMkLst>
        </pc:spChg>
        <pc:spChg chg="mod">
          <ac:chgData name="Prof. Wang Fangxin (SSE)" userId="ce1f3ee1-525b-4f0b-8f12-bc5b2dd7d371" providerId="ADAL" clId="{072444D5-B6E1-794C-B782-80CEB355B39B}" dt="2023-01-04T10:36:32.720" v="702" actId="20577"/>
          <ac:spMkLst>
            <pc:docMk/>
            <pc:sldMk cId="2341894575" sldId="447"/>
            <ac:spMk id="6" creationId="{00000000-0000-0000-0000-000000000000}"/>
          </ac:spMkLst>
        </pc:spChg>
      </pc:sldChg>
    </pc:docChg>
  </pc:docChgLst>
  <pc:docChgLst>
    <pc:chgData name="Prof. Wang Fangxin (SSE)" userId="ce1f3ee1-525b-4f0b-8f12-bc5b2dd7d371" providerId="ADAL" clId="{56731C7C-97E0-41C3-86F4-ADF8CE8A2053}"/>
    <pc:docChg chg="undo custSel delSld modSld sldOrd">
      <pc:chgData name="Prof. Wang Fangxin (SSE)" userId="ce1f3ee1-525b-4f0b-8f12-bc5b2dd7d371" providerId="ADAL" clId="{56731C7C-97E0-41C3-86F4-ADF8CE8A2053}" dt="2022-01-10T06:59:30.151" v="590" actId="2696"/>
      <pc:docMkLst>
        <pc:docMk/>
      </pc:docMkLst>
      <pc:sldChg chg="modSp">
        <pc:chgData name="Prof. Wang Fangxin (SSE)" userId="ce1f3ee1-525b-4f0b-8f12-bc5b2dd7d371" providerId="ADAL" clId="{56731C7C-97E0-41C3-86F4-ADF8CE8A2053}" dt="2022-01-10T06:28:47.372" v="1" actId="27636"/>
        <pc:sldMkLst>
          <pc:docMk/>
          <pc:sldMk cId="0" sldId="262"/>
        </pc:sldMkLst>
        <pc:spChg chg="mod">
          <ac:chgData name="Prof. Wang Fangxin (SSE)" userId="ce1f3ee1-525b-4f0b-8f12-bc5b2dd7d371" providerId="ADAL" clId="{56731C7C-97E0-41C3-86F4-ADF8CE8A2053}" dt="2022-01-10T06:28:47.372" v="1" actId="27636"/>
          <ac:spMkLst>
            <pc:docMk/>
            <pc:sldMk cId="0" sldId="262"/>
            <ac:spMk id="3" creationId="{00000000-0000-0000-0000-000000000000}"/>
          </ac:spMkLst>
        </pc:spChg>
      </pc:sldChg>
      <pc:sldChg chg="del">
        <pc:chgData name="Prof. Wang Fangxin (SSE)" userId="ce1f3ee1-525b-4f0b-8f12-bc5b2dd7d371" providerId="ADAL" clId="{56731C7C-97E0-41C3-86F4-ADF8CE8A2053}" dt="2022-01-10T06:59:30.151" v="590" actId="2696"/>
        <pc:sldMkLst>
          <pc:docMk/>
          <pc:sldMk cId="0" sldId="272"/>
        </pc:sldMkLst>
      </pc:sldChg>
      <pc:sldChg chg="addSp modSp">
        <pc:chgData name="Prof. Wang Fangxin (SSE)" userId="ce1f3ee1-525b-4f0b-8f12-bc5b2dd7d371" providerId="ADAL" clId="{56731C7C-97E0-41C3-86F4-ADF8CE8A2053}" dt="2022-01-10T06:30:29.070" v="33" actId="1076"/>
        <pc:sldMkLst>
          <pc:docMk/>
          <pc:sldMk cId="0" sldId="295"/>
        </pc:sldMkLst>
        <pc:spChg chg="add mod">
          <ac:chgData name="Prof. Wang Fangxin (SSE)" userId="ce1f3ee1-525b-4f0b-8f12-bc5b2dd7d371" providerId="ADAL" clId="{56731C7C-97E0-41C3-86F4-ADF8CE8A2053}" dt="2022-01-10T06:30:29.070" v="33" actId="1076"/>
          <ac:spMkLst>
            <pc:docMk/>
            <pc:sldMk cId="0" sldId="295"/>
            <ac:spMk id="4" creationId="{5E4FC43E-652B-47EE-A940-42294AB0E172}"/>
          </ac:spMkLst>
        </pc:spChg>
      </pc:sldChg>
      <pc:sldChg chg="modSp">
        <pc:chgData name="Prof. Wang Fangxin (SSE)" userId="ce1f3ee1-525b-4f0b-8f12-bc5b2dd7d371" providerId="ADAL" clId="{56731C7C-97E0-41C3-86F4-ADF8CE8A2053}" dt="2022-01-10T06:51:11.053" v="586" actId="404"/>
        <pc:sldMkLst>
          <pc:docMk/>
          <pc:sldMk cId="0" sldId="296"/>
        </pc:sldMkLst>
        <pc:spChg chg="mod">
          <ac:chgData name="Prof. Wang Fangxin (SSE)" userId="ce1f3ee1-525b-4f0b-8f12-bc5b2dd7d371" providerId="ADAL" clId="{56731C7C-97E0-41C3-86F4-ADF8CE8A2053}" dt="2022-01-10T06:51:11.053" v="586" actId="404"/>
          <ac:spMkLst>
            <pc:docMk/>
            <pc:sldMk cId="0" sldId="296"/>
            <ac:spMk id="3" creationId="{00000000-0000-0000-0000-000000000000}"/>
          </ac:spMkLst>
        </pc:spChg>
      </pc:sldChg>
      <pc:sldChg chg="modSp">
        <pc:chgData name="Prof. Wang Fangxin (SSE)" userId="ce1f3ee1-525b-4f0b-8f12-bc5b2dd7d371" providerId="ADAL" clId="{56731C7C-97E0-41C3-86F4-ADF8CE8A2053}" dt="2022-01-10T06:44:19.141" v="478" actId="207"/>
        <pc:sldMkLst>
          <pc:docMk/>
          <pc:sldMk cId="0" sldId="299"/>
        </pc:sldMkLst>
        <pc:spChg chg="mod">
          <ac:chgData name="Prof. Wang Fangxin (SSE)" userId="ce1f3ee1-525b-4f0b-8f12-bc5b2dd7d371" providerId="ADAL" clId="{56731C7C-97E0-41C3-86F4-ADF8CE8A2053}" dt="2022-01-10T06:44:19.141" v="478" actId="207"/>
          <ac:spMkLst>
            <pc:docMk/>
            <pc:sldMk cId="0" sldId="299"/>
            <ac:spMk id="3" creationId="{00000000-0000-0000-0000-000000000000}"/>
          </ac:spMkLst>
        </pc:spChg>
      </pc:sldChg>
      <pc:sldChg chg="modSp ord">
        <pc:chgData name="Prof. Wang Fangxin (SSE)" userId="ce1f3ee1-525b-4f0b-8f12-bc5b2dd7d371" providerId="ADAL" clId="{56731C7C-97E0-41C3-86F4-ADF8CE8A2053}" dt="2022-01-10T06:48:53.068" v="570" actId="207"/>
        <pc:sldMkLst>
          <pc:docMk/>
          <pc:sldMk cId="0" sldId="301"/>
        </pc:sldMkLst>
        <pc:spChg chg="mod">
          <ac:chgData name="Prof. Wang Fangxin (SSE)" userId="ce1f3ee1-525b-4f0b-8f12-bc5b2dd7d371" providerId="ADAL" clId="{56731C7C-97E0-41C3-86F4-ADF8CE8A2053}" dt="2022-01-10T06:48:53.068" v="570" actId="207"/>
          <ac:spMkLst>
            <pc:docMk/>
            <pc:sldMk cId="0" sldId="301"/>
            <ac:spMk id="3" creationId="{00000000-0000-0000-0000-000000000000}"/>
          </ac:spMkLst>
        </pc:spChg>
      </pc:sldChg>
      <pc:sldChg chg="modSp">
        <pc:chgData name="Prof. Wang Fangxin (SSE)" userId="ce1f3ee1-525b-4f0b-8f12-bc5b2dd7d371" providerId="ADAL" clId="{56731C7C-97E0-41C3-86F4-ADF8CE8A2053}" dt="2022-01-10T06:51:17.850" v="588" actId="404"/>
        <pc:sldMkLst>
          <pc:docMk/>
          <pc:sldMk cId="0" sldId="391"/>
        </pc:sldMkLst>
        <pc:spChg chg="mod">
          <ac:chgData name="Prof. Wang Fangxin (SSE)" userId="ce1f3ee1-525b-4f0b-8f12-bc5b2dd7d371" providerId="ADAL" clId="{56731C7C-97E0-41C3-86F4-ADF8CE8A2053}" dt="2022-01-10T06:51:17.850" v="588" actId="404"/>
          <ac:spMkLst>
            <pc:docMk/>
            <pc:sldMk cId="0" sldId="391"/>
            <ac:spMk id="6" creationId="{00000000-0000-0000-0000-000000000000}"/>
          </ac:spMkLst>
        </pc:spChg>
      </pc:sldChg>
      <pc:sldChg chg="modSp del">
        <pc:chgData name="Prof. Wang Fangxin (SSE)" userId="ce1f3ee1-525b-4f0b-8f12-bc5b2dd7d371" providerId="ADAL" clId="{56731C7C-97E0-41C3-86F4-ADF8CE8A2053}" dt="2022-01-10T06:51:27.305" v="589" actId="2696"/>
        <pc:sldMkLst>
          <pc:docMk/>
          <pc:sldMk cId="0" sldId="392"/>
        </pc:sldMkLst>
        <pc:spChg chg="mod">
          <ac:chgData name="Prof. Wang Fangxin (SSE)" userId="ce1f3ee1-525b-4f0b-8f12-bc5b2dd7d371" providerId="ADAL" clId="{56731C7C-97E0-41C3-86F4-ADF8CE8A2053}" dt="2022-01-10T06:41:58.169" v="400" actId="20577"/>
          <ac:spMkLst>
            <pc:docMk/>
            <pc:sldMk cId="0" sldId="392"/>
            <ac:spMk id="6" creationId="{00000000-0000-0000-0000-000000000000}"/>
          </ac:spMkLst>
        </pc:spChg>
      </pc:sldChg>
      <pc:sldChg chg="modSp">
        <pc:chgData name="Prof. Wang Fangxin (SSE)" userId="ce1f3ee1-525b-4f0b-8f12-bc5b2dd7d371" providerId="ADAL" clId="{56731C7C-97E0-41C3-86F4-ADF8CE8A2053}" dt="2022-01-10T06:45:25" v="501" actId="20577"/>
        <pc:sldMkLst>
          <pc:docMk/>
          <pc:sldMk cId="0" sldId="445"/>
        </pc:sldMkLst>
        <pc:spChg chg="mod">
          <ac:chgData name="Prof. Wang Fangxin (SSE)" userId="ce1f3ee1-525b-4f0b-8f12-bc5b2dd7d371" providerId="ADAL" clId="{56731C7C-97E0-41C3-86F4-ADF8CE8A2053}" dt="2022-01-10T06:45:25" v="501" actId="20577"/>
          <ac:spMkLst>
            <pc:docMk/>
            <pc:sldMk cId="0" sldId="445"/>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BDCE37-E9BE-4280-8D68-34E43D66CEDB}" type="datetimeFigureOut">
              <a:rPr lang="zh-TW" altLang="en-US" smtClean="0"/>
              <a:t>2025/2/24</a:t>
            </a:fld>
            <a:endParaRPr lang="zh-TW"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BED679-6CF9-4493-8C9A-6F31F985AAEA}" type="slidenum">
              <a:rPr lang="zh-TW" altLang="en-US" smtClean="0"/>
              <a:t>‹#›</a:t>
            </a:fld>
            <a:endParaRPr lang="zh-TW"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BA883-381C-409E-9635-BB54B21745E4}" type="datetimeFigureOut">
              <a:rPr lang="zh-TW" altLang="en-US" smtClean="0"/>
              <a:t>2025/2/24</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6C40E4-B9C8-417B-AB00-3BF7F8038A2D}" type="slidenum">
              <a:rPr lang="zh-TW" altLang="en-US" smtClean="0"/>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Convention is different from regulation, which is often enforced by ….</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6</a:t>
            </a:fld>
            <a:endParaRPr lang="zh-TW" altLang="en-US"/>
          </a:p>
        </p:txBody>
      </p:sp>
    </p:spTree>
    <p:extLst>
      <p:ext uri="{BB962C8B-B14F-4D97-AF65-F5344CB8AC3E}">
        <p14:creationId xmlns:p14="http://schemas.microsoft.com/office/powerpoint/2010/main" val="15276005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1pPr>
              <a:buClr>
                <a:srgbClr val="8064A2"/>
              </a:buClr>
              <a:defRPr sz="2400"/>
            </a:lvl1pPr>
            <a:lvl2pPr>
              <a:buClr>
                <a:srgbClr val="8064A2"/>
              </a:buClr>
              <a:defRPr sz="2000"/>
            </a:lvl2pPr>
            <a:lvl3pPr>
              <a:defRPr sz="1800">
                <a:latin typeface="Calibri" panose="020F07020304040A0204" pitchFamily="34" charset="0"/>
                <a:ea typeface="標楷體" pitchFamily="65" charset="-120"/>
                <a:cs typeface="Calibri" panose="020F07020304040A0204" pitchFamily="34" charset="0"/>
              </a:defRPr>
            </a:lvl3pPr>
            <a:lvl4pPr>
              <a:defRPr sz="1600">
                <a:latin typeface="Calibri" panose="020F07020304040A0204" pitchFamily="34" charset="0"/>
                <a:ea typeface="標楷體" pitchFamily="65" charset="-120"/>
                <a:cs typeface="Calibri" panose="020F07020304040A0204" pitchFamily="34" charset="0"/>
              </a:defRPr>
            </a:lvl4pPr>
            <a:lvl5pPr>
              <a:defRPr sz="1200">
                <a:latin typeface="Calibri" panose="020F07020304040A0204" pitchFamily="34" charset="0"/>
                <a:ea typeface="標楷體" pitchFamily="65" charset="-120"/>
                <a:cs typeface="Calibri" panose="020F07020304040A0204"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7"/>
            <a:ext cx="7772400" cy="1021556"/>
          </a:xfrm>
        </p:spPr>
        <p:txBody>
          <a:bodyPr anchor="t"/>
          <a:lstStyle>
            <a:lvl1pPr algn="l">
              <a:defRPr sz="3200"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8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ltLang="zh-TW" dirty="0"/>
              <a:t>Click to edit Master text styles</a:t>
            </a:r>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457200" y="844152"/>
            <a:ext cx="4038600" cy="3170774"/>
          </a:xfrm>
        </p:spPr>
        <p:txBody>
          <a:bodyPr/>
          <a:lstStyle>
            <a:lvl1pPr>
              <a:defRPr sz="2800"/>
            </a:lvl1pPr>
            <a:lvl2pPr>
              <a:defRPr sz="2400"/>
            </a:lvl2pPr>
            <a:lvl3pPr>
              <a:defRPr sz="1800"/>
            </a:lvl3pPr>
            <a:lvl4pPr>
              <a:defRPr sz="1600"/>
            </a:lvl4pPr>
            <a:lvl5pPr>
              <a:defRPr sz="1600"/>
            </a:lvl5pPr>
            <a:lvl6pPr>
              <a:defRPr sz="1350"/>
            </a:lvl6pPr>
            <a:lvl7pPr>
              <a:defRPr sz="1350"/>
            </a:lvl7pPr>
            <a:lvl8pPr>
              <a:defRPr sz="1350"/>
            </a:lvl8pPr>
            <a:lvl9pPr>
              <a:defRPr sz="135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4648200" y="844152"/>
            <a:ext cx="4038600" cy="3170774"/>
          </a:xfrm>
        </p:spPr>
        <p:txBody>
          <a:bodyPr/>
          <a:lstStyle>
            <a:lvl1pPr>
              <a:defRPr sz="2800"/>
            </a:lvl1pPr>
            <a:lvl2pPr>
              <a:defRPr sz="2400"/>
            </a:lvl2pPr>
            <a:lvl3pPr>
              <a:defRPr sz="1800"/>
            </a:lvl3pPr>
            <a:lvl4pPr>
              <a:defRPr sz="1600"/>
            </a:lvl4pPr>
            <a:lvl5pPr>
              <a:defRPr sz="1600"/>
            </a:lvl5pPr>
            <a:lvl6pPr>
              <a:defRPr sz="1350"/>
            </a:lvl6pPr>
            <a:lvl7pPr>
              <a:defRPr sz="1350"/>
            </a:lvl7pPr>
            <a:lvl8pPr>
              <a:defRPr sz="1350"/>
            </a:lvl8pPr>
            <a:lvl9pPr>
              <a:defRPr sz="135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457201" y="951580"/>
            <a:ext cx="4040188" cy="479822"/>
          </a:xfrm>
        </p:spPr>
        <p:txBody>
          <a:bodyPr anchor="b"/>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ltLang="zh-TW"/>
              <a:t>Click to edit Master text styles</a:t>
            </a:r>
          </a:p>
        </p:txBody>
      </p:sp>
      <p:sp>
        <p:nvSpPr>
          <p:cNvPr id="4" name="內容版面配置區 3"/>
          <p:cNvSpPr>
            <a:spLocks noGrp="1"/>
          </p:cNvSpPr>
          <p:nvPr>
            <p:ph sz="half" idx="2"/>
          </p:nvPr>
        </p:nvSpPr>
        <p:spPr>
          <a:xfrm>
            <a:off x="457201" y="1431401"/>
            <a:ext cx="4040188"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4645029" y="951580"/>
            <a:ext cx="4041775" cy="479822"/>
          </a:xfrm>
        </p:spPr>
        <p:txBody>
          <a:bodyPr anchor="b"/>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ltLang="zh-TW"/>
              <a:t>Click to edit Master text styles</a:t>
            </a:r>
          </a:p>
        </p:txBody>
      </p:sp>
      <p:sp>
        <p:nvSpPr>
          <p:cNvPr id="6" name="內容版面配置區 5"/>
          <p:cNvSpPr>
            <a:spLocks noGrp="1"/>
          </p:cNvSpPr>
          <p:nvPr>
            <p:ph sz="quarter" idx="4"/>
          </p:nvPr>
        </p:nvSpPr>
        <p:spPr>
          <a:xfrm>
            <a:off x="4645029" y="1431401"/>
            <a:ext cx="4041775"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
        <p:nvSpPr>
          <p:cNvPr id="8" name="標題 1"/>
          <p:cNvSpPr>
            <a:spLocks noGrp="1"/>
          </p:cNvSpPr>
          <p:nvPr>
            <p:ph type="title"/>
          </p:nvPr>
        </p:nvSpPr>
        <p:spPr>
          <a:xfrm>
            <a:off x="468315" y="108349"/>
            <a:ext cx="8207375" cy="519113"/>
          </a:xfrm>
        </p:spPr>
        <p:txBody>
          <a:bodyPr/>
          <a:lstStyle/>
          <a:p>
            <a:r>
              <a:rPr lang="en-US" altLang="zh-TW" dirty="0"/>
              <a:t>Click to edit Master title style</a:t>
            </a:r>
            <a:endParaRPr lang="zh-TW"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4" y="204787"/>
            <a:ext cx="3008313" cy="871538"/>
          </a:xfrm>
        </p:spPr>
        <p:txBody>
          <a:bodyPr anchor="b"/>
          <a:lstStyle>
            <a:lvl1pPr algn="l">
              <a:defRPr sz="15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04791"/>
            <a:ext cx="5111751"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4" y="1076328"/>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15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4025505"/>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54771"/>
            <a:ext cx="8229600" cy="127516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hasCustomPrompt="1"/>
          </p:nvPr>
        </p:nvSpPr>
        <p:spPr>
          <a:xfrm>
            <a:off x="457200" y="844156"/>
            <a:ext cx="8229600" cy="485775"/>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597823"/>
            <a:ext cx="7772400" cy="1102519"/>
          </a:xfrm>
        </p:spPr>
        <p:txBody>
          <a:bodyPr/>
          <a:lstStyle>
            <a:lvl1pPr algn="ctr">
              <a:defRPr sz="4000"/>
            </a:lvl1pPr>
          </a:lstStyle>
          <a:p>
            <a:r>
              <a:rPr lang="en-US" altLang="zh-TW"/>
              <a:t>Click to edit Master title style</a:t>
            </a:r>
            <a:endParaRPr lang="zh-TW" altLang="en-US"/>
          </a:p>
        </p:txBody>
      </p:sp>
      <p:sp>
        <p:nvSpPr>
          <p:cNvPr id="3" name="副標題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969010" y="108585"/>
            <a:ext cx="7706995" cy="518795"/>
          </a:xfrm>
          <a:prstGeom prst="rect">
            <a:avLst/>
          </a:prstGeom>
          <a:noFill/>
          <a:ln w="9525">
            <a:noFill/>
            <a:miter lim="800000"/>
          </a:ln>
        </p:spPr>
        <p:txBody>
          <a:bodyPr vert="horz" wrap="square" lIns="91440" tIns="45720" rIns="91440" bIns="45720" numCol="1" anchor="ctr" anchorCtr="0" compatLnSpc="1"/>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457200" y="844153"/>
            <a:ext cx="8229600" cy="3671888"/>
          </a:xfrm>
          <a:prstGeom prst="rect">
            <a:avLst/>
          </a:prstGeom>
          <a:noFill/>
          <a:ln w="9525">
            <a:noFill/>
            <a:miter lim="800000"/>
          </a:ln>
        </p:spPr>
        <p:txBody>
          <a:bodyPr vert="horz" wrap="square" lIns="91440" tIns="45720" rIns="91440" bIns="45720" numCol="1" anchor="t" anchorCtr="0" compatLnSpc="1"/>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2" y="4768455"/>
            <a:ext cx="3833813" cy="148828"/>
          </a:xfrm>
          <a:prstGeom prst="rect">
            <a:avLst/>
          </a:prstGeom>
          <a:noFill/>
          <a:ln w="9525">
            <a:noFill/>
            <a:miter lim="800000"/>
            <a:headEnd/>
            <a:tailEnd/>
          </a:ln>
        </p:spPr>
      </p:pic>
      <p:sp>
        <p:nvSpPr>
          <p:cNvPr id="8" name="矩形 7"/>
          <p:cNvSpPr/>
          <p:nvPr/>
        </p:nvSpPr>
        <p:spPr>
          <a:xfrm>
            <a:off x="569246" y="4936332"/>
            <a:ext cx="2731837" cy="230832"/>
          </a:xfrm>
          <a:prstGeom prst="rect">
            <a:avLst/>
          </a:prstGeom>
        </p:spPr>
        <p:txBody>
          <a:bodyPr wrap="none">
            <a:spAutoFit/>
          </a:bodyPr>
          <a:lstStyle/>
          <a:p>
            <a:pPr algn="ctr">
              <a:defRPr/>
            </a:pPr>
            <a:r>
              <a:rPr lang="en-US" sz="900" b="1" dirty="0">
                <a:solidFill>
                  <a:schemeClr val="bg1"/>
                </a:solidFill>
                <a:latin typeface="Arial" panose="020B0604020202090204" pitchFamily="34" charset="0"/>
                <a:ea typeface="新細明體" panose="02020500000000000000" pitchFamily="18" charset="-120"/>
                <a:cs typeface="Arial" panose="020B0604020202090204" pitchFamily="34" charset="0"/>
              </a:rPr>
              <a:t>National Tsing Hua University ® copyright OIA</a:t>
            </a:r>
            <a:endParaRPr lang="zh-TW" altLang="en-US" sz="900" b="1" dirty="0">
              <a:solidFill>
                <a:schemeClr val="bg1"/>
              </a:solidFill>
              <a:latin typeface="Arial" panose="020B0604020202090204" pitchFamily="34" charset="0"/>
              <a:ea typeface="新細明體" panose="02020500000000000000" pitchFamily="18" charset="-120"/>
              <a:cs typeface="Arial" panose="020B0604020202090204" pitchFamily="34" charset="0"/>
            </a:endParaRPr>
          </a:p>
        </p:txBody>
      </p:sp>
      <p:sp>
        <p:nvSpPr>
          <p:cNvPr id="4105" name="Rectangle 9"/>
          <p:cNvSpPr>
            <a:spLocks noChangeArrowheads="1"/>
          </p:cNvSpPr>
          <p:nvPr/>
        </p:nvSpPr>
        <p:spPr bwMode="auto">
          <a:xfrm>
            <a:off x="0" y="681041"/>
            <a:ext cx="9144000" cy="108347"/>
          </a:xfrm>
          <a:prstGeom prst="rect">
            <a:avLst/>
          </a:prstGeom>
          <a:solidFill>
            <a:srgbClr val="633869"/>
          </a:solidFill>
          <a:ln w="15875">
            <a:noFill/>
            <a:miter lim="800000"/>
          </a:ln>
          <a:effectLst/>
        </p:spPr>
        <p:txBody>
          <a:bodyPr wrap="none" anchor="ctr"/>
          <a:lstStyle/>
          <a:p>
            <a:pPr>
              <a:defRPr/>
            </a:pPr>
            <a:endParaRPr lang="zh-TW" altLang="en-US" sz="1350">
              <a:ea typeface="新細明體" panose="02020500000000000000" pitchFamily="18" charset="-120"/>
            </a:endParaRPr>
          </a:p>
        </p:txBody>
      </p:sp>
      <p:sp>
        <p:nvSpPr>
          <p:cNvPr id="4106" name="Rectangle 10"/>
          <p:cNvSpPr>
            <a:spLocks noChangeArrowheads="1"/>
          </p:cNvSpPr>
          <p:nvPr userDrawn="1"/>
        </p:nvSpPr>
        <p:spPr bwMode="auto">
          <a:xfrm>
            <a:off x="0" y="4624387"/>
            <a:ext cx="9144000" cy="539354"/>
          </a:xfrm>
          <a:prstGeom prst="rect">
            <a:avLst/>
          </a:prstGeom>
          <a:solidFill>
            <a:srgbClr val="633869"/>
          </a:solidFill>
          <a:ln w="15875">
            <a:noFill/>
            <a:miter lim="800000"/>
          </a:ln>
          <a:effectLst/>
        </p:spPr>
        <p:txBody>
          <a:bodyPr wrap="none" anchor="ctr"/>
          <a:lstStyle/>
          <a:p>
            <a:pPr>
              <a:defRPr/>
            </a:pPr>
            <a:endParaRPr lang="zh-TW" altLang="en-US" sz="1350">
              <a:ea typeface="新細明體" panose="02020500000000000000" pitchFamily="18" charset="-120"/>
            </a:endParaRPr>
          </a:p>
        </p:txBody>
      </p:sp>
      <p:sp>
        <p:nvSpPr>
          <p:cNvPr id="1043" name="Rectangle 19"/>
          <p:cNvSpPr>
            <a:spLocks noGrp="1" noChangeArrowheads="1"/>
          </p:cNvSpPr>
          <p:nvPr>
            <p:ph type="sldNum" sz="quarter" idx="4"/>
          </p:nvPr>
        </p:nvSpPr>
        <p:spPr bwMode="auto">
          <a:xfrm>
            <a:off x="6831013" y="4893471"/>
            <a:ext cx="2133600" cy="254794"/>
          </a:xfrm>
          <a:prstGeom prst="rect">
            <a:avLst/>
          </a:prstGeom>
          <a:noFill/>
          <a:ln w="9525">
            <a:noFill/>
            <a:miter lim="800000"/>
          </a:ln>
          <a:effectLst/>
        </p:spPr>
        <p:txBody>
          <a:bodyPr vert="horz" wrap="square" lIns="91440" tIns="45720" rIns="91440" bIns="45720" numCol="1" anchor="t" anchorCtr="0" compatLnSpc="1"/>
          <a:lstStyle>
            <a:lvl1pPr algn="r">
              <a:defRPr sz="900">
                <a:solidFill>
                  <a:schemeClr val="bg1"/>
                </a:solidFill>
                <a:latin typeface="Arial" panose="020B0604020202090204" pitchFamily="34" charset="0"/>
                <a:ea typeface="新細明體" panose="02020500000000000000" pitchFamily="18" charset="-120"/>
              </a:defRPr>
            </a:lvl1pPr>
          </a:lstStyle>
          <a:p>
            <a:fld id="{D9B6BDF2-6896-4B98-8776-C18582F63BA5}" type="slidenum">
              <a:rPr lang="zh-TW" altLang="en-US" smtClean="0"/>
              <a:t>‹#›</a:t>
            </a:fld>
            <a:endParaRPr lang="zh-TW" altLang="en-US"/>
          </a:p>
        </p:txBody>
      </p:sp>
      <p:pic>
        <p:nvPicPr>
          <p:cNvPr id="7" name="圖片 6"/>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35060" y="96457"/>
            <a:ext cx="888965" cy="518914"/>
          </a:xfrm>
          <a:prstGeom prst="rect">
            <a:avLst/>
          </a:prstGeom>
        </p:spPr>
      </p:pic>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6309" y="4683590"/>
            <a:ext cx="741091" cy="427061"/>
          </a:xfrm>
          <a:prstGeom prst="rect">
            <a:avLst/>
          </a:prstGeom>
        </p:spPr>
      </p:pic>
      <p:pic>
        <p:nvPicPr>
          <p:cNvPr id="13" name="圖片 12"/>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788062" y="4681942"/>
            <a:ext cx="2030503" cy="400434"/>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rtl="0" eaLnBrk="1" fontAlgn="base" hangingPunct="1">
        <a:spcBef>
          <a:spcPct val="0"/>
        </a:spcBef>
        <a:spcAft>
          <a:spcPct val="0"/>
        </a:spcAft>
        <a:defRPr kumimoji="1" sz="3200" b="1">
          <a:solidFill>
            <a:schemeClr val="tx2"/>
          </a:solidFill>
          <a:latin typeface="Calibri" panose="020F07020304040A0204"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anose="020F07020304040A0204"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anose="020F07020304040A0204"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anose="020F07020304040A0204"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anose="020F07020304040A0204" pitchFamily="34" charset="0"/>
          <a:ea typeface="標楷體" pitchFamily="65" charset="-120"/>
          <a:cs typeface="MS Sans Serif"/>
        </a:defRPr>
      </a:lvl5pPr>
      <a:lvl6pPr marL="342900" algn="l" rtl="0" eaLnBrk="1" fontAlgn="base" hangingPunct="1">
        <a:spcBef>
          <a:spcPct val="0"/>
        </a:spcBef>
        <a:spcAft>
          <a:spcPct val="0"/>
        </a:spcAft>
        <a:defRPr kumimoji="1" sz="2250" b="1">
          <a:solidFill>
            <a:schemeClr val="tx2"/>
          </a:solidFill>
          <a:latin typeface="MS Sans Serif"/>
          <a:ea typeface="MS Sans Serif"/>
          <a:cs typeface="MS Sans Serif"/>
        </a:defRPr>
      </a:lvl6pPr>
      <a:lvl7pPr marL="685800" algn="l" rtl="0" eaLnBrk="1" fontAlgn="base" hangingPunct="1">
        <a:spcBef>
          <a:spcPct val="0"/>
        </a:spcBef>
        <a:spcAft>
          <a:spcPct val="0"/>
        </a:spcAft>
        <a:defRPr kumimoji="1" sz="2250" b="1">
          <a:solidFill>
            <a:schemeClr val="tx2"/>
          </a:solidFill>
          <a:latin typeface="MS Sans Serif"/>
          <a:ea typeface="MS Sans Serif"/>
          <a:cs typeface="MS Sans Serif"/>
        </a:defRPr>
      </a:lvl7pPr>
      <a:lvl8pPr marL="1028700" algn="l" rtl="0" eaLnBrk="1" fontAlgn="base" hangingPunct="1">
        <a:spcBef>
          <a:spcPct val="0"/>
        </a:spcBef>
        <a:spcAft>
          <a:spcPct val="0"/>
        </a:spcAft>
        <a:defRPr kumimoji="1" sz="2250" b="1">
          <a:solidFill>
            <a:schemeClr val="tx2"/>
          </a:solidFill>
          <a:latin typeface="MS Sans Serif"/>
          <a:ea typeface="MS Sans Serif"/>
          <a:cs typeface="MS Sans Serif"/>
        </a:defRPr>
      </a:lvl8pPr>
      <a:lvl9pPr marL="1371600" algn="l" rtl="0" eaLnBrk="1" fontAlgn="base" hangingPunct="1">
        <a:spcBef>
          <a:spcPct val="0"/>
        </a:spcBef>
        <a:spcAft>
          <a:spcPct val="0"/>
        </a:spcAft>
        <a:defRPr kumimoji="1" sz="2250" b="1">
          <a:solidFill>
            <a:schemeClr val="tx2"/>
          </a:solidFill>
          <a:latin typeface="MS Sans Serif"/>
          <a:ea typeface="MS Sans Serif"/>
          <a:cs typeface="MS Sans Serif"/>
        </a:defRPr>
      </a:lvl9pPr>
    </p:titleStyle>
    <p:body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mn-lt"/>
          <a:ea typeface="+mn-ea"/>
        </a:defRPr>
      </a:lvl3pPr>
      <a:lvl4pPr marL="1200150" indent="-171450" algn="l" rtl="0" eaLnBrk="1" fontAlgn="base" hangingPunct="1">
        <a:spcBef>
          <a:spcPct val="20000"/>
        </a:spcBef>
        <a:spcAft>
          <a:spcPct val="0"/>
        </a:spcAft>
        <a:buChar char="–"/>
        <a:defRPr kumimoji="1" sz="1500">
          <a:solidFill>
            <a:schemeClr val="tx1"/>
          </a:solidFill>
          <a:latin typeface="+mn-lt"/>
          <a:ea typeface="+mn-ea"/>
        </a:defRPr>
      </a:lvl4pPr>
      <a:lvl5pPr marL="1543050" indent="-171450" algn="l" rtl="0" eaLnBrk="1" fontAlgn="base" hangingPunct="1">
        <a:spcBef>
          <a:spcPct val="20000"/>
        </a:spcBef>
        <a:spcAft>
          <a:spcPct val="0"/>
        </a:spcAft>
        <a:buChar char="»"/>
        <a:defRPr kumimoji="1" sz="1500">
          <a:solidFill>
            <a:schemeClr val="tx1"/>
          </a:solidFill>
          <a:latin typeface="+mn-lt"/>
          <a:ea typeface="+mn-ea"/>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165" rtl="0" eaLnBrk="1" latinLnBrk="0" hangingPunct="1">
        <a:defRPr sz="1350" kern="1200">
          <a:solidFill>
            <a:schemeClr val="tx1"/>
          </a:solidFill>
          <a:latin typeface="+mn-lt"/>
          <a:ea typeface="+mn-ea"/>
          <a:cs typeface="+mn-cs"/>
        </a:defRPr>
      </a:lvl1pPr>
      <a:lvl2pPr marL="342900" algn="l" defTabSz="685165" rtl="0" eaLnBrk="1" latinLnBrk="0" hangingPunct="1">
        <a:defRPr sz="1350" kern="1200">
          <a:solidFill>
            <a:schemeClr val="tx1"/>
          </a:solidFill>
          <a:latin typeface="+mn-lt"/>
          <a:ea typeface="+mn-ea"/>
          <a:cs typeface="+mn-cs"/>
        </a:defRPr>
      </a:lvl2pPr>
      <a:lvl3pPr marL="685800" algn="l" defTabSz="685165" rtl="0" eaLnBrk="1" latinLnBrk="0" hangingPunct="1">
        <a:defRPr sz="1350" kern="1200">
          <a:solidFill>
            <a:schemeClr val="tx1"/>
          </a:solidFill>
          <a:latin typeface="+mn-lt"/>
          <a:ea typeface="+mn-ea"/>
          <a:cs typeface="+mn-cs"/>
        </a:defRPr>
      </a:lvl3pPr>
      <a:lvl4pPr marL="1028700" algn="l" defTabSz="685165" rtl="0" eaLnBrk="1" latinLnBrk="0" hangingPunct="1">
        <a:defRPr sz="1350" kern="1200">
          <a:solidFill>
            <a:schemeClr val="tx1"/>
          </a:solidFill>
          <a:latin typeface="+mn-lt"/>
          <a:ea typeface="+mn-ea"/>
          <a:cs typeface="+mn-cs"/>
        </a:defRPr>
      </a:lvl4pPr>
      <a:lvl5pPr marL="1371600" algn="l" defTabSz="685165" rtl="0" eaLnBrk="1" latinLnBrk="0" hangingPunct="1">
        <a:defRPr sz="1350" kern="1200">
          <a:solidFill>
            <a:schemeClr val="tx1"/>
          </a:solidFill>
          <a:latin typeface="+mn-lt"/>
          <a:ea typeface="+mn-ea"/>
          <a:cs typeface="+mn-cs"/>
        </a:defRPr>
      </a:lvl5pPr>
      <a:lvl6pPr marL="1714500" algn="l" defTabSz="685165" rtl="0" eaLnBrk="1" latinLnBrk="0" hangingPunct="1">
        <a:defRPr sz="1350" kern="1200">
          <a:solidFill>
            <a:schemeClr val="tx1"/>
          </a:solidFill>
          <a:latin typeface="+mn-lt"/>
          <a:ea typeface="+mn-ea"/>
          <a:cs typeface="+mn-cs"/>
        </a:defRPr>
      </a:lvl6pPr>
      <a:lvl7pPr marL="2057400" algn="l" defTabSz="685165" rtl="0" eaLnBrk="1" latinLnBrk="0" hangingPunct="1">
        <a:defRPr sz="1350" kern="1200">
          <a:solidFill>
            <a:schemeClr val="tx1"/>
          </a:solidFill>
          <a:latin typeface="+mn-lt"/>
          <a:ea typeface="+mn-ea"/>
          <a:cs typeface="+mn-cs"/>
        </a:defRPr>
      </a:lvl7pPr>
      <a:lvl8pPr marL="2400300" algn="l" defTabSz="685165" rtl="0" eaLnBrk="1" latinLnBrk="0" hangingPunct="1">
        <a:defRPr sz="1350" kern="1200">
          <a:solidFill>
            <a:schemeClr val="tx1"/>
          </a:solidFill>
          <a:latin typeface="+mn-lt"/>
          <a:ea typeface="+mn-ea"/>
          <a:cs typeface="+mn-cs"/>
        </a:defRPr>
      </a:lvl8pPr>
      <a:lvl9pPr marL="2743200" algn="l" defTabSz="685165"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826534"/>
            <a:ext cx="7772400" cy="1307066"/>
          </a:xfrm>
        </p:spPr>
        <p:txBody>
          <a:bodyPr/>
          <a:lstStyle/>
          <a:p>
            <a:pPr algn="ctr"/>
            <a:r>
              <a:rPr lang="en-US" altLang="zh-TW" sz="3600" dirty="0"/>
              <a:t>CSC3050 – Computer Architecture</a:t>
            </a:r>
            <a:br>
              <a:rPr lang="en-US" altLang="zh-TW" sz="3600" dirty="0">
                <a:effectLst>
                  <a:outerShdw blurRad="38100" dist="38100" dir="2700000" algn="tl">
                    <a:srgbClr val="000000">
                      <a:alpha val="43137"/>
                    </a:srgbClr>
                  </a:outerShdw>
                </a:effectLst>
              </a:rPr>
            </a:br>
            <a:endParaRPr lang="en-US" altLang="zh-TW" sz="360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371600" y="2548824"/>
            <a:ext cx="6400800" cy="1801796"/>
          </a:xfrm>
        </p:spPr>
        <p:txBody>
          <a:bodyPr/>
          <a:lstStyle/>
          <a:p>
            <a:r>
              <a:rPr lang="en-US" altLang="zh-TW" sz="2400" dirty="0"/>
              <a:t>Prof. Wei Chung Hsu</a:t>
            </a:r>
          </a:p>
          <a:p>
            <a:endParaRPr lang="en-US" altLang="zh-TW" sz="2400" dirty="0">
              <a:effectLst>
                <a:outerShdw blurRad="38100" dist="38100" dir="2700000" algn="tl">
                  <a:srgbClr val="000000">
                    <a:alpha val="43137"/>
                  </a:srgbClr>
                </a:outerShdw>
              </a:effectLst>
            </a:endParaRPr>
          </a:p>
          <a:p>
            <a:r>
              <a:rPr lang="en-US" altLang="zh-TW" sz="2400" dirty="0"/>
              <a:t>School of Data Science</a:t>
            </a:r>
          </a:p>
          <a:p>
            <a:r>
              <a:rPr lang="en-US" altLang="zh-TW" sz="2400" dirty="0"/>
              <a:t>Chinese University of Hong Kong, Shenzhen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BFE23FD5-DC69-48D8-B031-A351352C1764}"/>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452ED0F7-8C0C-4170-9202-4E7BA6DED58D}"/>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B2AD37BA-DF3D-4AB0-8E54-1AC9919634A4}" type="slidenum">
              <a:rPr lang="zh-TW" altLang="en-US" sz="900"/>
              <a:pPr>
                <a:spcBef>
                  <a:spcPct val="0"/>
                </a:spcBef>
                <a:buClrTx/>
                <a:buSzTx/>
                <a:buFontTx/>
                <a:buNone/>
              </a:pPr>
              <a:t>2</a:t>
            </a:fld>
            <a:endParaRPr lang="en-US" altLang="zh-TW" sz="900"/>
          </a:p>
        </p:txBody>
      </p:sp>
      <p:sp>
        <p:nvSpPr>
          <p:cNvPr id="6" name="Rectangle 2">
            <a:extLst>
              <a:ext uri="{FF2B5EF4-FFF2-40B4-BE49-F238E27FC236}">
                <a16:creationId xmlns:a16="http://schemas.microsoft.com/office/drawing/2014/main" id="{4FC5CF1D-7894-45F0-BF03-427F3AC23102}"/>
              </a:ext>
            </a:extLst>
          </p:cNvPr>
          <p:cNvSpPr txBox="1">
            <a:spLocks noChangeArrowheads="1"/>
          </p:cNvSpPr>
          <p:nvPr/>
        </p:nvSpPr>
        <p:spPr bwMode="auto">
          <a:xfrm>
            <a:off x="1543050" y="514350"/>
            <a:ext cx="5829300" cy="302895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br>
              <a:rPr lang="en-US" altLang="zh-TW" sz="3300" dirty="0">
                <a:ea typeface="新細明體" pitchFamily="18" charset="-120"/>
              </a:rPr>
            </a:br>
            <a:r>
              <a:rPr lang="en-US" altLang="zh-TW" sz="3300" dirty="0">
                <a:effectLst/>
                <a:ea typeface="新細明體" pitchFamily="18" charset="-120"/>
              </a:rPr>
              <a:t>Calling Convention </a:t>
            </a:r>
          </a:p>
          <a:p>
            <a:pPr eaLnBrk="1" hangingPunct="1">
              <a:defRPr/>
            </a:pPr>
            <a:r>
              <a:rPr lang="en-US" altLang="zh-TW" sz="3300" dirty="0">
                <a:effectLst/>
                <a:ea typeface="新細明體" pitchFamily="18" charset="-120"/>
              </a:rPr>
              <a:t>and</a:t>
            </a:r>
          </a:p>
          <a:p>
            <a:pPr eaLnBrk="1" hangingPunct="1">
              <a:defRPr/>
            </a:pPr>
            <a:r>
              <a:rPr lang="en-US" altLang="zh-TW" sz="3300" dirty="0">
                <a:effectLst/>
                <a:ea typeface="新細明體" pitchFamily="18" charset="-120"/>
              </a:rPr>
              <a:t>Caller/Callee Save Registers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373909FB-C636-447F-9272-5642CFE0E444}"/>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AE3BBF52-4DAE-49B0-AF9A-E9DC103A9BCE}"/>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B481E6D5-49A0-4468-85CC-004554E85389}" type="slidenum">
              <a:rPr lang="zh-TW" altLang="en-US" sz="900"/>
              <a:pPr>
                <a:spcBef>
                  <a:spcPct val="0"/>
                </a:spcBef>
                <a:buClrTx/>
                <a:buSzTx/>
                <a:buFontTx/>
                <a:buNone/>
              </a:pPr>
              <a:t>3</a:t>
            </a:fld>
            <a:endParaRPr lang="en-US" altLang="zh-TW" sz="900"/>
          </a:p>
        </p:txBody>
      </p:sp>
      <p:sp>
        <p:nvSpPr>
          <p:cNvPr id="16420" name="文字方塊 2">
            <a:extLst>
              <a:ext uri="{FF2B5EF4-FFF2-40B4-BE49-F238E27FC236}">
                <a16:creationId xmlns:a16="http://schemas.microsoft.com/office/drawing/2014/main" id="{2AEA80AA-2735-40A3-B3AF-B9EA92F4E13B}"/>
              </a:ext>
            </a:extLst>
          </p:cNvPr>
          <p:cNvSpPr txBox="1">
            <a:spLocks noChangeArrowheads="1"/>
          </p:cNvSpPr>
          <p:nvPr/>
        </p:nvSpPr>
        <p:spPr bwMode="auto">
          <a:xfrm>
            <a:off x="742301" y="117004"/>
            <a:ext cx="7859844"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700" dirty="0">
                <a:ea typeface="新細明體" panose="02020500000000000000" pitchFamily="18" charset="-120"/>
              </a:rPr>
              <a:t>Steps In the execution of a procedure/function call</a:t>
            </a:r>
            <a:endParaRPr lang="zh-TW" altLang="en-US" sz="2700" dirty="0">
              <a:ea typeface="新細明體" panose="02020500000000000000" pitchFamily="18" charset="-120"/>
            </a:endParaRPr>
          </a:p>
        </p:txBody>
      </p:sp>
      <p:sp>
        <p:nvSpPr>
          <p:cNvPr id="6" name="Rectangle 2">
            <a:extLst>
              <a:ext uri="{FF2B5EF4-FFF2-40B4-BE49-F238E27FC236}">
                <a16:creationId xmlns:a16="http://schemas.microsoft.com/office/drawing/2014/main" id="{854444F6-FA75-4D61-9F0E-B0AE002D5634}"/>
              </a:ext>
            </a:extLst>
          </p:cNvPr>
          <p:cNvSpPr txBox="1">
            <a:spLocks noChangeArrowheads="1"/>
          </p:cNvSpPr>
          <p:nvPr/>
        </p:nvSpPr>
        <p:spPr bwMode="auto">
          <a:xfrm>
            <a:off x="638629" y="685800"/>
            <a:ext cx="7649028" cy="382905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marL="342900" lvl="1" algn="l" eaLnBrk="1" hangingPunct="1">
              <a:defRPr/>
            </a:pPr>
            <a:endParaRPr lang="en-US" altLang="zh-TW" sz="1800" dirty="0">
              <a:ea typeface="新細明體" pitchFamily="18" charset="-120"/>
            </a:endParaRPr>
          </a:p>
          <a:p>
            <a:pPr marL="685800" lvl="1" indent="-342900" algn="l" eaLnBrk="1" hangingPunct="1">
              <a:buFont typeface="Wingdings" panose="05000000000000000000" pitchFamily="2" charset="2"/>
              <a:buChar char="§"/>
              <a:defRPr/>
            </a:pPr>
            <a:r>
              <a:rPr lang="en-US" altLang="zh-TW" sz="2100" dirty="0">
                <a:effectLst/>
                <a:highlight>
                  <a:srgbClr val="FFFF00"/>
                </a:highlight>
                <a:latin typeface="Times New Roman" panose="02020603050405020304" pitchFamily="18" charset="0"/>
                <a:ea typeface="新細明體" pitchFamily="18" charset="-120"/>
                <a:cs typeface="Times New Roman" panose="02020603050405020304" pitchFamily="18" charset="0"/>
              </a:rPr>
              <a:t>Put parameters on the stack</a:t>
            </a:r>
          </a:p>
          <a:p>
            <a:pPr marL="685800" lvl="1" indent="-342900" algn="l" eaLnBrk="1" hangingPunct="1">
              <a:buFont typeface="Wingdings" panose="05000000000000000000" pitchFamily="2" charset="2"/>
              <a:buChar char="§"/>
              <a:defRPr/>
            </a:pPr>
            <a:r>
              <a:rPr lang="en-US" altLang="zh-TW" sz="2100" dirty="0">
                <a:effectLst/>
                <a:highlight>
                  <a:srgbClr val="FFFF00"/>
                </a:highlight>
                <a:latin typeface="Times New Roman" panose="02020603050405020304" pitchFamily="18" charset="0"/>
                <a:ea typeface="新細明體" pitchFamily="18" charset="-120"/>
                <a:cs typeface="Times New Roman" panose="02020603050405020304" pitchFamily="18" charset="0"/>
              </a:rPr>
              <a:t>Save the return address</a:t>
            </a:r>
          </a:p>
          <a:p>
            <a:pPr marL="685800" lvl="1" indent="-342900" algn="l" eaLnBrk="1" hangingPunct="1">
              <a:buFont typeface="Wingdings" panose="05000000000000000000" pitchFamily="2" charset="2"/>
              <a:buChar char="§"/>
              <a:defRPr/>
            </a:pPr>
            <a:r>
              <a:rPr lang="en-US" altLang="zh-TW" sz="2100" dirty="0">
                <a:effectLst/>
                <a:highlight>
                  <a:srgbClr val="FFFF00"/>
                </a:highlight>
                <a:latin typeface="Times New Roman" panose="02020603050405020304" pitchFamily="18" charset="0"/>
                <a:ea typeface="新細明體" pitchFamily="18" charset="-120"/>
                <a:cs typeface="Times New Roman" panose="02020603050405020304" pitchFamily="18" charset="0"/>
              </a:rPr>
              <a:t>Transfer control to the procedure</a:t>
            </a:r>
          </a:p>
          <a:p>
            <a:pPr marL="685800" lvl="1" indent="-342900" algn="l" eaLnBrk="1" hangingPunct="1">
              <a:buFont typeface="Wingdings" panose="05000000000000000000" pitchFamily="2" charset="2"/>
              <a:buChar char="§"/>
              <a:defRPr/>
            </a:pPr>
            <a:r>
              <a:rPr lang="en-US" altLang="zh-TW" sz="2100" dirty="0">
                <a:effectLst/>
                <a:highlight>
                  <a:srgbClr val="00FF00"/>
                </a:highlight>
                <a:latin typeface="Times New Roman" panose="02020603050405020304" pitchFamily="18" charset="0"/>
                <a:ea typeface="新細明體" pitchFamily="18" charset="-120"/>
                <a:cs typeface="Times New Roman" panose="02020603050405020304" pitchFamily="18" charset="0"/>
              </a:rPr>
              <a:t>Push a frame (activation record) onto the stack</a:t>
            </a:r>
          </a:p>
          <a:p>
            <a:pPr marL="685800" lvl="1" indent="-342900" algn="l" eaLnBrk="1" hangingPunct="1">
              <a:buFont typeface="Wingdings" panose="05000000000000000000" pitchFamily="2" charset="2"/>
              <a:buChar char="§"/>
              <a:defRPr/>
            </a:pPr>
            <a:r>
              <a:rPr lang="en-US" altLang="zh-TW" sz="2100" dirty="0">
                <a:effectLst/>
                <a:highlight>
                  <a:srgbClr val="00FF00"/>
                </a:highlight>
                <a:latin typeface="Times New Roman" panose="02020603050405020304" pitchFamily="18" charset="0"/>
                <a:ea typeface="新細明體" pitchFamily="18" charset="-120"/>
                <a:cs typeface="Times New Roman" panose="02020603050405020304" pitchFamily="18" charset="0"/>
              </a:rPr>
              <a:t>Save the registers</a:t>
            </a:r>
          </a:p>
          <a:p>
            <a:pPr marL="685800" lvl="1" indent="-342900" algn="l" eaLnBrk="1" hangingPunct="1">
              <a:buFont typeface="Wingdings" panose="05000000000000000000" pitchFamily="2" charset="2"/>
              <a:buChar char="§"/>
              <a:defRPr/>
            </a:pPr>
            <a:r>
              <a:rPr lang="en-US" altLang="zh-TW" sz="2100" dirty="0">
                <a:effectLst/>
                <a:highlight>
                  <a:srgbClr val="00FF00"/>
                </a:highlight>
                <a:latin typeface="Times New Roman" panose="02020603050405020304" pitchFamily="18" charset="0"/>
                <a:ea typeface="新細明體" pitchFamily="18" charset="-120"/>
                <a:cs typeface="Times New Roman" panose="02020603050405020304" pitchFamily="18" charset="0"/>
              </a:rPr>
              <a:t>Do the work in the procedure</a:t>
            </a:r>
          </a:p>
          <a:p>
            <a:pPr marL="685800" lvl="1" indent="-342900" algn="l" eaLnBrk="1" hangingPunct="1">
              <a:buFont typeface="Wingdings" panose="05000000000000000000" pitchFamily="2" charset="2"/>
              <a:buChar char="§"/>
              <a:defRPr/>
            </a:pPr>
            <a:r>
              <a:rPr lang="en-US" altLang="zh-TW" sz="2100" dirty="0">
                <a:effectLst/>
                <a:highlight>
                  <a:srgbClr val="00FF00"/>
                </a:highlight>
                <a:latin typeface="Times New Roman" panose="02020603050405020304" pitchFamily="18" charset="0"/>
                <a:ea typeface="新細明體" pitchFamily="18" charset="-120"/>
                <a:cs typeface="Times New Roman" panose="02020603050405020304" pitchFamily="18" charset="0"/>
              </a:rPr>
              <a:t>Put the return values on the stack</a:t>
            </a:r>
          </a:p>
          <a:p>
            <a:pPr marL="685800" lvl="1" indent="-342900" algn="l" eaLnBrk="1" hangingPunct="1">
              <a:buFont typeface="Wingdings" panose="05000000000000000000" pitchFamily="2" charset="2"/>
              <a:buChar char="§"/>
              <a:defRPr/>
            </a:pPr>
            <a:r>
              <a:rPr lang="en-US" altLang="zh-TW" sz="2100" dirty="0">
                <a:effectLst/>
                <a:highlight>
                  <a:srgbClr val="00FF00"/>
                </a:highlight>
                <a:latin typeface="Times New Roman" panose="02020603050405020304" pitchFamily="18" charset="0"/>
                <a:ea typeface="新細明體" pitchFamily="18" charset="-120"/>
                <a:cs typeface="Times New Roman" panose="02020603050405020304" pitchFamily="18" charset="0"/>
              </a:rPr>
              <a:t>Restore saved registers</a:t>
            </a:r>
          </a:p>
          <a:p>
            <a:pPr marL="685800" lvl="1" indent="-342900" algn="l" eaLnBrk="1" hangingPunct="1">
              <a:buFont typeface="Wingdings" panose="05000000000000000000" pitchFamily="2" charset="2"/>
              <a:buChar char="§"/>
              <a:defRPr/>
            </a:pPr>
            <a:r>
              <a:rPr lang="en-US" altLang="zh-TW" sz="2100" dirty="0">
                <a:effectLst/>
                <a:highlight>
                  <a:srgbClr val="00FF00"/>
                </a:highlight>
                <a:latin typeface="Times New Roman" panose="02020603050405020304" pitchFamily="18" charset="0"/>
                <a:ea typeface="新細明體" pitchFamily="18" charset="-120"/>
                <a:cs typeface="Times New Roman" panose="02020603050405020304" pitchFamily="18" charset="0"/>
              </a:rPr>
              <a:t>Return control to the point of origin</a:t>
            </a:r>
          </a:p>
          <a:p>
            <a:pPr marL="685800" lvl="1" indent="-342900" algn="l" eaLnBrk="1" hangingPunct="1">
              <a:buFont typeface="Wingdings" panose="05000000000000000000" pitchFamily="2" charset="2"/>
              <a:buChar char="§"/>
              <a:defRPr/>
            </a:pPr>
            <a:endParaRPr lang="en-US" altLang="zh-TW" sz="2100" dirty="0">
              <a:effectLst/>
              <a:latin typeface="Times New Roman" panose="02020603050405020304" pitchFamily="18" charset="0"/>
              <a:ea typeface="新細明體" pitchFamily="18" charset="-120"/>
              <a:cs typeface="Times New Roman" panose="02020603050405020304" pitchFamily="18" charset="0"/>
            </a:endParaRPr>
          </a:p>
        </p:txBody>
      </p:sp>
      <p:sp>
        <p:nvSpPr>
          <p:cNvPr id="2" name="TextBox 1">
            <a:extLst>
              <a:ext uri="{FF2B5EF4-FFF2-40B4-BE49-F238E27FC236}">
                <a16:creationId xmlns:a16="http://schemas.microsoft.com/office/drawing/2014/main" id="{F38D2F79-A391-4523-A4AE-A0156495DBA1}"/>
              </a:ext>
            </a:extLst>
          </p:cNvPr>
          <p:cNvSpPr txBox="1"/>
          <p:nvPr/>
        </p:nvSpPr>
        <p:spPr>
          <a:xfrm>
            <a:off x="7722394" y="1260009"/>
            <a:ext cx="503086" cy="523220"/>
          </a:xfrm>
          <a:prstGeom prst="rect">
            <a:avLst/>
          </a:prstGeom>
          <a:solidFill>
            <a:srgbClr val="FFFF00"/>
          </a:solidFill>
          <a:ln>
            <a:solidFill>
              <a:srgbClr val="FF0000"/>
            </a:solidFill>
          </a:ln>
        </p:spPr>
        <p:txBody>
          <a:bodyPr wrap="none" rtlCol="0" anchor="ctr" anchorCtr="1">
            <a:spAutoFit/>
          </a:bodyPr>
          <a:lstStyle/>
          <a:p>
            <a:r>
              <a:rPr lang="en-US" sz="2800" dirty="0">
                <a:ea typeface="標楷體" pitchFamily="65" charset="-120"/>
                <a:cs typeface="Calibri" panose="020F07020304040A0204" pitchFamily="34" charset="0"/>
              </a:rPr>
              <a:t>A </a:t>
            </a:r>
          </a:p>
        </p:txBody>
      </p:sp>
      <p:sp>
        <p:nvSpPr>
          <p:cNvPr id="7" name="TextBox 6">
            <a:extLst>
              <a:ext uri="{FF2B5EF4-FFF2-40B4-BE49-F238E27FC236}">
                <a16:creationId xmlns:a16="http://schemas.microsoft.com/office/drawing/2014/main" id="{0189F372-F299-42F9-B715-ACBA4EA04946}"/>
              </a:ext>
            </a:extLst>
          </p:cNvPr>
          <p:cNvSpPr txBox="1"/>
          <p:nvPr/>
        </p:nvSpPr>
        <p:spPr>
          <a:xfrm>
            <a:off x="7722394" y="2957512"/>
            <a:ext cx="522900" cy="523220"/>
          </a:xfrm>
          <a:prstGeom prst="rect">
            <a:avLst/>
          </a:prstGeom>
          <a:solidFill>
            <a:srgbClr val="92D050"/>
          </a:solidFill>
          <a:ln>
            <a:solidFill>
              <a:srgbClr val="FF0000"/>
            </a:solidFill>
          </a:ln>
        </p:spPr>
        <p:txBody>
          <a:bodyPr wrap="none" rtlCol="0" anchor="ctr" anchorCtr="1">
            <a:spAutoFit/>
          </a:bodyPr>
          <a:lstStyle/>
          <a:p>
            <a:r>
              <a:rPr lang="en-US" sz="2800" dirty="0">
                <a:ea typeface="標楷體" pitchFamily="65" charset="-120"/>
                <a:cs typeface="Calibri" panose="020F07020304040A0204" pitchFamily="34" charset="0"/>
              </a:rPr>
              <a:t>B </a:t>
            </a:r>
          </a:p>
        </p:txBody>
      </p:sp>
      <p:sp>
        <p:nvSpPr>
          <p:cNvPr id="3" name="TextBox 2">
            <a:extLst>
              <a:ext uri="{FF2B5EF4-FFF2-40B4-BE49-F238E27FC236}">
                <a16:creationId xmlns:a16="http://schemas.microsoft.com/office/drawing/2014/main" id="{8737CA93-8EEF-40C0-8530-EB09B182A26C}"/>
              </a:ext>
            </a:extLst>
          </p:cNvPr>
          <p:cNvSpPr txBox="1"/>
          <p:nvPr/>
        </p:nvSpPr>
        <p:spPr>
          <a:xfrm>
            <a:off x="7516737" y="2069456"/>
            <a:ext cx="914400" cy="461665"/>
          </a:xfrm>
          <a:prstGeom prst="rect">
            <a:avLst/>
          </a:prstGeom>
          <a:noFill/>
        </p:spPr>
        <p:txBody>
          <a:bodyPr wrap="square" rtlCol="0" anchor="ctr" anchorCtr="1">
            <a:spAutoFit/>
          </a:bodyPr>
          <a:lstStyle/>
          <a:p>
            <a:r>
              <a:rPr lang="en-US" sz="2400" dirty="0">
                <a:ea typeface="標楷體" pitchFamily="65" charset="-120"/>
                <a:cs typeface="Calibri" panose="020F07020304040A0204" pitchFamily="34" charset="0"/>
              </a:rPr>
              <a:t>calls</a:t>
            </a:r>
          </a:p>
        </p:txBody>
      </p:sp>
      <p:cxnSp>
        <p:nvCxnSpPr>
          <p:cNvPr id="5" name="Straight Arrow Connector 4">
            <a:extLst>
              <a:ext uri="{FF2B5EF4-FFF2-40B4-BE49-F238E27FC236}">
                <a16:creationId xmlns:a16="http://schemas.microsoft.com/office/drawing/2014/main" id="{FD7F9820-2E22-4231-8F85-5632419ED6A4}"/>
              </a:ext>
            </a:extLst>
          </p:cNvPr>
          <p:cNvCxnSpPr>
            <a:endCxn id="7" idx="0"/>
          </p:cNvCxnSpPr>
          <p:nvPr/>
        </p:nvCxnSpPr>
        <p:spPr bwMode="auto">
          <a:xfrm>
            <a:off x="7973937" y="1799118"/>
            <a:ext cx="9907" cy="1158394"/>
          </a:xfrm>
          <a:prstGeom prst="straightConnector1">
            <a:avLst/>
          </a:prstGeom>
          <a:noFill/>
          <a:ln w="15875" cap="flat" cmpd="sng" algn="ctr">
            <a:solidFill>
              <a:srgbClr val="FF0000"/>
            </a:solidFill>
            <a:prstDash val="solid"/>
            <a:round/>
            <a:headEnd type="none" w="med" len="med"/>
            <a:tailEnd type="triangle"/>
          </a:ln>
        </p:spPr>
      </p:cxnSp>
      <p:sp>
        <p:nvSpPr>
          <p:cNvPr id="8" name="TextBox 7">
            <a:extLst>
              <a:ext uri="{FF2B5EF4-FFF2-40B4-BE49-F238E27FC236}">
                <a16:creationId xmlns:a16="http://schemas.microsoft.com/office/drawing/2014/main" id="{D06F35BC-0C26-49AC-8F36-C4906BBD47C3}"/>
              </a:ext>
            </a:extLst>
          </p:cNvPr>
          <p:cNvSpPr txBox="1"/>
          <p:nvPr/>
        </p:nvSpPr>
        <p:spPr>
          <a:xfrm>
            <a:off x="6870705" y="1372345"/>
            <a:ext cx="787395" cy="369332"/>
          </a:xfrm>
          <a:prstGeom prst="rect">
            <a:avLst/>
          </a:prstGeom>
          <a:solidFill>
            <a:schemeClr val="accent1">
              <a:lumMod val="40000"/>
              <a:lumOff val="60000"/>
            </a:schemeClr>
          </a:solidFill>
          <a:ln>
            <a:solidFill>
              <a:schemeClr val="tx1"/>
            </a:solidFill>
          </a:ln>
        </p:spPr>
        <p:txBody>
          <a:bodyPr wrap="none" rtlCol="0" anchor="ctr" anchorCtr="1">
            <a:spAutoFit/>
          </a:bodyPr>
          <a:lstStyle/>
          <a:p>
            <a:r>
              <a:rPr lang="en-US" dirty="0">
                <a:ea typeface="標楷體" pitchFamily="65" charset="-120"/>
                <a:cs typeface="Calibri" panose="020F07020304040A0204" pitchFamily="34" charset="0"/>
              </a:rPr>
              <a:t>Caller</a:t>
            </a:r>
          </a:p>
        </p:txBody>
      </p:sp>
      <p:sp>
        <p:nvSpPr>
          <p:cNvPr id="12" name="TextBox 11">
            <a:extLst>
              <a:ext uri="{FF2B5EF4-FFF2-40B4-BE49-F238E27FC236}">
                <a16:creationId xmlns:a16="http://schemas.microsoft.com/office/drawing/2014/main" id="{85E92C91-08CB-42A6-ACFC-2A9D5E038E0A}"/>
              </a:ext>
            </a:extLst>
          </p:cNvPr>
          <p:cNvSpPr txBox="1"/>
          <p:nvPr/>
        </p:nvSpPr>
        <p:spPr>
          <a:xfrm>
            <a:off x="6850064" y="3063360"/>
            <a:ext cx="838691" cy="369332"/>
          </a:xfrm>
          <a:prstGeom prst="rect">
            <a:avLst/>
          </a:prstGeom>
          <a:solidFill>
            <a:schemeClr val="accent1">
              <a:lumMod val="40000"/>
              <a:lumOff val="60000"/>
            </a:schemeClr>
          </a:solidFill>
          <a:ln>
            <a:solidFill>
              <a:schemeClr val="tx1"/>
            </a:solidFill>
          </a:ln>
        </p:spPr>
        <p:txBody>
          <a:bodyPr wrap="none" rtlCol="0" anchor="ctr" anchorCtr="1">
            <a:spAutoFit/>
          </a:bodyPr>
          <a:lstStyle/>
          <a:p>
            <a:r>
              <a:rPr lang="en-US" dirty="0">
                <a:ea typeface="標楷體" pitchFamily="65" charset="-120"/>
                <a:cs typeface="Calibri" panose="020F07020304040A0204" pitchFamily="34" charset="0"/>
              </a:rPr>
              <a:t>Callee</a:t>
            </a:r>
          </a:p>
        </p:txBody>
      </p:sp>
    </p:spTree>
    <p:extLst>
      <p:ext uri="{BB962C8B-B14F-4D97-AF65-F5344CB8AC3E}">
        <p14:creationId xmlns:p14="http://schemas.microsoft.com/office/powerpoint/2010/main" val="1123398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373909FB-C636-447F-9272-5642CFE0E444}"/>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AE3BBF52-4DAE-49B0-AF9A-E9DC103A9BCE}"/>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B481E6D5-49A0-4468-85CC-004554E85389}" type="slidenum">
              <a:rPr lang="zh-TW" altLang="en-US" sz="900"/>
              <a:pPr>
                <a:spcBef>
                  <a:spcPct val="0"/>
                </a:spcBef>
                <a:buClrTx/>
                <a:buSzTx/>
                <a:buFontTx/>
                <a:buNone/>
              </a:pPr>
              <a:t>4</a:t>
            </a:fld>
            <a:endParaRPr lang="en-US" altLang="zh-TW" sz="900"/>
          </a:p>
        </p:txBody>
      </p:sp>
      <p:sp>
        <p:nvSpPr>
          <p:cNvPr id="16420" name="文字方塊 2">
            <a:extLst>
              <a:ext uri="{FF2B5EF4-FFF2-40B4-BE49-F238E27FC236}">
                <a16:creationId xmlns:a16="http://schemas.microsoft.com/office/drawing/2014/main" id="{2AEA80AA-2735-40A3-B3AF-B9EA92F4E13B}"/>
              </a:ext>
            </a:extLst>
          </p:cNvPr>
          <p:cNvSpPr txBox="1">
            <a:spLocks noChangeArrowheads="1"/>
          </p:cNvSpPr>
          <p:nvPr/>
        </p:nvSpPr>
        <p:spPr bwMode="auto">
          <a:xfrm>
            <a:off x="812800" y="92344"/>
            <a:ext cx="771621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400" dirty="0">
                <a:ea typeface="新細明體" panose="02020500000000000000" pitchFamily="18" charset="-120"/>
              </a:rPr>
              <a:t>Stack Allocation Before/During/After the Procedure Call</a:t>
            </a:r>
            <a:endParaRPr lang="zh-TW" altLang="en-US" sz="2400" dirty="0">
              <a:ea typeface="新細明體" panose="02020500000000000000" pitchFamily="18" charset="-120"/>
            </a:endParaRPr>
          </a:p>
        </p:txBody>
      </p:sp>
      <p:sp>
        <p:nvSpPr>
          <p:cNvPr id="2" name="Rectangle 1">
            <a:extLst>
              <a:ext uri="{FF2B5EF4-FFF2-40B4-BE49-F238E27FC236}">
                <a16:creationId xmlns:a16="http://schemas.microsoft.com/office/drawing/2014/main" id="{BF446FFE-61C4-472B-8A31-F5F43F49A558}"/>
              </a:ext>
            </a:extLst>
          </p:cNvPr>
          <p:cNvSpPr/>
          <p:nvPr/>
        </p:nvSpPr>
        <p:spPr bwMode="auto">
          <a:xfrm>
            <a:off x="1262743" y="979714"/>
            <a:ext cx="1328057" cy="3207657"/>
          </a:xfrm>
          <a:prstGeom prst="rect">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90204" pitchFamily="34" charset="0"/>
              <a:ea typeface="新細明體" panose="02020500000000000000" pitchFamily="18" charset="-120"/>
            </a:endParaRPr>
          </a:p>
        </p:txBody>
      </p:sp>
      <p:sp>
        <p:nvSpPr>
          <p:cNvPr id="4" name="Rectangle 3">
            <a:extLst>
              <a:ext uri="{FF2B5EF4-FFF2-40B4-BE49-F238E27FC236}">
                <a16:creationId xmlns:a16="http://schemas.microsoft.com/office/drawing/2014/main" id="{15CBD2CA-F0CD-492C-ABAB-223401B4CAF9}"/>
              </a:ext>
            </a:extLst>
          </p:cNvPr>
          <p:cNvSpPr/>
          <p:nvPr/>
        </p:nvSpPr>
        <p:spPr bwMode="auto">
          <a:xfrm>
            <a:off x="1262743" y="979714"/>
            <a:ext cx="1328057" cy="783772"/>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90204" pitchFamily="34" charset="0"/>
              <a:ea typeface="新細明體" panose="02020500000000000000" pitchFamily="18" charset="-120"/>
            </a:endParaRPr>
          </a:p>
        </p:txBody>
      </p:sp>
      <p:cxnSp>
        <p:nvCxnSpPr>
          <p:cNvPr id="7" name="Straight Arrow Connector 6">
            <a:extLst>
              <a:ext uri="{FF2B5EF4-FFF2-40B4-BE49-F238E27FC236}">
                <a16:creationId xmlns:a16="http://schemas.microsoft.com/office/drawing/2014/main" id="{13923998-524B-48C2-BE97-4FF2AE00137A}"/>
              </a:ext>
            </a:extLst>
          </p:cNvPr>
          <p:cNvCxnSpPr/>
          <p:nvPr/>
        </p:nvCxnSpPr>
        <p:spPr bwMode="auto">
          <a:xfrm>
            <a:off x="812800" y="979714"/>
            <a:ext cx="377371" cy="0"/>
          </a:xfrm>
          <a:prstGeom prst="straightConnector1">
            <a:avLst/>
          </a:prstGeom>
          <a:noFill/>
          <a:ln w="15875" cap="flat" cmpd="sng" algn="ctr">
            <a:solidFill>
              <a:srgbClr val="FF0000"/>
            </a:solidFill>
            <a:prstDash val="solid"/>
            <a:round/>
            <a:headEnd type="none" w="med" len="med"/>
            <a:tailEnd type="triangle"/>
          </a:ln>
        </p:spPr>
      </p:cxnSp>
      <p:sp>
        <p:nvSpPr>
          <p:cNvPr id="8" name="TextBox 7">
            <a:extLst>
              <a:ext uri="{FF2B5EF4-FFF2-40B4-BE49-F238E27FC236}">
                <a16:creationId xmlns:a16="http://schemas.microsoft.com/office/drawing/2014/main" id="{B2C55107-71B0-44C5-9960-502853A20F2F}"/>
              </a:ext>
            </a:extLst>
          </p:cNvPr>
          <p:cNvSpPr txBox="1"/>
          <p:nvPr/>
        </p:nvSpPr>
        <p:spPr>
          <a:xfrm>
            <a:off x="394868" y="795048"/>
            <a:ext cx="377026" cy="369332"/>
          </a:xfrm>
          <a:prstGeom prst="rect">
            <a:avLst/>
          </a:prstGeom>
          <a:noFill/>
        </p:spPr>
        <p:txBody>
          <a:bodyPr wrap="none" rtlCol="0" anchor="ctr" anchorCtr="1">
            <a:spAutoFit/>
          </a:bodyPr>
          <a:lstStyle/>
          <a:p>
            <a:r>
              <a:rPr lang="en-US" dirty="0" err="1">
                <a:ea typeface="標楷體" pitchFamily="65" charset="-120"/>
                <a:cs typeface="Calibri" panose="020F07020304040A0204" pitchFamily="34" charset="0"/>
              </a:rPr>
              <a:t>fp</a:t>
            </a:r>
            <a:endParaRPr lang="en-US" dirty="0">
              <a:ea typeface="標楷體" pitchFamily="65" charset="-120"/>
              <a:cs typeface="Calibri" panose="020F07020304040A0204" pitchFamily="34" charset="0"/>
            </a:endParaRPr>
          </a:p>
        </p:txBody>
      </p:sp>
      <p:cxnSp>
        <p:nvCxnSpPr>
          <p:cNvPr id="12" name="Straight Arrow Connector 11">
            <a:extLst>
              <a:ext uri="{FF2B5EF4-FFF2-40B4-BE49-F238E27FC236}">
                <a16:creationId xmlns:a16="http://schemas.microsoft.com/office/drawing/2014/main" id="{BC114549-9AB2-4513-B8DE-F8ABABFF3D16}"/>
              </a:ext>
            </a:extLst>
          </p:cNvPr>
          <p:cNvCxnSpPr/>
          <p:nvPr/>
        </p:nvCxnSpPr>
        <p:spPr bwMode="auto">
          <a:xfrm>
            <a:off x="785491" y="1766953"/>
            <a:ext cx="377371" cy="0"/>
          </a:xfrm>
          <a:prstGeom prst="straightConnector1">
            <a:avLst/>
          </a:prstGeom>
          <a:noFill/>
          <a:ln w="15875" cap="flat" cmpd="sng" algn="ctr">
            <a:solidFill>
              <a:srgbClr val="FF0000"/>
            </a:solidFill>
            <a:prstDash val="solid"/>
            <a:round/>
            <a:headEnd type="none" w="med" len="med"/>
            <a:tailEnd type="triangle"/>
          </a:ln>
        </p:spPr>
      </p:cxnSp>
      <p:sp>
        <p:nvSpPr>
          <p:cNvPr id="13" name="TextBox 12">
            <a:extLst>
              <a:ext uri="{FF2B5EF4-FFF2-40B4-BE49-F238E27FC236}">
                <a16:creationId xmlns:a16="http://schemas.microsoft.com/office/drawing/2014/main" id="{BD98A6F6-53D0-487F-B187-886BB54F723C}"/>
              </a:ext>
            </a:extLst>
          </p:cNvPr>
          <p:cNvSpPr txBox="1"/>
          <p:nvPr/>
        </p:nvSpPr>
        <p:spPr>
          <a:xfrm>
            <a:off x="367559" y="1582287"/>
            <a:ext cx="428322" cy="369332"/>
          </a:xfrm>
          <a:prstGeom prst="rect">
            <a:avLst/>
          </a:prstGeom>
          <a:noFill/>
        </p:spPr>
        <p:txBody>
          <a:bodyPr wrap="none" rtlCol="0" anchor="ctr" anchorCtr="1">
            <a:spAutoFit/>
          </a:bodyPr>
          <a:lstStyle/>
          <a:p>
            <a:r>
              <a:rPr lang="en-US" dirty="0" err="1">
                <a:ea typeface="標楷體" pitchFamily="65" charset="-120"/>
                <a:cs typeface="Calibri" panose="020F07020304040A0204" pitchFamily="34" charset="0"/>
              </a:rPr>
              <a:t>sp</a:t>
            </a:r>
            <a:endParaRPr lang="en-US" dirty="0">
              <a:ea typeface="標楷體" pitchFamily="65" charset="-120"/>
              <a:cs typeface="Calibri" panose="020F07020304040A0204" pitchFamily="34" charset="0"/>
            </a:endParaRPr>
          </a:p>
        </p:txBody>
      </p:sp>
      <p:sp>
        <p:nvSpPr>
          <p:cNvPr id="9" name="TextBox 8">
            <a:extLst>
              <a:ext uri="{FF2B5EF4-FFF2-40B4-BE49-F238E27FC236}">
                <a16:creationId xmlns:a16="http://schemas.microsoft.com/office/drawing/2014/main" id="{D0F7EBCB-43B6-447B-8B5A-13F6E7E89FDA}"/>
              </a:ext>
            </a:extLst>
          </p:cNvPr>
          <p:cNvSpPr txBox="1"/>
          <p:nvPr/>
        </p:nvSpPr>
        <p:spPr>
          <a:xfrm>
            <a:off x="1161144" y="4219084"/>
            <a:ext cx="1697901" cy="369332"/>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Before Call B()</a:t>
            </a:r>
          </a:p>
        </p:txBody>
      </p:sp>
      <p:sp>
        <p:nvSpPr>
          <p:cNvPr id="15" name="Rectangle 14">
            <a:extLst>
              <a:ext uri="{FF2B5EF4-FFF2-40B4-BE49-F238E27FC236}">
                <a16:creationId xmlns:a16="http://schemas.microsoft.com/office/drawing/2014/main" id="{7269FDFA-6293-4754-948F-BB8BBBEABE30}"/>
              </a:ext>
            </a:extLst>
          </p:cNvPr>
          <p:cNvSpPr/>
          <p:nvPr/>
        </p:nvSpPr>
        <p:spPr bwMode="auto">
          <a:xfrm>
            <a:off x="7421075" y="1011980"/>
            <a:ext cx="1328057" cy="3207657"/>
          </a:xfrm>
          <a:prstGeom prst="rect">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90204" pitchFamily="34" charset="0"/>
              <a:ea typeface="新細明體" panose="02020500000000000000" pitchFamily="18" charset="-120"/>
            </a:endParaRPr>
          </a:p>
        </p:txBody>
      </p:sp>
      <p:sp>
        <p:nvSpPr>
          <p:cNvPr id="16" name="Rectangle 15">
            <a:extLst>
              <a:ext uri="{FF2B5EF4-FFF2-40B4-BE49-F238E27FC236}">
                <a16:creationId xmlns:a16="http://schemas.microsoft.com/office/drawing/2014/main" id="{AC5FB44F-5D61-42D0-97A1-3DA128C5347B}"/>
              </a:ext>
            </a:extLst>
          </p:cNvPr>
          <p:cNvSpPr/>
          <p:nvPr/>
        </p:nvSpPr>
        <p:spPr bwMode="auto">
          <a:xfrm>
            <a:off x="7421075" y="1011980"/>
            <a:ext cx="1328057" cy="783772"/>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90204" pitchFamily="34" charset="0"/>
              <a:ea typeface="新細明體" panose="02020500000000000000" pitchFamily="18" charset="-120"/>
            </a:endParaRPr>
          </a:p>
        </p:txBody>
      </p:sp>
      <p:cxnSp>
        <p:nvCxnSpPr>
          <p:cNvPr id="17" name="Straight Arrow Connector 16">
            <a:extLst>
              <a:ext uri="{FF2B5EF4-FFF2-40B4-BE49-F238E27FC236}">
                <a16:creationId xmlns:a16="http://schemas.microsoft.com/office/drawing/2014/main" id="{D86F662D-F28B-484B-B6F2-0409453A93C6}"/>
              </a:ext>
            </a:extLst>
          </p:cNvPr>
          <p:cNvCxnSpPr/>
          <p:nvPr/>
        </p:nvCxnSpPr>
        <p:spPr bwMode="auto">
          <a:xfrm>
            <a:off x="6971132" y="1011980"/>
            <a:ext cx="377371" cy="0"/>
          </a:xfrm>
          <a:prstGeom prst="straightConnector1">
            <a:avLst/>
          </a:prstGeom>
          <a:noFill/>
          <a:ln w="15875" cap="flat" cmpd="sng" algn="ctr">
            <a:solidFill>
              <a:srgbClr val="FF0000"/>
            </a:solidFill>
            <a:prstDash val="solid"/>
            <a:round/>
            <a:headEnd type="none" w="med" len="med"/>
            <a:tailEnd type="triangle"/>
          </a:ln>
        </p:spPr>
      </p:cxnSp>
      <p:sp>
        <p:nvSpPr>
          <p:cNvPr id="18" name="TextBox 17">
            <a:extLst>
              <a:ext uri="{FF2B5EF4-FFF2-40B4-BE49-F238E27FC236}">
                <a16:creationId xmlns:a16="http://schemas.microsoft.com/office/drawing/2014/main" id="{6E629479-9EBD-47D1-AA3F-3EFD426104E0}"/>
              </a:ext>
            </a:extLst>
          </p:cNvPr>
          <p:cNvSpPr txBox="1"/>
          <p:nvPr/>
        </p:nvSpPr>
        <p:spPr>
          <a:xfrm>
            <a:off x="6553200" y="827314"/>
            <a:ext cx="377026" cy="369332"/>
          </a:xfrm>
          <a:prstGeom prst="rect">
            <a:avLst/>
          </a:prstGeom>
          <a:noFill/>
        </p:spPr>
        <p:txBody>
          <a:bodyPr wrap="none" rtlCol="0" anchor="ctr" anchorCtr="1">
            <a:spAutoFit/>
          </a:bodyPr>
          <a:lstStyle/>
          <a:p>
            <a:r>
              <a:rPr lang="en-US" dirty="0" err="1">
                <a:ea typeface="標楷體" pitchFamily="65" charset="-120"/>
                <a:cs typeface="Calibri" panose="020F07020304040A0204" pitchFamily="34" charset="0"/>
              </a:rPr>
              <a:t>fp</a:t>
            </a:r>
            <a:endParaRPr lang="en-US" dirty="0">
              <a:ea typeface="標楷體" pitchFamily="65" charset="-120"/>
              <a:cs typeface="Calibri" panose="020F07020304040A0204" pitchFamily="34" charset="0"/>
            </a:endParaRPr>
          </a:p>
        </p:txBody>
      </p:sp>
      <p:cxnSp>
        <p:nvCxnSpPr>
          <p:cNvPr id="19" name="Straight Arrow Connector 18">
            <a:extLst>
              <a:ext uri="{FF2B5EF4-FFF2-40B4-BE49-F238E27FC236}">
                <a16:creationId xmlns:a16="http://schemas.microsoft.com/office/drawing/2014/main" id="{A75801B5-DDCD-46C0-ABDC-8E59BCFA1302}"/>
              </a:ext>
            </a:extLst>
          </p:cNvPr>
          <p:cNvCxnSpPr/>
          <p:nvPr/>
        </p:nvCxnSpPr>
        <p:spPr bwMode="auto">
          <a:xfrm>
            <a:off x="6971132" y="1782357"/>
            <a:ext cx="377371" cy="0"/>
          </a:xfrm>
          <a:prstGeom prst="straightConnector1">
            <a:avLst/>
          </a:prstGeom>
          <a:noFill/>
          <a:ln w="15875" cap="flat" cmpd="sng" algn="ctr">
            <a:solidFill>
              <a:srgbClr val="FF0000"/>
            </a:solidFill>
            <a:prstDash val="solid"/>
            <a:round/>
            <a:headEnd type="none" w="med" len="med"/>
            <a:tailEnd type="triangle"/>
          </a:ln>
        </p:spPr>
      </p:cxnSp>
      <p:sp>
        <p:nvSpPr>
          <p:cNvPr id="20" name="TextBox 19">
            <a:extLst>
              <a:ext uri="{FF2B5EF4-FFF2-40B4-BE49-F238E27FC236}">
                <a16:creationId xmlns:a16="http://schemas.microsoft.com/office/drawing/2014/main" id="{62BAF624-7944-483A-B3D3-6C38080F19F6}"/>
              </a:ext>
            </a:extLst>
          </p:cNvPr>
          <p:cNvSpPr txBox="1"/>
          <p:nvPr/>
        </p:nvSpPr>
        <p:spPr>
          <a:xfrm>
            <a:off x="6553200" y="1597691"/>
            <a:ext cx="428322" cy="369332"/>
          </a:xfrm>
          <a:prstGeom prst="rect">
            <a:avLst/>
          </a:prstGeom>
          <a:noFill/>
        </p:spPr>
        <p:txBody>
          <a:bodyPr wrap="none" rtlCol="0" anchor="ctr" anchorCtr="1">
            <a:spAutoFit/>
          </a:bodyPr>
          <a:lstStyle/>
          <a:p>
            <a:r>
              <a:rPr lang="en-US" dirty="0" err="1">
                <a:ea typeface="標楷體" pitchFamily="65" charset="-120"/>
                <a:cs typeface="Calibri" panose="020F07020304040A0204" pitchFamily="34" charset="0"/>
              </a:rPr>
              <a:t>sp</a:t>
            </a:r>
            <a:endParaRPr lang="en-US" dirty="0">
              <a:ea typeface="標楷體" pitchFamily="65" charset="-120"/>
              <a:cs typeface="Calibri" panose="020F07020304040A0204" pitchFamily="34" charset="0"/>
            </a:endParaRPr>
          </a:p>
        </p:txBody>
      </p:sp>
      <p:sp>
        <p:nvSpPr>
          <p:cNvPr id="21" name="TextBox 20">
            <a:extLst>
              <a:ext uri="{FF2B5EF4-FFF2-40B4-BE49-F238E27FC236}">
                <a16:creationId xmlns:a16="http://schemas.microsoft.com/office/drawing/2014/main" id="{A2674AAB-4EDB-48D1-814B-8852048A053D}"/>
              </a:ext>
            </a:extLst>
          </p:cNvPr>
          <p:cNvSpPr txBox="1"/>
          <p:nvPr/>
        </p:nvSpPr>
        <p:spPr>
          <a:xfrm>
            <a:off x="7319476" y="4251350"/>
            <a:ext cx="1505540" cy="369332"/>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After Call B()</a:t>
            </a:r>
          </a:p>
        </p:txBody>
      </p:sp>
      <p:sp>
        <p:nvSpPr>
          <p:cNvPr id="22" name="Rectangle 21">
            <a:extLst>
              <a:ext uri="{FF2B5EF4-FFF2-40B4-BE49-F238E27FC236}">
                <a16:creationId xmlns:a16="http://schemas.microsoft.com/office/drawing/2014/main" id="{0E45109E-D7F0-4F7D-B2F1-A66179FD731B}"/>
              </a:ext>
            </a:extLst>
          </p:cNvPr>
          <p:cNvSpPr/>
          <p:nvPr/>
        </p:nvSpPr>
        <p:spPr bwMode="auto">
          <a:xfrm>
            <a:off x="4208401" y="919276"/>
            <a:ext cx="1328057" cy="3207657"/>
          </a:xfrm>
          <a:prstGeom prst="rect">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90204" pitchFamily="34" charset="0"/>
              <a:ea typeface="新細明體" panose="02020500000000000000" pitchFamily="18" charset="-120"/>
            </a:endParaRPr>
          </a:p>
        </p:txBody>
      </p:sp>
      <p:sp>
        <p:nvSpPr>
          <p:cNvPr id="23" name="Rectangle 22">
            <a:extLst>
              <a:ext uri="{FF2B5EF4-FFF2-40B4-BE49-F238E27FC236}">
                <a16:creationId xmlns:a16="http://schemas.microsoft.com/office/drawing/2014/main" id="{D208A829-6D31-469C-8EE6-C4B91B50EFBA}"/>
              </a:ext>
            </a:extLst>
          </p:cNvPr>
          <p:cNvSpPr/>
          <p:nvPr/>
        </p:nvSpPr>
        <p:spPr bwMode="auto">
          <a:xfrm>
            <a:off x="4219932" y="1729694"/>
            <a:ext cx="1328057" cy="2088344"/>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90204" pitchFamily="34" charset="0"/>
              <a:ea typeface="新細明體" panose="02020500000000000000" pitchFamily="18" charset="-120"/>
            </a:endParaRPr>
          </a:p>
        </p:txBody>
      </p:sp>
      <p:cxnSp>
        <p:nvCxnSpPr>
          <p:cNvPr id="24" name="Straight Arrow Connector 23">
            <a:extLst>
              <a:ext uri="{FF2B5EF4-FFF2-40B4-BE49-F238E27FC236}">
                <a16:creationId xmlns:a16="http://schemas.microsoft.com/office/drawing/2014/main" id="{53B38615-732D-48A8-B76A-6FEE0729FFEA}"/>
              </a:ext>
            </a:extLst>
          </p:cNvPr>
          <p:cNvCxnSpPr/>
          <p:nvPr/>
        </p:nvCxnSpPr>
        <p:spPr bwMode="auto">
          <a:xfrm>
            <a:off x="3842561" y="1729694"/>
            <a:ext cx="377371" cy="0"/>
          </a:xfrm>
          <a:prstGeom prst="straightConnector1">
            <a:avLst/>
          </a:prstGeom>
          <a:noFill/>
          <a:ln w="15875" cap="flat" cmpd="sng" algn="ctr">
            <a:solidFill>
              <a:srgbClr val="FF0000"/>
            </a:solidFill>
            <a:prstDash val="solid"/>
            <a:round/>
            <a:headEnd type="none" w="med" len="med"/>
            <a:tailEnd type="triangle"/>
          </a:ln>
        </p:spPr>
      </p:cxnSp>
      <p:sp>
        <p:nvSpPr>
          <p:cNvPr id="25" name="TextBox 24">
            <a:extLst>
              <a:ext uri="{FF2B5EF4-FFF2-40B4-BE49-F238E27FC236}">
                <a16:creationId xmlns:a16="http://schemas.microsoft.com/office/drawing/2014/main" id="{0D0BE29A-BA8B-4015-AB42-6A734241AAC4}"/>
              </a:ext>
            </a:extLst>
          </p:cNvPr>
          <p:cNvSpPr txBox="1"/>
          <p:nvPr/>
        </p:nvSpPr>
        <p:spPr>
          <a:xfrm>
            <a:off x="3415036" y="1539692"/>
            <a:ext cx="377026" cy="369332"/>
          </a:xfrm>
          <a:prstGeom prst="rect">
            <a:avLst/>
          </a:prstGeom>
          <a:noFill/>
        </p:spPr>
        <p:txBody>
          <a:bodyPr wrap="none" rtlCol="0" anchor="ctr" anchorCtr="1">
            <a:spAutoFit/>
          </a:bodyPr>
          <a:lstStyle/>
          <a:p>
            <a:r>
              <a:rPr lang="en-US" dirty="0" err="1">
                <a:ea typeface="標楷體" pitchFamily="65" charset="-120"/>
                <a:cs typeface="Calibri" panose="020F07020304040A0204" pitchFamily="34" charset="0"/>
              </a:rPr>
              <a:t>fp</a:t>
            </a:r>
            <a:endParaRPr lang="en-US" dirty="0">
              <a:ea typeface="標楷體" pitchFamily="65" charset="-120"/>
              <a:cs typeface="Calibri" panose="020F07020304040A0204" pitchFamily="34" charset="0"/>
            </a:endParaRPr>
          </a:p>
        </p:txBody>
      </p:sp>
      <p:cxnSp>
        <p:nvCxnSpPr>
          <p:cNvPr id="26" name="Straight Arrow Connector 25">
            <a:extLst>
              <a:ext uri="{FF2B5EF4-FFF2-40B4-BE49-F238E27FC236}">
                <a16:creationId xmlns:a16="http://schemas.microsoft.com/office/drawing/2014/main" id="{5D39C08C-C0A0-4C7A-9921-3643C403D32A}"/>
              </a:ext>
            </a:extLst>
          </p:cNvPr>
          <p:cNvCxnSpPr/>
          <p:nvPr/>
        </p:nvCxnSpPr>
        <p:spPr bwMode="auto">
          <a:xfrm>
            <a:off x="3758458" y="3818038"/>
            <a:ext cx="377371" cy="0"/>
          </a:xfrm>
          <a:prstGeom prst="straightConnector1">
            <a:avLst/>
          </a:prstGeom>
          <a:noFill/>
          <a:ln w="15875" cap="flat" cmpd="sng" algn="ctr">
            <a:solidFill>
              <a:srgbClr val="FF0000"/>
            </a:solidFill>
            <a:prstDash val="solid"/>
            <a:round/>
            <a:headEnd type="none" w="med" len="med"/>
            <a:tailEnd type="triangle"/>
          </a:ln>
        </p:spPr>
      </p:cxnSp>
      <p:sp>
        <p:nvSpPr>
          <p:cNvPr id="27" name="TextBox 26">
            <a:extLst>
              <a:ext uri="{FF2B5EF4-FFF2-40B4-BE49-F238E27FC236}">
                <a16:creationId xmlns:a16="http://schemas.microsoft.com/office/drawing/2014/main" id="{9B4E3F75-48B9-4B62-A8D8-C0A627115B17}"/>
              </a:ext>
            </a:extLst>
          </p:cNvPr>
          <p:cNvSpPr txBox="1"/>
          <p:nvPr/>
        </p:nvSpPr>
        <p:spPr>
          <a:xfrm>
            <a:off x="3340526" y="3633372"/>
            <a:ext cx="428322" cy="369332"/>
          </a:xfrm>
          <a:prstGeom prst="rect">
            <a:avLst/>
          </a:prstGeom>
          <a:noFill/>
        </p:spPr>
        <p:txBody>
          <a:bodyPr wrap="none" rtlCol="0" anchor="ctr" anchorCtr="1">
            <a:spAutoFit/>
          </a:bodyPr>
          <a:lstStyle/>
          <a:p>
            <a:r>
              <a:rPr lang="en-US" dirty="0" err="1">
                <a:ea typeface="標楷體" pitchFamily="65" charset="-120"/>
                <a:cs typeface="Calibri" panose="020F07020304040A0204" pitchFamily="34" charset="0"/>
              </a:rPr>
              <a:t>sp</a:t>
            </a:r>
            <a:endParaRPr lang="en-US" dirty="0">
              <a:ea typeface="標楷體" pitchFamily="65" charset="-120"/>
              <a:cs typeface="Calibri" panose="020F07020304040A0204" pitchFamily="34" charset="0"/>
            </a:endParaRPr>
          </a:p>
        </p:txBody>
      </p:sp>
      <p:sp>
        <p:nvSpPr>
          <p:cNvPr id="28" name="TextBox 27">
            <a:extLst>
              <a:ext uri="{FF2B5EF4-FFF2-40B4-BE49-F238E27FC236}">
                <a16:creationId xmlns:a16="http://schemas.microsoft.com/office/drawing/2014/main" id="{AE993838-D91D-45AE-AD17-7CDDDD1F5FF5}"/>
              </a:ext>
            </a:extLst>
          </p:cNvPr>
          <p:cNvSpPr txBox="1"/>
          <p:nvPr/>
        </p:nvSpPr>
        <p:spPr>
          <a:xfrm>
            <a:off x="4106802" y="4158646"/>
            <a:ext cx="1697901" cy="369332"/>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During Call B()</a:t>
            </a:r>
          </a:p>
        </p:txBody>
      </p:sp>
      <p:sp>
        <p:nvSpPr>
          <p:cNvPr id="10" name="TextBox 9">
            <a:extLst>
              <a:ext uri="{FF2B5EF4-FFF2-40B4-BE49-F238E27FC236}">
                <a16:creationId xmlns:a16="http://schemas.microsoft.com/office/drawing/2014/main" id="{67FD121F-2739-475E-90BD-141D71F11189}"/>
              </a:ext>
            </a:extLst>
          </p:cNvPr>
          <p:cNvSpPr txBox="1"/>
          <p:nvPr/>
        </p:nvSpPr>
        <p:spPr>
          <a:xfrm>
            <a:off x="1279888" y="1328399"/>
            <a:ext cx="1223412" cy="338554"/>
          </a:xfrm>
          <a:prstGeom prst="rect">
            <a:avLst/>
          </a:prstGeom>
          <a:noFill/>
        </p:spPr>
        <p:txBody>
          <a:bodyPr wrap="none" rtlCol="0" anchor="ctr" anchorCtr="1">
            <a:spAutoFit/>
          </a:bodyPr>
          <a:lstStyle/>
          <a:p>
            <a:r>
              <a:rPr lang="en-US" sz="1600" dirty="0">
                <a:ea typeface="標楷體" pitchFamily="65" charset="-120"/>
                <a:cs typeface="Calibri" panose="020F07020304040A0204" pitchFamily="34" charset="0"/>
              </a:rPr>
              <a:t>argument 1</a:t>
            </a:r>
          </a:p>
        </p:txBody>
      </p:sp>
      <p:sp>
        <p:nvSpPr>
          <p:cNvPr id="30" name="TextBox 29">
            <a:extLst>
              <a:ext uri="{FF2B5EF4-FFF2-40B4-BE49-F238E27FC236}">
                <a16:creationId xmlns:a16="http://schemas.microsoft.com/office/drawing/2014/main" id="{2F42C9F1-0252-4786-A76E-93CFBF8D2E2C}"/>
              </a:ext>
            </a:extLst>
          </p:cNvPr>
          <p:cNvSpPr txBox="1"/>
          <p:nvPr/>
        </p:nvSpPr>
        <p:spPr>
          <a:xfrm>
            <a:off x="1287756" y="1144896"/>
            <a:ext cx="1223412" cy="338554"/>
          </a:xfrm>
          <a:prstGeom prst="rect">
            <a:avLst/>
          </a:prstGeom>
          <a:noFill/>
        </p:spPr>
        <p:txBody>
          <a:bodyPr wrap="none" rtlCol="0" anchor="ctr" anchorCtr="1">
            <a:spAutoFit/>
          </a:bodyPr>
          <a:lstStyle/>
          <a:p>
            <a:r>
              <a:rPr lang="en-US" sz="1600" dirty="0">
                <a:ea typeface="標楷體" pitchFamily="65" charset="-120"/>
                <a:cs typeface="Calibri" panose="020F07020304040A0204" pitchFamily="34" charset="0"/>
              </a:rPr>
              <a:t>argument 2</a:t>
            </a:r>
          </a:p>
        </p:txBody>
      </p:sp>
      <p:sp>
        <p:nvSpPr>
          <p:cNvPr id="31" name="TextBox 30">
            <a:extLst>
              <a:ext uri="{FF2B5EF4-FFF2-40B4-BE49-F238E27FC236}">
                <a16:creationId xmlns:a16="http://schemas.microsoft.com/office/drawing/2014/main" id="{4259E648-9F80-4777-8AA0-D8324A0E0638}"/>
              </a:ext>
            </a:extLst>
          </p:cNvPr>
          <p:cNvSpPr txBox="1"/>
          <p:nvPr/>
        </p:nvSpPr>
        <p:spPr>
          <a:xfrm>
            <a:off x="1297153" y="1513533"/>
            <a:ext cx="1212191" cy="338554"/>
          </a:xfrm>
          <a:prstGeom prst="rect">
            <a:avLst/>
          </a:prstGeom>
          <a:noFill/>
        </p:spPr>
        <p:txBody>
          <a:bodyPr wrap="none" rtlCol="0" anchor="ctr" anchorCtr="1">
            <a:spAutoFit/>
          </a:bodyPr>
          <a:lstStyle/>
          <a:p>
            <a:r>
              <a:rPr lang="en-US" sz="1600" dirty="0">
                <a:ea typeface="標楷體" pitchFamily="65" charset="-120"/>
                <a:cs typeface="Calibri" panose="020F07020304040A0204" pitchFamily="34" charset="0"/>
              </a:rPr>
              <a:t>ret address</a:t>
            </a:r>
          </a:p>
        </p:txBody>
      </p:sp>
      <p:sp>
        <p:nvSpPr>
          <p:cNvPr id="34" name="TextBox 33">
            <a:extLst>
              <a:ext uri="{FF2B5EF4-FFF2-40B4-BE49-F238E27FC236}">
                <a16:creationId xmlns:a16="http://schemas.microsoft.com/office/drawing/2014/main" id="{774B7351-342A-4613-A490-624EC81838FF}"/>
              </a:ext>
            </a:extLst>
          </p:cNvPr>
          <p:cNvSpPr txBox="1"/>
          <p:nvPr/>
        </p:nvSpPr>
        <p:spPr>
          <a:xfrm>
            <a:off x="4270287" y="1245023"/>
            <a:ext cx="1223412" cy="338554"/>
          </a:xfrm>
          <a:prstGeom prst="rect">
            <a:avLst/>
          </a:prstGeom>
          <a:noFill/>
        </p:spPr>
        <p:txBody>
          <a:bodyPr wrap="none" rtlCol="0" anchor="ctr" anchorCtr="1">
            <a:spAutoFit/>
          </a:bodyPr>
          <a:lstStyle/>
          <a:p>
            <a:r>
              <a:rPr lang="en-US" sz="1600" dirty="0">
                <a:ea typeface="標楷體" pitchFamily="65" charset="-120"/>
                <a:cs typeface="Calibri" panose="020F07020304040A0204" pitchFamily="34" charset="0"/>
              </a:rPr>
              <a:t>argument 1</a:t>
            </a:r>
          </a:p>
        </p:txBody>
      </p:sp>
      <p:sp>
        <p:nvSpPr>
          <p:cNvPr id="35" name="TextBox 34">
            <a:extLst>
              <a:ext uri="{FF2B5EF4-FFF2-40B4-BE49-F238E27FC236}">
                <a16:creationId xmlns:a16="http://schemas.microsoft.com/office/drawing/2014/main" id="{C5045D87-64AC-41E2-B3C7-7B5C4B3DE1EB}"/>
              </a:ext>
            </a:extLst>
          </p:cNvPr>
          <p:cNvSpPr txBox="1"/>
          <p:nvPr/>
        </p:nvSpPr>
        <p:spPr>
          <a:xfrm>
            <a:off x="4278155" y="1061520"/>
            <a:ext cx="1223412" cy="338554"/>
          </a:xfrm>
          <a:prstGeom prst="rect">
            <a:avLst/>
          </a:prstGeom>
          <a:noFill/>
        </p:spPr>
        <p:txBody>
          <a:bodyPr wrap="none" rtlCol="0" anchor="ctr" anchorCtr="1">
            <a:spAutoFit/>
          </a:bodyPr>
          <a:lstStyle/>
          <a:p>
            <a:r>
              <a:rPr lang="en-US" sz="1600" dirty="0">
                <a:ea typeface="標楷體" pitchFamily="65" charset="-120"/>
                <a:cs typeface="Calibri" panose="020F07020304040A0204" pitchFamily="34" charset="0"/>
              </a:rPr>
              <a:t>argument 2</a:t>
            </a:r>
          </a:p>
        </p:txBody>
      </p:sp>
      <p:sp>
        <p:nvSpPr>
          <p:cNvPr id="36" name="TextBox 35">
            <a:extLst>
              <a:ext uri="{FF2B5EF4-FFF2-40B4-BE49-F238E27FC236}">
                <a16:creationId xmlns:a16="http://schemas.microsoft.com/office/drawing/2014/main" id="{64F1D29F-9027-485B-B929-0CD59CC54B5A}"/>
              </a:ext>
            </a:extLst>
          </p:cNvPr>
          <p:cNvSpPr txBox="1"/>
          <p:nvPr/>
        </p:nvSpPr>
        <p:spPr>
          <a:xfrm>
            <a:off x="4287552" y="1430157"/>
            <a:ext cx="1212191" cy="338554"/>
          </a:xfrm>
          <a:prstGeom prst="rect">
            <a:avLst/>
          </a:prstGeom>
          <a:noFill/>
        </p:spPr>
        <p:txBody>
          <a:bodyPr wrap="none" rtlCol="0" anchor="ctr" anchorCtr="1">
            <a:spAutoFit/>
          </a:bodyPr>
          <a:lstStyle/>
          <a:p>
            <a:r>
              <a:rPr lang="en-US" sz="1600" dirty="0">
                <a:ea typeface="標楷體" pitchFamily="65" charset="-120"/>
                <a:cs typeface="Calibri" panose="020F07020304040A0204" pitchFamily="34" charset="0"/>
              </a:rPr>
              <a:t>ret address</a:t>
            </a:r>
          </a:p>
        </p:txBody>
      </p:sp>
      <p:sp>
        <p:nvSpPr>
          <p:cNvPr id="37" name="TextBox 36">
            <a:extLst>
              <a:ext uri="{FF2B5EF4-FFF2-40B4-BE49-F238E27FC236}">
                <a16:creationId xmlns:a16="http://schemas.microsoft.com/office/drawing/2014/main" id="{5A815AEA-AC78-4324-878E-751C0F18977E}"/>
              </a:ext>
            </a:extLst>
          </p:cNvPr>
          <p:cNvSpPr txBox="1"/>
          <p:nvPr/>
        </p:nvSpPr>
        <p:spPr>
          <a:xfrm>
            <a:off x="4159117" y="1870000"/>
            <a:ext cx="1481496" cy="338554"/>
          </a:xfrm>
          <a:prstGeom prst="rect">
            <a:avLst/>
          </a:prstGeom>
          <a:noFill/>
        </p:spPr>
        <p:txBody>
          <a:bodyPr wrap="none" rtlCol="0" anchor="ctr" anchorCtr="1">
            <a:spAutoFit/>
          </a:bodyPr>
          <a:lstStyle/>
          <a:p>
            <a:r>
              <a:rPr lang="en-US" sz="1600" dirty="0">
                <a:ea typeface="標楷體" pitchFamily="65" charset="-120"/>
                <a:cs typeface="Calibri" panose="020F07020304040A0204" pitchFamily="34" charset="0"/>
              </a:rPr>
              <a:t>local variables</a:t>
            </a:r>
          </a:p>
        </p:txBody>
      </p:sp>
      <p:sp>
        <p:nvSpPr>
          <p:cNvPr id="38" name="TextBox 37">
            <a:extLst>
              <a:ext uri="{FF2B5EF4-FFF2-40B4-BE49-F238E27FC236}">
                <a16:creationId xmlns:a16="http://schemas.microsoft.com/office/drawing/2014/main" id="{17C93DB6-41E7-4FCC-9423-4F6BEF593D10}"/>
              </a:ext>
            </a:extLst>
          </p:cNvPr>
          <p:cNvSpPr txBox="1"/>
          <p:nvPr/>
        </p:nvSpPr>
        <p:spPr>
          <a:xfrm>
            <a:off x="4381261" y="1666953"/>
            <a:ext cx="686406" cy="338554"/>
          </a:xfrm>
          <a:prstGeom prst="rect">
            <a:avLst/>
          </a:prstGeom>
          <a:noFill/>
        </p:spPr>
        <p:txBody>
          <a:bodyPr wrap="none" rtlCol="0" anchor="ctr" anchorCtr="1">
            <a:spAutoFit/>
          </a:bodyPr>
          <a:lstStyle/>
          <a:p>
            <a:r>
              <a:rPr lang="en-US" sz="1600" dirty="0">
                <a:solidFill>
                  <a:srgbClr val="FF0000"/>
                </a:solidFill>
                <a:ea typeface="標楷體" pitchFamily="65" charset="-120"/>
                <a:cs typeface="Calibri" panose="020F07020304040A0204" pitchFamily="34" charset="0"/>
              </a:rPr>
              <a:t>old </a:t>
            </a:r>
            <a:r>
              <a:rPr lang="en-US" sz="1600" dirty="0" err="1">
                <a:solidFill>
                  <a:srgbClr val="FF0000"/>
                </a:solidFill>
                <a:ea typeface="標楷體" pitchFamily="65" charset="-120"/>
                <a:cs typeface="Calibri" panose="020F07020304040A0204" pitchFamily="34" charset="0"/>
              </a:rPr>
              <a:t>fp</a:t>
            </a:r>
            <a:endParaRPr lang="en-US" sz="1600" dirty="0">
              <a:solidFill>
                <a:srgbClr val="FF0000"/>
              </a:solidFill>
              <a:ea typeface="標楷體" pitchFamily="65" charset="-120"/>
              <a:cs typeface="Calibri" panose="020F07020304040A0204" pitchFamily="34" charset="0"/>
            </a:endParaRPr>
          </a:p>
        </p:txBody>
      </p:sp>
      <p:cxnSp>
        <p:nvCxnSpPr>
          <p:cNvPr id="14" name="Straight Connector 13">
            <a:extLst>
              <a:ext uri="{FF2B5EF4-FFF2-40B4-BE49-F238E27FC236}">
                <a16:creationId xmlns:a16="http://schemas.microsoft.com/office/drawing/2014/main" id="{F320C9A3-AB33-4A8C-B157-8BF393AA02C0}"/>
              </a:ext>
            </a:extLst>
          </p:cNvPr>
          <p:cNvCxnSpPr>
            <a:stCxn id="22" idx="1"/>
          </p:cNvCxnSpPr>
          <p:nvPr/>
        </p:nvCxnSpPr>
        <p:spPr bwMode="auto">
          <a:xfrm flipV="1">
            <a:off x="4208401" y="2523104"/>
            <a:ext cx="1339588" cy="1"/>
          </a:xfrm>
          <a:prstGeom prst="line">
            <a:avLst/>
          </a:prstGeom>
          <a:noFill/>
          <a:ln w="28575" cap="flat" cmpd="sng" algn="ctr">
            <a:solidFill>
              <a:srgbClr val="FF0000"/>
            </a:solidFill>
            <a:prstDash val="solid"/>
            <a:round/>
            <a:headEnd type="none" w="med" len="med"/>
            <a:tailEnd type="none" w="med" len="med"/>
          </a:ln>
        </p:spPr>
      </p:cxnSp>
      <p:sp>
        <p:nvSpPr>
          <p:cNvPr id="41" name="TextBox 40">
            <a:extLst>
              <a:ext uri="{FF2B5EF4-FFF2-40B4-BE49-F238E27FC236}">
                <a16:creationId xmlns:a16="http://schemas.microsoft.com/office/drawing/2014/main" id="{C6B98193-AA24-4F9E-AAEE-9769B9F0F5F8}"/>
              </a:ext>
            </a:extLst>
          </p:cNvPr>
          <p:cNvSpPr txBox="1"/>
          <p:nvPr/>
        </p:nvSpPr>
        <p:spPr>
          <a:xfrm>
            <a:off x="4135829" y="2734169"/>
            <a:ext cx="1495922" cy="338554"/>
          </a:xfrm>
          <a:prstGeom prst="rect">
            <a:avLst/>
          </a:prstGeom>
          <a:noFill/>
        </p:spPr>
        <p:txBody>
          <a:bodyPr wrap="none" rtlCol="0" anchor="ctr" anchorCtr="1">
            <a:spAutoFit/>
          </a:bodyPr>
          <a:lstStyle/>
          <a:p>
            <a:r>
              <a:rPr lang="en-US" sz="1600" dirty="0">
                <a:ea typeface="標楷體" pitchFamily="65" charset="-120"/>
                <a:cs typeface="Calibri" panose="020F07020304040A0204" pitchFamily="34" charset="0"/>
              </a:rPr>
              <a:t>Save registers</a:t>
            </a:r>
          </a:p>
        </p:txBody>
      </p:sp>
      <p:cxnSp>
        <p:nvCxnSpPr>
          <p:cNvPr id="42" name="Straight Connector 41">
            <a:extLst>
              <a:ext uri="{FF2B5EF4-FFF2-40B4-BE49-F238E27FC236}">
                <a16:creationId xmlns:a16="http://schemas.microsoft.com/office/drawing/2014/main" id="{AAB22D75-DE22-405C-BB06-F698E3277AD9}"/>
              </a:ext>
            </a:extLst>
          </p:cNvPr>
          <p:cNvCxnSpPr/>
          <p:nvPr/>
        </p:nvCxnSpPr>
        <p:spPr bwMode="auto">
          <a:xfrm flipV="1">
            <a:off x="4208401" y="3413330"/>
            <a:ext cx="1339588" cy="1"/>
          </a:xfrm>
          <a:prstGeom prst="line">
            <a:avLst/>
          </a:prstGeom>
          <a:noFill/>
          <a:ln w="28575" cap="flat" cmpd="sng" algn="ctr">
            <a:solidFill>
              <a:srgbClr val="FF0000"/>
            </a:solidFill>
            <a:prstDash val="solid"/>
            <a:round/>
            <a:headEnd type="none" w="med" len="med"/>
            <a:tailEnd type="none" w="med" len="med"/>
          </a:ln>
        </p:spPr>
      </p:cxnSp>
      <p:sp>
        <p:nvSpPr>
          <p:cNvPr id="43" name="TextBox 42">
            <a:extLst>
              <a:ext uri="{FF2B5EF4-FFF2-40B4-BE49-F238E27FC236}">
                <a16:creationId xmlns:a16="http://schemas.microsoft.com/office/drawing/2014/main" id="{1B1D46B3-4984-4410-8313-DE4013A3E149}"/>
              </a:ext>
            </a:extLst>
          </p:cNvPr>
          <p:cNvSpPr txBox="1"/>
          <p:nvPr/>
        </p:nvSpPr>
        <p:spPr>
          <a:xfrm>
            <a:off x="4114659" y="3509440"/>
            <a:ext cx="1576072" cy="338554"/>
          </a:xfrm>
          <a:prstGeom prst="rect">
            <a:avLst/>
          </a:prstGeom>
          <a:noFill/>
        </p:spPr>
        <p:txBody>
          <a:bodyPr wrap="none" rtlCol="0" anchor="ctr" anchorCtr="1">
            <a:spAutoFit/>
          </a:bodyPr>
          <a:lstStyle/>
          <a:p>
            <a:r>
              <a:rPr lang="en-US" sz="1600" dirty="0">
                <a:ea typeface="標楷體" pitchFamily="65" charset="-120"/>
                <a:cs typeface="Calibri" panose="020F07020304040A0204" pitchFamily="34" charset="0"/>
              </a:rPr>
              <a:t>dynamic arrays</a:t>
            </a:r>
          </a:p>
        </p:txBody>
      </p:sp>
    </p:spTree>
    <p:extLst>
      <p:ext uri="{BB962C8B-B14F-4D97-AF65-F5344CB8AC3E}">
        <p14:creationId xmlns:p14="http://schemas.microsoft.com/office/powerpoint/2010/main" val="26663906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D12C66DE-6F35-4816-939F-B53C2F9EFAE8}"/>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34AE673E-3D97-4A0A-8121-1E6D4C9DD50A}"/>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8D033347-7621-4281-A9AF-3DA591D36C6E}" type="slidenum">
              <a:rPr lang="zh-TW" altLang="en-US" sz="900"/>
              <a:pPr>
                <a:spcBef>
                  <a:spcPct val="0"/>
                </a:spcBef>
                <a:buClrTx/>
                <a:buSzTx/>
                <a:buFontTx/>
                <a:buNone/>
              </a:pPr>
              <a:t>5</a:t>
            </a:fld>
            <a:endParaRPr lang="en-US" altLang="zh-TW" sz="900"/>
          </a:p>
        </p:txBody>
      </p:sp>
      <p:sp>
        <p:nvSpPr>
          <p:cNvPr id="5" name="Rectangle 2">
            <a:extLst>
              <a:ext uri="{FF2B5EF4-FFF2-40B4-BE49-F238E27FC236}">
                <a16:creationId xmlns:a16="http://schemas.microsoft.com/office/drawing/2014/main" id="{28218223-0F65-47BD-9D1A-4016E9CC2AC7}"/>
              </a:ext>
            </a:extLst>
          </p:cNvPr>
          <p:cNvSpPr txBox="1">
            <a:spLocks noChangeArrowheads="1"/>
          </p:cNvSpPr>
          <p:nvPr/>
        </p:nvSpPr>
        <p:spPr bwMode="auto">
          <a:xfrm>
            <a:off x="965200" y="0"/>
            <a:ext cx="6400800" cy="68580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300" dirty="0">
                <a:effectLst/>
                <a:ea typeface="新細明體" pitchFamily="18" charset="-120"/>
              </a:rPr>
              <a:t>Frame Allocation</a:t>
            </a:r>
          </a:p>
        </p:txBody>
      </p:sp>
      <p:sp>
        <p:nvSpPr>
          <p:cNvPr id="6" name="Rectangle 2">
            <a:extLst>
              <a:ext uri="{FF2B5EF4-FFF2-40B4-BE49-F238E27FC236}">
                <a16:creationId xmlns:a16="http://schemas.microsoft.com/office/drawing/2014/main" id="{74E55A50-2122-44DA-A392-6450509BB35B}"/>
              </a:ext>
            </a:extLst>
          </p:cNvPr>
          <p:cNvSpPr>
            <a:spLocks noChangeArrowheads="1"/>
          </p:cNvSpPr>
          <p:nvPr/>
        </p:nvSpPr>
        <p:spPr bwMode="auto">
          <a:xfrm>
            <a:off x="3341008" y="776436"/>
            <a:ext cx="2114550" cy="37719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defTabSz="685800" eaLnBrk="0" fontAlgn="base" hangingPunct="0">
              <a:spcBef>
                <a:spcPct val="0"/>
              </a:spcBef>
              <a:spcAft>
                <a:spcPct val="0"/>
              </a:spcAft>
              <a:buClrTx/>
              <a:buSzTx/>
              <a:buNone/>
            </a:pPr>
            <a:endParaRPr lang="zh-TW" altLang="en-US" sz="1350">
              <a:solidFill>
                <a:srgbClr val="FFFFFF"/>
              </a:solidFill>
              <a:ea typeface="新細明體" panose="02020500000000000000" pitchFamily="18" charset="-120"/>
            </a:endParaRPr>
          </a:p>
        </p:txBody>
      </p:sp>
      <p:sp>
        <p:nvSpPr>
          <p:cNvPr id="7" name="Line 3">
            <a:extLst>
              <a:ext uri="{FF2B5EF4-FFF2-40B4-BE49-F238E27FC236}">
                <a16:creationId xmlns:a16="http://schemas.microsoft.com/office/drawing/2014/main" id="{1ADF8854-A268-43C3-98FC-715FA49BB72A}"/>
              </a:ext>
            </a:extLst>
          </p:cNvPr>
          <p:cNvSpPr>
            <a:spLocks noChangeShapeType="1"/>
          </p:cNvSpPr>
          <p:nvPr/>
        </p:nvSpPr>
        <p:spPr bwMode="auto">
          <a:xfrm>
            <a:off x="3341008" y="2490936"/>
            <a:ext cx="211455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0" fontAlgn="base" hangingPunct="0">
              <a:spcBef>
                <a:spcPct val="0"/>
              </a:spcBef>
              <a:spcAft>
                <a:spcPct val="0"/>
              </a:spcAft>
            </a:pPr>
            <a:endParaRPr lang="en-US" sz="1350">
              <a:solidFill>
                <a:srgbClr val="FFFFFF"/>
              </a:solidFill>
              <a:latin typeface="Arial" panose="020B0604020202020204" pitchFamily="34" charset="0"/>
            </a:endParaRPr>
          </a:p>
        </p:txBody>
      </p:sp>
      <p:sp>
        <p:nvSpPr>
          <p:cNvPr id="8" name="Line 4">
            <a:extLst>
              <a:ext uri="{FF2B5EF4-FFF2-40B4-BE49-F238E27FC236}">
                <a16:creationId xmlns:a16="http://schemas.microsoft.com/office/drawing/2014/main" id="{684F33CC-DAA1-449B-8206-93B929DA9C8D}"/>
              </a:ext>
            </a:extLst>
          </p:cNvPr>
          <p:cNvSpPr>
            <a:spLocks noChangeShapeType="1"/>
          </p:cNvSpPr>
          <p:nvPr/>
        </p:nvSpPr>
        <p:spPr bwMode="auto">
          <a:xfrm>
            <a:off x="3341008" y="2890986"/>
            <a:ext cx="211455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0" fontAlgn="base" hangingPunct="0">
              <a:spcBef>
                <a:spcPct val="0"/>
              </a:spcBef>
              <a:spcAft>
                <a:spcPct val="0"/>
              </a:spcAft>
            </a:pPr>
            <a:endParaRPr lang="en-US" sz="1350">
              <a:solidFill>
                <a:srgbClr val="FFFFFF"/>
              </a:solidFill>
              <a:latin typeface="Arial" panose="020B0604020202020204" pitchFamily="34" charset="0"/>
            </a:endParaRPr>
          </a:p>
        </p:txBody>
      </p:sp>
      <p:sp>
        <p:nvSpPr>
          <p:cNvPr id="9" name="Line 5">
            <a:extLst>
              <a:ext uri="{FF2B5EF4-FFF2-40B4-BE49-F238E27FC236}">
                <a16:creationId xmlns:a16="http://schemas.microsoft.com/office/drawing/2014/main" id="{7224976B-7C47-4BDC-9C52-57D4BDEF1680}"/>
              </a:ext>
            </a:extLst>
          </p:cNvPr>
          <p:cNvSpPr>
            <a:spLocks noChangeShapeType="1"/>
          </p:cNvSpPr>
          <p:nvPr/>
        </p:nvSpPr>
        <p:spPr bwMode="auto">
          <a:xfrm>
            <a:off x="3341008" y="3291036"/>
            <a:ext cx="2114550" cy="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0" fontAlgn="base" hangingPunct="0">
              <a:spcBef>
                <a:spcPct val="0"/>
              </a:spcBef>
              <a:spcAft>
                <a:spcPct val="0"/>
              </a:spcAft>
            </a:pPr>
            <a:endParaRPr lang="en-US" sz="1350">
              <a:solidFill>
                <a:srgbClr val="FFFFFF"/>
              </a:solidFill>
              <a:latin typeface="Arial" panose="020B0604020202020204" pitchFamily="34" charset="0"/>
            </a:endParaRPr>
          </a:p>
        </p:txBody>
      </p:sp>
      <p:sp>
        <p:nvSpPr>
          <p:cNvPr id="10" name="Line 6">
            <a:extLst>
              <a:ext uri="{FF2B5EF4-FFF2-40B4-BE49-F238E27FC236}">
                <a16:creationId xmlns:a16="http://schemas.microsoft.com/office/drawing/2014/main" id="{52728759-FB8D-4024-8074-F0D46A4037F6}"/>
              </a:ext>
            </a:extLst>
          </p:cNvPr>
          <p:cNvSpPr>
            <a:spLocks noChangeShapeType="1"/>
          </p:cNvSpPr>
          <p:nvPr/>
        </p:nvSpPr>
        <p:spPr bwMode="auto">
          <a:xfrm>
            <a:off x="3341008" y="2090886"/>
            <a:ext cx="2114550" cy="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0" fontAlgn="base" hangingPunct="0">
              <a:spcBef>
                <a:spcPct val="0"/>
              </a:spcBef>
              <a:spcAft>
                <a:spcPct val="0"/>
              </a:spcAft>
            </a:pPr>
            <a:endParaRPr lang="en-US" sz="1350">
              <a:solidFill>
                <a:srgbClr val="FFFFFF"/>
              </a:solidFill>
              <a:latin typeface="Arial" panose="020B0604020202020204" pitchFamily="34" charset="0"/>
            </a:endParaRPr>
          </a:p>
        </p:txBody>
      </p:sp>
      <p:sp>
        <p:nvSpPr>
          <p:cNvPr id="11" name="Line 7">
            <a:extLst>
              <a:ext uri="{FF2B5EF4-FFF2-40B4-BE49-F238E27FC236}">
                <a16:creationId xmlns:a16="http://schemas.microsoft.com/office/drawing/2014/main" id="{40BF936A-09B5-4B7D-8F04-A8FD2BD251D3}"/>
              </a:ext>
            </a:extLst>
          </p:cNvPr>
          <p:cNvSpPr>
            <a:spLocks noChangeShapeType="1"/>
          </p:cNvSpPr>
          <p:nvPr/>
        </p:nvSpPr>
        <p:spPr bwMode="auto">
          <a:xfrm>
            <a:off x="3341008" y="1747986"/>
            <a:ext cx="2114550" cy="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0" fontAlgn="base" hangingPunct="0">
              <a:spcBef>
                <a:spcPct val="0"/>
              </a:spcBef>
              <a:spcAft>
                <a:spcPct val="0"/>
              </a:spcAft>
            </a:pPr>
            <a:endParaRPr lang="en-US" sz="1350">
              <a:solidFill>
                <a:srgbClr val="FFFFFF"/>
              </a:solidFill>
              <a:latin typeface="Arial" panose="020B0604020202020204" pitchFamily="34" charset="0"/>
            </a:endParaRPr>
          </a:p>
        </p:txBody>
      </p:sp>
      <p:sp>
        <p:nvSpPr>
          <p:cNvPr id="13" name="Line 8">
            <a:extLst>
              <a:ext uri="{FF2B5EF4-FFF2-40B4-BE49-F238E27FC236}">
                <a16:creationId xmlns:a16="http://schemas.microsoft.com/office/drawing/2014/main" id="{957BA69A-15B8-429B-9DE5-9A659AC5E986}"/>
              </a:ext>
            </a:extLst>
          </p:cNvPr>
          <p:cNvSpPr>
            <a:spLocks noChangeShapeType="1"/>
          </p:cNvSpPr>
          <p:nvPr/>
        </p:nvSpPr>
        <p:spPr bwMode="auto">
          <a:xfrm>
            <a:off x="3341008" y="1405086"/>
            <a:ext cx="2114550" cy="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0" fontAlgn="base" hangingPunct="0">
              <a:spcBef>
                <a:spcPct val="0"/>
              </a:spcBef>
              <a:spcAft>
                <a:spcPct val="0"/>
              </a:spcAft>
            </a:pPr>
            <a:endParaRPr lang="en-US" sz="1350">
              <a:solidFill>
                <a:srgbClr val="FFFFFF"/>
              </a:solidFill>
              <a:latin typeface="Arial" panose="020B0604020202020204" pitchFamily="34" charset="0"/>
            </a:endParaRPr>
          </a:p>
        </p:txBody>
      </p:sp>
      <p:sp>
        <p:nvSpPr>
          <p:cNvPr id="14" name="Line 9">
            <a:extLst>
              <a:ext uri="{FF2B5EF4-FFF2-40B4-BE49-F238E27FC236}">
                <a16:creationId xmlns:a16="http://schemas.microsoft.com/office/drawing/2014/main" id="{10311DE7-1DD2-4108-B757-7A959D2AFF94}"/>
              </a:ext>
            </a:extLst>
          </p:cNvPr>
          <p:cNvSpPr>
            <a:spLocks noChangeShapeType="1"/>
          </p:cNvSpPr>
          <p:nvPr/>
        </p:nvSpPr>
        <p:spPr bwMode="auto">
          <a:xfrm>
            <a:off x="3341008" y="3576786"/>
            <a:ext cx="2114550" cy="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0" fontAlgn="base" hangingPunct="0">
              <a:spcBef>
                <a:spcPct val="0"/>
              </a:spcBef>
              <a:spcAft>
                <a:spcPct val="0"/>
              </a:spcAft>
            </a:pPr>
            <a:endParaRPr lang="en-US" sz="1350">
              <a:solidFill>
                <a:srgbClr val="FFFFFF"/>
              </a:solidFill>
              <a:latin typeface="Arial" panose="020B0604020202020204" pitchFamily="34" charset="0"/>
            </a:endParaRPr>
          </a:p>
        </p:txBody>
      </p:sp>
      <p:sp>
        <p:nvSpPr>
          <p:cNvPr id="15" name="Text Box 10">
            <a:extLst>
              <a:ext uri="{FF2B5EF4-FFF2-40B4-BE49-F238E27FC236}">
                <a16:creationId xmlns:a16="http://schemas.microsoft.com/office/drawing/2014/main" id="{8CFEE223-17B9-4358-8167-551E6D414FFE}"/>
              </a:ext>
            </a:extLst>
          </p:cNvPr>
          <p:cNvSpPr txBox="1">
            <a:spLocks noChangeArrowheads="1"/>
          </p:cNvSpPr>
          <p:nvPr/>
        </p:nvSpPr>
        <p:spPr bwMode="auto">
          <a:xfrm>
            <a:off x="2256637" y="2474268"/>
            <a:ext cx="44114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defTabSz="685800" eaLnBrk="0" fontAlgn="base" hangingPunct="0">
              <a:spcBef>
                <a:spcPct val="0"/>
              </a:spcBef>
              <a:spcAft>
                <a:spcPct val="0"/>
              </a:spcAft>
              <a:buClrTx/>
              <a:buSzTx/>
              <a:buNone/>
            </a:pPr>
            <a:r>
              <a:rPr lang="en-US" altLang="zh-TW" sz="2400" dirty="0" err="1">
                <a:solidFill>
                  <a:srgbClr val="FF0000"/>
                </a:solidFill>
                <a:latin typeface="Times New Roman" panose="02020603050405020304" pitchFamily="18" charset="0"/>
                <a:ea typeface="新細明體" panose="02020500000000000000" pitchFamily="18" charset="-120"/>
              </a:rPr>
              <a:t>fp</a:t>
            </a:r>
            <a:endParaRPr lang="en-US" altLang="zh-TW" sz="2400" dirty="0">
              <a:solidFill>
                <a:srgbClr val="FF0000"/>
              </a:solidFill>
              <a:latin typeface="Times New Roman" panose="02020603050405020304" pitchFamily="18" charset="0"/>
              <a:ea typeface="新細明體" panose="02020500000000000000" pitchFamily="18" charset="-120"/>
            </a:endParaRPr>
          </a:p>
        </p:txBody>
      </p:sp>
      <p:sp>
        <p:nvSpPr>
          <p:cNvPr id="16" name="Line 11">
            <a:extLst>
              <a:ext uri="{FF2B5EF4-FFF2-40B4-BE49-F238E27FC236}">
                <a16:creationId xmlns:a16="http://schemas.microsoft.com/office/drawing/2014/main" id="{0E205A3A-FE49-4D85-A339-DAC066EF7E2F}"/>
              </a:ext>
            </a:extLst>
          </p:cNvPr>
          <p:cNvSpPr>
            <a:spLocks noChangeShapeType="1"/>
          </p:cNvSpPr>
          <p:nvPr/>
        </p:nvSpPr>
        <p:spPr bwMode="auto">
          <a:xfrm>
            <a:off x="2712358" y="2719536"/>
            <a:ext cx="62865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0" fontAlgn="base" hangingPunct="0">
              <a:spcBef>
                <a:spcPct val="0"/>
              </a:spcBef>
              <a:spcAft>
                <a:spcPct val="0"/>
              </a:spcAft>
            </a:pPr>
            <a:endParaRPr lang="en-US" sz="1350">
              <a:solidFill>
                <a:srgbClr val="FFFFFF"/>
              </a:solidFill>
              <a:latin typeface="Arial" panose="020B0604020202020204" pitchFamily="34" charset="0"/>
            </a:endParaRPr>
          </a:p>
        </p:txBody>
      </p:sp>
      <p:sp>
        <p:nvSpPr>
          <p:cNvPr id="17" name="Line 12">
            <a:extLst>
              <a:ext uri="{FF2B5EF4-FFF2-40B4-BE49-F238E27FC236}">
                <a16:creationId xmlns:a16="http://schemas.microsoft.com/office/drawing/2014/main" id="{D4D5D4FC-921E-48A4-B2D0-CAB230793AF4}"/>
              </a:ext>
            </a:extLst>
          </p:cNvPr>
          <p:cNvSpPr>
            <a:spLocks noChangeShapeType="1"/>
          </p:cNvSpPr>
          <p:nvPr/>
        </p:nvSpPr>
        <p:spPr bwMode="auto">
          <a:xfrm>
            <a:off x="3341008" y="3862536"/>
            <a:ext cx="2114550" cy="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0" fontAlgn="base" hangingPunct="0">
              <a:spcBef>
                <a:spcPct val="0"/>
              </a:spcBef>
              <a:spcAft>
                <a:spcPct val="0"/>
              </a:spcAft>
            </a:pPr>
            <a:endParaRPr lang="en-US" sz="1350">
              <a:solidFill>
                <a:srgbClr val="FFFFFF"/>
              </a:solidFill>
              <a:latin typeface="Arial" panose="020B0604020202020204" pitchFamily="34" charset="0"/>
            </a:endParaRPr>
          </a:p>
        </p:txBody>
      </p:sp>
      <p:sp>
        <p:nvSpPr>
          <p:cNvPr id="18" name="Text Box 13">
            <a:extLst>
              <a:ext uri="{FF2B5EF4-FFF2-40B4-BE49-F238E27FC236}">
                <a16:creationId xmlns:a16="http://schemas.microsoft.com/office/drawing/2014/main" id="{E422CB82-E2A1-43A2-989F-2BEA4970C058}"/>
              </a:ext>
            </a:extLst>
          </p:cNvPr>
          <p:cNvSpPr txBox="1">
            <a:spLocks noChangeArrowheads="1"/>
          </p:cNvSpPr>
          <p:nvPr/>
        </p:nvSpPr>
        <p:spPr bwMode="auto">
          <a:xfrm>
            <a:off x="2254369" y="4131618"/>
            <a:ext cx="4587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defTabSz="685800" eaLnBrk="0" fontAlgn="base" hangingPunct="0">
              <a:spcBef>
                <a:spcPct val="0"/>
              </a:spcBef>
              <a:spcAft>
                <a:spcPct val="0"/>
              </a:spcAft>
              <a:buClrTx/>
              <a:buSzTx/>
              <a:buNone/>
            </a:pPr>
            <a:r>
              <a:rPr lang="en-US" altLang="zh-TW" sz="2400" dirty="0" err="1">
                <a:solidFill>
                  <a:srgbClr val="FF0000"/>
                </a:solidFill>
                <a:latin typeface="Times New Roman" panose="02020603050405020304" pitchFamily="18" charset="0"/>
                <a:ea typeface="新細明體" panose="02020500000000000000" pitchFamily="18" charset="-120"/>
              </a:rPr>
              <a:t>sp</a:t>
            </a:r>
            <a:endParaRPr lang="en-US" altLang="zh-TW" sz="2400" dirty="0">
              <a:solidFill>
                <a:srgbClr val="FF0000"/>
              </a:solidFill>
              <a:latin typeface="Times New Roman" panose="02020603050405020304" pitchFamily="18" charset="0"/>
              <a:ea typeface="新細明體" panose="02020500000000000000" pitchFamily="18" charset="-120"/>
            </a:endParaRPr>
          </a:p>
        </p:txBody>
      </p:sp>
      <p:sp>
        <p:nvSpPr>
          <p:cNvPr id="19" name="Line 14">
            <a:extLst>
              <a:ext uri="{FF2B5EF4-FFF2-40B4-BE49-F238E27FC236}">
                <a16:creationId xmlns:a16="http://schemas.microsoft.com/office/drawing/2014/main" id="{07FC4438-DED1-400A-BCD3-73D3980F0EAE}"/>
              </a:ext>
            </a:extLst>
          </p:cNvPr>
          <p:cNvSpPr>
            <a:spLocks noChangeShapeType="1"/>
          </p:cNvSpPr>
          <p:nvPr/>
        </p:nvSpPr>
        <p:spPr bwMode="auto">
          <a:xfrm>
            <a:off x="2826658" y="4434036"/>
            <a:ext cx="51435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0" fontAlgn="base" hangingPunct="0">
              <a:spcBef>
                <a:spcPct val="0"/>
              </a:spcBef>
              <a:spcAft>
                <a:spcPct val="0"/>
              </a:spcAft>
            </a:pPr>
            <a:endParaRPr lang="en-US" sz="1350">
              <a:solidFill>
                <a:srgbClr val="FFFFFF"/>
              </a:solidFill>
              <a:latin typeface="Arial" panose="020B0604020202020204" pitchFamily="34" charset="0"/>
            </a:endParaRPr>
          </a:p>
        </p:txBody>
      </p:sp>
      <p:sp>
        <p:nvSpPr>
          <p:cNvPr id="20" name="Line 15">
            <a:extLst>
              <a:ext uri="{FF2B5EF4-FFF2-40B4-BE49-F238E27FC236}">
                <a16:creationId xmlns:a16="http://schemas.microsoft.com/office/drawing/2014/main" id="{28B713A6-A33D-45B0-9B84-E3BBF6F2FF25}"/>
              </a:ext>
            </a:extLst>
          </p:cNvPr>
          <p:cNvSpPr>
            <a:spLocks noChangeShapeType="1"/>
          </p:cNvSpPr>
          <p:nvPr/>
        </p:nvSpPr>
        <p:spPr bwMode="auto">
          <a:xfrm>
            <a:off x="3341008" y="4370536"/>
            <a:ext cx="2114550" cy="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0" fontAlgn="base" hangingPunct="0">
              <a:spcBef>
                <a:spcPct val="0"/>
              </a:spcBef>
              <a:spcAft>
                <a:spcPct val="0"/>
              </a:spcAft>
            </a:pPr>
            <a:endParaRPr lang="en-US" sz="1350">
              <a:solidFill>
                <a:srgbClr val="FFFFFF"/>
              </a:solidFill>
              <a:latin typeface="Arial" panose="020B0604020202020204" pitchFamily="34" charset="0"/>
            </a:endParaRPr>
          </a:p>
        </p:txBody>
      </p:sp>
      <p:sp>
        <p:nvSpPr>
          <p:cNvPr id="21" name="Text Box 16">
            <a:extLst>
              <a:ext uri="{FF2B5EF4-FFF2-40B4-BE49-F238E27FC236}">
                <a16:creationId xmlns:a16="http://schemas.microsoft.com/office/drawing/2014/main" id="{139FCA93-8E50-4309-94E5-C0844516E620}"/>
              </a:ext>
            </a:extLst>
          </p:cNvPr>
          <p:cNvSpPr txBox="1">
            <a:spLocks noChangeArrowheads="1"/>
          </p:cNvSpPr>
          <p:nvPr/>
        </p:nvSpPr>
        <p:spPr bwMode="auto">
          <a:xfrm>
            <a:off x="3846486" y="3805387"/>
            <a:ext cx="10631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defTabSz="685800" eaLnBrk="0" fontAlgn="base" hangingPunct="0">
              <a:spcBef>
                <a:spcPct val="0"/>
              </a:spcBef>
              <a:spcAft>
                <a:spcPct val="0"/>
              </a:spcAft>
              <a:buClrTx/>
              <a:buSzTx/>
              <a:buNone/>
            </a:pPr>
            <a:r>
              <a:rPr lang="en-US" altLang="zh-TW" sz="1800">
                <a:solidFill>
                  <a:srgbClr val="FFFFFF"/>
                </a:solidFill>
                <a:latin typeface="Times New Roman" panose="02020603050405020304" pitchFamily="18" charset="0"/>
                <a:ea typeface="新細明體" panose="02020500000000000000" pitchFamily="18" charset="-120"/>
              </a:rPr>
              <a:t>saved reg</a:t>
            </a:r>
          </a:p>
          <a:p>
            <a:pPr algn="ctr" defTabSz="685800" eaLnBrk="0" fontAlgn="base" hangingPunct="0">
              <a:spcBef>
                <a:spcPct val="0"/>
              </a:spcBef>
              <a:spcAft>
                <a:spcPct val="0"/>
              </a:spcAft>
              <a:buClrTx/>
              <a:buSzTx/>
              <a:buNone/>
            </a:pPr>
            <a:r>
              <a:rPr lang="en-US" altLang="zh-TW" sz="1800">
                <a:solidFill>
                  <a:srgbClr val="FFFFFF"/>
                </a:solidFill>
                <a:latin typeface="Times New Roman" panose="02020603050405020304" pitchFamily="18" charset="0"/>
                <a:ea typeface="新細明體" panose="02020500000000000000" pitchFamily="18" charset="-120"/>
              </a:rPr>
              <a:t>or temps</a:t>
            </a:r>
          </a:p>
        </p:txBody>
      </p:sp>
      <p:sp>
        <p:nvSpPr>
          <p:cNvPr id="22" name="Text Box 17">
            <a:extLst>
              <a:ext uri="{FF2B5EF4-FFF2-40B4-BE49-F238E27FC236}">
                <a16:creationId xmlns:a16="http://schemas.microsoft.com/office/drawing/2014/main" id="{2C5C6F00-920A-4A4A-984A-C69F6031D311}"/>
              </a:ext>
            </a:extLst>
          </p:cNvPr>
          <p:cNvSpPr txBox="1">
            <a:spLocks noChangeArrowheads="1"/>
          </p:cNvSpPr>
          <p:nvPr/>
        </p:nvSpPr>
        <p:spPr bwMode="auto">
          <a:xfrm>
            <a:off x="3943548" y="2548086"/>
            <a:ext cx="7296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defTabSz="685800" eaLnBrk="0" fontAlgn="base" hangingPunct="0">
              <a:spcBef>
                <a:spcPct val="0"/>
              </a:spcBef>
              <a:spcAft>
                <a:spcPct val="0"/>
              </a:spcAft>
              <a:buClrTx/>
              <a:buSzTx/>
              <a:buNone/>
            </a:pPr>
            <a:r>
              <a:rPr lang="en-US" altLang="zh-TW" sz="1800">
                <a:solidFill>
                  <a:srgbClr val="FFFFFF"/>
                </a:solidFill>
                <a:latin typeface="Times New Roman" panose="02020603050405020304" pitchFamily="18" charset="0"/>
                <a:ea typeface="新細明體" panose="02020500000000000000" pitchFamily="18" charset="-120"/>
              </a:rPr>
              <a:t>old fp</a:t>
            </a:r>
          </a:p>
        </p:txBody>
      </p:sp>
      <p:sp>
        <p:nvSpPr>
          <p:cNvPr id="23" name="Text Box 18">
            <a:extLst>
              <a:ext uri="{FF2B5EF4-FFF2-40B4-BE49-F238E27FC236}">
                <a16:creationId xmlns:a16="http://schemas.microsoft.com/office/drawing/2014/main" id="{A3DD3872-3EF0-4C5D-8F2F-BA809CB67560}"/>
              </a:ext>
            </a:extLst>
          </p:cNvPr>
          <p:cNvSpPr txBox="1">
            <a:spLocks noChangeArrowheads="1"/>
          </p:cNvSpPr>
          <p:nvPr/>
        </p:nvSpPr>
        <p:spPr bwMode="auto">
          <a:xfrm>
            <a:off x="3682515" y="2148036"/>
            <a:ext cx="148630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defTabSz="685800" eaLnBrk="0" fontAlgn="base" hangingPunct="0">
              <a:spcBef>
                <a:spcPct val="0"/>
              </a:spcBef>
              <a:spcAft>
                <a:spcPct val="0"/>
              </a:spcAft>
              <a:buClrTx/>
              <a:buSzTx/>
              <a:buNone/>
            </a:pPr>
            <a:r>
              <a:rPr lang="en-US" altLang="zh-TW" sz="1800">
                <a:solidFill>
                  <a:srgbClr val="FFFFFF"/>
                </a:solidFill>
                <a:latin typeface="Times New Roman" panose="02020603050405020304" pitchFamily="18" charset="0"/>
                <a:ea typeface="新細明體" panose="02020500000000000000" pitchFamily="18" charset="-120"/>
              </a:rPr>
              <a:t>return address</a:t>
            </a:r>
          </a:p>
        </p:txBody>
      </p:sp>
      <p:sp>
        <p:nvSpPr>
          <p:cNvPr id="24" name="Text Box 19">
            <a:extLst>
              <a:ext uri="{FF2B5EF4-FFF2-40B4-BE49-F238E27FC236}">
                <a16:creationId xmlns:a16="http://schemas.microsoft.com/office/drawing/2014/main" id="{0609E3A1-552B-4555-BCA6-28067BD2200A}"/>
              </a:ext>
            </a:extLst>
          </p:cNvPr>
          <p:cNvSpPr txBox="1">
            <a:spLocks noChangeArrowheads="1"/>
          </p:cNvSpPr>
          <p:nvPr/>
        </p:nvSpPr>
        <p:spPr bwMode="auto">
          <a:xfrm>
            <a:off x="3842147" y="1747986"/>
            <a:ext cx="93487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defTabSz="685800" eaLnBrk="0" fontAlgn="base" hangingPunct="0">
              <a:spcBef>
                <a:spcPct val="0"/>
              </a:spcBef>
              <a:spcAft>
                <a:spcPct val="0"/>
              </a:spcAft>
              <a:buClrTx/>
              <a:buSzTx/>
              <a:buNone/>
            </a:pPr>
            <a:r>
              <a:rPr lang="en-US" altLang="zh-TW" sz="1800">
                <a:solidFill>
                  <a:srgbClr val="FFFFFF"/>
                </a:solidFill>
                <a:latin typeface="Times New Roman" panose="02020603050405020304" pitchFamily="18" charset="0"/>
                <a:ea typeface="新細明體" panose="02020500000000000000" pitchFamily="18" charset="-120"/>
              </a:rPr>
              <a:t>param 1</a:t>
            </a:r>
          </a:p>
        </p:txBody>
      </p:sp>
      <p:sp>
        <p:nvSpPr>
          <p:cNvPr id="25" name="Text Box 20">
            <a:extLst>
              <a:ext uri="{FF2B5EF4-FFF2-40B4-BE49-F238E27FC236}">
                <a16:creationId xmlns:a16="http://schemas.microsoft.com/office/drawing/2014/main" id="{D23F1EFE-3351-476D-9761-326C4A2B02B8}"/>
              </a:ext>
            </a:extLst>
          </p:cNvPr>
          <p:cNvSpPr txBox="1">
            <a:spLocks noChangeArrowheads="1"/>
          </p:cNvSpPr>
          <p:nvPr/>
        </p:nvSpPr>
        <p:spPr bwMode="auto">
          <a:xfrm>
            <a:off x="3842147" y="1333037"/>
            <a:ext cx="93487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defTabSz="685800" eaLnBrk="0" fontAlgn="base" hangingPunct="0">
              <a:spcBef>
                <a:spcPct val="0"/>
              </a:spcBef>
              <a:spcAft>
                <a:spcPct val="0"/>
              </a:spcAft>
              <a:buClrTx/>
              <a:buSzTx/>
              <a:buNone/>
            </a:pPr>
            <a:r>
              <a:rPr lang="en-US" altLang="zh-TW" sz="1800">
                <a:solidFill>
                  <a:srgbClr val="FFFFFF"/>
                </a:solidFill>
                <a:latin typeface="Times New Roman" panose="02020603050405020304" pitchFamily="18" charset="0"/>
                <a:ea typeface="新細明體" panose="02020500000000000000" pitchFamily="18" charset="-120"/>
              </a:rPr>
              <a:t>param 2</a:t>
            </a:r>
          </a:p>
        </p:txBody>
      </p:sp>
      <p:sp>
        <p:nvSpPr>
          <p:cNvPr id="26" name="Text Box 21">
            <a:extLst>
              <a:ext uri="{FF2B5EF4-FFF2-40B4-BE49-F238E27FC236}">
                <a16:creationId xmlns:a16="http://schemas.microsoft.com/office/drawing/2014/main" id="{6ACF8969-6C9F-49DB-982E-EEF488E6C1F5}"/>
              </a:ext>
            </a:extLst>
          </p:cNvPr>
          <p:cNvSpPr txBox="1">
            <a:spLocks noChangeArrowheads="1"/>
          </p:cNvSpPr>
          <p:nvPr/>
        </p:nvSpPr>
        <p:spPr bwMode="auto">
          <a:xfrm>
            <a:off x="6142414" y="2890986"/>
            <a:ext cx="5693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defTabSz="685800" eaLnBrk="0" fontAlgn="base" hangingPunct="0">
              <a:spcBef>
                <a:spcPct val="0"/>
              </a:spcBef>
              <a:spcAft>
                <a:spcPct val="0"/>
              </a:spcAft>
              <a:buClrTx/>
              <a:buSzTx/>
              <a:buNone/>
            </a:pPr>
            <a:r>
              <a:rPr lang="en-US" altLang="zh-TW" sz="1800" dirty="0">
                <a:solidFill>
                  <a:srgbClr val="FF0000"/>
                </a:solidFill>
                <a:latin typeface="Times New Roman" panose="02020603050405020304" pitchFamily="18" charset="0"/>
                <a:ea typeface="新細明體" panose="02020500000000000000" pitchFamily="18" charset="-120"/>
              </a:rPr>
              <a:t>fp-4</a:t>
            </a:r>
          </a:p>
        </p:txBody>
      </p:sp>
      <p:sp>
        <p:nvSpPr>
          <p:cNvPr id="27" name="Line 22">
            <a:extLst>
              <a:ext uri="{FF2B5EF4-FFF2-40B4-BE49-F238E27FC236}">
                <a16:creationId xmlns:a16="http://schemas.microsoft.com/office/drawing/2014/main" id="{55A46CCB-9649-4039-A929-337668D5FBC2}"/>
              </a:ext>
            </a:extLst>
          </p:cNvPr>
          <p:cNvSpPr>
            <a:spLocks noChangeShapeType="1"/>
          </p:cNvSpPr>
          <p:nvPr/>
        </p:nvSpPr>
        <p:spPr bwMode="auto">
          <a:xfrm flipH="1">
            <a:off x="5455558" y="3062436"/>
            <a:ext cx="62865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0" fontAlgn="base" hangingPunct="0">
              <a:spcBef>
                <a:spcPct val="0"/>
              </a:spcBef>
              <a:spcAft>
                <a:spcPct val="0"/>
              </a:spcAft>
            </a:pPr>
            <a:endParaRPr lang="en-US" sz="1350">
              <a:solidFill>
                <a:srgbClr val="FFFFFF"/>
              </a:solidFill>
              <a:latin typeface="Arial" panose="020B0604020202020204" pitchFamily="34" charset="0"/>
            </a:endParaRPr>
          </a:p>
        </p:txBody>
      </p:sp>
      <p:sp>
        <p:nvSpPr>
          <p:cNvPr id="28" name="Text Box 23">
            <a:extLst>
              <a:ext uri="{FF2B5EF4-FFF2-40B4-BE49-F238E27FC236}">
                <a16:creationId xmlns:a16="http://schemas.microsoft.com/office/drawing/2014/main" id="{A4BA8AA3-AD5A-4C00-8162-515A85CDD75A}"/>
              </a:ext>
            </a:extLst>
          </p:cNvPr>
          <p:cNvSpPr txBox="1">
            <a:spLocks noChangeArrowheads="1"/>
          </p:cNvSpPr>
          <p:nvPr/>
        </p:nvSpPr>
        <p:spPr bwMode="auto">
          <a:xfrm>
            <a:off x="6173115" y="2148036"/>
            <a:ext cx="6222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defTabSz="685800" eaLnBrk="0" fontAlgn="base" hangingPunct="0">
              <a:spcBef>
                <a:spcPct val="0"/>
              </a:spcBef>
              <a:spcAft>
                <a:spcPct val="0"/>
              </a:spcAft>
              <a:buClrTx/>
              <a:buSzTx/>
              <a:buNone/>
            </a:pPr>
            <a:r>
              <a:rPr lang="en-US" altLang="zh-TW" sz="1800" dirty="0">
                <a:solidFill>
                  <a:srgbClr val="FF0000"/>
                </a:solidFill>
                <a:latin typeface="Times New Roman" panose="02020603050405020304" pitchFamily="18" charset="0"/>
                <a:ea typeface="新細明體" panose="02020500000000000000" pitchFamily="18" charset="-120"/>
              </a:rPr>
              <a:t>fp+4</a:t>
            </a:r>
          </a:p>
        </p:txBody>
      </p:sp>
      <p:sp>
        <p:nvSpPr>
          <p:cNvPr id="29" name="Line 24">
            <a:extLst>
              <a:ext uri="{FF2B5EF4-FFF2-40B4-BE49-F238E27FC236}">
                <a16:creationId xmlns:a16="http://schemas.microsoft.com/office/drawing/2014/main" id="{BC3D1693-7D64-492E-95E6-2DBC8DA9727F}"/>
              </a:ext>
            </a:extLst>
          </p:cNvPr>
          <p:cNvSpPr>
            <a:spLocks noChangeShapeType="1"/>
          </p:cNvSpPr>
          <p:nvPr/>
        </p:nvSpPr>
        <p:spPr bwMode="auto">
          <a:xfrm flipH="1" flipV="1">
            <a:off x="5403656" y="2307282"/>
            <a:ext cx="737702" cy="12204"/>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0" fontAlgn="base" hangingPunct="0">
              <a:spcBef>
                <a:spcPct val="0"/>
              </a:spcBef>
              <a:spcAft>
                <a:spcPct val="0"/>
              </a:spcAft>
            </a:pPr>
            <a:endParaRPr lang="en-US" sz="1350">
              <a:solidFill>
                <a:srgbClr val="FFFFFF"/>
              </a:solidFill>
              <a:latin typeface="Arial" panose="020B0604020202020204" pitchFamily="34" charset="0"/>
            </a:endParaRPr>
          </a:p>
        </p:txBody>
      </p:sp>
      <p:sp>
        <p:nvSpPr>
          <p:cNvPr id="30" name="Text Box 25">
            <a:extLst>
              <a:ext uri="{FF2B5EF4-FFF2-40B4-BE49-F238E27FC236}">
                <a16:creationId xmlns:a16="http://schemas.microsoft.com/office/drawing/2014/main" id="{5D4D5FDB-D467-4439-8179-0267CEFEA48D}"/>
              </a:ext>
            </a:extLst>
          </p:cNvPr>
          <p:cNvSpPr txBox="1">
            <a:spLocks noChangeArrowheads="1"/>
          </p:cNvSpPr>
          <p:nvPr/>
        </p:nvSpPr>
        <p:spPr bwMode="auto">
          <a:xfrm>
            <a:off x="6130472" y="3314338"/>
            <a:ext cx="5693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defTabSz="685800" eaLnBrk="0" fontAlgn="base" hangingPunct="0">
              <a:spcBef>
                <a:spcPct val="0"/>
              </a:spcBef>
              <a:spcAft>
                <a:spcPct val="0"/>
              </a:spcAft>
              <a:buClrTx/>
              <a:buSzTx/>
              <a:buNone/>
            </a:pPr>
            <a:r>
              <a:rPr lang="en-US" altLang="zh-TW" sz="1800" dirty="0">
                <a:solidFill>
                  <a:srgbClr val="FF0000"/>
                </a:solidFill>
                <a:latin typeface="Times New Roman" panose="02020603050405020304" pitchFamily="18" charset="0"/>
                <a:ea typeface="新細明體" panose="02020500000000000000" pitchFamily="18" charset="-120"/>
              </a:rPr>
              <a:t>fp-8</a:t>
            </a:r>
          </a:p>
        </p:txBody>
      </p:sp>
      <p:sp>
        <p:nvSpPr>
          <p:cNvPr id="31" name="Line 26">
            <a:extLst>
              <a:ext uri="{FF2B5EF4-FFF2-40B4-BE49-F238E27FC236}">
                <a16:creationId xmlns:a16="http://schemas.microsoft.com/office/drawing/2014/main" id="{BEFE3B7E-B065-4516-8CFF-952AA66F2B6F}"/>
              </a:ext>
            </a:extLst>
          </p:cNvPr>
          <p:cNvSpPr>
            <a:spLocks noChangeShapeType="1"/>
          </p:cNvSpPr>
          <p:nvPr/>
        </p:nvSpPr>
        <p:spPr bwMode="auto">
          <a:xfrm flipH="1">
            <a:off x="5455558" y="3462486"/>
            <a:ext cx="62865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0" fontAlgn="base" hangingPunct="0">
              <a:spcBef>
                <a:spcPct val="0"/>
              </a:spcBef>
              <a:spcAft>
                <a:spcPct val="0"/>
              </a:spcAft>
            </a:pPr>
            <a:endParaRPr lang="en-US" sz="1350">
              <a:solidFill>
                <a:srgbClr val="FFFFFF"/>
              </a:solidFill>
              <a:latin typeface="Arial" panose="020B0604020202020204" pitchFamily="34" charset="0"/>
            </a:endParaRPr>
          </a:p>
        </p:txBody>
      </p:sp>
      <p:sp>
        <p:nvSpPr>
          <p:cNvPr id="32" name="Text Box 27">
            <a:extLst>
              <a:ext uri="{FF2B5EF4-FFF2-40B4-BE49-F238E27FC236}">
                <a16:creationId xmlns:a16="http://schemas.microsoft.com/office/drawing/2014/main" id="{AF426A2C-DD96-4AFC-B21E-BD912D3A5538}"/>
              </a:ext>
            </a:extLst>
          </p:cNvPr>
          <p:cNvSpPr txBox="1">
            <a:spLocks noChangeArrowheads="1"/>
          </p:cNvSpPr>
          <p:nvPr/>
        </p:nvSpPr>
        <p:spPr bwMode="auto">
          <a:xfrm>
            <a:off x="6115965" y="1747986"/>
            <a:ext cx="6222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defTabSz="685800" eaLnBrk="0" fontAlgn="base" hangingPunct="0">
              <a:spcBef>
                <a:spcPct val="0"/>
              </a:spcBef>
              <a:spcAft>
                <a:spcPct val="0"/>
              </a:spcAft>
              <a:buClrTx/>
              <a:buSzTx/>
              <a:buNone/>
            </a:pPr>
            <a:r>
              <a:rPr lang="en-US" altLang="zh-TW" sz="1800" dirty="0">
                <a:solidFill>
                  <a:srgbClr val="FF0000"/>
                </a:solidFill>
                <a:latin typeface="Times New Roman" panose="02020603050405020304" pitchFamily="18" charset="0"/>
                <a:ea typeface="新細明體" panose="02020500000000000000" pitchFamily="18" charset="-120"/>
              </a:rPr>
              <a:t>fp+8</a:t>
            </a:r>
          </a:p>
        </p:txBody>
      </p:sp>
      <p:sp>
        <p:nvSpPr>
          <p:cNvPr id="33" name="Line 28">
            <a:extLst>
              <a:ext uri="{FF2B5EF4-FFF2-40B4-BE49-F238E27FC236}">
                <a16:creationId xmlns:a16="http://schemas.microsoft.com/office/drawing/2014/main" id="{2EFA1294-86D4-4CB6-8AD7-36FBECA8BDF0}"/>
              </a:ext>
            </a:extLst>
          </p:cNvPr>
          <p:cNvSpPr>
            <a:spLocks noChangeShapeType="1"/>
          </p:cNvSpPr>
          <p:nvPr/>
        </p:nvSpPr>
        <p:spPr bwMode="auto">
          <a:xfrm flipH="1">
            <a:off x="5455558" y="1919436"/>
            <a:ext cx="62865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0" fontAlgn="base" hangingPunct="0">
              <a:spcBef>
                <a:spcPct val="0"/>
              </a:spcBef>
              <a:spcAft>
                <a:spcPct val="0"/>
              </a:spcAft>
            </a:pPr>
            <a:endParaRPr lang="en-US" sz="1350">
              <a:solidFill>
                <a:srgbClr val="FFFFFF"/>
              </a:solidFill>
              <a:latin typeface="Arial" panose="020B0604020202020204" pitchFamily="34" charset="0"/>
            </a:endParaRPr>
          </a:p>
        </p:txBody>
      </p:sp>
      <p:sp>
        <p:nvSpPr>
          <p:cNvPr id="34" name="Text Box 29">
            <a:extLst>
              <a:ext uri="{FF2B5EF4-FFF2-40B4-BE49-F238E27FC236}">
                <a16:creationId xmlns:a16="http://schemas.microsoft.com/office/drawing/2014/main" id="{1D8D7CFD-3CDD-4703-955A-60EE64EAB085}"/>
              </a:ext>
            </a:extLst>
          </p:cNvPr>
          <p:cNvSpPr txBox="1">
            <a:spLocks noChangeArrowheads="1"/>
          </p:cNvSpPr>
          <p:nvPr/>
        </p:nvSpPr>
        <p:spPr bwMode="auto">
          <a:xfrm>
            <a:off x="6058257" y="1405086"/>
            <a:ext cx="73770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defTabSz="685800" eaLnBrk="0" fontAlgn="base" hangingPunct="0">
              <a:spcBef>
                <a:spcPct val="0"/>
              </a:spcBef>
              <a:spcAft>
                <a:spcPct val="0"/>
              </a:spcAft>
              <a:buClrTx/>
              <a:buSzTx/>
              <a:buNone/>
            </a:pPr>
            <a:r>
              <a:rPr lang="en-US" altLang="zh-TW" sz="1800" dirty="0">
                <a:solidFill>
                  <a:srgbClr val="FF0000"/>
                </a:solidFill>
                <a:latin typeface="Times New Roman" panose="02020603050405020304" pitchFamily="18" charset="0"/>
                <a:ea typeface="新細明體" panose="02020500000000000000" pitchFamily="18" charset="-120"/>
              </a:rPr>
              <a:t>fp+12</a:t>
            </a:r>
          </a:p>
        </p:txBody>
      </p:sp>
      <p:sp>
        <p:nvSpPr>
          <p:cNvPr id="35" name="Line 30">
            <a:extLst>
              <a:ext uri="{FF2B5EF4-FFF2-40B4-BE49-F238E27FC236}">
                <a16:creationId xmlns:a16="http://schemas.microsoft.com/office/drawing/2014/main" id="{C28E4D05-ABC5-4380-B87E-AC4424879318}"/>
              </a:ext>
            </a:extLst>
          </p:cNvPr>
          <p:cNvSpPr>
            <a:spLocks noChangeShapeType="1"/>
          </p:cNvSpPr>
          <p:nvPr/>
        </p:nvSpPr>
        <p:spPr bwMode="auto">
          <a:xfrm flipH="1">
            <a:off x="5455558" y="1576536"/>
            <a:ext cx="62865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0" fontAlgn="base" hangingPunct="0">
              <a:spcBef>
                <a:spcPct val="0"/>
              </a:spcBef>
              <a:spcAft>
                <a:spcPct val="0"/>
              </a:spcAft>
            </a:pPr>
            <a:endParaRPr lang="en-US" sz="1350">
              <a:solidFill>
                <a:srgbClr val="FFFFFF"/>
              </a:solidFill>
              <a:latin typeface="Arial" panose="020B0604020202020204" pitchFamily="34" charset="0"/>
            </a:endParaRPr>
          </a:p>
        </p:txBody>
      </p:sp>
      <p:sp>
        <p:nvSpPr>
          <p:cNvPr id="36" name="Text Box 31">
            <a:extLst>
              <a:ext uri="{FF2B5EF4-FFF2-40B4-BE49-F238E27FC236}">
                <a16:creationId xmlns:a16="http://schemas.microsoft.com/office/drawing/2014/main" id="{7EE953DA-7A7B-49F8-BA14-D180A67254AE}"/>
              </a:ext>
            </a:extLst>
          </p:cNvPr>
          <p:cNvSpPr txBox="1">
            <a:spLocks noChangeArrowheads="1"/>
          </p:cNvSpPr>
          <p:nvPr/>
        </p:nvSpPr>
        <p:spPr bwMode="auto">
          <a:xfrm>
            <a:off x="3885430" y="2948136"/>
            <a:ext cx="80663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defTabSz="685800" eaLnBrk="0" fontAlgn="base" hangingPunct="0">
              <a:spcBef>
                <a:spcPct val="0"/>
              </a:spcBef>
              <a:spcAft>
                <a:spcPct val="0"/>
              </a:spcAft>
              <a:buClrTx/>
              <a:buSzTx/>
              <a:buNone/>
            </a:pPr>
            <a:r>
              <a:rPr lang="en-US" altLang="zh-TW" sz="1800">
                <a:solidFill>
                  <a:srgbClr val="FFFFFF"/>
                </a:solidFill>
                <a:latin typeface="Times New Roman" panose="02020603050405020304" pitchFamily="18" charset="0"/>
                <a:ea typeface="新細明體" panose="02020500000000000000" pitchFamily="18" charset="-120"/>
              </a:rPr>
              <a:t>local 1</a:t>
            </a:r>
          </a:p>
        </p:txBody>
      </p:sp>
      <p:sp>
        <p:nvSpPr>
          <p:cNvPr id="37" name="Text Box 32">
            <a:extLst>
              <a:ext uri="{FF2B5EF4-FFF2-40B4-BE49-F238E27FC236}">
                <a16:creationId xmlns:a16="http://schemas.microsoft.com/office/drawing/2014/main" id="{D1681DBB-7F17-4825-82D0-EAB9726D88E2}"/>
              </a:ext>
            </a:extLst>
          </p:cNvPr>
          <p:cNvSpPr txBox="1">
            <a:spLocks noChangeArrowheads="1"/>
          </p:cNvSpPr>
          <p:nvPr/>
        </p:nvSpPr>
        <p:spPr bwMode="auto">
          <a:xfrm>
            <a:off x="3942580" y="3291036"/>
            <a:ext cx="80663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defTabSz="685800" eaLnBrk="0" fontAlgn="base" hangingPunct="0">
              <a:spcBef>
                <a:spcPct val="0"/>
              </a:spcBef>
              <a:spcAft>
                <a:spcPct val="0"/>
              </a:spcAft>
              <a:buClrTx/>
              <a:buSzTx/>
              <a:buNone/>
            </a:pPr>
            <a:r>
              <a:rPr lang="en-US" altLang="zh-TW" sz="1800">
                <a:solidFill>
                  <a:srgbClr val="FFFFFF"/>
                </a:solidFill>
                <a:latin typeface="Times New Roman" panose="02020603050405020304" pitchFamily="18" charset="0"/>
                <a:ea typeface="新細明體" panose="02020500000000000000" pitchFamily="18" charset="-120"/>
              </a:rPr>
              <a:t>local 2</a:t>
            </a:r>
          </a:p>
        </p:txBody>
      </p:sp>
      <p:sp>
        <p:nvSpPr>
          <p:cNvPr id="38" name="Text Box 34">
            <a:extLst>
              <a:ext uri="{FF2B5EF4-FFF2-40B4-BE49-F238E27FC236}">
                <a16:creationId xmlns:a16="http://schemas.microsoft.com/office/drawing/2014/main" id="{23D2551C-E0E2-4AAD-A875-6ACD8B0478B8}"/>
              </a:ext>
            </a:extLst>
          </p:cNvPr>
          <p:cNvSpPr txBox="1">
            <a:spLocks noChangeArrowheads="1"/>
          </p:cNvSpPr>
          <p:nvPr/>
        </p:nvSpPr>
        <p:spPr bwMode="auto">
          <a:xfrm>
            <a:off x="1485586" y="947886"/>
            <a:ext cx="835486"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defTabSz="685800" eaLnBrk="0" fontAlgn="base" hangingPunct="0">
              <a:spcBef>
                <a:spcPct val="0"/>
              </a:spcBef>
              <a:spcAft>
                <a:spcPct val="0"/>
              </a:spcAft>
              <a:buClrTx/>
              <a:buSzTx/>
              <a:buNone/>
            </a:pPr>
            <a:r>
              <a:rPr lang="en-US" altLang="zh-TW" sz="2100" dirty="0">
                <a:solidFill>
                  <a:srgbClr val="FF0000"/>
                </a:solidFill>
                <a:latin typeface="Times New Roman" panose="02020603050405020304" pitchFamily="18" charset="0"/>
                <a:ea typeface="新細明體" panose="02020500000000000000" pitchFamily="18" charset="-120"/>
              </a:rPr>
              <a:t>old </a:t>
            </a:r>
            <a:r>
              <a:rPr lang="en-US" altLang="zh-TW" sz="2100" dirty="0" err="1">
                <a:solidFill>
                  <a:srgbClr val="FF0000"/>
                </a:solidFill>
                <a:latin typeface="Times New Roman" panose="02020603050405020304" pitchFamily="18" charset="0"/>
                <a:ea typeface="新細明體" panose="02020500000000000000" pitchFamily="18" charset="-120"/>
              </a:rPr>
              <a:t>sp</a:t>
            </a:r>
            <a:endParaRPr lang="en-US" altLang="zh-TW" sz="2100" dirty="0">
              <a:solidFill>
                <a:srgbClr val="FF0000"/>
              </a:solidFill>
              <a:latin typeface="Times New Roman" panose="02020603050405020304" pitchFamily="18" charset="0"/>
              <a:ea typeface="新細明體" panose="02020500000000000000" pitchFamily="18" charset="-120"/>
            </a:endParaRPr>
          </a:p>
        </p:txBody>
      </p:sp>
      <p:sp>
        <p:nvSpPr>
          <p:cNvPr id="39" name="Line 35">
            <a:extLst>
              <a:ext uri="{FF2B5EF4-FFF2-40B4-BE49-F238E27FC236}">
                <a16:creationId xmlns:a16="http://schemas.microsoft.com/office/drawing/2014/main" id="{A3EE8739-7609-498D-9137-C6E72F7148B1}"/>
              </a:ext>
            </a:extLst>
          </p:cNvPr>
          <p:cNvSpPr>
            <a:spLocks noChangeShapeType="1"/>
          </p:cNvSpPr>
          <p:nvPr/>
        </p:nvSpPr>
        <p:spPr bwMode="auto">
          <a:xfrm>
            <a:off x="2312308" y="1119336"/>
            <a:ext cx="97155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0" fontAlgn="base" hangingPunct="0">
              <a:spcBef>
                <a:spcPct val="0"/>
              </a:spcBef>
              <a:spcAft>
                <a:spcPct val="0"/>
              </a:spcAft>
            </a:pPr>
            <a:endParaRPr lang="en-US" sz="1350">
              <a:solidFill>
                <a:srgbClr val="FFFFFF"/>
              </a:solidFill>
              <a:latin typeface="Arial" panose="020B0604020202020204" pitchFamily="34" charset="0"/>
            </a:endParaRPr>
          </a:p>
        </p:txBody>
      </p:sp>
      <p:sp>
        <p:nvSpPr>
          <p:cNvPr id="2" name="Rectangle 1">
            <a:extLst>
              <a:ext uri="{FF2B5EF4-FFF2-40B4-BE49-F238E27FC236}">
                <a16:creationId xmlns:a16="http://schemas.microsoft.com/office/drawing/2014/main" id="{F915003B-809B-4694-B63B-F292182045BB}"/>
              </a:ext>
            </a:extLst>
          </p:cNvPr>
          <p:cNvSpPr/>
          <p:nvPr/>
        </p:nvSpPr>
        <p:spPr bwMode="auto">
          <a:xfrm>
            <a:off x="2971800" y="2490936"/>
            <a:ext cx="2831194" cy="2057400"/>
          </a:xfrm>
          <a:prstGeom prst="rect">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90204" pitchFamily="34" charset="0"/>
              <a:ea typeface="新細明體" panose="02020500000000000000" pitchFamily="18" charset="-12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D12C66DE-6F35-4816-939F-B53C2F9EFAE8}"/>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34AE673E-3D97-4A0A-8121-1E6D4C9DD50A}"/>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3"/>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4"/>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5"/>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5"/>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5"/>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5"/>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5"/>
              </a:buBlip>
              <a:defRPr sz="1500">
                <a:solidFill>
                  <a:schemeClr val="tx1"/>
                </a:solidFill>
                <a:latin typeface="Arial" panose="020B0604020202020204" pitchFamily="34" charset="0"/>
              </a:defRPr>
            </a:lvl9pPr>
          </a:lstStyle>
          <a:p>
            <a:pPr>
              <a:spcBef>
                <a:spcPct val="0"/>
              </a:spcBef>
              <a:buClrTx/>
              <a:buSzTx/>
              <a:buFontTx/>
              <a:buNone/>
            </a:pPr>
            <a:fld id="{8D033347-7621-4281-A9AF-3DA591D36C6E}" type="slidenum">
              <a:rPr lang="zh-TW" altLang="en-US" sz="900"/>
              <a:pPr>
                <a:spcBef>
                  <a:spcPct val="0"/>
                </a:spcBef>
                <a:buClrTx/>
                <a:buSzTx/>
                <a:buFontTx/>
                <a:buNone/>
              </a:pPr>
              <a:t>6</a:t>
            </a:fld>
            <a:endParaRPr lang="en-US" altLang="zh-TW" sz="900"/>
          </a:p>
        </p:txBody>
      </p:sp>
      <p:sp>
        <p:nvSpPr>
          <p:cNvPr id="5" name="Rectangle 2">
            <a:extLst>
              <a:ext uri="{FF2B5EF4-FFF2-40B4-BE49-F238E27FC236}">
                <a16:creationId xmlns:a16="http://schemas.microsoft.com/office/drawing/2014/main" id="{28218223-0F65-47BD-9D1A-4016E9CC2AC7}"/>
              </a:ext>
            </a:extLst>
          </p:cNvPr>
          <p:cNvSpPr txBox="1">
            <a:spLocks noChangeArrowheads="1"/>
          </p:cNvSpPr>
          <p:nvPr/>
        </p:nvSpPr>
        <p:spPr bwMode="auto">
          <a:xfrm>
            <a:off x="965199" y="0"/>
            <a:ext cx="7728857" cy="68580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200" dirty="0">
                <a:effectLst/>
                <a:ea typeface="新細明體" pitchFamily="18" charset="-120"/>
              </a:rPr>
              <a:t>How is Procedure Call Supported in RV</a:t>
            </a:r>
          </a:p>
        </p:txBody>
      </p:sp>
      <p:sp>
        <p:nvSpPr>
          <p:cNvPr id="12" name="Rectangle 2">
            <a:extLst>
              <a:ext uri="{FF2B5EF4-FFF2-40B4-BE49-F238E27FC236}">
                <a16:creationId xmlns:a16="http://schemas.microsoft.com/office/drawing/2014/main" id="{08C7172A-21A1-48CA-AED3-8AFE24508B62}"/>
              </a:ext>
            </a:extLst>
          </p:cNvPr>
          <p:cNvSpPr txBox="1">
            <a:spLocks noChangeArrowheads="1"/>
          </p:cNvSpPr>
          <p:nvPr/>
        </p:nvSpPr>
        <p:spPr bwMode="auto">
          <a:xfrm>
            <a:off x="638629" y="783770"/>
            <a:ext cx="8055428" cy="3731079"/>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marL="685800" lvl="1" indent="-342900" algn="l" eaLnBrk="1" hangingPunct="1">
              <a:buFont typeface="Wingdings" panose="05000000000000000000" pitchFamily="2" charset="2"/>
              <a:buChar char="§"/>
              <a:defRPr/>
            </a:pPr>
            <a:r>
              <a:rPr lang="en-US" altLang="zh-TW" sz="2000" dirty="0">
                <a:effectLst/>
                <a:latin typeface="Times New Roman" panose="02020603050405020304" pitchFamily="18" charset="0"/>
                <a:ea typeface="新細明體" pitchFamily="18" charset="-120"/>
                <a:cs typeface="Times New Roman" panose="02020603050405020304" pitchFamily="18" charset="0"/>
              </a:rPr>
              <a:t>Lots of stack accesses during the procedure call</a:t>
            </a:r>
          </a:p>
          <a:p>
            <a:pPr marL="1143000" lvl="2" indent="-342900" algn="l" eaLnBrk="1" hangingPunct="1">
              <a:buFont typeface="Wingdings" panose="05000000000000000000" pitchFamily="2" charset="2"/>
              <a:buChar char="§"/>
              <a:defRPr/>
            </a:pPr>
            <a:r>
              <a:rPr lang="en-US" altLang="zh-TW" sz="2000" dirty="0">
                <a:effectLst/>
                <a:latin typeface="Times New Roman" panose="02020603050405020304" pitchFamily="18" charset="0"/>
                <a:ea typeface="新細明體" pitchFamily="18" charset="-120"/>
                <a:cs typeface="Times New Roman" panose="02020603050405020304" pitchFamily="18" charset="0"/>
              </a:rPr>
              <a:t>Parameter passing</a:t>
            </a:r>
          </a:p>
          <a:p>
            <a:pPr marL="1143000" lvl="2" indent="-342900" algn="l" eaLnBrk="1" hangingPunct="1">
              <a:buFont typeface="Wingdings" panose="05000000000000000000" pitchFamily="2" charset="2"/>
              <a:buChar char="§"/>
              <a:defRPr/>
            </a:pPr>
            <a:r>
              <a:rPr lang="en-US" altLang="zh-TW" sz="2000" dirty="0">
                <a:effectLst/>
                <a:latin typeface="Times New Roman" panose="02020603050405020304" pitchFamily="18" charset="0"/>
                <a:ea typeface="新細明體" pitchFamily="18" charset="-120"/>
                <a:cs typeface="Times New Roman" panose="02020603050405020304" pitchFamily="18" charset="0"/>
              </a:rPr>
              <a:t>Return address</a:t>
            </a:r>
          </a:p>
          <a:p>
            <a:pPr marL="1143000" lvl="2" indent="-342900" algn="l" eaLnBrk="1" hangingPunct="1">
              <a:buFont typeface="Wingdings" panose="05000000000000000000" pitchFamily="2" charset="2"/>
              <a:buChar char="§"/>
              <a:defRPr/>
            </a:pPr>
            <a:r>
              <a:rPr lang="en-US" altLang="zh-TW" sz="2000" dirty="0">
                <a:effectLst/>
                <a:latin typeface="Times New Roman" panose="02020603050405020304" pitchFamily="18" charset="0"/>
                <a:ea typeface="新細明體" pitchFamily="18" charset="-120"/>
                <a:cs typeface="Times New Roman" panose="02020603050405020304" pitchFamily="18" charset="0"/>
              </a:rPr>
              <a:t>Save/Restore registers</a:t>
            </a:r>
          </a:p>
          <a:p>
            <a:pPr marL="1143000" lvl="2" indent="-342900" algn="l" eaLnBrk="1" hangingPunct="1">
              <a:buFont typeface="Wingdings" panose="05000000000000000000" pitchFamily="2" charset="2"/>
              <a:buChar char="§"/>
              <a:defRPr/>
            </a:pPr>
            <a:r>
              <a:rPr lang="en-US" altLang="zh-TW" sz="2000" dirty="0">
                <a:effectLst/>
                <a:latin typeface="Times New Roman" panose="02020603050405020304" pitchFamily="18" charset="0"/>
                <a:ea typeface="新細明體" pitchFamily="18" charset="-120"/>
                <a:cs typeface="Times New Roman" panose="02020603050405020304" pitchFamily="18" charset="0"/>
              </a:rPr>
              <a:t>Return value</a:t>
            </a:r>
          </a:p>
          <a:p>
            <a:pPr marL="685800" lvl="1" indent="-342900" algn="l" eaLnBrk="1" hangingPunct="1">
              <a:buFont typeface="Wingdings" panose="05000000000000000000" pitchFamily="2" charset="2"/>
              <a:buChar char="§"/>
              <a:defRPr/>
            </a:pPr>
            <a:r>
              <a:rPr lang="en-US" altLang="zh-TW" sz="2000" dirty="0">
                <a:effectLst/>
                <a:latin typeface="Times New Roman" panose="02020603050405020304" pitchFamily="18" charset="0"/>
                <a:ea typeface="新細明體" pitchFamily="18" charset="-120"/>
                <a:cs typeface="Times New Roman" panose="02020603050405020304" pitchFamily="18" charset="0"/>
              </a:rPr>
              <a:t>RISC-V relies on a software </a:t>
            </a:r>
            <a:r>
              <a:rPr lang="en-US" altLang="zh-TW" sz="2400" i="1" dirty="0">
                <a:solidFill>
                  <a:srgbClr val="FF0000"/>
                </a:solidFill>
                <a:effectLst/>
                <a:latin typeface="Times New Roman" panose="02020603050405020304" pitchFamily="18" charset="0"/>
                <a:ea typeface="新細明體" pitchFamily="18" charset="-120"/>
                <a:cs typeface="Times New Roman" panose="02020603050405020304" pitchFamily="18" charset="0"/>
              </a:rPr>
              <a:t>calling convention </a:t>
            </a:r>
            <a:r>
              <a:rPr lang="en-US" altLang="zh-TW" sz="2000" dirty="0">
                <a:effectLst/>
                <a:latin typeface="Times New Roman" panose="02020603050405020304" pitchFamily="18" charset="0"/>
                <a:ea typeface="新細明體" pitchFamily="18" charset="-120"/>
                <a:cs typeface="Times New Roman" panose="02020603050405020304" pitchFamily="18" charset="0"/>
              </a:rPr>
              <a:t>to make efficient use of registers to replace stack references</a:t>
            </a:r>
          </a:p>
          <a:p>
            <a:pPr marL="685800" lvl="1" indent="-342900" algn="l" eaLnBrk="1" hangingPunct="1">
              <a:buFont typeface="Wingdings" panose="05000000000000000000" pitchFamily="2" charset="2"/>
              <a:buChar char="§"/>
              <a:defRPr/>
            </a:pPr>
            <a:r>
              <a:rPr lang="en-US" altLang="zh-TW" sz="2000" dirty="0">
                <a:effectLst/>
                <a:latin typeface="Times New Roman" panose="02020603050405020304" pitchFamily="18" charset="0"/>
                <a:ea typeface="新細明體" pitchFamily="18" charset="-120"/>
                <a:cs typeface="Times New Roman" panose="02020603050405020304" pitchFamily="18" charset="0"/>
              </a:rPr>
              <a:t>Software convention is a set of established practices or guidelines software developers follow. If you adhere to the calling convention, your code can work with other software components such as external libraries, APIs, and middleware. </a:t>
            </a:r>
          </a:p>
          <a:p>
            <a:pPr marL="685800" lvl="1" indent="-342900" algn="l" eaLnBrk="1" hangingPunct="1">
              <a:buFont typeface="Wingdings" panose="05000000000000000000" pitchFamily="2" charset="2"/>
              <a:buChar char="§"/>
              <a:defRPr/>
            </a:pPr>
            <a:r>
              <a:rPr lang="en-US" altLang="zh-TW" sz="2000" dirty="0">
                <a:effectLst/>
                <a:latin typeface="Times New Roman" panose="02020603050405020304" pitchFamily="18" charset="0"/>
                <a:ea typeface="新細明體" pitchFamily="18" charset="-120"/>
                <a:cs typeface="Times New Roman" panose="02020603050405020304" pitchFamily="18" charset="0"/>
              </a:rPr>
              <a:t> If your code is self-sufficient, no need to follow the convention.</a:t>
            </a:r>
          </a:p>
        </p:txBody>
      </p:sp>
    </p:spTree>
    <p:extLst>
      <p:ext uri="{BB962C8B-B14F-4D97-AF65-F5344CB8AC3E}">
        <p14:creationId xmlns:p14="http://schemas.microsoft.com/office/powerpoint/2010/main" val="3843176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D12C66DE-6F35-4816-939F-B53C2F9EFAE8}"/>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34AE673E-3D97-4A0A-8121-1E6D4C9DD50A}"/>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8D033347-7621-4281-A9AF-3DA591D36C6E}" type="slidenum">
              <a:rPr lang="zh-TW" altLang="en-US" sz="900"/>
              <a:pPr>
                <a:spcBef>
                  <a:spcPct val="0"/>
                </a:spcBef>
                <a:buClrTx/>
                <a:buSzTx/>
                <a:buFontTx/>
                <a:buNone/>
              </a:pPr>
              <a:t>7</a:t>
            </a:fld>
            <a:endParaRPr lang="en-US" altLang="zh-TW" sz="900"/>
          </a:p>
        </p:txBody>
      </p:sp>
      <p:sp>
        <p:nvSpPr>
          <p:cNvPr id="5" name="Rectangle 2">
            <a:extLst>
              <a:ext uri="{FF2B5EF4-FFF2-40B4-BE49-F238E27FC236}">
                <a16:creationId xmlns:a16="http://schemas.microsoft.com/office/drawing/2014/main" id="{28218223-0F65-47BD-9D1A-4016E9CC2AC7}"/>
              </a:ext>
            </a:extLst>
          </p:cNvPr>
          <p:cNvSpPr txBox="1">
            <a:spLocks noChangeArrowheads="1"/>
          </p:cNvSpPr>
          <p:nvPr/>
        </p:nvSpPr>
        <p:spPr bwMode="auto">
          <a:xfrm>
            <a:off x="965200" y="0"/>
            <a:ext cx="6400800" cy="68580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300" dirty="0">
                <a:effectLst/>
                <a:ea typeface="新細明體" pitchFamily="18" charset="-120"/>
              </a:rPr>
              <a:t>Calling Convention</a:t>
            </a:r>
          </a:p>
        </p:txBody>
      </p:sp>
      <p:sp>
        <p:nvSpPr>
          <p:cNvPr id="12" name="Rectangle 2">
            <a:extLst>
              <a:ext uri="{FF2B5EF4-FFF2-40B4-BE49-F238E27FC236}">
                <a16:creationId xmlns:a16="http://schemas.microsoft.com/office/drawing/2014/main" id="{08C7172A-21A1-48CA-AED3-8AFE24508B62}"/>
              </a:ext>
            </a:extLst>
          </p:cNvPr>
          <p:cNvSpPr txBox="1">
            <a:spLocks noChangeArrowheads="1"/>
          </p:cNvSpPr>
          <p:nvPr/>
        </p:nvSpPr>
        <p:spPr bwMode="auto">
          <a:xfrm>
            <a:off x="638629" y="685800"/>
            <a:ext cx="7649028" cy="382905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marL="342900" indent="-342900" algn="l" eaLnBrk="1" hangingPunct="1">
              <a:buFont typeface="Wingdings" panose="05000000000000000000" pitchFamily="2" charset="2"/>
              <a:buChar char="§"/>
              <a:defRPr/>
            </a:pPr>
            <a:endParaRPr lang="en-US" altLang="zh-TW" sz="2100" dirty="0">
              <a:ea typeface="新細明體" pitchFamily="18" charset="-120"/>
            </a:endParaRPr>
          </a:p>
          <a:p>
            <a:pPr marL="342900" indent="-342900" algn="l" eaLnBrk="1" hangingPunct="1">
              <a:buFont typeface="Wingdings" panose="05000000000000000000" pitchFamily="2" charset="2"/>
              <a:buChar char="§"/>
              <a:defRPr/>
            </a:pPr>
            <a:endParaRPr lang="en-US" altLang="zh-TW" sz="2100" dirty="0">
              <a:ea typeface="新細明體" pitchFamily="18" charset="-120"/>
            </a:endParaRPr>
          </a:p>
          <a:p>
            <a:pPr marL="342900" indent="-342900" algn="l" eaLnBrk="1" hangingPunct="1">
              <a:buFont typeface="Wingdings" panose="05000000000000000000" pitchFamily="2" charset="2"/>
              <a:buChar char="§"/>
              <a:defRPr/>
            </a:pPr>
            <a:r>
              <a:rPr lang="en-US" altLang="zh-TW" sz="2100" dirty="0">
                <a:effectLst/>
                <a:ea typeface="新細明體" pitchFamily="18" charset="-120"/>
              </a:rPr>
              <a:t>A calling convention is an implementation scheme for how subroutines receive parameters, how they return results. How to set up for a function call and how to clean up the environment afterward.</a:t>
            </a:r>
          </a:p>
          <a:p>
            <a:pPr algn="l" eaLnBrk="1" hangingPunct="1">
              <a:defRPr/>
            </a:pPr>
            <a:endParaRPr lang="en-US" altLang="zh-TW" sz="1800" dirty="0">
              <a:effectLst/>
              <a:ea typeface="新細明體" pitchFamily="18" charset="-120"/>
            </a:endParaRPr>
          </a:p>
          <a:p>
            <a:pPr marL="342900" indent="-342900" algn="l" eaLnBrk="1" hangingPunct="1">
              <a:buFont typeface="Wingdings" panose="05000000000000000000" pitchFamily="2" charset="2"/>
              <a:buChar char="§"/>
              <a:defRPr/>
            </a:pPr>
            <a:r>
              <a:rPr lang="en-US" altLang="zh-TW" sz="2100" dirty="0">
                <a:effectLst/>
                <a:ea typeface="新細明體" pitchFamily="18" charset="-120"/>
              </a:rPr>
              <a:t>A calling convention involves</a:t>
            </a:r>
          </a:p>
          <a:p>
            <a:pPr marL="685800" lvl="1" indent="-342900" algn="l" eaLnBrk="1" hangingPunct="1">
              <a:buFont typeface="Wingdings" panose="05000000000000000000" pitchFamily="2" charset="2"/>
              <a:buChar char="§"/>
              <a:defRPr/>
            </a:pPr>
            <a:r>
              <a:rPr lang="en-US" altLang="zh-TW" sz="1800" dirty="0">
                <a:effectLst/>
                <a:ea typeface="新細明體" pitchFamily="18" charset="-120"/>
              </a:rPr>
              <a:t>Parameters, return values/addresses </a:t>
            </a:r>
          </a:p>
          <a:p>
            <a:pPr marL="685800" lvl="1" indent="-342900" algn="l" eaLnBrk="1" hangingPunct="1">
              <a:buFont typeface="Wingdings" panose="05000000000000000000" pitchFamily="2" charset="2"/>
              <a:buChar char="§"/>
              <a:defRPr/>
            </a:pPr>
            <a:r>
              <a:rPr lang="en-US" altLang="zh-TW" sz="1800" dirty="0">
                <a:effectLst/>
                <a:ea typeface="新細明體" pitchFamily="18" charset="-120"/>
              </a:rPr>
              <a:t>Parameter passing</a:t>
            </a:r>
          </a:p>
          <a:p>
            <a:pPr marL="685800" lvl="1" indent="-342900" algn="l" eaLnBrk="1" hangingPunct="1">
              <a:buFont typeface="Wingdings" panose="05000000000000000000" pitchFamily="2" charset="2"/>
              <a:buChar char="§"/>
              <a:defRPr/>
            </a:pPr>
            <a:r>
              <a:rPr lang="en-US" altLang="zh-TW" sz="1800" dirty="0">
                <a:effectLst/>
                <a:ea typeface="新細明體" pitchFamily="18" charset="-120"/>
              </a:rPr>
              <a:t>Stack set up and clean up</a:t>
            </a:r>
          </a:p>
          <a:p>
            <a:pPr marL="685800" lvl="1" indent="-342900" algn="l" eaLnBrk="1" hangingPunct="1">
              <a:buFont typeface="Wingdings" panose="05000000000000000000" pitchFamily="2" charset="2"/>
              <a:buChar char="§"/>
              <a:defRPr/>
            </a:pPr>
            <a:r>
              <a:rPr lang="en-US" altLang="zh-TW" sz="1800" dirty="0">
                <a:effectLst/>
                <a:ea typeface="新細明體" pitchFamily="18" charset="-120"/>
              </a:rPr>
              <a:t>Save/restore previous frame pointer</a:t>
            </a:r>
          </a:p>
          <a:p>
            <a:pPr marL="685800" lvl="1" indent="-342900" algn="l" eaLnBrk="1" hangingPunct="1">
              <a:buFont typeface="Wingdings" panose="05000000000000000000" pitchFamily="2" charset="2"/>
              <a:buChar char="§"/>
              <a:defRPr/>
            </a:pPr>
            <a:r>
              <a:rPr lang="en-US" altLang="zh-TW" sz="1800" dirty="0">
                <a:effectLst/>
                <a:ea typeface="新細明體" pitchFamily="18" charset="-120"/>
              </a:rPr>
              <a:t>Caller/</a:t>
            </a:r>
            <a:r>
              <a:rPr lang="en-US" altLang="zh-TW" sz="1800" dirty="0" err="1">
                <a:effectLst/>
                <a:ea typeface="新細明體" pitchFamily="18" charset="-120"/>
              </a:rPr>
              <a:t>Callee</a:t>
            </a:r>
            <a:r>
              <a:rPr lang="en-US" altLang="zh-TW" sz="1800" dirty="0">
                <a:effectLst/>
                <a:ea typeface="新細明體" pitchFamily="18" charset="-120"/>
              </a:rPr>
              <a:t> save registers</a:t>
            </a:r>
          </a:p>
          <a:p>
            <a:pPr marL="685800" lvl="1" indent="-342900" algn="l" eaLnBrk="1" hangingPunct="1">
              <a:buFont typeface="Wingdings" panose="05000000000000000000" pitchFamily="2" charset="2"/>
              <a:buChar char="§"/>
              <a:defRPr/>
            </a:pPr>
            <a:endParaRPr lang="en-US" altLang="zh-TW" sz="1800" dirty="0">
              <a:ea typeface="新細明體" pitchFamily="18" charset="-120"/>
            </a:endParaRPr>
          </a:p>
          <a:p>
            <a:pPr marL="685800" lvl="1" indent="-342900" algn="l" eaLnBrk="1" hangingPunct="1">
              <a:buFont typeface="Wingdings" panose="05000000000000000000" pitchFamily="2" charset="2"/>
              <a:buChar char="§"/>
              <a:defRPr/>
            </a:pPr>
            <a:endParaRPr lang="en-US" altLang="zh-TW" sz="2100" dirty="0">
              <a:ea typeface="新細明體" pitchFamily="18" charset="-120"/>
            </a:endParaRPr>
          </a:p>
        </p:txBody>
      </p:sp>
    </p:spTree>
    <p:extLst>
      <p:ext uri="{BB962C8B-B14F-4D97-AF65-F5344CB8AC3E}">
        <p14:creationId xmlns:p14="http://schemas.microsoft.com/office/powerpoint/2010/main" val="3924666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373909FB-C636-447F-9272-5642CFE0E444}"/>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AE3BBF52-4DAE-49B0-AF9A-E9DC103A9BCE}"/>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B481E6D5-49A0-4468-85CC-004554E85389}" type="slidenum">
              <a:rPr lang="zh-TW" altLang="en-US" sz="900"/>
              <a:pPr>
                <a:spcBef>
                  <a:spcPct val="0"/>
                </a:spcBef>
                <a:buClrTx/>
                <a:buSzTx/>
                <a:buFontTx/>
                <a:buNone/>
              </a:pPr>
              <a:t>8</a:t>
            </a:fld>
            <a:endParaRPr lang="en-US" altLang="zh-TW" sz="900"/>
          </a:p>
        </p:txBody>
      </p:sp>
      <p:graphicFrame>
        <p:nvGraphicFramePr>
          <p:cNvPr id="2" name="表格 1">
            <a:extLst>
              <a:ext uri="{FF2B5EF4-FFF2-40B4-BE49-F238E27FC236}">
                <a16:creationId xmlns:a16="http://schemas.microsoft.com/office/drawing/2014/main" id="{D14CFDDB-B818-4A55-AA4C-A8805201168C}"/>
              </a:ext>
            </a:extLst>
          </p:cNvPr>
          <p:cNvGraphicFramePr>
            <a:graphicFrameLocks noGrp="1"/>
          </p:cNvGraphicFramePr>
          <p:nvPr>
            <p:extLst>
              <p:ext uri="{D42A27DB-BD31-4B8C-83A1-F6EECF244321}">
                <p14:modId xmlns:p14="http://schemas.microsoft.com/office/powerpoint/2010/main" val="523694643"/>
              </p:ext>
            </p:extLst>
          </p:nvPr>
        </p:nvGraphicFramePr>
        <p:xfrm>
          <a:off x="2457450" y="514350"/>
          <a:ext cx="4114800" cy="4046940"/>
        </p:xfrm>
        <a:graphic>
          <a:graphicData uri="http://schemas.openxmlformats.org/drawingml/2006/table">
            <a:tbl>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tblGrid>
              <a:tr h="42870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1" i="0" u="none" strike="noStrike" cap="none" normalizeH="0" baseline="0" dirty="0">
                          <a:ln>
                            <a:noFill/>
                          </a:ln>
                          <a:solidFill>
                            <a:srgbClr val="FFFFFF"/>
                          </a:solidFill>
                          <a:effectLst/>
                          <a:latin typeface="Arial" charset="0"/>
                          <a:ea typeface="新細明體" pitchFamily="18" charset="-120"/>
                        </a:rPr>
                        <a:t>Register Number</a:t>
                      </a:r>
                      <a:endParaRPr kumimoji="0" lang="zh-TW" altLang="en-US" sz="1800" b="1" i="0" u="none" strike="noStrike" cap="none" normalizeH="0" baseline="0" dirty="0">
                        <a:ln>
                          <a:noFill/>
                        </a:ln>
                        <a:solidFill>
                          <a:srgbClr val="FFFFFF"/>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1" i="0" u="none" strike="noStrike" cap="none" normalizeH="0" baseline="0" dirty="0">
                          <a:ln>
                            <a:noFill/>
                          </a:ln>
                          <a:solidFill>
                            <a:srgbClr val="FFFFFF"/>
                          </a:solidFill>
                          <a:effectLst/>
                          <a:latin typeface="Arial" charset="0"/>
                          <a:ea typeface="新細明體" pitchFamily="18" charset="-120"/>
                        </a:rPr>
                        <a:t>Purpose</a:t>
                      </a:r>
                      <a:endParaRPr kumimoji="0" lang="zh-TW" altLang="en-US" sz="1800" b="1" i="0" u="none" strike="noStrike" cap="none" normalizeH="0" baseline="0" dirty="0">
                        <a:ln>
                          <a:noFill/>
                        </a:ln>
                        <a:solidFill>
                          <a:srgbClr val="FFFFFF"/>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2870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X1</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Return address</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extLst>
                  <a:ext uri="{0D108BD9-81ED-4DB2-BD59-A6C34878D82A}">
                    <a16:rowId xmlns:a16="http://schemas.microsoft.com/office/drawing/2014/main" val="10001"/>
                  </a:ext>
                </a:extLst>
              </a:tr>
              <a:tr h="42870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X2 (</a:t>
                      </a:r>
                      <a:r>
                        <a:rPr kumimoji="0" lang="en-US" altLang="zh-TW" sz="1800" b="0" i="0" u="none" strike="noStrike" cap="none" normalizeH="0" baseline="0" dirty="0" err="1">
                          <a:ln>
                            <a:noFill/>
                          </a:ln>
                          <a:solidFill>
                            <a:srgbClr val="000080"/>
                          </a:solidFill>
                          <a:effectLst/>
                          <a:latin typeface="Arial" charset="0"/>
                          <a:ea typeface="新細明體" pitchFamily="18" charset="-120"/>
                        </a:rPr>
                        <a:t>sp</a:t>
                      </a:r>
                      <a:r>
                        <a:rPr kumimoji="0" lang="en-US" altLang="zh-TW" sz="1800" b="0" i="0" u="none" strike="noStrike" cap="none" normalizeH="0" baseline="0" dirty="0">
                          <a:ln>
                            <a:noFill/>
                          </a:ln>
                          <a:solidFill>
                            <a:srgbClr val="000080"/>
                          </a:solidFill>
                          <a:effectLst/>
                          <a:latin typeface="Arial" charset="0"/>
                          <a:ea typeface="新細明體" pitchFamily="18" charset="-120"/>
                        </a:rPr>
                        <a:t>)</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Stack top</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extLst>
                  <a:ext uri="{0D108BD9-81ED-4DB2-BD59-A6C34878D82A}">
                    <a16:rowId xmlns:a16="http://schemas.microsoft.com/office/drawing/2014/main" val="10002"/>
                  </a:ext>
                </a:extLst>
              </a:tr>
              <a:tr h="42870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X3 </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Global pointer</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extLst>
                  <a:ext uri="{0D108BD9-81ED-4DB2-BD59-A6C34878D82A}">
                    <a16:rowId xmlns:a16="http://schemas.microsoft.com/office/drawing/2014/main" val="10003"/>
                  </a:ext>
                </a:extLst>
              </a:tr>
              <a:tr h="42870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X8 (</a:t>
                      </a:r>
                      <a:r>
                        <a:rPr kumimoji="0" lang="en-US" altLang="zh-TW" sz="1800" b="0" i="0" u="none" strike="noStrike" cap="none" normalizeH="0" baseline="0" dirty="0" err="1">
                          <a:ln>
                            <a:noFill/>
                          </a:ln>
                          <a:solidFill>
                            <a:srgbClr val="000080"/>
                          </a:solidFill>
                          <a:effectLst/>
                          <a:latin typeface="Arial" charset="0"/>
                          <a:ea typeface="新細明體" pitchFamily="18" charset="-120"/>
                        </a:rPr>
                        <a:t>fp</a:t>
                      </a:r>
                      <a:r>
                        <a:rPr kumimoji="0" lang="en-US" altLang="zh-TW" sz="1800" b="0" i="0" u="none" strike="noStrike" cap="none" normalizeH="0" baseline="0" dirty="0">
                          <a:ln>
                            <a:noFill/>
                          </a:ln>
                          <a:solidFill>
                            <a:srgbClr val="000080"/>
                          </a:solidFill>
                          <a:effectLst/>
                          <a:latin typeface="Arial" charset="0"/>
                          <a:ea typeface="新細明體" pitchFamily="18" charset="-120"/>
                        </a:rPr>
                        <a:t>)</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Frame pointer</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extLst>
                  <a:ext uri="{0D108BD9-81ED-4DB2-BD59-A6C34878D82A}">
                    <a16:rowId xmlns:a16="http://schemas.microsoft.com/office/drawing/2014/main" val="10004"/>
                  </a:ext>
                </a:extLst>
              </a:tr>
              <a:tr h="6173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X16-X18</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Intra-procedure call scratch </a:t>
                      </a:r>
                      <a:r>
                        <a:rPr kumimoji="0" lang="en-US" altLang="zh-TW" sz="1800" b="0" i="0" u="none" strike="noStrike" cap="none" normalizeH="0" baseline="0" dirty="0" err="1">
                          <a:ln>
                            <a:noFill/>
                          </a:ln>
                          <a:solidFill>
                            <a:srgbClr val="000080"/>
                          </a:solidFill>
                          <a:effectLst/>
                          <a:latin typeface="Arial" charset="0"/>
                          <a:ea typeface="新細明體" pitchFamily="18" charset="-120"/>
                        </a:rPr>
                        <a:t>reg</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extLst>
                  <a:ext uri="{0D108BD9-81ED-4DB2-BD59-A6C34878D82A}">
                    <a16:rowId xmlns:a16="http://schemas.microsoft.com/office/drawing/2014/main" val="10005"/>
                  </a:ext>
                </a:extLst>
              </a:tr>
              <a:tr h="42870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X10-X17</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Arguments</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6"/>
                  </a:ext>
                </a:extLst>
              </a:tr>
              <a:tr h="42870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X5-X7, X28-X31</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Caller Save</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0007"/>
                  </a:ext>
                </a:extLst>
              </a:tr>
              <a:tr h="42870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X8-X9, X18-X27</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err="1">
                          <a:ln>
                            <a:noFill/>
                          </a:ln>
                          <a:solidFill>
                            <a:srgbClr val="000080"/>
                          </a:solidFill>
                          <a:effectLst/>
                          <a:latin typeface="Arial" charset="0"/>
                          <a:ea typeface="新細明體" pitchFamily="18" charset="-120"/>
                        </a:rPr>
                        <a:t>Callee</a:t>
                      </a:r>
                      <a:r>
                        <a:rPr kumimoji="0" lang="en-US" altLang="zh-TW" sz="1800" b="0" i="0" u="none" strike="noStrike" cap="none" normalizeH="0" baseline="0" dirty="0">
                          <a:ln>
                            <a:noFill/>
                          </a:ln>
                          <a:solidFill>
                            <a:srgbClr val="000080"/>
                          </a:solidFill>
                          <a:effectLst/>
                          <a:latin typeface="Arial" charset="0"/>
                          <a:ea typeface="新細明體" pitchFamily="18" charset="-120"/>
                        </a:rPr>
                        <a:t> Save</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0008"/>
                  </a:ext>
                </a:extLst>
              </a:tr>
            </a:tbl>
          </a:graphicData>
        </a:graphic>
      </p:graphicFrame>
      <p:sp>
        <p:nvSpPr>
          <p:cNvPr id="16420" name="文字方塊 2">
            <a:extLst>
              <a:ext uri="{FF2B5EF4-FFF2-40B4-BE49-F238E27FC236}">
                <a16:creationId xmlns:a16="http://schemas.microsoft.com/office/drawing/2014/main" id="{2AEA80AA-2735-40A3-B3AF-B9EA92F4E13B}"/>
              </a:ext>
            </a:extLst>
          </p:cNvPr>
          <p:cNvSpPr txBox="1">
            <a:spLocks noChangeArrowheads="1"/>
          </p:cNvSpPr>
          <p:nvPr/>
        </p:nvSpPr>
        <p:spPr bwMode="auto">
          <a:xfrm>
            <a:off x="2395537" y="114301"/>
            <a:ext cx="4589718"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700">
                <a:ea typeface="新細明體" panose="02020500000000000000" pitchFamily="18" charset="-120"/>
              </a:rPr>
              <a:t>RISC-V Register Convention</a:t>
            </a:r>
            <a:endParaRPr lang="zh-TW" altLang="en-US" sz="2700">
              <a:ea typeface="新細明體" panose="02020500000000000000" pitchFamily="18" charset="-120"/>
            </a:endParaRPr>
          </a:p>
        </p:txBody>
      </p:sp>
      <p:cxnSp>
        <p:nvCxnSpPr>
          <p:cNvPr id="4" name="Straight Arrow Connector 3">
            <a:extLst>
              <a:ext uri="{FF2B5EF4-FFF2-40B4-BE49-F238E27FC236}">
                <a16:creationId xmlns:a16="http://schemas.microsoft.com/office/drawing/2014/main" id="{1A10491C-6F0E-4759-B05E-A66729B80E11}"/>
              </a:ext>
            </a:extLst>
          </p:cNvPr>
          <p:cNvCxnSpPr/>
          <p:nvPr/>
        </p:nvCxnSpPr>
        <p:spPr bwMode="auto">
          <a:xfrm>
            <a:off x="1574800" y="1255486"/>
            <a:ext cx="1255486" cy="0"/>
          </a:xfrm>
          <a:prstGeom prst="straightConnector1">
            <a:avLst/>
          </a:prstGeom>
          <a:noFill/>
          <a:ln w="38100" cap="flat" cmpd="sng" algn="ctr">
            <a:solidFill>
              <a:srgbClr val="FF0000"/>
            </a:solidFill>
            <a:prstDash val="solid"/>
            <a:round/>
            <a:headEnd type="none" w="med" len="med"/>
            <a:tailEnd type="triangle"/>
          </a:ln>
        </p:spPr>
      </p:cxnSp>
      <p:cxnSp>
        <p:nvCxnSpPr>
          <p:cNvPr id="8" name="Straight Arrow Connector 7">
            <a:extLst>
              <a:ext uri="{FF2B5EF4-FFF2-40B4-BE49-F238E27FC236}">
                <a16:creationId xmlns:a16="http://schemas.microsoft.com/office/drawing/2014/main" id="{357E6135-011E-414F-9470-59A461A609E3}"/>
              </a:ext>
            </a:extLst>
          </p:cNvPr>
          <p:cNvCxnSpPr/>
          <p:nvPr/>
        </p:nvCxnSpPr>
        <p:spPr bwMode="auto">
          <a:xfrm>
            <a:off x="1509486" y="3468915"/>
            <a:ext cx="1255486" cy="0"/>
          </a:xfrm>
          <a:prstGeom prst="straightConnector1">
            <a:avLst/>
          </a:prstGeom>
          <a:noFill/>
          <a:ln w="38100" cap="flat" cmpd="sng" algn="ctr">
            <a:solidFill>
              <a:srgbClr val="FF0000"/>
            </a:solidFill>
            <a:prstDash val="solid"/>
            <a:round/>
            <a:headEnd type="none" w="med" len="med"/>
            <a:tailEnd type="triangle"/>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373909FB-C636-447F-9272-5642CFE0E444}"/>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AE3BBF52-4DAE-49B0-AF9A-E9DC103A9BCE}"/>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B481E6D5-49A0-4468-85CC-004554E85389}" type="slidenum">
              <a:rPr lang="zh-TW" altLang="en-US" sz="900"/>
              <a:pPr>
                <a:spcBef>
                  <a:spcPct val="0"/>
                </a:spcBef>
                <a:buClrTx/>
                <a:buSzTx/>
                <a:buFontTx/>
                <a:buNone/>
              </a:pPr>
              <a:t>9</a:t>
            </a:fld>
            <a:endParaRPr lang="en-US" altLang="zh-TW" sz="900"/>
          </a:p>
        </p:txBody>
      </p:sp>
      <p:graphicFrame>
        <p:nvGraphicFramePr>
          <p:cNvPr id="2" name="表格 1">
            <a:extLst>
              <a:ext uri="{FF2B5EF4-FFF2-40B4-BE49-F238E27FC236}">
                <a16:creationId xmlns:a16="http://schemas.microsoft.com/office/drawing/2014/main" id="{D14CFDDB-B818-4A55-AA4C-A8805201168C}"/>
              </a:ext>
            </a:extLst>
          </p:cNvPr>
          <p:cNvGraphicFramePr>
            <a:graphicFrameLocks noGrp="1"/>
          </p:cNvGraphicFramePr>
          <p:nvPr>
            <p:extLst>
              <p:ext uri="{D42A27DB-BD31-4B8C-83A1-F6EECF244321}">
                <p14:modId xmlns:p14="http://schemas.microsoft.com/office/powerpoint/2010/main" val="3408218022"/>
              </p:ext>
            </p:extLst>
          </p:nvPr>
        </p:nvGraphicFramePr>
        <p:xfrm>
          <a:off x="457200" y="636979"/>
          <a:ext cx="6679407" cy="4046940"/>
        </p:xfrm>
        <a:graphic>
          <a:graphicData uri="http://schemas.openxmlformats.org/drawingml/2006/table">
            <a:tbl>
              <a:tblPr/>
              <a:tblGrid>
                <a:gridCol w="2226469">
                  <a:extLst>
                    <a:ext uri="{9D8B030D-6E8A-4147-A177-3AD203B41FA5}">
                      <a16:colId xmlns:a16="http://schemas.microsoft.com/office/drawing/2014/main" val="20000"/>
                    </a:ext>
                  </a:extLst>
                </a:gridCol>
                <a:gridCol w="2226469">
                  <a:extLst>
                    <a:ext uri="{9D8B030D-6E8A-4147-A177-3AD203B41FA5}">
                      <a16:colId xmlns:a16="http://schemas.microsoft.com/office/drawing/2014/main" val="3963888598"/>
                    </a:ext>
                  </a:extLst>
                </a:gridCol>
                <a:gridCol w="2226469">
                  <a:extLst>
                    <a:ext uri="{9D8B030D-6E8A-4147-A177-3AD203B41FA5}">
                      <a16:colId xmlns:a16="http://schemas.microsoft.com/office/drawing/2014/main" val="20001"/>
                    </a:ext>
                  </a:extLst>
                </a:gridCol>
              </a:tblGrid>
              <a:tr h="42870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1" i="0" u="none" strike="noStrike" cap="none" normalizeH="0" baseline="0" dirty="0">
                          <a:ln>
                            <a:noFill/>
                          </a:ln>
                          <a:solidFill>
                            <a:srgbClr val="FFFFFF"/>
                          </a:solidFill>
                          <a:effectLst/>
                          <a:latin typeface="Arial" charset="0"/>
                          <a:ea typeface="新細明體" pitchFamily="18" charset="-120"/>
                        </a:rPr>
                        <a:t>RV Registers</a:t>
                      </a:r>
                      <a:endParaRPr kumimoji="0" lang="zh-TW" altLang="en-US" sz="1800" b="1" i="0" u="none" strike="noStrike" cap="none" normalizeH="0" baseline="0" dirty="0">
                        <a:ln>
                          <a:noFill/>
                        </a:ln>
                        <a:solidFill>
                          <a:srgbClr val="FFFFFF"/>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1" i="0" u="none" strike="noStrike" cap="none" normalizeH="0" baseline="0" dirty="0">
                          <a:ln>
                            <a:noFill/>
                          </a:ln>
                          <a:solidFill>
                            <a:srgbClr val="FFFFFF"/>
                          </a:solidFill>
                          <a:effectLst/>
                          <a:latin typeface="Arial" charset="0"/>
                          <a:ea typeface="新細明體" pitchFamily="18" charset="-120"/>
                        </a:rPr>
                        <a:t>ABI registers </a:t>
                      </a:r>
                      <a:endParaRPr kumimoji="0" lang="zh-TW" altLang="en-US" sz="1800" b="1" i="0" u="none" strike="noStrike" cap="none" normalizeH="0" baseline="0" dirty="0">
                        <a:ln>
                          <a:noFill/>
                        </a:ln>
                        <a:solidFill>
                          <a:srgbClr val="FFFFFF"/>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1" i="0" u="none" strike="noStrike" cap="none" normalizeH="0" baseline="0" dirty="0">
                          <a:ln>
                            <a:noFill/>
                          </a:ln>
                          <a:solidFill>
                            <a:srgbClr val="FFFFFF"/>
                          </a:solidFill>
                          <a:effectLst/>
                          <a:latin typeface="Arial" charset="0"/>
                          <a:ea typeface="新細明體" pitchFamily="18" charset="-120"/>
                        </a:rPr>
                        <a:t>Purpose</a:t>
                      </a:r>
                      <a:endParaRPr kumimoji="0" lang="zh-TW" altLang="en-US" sz="1800" b="1" i="0" u="none" strike="noStrike" cap="none" normalizeH="0" baseline="0" dirty="0">
                        <a:ln>
                          <a:noFill/>
                        </a:ln>
                        <a:solidFill>
                          <a:srgbClr val="FFFFFF"/>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2870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X1</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ra</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Return address</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extLst>
                  <a:ext uri="{0D108BD9-81ED-4DB2-BD59-A6C34878D82A}">
                    <a16:rowId xmlns:a16="http://schemas.microsoft.com/office/drawing/2014/main" val="10001"/>
                  </a:ext>
                </a:extLst>
              </a:tr>
              <a:tr h="42870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X2 (</a:t>
                      </a:r>
                      <a:r>
                        <a:rPr kumimoji="0" lang="en-US" altLang="zh-TW" sz="1800" b="0" i="0" u="none" strike="noStrike" cap="none" normalizeH="0" baseline="0" dirty="0" err="1">
                          <a:ln>
                            <a:noFill/>
                          </a:ln>
                          <a:solidFill>
                            <a:srgbClr val="000080"/>
                          </a:solidFill>
                          <a:effectLst/>
                          <a:latin typeface="Arial" charset="0"/>
                          <a:ea typeface="新細明體" pitchFamily="18" charset="-120"/>
                        </a:rPr>
                        <a:t>sp</a:t>
                      </a:r>
                      <a:r>
                        <a:rPr kumimoji="0" lang="en-US" altLang="zh-TW" sz="1800" b="0" i="0" u="none" strike="noStrike" cap="none" normalizeH="0" baseline="0" dirty="0">
                          <a:ln>
                            <a:noFill/>
                          </a:ln>
                          <a:solidFill>
                            <a:srgbClr val="000080"/>
                          </a:solidFill>
                          <a:effectLst/>
                          <a:latin typeface="Arial" charset="0"/>
                          <a:ea typeface="新細明體" pitchFamily="18" charset="-120"/>
                        </a:rPr>
                        <a:t>)</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err="1">
                          <a:ln>
                            <a:noFill/>
                          </a:ln>
                          <a:solidFill>
                            <a:srgbClr val="000080"/>
                          </a:solidFill>
                          <a:effectLst/>
                          <a:latin typeface="Arial" charset="0"/>
                          <a:ea typeface="新細明體" pitchFamily="18" charset="-120"/>
                        </a:rPr>
                        <a:t>sp</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Stack top</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extLst>
                  <a:ext uri="{0D108BD9-81ED-4DB2-BD59-A6C34878D82A}">
                    <a16:rowId xmlns:a16="http://schemas.microsoft.com/office/drawing/2014/main" val="10002"/>
                  </a:ext>
                </a:extLst>
              </a:tr>
              <a:tr h="42870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X3 </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err="1">
                          <a:ln>
                            <a:noFill/>
                          </a:ln>
                          <a:solidFill>
                            <a:srgbClr val="000080"/>
                          </a:solidFill>
                          <a:effectLst/>
                          <a:latin typeface="Arial" charset="0"/>
                          <a:ea typeface="新細明體" pitchFamily="18" charset="-120"/>
                        </a:rPr>
                        <a:t>gp</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Global pointer</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extLst>
                  <a:ext uri="{0D108BD9-81ED-4DB2-BD59-A6C34878D82A}">
                    <a16:rowId xmlns:a16="http://schemas.microsoft.com/office/drawing/2014/main" val="10003"/>
                  </a:ext>
                </a:extLst>
              </a:tr>
              <a:tr h="42870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X8 (</a:t>
                      </a:r>
                      <a:r>
                        <a:rPr kumimoji="0" lang="en-US" altLang="zh-TW" sz="1800" b="0" i="0" u="none" strike="noStrike" cap="none" normalizeH="0" baseline="0" dirty="0" err="1">
                          <a:ln>
                            <a:noFill/>
                          </a:ln>
                          <a:solidFill>
                            <a:srgbClr val="000080"/>
                          </a:solidFill>
                          <a:effectLst/>
                          <a:latin typeface="Arial" charset="0"/>
                          <a:ea typeface="新細明體" pitchFamily="18" charset="-120"/>
                        </a:rPr>
                        <a:t>fp</a:t>
                      </a:r>
                      <a:r>
                        <a:rPr kumimoji="0" lang="en-US" altLang="zh-TW" sz="1800" b="0" i="0" u="none" strike="noStrike" cap="none" normalizeH="0" baseline="0" dirty="0">
                          <a:ln>
                            <a:noFill/>
                          </a:ln>
                          <a:solidFill>
                            <a:srgbClr val="000080"/>
                          </a:solidFill>
                          <a:effectLst/>
                          <a:latin typeface="Arial" charset="0"/>
                          <a:ea typeface="新細明體" pitchFamily="18" charset="-120"/>
                        </a:rPr>
                        <a:t>)</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err="1">
                          <a:ln>
                            <a:noFill/>
                          </a:ln>
                          <a:solidFill>
                            <a:srgbClr val="000080"/>
                          </a:solidFill>
                          <a:effectLst/>
                          <a:latin typeface="Arial" charset="0"/>
                          <a:ea typeface="新細明體" pitchFamily="18" charset="-120"/>
                        </a:rPr>
                        <a:t>fp</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Frame pointer</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extLst>
                  <a:ext uri="{0D108BD9-81ED-4DB2-BD59-A6C34878D82A}">
                    <a16:rowId xmlns:a16="http://schemas.microsoft.com/office/drawing/2014/main" val="10004"/>
                  </a:ext>
                </a:extLst>
              </a:tr>
              <a:tr h="6173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X16-X18</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Intra-procedure call scratch </a:t>
                      </a:r>
                      <a:r>
                        <a:rPr kumimoji="0" lang="en-US" altLang="zh-TW" sz="1800" b="0" i="0" u="none" strike="noStrike" cap="none" normalizeH="0" baseline="0" dirty="0" err="1">
                          <a:ln>
                            <a:noFill/>
                          </a:ln>
                          <a:solidFill>
                            <a:srgbClr val="000080"/>
                          </a:solidFill>
                          <a:effectLst/>
                          <a:latin typeface="Arial" charset="0"/>
                          <a:ea typeface="新細明體" pitchFamily="18" charset="-120"/>
                        </a:rPr>
                        <a:t>reg</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extLst>
                  <a:ext uri="{0D108BD9-81ED-4DB2-BD59-A6C34878D82A}">
                    <a16:rowId xmlns:a16="http://schemas.microsoft.com/office/drawing/2014/main" val="10005"/>
                  </a:ext>
                </a:extLst>
              </a:tr>
              <a:tr h="42870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X10-X17</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a0-a7</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Arguments</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6"/>
                  </a:ext>
                </a:extLst>
              </a:tr>
              <a:tr h="42870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X5-X7, X28-X31</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t0-t6</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Caller Save</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0007"/>
                  </a:ext>
                </a:extLst>
              </a:tr>
              <a:tr h="42870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X8-X9, X18-X27</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s0-s11</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err="1">
                          <a:ln>
                            <a:noFill/>
                          </a:ln>
                          <a:solidFill>
                            <a:srgbClr val="000080"/>
                          </a:solidFill>
                          <a:effectLst/>
                          <a:latin typeface="Arial" charset="0"/>
                          <a:ea typeface="新細明體" pitchFamily="18" charset="-120"/>
                        </a:rPr>
                        <a:t>Callee</a:t>
                      </a:r>
                      <a:r>
                        <a:rPr kumimoji="0" lang="en-US" altLang="zh-TW" sz="1800" b="0" i="0" u="none" strike="noStrike" cap="none" normalizeH="0" baseline="0" dirty="0">
                          <a:ln>
                            <a:noFill/>
                          </a:ln>
                          <a:solidFill>
                            <a:srgbClr val="000080"/>
                          </a:solidFill>
                          <a:effectLst/>
                          <a:latin typeface="Arial" charset="0"/>
                          <a:ea typeface="新細明體" pitchFamily="18" charset="-120"/>
                        </a:rPr>
                        <a:t> Save</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0008"/>
                  </a:ext>
                </a:extLst>
              </a:tr>
            </a:tbl>
          </a:graphicData>
        </a:graphic>
      </p:graphicFrame>
      <p:sp>
        <p:nvSpPr>
          <p:cNvPr id="16420" name="文字方塊 2">
            <a:extLst>
              <a:ext uri="{FF2B5EF4-FFF2-40B4-BE49-F238E27FC236}">
                <a16:creationId xmlns:a16="http://schemas.microsoft.com/office/drawing/2014/main" id="{2AEA80AA-2735-40A3-B3AF-B9EA92F4E13B}"/>
              </a:ext>
            </a:extLst>
          </p:cNvPr>
          <p:cNvSpPr txBox="1">
            <a:spLocks noChangeArrowheads="1"/>
          </p:cNvSpPr>
          <p:nvPr/>
        </p:nvSpPr>
        <p:spPr bwMode="auto">
          <a:xfrm>
            <a:off x="2395537" y="114301"/>
            <a:ext cx="4589718"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700">
                <a:ea typeface="新細明體" panose="02020500000000000000" pitchFamily="18" charset="-120"/>
              </a:rPr>
              <a:t>RISC-V Register Convention</a:t>
            </a:r>
            <a:endParaRPr lang="zh-TW" altLang="en-US" sz="2700">
              <a:ea typeface="新細明體" panose="02020500000000000000" pitchFamily="18" charset="-120"/>
            </a:endParaRPr>
          </a:p>
        </p:txBody>
      </p:sp>
    </p:spTree>
    <p:extLst>
      <p:ext uri="{BB962C8B-B14F-4D97-AF65-F5344CB8AC3E}">
        <p14:creationId xmlns:p14="http://schemas.microsoft.com/office/powerpoint/2010/main" val="252936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D12C66DE-6F35-4816-939F-B53C2F9EFAE8}"/>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34AE673E-3D97-4A0A-8121-1E6D4C9DD50A}"/>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8D033347-7621-4281-A9AF-3DA591D36C6E}" type="slidenum">
              <a:rPr lang="zh-TW" altLang="en-US" sz="900"/>
              <a:pPr>
                <a:spcBef>
                  <a:spcPct val="0"/>
                </a:spcBef>
                <a:buClrTx/>
                <a:buSzTx/>
                <a:buFontTx/>
                <a:buNone/>
              </a:pPr>
              <a:t>10</a:t>
            </a:fld>
            <a:endParaRPr lang="en-US" altLang="zh-TW" sz="900"/>
          </a:p>
        </p:txBody>
      </p:sp>
      <p:sp>
        <p:nvSpPr>
          <p:cNvPr id="5" name="Rectangle 2">
            <a:extLst>
              <a:ext uri="{FF2B5EF4-FFF2-40B4-BE49-F238E27FC236}">
                <a16:creationId xmlns:a16="http://schemas.microsoft.com/office/drawing/2014/main" id="{28218223-0F65-47BD-9D1A-4016E9CC2AC7}"/>
              </a:ext>
            </a:extLst>
          </p:cNvPr>
          <p:cNvSpPr txBox="1">
            <a:spLocks noChangeArrowheads="1"/>
          </p:cNvSpPr>
          <p:nvPr/>
        </p:nvSpPr>
        <p:spPr bwMode="auto">
          <a:xfrm>
            <a:off x="965200" y="0"/>
            <a:ext cx="6400800" cy="68580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300" dirty="0">
                <a:effectLst/>
                <a:ea typeface="新細明體" pitchFamily="18" charset="-120"/>
              </a:rPr>
              <a:t>Caller Save Registers</a:t>
            </a:r>
          </a:p>
        </p:txBody>
      </p:sp>
      <p:sp>
        <p:nvSpPr>
          <p:cNvPr id="12" name="Rectangle 2">
            <a:extLst>
              <a:ext uri="{FF2B5EF4-FFF2-40B4-BE49-F238E27FC236}">
                <a16:creationId xmlns:a16="http://schemas.microsoft.com/office/drawing/2014/main" id="{08C7172A-21A1-48CA-AED3-8AFE24508B62}"/>
              </a:ext>
            </a:extLst>
          </p:cNvPr>
          <p:cNvSpPr txBox="1">
            <a:spLocks noChangeArrowheads="1"/>
          </p:cNvSpPr>
          <p:nvPr/>
        </p:nvSpPr>
        <p:spPr bwMode="auto">
          <a:xfrm>
            <a:off x="391886" y="829582"/>
            <a:ext cx="8461828" cy="3484336"/>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marL="342900" indent="-342900" algn="l" eaLnBrk="1" hangingPunct="1">
              <a:buFont typeface="Wingdings" panose="05000000000000000000" pitchFamily="2" charset="2"/>
              <a:buChar char="§"/>
              <a:defRPr/>
            </a:pPr>
            <a:r>
              <a:rPr lang="en-US" altLang="zh-TW" sz="2200" b="1" dirty="0">
                <a:effectLst/>
                <a:ea typeface="新細明體" pitchFamily="18" charset="-120"/>
              </a:rPr>
              <a:t>Caller-saved registers</a:t>
            </a:r>
            <a:r>
              <a:rPr lang="en-US" altLang="zh-TW" sz="2100" dirty="0">
                <a:effectLst/>
                <a:ea typeface="新細明體" pitchFamily="18" charset="-120"/>
              </a:rPr>
              <a:t>:</a:t>
            </a:r>
          </a:p>
          <a:p>
            <a:pPr algn="l" eaLnBrk="1" hangingPunct="1">
              <a:defRPr/>
            </a:pPr>
            <a:endParaRPr lang="en-US" altLang="zh-TW" sz="2100" dirty="0">
              <a:effectLst/>
              <a:ea typeface="新細明體" pitchFamily="18" charset="-120"/>
            </a:endParaRPr>
          </a:p>
          <a:p>
            <a:pPr algn="l" eaLnBrk="1" hangingPunct="1">
              <a:defRPr/>
            </a:pPr>
            <a:r>
              <a:rPr lang="en-US" altLang="zh-TW" sz="2000" dirty="0">
                <a:effectLst/>
                <a:ea typeface="新細明體" pitchFamily="18" charset="-120"/>
              </a:rPr>
              <a:t>These registers are expected to be preserved by the caller (the function making the call) if their values need to be retained across the function call.</a:t>
            </a:r>
          </a:p>
          <a:p>
            <a:pPr algn="l" eaLnBrk="1" hangingPunct="1">
              <a:defRPr/>
            </a:pPr>
            <a:r>
              <a:rPr lang="en-US" altLang="zh-TW" sz="2000" dirty="0">
                <a:effectLst/>
                <a:ea typeface="新細明體" pitchFamily="18" charset="-120"/>
              </a:rPr>
              <a:t>The callee (the called function) can modify these registers without any obligation to restore their original values.</a:t>
            </a:r>
          </a:p>
          <a:p>
            <a:pPr algn="l" eaLnBrk="1" hangingPunct="1">
              <a:defRPr/>
            </a:pPr>
            <a:endParaRPr lang="en-US" altLang="zh-TW" sz="2000" dirty="0">
              <a:effectLst/>
              <a:ea typeface="新細明體" pitchFamily="18" charset="-120"/>
            </a:endParaRPr>
          </a:p>
          <a:p>
            <a:pPr algn="l" eaLnBrk="1" hangingPunct="1">
              <a:defRPr/>
            </a:pPr>
            <a:r>
              <a:rPr lang="en-US" altLang="zh-TW" sz="2000" dirty="0">
                <a:effectLst/>
                <a:ea typeface="新細明體" pitchFamily="18" charset="-120"/>
              </a:rPr>
              <a:t>In RISC-V, the caller-saved registers are typically:</a:t>
            </a:r>
          </a:p>
          <a:p>
            <a:pPr algn="l" eaLnBrk="1" hangingPunct="1">
              <a:defRPr/>
            </a:pPr>
            <a:r>
              <a:rPr lang="en-US" altLang="zh-TW" sz="2000" dirty="0">
                <a:effectLst/>
                <a:ea typeface="新細明體" pitchFamily="18" charset="-120"/>
              </a:rPr>
              <a:t>	t0-t6 (temporary registers) </a:t>
            </a:r>
            <a:r>
              <a:rPr lang="en-US" altLang="zh-TW" sz="2000" dirty="0">
                <a:effectLst/>
                <a:ea typeface="新細明體" pitchFamily="18" charset="-120"/>
                <a:sym typeface="Wingdings" panose="05000000000000000000" pitchFamily="2" charset="2"/>
              </a:rPr>
              <a:t> </a:t>
            </a:r>
            <a:r>
              <a:rPr lang="en-US" altLang="zh-TW" sz="2000" dirty="0">
                <a:effectLst/>
                <a:ea typeface="新細明體" pitchFamily="18" charset="-120"/>
              </a:rPr>
              <a:t>x5-x7,x28-x31 </a:t>
            </a:r>
          </a:p>
          <a:p>
            <a:pPr algn="l" eaLnBrk="1" hangingPunct="1">
              <a:defRPr/>
            </a:pPr>
            <a:r>
              <a:rPr lang="en-US" altLang="zh-TW" sz="2000" dirty="0">
                <a:effectLst/>
                <a:ea typeface="新細明體" pitchFamily="18" charset="-120"/>
              </a:rPr>
              <a:t>	a0-a7 (argument/return value registers) </a:t>
            </a:r>
            <a:r>
              <a:rPr lang="en-US" altLang="zh-TW" sz="2000" dirty="0">
                <a:effectLst/>
                <a:ea typeface="新細明體" pitchFamily="18" charset="-120"/>
                <a:sym typeface="Wingdings" panose="05000000000000000000" pitchFamily="2" charset="2"/>
              </a:rPr>
              <a:t> x10-x17</a:t>
            </a:r>
            <a:endParaRPr lang="en-US" altLang="zh-TW" sz="2000" dirty="0">
              <a:effectLst/>
              <a:ea typeface="新細明體" pitchFamily="18" charset="-120"/>
            </a:endParaRPr>
          </a:p>
          <a:p>
            <a:pPr algn="l" eaLnBrk="1" hangingPunct="1">
              <a:defRPr/>
            </a:pPr>
            <a:r>
              <a:rPr lang="en-US" altLang="zh-TW" sz="2000" dirty="0">
                <a:effectLst/>
                <a:ea typeface="新細明體" pitchFamily="18" charset="-120"/>
              </a:rPr>
              <a:t>	ra (return address register) </a:t>
            </a:r>
            <a:r>
              <a:rPr lang="en-US" altLang="zh-TW" sz="2000" dirty="0">
                <a:effectLst/>
                <a:ea typeface="新細明體" pitchFamily="18" charset="-120"/>
                <a:sym typeface="Wingdings" panose="05000000000000000000" pitchFamily="2" charset="2"/>
              </a:rPr>
              <a:t></a:t>
            </a:r>
            <a:r>
              <a:rPr lang="en-US" altLang="zh-TW" sz="2000" dirty="0">
                <a:effectLst/>
                <a:ea typeface="新細明體" pitchFamily="18" charset="-120"/>
              </a:rPr>
              <a:t> x1</a:t>
            </a:r>
          </a:p>
        </p:txBody>
      </p:sp>
    </p:spTree>
    <p:extLst>
      <p:ext uri="{BB962C8B-B14F-4D97-AF65-F5344CB8AC3E}">
        <p14:creationId xmlns:p14="http://schemas.microsoft.com/office/powerpoint/2010/main" val="4141430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D12C66DE-6F35-4816-939F-B53C2F9EFAE8}"/>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34AE673E-3D97-4A0A-8121-1E6D4C9DD50A}"/>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8D033347-7621-4281-A9AF-3DA591D36C6E}" type="slidenum">
              <a:rPr lang="zh-TW" altLang="en-US" sz="900"/>
              <a:pPr>
                <a:spcBef>
                  <a:spcPct val="0"/>
                </a:spcBef>
                <a:buClrTx/>
                <a:buSzTx/>
                <a:buFontTx/>
                <a:buNone/>
              </a:pPr>
              <a:t>11</a:t>
            </a:fld>
            <a:endParaRPr lang="en-US" altLang="zh-TW" sz="900"/>
          </a:p>
        </p:txBody>
      </p:sp>
      <p:sp>
        <p:nvSpPr>
          <p:cNvPr id="5" name="Rectangle 2">
            <a:extLst>
              <a:ext uri="{FF2B5EF4-FFF2-40B4-BE49-F238E27FC236}">
                <a16:creationId xmlns:a16="http://schemas.microsoft.com/office/drawing/2014/main" id="{28218223-0F65-47BD-9D1A-4016E9CC2AC7}"/>
              </a:ext>
            </a:extLst>
          </p:cNvPr>
          <p:cNvSpPr txBox="1">
            <a:spLocks noChangeArrowheads="1"/>
          </p:cNvSpPr>
          <p:nvPr/>
        </p:nvSpPr>
        <p:spPr bwMode="auto">
          <a:xfrm>
            <a:off x="965200" y="0"/>
            <a:ext cx="6400800" cy="68580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300" dirty="0">
                <a:effectLst/>
                <a:ea typeface="新細明體" pitchFamily="18" charset="-120"/>
              </a:rPr>
              <a:t>Callee Save Registers</a:t>
            </a:r>
          </a:p>
        </p:txBody>
      </p:sp>
      <p:sp>
        <p:nvSpPr>
          <p:cNvPr id="12" name="Rectangle 2">
            <a:extLst>
              <a:ext uri="{FF2B5EF4-FFF2-40B4-BE49-F238E27FC236}">
                <a16:creationId xmlns:a16="http://schemas.microsoft.com/office/drawing/2014/main" id="{08C7172A-21A1-48CA-AED3-8AFE24508B62}"/>
              </a:ext>
            </a:extLst>
          </p:cNvPr>
          <p:cNvSpPr txBox="1">
            <a:spLocks noChangeArrowheads="1"/>
          </p:cNvSpPr>
          <p:nvPr/>
        </p:nvSpPr>
        <p:spPr bwMode="auto">
          <a:xfrm>
            <a:off x="391886" y="829582"/>
            <a:ext cx="8461828" cy="3484336"/>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marL="342900" indent="-342900" algn="l" eaLnBrk="1" hangingPunct="1">
              <a:buFont typeface="Wingdings" panose="05000000000000000000" pitchFamily="2" charset="2"/>
              <a:buChar char="§"/>
              <a:defRPr/>
            </a:pPr>
            <a:r>
              <a:rPr lang="en-US" altLang="zh-TW" sz="2200" b="1" dirty="0">
                <a:effectLst/>
                <a:ea typeface="新細明體" pitchFamily="18" charset="-120"/>
              </a:rPr>
              <a:t>Callee-saved registers</a:t>
            </a:r>
            <a:r>
              <a:rPr lang="en-US" altLang="zh-TW" sz="2100" dirty="0">
                <a:effectLst/>
                <a:ea typeface="新細明體" pitchFamily="18" charset="-120"/>
              </a:rPr>
              <a:t>:</a:t>
            </a:r>
          </a:p>
          <a:p>
            <a:pPr algn="l" eaLnBrk="1" hangingPunct="1">
              <a:defRPr/>
            </a:pPr>
            <a:endParaRPr lang="en-US" altLang="zh-TW" sz="2100" dirty="0">
              <a:effectLst/>
              <a:ea typeface="新細明體" pitchFamily="18" charset="-120"/>
            </a:endParaRPr>
          </a:p>
          <a:p>
            <a:pPr algn="l" eaLnBrk="1" hangingPunct="1">
              <a:defRPr/>
            </a:pPr>
            <a:r>
              <a:rPr lang="en-US" altLang="zh-TW" sz="2000" dirty="0">
                <a:effectLst/>
                <a:ea typeface="新細明體" pitchFamily="18" charset="-120"/>
              </a:rPr>
              <a:t>The callee expects these registers to be preserved if modified during the function execution.</a:t>
            </a:r>
          </a:p>
          <a:p>
            <a:pPr algn="l" eaLnBrk="1" hangingPunct="1">
              <a:defRPr/>
            </a:pPr>
            <a:r>
              <a:rPr lang="en-US" altLang="zh-TW" sz="2000" dirty="0">
                <a:effectLst/>
                <a:ea typeface="新細明體" pitchFamily="18" charset="-120"/>
              </a:rPr>
              <a:t>The callee must save the original values of these registers upon entry (typically by pushing them onto the stack) and restore them before returning to the caller.</a:t>
            </a:r>
          </a:p>
          <a:p>
            <a:pPr algn="l" eaLnBrk="1" hangingPunct="1">
              <a:defRPr/>
            </a:pPr>
            <a:endParaRPr lang="en-US" altLang="zh-TW" sz="2000" dirty="0">
              <a:effectLst/>
              <a:ea typeface="新細明體" pitchFamily="18" charset="-120"/>
            </a:endParaRPr>
          </a:p>
          <a:p>
            <a:pPr algn="l" eaLnBrk="1" hangingPunct="1">
              <a:defRPr/>
            </a:pPr>
            <a:r>
              <a:rPr lang="en-US" altLang="zh-TW" sz="2000" dirty="0">
                <a:effectLst/>
                <a:ea typeface="新細明體" pitchFamily="18" charset="-120"/>
              </a:rPr>
              <a:t>In RISC-V, the callee-saved registers are typically:</a:t>
            </a:r>
          </a:p>
          <a:p>
            <a:pPr algn="l" eaLnBrk="1" hangingPunct="1">
              <a:defRPr/>
            </a:pPr>
            <a:r>
              <a:rPr lang="en-US" altLang="zh-TW" sz="2000" dirty="0">
                <a:effectLst/>
                <a:ea typeface="新細明體" pitchFamily="18" charset="-120"/>
              </a:rPr>
              <a:t>	s0-s11 (saved registers)	</a:t>
            </a:r>
            <a:r>
              <a:rPr lang="en-US" altLang="zh-TW" sz="2000" dirty="0">
                <a:effectLst/>
                <a:ea typeface="新細明體" pitchFamily="18" charset="-120"/>
                <a:sym typeface="Wingdings" panose="05000000000000000000" pitchFamily="2" charset="2"/>
              </a:rPr>
              <a:t> x8-x9, x18-x27</a:t>
            </a:r>
            <a:endParaRPr lang="en-US" altLang="zh-TW" sz="2000" dirty="0">
              <a:effectLst/>
              <a:ea typeface="新細明體" pitchFamily="18" charset="-120"/>
            </a:endParaRPr>
          </a:p>
          <a:p>
            <a:pPr algn="l" eaLnBrk="1" hangingPunct="1">
              <a:defRPr/>
            </a:pPr>
            <a:r>
              <a:rPr lang="en-US" altLang="zh-TW" sz="2000" dirty="0">
                <a:effectLst/>
                <a:ea typeface="新細明體" pitchFamily="18" charset="-120"/>
              </a:rPr>
              <a:t>	</a:t>
            </a:r>
            <a:r>
              <a:rPr lang="en-US" altLang="zh-TW" sz="2000" dirty="0" err="1">
                <a:effectLst/>
                <a:ea typeface="新細明體" pitchFamily="18" charset="-120"/>
              </a:rPr>
              <a:t>sp</a:t>
            </a:r>
            <a:r>
              <a:rPr lang="en-US" altLang="zh-TW" sz="2000" dirty="0">
                <a:effectLst/>
                <a:ea typeface="新細明體" pitchFamily="18" charset="-120"/>
              </a:rPr>
              <a:t> (stack pointer) </a:t>
            </a:r>
            <a:r>
              <a:rPr lang="en-US" altLang="zh-TW" sz="2000" dirty="0">
                <a:effectLst/>
                <a:ea typeface="新細明體" pitchFamily="18" charset="-120"/>
                <a:sym typeface="Wingdings" panose="05000000000000000000" pitchFamily="2" charset="2"/>
              </a:rPr>
              <a:t> x2</a:t>
            </a:r>
            <a:endParaRPr lang="en-US" altLang="zh-TW" sz="2000" dirty="0">
              <a:effectLst/>
              <a:ea typeface="新細明體" pitchFamily="18" charset="-120"/>
            </a:endParaRPr>
          </a:p>
        </p:txBody>
      </p:sp>
    </p:spTree>
    <p:extLst>
      <p:ext uri="{BB962C8B-B14F-4D97-AF65-F5344CB8AC3E}">
        <p14:creationId xmlns:p14="http://schemas.microsoft.com/office/powerpoint/2010/main" val="20609492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D12C66DE-6F35-4816-939F-B53C2F9EFAE8}"/>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34AE673E-3D97-4A0A-8121-1E6D4C9DD50A}"/>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8D033347-7621-4281-A9AF-3DA591D36C6E}" type="slidenum">
              <a:rPr lang="zh-TW" altLang="en-US" sz="900"/>
              <a:pPr>
                <a:spcBef>
                  <a:spcPct val="0"/>
                </a:spcBef>
                <a:buClrTx/>
                <a:buSzTx/>
                <a:buFontTx/>
                <a:buNone/>
              </a:pPr>
              <a:t>12</a:t>
            </a:fld>
            <a:endParaRPr lang="en-US" altLang="zh-TW" sz="900"/>
          </a:p>
        </p:txBody>
      </p:sp>
      <p:sp>
        <p:nvSpPr>
          <p:cNvPr id="5" name="Rectangle 2">
            <a:extLst>
              <a:ext uri="{FF2B5EF4-FFF2-40B4-BE49-F238E27FC236}">
                <a16:creationId xmlns:a16="http://schemas.microsoft.com/office/drawing/2014/main" id="{28218223-0F65-47BD-9D1A-4016E9CC2AC7}"/>
              </a:ext>
            </a:extLst>
          </p:cNvPr>
          <p:cNvSpPr txBox="1">
            <a:spLocks noChangeArrowheads="1"/>
          </p:cNvSpPr>
          <p:nvPr/>
        </p:nvSpPr>
        <p:spPr bwMode="auto">
          <a:xfrm>
            <a:off x="965200" y="0"/>
            <a:ext cx="6400800" cy="68580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300" dirty="0">
                <a:effectLst/>
                <a:ea typeface="新細明體" pitchFamily="18" charset="-120"/>
              </a:rPr>
              <a:t>Ideal World</a:t>
            </a:r>
          </a:p>
        </p:txBody>
      </p:sp>
      <p:sp>
        <p:nvSpPr>
          <p:cNvPr id="2" name="Rectangle 1">
            <a:extLst>
              <a:ext uri="{FF2B5EF4-FFF2-40B4-BE49-F238E27FC236}">
                <a16:creationId xmlns:a16="http://schemas.microsoft.com/office/drawing/2014/main" id="{DA544BBA-45E5-4C25-8B3F-949860BEA82F}"/>
              </a:ext>
            </a:extLst>
          </p:cNvPr>
          <p:cNvSpPr/>
          <p:nvPr/>
        </p:nvSpPr>
        <p:spPr bwMode="auto">
          <a:xfrm>
            <a:off x="313873" y="1306286"/>
            <a:ext cx="2155371" cy="2757715"/>
          </a:xfrm>
          <a:prstGeom prst="rect">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90204" pitchFamily="34" charset="0"/>
              <a:ea typeface="新細明體" panose="02020500000000000000" pitchFamily="18" charset="-120"/>
            </a:endParaRPr>
          </a:p>
        </p:txBody>
      </p:sp>
      <p:sp>
        <p:nvSpPr>
          <p:cNvPr id="7" name="Rectangle 6">
            <a:extLst>
              <a:ext uri="{FF2B5EF4-FFF2-40B4-BE49-F238E27FC236}">
                <a16:creationId xmlns:a16="http://schemas.microsoft.com/office/drawing/2014/main" id="{44469BB1-9F2D-4610-A1CB-A635FC3E8FA6}"/>
              </a:ext>
            </a:extLst>
          </p:cNvPr>
          <p:cNvSpPr/>
          <p:nvPr/>
        </p:nvSpPr>
        <p:spPr bwMode="auto">
          <a:xfrm>
            <a:off x="3880758" y="1306286"/>
            <a:ext cx="2155371" cy="2757715"/>
          </a:xfrm>
          <a:prstGeom prst="rect">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90204" pitchFamily="34" charset="0"/>
              <a:ea typeface="新細明體" panose="02020500000000000000" pitchFamily="18" charset="-120"/>
            </a:endParaRPr>
          </a:p>
        </p:txBody>
      </p:sp>
      <p:sp>
        <p:nvSpPr>
          <p:cNvPr id="3" name="TextBox 2">
            <a:extLst>
              <a:ext uri="{FF2B5EF4-FFF2-40B4-BE49-F238E27FC236}">
                <a16:creationId xmlns:a16="http://schemas.microsoft.com/office/drawing/2014/main" id="{5D325113-1089-4563-9E48-404B3A22E61A}"/>
              </a:ext>
            </a:extLst>
          </p:cNvPr>
          <p:cNvSpPr txBox="1"/>
          <p:nvPr/>
        </p:nvSpPr>
        <p:spPr>
          <a:xfrm>
            <a:off x="997860" y="1006929"/>
            <a:ext cx="787395" cy="369332"/>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Caller</a:t>
            </a:r>
          </a:p>
        </p:txBody>
      </p:sp>
      <p:sp>
        <p:nvSpPr>
          <p:cNvPr id="9" name="TextBox 8">
            <a:extLst>
              <a:ext uri="{FF2B5EF4-FFF2-40B4-BE49-F238E27FC236}">
                <a16:creationId xmlns:a16="http://schemas.microsoft.com/office/drawing/2014/main" id="{C4389AF8-7627-4BA7-BCB7-83998F1DCEEE}"/>
              </a:ext>
            </a:extLst>
          </p:cNvPr>
          <p:cNvSpPr txBox="1"/>
          <p:nvPr/>
        </p:nvSpPr>
        <p:spPr>
          <a:xfrm>
            <a:off x="4457709" y="998129"/>
            <a:ext cx="838691" cy="369332"/>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Callee</a:t>
            </a:r>
          </a:p>
        </p:txBody>
      </p:sp>
      <p:sp>
        <p:nvSpPr>
          <p:cNvPr id="4" name="Arrow: Right 3">
            <a:extLst>
              <a:ext uri="{FF2B5EF4-FFF2-40B4-BE49-F238E27FC236}">
                <a16:creationId xmlns:a16="http://schemas.microsoft.com/office/drawing/2014/main" id="{2B743D9E-634C-4D2F-A013-808C0F862396}"/>
              </a:ext>
            </a:extLst>
          </p:cNvPr>
          <p:cNvSpPr/>
          <p:nvPr/>
        </p:nvSpPr>
        <p:spPr bwMode="auto">
          <a:xfrm>
            <a:off x="2685797" y="2406258"/>
            <a:ext cx="978408" cy="484632"/>
          </a:xfrm>
          <a:prstGeom prst="rightArrow">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90204" pitchFamily="34" charset="0"/>
              <a:ea typeface="新細明體" panose="02020500000000000000" pitchFamily="18" charset="-120"/>
            </a:endParaRPr>
          </a:p>
        </p:txBody>
      </p:sp>
      <p:sp>
        <p:nvSpPr>
          <p:cNvPr id="6" name="TextBox 5">
            <a:extLst>
              <a:ext uri="{FF2B5EF4-FFF2-40B4-BE49-F238E27FC236}">
                <a16:creationId xmlns:a16="http://schemas.microsoft.com/office/drawing/2014/main" id="{5996B1FE-F102-4142-8C14-371015F32760}"/>
              </a:ext>
            </a:extLst>
          </p:cNvPr>
          <p:cNvSpPr txBox="1"/>
          <p:nvPr/>
        </p:nvSpPr>
        <p:spPr>
          <a:xfrm>
            <a:off x="405065" y="1432868"/>
            <a:ext cx="2146742" cy="1200329"/>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Caller tries to</a:t>
            </a:r>
          </a:p>
          <a:p>
            <a:r>
              <a:rPr lang="en-US" dirty="0">
                <a:ea typeface="標楷體" pitchFamily="65" charset="-120"/>
                <a:cs typeface="Calibri" panose="020F07020304040A0204" pitchFamily="34" charset="0"/>
              </a:rPr>
              <a:t>use all </a:t>
            </a:r>
            <a:r>
              <a:rPr lang="en-US" dirty="0">
                <a:solidFill>
                  <a:srgbClr val="FF0000"/>
                </a:solidFill>
                <a:ea typeface="標楷體" pitchFamily="65" charset="-120"/>
                <a:cs typeface="Calibri" panose="020F07020304040A0204" pitchFamily="34" charset="0"/>
              </a:rPr>
              <a:t>callee</a:t>
            </a:r>
            <a:r>
              <a:rPr lang="en-US" dirty="0">
                <a:ea typeface="標楷體" pitchFamily="65" charset="-120"/>
                <a:cs typeface="Calibri" panose="020F07020304040A0204" pitchFamily="34" charset="0"/>
              </a:rPr>
              <a:t>-save </a:t>
            </a:r>
          </a:p>
          <a:p>
            <a:r>
              <a:rPr lang="en-US" dirty="0">
                <a:ea typeface="標楷體" pitchFamily="65" charset="-120"/>
                <a:cs typeface="Calibri" panose="020F07020304040A0204" pitchFamily="34" charset="0"/>
              </a:rPr>
              <a:t>Registers</a:t>
            </a:r>
          </a:p>
          <a:p>
            <a:r>
              <a:rPr lang="en-US" dirty="0">
                <a:ea typeface="標楷體" pitchFamily="65" charset="-120"/>
                <a:cs typeface="Calibri" panose="020F07020304040A0204" pitchFamily="34" charset="0"/>
              </a:rPr>
              <a:t>(x8-x9,x18-x27)</a:t>
            </a:r>
          </a:p>
        </p:txBody>
      </p:sp>
      <p:sp>
        <p:nvSpPr>
          <p:cNvPr id="13" name="TextBox 12">
            <a:extLst>
              <a:ext uri="{FF2B5EF4-FFF2-40B4-BE49-F238E27FC236}">
                <a16:creationId xmlns:a16="http://schemas.microsoft.com/office/drawing/2014/main" id="{4417DAD6-057A-4033-955D-4C1611951EAB}"/>
              </a:ext>
            </a:extLst>
          </p:cNvPr>
          <p:cNvSpPr txBox="1"/>
          <p:nvPr/>
        </p:nvSpPr>
        <p:spPr>
          <a:xfrm>
            <a:off x="3829330" y="2808922"/>
            <a:ext cx="2146742" cy="646331"/>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So callee does not </a:t>
            </a:r>
          </a:p>
          <a:p>
            <a:r>
              <a:rPr lang="en-US" dirty="0">
                <a:ea typeface="標楷體" pitchFamily="65" charset="-120"/>
                <a:cs typeface="Calibri" panose="020F07020304040A0204" pitchFamily="34" charset="0"/>
              </a:rPr>
              <a:t>need to save any</a:t>
            </a:r>
          </a:p>
        </p:txBody>
      </p:sp>
      <p:sp>
        <p:nvSpPr>
          <p:cNvPr id="14" name="TextBox 13">
            <a:extLst>
              <a:ext uri="{FF2B5EF4-FFF2-40B4-BE49-F238E27FC236}">
                <a16:creationId xmlns:a16="http://schemas.microsoft.com/office/drawing/2014/main" id="{CC330C33-85C3-4DC0-BC78-2361EFD45435}"/>
              </a:ext>
            </a:extLst>
          </p:cNvPr>
          <p:cNvSpPr txBox="1"/>
          <p:nvPr/>
        </p:nvSpPr>
        <p:spPr>
          <a:xfrm>
            <a:off x="3940684" y="1413487"/>
            <a:ext cx="2095445" cy="1477328"/>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Callee tries to</a:t>
            </a:r>
          </a:p>
          <a:p>
            <a:r>
              <a:rPr lang="en-US" dirty="0">
                <a:ea typeface="標楷體" pitchFamily="65" charset="-120"/>
                <a:cs typeface="Calibri" panose="020F07020304040A0204" pitchFamily="34" charset="0"/>
              </a:rPr>
              <a:t>use all </a:t>
            </a:r>
            <a:r>
              <a:rPr lang="en-US" dirty="0">
                <a:solidFill>
                  <a:srgbClr val="FF0000"/>
                </a:solidFill>
                <a:ea typeface="標楷體" pitchFamily="65" charset="-120"/>
                <a:cs typeface="Calibri" panose="020F07020304040A0204" pitchFamily="34" charset="0"/>
              </a:rPr>
              <a:t>caller</a:t>
            </a:r>
            <a:r>
              <a:rPr lang="en-US" dirty="0">
                <a:ea typeface="標楷體" pitchFamily="65" charset="-120"/>
                <a:cs typeface="Calibri" panose="020F07020304040A0204" pitchFamily="34" charset="0"/>
              </a:rPr>
              <a:t>-save </a:t>
            </a:r>
          </a:p>
          <a:p>
            <a:r>
              <a:rPr lang="en-US" dirty="0">
                <a:ea typeface="標楷體" pitchFamily="65" charset="-120"/>
                <a:cs typeface="Calibri" panose="020F07020304040A0204" pitchFamily="34" charset="0"/>
              </a:rPr>
              <a:t>Registers</a:t>
            </a:r>
          </a:p>
          <a:p>
            <a:r>
              <a:rPr lang="en-US" dirty="0">
                <a:ea typeface="標楷體" pitchFamily="65" charset="-120"/>
                <a:cs typeface="Calibri" panose="020F07020304040A0204" pitchFamily="34" charset="0"/>
              </a:rPr>
              <a:t>(x5-x7,x28-x31)</a:t>
            </a:r>
          </a:p>
          <a:p>
            <a:r>
              <a:rPr lang="en-US" dirty="0">
                <a:ea typeface="標楷體" pitchFamily="65" charset="-120"/>
                <a:cs typeface="Calibri" panose="020F07020304040A0204" pitchFamily="34" charset="0"/>
              </a:rPr>
              <a:t>x10-x17)</a:t>
            </a:r>
          </a:p>
        </p:txBody>
      </p:sp>
      <p:sp>
        <p:nvSpPr>
          <p:cNvPr id="15" name="TextBox 14">
            <a:extLst>
              <a:ext uri="{FF2B5EF4-FFF2-40B4-BE49-F238E27FC236}">
                <a16:creationId xmlns:a16="http://schemas.microsoft.com/office/drawing/2014/main" id="{3556CAA4-16B1-4B0A-9644-029C8448F2F8}"/>
              </a:ext>
            </a:extLst>
          </p:cNvPr>
          <p:cNvSpPr txBox="1"/>
          <p:nvPr/>
        </p:nvSpPr>
        <p:spPr>
          <a:xfrm>
            <a:off x="313873" y="2898783"/>
            <a:ext cx="2095445" cy="646331"/>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So caller does not </a:t>
            </a:r>
          </a:p>
          <a:p>
            <a:r>
              <a:rPr lang="en-US" dirty="0">
                <a:ea typeface="標楷體" pitchFamily="65" charset="-120"/>
                <a:cs typeface="Calibri" panose="020F07020304040A0204" pitchFamily="34" charset="0"/>
              </a:rPr>
              <a:t>need to save any</a:t>
            </a:r>
          </a:p>
        </p:txBody>
      </p:sp>
      <p:sp>
        <p:nvSpPr>
          <p:cNvPr id="8" name="Rectangle 7">
            <a:extLst>
              <a:ext uri="{FF2B5EF4-FFF2-40B4-BE49-F238E27FC236}">
                <a16:creationId xmlns:a16="http://schemas.microsoft.com/office/drawing/2014/main" id="{D0798374-FC54-4AB7-95D9-4344EB4ACD39}"/>
              </a:ext>
            </a:extLst>
          </p:cNvPr>
          <p:cNvSpPr/>
          <p:nvPr/>
        </p:nvSpPr>
        <p:spPr bwMode="auto">
          <a:xfrm>
            <a:off x="6966857" y="1124857"/>
            <a:ext cx="1057737" cy="3147053"/>
          </a:xfrm>
          <a:prstGeom prst="rect">
            <a:avLst/>
          </a:prstGeom>
          <a:solidFill>
            <a:schemeClr val="tx2">
              <a:lumMod val="60000"/>
              <a:lumOff val="40000"/>
            </a:schemeClr>
          </a:solid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dirty="0">
              <a:ln>
                <a:noFill/>
              </a:ln>
              <a:solidFill>
                <a:schemeClr val="tx1"/>
              </a:solidFill>
              <a:effectLst/>
              <a:latin typeface="Arial" panose="020B0604020202090204" pitchFamily="34" charset="0"/>
              <a:ea typeface="新細明體" panose="02020500000000000000" pitchFamily="18" charset="-120"/>
            </a:endParaRPr>
          </a:p>
          <a:p>
            <a:pPr marL="0" marR="0" indent="0" algn="ctr" defTabSz="914400" rtl="0" eaLnBrk="1" fontAlgn="base" latinLnBrk="0" hangingPunct="1">
              <a:lnSpc>
                <a:spcPct val="100000"/>
              </a:lnSpc>
              <a:spcBef>
                <a:spcPct val="0"/>
              </a:spcBef>
              <a:spcAft>
                <a:spcPct val="0"/>
              </a:spcAft>
              <a:buClrTx/>
              <a:buSzTx/>
              <a:buFontTx/>
              <a:buNone/>
            </a:pPr>
            <a:endParaRPr kumimoji="1" lang="en-US" b="1" dirty="0">
              <a:latin typeface="Arial" panose="020B0604020202090204" pitchFamily="34" charset="0"/>
              <a:ea typeface="新細明體" panose="02020500000000000000" pitchFamily="18" charset="-120"/>
            </a:endParaRPr>
          </a:p>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dirty="0">
              <a:ln>
                <a:noFill/>
              </a:ln>
              <a:solidFill>
                <a:schemeClr val="tx1"/>
              </a:solidFill>
              <a:effectLst/>
              <a:latin typeface="Arial" panose="020B0604020202090204" pitchFamily="34" charset="0"/>
              <a:ea typeface="新細明體" panose="02020500000000000000" pitchFamily="18" charset="-120"/>
            </a:endParaRPr>
          </a:p>
          <a:p>
            <a:pPr marL="0" marR="0" indent="0" algn="ctr" defTabSz="914400" rtl="0" eaLnBrk="1" fontAlgn="base" latinLnBrk="0" hangingPunct="1">
              <a:lnSpc>
                <a:spcPct val="100000"/>
              </a:lnSpc>
              <a:spcBef>
                <a:spcPct val="0"/>
              </a:spcBef>
              <a:spcAft>
                <a:spcPct val="0"/>
              </a:spcAft>
              <a:buClrTx/>
              <a:buSzTx/>
              <a:buFontTx/>
              <a:buNone/>
            </a:pPr>
            <a:endParaRPr kumimoji="1" lang="en-US" b="1" dirty="0">
              <a:latin typeface="Arial" panose="020B0604020202090204" pitchFamily="34" charset="0"/>
              <a:ea typeface="新細明體" panose="02020500000000000000" pitchFamily="18" charset="-120"/>
            </a:endParaRPr>
          </a:p>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dirty="0">
              <a:ln>
                <a:noFill/>
              </a:ln>
              <a:solidFill>
                <a:schemeClr val="tx1"/>
              </a:solidFill>
              <a:effectLst/>
              <a:latin typeface="Arial" panose="020B0604020202090204" pitchFamily="34" charset="0"/>
              <a:ea typeface="新細明體" panose="02020500000000000000" pitchFamily="18" charset="-120"/>
            </a:endParaRPr>
          </a:p>
          <a:p>
            <a:pPr marL="0" marR="0" indent="0" algn="ctr" defTabSz="914400" rtl="0" eaLnBrk="1" fontAlgn="base" latinLnBrk="0" hangingPunct="1">
              <a:lnSpc>
                <a:spcPct val="100000"/>
              </a:lnSpc>
              <a:spcBef>
                <a:spcPct val="0"/>
              </a:spcBef>
              <a:spcAft>
                <a:spcPct val="0"/>
              </a:spcAft>
              <a:buClrTx/>
              <a:buSzTx/>
              <a:buFontTx/>
              <a:buNone/>
            </a:pPr>
            <a:endParaRPr kumimoji="1" lang="en-US" b="1" dirty="0">
              <a:latin typeface="Arial" panose="020B0604020202090204" pitchFamily="34" charset="0"/>
              <a:ea typeface="新細明體" panose="02020500000000000000" pitchFamily="18" charset="-120"/>
            </a:endParaRPr>
          </a:p>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dirty="0">
              <a:ln>
                <a:noFill/>
              </a:ln>
              <a:solidFill>
                <a:schemeClr val="tx1"/>
              </a:solidFill>
              <a:effectLst/>
              <a:latin typeface="Arial" panose="020B0604020202090204" pitchFamily="34" charset="0"/>
              <a:ea typeface="新細明體" panose="02020500000000000000" pitchFamily="18" charset="-120"/>
            </a:endParaRPr>
          </a:p>
          <a:p>
            <a:pPr marL="0" marR="0" indent="0" algn="ctr" defTabSz="914400" rtl="0" eaLnBrk="1" fontAlgn="base" latinLnBrk="0" hangingPunct="1">
              <a:lnSpc>
                <a:spcPct val="100000"/>
              </a:lnSpc>
              <a:spcBef>
                <a:spcPct val="0"/>
              </a:spcBef>
              <a:spcAft>
                <a:spcPct val="0"/>
              </a:spcAft>
              <a:buClrTx/>
              <a:buSzTx/>
              <a:buFontTx/>
              <a:buNone/>
            </a:pPr>
            <a:r>
              <a:rPr kumimoji="1" lang="en-US" b="1" dirty="0">
                <a:latin typeface="Arial" panose="020B0604020202090204" pitchFamily="34" charset="0"/>
                <a:ea typeface="新細明體" panose="02020500000000000000" pitchFamily="18" charset="-120"/>
              </a:rPr>
              <a:t>Callee</a:t>
            </a:r>
          </a:p>
          <a:p>
            <a:pPr marL="0" marR="0" indent="0" algn="ctr" defTabSz="914400" rtl="0" eaLnBrk="1" fontAlgn="base" latinLnBrk="0" hangingPunct="1">
              <a:lnSpc>
                <a:spcPct val="100000"/>
              </a:lnSpc>
              <a:spcBef>
                <a:spcPct val="0"/>
              </a:spcBef>
              <a:spcAft>
                <a:spcPct val="0"/>
              </a:spcAft>
              <a:buClrTx/>
              <a:buSzTx/>
              <a:buFontTx/>
              <a:buNone/>
            </a:pPr>
            <a:r>
              <a:rPr kumimoji="1" lang="en-US" sz="1800" b="1" i="0" u="none" strike="noStrike" cap="none" normalizeH="0" baseline="0" dirty="0">
                <a:ln>
                  <a:noFill/>
                </a:ln>
                <a:solidFill>
                  <a:schemeClr val="tx1"/>
                </a:solidFill>
                <a:effectLst/>
                <a:latin typeface="Arial" panose="020B0604020202090204" pitchFamily="34" charset="0"/>
                <a:ea typeface="新細明體" panose="02020500000000000000" pitchFamily="18" charset="-120"/>
              </a:rPr>
              <a:t>save</a:t>
            </a:r>
          </a:p>
        </p:txBody>
      </p:sp>
      <p:sp>
        <p:nvSpPr>
          <p:cNvPr id="16" name="Rectangle 15">
            <a:extLst>
              <a:ext uri="{FF2B5EF4-FFF2-40B4-BE49-F238E27FC236}">
                <a16:creationId xmlns:a16="http://schemas.microsoft.com/office/drawing/2014/main" id="{6CBF37F3-0D85-480E-8D31-DE3F1760A750}"/>
              </a:ext>
            </a:extLst>
          </p:cNvPr>
          <p:cNvSpPr/>
          <p:nvPr/>
        </p:nvSpPr>
        <p:spPr bwMode="auto">
          <a:xfrm>
            <a:off x="6966857" y="1124857"/>
            <a:ext cx="1057737" cy="1618343"/>
          </a:xfrm>
          <a:prstGeom prst="rect">
            <a:avLst/>
          </a:prstGeom>
          <a:solidFill>
            <a:schemeClr val="accent2"/>
          </a:solid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1" lang="en-US" sz="1800" b="1" i="0" u="none" strike="noStrike" cap="none" normalizeH="0" baseline="0" dirty="0">
                <a:ln>
                  <a:noFill/>
                </a:ln>
                <a:solidFill>
                  <a:schemeClr val="tx1"/>
                </a:solidFill>
                <a:effectLst/>
                <a:latin typeface="Arial" panose="020B0604020202090204" pitchFamily="34" charset="0"/>
                <a:ea typeface="新細明體" panose="02020500000000000000" pitchFamily="18" charset="-120"/>
              </a:rPr>
              <a:t>Caller </a:t>
            </a:r>
          </a:p>
          <a:p>
            <a:pPr marL="0" marR="0" indent="0" algn="ctr" defTabSz="914400" rtl="0" eaLnBrk="1" fontAlgn="base" latinLnBrk="0" hangingPunct="1">
              <a:lnSpc>
                <a:spcPct val="100000"/>
              </a:lnSpc>
              <a:spcBef>
                <a:spcPct val="0"/>
              </a:spcBef>
              <a:spcAft>
                <a:spcPct val="0"/>
              </a:spcAft>
              <a:buClrTx/>
              <a:buSzTx/>
              <a:buFontTx/>
              <a:buNone/>
            </a:pPr>
            <a:r>
              <a:rPr kumimoji="1" lang="en-US" sz="1800" b="1" i="0" u="none" strike="noStrike" cap="none" normalizeH="0" baseline="0" dirty="0">
                <a:ln>
                  <a:noFill/>
                </a:ln>
                <a:solidFill>
                  <a:schemeClr val="tx1"/>
                </a:solidFill>
                <a:effectLst/>
                <a:latin typeface="Arial" panose="020B0604020202090204" pitchFamily="34" charset="0"/>
                <a:ea typeface="新細明體" panose="02020500000000000000" pitchFamily="18" charset="-120"/>
              </a:rPr>
              <a:t>save</a:t>
            </a:r>
          </a:p>
        </p:txBody>
      </p:sp>
    </p:spTree>
    <p:extLst>
      <p:ext uri="{BB962C8B-B14F-4D97-AF65-F5344CB8AC3E}">
        <p14:creationId xmlns:p14="http://schemas.microsoft.com/office/powerpoint/2010/main" val="19688428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D12C66DE-6F35-4816-939F-B53C2F9EFAE8}"/>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34AE673E-3D97-4A0A-8121-1E6D4C9DD50A}"/>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8D033347-7621-4281-A9AF-3DA591D36C6E}" type="slidenum">
              <a:rPr lang="zh-TW" altLang="en-US" sz="900"/>
              <a:pPr>
                <a:spcBef>
                  <a:spcPct val="0"/>
                </a:spcBef>
                <a:buClrTx/>
                <a:buSzTx/>
                <a:buFontTx/>
                <a:buNone/>
              </a:pPr>
              <a:t>13</a:t>
            </a:fld>
            <a:endParaRPr lang="en-US" altLang="zh-TW" sz="900"/>
          </a:p>
        </p:txBody>
      </p:sp>
      <p:sp>
        <p:nvSpPr>
          <p:cNvPr id="5" name="Rectangle 2">
            <a:extLst>
              <a:ext uri="{FF2B5EF4-FFF2-40B4-BE49-F238E27FC236}">
                <a16:creationId xmlns:a16="http://schemas.microsoft.com/office/drawing/2014/main" id="{28218223-0F65-47BD-9D1A-4016E9CC2AC7}"/>
              </a:ext>
            </a:extLst>
          </p:cNvPr>
          <p:cNvSpPr txBox="1">
            <a:spLocks noChangeArrowheads="1"/>
          </p:cNvSpPr>
          <p:nvPr/>
        </p:nvSpPr>
        <p:spPr bwMode="auto">
          <a:xfrm>
            <a:off x="965200" y="0"/>
            <a:ext cx="6400800" cy="68580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300" dirty="0">
                <a:effectLst/>
                <a:ea typeface="新細明體" pitchFamily="18" charset="-120"/>
              </a:rPr>
              <a:t>Real World</a:t>
            </a:r>
          </a:p>
        </p:txBody>
      </p:sp>
      <p:sp>
        <p:nvSpPr>
          <p:cNvPr id="2" name="Rectangle 1">
            <a:extLst>
              <a:ext uri="{FF2B5EF4-FFF2-40B4-BE49-F238E27FC236}">
                <a16:creationId xmlns:a16="http://schemas.microsoft.com/office/drawing/2014/main" id="{DA544BBA-45E5-4C25-8B3F-949860BEA82F}"/>
              </a:ext>
            </a:extLst>
          </p:cNvPr>
          <p:cNvSpPr/>
          <p:nvPr/>
        </p:nvSpPr>
        <p:spPr bwMode="auto">
          <a:xfrm>
            <a:off x="3437658" y="1333065"/>
            <a:ext cx="2445745" cy="2757715"/>
          </a:xfrm>
          <a:prstGeom prst="rect">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90204" pitchFamily="34" charset="0"/>
              <a:ea typeface="新細明體" panose="02020500000000000000" pitchFamily="18" charset="-120"/>
            </a:endParaRPr>
          </a:p>
        </p:txBody>
      </p:sp>
      <p:sp>
        <p:nvSpPr>
          <p:cNvPr id="7" name="Rectangle 6">
            <a:extLst>
              <a:ext uri="{FF2B5EF4-FFF2-40B4-BE49-F238E27FC236}">
                <a16:creationId xmlns:a16="http://schemas.microsoft.com/office/drawing/2014/main" id="{44469BB1-9F2D-4610-A1CB-A635FC3E8FA6}"/>
              </a:ext>
            </a:extLst>
          </p:cNvPr>
          <p:cNvSpPr/>
          <p:nvPr/>
        </p:nvSpPr>
        <p:spPr bwMode="auto">
          <a:xfrm>
            <a:off x="6947582" y="1333065"/>
            <a:ext cx="2155371" cy="2757715"/>
          </a:xfrm>
          <a:prstGeom prst="rect">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90204" pitchFamily="34" charset="0"/>
              <a:ea typeface="新細明體" panose="02020500000000000000" pitchFamily="18" charset="-120"/>
            </a:endParaRPr>
          </a:p>
        </p:txBody>
      </p:sp>
      <p:sp>
        <p:nvSpPr>
          <p:cNvPr id="3" name="TextBox 2">
            <a:extLst>
              <a:ext uri="{FF2B5EF4-FFF2-40B4-BE49-F238E27FC236}">
                <a16:creationId xmlns:a16="http://schemas.microsoft.com/office/drawing/2014/main" id="{5D325113-1089-4563-9E48-404B3A22E61A}"/>
              </a:ext>
            </a:extLst>
          </p:cNvPr>
          <p:cNvSpPr txBox="1"/>
          <p:nvPr/>
        </p:nvSpPr>
        <p:spPr>
          <a:xfrm>
            <a:off x="3797236" y="1026559"/>
            <a:ext cx="1505540" cy="369332"/>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Caller/Callee</a:t>
            </a:r>
          </a:p>
        </p:txBody>
      </p:sp>
      <p:sp>
        <p:nvSpPr>
          <p:cNvPr id="9" name="TextBox 8">
            <a:extLst>
              <a:ext uri="{FF2B5EF4-FFF2-40B4-BE49-F238E27FC236}">
                <a16:creationId xmlns:a16="http://schemas.microsoft.com/office/drawing/2014/main" id="{C4389AF8-7627-4BA7-BCB7-83998F1DCEEE}"/>
              </a:ext>
            </a:extLst>
          </p:cNvPr>
          <p:cNvSpPr txBox="1"/>
          <p:nvPr/>
        </p:nvSpPr>
        <p:spPr>
          <a:xfrm>
            <a:off x="7524533" y="1024908"/>
            <a:ext cx="838691" cy="369332"/>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Callee</a:t>
            </a:r>
          </a:p>
        </p:txBody>
      </p:sp>
      <p:sp>
        <p:nvSpPr>
          <p:cNvPr id="4" name="Arrow: Right 3">
            <a:extLst>
              <a:ext uri="{FF2B5EF4-FFF2-40B4-BE49-F238E27FC236}">
                <a16:creationId xmlns:a16="http://schemas.microsoft.com/office/drawing/2014/main" id="{2B743D9E-634C-4D2F-A013-808C0F862396}"/>
              </a:ext>
            </a:extLst>
          </p:cNvPr>
          <p:cNvSpPr/>
          <p:nvPr/>
        </p:nvSpPr>
        <p:spPr bwMode="auto">
          <a:xfrm>
            <a:off x="5943460" y="2422760"/>
            <a:ext cx="978408" cy="484632"/>
          </a:xfrm>
          <a:prstGeom prst="rightArrow">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90204" pitchFamily="34" charset="0"/>
              <a:ea typeface="新細明體" panose="02020500000000000000" pitchFamily="18" charset="-120"/>
            </a:endParaRPr>
          </a:p>
        </p:txBody>
      </p:sp>
      <p:sp>
        <p:nvSpPr>
          <p:cNvPr id="6" name="TextBox 5">
            <a:extLst>
              <a:ext uri="{FF2B5EF4-FFF2-40B4-BE49-F238E27FC236}">
                <a16:creationId xmlns:a16="http://schemas.microsoft.com/office/drawing/2014/main" id="{5996B1FE-F102-4142-8C14-371015F32760}"/>
              </a:ext>
            </a:extLst>
          </p:cNvPr>
          <p:cNvSpPr txBox="1"/>
          <p:nvPr/>
        </p:nvSpPr>
        <p:spPr>
          <a:xfrm>
            <a:off x="3672345" y="1631966"/>
            <a:ext cx="1736373" cy="646331"/>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What registers </a:t>
            </a:r>
          </a:p>
          <a:p>
            <a:r>
              <a:rPr lang="en-US" dirty="0">
                <a:ea typeface="標楷體" pitchFamily="65" charset="-120"/>
                <a:cs typeface="Calibri" panose="020F07020304040A0204" pitchFamily="34" charset="0"/>
              </a:rPr>
              <a:t>to use?</a:t>
            </a:r>
          </a:p>
        </p:txBody>
      </p:sp>
      <p:sp>
        <p:nvSpPr>
          <p:cNvPr id="13" name="TextBox 12">
            <a:extLst>
              <a:ext uri="{FF2B5EF4-FFF2-40B4-BE49-F238E27FC236}">
                <a16:creationId xmlns:a16="http://schemas.microsoft.com/office/drawing/2014/main" id="{4417DAD6-057A-4033-955D-4C1611951EAB}"/>
              </a:ext>
            </a:extLst>
          </p:cNvPr>
          <p:cNvSpPr txBox="1"/>
          <p:nvPr/>
        </p:nvSpPr>
        <p:spPr>
          <a:xfrm>
            <a:off x="6896154" y="2835701"/>
            <a:ext cx="2146742" cy="646331"/>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So callee does not </a:t>
            </a:r>
          </a:p>
          <a:p>
            <a:r>
              <a:rPr lang="en-US" dirty="0">
                <a:ea typeface="標楷體" pitchFamily="65" charset="-120"/>
                <a:cs typeface="Calibri" panose="020F07020304040A0204" pitchFamily="34" charset="0"/>
              </a:rPr>
              <a:t>need to save any</a:t>
            </a:r>
          </a:p>
        </p:txBody>
      </p:sp>
      <p:sp>
        <p:nvSpPr>
          <p:cNvPr id="14" name="TextBox 13">
            <a:extLst>
              <a:ext uri="{FF2B5EF4-FFF2-40B4-BE49-F238E27FC236}">
                <a16:creationId xmlns:a16="http://schemas.microsoft.com/office/drawing/2014/main" id="{CC330C33-85C3-4DC0-BC78-2361EFD45435}"/>
              </a:ext>
            </a:extLst>
          </p:cNvPr>
          <p:cNvSpPr txBox="1"/>
          <p:nvPr/>
        </p:nvSpPr>
        <p:spPr>
          <a:xfrm>
            <a:off x="7048555" y="1741746"/>
            <a:ext cx="2095445" cy="923330"/>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Callee tries to</a:t>
            </a:r>
          </a:p>
          <a:p>
            <a:r>
              <a:rPr lang="en-US" dirty="0">
                <a:ea typeface="標楷體" pitchFamily="65" charset="-120"/>
                <a:cs typeface="Calibri" panose="020F07020304040A0204" pitchFamily="34" charset="0"/>
              </a:rPr>
              <a:t>use all caller-save </a:t>
            </a:r>
          </a:p>
          <a:p>
            <a:r>
              <a:rPr lang="en-US" dirty="0">
                <a:ea typeface="標楷體" pitchFamily="65" charset="-120"/>
                <a:cs typeface="Calibri" panose="020F07020304040A0204" pitchFamily="34" charset="0"/>
              </a:rPr>
              <a:t>registers</a:t>
            </a:r>
          </a:p>
        </p:txBody>
      </p:sp>
      <p:sp>
        <p:nvSpPr>
          <p:cNvPr id="15" name="TextBox 14">
            <a:extLst>
              <a:ext uri="{FF2B5EF4-FFF2-40B4-BE49-F238E27FC236}">
                <a16:creationId xmlns:a16="http://schemas.microsoft.com/office/drawing/2014/main" id="{3556CAA4-16B1-4B0A-9644-029C8448F2F8}"/>
              </a:ext>
            </a:extLst>
          </p:cNvPr>
          <p:cNvSpPr txBox="1"/>
          <p:nvPr/>
        </p:nvSpPr>
        <p:spPr>
          <a:xfrm>
            <a:off x="258994" y="3158866"/>
            <a:ext cx="2095445" cy="646331"/>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So caller does not </a:t>
            </a:r>
          </a:p>
          <a:p>
            <a:r>
              <a:rPr lang="en-US" dirty="0">
                <a:ea typeface="標楷體" pitchFamily="65" charset="-120"/>
                <a:cs typeface="Calibri" panose="020F07020304040A0204" pitchFamily="34" charset="0"/>
              </a:rPr>
              <a:t>need to save any</a:t>
            </a:r>
          </a:p>
        </p:txBody>
      </p:sp>
      <p:sp>
        <p:nvSpPr>
          <p:cNvPr id="16" name="Rectangle 15">
            <a:extLst>
              <a:ext uri="{FF2B5EF4-FFF2-40B4-BE49-F238E27FC236}">
                <a16:creationId xmlns:a16="http://schemas.microsoft.com/office/drawing/2014/main" id="{921F647D-0945-4348-9C3E-B1A78623182D}"/>
              </a:ext>
            </a:extLst>
          </p:cNvPr>
          <p:cNvSpPr/>
          <p:nvPr/>
        </p:nvSpPr>
        <p:spPr bwMode="auto">
          <a:xfrm>
            <a:off x="151585" y="1333065"/>
            <a:ext cx="2155371" cy="2757715"/>
          </a:xfrm>
          <a:prstGeom prst="rect">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90204" pitchFamily="34" charset="0"/>
              <a:ea typeface="新細明體" panose="02020500000000000000" pitchFamily="18" charset="-120"/>
            </a:endParaRPr>
          </a:p>
        </p:txBody>
      </p:sp>
      <p:sp>
        <p:nvSpPr>
          <p:cNvPr id="17" name="Arrow: Right 16">
            <a:extLst>
              <a:ext uri="{FF2B5EF4-FFF2-40B4-BE49-F238E27FC236}">
                <a16:creationId xmlns:a16="http://schemas.microsoft.com/office/drawing/2014/main" id="{FD8CA84E-8C86-4130-BCBA-5BC7E7B2B54F}"/>
              </a:ext>
            </a:extLst>
          </p:cNvPr>
          <p:cNvSpPr/>
          <p:nvPr/>
        </p:nvSpPr>
        <p:spPr bwMode="auto">
          <a:xfrm>
            <a:off x="2407822" y="2406675"/>
            <a:ext cx="978408" cy="484632"/>
          </a:xfrm>
          <a:prstGeom prst="rightArrow">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90204" pitchFamily="34" charset="0"/>
              <a:ea typeface="新細明體" panose="02020500000000000000" pitchFamily="18" charset="-120"/>
            </a:endParaRPr>
          </a:p>
        </p:txBody>
      </p:sp>
      <p:sp>
        <p:nvSpPr>
          <p:cNvPr id="18" name="TextBox 17">
            <a:extLst>
              <a:ext uri="{FF2B5EF4-FFF2-40B4-BE49-F238E27FC236}">
                <a16:creationId xmlns:a16="http://schemas.microsoft.com/office/drawing/2014/main" id="{70691F12-8228-4214-9149-949F8F12F655}"/>
              </a:ext>
            </a:extLst>
          </p:cNvPr>
          <p:cNvSpPr txBox="1"/>
          <p:nvPr/>
        </p:nvSpPr>
        <p:spPr>
          <a:xfrm>
            <a:off x="780776" y="957307"/>
            <a:ext cx="787395" cy="369332"/>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Caller</a:t>
            </a:r>
          </a:p>
        </p:txBody>
      </p:sp>
      <p:sp>
        <p:nvSpPr>
          <p:cNvPr id="19" name="TextBox 18">
            <a:extLst>
              <a:ext uri="{FF2B5EF4-FFF2-40B4-BE49-F238E27FC236}">
                <a16:creationId xmlns:a16="http://schemas.microsoft.com/office/drawing/2014/main" id="{A60E45DB-D340-433B-8966-3BEF046DD1B2}"/>
              </a:ext>
            </a:extLst>
          </p:cNvPr>
          <p:cNvSpPr txBox="1"/>
          <p:nvPr/>
        </p:nvSpPr>
        <p:spPr>
          <a:xfrm>
            <a:off x="284683" y="1691072"/>
            <a:ext cx="2146742" cy="923330"/>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Caller tries to</a:t>
            </a:r>
          </a:p>
          <a:p>
            <a:r>
              <a:rPr lang="en-US" dirty="0">
                <a:ea typeface="標楷體" pitchFamily="65" charset="-120"/>
                <a:cs typeface="Calibri" panose="020F07020304040A0204" pitchFamily="34" charset="0"/>
              </a:rPr>
              <a:t>use all callee-save </a:t>
            </a:r>
          </a:p>
          <a:p>
            <a:r>
              <a:rPr lang="en-US" dirty="0">
                <a:ea typeface="標楷體" pitchFamily="65" charset="-120"/>
                <a:cs typeface="Calibri" panose="020F07020304040A0204" pitchFamily="34" charset="0"/>
              </a:rPr>
              <a:t>registers</a:t>
            </a:r>
          </a:p>
        </p:txBody>
      </p:sp>
      <p:sp>
        <p:nvSpPr>
          <p:cNvPr id="20" name="TextBox 19">
            <a:extLst>
              <a:ext uri="{FF2B5EF4-FFF2-40B4-BE49-F238E27FC236}">
                <a16:creationId xmlns:a16="http://schemas.microsoft.com/office/drawing/2014/main" id="{11A41FD9-2102-44C7-A394-41F7AC581CA5}"/>
              </a:ext>
            </a:extLst>
          </p:cNvPr>
          <p:cNvSpPr txBox="1"/>
          <p:nvPr/>
        </p:nvSpPr>
        <p:spPr>
          <a:xfrm>
            <a:off x="3427052" y="2925562"/>
            <a:ext cx="2630848" cy="830997"/>
          </a:xfrm>
          <a:prstGeom prst="rect">
            <a:avLst/>
          </a:prstGeom>
          <a:noFill/>
        </p:spPr>
        <p:txBody>
          <a:bodyPr wrap="none" rtlCol="0" anchor="ctr" anchorCtr="1">
            <a:spAutoFit/>
          </a:bodyPr>
          <a:lstStyle/>
          <a:p>
            <a:r>
              <a:rPr lang="en-US" sz="2400" dirty="0">
                <a:solidFill>
                  <a:srgbClr val="FF0000"/>
                </a:solidFill>
                <a:ea typeface="標楷體" pitchFamily="65" charset="-120"/>
                <a:cs typeface="Calibri" panose="020F07020304040A0204" pitchFamily="34" charset="0"/>
              </a:rPr>
              <a:t>I am both a caller </a:t>
            </a:r>
          </a:p>
          <a:p>
            <a:r>
              <a:rPr lang="en-US" sz="2400" dirty="0">
                <a:solidFill>
                  <a:srgbClr val="FF0000"/>
                </a:solidFill>
                <a:ea typeface="標楷體" pitchFamily="65" charset="-120"/>
                <a:cs typeface="Calibri" panose="020F07020304040A0204" pitchFamily="34" charset="0"/>
              </a:rPr>
              <a:t>and a callee !!</a:t>
            </a:r>
          </a:p>
        </p:txBody>
      </p:sp>
    </p:spTree>
    <p:extLst>
      <p:ext uri="{BB962C8B-B14F-4D97-AF65-F5344CB8AC3E}">
        <p14:creationId xmlns:p14="http://schemas.microsoft.com/office/powerpoint/2010/main" val="39465316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4A346468-CED1-4052-997C-D88D559563BD}"/>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47E5E027-8D63-40F2-899D-28FDFF2CEF92}"/>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C4903B64-5EF8-458D-AC8A-D6D9C08D3A19}" type="slidenum">
              <a:rPr lang="zh-TW" altLang="en-US" sz="900"/>
              <a:pPr>
                <a:spcBef>
                  <a:spcPct val="0"/>
                </a:spcBef>
                <a:buClrTx/>
                <a:buSzTx/>
                <a:buFontTx/>
                <a:buNone/>
              </a:pPr>
              <a:t>14</a:t>
            </a:fld>
            <a:endParaRPr lang="en-US" altLang="zh-TW" sz="900"/>
          </a:p>
        </p:txBody>
      </p:sp>
      <p:sp>
        <p:nvSpPr>
          <p:cNvPr id="5" name="Rectangle 2">
            <a:extLst>
              <a:ext uri="{FF2B5EF4-FFF2-40B4-BE49-F238E27FC236}">
                <a16:creationId xmlns:a16="http://schemas.microsoft.com/office/drawing/2014/main" id="{43A40E32-8896-4412-A101-335B61CA85B7}"/>
              </a:ext>
            </a:extLst>
          </p:cNvPr>
          <p:cNvSpPr txBox="1">
            <a:spLocks noChangeArrowheads="1"/>
          </p:cNvSpPr>
          <p:nvPr/>
        </p:nvSpPr>
        <p:spPr bwMode="auto">
          <a:xfrm>
            <a:off x="1657350" y="30956"/>
            <a:ext cx="5829300" cy="85725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300" dirty="0">
                <a:effectLst/>
                <a:ea typeface="新細明體" pitchFamily="18" charset="-120"/>
              </a:rPr>
              <a:t>Caller Save Registers</a:t>
            </a:r>
          </a:p>
        </p:txBody>
      </p:sp>
      <p:sp>
        <p:nvSpPr>
          <p:cNvPr id="17413" name="文字方塊 1">
            <a:extLst>
              <a:ext uri="{FF2B5EF4-FFF2-40B4-BE49-F238E27FC236}">
                <a16:creationId xmlns:a16="http://schemas.microsoft.com/office/drawing/2014/main" id="{F378D116-E693-4A5D-B1BB-CC1F29C1099E}"/>
              </a:ext>
            </a:extLst>
          </p:cNvPr>
          <p:cNvSpPr txBox="1">
            <a:spLocks noChangeArrowheads="1"/>
          </p:cNvSpPr>
          <p:nvPr/>
        </p:nvSpPr>
        <p:spPr bwMode="auto">
          <a:xfrm>
            <a:off x="2871107" y="846029"/>
            <a:ext cx="2857500" cy="2677656"/>
          </a:xfrm>
          <a:prstGeom prst="rect">
            <a:avLst/>
          </a:prstGeom>
          <a:solidFill>
            <a:srgbClr val="FFC000"/>
          </a:solidFill>
          <a:ln w="9525">
            <a:solidFill>
              <a:srgbClr val="FF0000"/>
            </a:solidFill>
            <a:miter lim="800000"/>
            <a:headEnd/>
            <a:tailEnd/>
          </a:ln>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100" b="1" dirty="0">
                <a:solidFill>
                  <a:srgbClr val="2929FF"/>
                </a:solidFill>
                <a:ea typeface="新細明體" panose="02020500000000000000" pitchFamily="18" charset="-120"/>
              </a:rPr>
              <a:t>Function A ()</a:t>
            </a:r>
          </a:p>
          <a:p>
            <a:pPr>
              <a:spcBef>
                <a:spcPct val="0"/>
              </a:spcBef>
              <a:buClrTx/>
              <a:buSzTx/>
              <a:buFontTx/>
              <a:buNone/>
            </a:pPr>
            <a:endParaRPr lang="en-US" altLang="zh-TW" sz="2100" b="1" dirty="0">
              <a:solidFill>
                <a:srgbClr val="2929FF"/>
              </a:solidFill>
              <a:ea typeface="新細明體" panose="02020500000000000000" pitchFamily="18" charset="-120"/>
            </a:endParaRPr>
          </a:p>
          <a:p>
            <a:pPr>
              <a:spcBef>
                <a:spcPct val="0"/>
              </a:spcBef>
              <a:buClrTx/>
              <a:buSzTx/>
              <a:buFontTx/>
              <a:buNone/>
            </a:pPr>
            <a:r>
              <a:rPr lang="en-US" altLang="zh-TW" sz="2100" b="1" dirty="0">
                <a:solidFill>
                  <a:srgbClr val="2929FF"/>
                </a:solidFill>
                <a:ea typeface="新細明體" panose="02020500000000000000" pitchFamily="18" charset="-120"/>
              </a:rPr>
              <a:t>$T1 = a*b;</a:t>
            </a:r>
          </a:p>
          <a:p>
            <a:pPr>
              <a:spcBef>
                <a:spcPct val="0"/>
              </a:spcBef>
              <a:buClrTx/>
              <a:buSzTx/>
              <a:buFontTx/>
              <a:buNone/>
            </a:pPr>
            <a:r>
              <a:rPr lang="en-US" altLang="zh-TW" sz="2100" b="1" dirty="0">
                <a:solidFill>
                  <a:srgbClr val="2929FF"/>
                </a:solidFill>
                <a:ea typeface="新細明體" panose="02020500000000000000" pitchFamily="18" charset="-120"/>
              </a:rPr>
              <a:t>$S2=B(1,2,3);</a:t>
            </a:r>
          </a:p>
          <a:p>
            <a:pPr>
              <a:spcBef>
                <a:spcPct val="0"/>
              </a:spcBef>
              <a:buClrTx/>
              <a:buSzTx/>
              <a:buFontTx/>
              <a:buNone/>
            </a:pPr>
            <a:r>
              <a:rPr lang="en-US" altLang="zh-TW" sz="2100" b="1" dirty="0">
                <a:solidFill>
                  <a:srgbClr val="2929FF"/>
                </a:solidFill>
                <a:ea typeface="新細明體" panose="02020500000000000000" pitchFamily="18" charset="-120"/>
              </a:rPr>
              <a:t>c = $T1+$S2;</a:t>
            </a:r>
          </a:p>
          <a:p>
            <a:pPr>
              <a:spcBef>
                <a:spcPct val="0"/>
              </a:spcBef>
              <a:buClrTx/>
              <a:buSzTx/>
              <a:buFontTx/>
              <a:buNone/>
            </a:pPr>
            <a:r>
              <a:rPr lang="en-US" altLang="zh-TW" sz="2100" b="1" dirty="0">
                <a:solidFill>
                  <a:srgbClr val="2929FF"/>
                </a:solidFill>
                <a:ea typeface="新細明體" panose="02020500000000000000" pitchFamily="18" charset="-120"/>
              </a:rPr>
              <a:t>…</a:t>
            </a:r>
          </a:p>
          <a:p>
            <a:pPr>
              <a:spcBef>
                <a:spcPct val="0"/>
              </a:spcBef>
              <a:buClrTx/>
              <a:buSzTx/>
              <a:buFontTx/>
              <a:buNone/>
            </a:pPr>
            <a:endParaRPr lang="en-US" altLang="zh-TW" sz="2100" b="1" dirty="0">
              <a:solidFill>
                <a:srgbClr val="2929FF"/>
              </a:solidFill>
              <a:ea typeface="新細明體" panose="02020500000000000000" pitchFamily="18" charset="-120"/>
            </a:endParaRPr>
          </a:p>
          <a:p>
            <a:pPr>
              <a:spcBef>
                <a:spcPct val="0"/>
              </a:spcBef>
              <a:buClrTx/>
              <a:buSzTx/>
              <a:buFontTx/>
              <a:buNone/>
            </a:pPr>
            <a:r>
              <a:rPr lang="en-US" altLang="zh-TW" sz="2100" b="1" dirty="0">
                <a:solidFill>
                  <a:srgbClr val="2929FF"/>
                </a:solidFill>
                <a:ea typeface="新細明體" panose="02020500000000000000" pitchFamily="18" charset="-120"/>
              </a:rPr>
              <a:t>return</a:t>
            </a:r>
            <a:endParaRPr lang="zh-TW" altLang="en-US" sz="2100" b="1" dirty="0">
              <a:solidFill>
                <a:srgbClr val="2929FF"/>
              </a:solidFill>
              <a:ea typeface="新細明體" panose="02020500000000000000" pitchFamily="18" charset="-120"/>
            </a:endParaRPr>
          </a:p>
        </p:txBody>
      </p:sp>
      <p:sp>
        <p:nvSpPr>
          <p:cNvPr id="17414" name="Rectangle 1">
            <a:extLst>
              <a:ext uri="{FF2B5EF4-FFF2-40B4-BE49-F238E27FC236}">
                <a16:creationId xmlns:a16="http://schemas.microsoft.com/office/drawing/2014/main" id="{760ABDA6-42A6-4B3F-A1F8-C7184D2E1CB7}"/>
              </a:ext>
            </a:extLst>
          </p:cNvPr>
          <p:cNvSpPr>
            <a:spLocks noChangeArrowheads="1"/>
          </p:cNvSpPr>
          <p:nvPr/>
        </p:nvSpPr>
        <p:spPr bwMode="auto">
          <a:xfrm>
            <a:off x="1190030" y="3615362"/>
            <a:ext cx="6658570" cy="857250"/>
          </a:xfrm>
          <a:prstGeom prst="rect">
            <a:avLst/>
          </a:prstGeom>
          <a:solidFill>
            <a:srgbClr val="FFFF00"/>
          </a:solidFill>
          <a:ln w="9525" algn="ctr">
            <a:solidFill>
              <a:schemeClr val="tx1"/>
            </a:solidFill>
            <a:round/>
            <a:headEnd/>
            <a:tailEnd/>
          </a:ln>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en-US" sz="1350" dirty="0"/>
              <a:t>A() is caller, and B() is callee. </a:t>
            </a:r>
          </a:p>
          <a:p>
            <a:pPr>
              <a:spcBef>
                <a:spcPct val="0"/>
              </a:spcBef>
              <a:buClrTx/>
              <a:buSzTx/>
              <a:buFontTx/>
              <a:buNone/>
            </a:pPr>
            <a:r>
              <a:rPr lang="en-US" altLang="en-US" sz="1350" dirty="0"/>
              <a:t>A wants the value in $T1 to be unchanged after the call of B(). </a:t>
            </a:r>
          </a:p>
          <a:p>
            <a:pPr>
              <a:spcBef>
                <a:spcPct val="0"/>
              </a:spcBef>
              <a:buClrTx/>
              <a:buSzTx/>
              <a:buFontTx/>
              <a:buNone/>
            </a:pPr>
            <a:r>
              <a:rPr lang="en-US" altLang="en-US" sz="1350" dirty="0"/>
              <a:t>So A must saves $T1 before the call to B() and restores $T1 when B() returns.</a:t>
            </a:r>
          </a:p>
        </p:txBody>
      </p:sp>
      <p:cxnSp>
        <p:nvCxnSpPr>
          <p:cNvPr id="3" name="Straight Arrow Connector 2">
            <a:extLst>
              <a:ext uri="{FF2B5EF4-FFF2-40B4-BE49-F238E27FC236}">
                <a16:creationId xmlns:a16="http://schemas.microsoft.com/office/drawing/2014/main" id="{BCF318FB-B524-4E98-8E93-0137C9F44F12}"/>
              </a:ext>
            </a:extLst>
          </p:cNvPr>
          <p:cNvCxnSpPr/>
          <p:nvPr/>
        </p:nvCxnSpPr>
        <p:spPr bwMode="auto">
          <a:xfrm>
            <a:off x="3265714" y="1734457"/>
            <a:ext cx="362857" cy="522514"/>
          </a:xfrm>
          <a:prstGeom prst="straightConnector1">
            <a:avLst/>
          </a:prstGeom>
          <a:noFill/>
          <a:ln w="38100" cap="flat" cmpd="sng" algn="ctr">
            <a:solidFill>
              <a:srgbClr val="FF0000"/>
            </a:solidFill>
            <a:prstDash val="solid"/>
            <a:round/>
            <a:headEnd type="none" w="med" len="med"/>
            <a:tailEnd type="triangle"/>
          </a:ln>
        </p:spPr>
      </p:cxnSp>
      <p:sp>
        <p:nvSpPr>
          <p:cNvPr id="2" name="TextBox 1">
            <a:extLst>
              <a:ext uri="{FF2B5EF4-FFF2-40B4-BE49-F238E27FC236}">
                <a16:creationId xmlns:a16="http://schemas.microsoft.com/office/drawing/2014/main" id="{95DF59CB-BE22-4880-A4FF-D7086A8924E3}"/>
              </a:ext>
            </a:extLst>
          </p:cNvPr>
          <p:cNvSpPr txBox="1"/>
          <p:nvPr/>
        </p:nvSpPr>
        <p:spPr>
          <a:xfrm>
            <a:off x="5829513" y="1933805"/>
            <a:ext cx="2056973" cy="646331"/>
          </a:xfrm>
          <a:prstGeom prst="rect">
            <a:avLst/>
          </a:prstGeom>
          <a:solidFill>
            <a:srgbClr val="FFFF00"/>
          </a:solidFill>
        </p:spPr>
        <p:txBody>
          <a:bodyPr wrap="none" rtlCol="0" anchor="ctr" anchorCtr="1">
            <a:spAutoFit/>
          </a:bodyPr>
          <a:lstStyle/>
          <a:p>
            <a:r>
              <a:rPr lang="en-US" dirty="0">
                <a:ea typeface="標楷體" pitchFamily="65" charset="-120"/>
                <a:cs typeface="Calibri" panose="020F07020304040A0204" pitchFamily="34" charset="0"/>
              </a:rPr>
              <a:t>Example:</a:t>
            </a:r>
          </a:p>
          <a:p>
            <a:r>
              <a:rPr lang="en-US" dirty="0">
                <a:ea typeface="標楷體" pitchFamily="65" charset="-120"/>
                <a:cs typeface="Calibri" panose="020F07020304040A0204" pitchFamily="34" charset="0"/>
              </a:rPr>
              <a:t>x = a*b + B(1,2,3);</a:t>
            </a:r>
          </a:p>
        </p:txBody>
      </p:sp>
      <p:sp>
        <p:nvSpPr>
          <p:cNvPr id="9" name="TextBox 8">
            <a:extLst>
              <a:ext uri="{FF2B5EF4-FFF2-40B4-BE49-F238E27FC236}">
                <a16:creationId xmlns:a16="http://schemas.microsoft.com/office/drawing/2014/main" id="{8DD29998-337F-4216-8AB6-7203E22F33E7}"/>
              </a:ext>
            </a:extLst>
          </p:cNvPr>
          <p:cNvSpPr txBox="1"/>
          <p:nvPr/>
        </p:nvSpPr>
        <p:spPr>
          <a:xfrm>
            <a:off x="5917619" y="2841686"/>
            <a:ext cx="2775119" cy="646331"/>
          </a:xfrm>
          <a:prstGeom prst="rect">
            <a:avLst/>
          </a:prstGeom>
          <a:solidFill>
            <a:srgbClr val="FFFF00"/>
          </a:solidFill>
        </p:spPr>
        <p:txBody>
          <a:bodyPr wrap="none" rtlCol="0" anchor="ctr" anchorCtr="1">
            <a:spAutoFit/>
          </a:bodyPr>
          <a:lstStyle/>
          <a:p>
            <a:r>
              <a:rPr lang="en-US" dirty="0">
                <a:ea typeface="標楷體" pitchFamily="65" charset="-120"/>
                <a:cs typeface="Calibri" panose="020F07020304040A0204" pitchFamily="34" charset="0"/>
              </a:rPr>
              <a:t>Can we change the order</a:t>
            </a:r>
          </a:p>
          <a:p>
            <a:r>
              <a:rPr lang="en-US" dirty="0">
                <a:ea typeface="標楷體" pitchFamily="65" charset="-120"/>
                <a:cs typeface="Calibri" panose="020F07020304040A0204" pitchFamily="34" charset="0"/>
              </a:rPr>
              <a:t>x = B(1,2,3) + a*b;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3ADF0A7F-1211-48D5-901E-E1C028A31249}"/>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53163B23-2E78-4FB2-A30D-8C8A82AE1DCA}"/>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C9DE4601-7801-4FEB-9D3A-51B749719137}" type="slidenum">
              <a:rPr lang="zh-TW" altLang="en-US" sz="900"/>
              <a:pPr>
                <a:spcBef>
                  <a:spcPct val="0"/>
                </a:spcBef>
                <a:buClrTx/>
                <a:buSzTx/>
                <a:buFontTx/>
                <a:buNone/>
              </a:pPr>
              <a:t>15</a:t>
            </a:fld>
            <a:endParaRPr lang="en-US" altLang="zh-TW" sz="900"/>
          </a:p>
        </p:txBody>
      </p:sp>
      <p:sp>
        <p:nvSpPr>
          <p:cNvPr id="5" name="Rectangle 2">
            <a:extLst>
              <a:ext uri="{FF2B5EF4-FFF2-40B4-BE49-F238E27FC236}">
                <a16:creationId xmlns:a16="http://schemas.microsoft.com/office/drawing/2014/main" id="{E211A441-7E25-42A5-B98C-60AFC080D64B}"/>
              </a:ext>
            </a:extLst>
          </p:cNvPr>
          <p:cNvSpPr txBox="1">
            <a:spLocks noChangeArrowheads="1"/>
          </p:cNvSpPr>
          <p:nvPr/>
        </p:nvSpPr>
        <p:spPr bwMode="auto">
          <a:xfrm>
            <a:off x="1600824" y="38213"/>
            <a:ext cx="5829300" cy="85725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300" dirty="0">
                <a:effectLst/>
                <a:ea typeface="新細明體" pitchFamily="18" charset="-120"/>
              </a:rPr>
              <a:t>Caller Save Registers</a:t>
            </a:r>
          </a:p>
        </p:txBody>
      </p:sp>
      <p:sp>
        <p:nvSpPr>
          <p:cNvPr id="18437" name="文字方塊 1">
            <a:extLst>
              <a:ext uri="{FF2B5EF4-FFF2-40B4-BE49-F238E27FC236}">
                <a16:creationId xmlns:a16="http://schemas.microsoft.com/office/drawing/2014/main" id="{95FE474A-A4A7-4283-8458-AF4671058259}"/>
              </a:ext>
            </a:extLst>
          </p:cNvPr>
          <p:cNvSpPr txBox="1">
            <a:spLocks noChangeArrowheads="1"/>
          </p:cNvSpPr>
          <p:nvPr/>
        </p:nvSpPr>
        <p:spPr bwMode="auto">
          <a:xfrm>
            <a:off x="2914650" y="1257300"/>
            <a:ext cx="2857500" cy="2677656"/>
          </a:xfrm>
          <a:prstGeom prst="rect">
            <a:avLst/>
          </a:prstGeom>
          <a:solidFill>
            <a:srgbClr val="FFC000"/>
          </a:solidFill>
          <a:ln w="9525">
            <a:solidFill>
              <a:srgbClr val="FF0000"/>
            </a:solidFill>
            <a:miter lim="800000"/>
            <a:headEnd/>
            <a:tailEnd/>
          </a:ln>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100" b="1">
                <a:solidFill>
                  <a:srgbClr val="2929FF"/>
                </a:solidFill>
                <a:ea typeface="新細明體" panose="02020500000000000000" pitchFamily="18" charset="-120"/>
              </a:rPr>
              <a:t>Function A ()</a:t>
            </a:r>
          </a:p>
          <a:p>
            <a:pPr>
              <a:spcBef>
                <a:spcPct val="0"/>
              </a:spcBef>
              <a:buClrTx/>
              <a:buSzTx/>
              <a:buFontTx/>
              <a:buNone/>
            </a:pPr>
            <a:endParaRPr lang="en-US" altLang="zh-TW" sz="2100" b="1">
              <a:solidFill>
                <a:srgbClr val="2929FF"/>
              </a:solidFill>
              <a:ea typeface="新細明體" panose="02020500000000000000" pitchFamily="18" charset="-120"/>
            </a:endParaRPr>
          </a:p>
          <a:p>
            <a:pPr>
              <a:spcBef>
                <a:spcPct val="0"/>
              </a:spcBef>
              <a:buClrTx/>
              <a:buSzTx/>
              <a:buFontTx/>
              <a:buNone/>
            </a:pPr>
            <a:r>
              <a:rPr lang="en-US" altLang="zh-TW" sz="2100" b="1">
                <a:solidFill>
                  <a:srgbClr val="2929FF"/>
                </a:solidFill>
                <a:ea typeface="新細明體" panose="02020500000000000000" pitchFamily="18" charset="-120"/>
              </a:rPr>
              <a:t>$T1 = a*b;</a:t>
            </a:r>
          </a:p>
          <a:p>
            <a:pPr>
              <a:spcBef>
                <a:spcPct val="0"/>
              </a:spcBef>
              <a:buClrTx/>
              <a:buSzTx/>
              <a:buFontTx/>
              <a:buNone/>
            </a:pPr>
            <a:r>
              <a:rPr lang="en-US" altLang="zh-TW" sz="2100" b="1">
                <a:solidFill>
                  <a:srgbClr val="2929FF"/>
                </a:solidFill>
                <a:ea typeface="新細明體" panose="02020500000000000000" pitchFamily="18" charset="-120"/>
              </a:rPr>
              <a:t>$S2=B(1,2,3);</a:t>
            </a:r>
          </a:p>
          <a:p>
            <a:pPr>
              <a:spcBef>
                <a:spcPct val="0"/>
              </a:spcBef>
              <a:buClrTx/>
              <a:buSzTx/>
              <a:buFontTx/>
              <a:buNone/>
            </a:pPr>
            <a:r>
              <a:rPr lang="en-US" altLang="zh-TW" sz="2100" b="1">
                <a:solidFill>
                  <a:srgbClr val="2929FF"/>
                </a:solidFill>
                <a:ea typeface="新細明體" panose="02020500000000000000" pitchFamily="18" charset="-120"/>
              </a:rPr>
              <a:t>c = $T1+$S2;</a:t>
            </a:r>
          </a:p>
          <a:p>
            <a:pPr>
              <a:spcBef>
                <a:spcPct val="0"/>
              </a:spcBef>
              <a:buClrTx/>
              <a:buSzTx/>
              <a:buFontTx/>
              <a:buNone/>
            </a:pPr>
            <a:r>
              <a:rPr lang="en-US" altLang="zh-TW" sz="2100" b="1">
                <a:solidFill>
                  <a:srgbClr val="2929FF"/>
                </a:solidFill>
                <a:ea typeface="新細明體" panose="02020500000000000000" pitchFamily="18" charset="-120"/>
              </a:rPr>
              <a:t>…</a:t>
            </a:r>
          </a:p>
          <a:p>
            <a:pPr>
              <a:spcBef>
                <a:spcPct val="0"/>
              </a:spcBef>
              <a:buClrTx/>
              <a:buSzTx/>
              <a:buFontTx/>
              <a:buNone/>
            </a:pPr>
            <a:endParaRPr lang="en-US" altLang="zh-TW" sz="2100" b="1">
              <a:solidFill>
                <a:srgbClr val="2929FF"/>
              </a:solidFill>
              <a:ea typeface="新細明體" panose="02020500000000000000" pitchFamily="18" charset="-120"/>
            </a:endParaRPr>
          </a:p>
          <a:p>
            <a:pPr>
              <a:spcBef>
                <a:spcPct val="0"/>
              </a:spcBef>
              <a:buClrTx/>
              <a:buSzTx/>
              <a:buFontTx/>
              <a:buNone/>
            </a:pPr>
            <a:r>
              <a:rPr lang="en-US" altLang="zh-TW" sz="2100" b="1">
                <a:solidFill>
                  <a:srgbClr val="2929FF"/>
                </a:solidFill>
                <a:ea typeface="新細明體" panose="02020500000000000000" pitchFamily="18" charset="-120"/>
              </a:rPr>
              <a:t>return</a:t>
            </a:r>
            <a:endParaRPr lang="zh-TW" altLang="en-US" sz="2100" b="1">
              <a:solidFill>
                <a:srgbClr val="2929FF"/>
              </a:solidFill>
              <a:ea typeface="新細明體" panose="02020500000000000000" pitchFamily="18" charset="-120"/>
            </a:endParaRPr>
          </a:p>
        </p:txBody>
      </p:sp>
      <p:cxnSp>
        <p:nvCxnSpPr>
          <p:cNvPr id="18438" name="直線單箭頭接點 3">
            <a:extLst>
              <a:ext uri="{FF2B5EF4-FFF2-40B4-BE49-F238E27FC236}">
                <a16:creationId xmlns:a16="http://schemas.microsoft.com/office/drawing/2014/main" id="{2259912D-43B6-469E-B9F2-DEE32E4D5AB0}"/>
              </a:ext>
            </a:extLst>
          </p:cNvPr>
          <p:cNvCxnSpPr>
            <a:cxnSpLocks noChangeShapeType="1"/>
          </p:cNvCxnSpPr>
          <p:nvPr/>
        </p:nvCxnSpPr>
        <p:spPr bwMode="auto">
          <a:xfrm flipH="1">
            <a:off x="3714750" y="2228850"/>
            <a:ext cx="2400300" cy="0"/>
          </a:xfrm>
          <a:prstGeom prst="straightConnector1">
            <a:avLst/>
          </a:prstGeom>
          <a:noFill/>
          <a:ln w="38100" algn="ctr">
            <a:solidFill>
              <a:srgbClr val="FF0000"/>
            </a:solidFill>
            <a:round/>
            <a:headEnd/>
            <a:tailEnd type="stealth" w="lg" len="lg"/>
          </a:ln>
          <a:extLst>
            <a:ext uri="{909E8E84-426E-40DD-AFC4-6F175D3DCCD1}">
              <a14:hiddenFill xmlns:a14="http://schemas.microsoft.com/office/drawing/2010/main">
                <a:noFill/>
              </a14:hiddenFill>
            </a:ext>
          </a:extLst>
        </p:spPr>
      </p:cxnSp>
      <p:sp>
        <p:nvSpPr>
          <p:cNvPr id="7" name="文字方塊 6">
            <a:extLst>
              <a:ext uri="{FF2B5EF4-FFF2-40B4-BE49-F238E27FC236}">
                <a16:creationId xmlns:a16="http://schemas.microsoft.com/office/drawing/2014/main" id="{E322FCAC-88D5-4766-B00E-67CAB2BA4694}"/>
              </a:ext>
            </a:extLst>
          </p:cNvPr>
          <p:cNvSpPr txBox="1"/>
          <p:nvPr/>
        </p:nvSpPr>
        <p:spPr>
          <a:xfrm>
            <a:off x="6115050" y="2044184"/>
            <a:ext cx="1288143" cy="369332"/>
          </a:xfrm>
          <a:prstGeom prst="rect">
            <a:avLst/>
          </a:prstGeom>
          <a:solidFill>
            <a:schemeClr val="accent2">
              <a:lumMod val="40000"/>
              <a:lumOff val="60000"/>
            </a:schemeClr>
          </a:solidFill>
          <a:ln>
            <a:solidFill>
              <a:schemeClr val="bg1">
                <a:lumMod val="75000"/>
              </a:schemeClr>
            </a:solidFill>
          </a:ln>
        </p:spPr>
        <p:txBody>
          <a:bodyPr wrap="square">
            <a:spAutoFit/>
          </a:bodyPr>
          <a:lstStyle/>
          <a:p>
            <a:pPr>
              <a:defRPr/>
            </a:pPr>
            <a:r>
              <a:rPr lang="en-US" altLang="zh-TW" b="1" dirty="0">
                <a:solidFill>
                  <a:srgbClr val="FF0000"/>
                </a:solidFill>
                <a:latin typeface="標楷體" pitchFamily="65" charset="-120"/>
                <a:ea typeface="標楷體" pitchFamily="65" charset="-120"/>
              </a:rPr>
              <a:t>Save $T1</a:t>
            </a:r>
            <a:endParaRPr lang="zh-TW" altLang="en-US" b="1" dirty="0">
              <a:solidFill>
                <a:srgbClr val="FF0000"/>
              </a:solidFill>
              <a:latin typeface="標楷體" pitchFamily="65" charset="-120"/>
              <a:ea typeface="標楷體" pitchFamily="65" charset="-120"/>
            </a:endParaRPr>
          </a:p>
        </p:txBody>
      </p:sp>
      <p:cxnSp>
        <p:nvCxnSpPr>
          <p:cNvPr id="18440" name="直線單箭頭接點 9">
            <a:extLst>
              <a:ext uri="{FF2B5EF4-FFF2-40B4-BE49-F238E27FC236}">
                <a16:creationId xmlns:a16="http://schemas.microsoft.com/office/drawing/2014/main" id="{17BF2EBD-031D-4A9C-925E-84F568C0B67C}"/>
              </a:ext>
            </a:extLst>
          </p:cNvPr>
          <p:cNvCxnSpPr>
            <a:cxnSpLocks noChangeShapeType="1"/>
          </p:cNvCxnSpPr>
          <p:nvPr/>
        </p:nvCxnSpPr>
        <p:spPr bwMode="auto">
          <a:xfrm flipH="1">
            <a:off x="3714750" y="2584847"/>
            <a:ext cx="2400300" cy="0"/>
          </a:xfrm>
          <a:prstGeom prst="straightConnector1">
            <a:avLst/>
          </a:prstGeom>
          <a:noFill/>
          <a:ln w="38100" algn="ctr">
            <a:solidFill>
              <a:srgbClr val="FF0000"/>
            </a:solidFill>
            <a:round/>
            <a:headEnd/>
            <a:tailEnd type="stealth" w="lg" len="lg"/>
          </a:ln>
          <a:extLst>
            <a:ext uri="{909E8E84-426E-40DD-AFC4-6F175D3DCCD1}">
              <a14:hiddenFill xmlns:a14="http://schemas.microsoft.com/office/drawing/2010/main">
                <a:noFill/>
              </a14:hiddenFill>
            </a:ext>
          </a:extLst>
        </p:spPr>
      </p:cxnSp>
      <p:sp>
        <p:nvSpPr>
          <p:cNvPr id="11" name="文字方塊 10">
            <a:extLst>
              <a:ext uri="{FF2B5EF4-FFF2-40B4-BE49-F238E27FC236}">
                <a16:creationId xmlns:a16="http://schemas.microsoft.com/office/drawing/2014/main" id="{60CB0F8C-9678-45A1-B65E-730E6CAB33C2}"/>
              </a:ext>
            </a:extLst>
          </p:cNvPr>
          <p:cNvSpPr txBox="1"/>
          <p:nvPr/>
        </p:nvSpPr>
        <p:spPr>
          <a:xfrm>
            <a:off x="6115050" y="2505849"/>
            <a:ext cx="1657350" cy="369332"/>
          </a:xfrm>
          <a:prstGeom prst="rect">
            <a:avLst/>
          </a:prstGeom>
          <a:solidFill>
            <a:schemeClr val="accent2">
              <a:lumMod val="40000"/>
              <a:lumOff val="60000"/>
            </a:schemeClr>
          </a:solidFill>
          <a:ln>
            <a:solidFill>
              <a:schemeClr val="bg1">
                <a:lumMod val="75000"/>
              </a:schemeClr>
            </a:solidFill>
          </a:ln>
        </p:spPr>
        <p:txBody>
          <a:bodyPr>
            <a:spAutoFit/>
          </a:bodyPr>
          <a:lstStyle/>
          <a:p>
            <a:pPr>
              <a:defRPr/>
            </a:pPr>
            <a:r>
              <a:rPr lang="en-US" altLang="zh-TW" b="1" dirty="0">
                <a:solidFill>
                  <a:srgbClr val="FF0000"/>
                </a:solidFill>
                <a:latin typeface="標楷體" pitchFamily="65" charset="-120"/>
                <a:ea typeface="標楷體" pitchFamily="65" charset="-120"/>
              </a:rPr>
              <a:t>Restore $T1</a:t>
            </a:r>
            <a:endParaRPr lang="zh-TW" altLang="en-US" b="1" dirty="0">
              <a:solidFill>
                <a:srgbClr val="FF0000"/>
              </a:solidFill>
              <a:latin typeface="標楷體" pitchFamily="65" charset="-120"/>
              <a:ea typeface="標楷體" pitchFamily="65" charset="-12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C565F339-5669-443A-B8F4-FCFF53EAE0A9}"/>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ADAC1063-D200-427C-A6B7-C84228E13F7E}"/>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E390B63F-127F-49F9-90F7-A2D94225D28D}" type="slidenum">
              <a:rPr lang="zh-TW" altLang="en-US" sz="900"/>
              <a:pPr>
                <a:spcBef>
                  <a:spcPct val="0"/>
                </a:spcBef>
                <a:buClrTx/>
                <a:buSzTx/>
                <a:buFontTx/>
                <a:buNone/>
              </a:pPr>
              <a:t>16</a:t>
            </a:fld>
            <a:endParaRPr lang="en-US" altLang="zh-TW" sz="900"/>
          </a:p>
        </p:txBody>
      </p:sp>
      <p:sp>
        <p:nvSpPr>
          <p:cNvPr id="5" name="Rectangle 2">
            <a:extLst>
              <a:ext uri="{FF2B5EF4-FFF2-40B4-BE49-F238E27FC236}">
                <a16:creationId xmlns:a16="http://schemas.microsoft.com/office/drawing/2014/main" id="{6B1684E7-CC35-4400-93A7-081788F981BC}"/>
              </a:ext>
            </a:extLst>
          </p:cNvPr>
          <p:cNvSpPr txBox="1">
            <a:spLocks noChangeArrowheads="1"/>
          </p:cNvSpPr>
          <p:nvPr/>
        </p:nvSpPr>
        <p:spPr bwMode="auto">
          <a:xfrm>
            <a:off x="1590080" y="-85725"/>
            <a:ext cx="5829300" cy="85725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300" dirty="0" err="1">
                <a:effectLst/>
                <a:ea typeface="新細明體" pitchFamily="18" charset="-120"/>
              </a:rPr>
              <a:t>Callee</a:t>
            </a:r>
            <a:r>
              <a:rPr lang="en-US" altLang="zh-TW" sz="3300" dirty="0">
                <a:effectLst/>
                <a:ea typeface="新細明體" pitchFamily="18" charset="-120"/>
              </a:rPr>
              <a:t> Save Registers</a:t>
            </a:r>
          </a:p>
        </p:txBody>
      </p:sp>
      <p:sp>
        <p:nvSpPr>
          <p:cNvPr id="19461" name="文字方塊 1">
            <a:extLst>
              <a:ext uri="{FF2B5EF4-FFF2-40B4-BE49-F238E27FC236}">
                <a16:creationId xmlns:a16="http://schemas.microsoft.com/office/drawing/2014/main" id="{B953A289-EA84-4232-9DDA-F3D038BE8272}"/>
              </a:ext>
            </a:extLst>
          </p:cNvPr>
          <p:cNvSpPr txBox="1">
            <a:spLocks noChangeArrowheads="1"/>
          </p:cNvSpPr>
          <p:nvPr/>
        </p:nvSpPr>
        <p:spPr bwMode="auto">
          <a:xfrm>
            <a:off x="2892879" y="773339"/>
            <a:ext cx="2857500" cy="2677656"/>
          </a:xfrm>
          <a:prstGeom prst="rect">
            <a:avLst/>
          </a:prstGeom>
          <a:solidFill>
            <a:srgbClr val="FFC000"/>
          </a:solidFill>
          <a:ln w="9525">
            <a:solidFill>
              <a:srgbClr val="FF0000"/>
            </a:solidFill>
            <a:miter lim="800000"/>
            <a:headEnd/>
            <a:tailEnd/>
          </a:ln>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100" b="1">
                <a:solidFill>
                  <a:srgbClr val="2929FF"/>
                </a:solidFill>
                <a:ea typeface="新細明體" panose="02020500000000000000" pitchFamily="18" charset="-120"/>
              </a:rPr>
              <a:t>Function A ()</a:t>
            </a:r>
          </a:p>
          <a:p>
            <a:pPr>
              <a:spcBef>
                <a:spcPct val="0"/>
              </a:spcBef>
              <a:buClrTx/>
              <a:buSzTx/>
              <a:buFontTx/>
              <a:buNone/>
            </a:pPr>
            <a:endParaRPr lang="en-US" altLang="zh-TW" sz="2100" b="1">
              <a:solidFill>
                <a:srgbClr val="2929FF"/>
              </a:solidFill>
              <a:ea typeface="新細明體" panose="02020500000000000000" pitchFamily="18" charset="-120"/>
            </a:endParaRPr>
          </a:p>
          <a:p>
            <a:pPr>
              <a:spcBef>
                <a:spcPct val="0"/>
              </a:spcBef>
              <a:buClrTx/>
              <a:buSzTx/>
              <a:buFontTx/>
              <a:buNone/>
            </a:pPr>
            <a:r>
              <a:rPr lang="en-US" altLang="zh-TW" sz="2100" b="1">
                <a:solidFill>
                  <a:srgbClr val="2929FF"/>
                </a:solidFill>
                <a:ea typeface="新細明體" panose="02020500000000000000" pitchFamily="18" charset="-120"/>
              </a:rPr>
              <a:t>$S1 = a*b;</a:t>
            </a:r>
          </a:p>
          <a:p>
            <a:pPr>
              <a:spcBef>
                <a:spcPct val="0"/>
              </a:spcBef>
              <a:buClrTx/>
              <a:buSzTx/>
              <a:buFontTx/>
              <a:buNone/>
            </a:pPr>
            <a:r>
              <a:rPr lang="en-US" altLang="zh-TW" sz="2100" b="1">
                <a:solidFill>
                  <a:srgbClr val="2929FF"/>
                </a:solidFill>
                <a:ea typeface="新細明體" panose="02020500000000000000" pitchFamily="18" charset="-120"/>
              </a:rPr>
              <a:t>$S2=B(1,2,3);</a:t>
            </a:r>
          </a:p>
          <a:p>
            <a:pPr>
              <a:spcBef>
                <a:spcPct val="0"/>
              </a:spcBef>
              <a:buClrTx/>
              <a:buSzTx/>
              <a:buFontTx/>
              <a:buNone/>
            </a:pPr>
            <a:r>
              <a:rPr lang="en-US" altLang="zh-TW" sz="2100" b="1">
                <a:solidFill>
                  <a:srgbClr val="2929FF"/>
                </a:solidFill>
                <a:ea typeface="新細明體" panose="02020500000000000000" pitchFamily="18" charset="-120"/>
              </a:rPr>
              <a:t>c = $S1+$S2;</a:t>
            </a:r>
          </a:p>
          <a:p>
            <a:pPr>
              <a:spcBef>
                <a:spcPct val="0"/>
              </a:spcBef>
              <a:buClrTx/>
              <a:buSzTx/>
              <a:buFontTx/>
              <a:buNone/>
            </a:pPr>
            <a:r>
              <a:rPr lang="en-US" altLang="zh-TW" sz="2100" b="1">
                <a:solidFill>
                  <a:srgbClr val="2929FF"/>
                </a:solidFill>
                <a:ea typeface="新細明體" panose="02020500000000000000" pitchFamily="18" charset="-120"/>
              </a:rPr>
              <a:t>…</a:t>
            </a:r>
          </a:p>
          <a:p>
            <a:pPr>
              <a:spcBef>
                <a:spcPct val="0"/>
              </a:spcBef>
              <a:buClrTx/>
              <a:buSzTx/>
              <a:buFontTx/>
              <a:buNone/>
            </a:pPr>
            <a:endParaRPr lang="en-US" altLang="zh-TW" sz="2100" b="1">
              <a:solidFill>
                <a:srgbClr val="2929FF"/>
              </a:solidFill>
              <a:ea typeface="新細明體" panose="02020500000000000000" pitchFamily="18" charset="-120"/>
            </a:endParaRPr>
          </a:p>
          <a:p>
            <a:pPr>
              <a:spcBef>
                <a:spcPct val="0"/>
              </a:spcBef>
              <a:buClrTx/>
              <a:buSzTx/>
              <a:buFontTx/>
              <a:buNone/>
            </a:pPr>
            <a:r>
              <a:rPr lang="en-US" altLang="zh-TW" sz="2100" b="1">
                <a:solidFill>
                  <a:srgbClr val="2929FF"/>
                </a:solidFill>
                <a:ea typeface="新細明體" panose="02020500000000000000" pitchFamily="18" charset="-120"/>
              </a:rPr>
              <a:t>return</a:t>
            </a:r>
            <a:endParaRPr lang="zh-TW" altLang="en-US" sz="2100" b="1">
              <a:solidFill>
                <a:srgbClr val="2929FF"/>
              </a:solidFill>
              <a:ea typeface="新細明體" panose="02020500000000000000" pitchFamily="18" charset="-120"/>
            </a:endParaRPr>
          </a:p>
        </p:txBody>
      </p:sp>
      <p:sp>
        <p:nvSpPr>
          <p:cNvPr id="19462" name="Rectangle 5">
            <a:extLst>
              <a:ext uri="{FF2B5EF4-FFF2-40B4-BE49-F238E27FC236}">
                <a16:creationId xmlns:a16="http://schemas.microsoft.com/office/drawing/2014/main" id="{F8552473-79D4-4743-8D76-3DBBE0CBEADE}"/>
              </a:ext>
            </a:extLst>
          </p:cNvPr>
          <p:cNvSpPr>
            <a:spLocks noChangeArrowheads="1"/>
          </p:cNvSpPr>
          <p:nvPr/>
        </p:nvSpPr>
        <p:spPr bwMode="auto">
          <a:xfrm>
            <a:off x="979714" y="3522664"/>
            <a:ext cx="7213600" cy="888206"/>
          </a:xfrm>
          <a:prstGeom prst="rect">
            <a:avLst/>
          </a:prstGeom>
          <a:solidFill>
            <a:srgbClr val="FFFF00"/>
          </a:solidFill>
          <a:ln w="9525" algn="ctr">
            <a:solidFill>
              <a:schemeClr val="tx1"/>
            </a:solidFill>
            <a:round/>
            <a:headEnd/>
            <a:tailEnd/>
          </a:ln>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en-US" sz="1350" dirty="0"/>
              <a:t>A() modifies reg $S1, and $S2. For some routines that call A(), reg $S1 and $S2 will be changed after A() returns. So reg $S1 and $S2 must be saved/restored at procedure entry and return points. Since $S1/$S2 are callee saved registers, it is A()’s responsibility to save and restore them.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1769077F-3A99-4E07-9083-D72F690C8755}"/>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111CC9DF-E87D-4B47-A8C5-546D0C797D54}"/>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7824C79B-2AB1-433B-8569-9A8E1F7891CD}" type="slidenum">
              <a:rPr lang="zh-TW" altLang="en-US" sz="900"/>
              <a:pPr>
                <a:spcBef>
                  <a:spcPct val="0"/>
                </a:spcBef>
                <a:buClrTx/>
                <a:buSzTx/>
                <a:buFontTx/>
                <a:buNone/>
              </a:pPr>
              <a:t>17</a:t>
            </a:fld>
            <a:endParaRPr lang="en-US" altLang="zh-TW" sz="900"/>
          </a:p>
        </p:txBody>
      </p:sp>
      <p:sp>
        <p:nvSpPr>
          <p:cNvPr id="5" name="Rectangle 2">
            <a:extLst>
              <a:ext uri="{FF2B5EF4-FFF2-40B4-BE49-F238E27FC236}">
                <a16:creationId xmlns:a16="http://schemas.microsoft.com/office/drawing/2014/main" id="{6CEF6730-1B8E-495A-9532-732AFAC9564E}"/>
              </a:ext>
            </a:extLst>
          </p:cNvPr>
          <p:cNvSpPr txBox="1">
            <a:spLocks noChangeArrowheads="1"/>
          </p:cNvSpPr>
          <p:nvPr/>
        </p:nvSpPr>
        <p:spPr bwMode="auto">
          <a:xfrm>
            <a:off x="1600824" y="-49410"/>
            <a:ext cx="5829300" cy="85725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300" dirty="0" err="1">
                <a:effectLst/>
                <a:ea typeface="新細明體" pitchFamily="18" charset="-120"/>
              </a:rPr>
              <a:t>Callee</a:t>
            </a:r>
            <a:r>
              <a:rPr lang="en-US" altLang="zh-TW" sz="3300" dirty="0">
                <a:effectLst/>
                <a:ea typeface="新細明體" pitchFamily="18" charset="-120"/>
              </a:rPr>
              <a:t> Save Registers</a:t>
            </a:r>
          </a:p>
        </p:txBody>
      </p:sp>
      <p:sp>
        <p:nvSpPr>
          <p:cNvPr id="20485" name="文字方塊 1">
            <a:extLst>
              <a:ext uri="{FF2B5EF4-FFF2-40B4-BE49-F238E27FC236}">
                <a16:creationId xmlns:a16="http://schemas.microsoft.com/office/drawing/2014/main" id="{8CCBED47-B493-4C3A-B885-C226B8BBB14E}"/>
              </a:ext>
            </a:extLst>
          </p:cNvPr>
          <p:cNvSpPr txBox="1">
            <a:spLocks noChangeArrowheads="1"/>
          </p:cNvSpPr>
          <p:nvPr/>
        </p:nvSpPr>
        <p:spPr bwMode="auto">
          <a:xfrm>
            <a:off x="2914650" y="1257300"/>
            <a:ext cx="2857500" cy="2677656"/>
          </a:xfrm>
          <a:prstGeom prst="rect">
            <a:avLst/>
          </a:prstGeom>
          <a:solidFill>
            <a:srgbClr val="FFC000"/>
          </a:solidFill>
          <a:ln w="9525">
            <a:solidFill>
              <a:srgbClr val="FF0000"/>
            </a:solidFill>
            <a:miter lim="800000"/>
            <a:headEnd/>
            <a:tailEnd/>
          </a:ln>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100" b="1">
                <a:solidFill>
                  <a:srgbClr val="2929FF"/>
                </a:solidFill>
                <a:ea typeface="新細明體" panose="02020500000000000000" pitchFamily="18" charset="-120"/>
              </a:rPr>
              <a:t>Function A ()</a:t>
            </a:r>
          </a:p>
          <a:p>
            <a:pPr>
              <a:spcBef>
                <a:spcPct val="0"/>
              </a:spcBef>
              <a:buClrTx/>
              <a:buSzTx/>
              <a:buFontTx/>
              <a:buNone/>
            </a:pPr>
            <a:endParaRPr lang="en-US" altLang="zh-TW" sz="2100" b="1">
              <a:solidFill>
                <a:srgbClr val="2929FF"/>
              </a:solidFill>
              <a:ea typeface="新細明體" panose="02020500000000000000" pitchFamily="18" charset="-120"/>
            </a:endParaRPr>
          </a:p>
          <a:p>
            <a:pPr>
              <a:spcBef>
                <a:spcPct val="0"/>
              </a:spcBef>
              <a:buClrTx/>
              <a:buSzTx/>
              <a:buFontTx/>
              <a:buNone/>
            </a:pPr>
            <a:r>
              <a:rPr lang="en-US" altLang="zh-TW" sz="2100" b="1">
                <a:solidFill>
                  <a:srgbClr val="2929FF"/>
                </a:solidFill>
                <a:ea typeface="新細明體" panose="02020500000000000000" pitchFamily="18" charset="-120"/>
              </a:rPr>
              <a:t>$S1 = a*b;</a:t>
            </a:r>
          </a:p>
          <a:p>
            <a:pPr>
              <a:spcBef>
                <a:spcPct val="0"/>
              </a:spcBef>
              <a:buClrTx/>
              <a:buSzTx/>
              <a:buFontTx/>
              <a:buNone/>
            </a:pPr>
            <a:r>
              <a:rPr lang="en-US" altLang="zh-TW" sz="2100" b="1">
                <a:solidFill>
                  <a:srgbClr val="2929FF"/>
                </a:solidFill>
                <a:ea typeface="新細明體" panose="02020500000000000000" pitchFamily="18" charset="-120"/>
              </a:rPr>
              <a:t>$S2=B(1,2,3);</a:t>
            </a:r>
          </a:p>
          <a:p>
            <a:pPr>
              <a:spcBef>
                <a:spcPct val="0"/>
              </a:spcBef>
              <a:buClrTx/>
              <a:buSzTx/>
              <a:buFontTx/>
              <a:buNone/>
            </a:pPr>
            <a:r>
              <a:rPr lang="en-US" altLang="zh-TW" sz="2100" b="1">
                <a:solidFill>
                  <a:srgbClr val="2929FF"/>
                </a:solidFill>
                <a:ea typeface="新細明體" panose="02020500000000000000" pitchFamily="18" charset="-120"/>
              </a:rPr>
              <a:t>c = $S1+$S2;</a:t>
            </a:r>
          </a:p>
          <a:p>
            <a:pPr>
              <a:spcBef>
                <a:spcPct val="0"/>
              </a:spcBef>
              <a:buClrTx/>
              <a:buSzTx/>
              <a:buFontTx/>
              <a:buNone/>
            </a:pPr>
            <a:r>
              <a:rPr lang="en-US" altLang="zh-TW" sz="2100" b="1">
                <a:solidFill>
                  <a:srgbClr val="2929FF"/>
                </a:solidFill>
                <a:ea typeface="新細明體" panose="02020500000000000000" pitchFamily="18" charset="-120"/>
              </a:rPr>
              <a:t>…</a:t>
            </a:r>
          </a:p>
          <a:p>
            <a:pPr>
              <a:spcBef>
                <a:spcPct val="0"/>
              </a:spcBef>
              <a:buClrTx/>
              <a:buSzTx/>
              <a:buFontTx/>
              <a:buNone/>
            </a:pPr>
            <a:endParaRPr lang="en-US" altLang="zh-TW" sz="2100" b="1">
              <a:solidFill>
                <a:srgbClr val="2929FF"/>
              </a:solidFill>
              <a:ea typeface="新細明體" panose="02020500000000000000" pitchFamily="18" charset="-120"/>
            </a:endParaRPr>
          </a:p>
          <a:p>
            <a:pPr>
              <a:spcBef>
                <a:spcPct val="0"/>
              </a:spcBef>
              <a:buClrTx/>
              <a:buSzTx/>
              <a:buFontTx/>
              <a:buNone/>
            </a:pPr>
            <a:r>
              <a:rPr lang="en-US" altLang="zh-TW" sz="2100" b="1">
                <a:solidFill>
                  <a:srgbClr val="2929FF"/>
                </a:solidFill>
                <a:ea typeface="新細明體" panose="02020500000000000000" pitchFamily="18" charset="-120"/>
              </a:rPr>
              <a:t>return</a:t>
            </a:r>
            <a:endParaRPr lang="zh-TW" altLang="en-US" sz="2100" b="1">
              <a:solidFill>
                <a:srgbClr val="2929FF"/>
              </a:solidFill>
              <a:ea typeface="新細明體" panose="02020500000000000000" pitchFamily="18" charset="-120"/>
            </a:endParaRPr>
          </a:p>
        </p:txBody>
      </p:sp>
      <p:cxnSp>
        <p:nvCxnSpPr>
          <p:cNvPr id="20486" name="直線單箭頭接點 5">
            <a:extLst>
              <a:ext uri="{FF2B5EF4-FFF2-40B4-BE49-F238E27FC236}">
                <a16:creationId xmlns:a16="http://schemas.microsoft.com/office/drawing/2014/main" id="{1D0F07B9-4F0B-4789-9588-CEFA26458BEF}"/>
              </a:ext>
            </a:extLst>
          </p:cNvPr>
          <p:cNvCxnSpPr>
            <a:cxnSpLocks noChangeShapeType="1"/>
          </p:cNvCxnSpPr>
          <p:nvPr/>
        </p:nvCxnSpPr>
        <p:spPr bwMode="auto">
          <a:xfrm flipH="1">
            <a:off x="3714750" y="1657350"/>
            <a:ext cx="2400300" cy="0"/>
          </a:xfrm>
          <a:prstGeom prst="straightConnector1">
            <a:avLst/>
          </a:prstGeom>
          <a:noFill/>
          <a:ln w="38100" algn="ctr">
            <a:solidFill>
              <a:srgbClr val="FF0000"/>
            </a:solidFill>
            <a:round/>
            <a:headEnd/>
            <a:tailEnd type="stealth" w="lg" len="lg"/>
          </a:ln>
          <a:extLst>
            <a:ext uri="{909E8E84-426E-40DD-AFC4-6F175D3DCCD1}">
              <a14:hiddenFill xmlns:a14="http://schemas.microsoft.com/office/drawing/2010/main">
                <a:noFill/>
              </a14:hiddenFill>
            </a:ext>
          </a:extLst>
        </p:spPr>
      </p:cxnSp>
      <p:sp>
        <p:nvSpPr>
          <p:cNvPr id="7" name="文字方塊 6">
            <a:extLst>
              <a:ext uri="{FF2B5EF4-FFF2-40B4-BE49-F238E27FC236}">
                <a16:creationId xmlns:a16="http://schemas.microsoft.com/office/drawing/2014/main" id="{586A9D8D-F34E-4AA9-A737-4EBB9963903B}"/>
              </a:ext>
            </a:extLst>
          </p:cNvPr>
          <p:cNvSpPr txBox="1"/>
          <p:nvPr/>
        </p:nvSpPr>
        <p:spPr>
          <a:xfrm>
            <a:off x="6115050" y="1428750"/>
            <a:ext cx="1600200" cy="646331"/>
          </a:xfrm>
          <a:prstGeom prst="rect">
            <a:avLst/>
          </a:prstGeom>
          <a:solidFill>
            <a:schemeClr val="accent2">
              <a:lumMod val="40000"/>
              <a:lumOff val="60000"/>
            </a:schemeClr>
          </a:solidFill>
          <a:ln>
            <a:solidFill>
              <a:schemeClr val="bg1">
                <a:lumMod val="75000"/>
              </a:schemeClr>
            </a:solidFill>
          </a:ln>
        </p:spPr>
        <p:txBody>
          <a:bodyPr>
            <a:spAutoFit/>
          </a:bodyPr>
          <a:lstStyle/>
          <a:p>
            <a:pPr>
              <a:defRPr/>
            </a:pPr>
            <a:r>
              <a:rPr lang="en-US" altLang="zh-TW" b="1" dirty="0">
                <a:solidFill>
                  <a:srgbClr val="FF0000"/>
                </a:solidFill>
                <a:latin typeface="標楷體" pitchFamily="65" charset="-120"/>
                <a:ea typeface="標楷體" pitchFamily="65" charset="-120"/>
              </a:rPr>
              <a:t>Save $S1,$S2</a:t>
            </a:r>
            <a:endParaRPr lang="zh-TW" altLang="en-US" b="1" dirty="0">
              <a:solidFill>
                <a:srgbClr val="FF0000"/>
              </a:solidFill>
              <a:latin typeface="標楷體" pitchFamily="65" charset="-120"/>
              <a:ea typeface="標楷體" pitchFamily="65" charset="-120"/>
            </a:endParaRPr>
          </a:p>
        </p:txBody>
      </p:sp>
      <p:cxnSp>
        <p:nvCxnSpPr>
          <p:cNvPr id="20488" name="直線單箭頭接點 7">
            <a:extLst>
              <a:ext uri="{FF2B5EF4-FFF2-40B4-BE49-F238E27FC236}">
                <a16:creationId xmlns:a16="http://schemas.microsoft.com/office/drawing/2014/main" id="{51E542EE-18E2-4D93-A5DD-8A8026936367}"/>
              </a:ext>
            </a:extLst>
          </p:cNvPr>
          <p:cNvCxnSpPr>
            <a:cxnSpLocks noChangeShapeType="1"/>
          </p:cNvCxnSpPr>
          <p:nvPr/>
        </p:nvCxnSpPr>
        <p:spPr bwMode="auto">
          <a:xfrm flipH="1">
            <a:off x="3543300" y="3543300"/>
            <a:ext cx="2400300" cy="0"/>
          </a:xfrm>
          <a:prstGeom prst="straightConnector1">
            <a:avLst/>
          </a:prstGeom>
          <a:noFill/>
          <a:ln w="38100" algn="ctr">
            <a:solidFill>
              <a:srgbClr val="FF0000"/>
            </a:solidFill>
            <a:round/>
            <a:headEnd/>
            <a:tailEnd type="stealth" w="lg" len="lg"/>
          </a:ln>
          <a:extLst>
            <a:ext uri="{909E8E84-426E-40DD-AFC4-6F175D3DCCD1}">
              <a14:hiddenFill xmlns:a14="http://schemas.microsoft.com/office/drawing/2010/main">
                <a:noFill/>
              </a14:hiddenFill>
            </a:ext>
          </a:extLst>
        </p:spPr>
      </p:cxnSp>
      <p:sp>
        <p:nvSpPr>
          <p:cNvPr id="9" name="文字方塊 8">
            <a:extLst>
              <a:ext uri="{FF2B5EF4-FFF2-40B4-BE49-F238E27FC236}">
                <a16:creationId xmlns:a16="http://schemas.microsoft.com/office/drawing/2014/main" id="{1A8A5DA6-B933-427F-9158-8E41F2C6C2C8}"/>
              </a:ext>
            </a:extLst>
          </p:cNvPr>
          <p:cNvSpPr txBox="1"/>
          <p:nvPr/>
        </p:nvSpPr>
        <p:spPr>
          <a:xfrm>
            <a:off x="5943600" y="3356372"/>
            <a:ext cx="1943100" cy="646331"/>
          </a:xfrm>
          <a:prstGeom prst="rect">
            <a:avLst/>
          </a:prstGeom>
          <a:solidFill>
            <a:schemeClr val="accent2">
              <a:lumMod val="40000"/>
              <a:lumOff val="60000"/>
            </a:schemeClr>
          </a:solidFill>
          <a:ln>
            <a:solidFill>
              <a:schemeClr val="bg1">
                <a:lumMod val="75000"/>
              </a:schemeClr>
            </a:solidFill>
          </a:ln>
        </p:spPr>
        <p:txBody>
          <a:bodyPr>
            <a:spAutoFit/>
          </a:bodyPr>
          <a:lstStyle/>
          <a:p>
            <a:pPr>
              <a:defRPr/>
            </a:pPr>
            <a:r>
              <a:rPr lang="en-US" altLang="zh-TW" b="1" dirty="0">
                <a:solidFill>
                  <a:srgbClr val="FF0000"/>
                </a:solidFill>
                <a:latin typeface="標楷體" pitchFamily="65" charset="-120"/>
                <a:ea typeface="標楷體" pitchFamily="65" charset="-120"/>
              </a:rPr>
              <a:t>Restore $S1,$S2</a:t>
            </a:r>
            <a:endParaRPr lang="zh-TW" altLang="en-US" b="1" dirty="0">
              <a:solidFill>
                <a:srgbClr val="FF0000"/>
              </a:solidFill>
              <a:latin typeface="標楷體" pitchFamily="65" charset="-120"/>
              <a:ea typeface="標楷體" pitchFamily="65" charset="-12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8CD71FA4-84EA-4CBF-AD1B-931467F2BA55}"/>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14F0F2C9-889D-423C-A1D2-64D7B7FA23EE}"/>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9389F92A-FD44-48C1-9216-29ABA0F58B75}" type="slidenum">
              <a:rPr lang="zh-TW" altLang="en-US" sz="900"/>
              <a:pPr>
                <a:spcBef>
                  <a:spcPct val="0"/>
                </a:spcBef>
                <a:buClrTx/>
                <a:buSzTx/>
                <a:buFontTx/>
                <a:buNone/>
              </a:pPr>
              <a:t>18</a:t>
            </a:fld>
            <a:endParaRPr lang="en-US" altLang="zh-TW" sz="900"/>
          </a:p>
        </p:txBody>
      </p:sp>
      <p:sp>
        <p:nvSpPr>
          <p:cNvPr id="5" name="Rectangle 2">
            <a:extLst>
              <a:ext uri="{FF2B5EF4-FFF2-40B4-BE49-F238E27FC236}">
                <a16:creationId xmlns:a16="http://schemas.microsoft.com/office/drawing/2014/main" id="{2656FF83-0DE7-4106-8C1A-1C6E22D85762}"/>
              </a:ext>
            </a:extLst>
          </p:cNvPr>
          <p:cNvSpPr txBox="1">
            <a:spLocks noChangeArrowheads="1"/>
          </p:cNvSpPr>
          <p:nvPr/>
        </p:nvSpPr>
        <p:spPr bwMode="auto">
          <a:xfrm>
            <a:off x="1271587" y="-3056"/>
            <a:ext cx="6400800" cy="68580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300" dirty="0">
                <a:effectLst/>
                <a:ea typeface="新細明體" pitchFamily="18" charset="-120"/>
              </a:rPr>
              <a:t>Caller or </a:t>
            </a:r>
            <a:r>
              <a:rPr lang="en-US" altLang="zh-TW" sz="3300" dirty="0" err="1">
                <a:effectLst/>
                <a:ea typeface="新細明體" pitchFamily="18" charset="-120"/>
              </a:rPr>
              <a:t>Callee</a:t>
            </a:r>
            <a:r>
              <a:rPr lang="en-US" altLang="zh-TW" sz="3300" dirty="0">
                <a:effectLst/>
                <a:ea typeface="新細明體" pitchFamily="18" charset="-120"/>
              </a:rPr>
              <a:t> Save Registers?</a:t>
            </a:r>
          </a:p>
        </p:txBody>
      </p:sp>
      <p:sp>
        <p:nvSpPr>
          <p:cNvPr id="21509" name="文字方塊 1">
            <a:extLst>
              <a:ext uri="{FF2B5EF4-FFF2-40B4-BE49-F238E27FC236}">
                <a16:creationId xmlns:a16="http://schemas.microsoft.com/office/drawing/2014/main" id="{6EEF7126-1D1C-42F4-835B-5933427F90FD}"/>
              </a:ext>
            </a:extLst>
          </p:cNvPr>
          <p:cNvSpPr txBox="1">
            <a:spLocks noChangeArrowheads="1"/>
          </p:cNvSpPr>
          <p:nvPr/>
        </p:nvSpPr>
        <p:spPr bwMode="auto">
          <a:xfrm>
            <a:off x="1543050" y="908447"/>
            <a:ext cx="2286000" cy="3647152"/>
          </a:xfrm>
          <a:prstGeom prst="rect">
            <a:avLst/>
          </a:prstGeom>
          <a:solidFill>
            <a:srgbClr val="FFC000"/>
          </a:solidFill>
          <a:ln w="9525">
            <a:solidFill>
              <a:srgbClr val="FF0000"/>
            </a:solidFill>
            <a:miter lim="800000"/>
            <a:headEnd/>
            <a:tailEnd/>
          </a:ln>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100" b="1">
                <a:solidFill>
                  <a:srgbClr val="2929FF"/>
                </a:solidFill>
                <a:ea typeface="新細明體" panose="02020500000000000000" pitchFamily="18" charset="-120"/>
              </a:rPr>
              <a:t>Function A ()</a:t>
            </a:r>
          </a:p>
          <a:p>
            <a:pPr>
              <a:spcBef>
                <a:spcPct val="0"/>
              </a:spcBef>
              <a:buClrTx/>
              <a:buSzTx/>
              <a:buFontTx/>
              <a:buNone/>
            </a:pPr>
            <a:endParaRPr lang="en-US" altLang="zh-TW" sz="2100" b="1">
              <a:solidFill>
                <a:srgbClr val="2929FF"/>
              </a:solidFill>
              <a:ea typeface="新細明體" panose="02020500000000000000" pitchFamily="18" charset="-120"/>
            </a:endParaRPr>
          </a:p>
          <a:p>
            <a:pPr>
              <a:spcBef>
                <a:spcPct val="0"/>
              </a:spcBef>
              <a:buClrTx/>
              <a:buSzTx/>
              <a:buFontTx/>
              <a:buNone/>
            </a:pPr>
            <a:r>
              <a:rPr lang="en-US" altLang="zh-TW" sz="2100" b="1">
                <a:solidFill>
                  <a:srgbClr val="2929FF"/>
                </a:solidFill>
                <a:ea typeface="新細明體" panose="02020500000000000000" pitchFamily="18" charset="-120"/>
              </a:rPr>
              <a:t>$X1 = a*b;</a:t>
            </a:r>
          </a:p>
          <a:p>
            <a:pPr>
              <a:spcBef>
                <a:spcPct val="0"/>
              </a:spcBef>
              <a:buClrTx/>
              <a:buSzTx/>
              <a:buFontTx/>
              <a:buNone/>
            </a:pPr>
            <a:r>
              <a:rPr lang="en-US" altLang="zh-TW" sz="2100" b="1">
                <a:solidFill>
                  <a:srgbClr val="2929FF"/>
                </a:solidFill>
                <a:ea typeface="新細明體" panose="02020500000000000000" pitchFamily="18" charset="-120"/>
              </a:rPr>
              <a:t>… = B(1,2,3);</a:t>
            </a:r>
          </a:p>
          <a:p>
            <a:pPr>
              <a:spcBef>
                <a:spcPct val="0"/>
              </a:spcBef>
              <a:buClrTx/>
              <a:buSzTx/>
              <a:buFontTx/>
              <a:buNone/>
            </a:pPr>
            <a:r>
              <a:rPr lang="en-US" altLang="zh-TW" sz="2100" b="1">
                <a:solidFill>
                  <a:srgbClr val="2929FF"/>
                </a:solidFill>
                <a:ea typeface="新細明體" panose="02020500000000000000" pitchFamily="18" charset="-120"/>
              </a:rPr>
              <a:t>…</a:t>
            </a:r>
          </a:p>
          <a:p>
            <a:pPr>
              <a:spcBef>
                <a:spcPct val="0"/>
              </a:spcBef>
              <a:buClrTx/>
              <a:buSzTx/>
              <a:buFontTx/>
              <a:buNone/>
            </a:pPr>
            <a:r>
              <a:rPr lang="en-US" altLang="zh-TW" sz="2100" b="1">
                <a:solidFill>
                  <a:srgbClr val="2929FF"/>
                </a:solidFill>
                <a:ea typeface="新細明體" panose="02020500000000000000" pitchFamily="18" charset="-120"/>
              </a:rPr>
              <a:t>… = C(4,a);</a:t>
            </a:r>
          </a:p>
          <a:p>
            <a:pPr>
              <a:spcBef>
                <a:spcPct val="0"/>
              </a:spcBef>
              <a:buClrTx/>
              <a:buSzTx/>
              <a:buFontTx/>
              <a:buNone/>
            </a:pPr>
            <a:r>
              <a:rPr lang="en-US" altLang="zh-TW" sz="2100" b="1">
                <a:solidFill>
                  <a:srgbClr val="2929FF"/>
                </a:solidFill>
                <a:ea typeface="新細明體" panose="02020500000000000000" pitchFamily="18" charset="-120"/>
              </a:rPr>
              <a:t>…</a:t>
            </a:r>
          </a:p>
          <a:p>
            <a:pPr>
              <a:spcBef>
                <a:spcPct val="0"/>
              </a:spcBef>
              <a:buClrTx/>
              <a:buSzTx/>
              <a:buFontTx/>
              <a:buNone/>
            </a:pPr>
            <a:r>
              <a:rPr lang="en-US" altLang="zh-TW" sz="2100" b="1">
                <a:solidFill>
                  <a:srgbClr val="2929FF"/>
                </a:solidFill>
                <a:ea typeface="新細明體" panose="02020500000000000000" pitchFamily="18" charset="-120"/>
              </a:rPr>
              <a:t>… = D(x,y);</a:t>
            </a:r>
          </a:p>
          <a:p>
            <a:pPr>
              <a:spcBef>
                <a:spcPct val="0"/>
              </a:spcBef>
              <a:buClrTx/>
              <a:buSzTx/>
              <a:buFontTx/>
              <a:buNone/>
            </a:pPr>
            <a:r>
              <a:rPr lang="en-US" altLang="zh-TW" sz="2100" b="1">
                <a:solidFill>
                  <a:srgbClr val="2929FF"/>
                </a:solidFill>
                <a:ea typeface="新細明體" panose="02020500000000000000" pitchFamily="18" charset="-120"/>
              </a:rPr>
              <a:t>… = $X1;</a:t>
            </a:r>
          </a:p>
          <a:p>
            <a:pPr>
              <a:spcBef>
                <a:spcPct val="0"/>
              </a:spcBef>
              <a:buClrTx/>
              <a:buSzTx/>
              <a:buFontTx/>
              <a:buNone/>
            </a:pPr>
            <a:endParaRPr lang="en-US" altLang="zh-TW" sz="2100" b="1">
              <a:solidFill>
                <a:srgbClr val="2929FF"/>
              </a:solidFill>
              <a:ea typeface="新細明體" panose="02020500000000000000" pitchFamily="18" charset="-120"/>
            </a:endParaRPr>
          </a:p>
          <a:p>
            <a:pPr>
              <a:spcBef>
                <a:spcPct val="0"/>
              </a:spcBef>
              <a:buClrTx/>
              <a:buSzTx/>
              <a:buFontTx/>
              <a:buNone/>
            </a:pPr>
            <a:r>
              <a:rPr lang="en-US" altLang="zh-TW" sz="2100" b="1">
                <a:solidFill>
                  <a:srgbClr val="2929FF"/>
                </a:solidFill>
                <a:ea typeface="新細明體" panose="02020500000000000000" pitchFamily="18" charset="-120"/>
              </a:rPr>
              <a:t>return</a:t>
            </a:r>
            <a:endParaRPr lang="zh-TW" altLang="en-US" sz="2100" b="1">
              <a:solidFill>
                <a:srgbClr val="2929FF"/>
              </a:solidFill>
              <a:ea typeface="新細明體" panose="02020500000000000000" pitchFamily="18" charset="-120"/>
            </a:endParaRPr>
          </a:p>
        </p:txBody>
      </p:sp>
      <p:sp>
        <p:nvSpPr>
          <p:cNvPr id="21510" name="文字方塊 5">
            <a:extLst>
              <a:ext uri="{FF2B5EF4-FFF2-40B4-BE49-F238E27FC236}">
                <a16:creationId xmlns:a16="http://schemas.microsoft.com/office/drawing/2014/main" id="{A830E75C-3653-4381-88C2-215DC11ABBBA}"/>
              </a:ext>
            </a:extLst>
          </p:cNvPr>
          <p:cNvSpPr txBox="1">
            <a:spLocks noChangeArrowheads="1"/>
          </p:cNvSpPr>
          <p:nvPr/>
        </p:nvSpPr>
        <p:spPr bwMode="auto">
          <a:xfrm>
            <a:off x="4229100" y="920354"/>
            <a:ext cx="2286000" cy="3647152"/>
          </a:xfrm>
          <a:prstGeom prst="rect">
            <a:avLst/>
          </a:prstGeom>
          <a:solidFill>
            <a:srgbClr val="FFC000"/>
          </a:solidFill>
          <a:ln w="9525">
            <a:solidFill>
              <a:srgbClr val="FF0000"/>
            </a:solidFill>
            <a:miter lim="800000"/>
            <a:headEnd/>
            <a:tailEnd/>
          </a:ln>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100" b="1">
                <a:solidFill>
                  <a:srgbClr val="2929FF"/>
                </a:solidFill>
                <a:ea typeface="新細明體" panose="02020500000000000000" pitchFamily="18" charset="-120"/>
              </a:rPr>
              <a:t>Caller Save</a:t>
            </a:r>
          </a:p>
          <a:p>
            <a:pPr>
              <a:spcBef>
                <a:spcPct val="0"/>
              </a:spcBef>
              <a:buClrTx/>
              <a:buSzTx/>
              <a:buFontTx/>
              <a:buNone/>
            </a:pPr>
            <a:endParaRPr lang="en-US" altLang="zh-TW" sz="2100" b="1">
              <a:solidFill>
                <a:srgbClr val="2929FF"/>
              </a:solidFill>
              <a:ea typeface="新細明體" panose="02020500000000000000" pitchFamily="18" charset="-120"/>
            </a:endParaRPr>
          </a:p>
          <a:p>
            <a:pPr>
              <a:spcBef>
                <a:spcPct val="0"/>
              </a:spcBef>
              <a:buClrTx/>
              <a:buSzTx/>
              <a:buFontTx/>
              <a:buNone/>
            </a:pPr>
            <a:r>
              <a:rPr lang="en-US" altLang="zh-TW" sz="2100" b="1">
                <a:solidFill>
                  <a:srgbClr val="2929FF"/>
                </a:solidFill>
                <a:ea typeface="新細明體" panose="02020500000000000000" pitchFamily="18" charset="-120"/>
              </a:rPr>
              <a:t>$T1 = a*b;</a:t>
            </a:r>
          </a:p>
          <a:p>
            <a:pPr>
              <a:spcBef>
                <a:spcPct val="0"/>
              </a:spcBef>
              <a:buClrTx/>
              <a:buSzTx/>
              <a:buFontTx/>
              <a:buNone/>
            </a:pPr>
            <a:r>
              <a:rPr lang="en-US" altLang="zh-TW" sz="2100" b="1">
                <a:solidFill>
                  <a:srgbClr val="2929FF"/>
                </a:solidFill>
                <a:ea typeface="新細明體" panose="02020500000000000000" pitchFamily="18" charset="-120"/>
              </a:rPr>
              <a:t>… = B(1,2,3);</a:t>
            </a:r>
          </a:p>
          <a:p>
            <a:pPr>
              <a:spcBef>
                <a:spcPct val="0"/>
              </a:spcBef>
              <a:buClrTx/>
              <a:buSzTx/>
              <a:buFontTx/>
              <a:buNone/>
            </a:pPr>
            <a:r>
              <a:rPr lang="en-US" altLang="zh-TW" sz="2100" b="1">
                <a:solidFill>
                  <a:srgbClr val="2929FF"/>
                </a:solidFill>
                <a:ea typeface="新細明體" panose="02020500000000000000" pitchFamily="18" charset="-120"/>
              </a:rPr>
              <a:t>…</a:t>
            </a:r>
          </a:p>
          <a:p>
            <a:pPr>
              <a:spcBef>
                <a:spcPct val="0"/>
              </a:spcBef>
              <a:buClrTx/>
              <a:buSzTx/>
              <a:buFontTx/>
              <a:buNone/>
            </a:pPr>
            <a:r>
              <a:rPr lang="en-US" altLang="zh-TW" sz="2100" b="1">
                <a:solidFill>
                  <a:srgbClr val="2929FF"/>
                </a:solidFill>
                <a:ea typeface="新細明體" panose="02020500000000000000" pitchFamily="18" charset="-120"/>
              </a:rPr>
              <a:t>… = C(4,a);</a:t>
            </a:r>
          </a:p>
          <a:p>
            <a:pPr>
              <a:spcBef>
                <a:spcPct val="0"/>
              </a:spcBef>
              <a:buClrTx/>
              <a:buSzTx/>
              <a:buFontTx/>
              <a:buNone/>
            </a:pPr>
            <a:r>
              <a:rPr lang="en-US" altLang="zh-TW" sz="2100" b="1">
                <a:solidFill>
                  <a:srgbClr val="2929FF"/>
                </a:solidFill>
                <a:ea typeface="新細明體" panose="02020500000000000000" pitchFamily="18" charset="-120"/>
              </a:rPr>
              <a:t>…</a:t>
            </a:r>
          </a:p>
          <a:p>
            <a:pPr>
              <a:spcBef>
                <a:spcPct val="0"/>
              </a:spcBef>
              <a:buClrTx/>
              <a:buSzTx/>
              <a:buFontTx/>
              <a:buNone/>
            </a:pPr>
            <a:r>
              <a:rPr lang="en-US" altLang="zh-TW" sz="2100" b="1">
                <a:solidFill>
                  <a:srgbClr val="2929FF"/>
                </a:solidFill>
                <a:ea typeface="新細明體" panose="02020500000000000000" pitchFamily="18" charset="-120"/>
              </a:rPr>
              <a:t>… = D(x,y);</a:t>
            </a:r>
          </a:p>
          <a:p>
            <a:pPr>
              <a:spcBef>
                <a:spcPct val="0"/>
              </a:spcBef>
              <a:buClrTx/>
              <a:buSzTx/>
              <a:buFontTx/>
              <a:buNone/>
            </a:pPr>
            <a:r>
              <a:rPr lang="en-US" altLang="zh-TW" sz="2100" b="1">
                <a:solidFill>
                  <a:srgbClr val="2929FF"/>
                </a:solidFill>
                <a:ea typeface="新細明體" panose="02020500000000000000" pitchFamily="18" charset="-120"/>
              </a:rPr>
              <a:t>… = $T1;</a:t>
            </a:r>
          </a:p>
          <a:p>
            <a:pPr>
              <a:spcBef>
                <a:spcPct val="0"/>
              </a:spcBef>
              <a:buClrTx/>
              <a:buSzTx/>
              <a:buFontTx/>
              <a:buNone/>
            </a:pPr>
            <a:endParaRPr lang="en-US" altLang="zh-TW" sz="2100" b="1">
              <a:solidFill>
                <a:srgbClr val="2929FF"/>
              </a:solidFill>
              <a:ea typeface="新細明體" panose="02020500000000000000" pitchFamily="18" charset="-120"/>
            </a:endParaRPr>
          </a:p>
          <a:p>
            <a:pPr>
              <a:spcBef>
                <a:spcPct val="0"/>
              </a:spcBef>
              <a:buClrTx/>
              <a:buSzTx/>
              <a:buFontTx/>
              <a:buNone/>
            </a:pPr>
            <a:endParaRPr lang="en-US" altLang="zh-TW" sz="2100" b="1">
              <a:solidFill>
                <a:srgbClr val="2929FF"/>
              </a:solidFill>
              <a:ea typeface="新細明體" panose="02020500000000000000" pitchFamily="18" charset="-120"/>
            </a:endParaRPr>
          </a:p>
        </p:txBody>
      </p:sp>
      <p:cxnSp>
        <p:nvCxnSpPr>
          <p:cNvPr id="4" name="直線單箭頭接點 3">
            <a:extLst>
              <a:ext uri="{FF2B5EF4-FFF2-40B4-BE49-F238E27FC236}">
                <a16:creationId xmlns:a16="http://schemas.microsoft.com/office/drawing/2014/main" id="{58C44741-2BBE-4C9F-A391-BFA9E5760CA5}"/>
              </a:ext>
            </a:extLst>
          </p:cNvPr>
          <p:cNvCxnSpPr>
            <a:cxnSpLocks noChangeShapeType="1"/>
          </p:cNvCxnSpPr>
          <p:nvPr/>
        </p:nvCxnSpPr>
        <p:spPr bwMode="auto">
          <a:xfrm flipH="1">
            <a:off x="4572000" y="1943100"/>
            <a:ext cx="1200150" cy="0"/>
          </a:xfrm>
          <a:prstGeom prst="straightConnector1">
            <a:avLst/>
          </a:prstGeom>
          <a:noFill/>
          <a:ln w="3810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10" name="文字方塊 9">
            <a:extLst>
              <a:ext uri="{FF2B5EF4-FFF2-40B4-BE49-F238E27FC236}">
                <a16:creationId xmlns:a16="http://schemas.microsoft.com/office/drawing/2014/main" id="{977AF4D7-2AA9-48AD-8AD8-6F740BFA3A0A}"/>
              </a:ext>
            </a:extLst>
          </p:cNvPr>
          <p:cNvSpPr txBox="1"/>
          <p:nvPr/>
        </p:nvSpPr>
        <p:spPr>
          <a:xfrm>
            <a:off x="5772150" y="1678343"/>
            <a:ext cx="948928" cy="369332"/>
          </a:xfrm>
          <a:prstGeom prst="rect">
            <a:avLst/>
          </a:prstGeom>
          <a:solidFill>
            <a:schemeClr val="accent2">
              <a:lumMod val="40000"/>
              <a:lumOff val="60000"/>
            </a:schemeClr>
          </a:solidFill>
          <a:ln>
            <a:solidFill>
              <a:schemeClr val="bg1">
                <a:lumMod val="75000"/>
              </a:schemeClr>
            </a:solidFill>
          </a:ln>
        </p:spPr>
        <p:txBody>
          <a:bodyPr wrap="square">
            <a:spAutoFit/>
          </a:bodyPr>
          <a:lstStyle/>
          <a:p>
            <a:pPr>
              <a:defRPr/>
            </a:pPr>
            <a:r>
              <a:rPr lang="en-US" altLang="zh-TW" b="1" dirty="0">
                <a:solidFill>
                  <a:srgbClr val="FF0000"/>
                </a:solidFill>
                <a:latin typeface="標楷體" pitchFamily="65" charset="-120"/>
                <a:ea typeface="標楷體" pitchFamily="65" charset="-120"/>
              </a:rPr>
              <a:t>Save</a:t>
            </a:r>
            <a:endParaRPr lang="zh-TW" altLang="en-US" b="1" dirty="0">
              <a:solidFill>
                <a:srgbClr val="FF0000"/>
              </a:solidFill>
              <a:latin typeface="標楷體" pitchFamily="65" charset="-120"/>
              <a:ea typeface="標楷體" pitchFamily="65" charset="-120"/>
            </a:endParaRPr>
          </a:p>
        </p:txBody>
      </p:sp>
      <p:cxnSp>
        <p:nvCxnSpPr>
          <p:cNvPr id="11" name="直線單箭頭接點 10">
            <a:extLst>
              <a:ext uri="{FF2B5EF4-FFF2-40B4-BE49-F238E27FC236}">
                <a16:creationId xmlns:a16="http://schemas.microsoft.com/office/drawing/2014/main" id="{D9495EB9-E28E-440C-B039-27D1D4D009C8}"/>
              </a:ext>
            </a:extLst>
          </p:cNvPr>
          <p:cNvCxnSpPr>
            <a:cxnSpLocks noChangeShapeType="1"/>
          </p:cNvCxnSpPr>
          <p:nvPr/>
        </p:nvCxnSpPr>
        <p:spPr bwMode="auto">
          <a:xfrm flipH="1">
            <a:off x="4692254" y="2559844"/>
            <a:ext cx="1200150" cy="0"/>
          </a:xfrm>
          <a:prstGeom prst="straightConnector1">
            <a:avLst/>
          </a:prstGeom>
          <a:noFill/>
          <a:ln w="3810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12" name="文字方塊 11">
            <a:extLst>
              <a:ext uri="{FF2B5EF4-FFF2-40B4-BE49-F238E27FC236}">
                <a16:creationId xmlns:a16="http://schemas.microsoft.com/office/drawing/2014/main" id="{0240863A-2AAF-47D3-9FD1-9F307C7E234F}"/>
              </a:ext>
            </a:extLst>
          </p:cNvPr>
          <p:cNvSpPr txBox="1"/>
          <p:nvPr/>
        </p:nvSpPr>
        <p:spPr>
          <a:xfrm>
            <a:off x="5915025" y="2400300"/>
            <a:ext cx="942975" cy="369332"/>
          </a:xfrm>
          <a:prstGeom prst="rect">
            <a:avLst/>
          </a:prstGeom>
          <a:solidFill>
            <a:schemeClr val="accent2">
              <a:lumMod val="40000"/>
              <a:lumOff val="60000"/>
            </a:schemeClr>
          </a:solidFill>
          <a:ln>
            <a:solidFill>
              <a:schemeClr val="bg1">
                <a:lumMod val="75000"/>
              </a:schemeClr>
            </a:solidFill>
          </a:ln>
        </p:spPr>
        <p:txBody>
          <a:bodyPr wrap="square">
            <a:spAutoFit/>
          </a:bodyPr>
          <a:lstStyle/>
          <a:p>
            <a:pPr>
              <a:defRPr/>
            </a:pPr>
            <a:r>
              <a:rPr lang="en-US" altLang="zh-TW" b="1" dirty="0">
                <a:solidFill>
                  <a:srgbClr val="FF0000"/>
                </a:solidFill>
                <a:latin typeface="標楷體" pitchFamily="65" charset="-120"/>
                <a:ea typeface="標楷體" pitchFamily="65" charset="-120"/>
              </a:rPr>
              <a:t>Save</a:t>
            </a:r>
            <a:endParaRPr lang="zh-TW" altLang="en-US" b="1" dirty="0">
              <a:solidFill>
                <a:srgbClr val="FF0000"/>
              </a:solidFill>
              <a:latin typeface="標楷體" pitchFamily="65" charset="-120"/>
              <a:ea typeface="標楷體" pitchFamily="65" charset="-120"/>
            </a:endParaRPr>
          </a:p>
        </p:txBody>
      </p:sp>
      <p:cxnSp>
        <p:nvCxnSpPr>
          <p:cNvPr id="13" name="直線單箭頭接點 12">
            <a:extLst>
              <a:ext uri="{FF2B5EF4-FFF2-40B4-BE49-F238E27FC236}">
                <a16:creationId xmlns:a16="http://schemas.microsoft.com/office/drawing/2014/main" id="{D7934009-7DB7-4555-804D-903D22B66779}"/>
              </a:ext>
            </a:extLst>
          </p:cNvPr>
          <p:cNvCxnSpPr>
            <a:cxnSpLocks noChangeShapeType="1"/>
          </p:cNvCxnSpPr>
          <p:nvPr/>
        </p:nvCxnSpPr>
        <p:spPr bwMode="auto">
          <a:xfrm flipH="1">
            <a:off x="4692254" y="3200400"/>
            <a:ext cx="1200150" cy="0"/>
          </a:xfrm>
          <a:prstGeom prst="straightConnector1">
            <a:avLst/>
          </a:prstGeom>
          <a:noFill/>
          <a:ln w="3810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14" name="文字方塊 13">
            <a:extLst>
              <a:ext uri="{FF2B5EF4-FFF2-40B4-BE49-F238E27FC236}">
                <a16:creationId xmlns:a16="http://schemas.microsoft.com/office/drawing/2014/main" id="{D2097CAC-7815-4457-BAEA-A4EBD74CC29A}"/>
              </a:ext>
            </a:extLst>
          </p:cNvPr>
          <p:cNvSpPr txBox="1"/>
          <p:nvPr/>
        </p:nvSpPr>
        <p:spPr>
          <a:xfrm>
            <a:off x="5915025" y="3025100"/>
            <a:ext cx="851296" cy="369332"/>
          </a:xfrm>
          <a:prstGeom prst="rect">
            <a:avLst/>
          </a:prstGeom>
          <a:solidFill>
            <a:schemeClr val="accent2">
              <a:lumMod val="40000"/>
              <a:lumOff val="60000"/>
            </a:schemeClr>
          </a:solidFill>
          <a:ln>
            <a:solidFill>
              <a:schemeClr val="bg1">
                <a:lumMod val="75000"/>
              </a:schemeClr>
            </a:solidFill>
          </a:ln>
        </p:spPr>
        <p:txBody>
          <a:bodyPr wrap="square">
            <a:spAutoFit/>
          </a:bodyPr>
          <a:lstStyle/>
          <a:p>
            <a:pPr>
              <a:defRPr/>
            </a:pPr>
            <a:r>
              <a:rPr lang="en-US" altLang="zh-TW" b="1" dirty="0">
                <a:solidFill>
                  <a:srgbClr val="FF0000"/>
                </a:solidFill>
                <a:latin typeface="標楷體" pitchFamily="65" charset="-120"/>
                <a:ea typeface="標楷體" pitchFamily="65" charset="-120"/>
              </a:rPr>
              <a:t>Save</a:t>
            </a:r>
            <a:endParaRPr lang="zh-TW" altLang="en-US" b="1" dirty="0">
              <a:solidFill>
                <a:srgbClr val="FF0000"/>
              </a:solidFill>
              <a:latin typeface="標楷體" pitchFamily="65" charset="-120"/>
              <a:ea typeface="標楷體" pitchFamily="65" charset="-120"/>
            </a:endParaRPr>
          </a:p>
        </p:txBody>
      </p:sp>
      <p:cxnSp>
        <p:nvCxnSpPr>
          <p:cNvPr id="15" name="直線單箭頭接點 14">
            <a:extLst>
              <a:ext uri="{FF2B5EF4-FFF2-40B4-BE49-F238E27FC236}">
                <a16:creationId xmlns:a16="http://schemas.microsoft.com/office/drawing/2014/main" id="{DC848DAB-3D8D-432B-B4B0-8193D57B6420}"/>
              </a:ext>
            </a:extLst>
          </p:cNvPr>
          <p:cNvCxnSpPr>
            <a:cxnSpLocks noChangeShapeType="1"/>
          </p:cNvCxnSpPr>
          <p:nvPr/>
        </p:nvCxnSpPr>
        <p:spPr bwMode="auto">
          <a:xfrm flipH="1" flipV="1">
            <a:off x="4792266" y="2312194"/>
            <a:ext cx="979884" cy="2381"/>
          </a:xfrm>
          <a:prstGeom prst="straightConnector1">
            <a:avLst/>
          </a:prstGeom>
          <a:noFill/>
          <a:ln w="38100" algn="ctr">
            <a:solidFill>
              <a:srgbClr val="FF0000"/>
            </a:solidFill>
            <a:round/>
            <a:headEnd type="stealth" w="lg" len="lg"/>
            <a:tailEnd/>
          </a:ln>
          <a:extLst>
            <a:ext uri="{909E8E84-426E-40DD-AFC4-6F175D3DCCD1}">
              <a14:hiddenFill xmlns:a14="http://schemas.microsoft.com/office/drawing/2010/main">
                <a:noFill/>
              </a14:hiddenFill>
            </a:ext>
          </a:extLst>
        </p:spPr>
      </p:cxnSp>
      <p:sp>
        <p:nvSpPr>
          <p:cNvPr id="16" name="文字方塊 15">
            <a:extLst>
              <a:ext uri="{FF2B5EF4-FFF2-40B4-BE49-F238E27FC236}">
                <a16:creationId xmlns:a16="http://schemas.microsoft.com/office/drawing/2014/main" id="{75F65BA3-9857-4AEC-9FD9-22894707240A}"/>
              </a:ext>
            </a:extLst>
          </p:cNvPr>
          <p:cNvSpPr txBox="1"/>
          <p:nvPr/>
        </p:nvSpPr>
        <p:spPr>
          <a:xfrm>
            <a:off x="3462933" y="2151205"/>
            <a:ext cx="1343025" cy="369332"/>
          </a:xfrm>
          <a:prstGeom prst="rect">
            <a:avLst/>
          </a:prstGeom>
          <a:solidFill>
            <a:schemeClr val="accent1">
              <a:lumMod val="40000"/>
              <a:lumOff val="60000"/>
            </a:schemeClr>
          </a:solidFill>
          <a:ln>
            <a:solidFill>
              <a:schemeClr val="bg1">
                <a:lumMod val="75000"/>
              </a:schemeClr>
            </a:solidFill>
          </a:ln>
        </p:spPr>
        <p:txBody>
          <a:bodyPr wrap="square">
            <a:spAutoFit/>
          </a:bodyPr>
          <a:lstStyle/>
          <a:p>
            <a:pPr>
              <a:defRPr/>
            </a:pPr>
            <a:r>
              <a:rPr lang="en-US" altLang="zh-TW" b="1" dirty="0">
                <a:solidFill>
                  <a:srgbClr val="FF0000"/>
                </a:solidFill>
                <a:latin typeface="標楷體" pitchFamily="65" charset="-120"/>
                <a:ea typeface="標楷體" pitchFamily="65" charset="-120"/>
              </a:rPr>
              <a:t>Restore</a:t>
            </a:r>
            <a:endParaRPr lang="zh-TW" altLang="en-US" b="1" dirty="0">
              <a:solidFill>
                <a:srgbClr val="FF0000"/>
              </a:solidFill>
              <a:latin typeface="標楷體" pitchFamily="65" charset="-120"/>
              <a:ea typeface="標楷體" pitchFamily="65" charset="-120"/>
            </a:endParaRPr>
          </a:p>
        </p:txBody>
      </p:sp>
      <p:cxnSp>
        <p:nvCxnSpPr>
          <p:cNvPr id="20" name="直線單箭頭接點 19">
            <a:extLst>
              <a:ext uri="{FF2B5EF4-FFF2-40B4-BE49-F238E27FC236}">
                <a16:creationId xmlns:a16="http://schemas.microsoft.com/office/drawing/2014/main" id="{D6DE84E3-B604-4432-9ACC-78A9671A35FB}"/>
              </a:ext>
            </a:extLst>
          </p:cNvPr>
          <p:cNvCxnSpPr>
            <a:cxnSpLocks noChangeShapeType="1"/>
          </p:cNvCxnSpPr>
          <p:nvPr/>
        </p:nvCxnSpPr>
        <p:spPr bwMode="auto">
          <a:xfrm flipH="1" flipV="1">
            <a:off x="4663679" y="2971801"/>
            <a:ext cx="979884" cy="2381"/>
          </a:xfrm>
          <a:prstGeom prst="straightConnector1">
            <a:avLst/>
          </a:prstGeom>
          <a:noFill/>
          <a:ln w="38100" algn="ctr">
            <a:solidFill>
              <a:srgbClr val="FF0000"/>
            </a:solidFill>
            <a:round/>
            <a:headEnd type="stealth" w="lg" len="lg"/>
            <a:tailEnd/>
          </a:ln>
          <a:extLst>
            <a:ext uri="{909E8E84-426E-40DD-AFC4-6F175D3DCCD1}">
              <a14:hiddenFill xmlns:a14="http://schemas.microsoft.com/office/drawing/2010/main">
                <a:noFill/>
              </a14:hiddenFill>
            </a:ext>
          </a:extLst>
        </p:spPr>
      </p:cxnSp>
      <p:sp>
        <p:nvSpPr>
          <p:cNvPr id="21" name="文字方塊 20">
            <a:extLst>
              <a:ext uri="{FF2B5EF4-FFF2-40B4-BE49-F238E27FC236}">
                <a16:creationId xmlns:a16="http://schemas.microsoft.com/office/drawing/2014/main" id="{9FDE1F69-C2F3-46DE-BB49-EA77A711B76D}"/>
              </a:ext>
            </a:extLst>
          </p:cNvPr>
          <p:cNvSpPr txBox="1"/>
          <p:nvPr/>
        </p:nvSpPr>
        <p:spPr>
          <a:xfrm>
            <a:off x="3432403" y="2793465"/>
            <a:ext cx="1200149" cy="369332"/>
          </a:xfrm>
          <a:prstGeom prst="rect">
            <a:avLst/>
          </a:prstGeom>
          <a:solidFill>
            <a:schemeClr val="accent1">
              <a:lumMod val="40000"/>
              <a:lumOff val="60000"/>
            </a:schemeClr>
          </a:solidFill>
          <a:ln>
            <a:solidFill>
              <a:schemeClr val="bg1">
                <a:lumMod val="75000"/>
              </a:schemeClr>
            </a:solidFill>
          </a:ln>
        </p:spPr>
        <p:txBody>
          <a:bodyPr wrap="square">
            <a:spAutoFit/>
          </a:bodyPr>
          <a:lstStyle/>
          <a:p>
            <a:pPr>
              <a:defRPr/>
            </a:pPr>
            <a:r>
              <a:rPr lang="en-US" altLang="zh-TW" b="1" dirty="0">
                <a:solidFill>
                  <a:srgbClr val="FF0000"/>
                </a:solidFill>
                <a:latin typeface="標楷體" pitchFamily="65" charset="-120"/>
                <a:ea typeface="標楷體" pitchFamily="65" charset="-120"/>
              </a:rPr>
              <a:t>Restore</a:t>
            </a:r>
            <a:endParaRPr lang="zh-TW" altLang="en-US" b="1" dirty="0">
              <a:solidFill>
                <a:srgbClr val="FF0000"/>
              </a:solidFill>
              <a:latin typeface="標楷體" pitchFamily="65" charset="-120"/>
              <a:ea typeface="標楷體" pitchFamily="65" charset="-120"/>
            </a:endParaRPr>
          </a:p>
        </p:txBody>
      </p:sp>
      <p:cxnSp>
        <p:nvCxnSpPr>
          <p:cNvPr id="25" name="直線單箭頭接點 24">
            <a:extLst>
              <a:ext uri="{FF2B5EF4-FFF2-40B4-BE49-F238E27FC236}">
                <a16:creationId xmlns:a16="http://schemas.microsoft.com/office/drawing/2014/main" id="{50394938-F03B-498D-A8E5-AD15FCCDDC73}"/>
              </a:ext>
            </a:extLst>
          </p:cNvPr>
          <p:cNvCxnSpPr>
            <a:cxnSpLocks noChangeShapeType="1"/>
          </p:cNvCxnSpPr>
          <p:nvPr/>
        </p:nvCxnSpPr>
        <p:spPr bwMode="auto">
          <a:xfrm flipH="1" flipV="1">
            <a:off x="4563666" y="3542110"/>
            <a:ext cx="979884" cy="2381"/>
          </a:xfrm>
          <a:prstGeom prst="straightConnector1">
            <a:avLst/>
          </a:prstGeom>
          <a:noFill/>
          <a:ln w="38100" algn="ctr">
            <a:solidFill>
              <a:srgbClr val="FF0000"/>
            </a:solidFill>
            <a:round/>
            <a:headEnd type="stealth" w="lg" len="lg"/>
            <a:tailEnd/>
          </a:ln>
          <a:extLst>
            <a:ext uri="{909E8E84-426E-40DD-AFC4-6F175D3DCCD1}">
              <a14:hiddenFill xmlns:a14="http://schemas.microsoft.com/office/drawing/2010/main">
                <a:noFill/>
              </a14:hiddenFill>
            </a:ext>
          </a:extLst>
        </p:spPr>
      </p:cxnSp>
      <p:sp>
        <p:nvSpPr>
          <p:cNvPr id="26" name="文字方塊 25">
            <a:extLst>
              <a:ext uri="{FF2B5EF4-FFF2-40B4-BE49-F238E27FC236}">
                <a16:creationId xmlns:a16="http://schemas.microsoft.com/office/drawing/2014/main" id="{1F70AE19-90BF-4F65-BEFF-ECA9191B4939}"/>
              </a:ext>
            </a:extLst>
          </p:cNvPr>
          <p:cNvSpPr txBox="1"/>
          <p:nvPr/>
        </p:nvSpPr>
        <p:spPr>
          <a:xfrm>
            <a:off x="3365104" y="3460314"/>
            <a:ext cx="1200149" cy="369332"/>
          </a:xfrm>
          <a:prstGeom prst="rect">
            <a:avLst/>
          </a:prstGeom>
          <a:solidFill>
            <a:schemeClr val="accent1">
              <a:lumMod val="40000"/>
              <a:lumOff val="60000"/>
            </a:schemeClr>
          </a:solidFill>
          <a:ln>
            <a:solidFill>
              <a:schemeClr val="bg1">
                <a:lumMod val="75000"/>
              </a:schemeClr>
            </a:solidFill>
          </a:ln>
        </p:spPr>
        <p:txBody>
          <a:bodyPr wrap="square">
            <a:spAutoFit/>
          </a:bodyPr>
          <a:lstStyle/>
          <a:p>
            <a:pPr>
              <a:defRPr/>
            </a:pPr>
            <a:r>
              <a:rPr lang="en-US" altLang="zh-TW" b="1" dirty="0">
                <a:solidFill>
                  <a:srgbClr val="FF0000"/>
                </a:solidFill>
                <a:latin typeface="標楷體" pitchFamily="65" charset="-120"/>
                <a:ea typeface="標楷體" pitchFamily="65" charset="-120"/>
              </a:rPr>
              <a:t>Restore</a:t>
            </a:r>
            <a:endParaRPr lang="zh-TW" altLang="en-US" b="1" dirty="0">
              <a:solidFill>
                <a:srgbClr val="FF0000"/>
              </a:solidFill>
              <a:latin typeface="標楷體" pitchFamily="65" charset="-120"/>
              <a:ea typeface="標楷體" pitchFamily="65" charset="-120"/>
            </a:endParaRPr>
          </a:p>
        </p:txBody>
      </p:sp>
      <p:sp>
        <p:nvSpPr>
          <p:cNvPr id="21523" name="矩形 16">
            <a:extLst>
              <a:ext uri="{FF2B5EF4-FFF2-40B4-BE49-F238E27FC236}">
                <a16:creationId xmlns:a16="http://schemas.microsoft.com/office/drawing/2014/main" id="{E8258CC0-4FBC-41B4-B2EB-0CE7678DA68A}"/>
              </a:ext>
            </a:extLst>
          </p:cNvPr>
          <p:cNvSpPr>
            <a:spLocks noChangeArrowheads="1"/>
          </p:cNvSpPr>
          <p:nvPr/>
        </p:nvSpPr>
        <p:spPr bwMode="auto">
          <a:xfrm>
            <a:off x="4416028" y="2433637"/>
            <a:ext cx="35779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zh-TW" altLang="en-US" sz="1350">
                <a:ea typeface="新細明體" panose="02020500000000000000" pitchFamily="18" charset="-120"/>
              </a:rPr>
              <a:t>＂</a:t>
            </a:r>
          </a:p>
        </p:txBody>
      </p:sp>
      <p:sp>
        <p:nvSpPr>
          <p:cNvPr id="28" name="文字方塊 27">
            <a:extLst>
              <a:ext uri="{FF2B5EF4-FFF2-40B4-BE49-F238E27FC236}">
                <a16:creationId xmlns:a16="http://schemas.microsoft.com/office/drawing/2014/main" id="{EA9DD2EF-38C6-4B2B-9C2D-2CAE533D81A7}"/>
              </a:ext>
            </a:extLst>
          </p:cNvPr>
          <p:cNvSpPr txBox="1"/>
          <p:nvPr/>
        </p:nvSpPr>
        <p:spPr>
          <a:xfrm>
            <a:off x="4310063" y="4114800"/>
            <a:ext cx="2182416" cy="461665"/>
          </a:xfrm>
          <a:prstGeom prst="rect">
            <a:avLst/>
          </a:prstGeom>
          <a:solidFill>
            <a:schemeClr val="accent1">
              <a:lumMod val="40000"/>
              <a:lumOff val="60000"/>
            </a:schemeClr>
          </a:solidFill>
          <a:ln>
            <a:solidFill>
              <a:schemeClr val="bg1">
                <a:lumMod val="75000"/>
              </a:schemeClr>
            </a:solidFill>
          </a:ln>
        </p:spPr>
        <p:txBody>
          <a:bodyPr>
            <a:spAutoFit/>
          </a:bodyPr>
          <a:lstStyle/>
          <a:p>
            <a:pPr>
              <a:defRPr/>
            </a:pPr>
            <a:r>
              <a:rPr lang="en-US" altLang="zh-TW" b="1" dirty="0">
                <a:solidFill>
                  <a:srgbClr val="FF0000"/>
                </a:solidFill>
                <a:latin typeface="標楷體" pitchFamily="65" charset="-120"/>
                <a:ea typeface="標楷體" pitchFamily="65" charset="-120"/>
              </a:rPr>
              <a:t>Total Cost: </a:t>
            </a:r>
            <a:r>
              <a:rPr lang="en-US" altLang="zh-TW" sz="2400" b="1" dirty="0">
                <a:solidFill>
                  <a:srgbClr val="FF0000"/>
                </a:solidFill>
                <a:latin typeface="標楷體" pitchFamily="65" charset="-120"/>
                <a:ea typeface="標楷體" pitchFamily="65" charset="-120"/>
              </a:rPr>
              <a:t>6</a:t>
            </a:r>
            <a:r>
              <a:rPr lang="en-US" altLang="zh-TW" b="1" dirty="0">
                <a:solidFill>
                  <a:srgbClr val="FF0000"/>
                </a:solidFill>
                <a:latin typeface="標楷體" pitchFamily="65" charset="-120"/>
                <a:ea typeface="標楷體" pitchFamily="65" charset="-120"/>
              </a:rPr>
              <a:t> </a:t>
            </a:r>
            <a:endParaRPr lang="zh-TW" altLang="en-US" b="1" dirty="0">
              <a:solidFill>
                <a:srgbClr val="FF0000"/>
              </a:solidFill>
              <a:latin typeface="標楷體" pitchFamily="65" charset="-120"/>
              <a:ea typeface="標楷體" pitchFamily="65" charset="-12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4" grpId="0" animBg="1"/>
      <p:bldP spid="16" grpId="0" animBg="1"/>
      <p:bldP spid="21" grpId="0" animBg="1"/>
      <p:bldP spid="26" grpId="0" animBg="1"/>
      <p:bldP spid="2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618BFF2C-1921-4DCC-B977-A14D32FF91A2}"/>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80BE8DCD-C298-4BB5-B18B-8D11963B5ED3}"/>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A9495F97-7C63-4C91-8ACE-9D134A42DCC3}" type="slidenum">
              <a:rPr lang="zh-TW" altLang="en-US" sz="900"/>
              <a:pPr>
                <a:spcBef>
                  <a:spcPct val="0"/>
                </a:spcBef>
                <a:buClrTx/>
                <a:buSzTx/>
                <a:buFontTx/>
                <a:buNone/>
              </a:pPr>
              <a:t>19</a:t>
            </a:fld>
            <a:endParaRPr lang="en-US" altLang="zh-TW" sz="900"/>
          </a:p>
        </p:txBody>
      </p:sp>
      <p:sp>
        <p:nvSpPr>
          <p:cNvPr id="5" name="Rectangle 2">
            <a:extLst>
              <a:ext uri="{FF2B5EF4-FFF2-40B4-BE49-F238E27FC236}">
                <a16:creationId xmlns:a16="http://schemas.microsoft.com/office/drawing/2014/main" id="{B4D9A743-A276-4823-91D7-5F494DBAD675}"/>
              </a:ext>
            </a:extLst>
          </p:cNvPr>
          <p:cNvSpPr txBox="1">
            <a:spLocks noChangeArrowheads="1"/>
          </p:cNvSpPr>
          <p:nvPr/>
        </p:nvSpPr>
        <p:spPr bwMode="auto">
          <a:xfrm>
            <a:off x="1028700" y="-97899"/>
            <a:ext cx="6400800" cy="68580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300" dirty="0">
                <a:ea typeface="新細明體" pitchFamily="18" charset="-120"/>
              </a:rPr>
              <a:t>Caller or </a:t>
            </a:r>
            <a:r>
              <a:rPr lang="en-US" altLang="zh-TW" sz="3300" dirty="0" err="1">
                <a:ea typeface="新細明體" pitchFamily="18" charset="-120"/>
              </a:rPr>
              <a:t>Callee</a:t>
            </a:r>
            <a:r>
              <a:rPr lang="en-US" altLang="zh-TW" sz="3300" dirty="0">
                <a:ea typeface="新細明體" pitchFamily="18" charset="-120"/>
              </a:rPr>
              <a:t> Save Registers?</a:t>
            </a:r>
          </a:p>
        </p:txBody>
      </p:sp>
      <p:sp>
        <p:nvSpPr>
          <p:cNvPr id="22533" name="文字方塊 1">
            <a:extLst>
              <a:ext uri="{FF2B5EF4-FFF2-40B4-BE49-F238E27FC236}">
                <a16:creationId xmlns:a16="http://schemas.microsoft.com/office/drawing/2014/main" id="{6F950AA0-B392-4D82-ACC0-2F162061F147}"/>
              </a:ext>
            </a:extLst>
          </p:cNvPr>
          <p:cNvSpPr txBox="1">
            <a:spLocks noChangeArrowheads="1"/>
          </p:cNvSpPr>
          <p:nvPr/>
        </p:nvSpPr>
        <p:spPr bwMode="auto">
          <a:xfrm>
            <a:off x="1543050" y="908447"/>
            <a:ext cx="2286000" cy="3647152"/>
          </a:xfrm>
          <a:prstGeom prst="rect">
            <a:avLst/>
          </a:prstGeom>
          <a:solidFill>
            <a:srgbClr val="FFC000"/>
          </a:solidFill>
          <a:ln w="9525">
            <a:solidFill>
              <a:srgbClr val="FF0000"/>
            </a:solidFill>
            <a:miter lim="800000"/>
            <a:headEnd/>
            <a:tailEnd/>
          </a:ln>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100" b="1">
                <a:solidFill>
                  <a:srgbClr val="2929FF"/>
                </a:solidFill>
                <a:ea typeface="新細明體" panose="02020500000000000000" pitchFamily="18" charset="-120"/>
              </a:rPr>
              <a:t>Function A ()</a:t>
            </a:r>
          </a:p>
          <a:p>
            <a:pPr>
              <a:spcBef>
                <a:spcPct val="0"/>
              </a:spcBef>
              <a:buClrTx/>
              <a:buSzTx/>
              <a:buFontTx/>
              <a:buNone/>
            </a:pPr>
            <a:endParaRPr lang="en-US" altLang="zh-TW" sz="2100" b="1">
              <a:solidFill>
                <a:srgbClr val="2929FF"/>
              </a:solidFill>
              <a:ea typeface="新細明體" panose="02020500000000000000" pitchFamily="18" charset="-120"/>
            </a:endParaRPr>
          </a:p>
          <a:p>
            <a:pPr>
              <a:spcBef>
                <a:spcPct val="0"/>
              </a:spcBef>
              <a:buClrTx/>
              <a:buSzTx/>
              <a:buFontTx/>
              <a:buNone/>
            </a:pPr>
            <a:r>
              <a:rPr lang="en-US" altLang="zh-TW" sz="2100" b="1">
                <a:solidFill>
                  <a:srgbClr val="2929FF"/>
                </a:solidFill>
                <a:ea typeface="新細明體" panose="02020500000000000000" pitchFamily="18" charset="-120"/>
              </a:rPr>
              <a:t>$X1 = a*b;</a:t>
            </a:r>
          </a:p>
          <a:p>
            <a:pPr>
              <a:spcBef>
                <a:spcPct val="0"/>
              </a:spcBef>
              <a:buClrTx/>
              <a:buSzTx/>
              <a:buFontTx/>
              <a:buNone/>
            </a:pPr>
            <a:r>
              <a:rPr lang="en-US" altLang="zh-TW" sz="2100" b="1">
                <a:solidFill>
                  <a:srgbClr val="2929FF"/>
                </a:solidFill>
                <a:ea typeface="新細明體" panose="02020500000000000000" pitchFamily="18" charset="-120"/>
              </a:rPr>
              <a:t>… = B(1,2,3);</a:t>
            </a:r>
          </a:p>
          <a:p>
            <a:pPr>
              <a:spcBef>
                <a:spcPct val="0"/>
              </a:spcBef>
              <a:buClrTx/>
              <a:buSzTx/>
              <a:buFontTx/>
              <a:buNone/>
            </a:pPr>
            <a:r>
              <a:rPr lang="en-US" altLang="zh-TW" sz="2100" b="1">
                <a:solidFill>
                  <a:srgbClr val="2929FF"/>
                </a:solidFill>
                <a:ea typeface="新細明體" panose="02020500000000000000" pitchFamily="18" charset="-120"/>
              </a:rPr>
              <a:t>…</a:t>
            </a:r>
          </a:p>
          <a:p>
            <a:pPr>
              <a:spcBef>
                <a:spcPct val="0"/>
              </a:spcBef>
              <a:buClrTx/>
              <a:buSzTx/>
              <a:buFontTx/>
              <a:buNone/>
            </a:pPr>
            <a:r>
              <a:rPr lang="en-US" altLang="zh-TW" sz="2100" b="1">
                <a:solidFill>
                  <a:srgbClr val="2929FF"/>
                </a:solidFill>
                <a:ea typeface="新細明體" panose="02020500000000000000" pitchFamily="18" charset="-120"/>
              </a:rPr>
              <a:t>… = C(4,a);</a:t>
            </a:r>
          </a:p>
          <a:p>
            <a:pPr>
              <a:spcBef>
                <a:spcPct val="0"/>
              </a:spcBef>
              <a:buClrTx/>
              <a:buSzTx/>
              <a:buFontTx/>
              <a:buNone/>
            </a:pPr>
            <a:r>
              <a:rPr lang="en-US" altLang="zh-TW" sz="2100" b="1">
                <a:solidFill>
                  <a:srgbClr val="2929FF"/>
                </a:solidFill>
                <a:ea typeface="新細明體" panose="02020500000000000000" pitchFamily="18" charset="-120"/>
              </a:rPr>
              <a:t>…</a:t>
            </a:r>
          </a:p>
          <a:p>
            <a:pPr>
              <a:spcBef>
                <a:spcPct val="0"/>
              </a:spcBef>
              <a:buClrTx/>
              <a:buSzTx/>
              <a:buFontTx/>
              <a:buNone/>
            </a:pPr>
            <a:r>
              <a:rPr lang="en-US" altLang="zh-TW" sz="2100" b="1">
                <a:solidFill>
                  <a:srgbClr val="2929FF"/>
                </a:solidFill>
                <a:ea typeface="新細明體" panose="02020500000000000000" pitchFamily="18" charset="-120"/>
              </a:rPr>
              <a:t>… = D(x,y);</a:t>
            </a:r>
          </a:p>
          <a:p>
            <a:pPr>
              <a:spcBef>
                <a:spcPct val="0"/>
              </a:spcBef>
              <a:buClrTx/>
              <a:buSzTx/>
              <a:buFontTx/>
              <a:buNone/>
            </a:pPr>
            <a:r>
              <a:rPr lang="en-US" altLang="zh-TW" sz="2100" b="1">
                <a:solidFill>
                  <a:srgbClr val="2929FF"/>
                </a:solidFill>
                <a:ea typeface="新細明體" panose="02020500000000000000" pitchFamily="18" charset="-120"/>
              </a:rPr>
              <a:t>… = $X1;</a:t>
            </a:r>
          </a:p>
          <a:p>
            <a:pPr>
              <a:spcBef>
                <a:spcPct val="0"/>
              </a:spcBef>
              <a:buClrTx/>
              <a:buSzTx/>
              <a:buFontTx/>
              <a:buNone/>
            </a:pPr>
            <a:endParaRPr lang="en-US" altLang="zh-TW" sz="2100" b="1">
              <a:solidFill>
                <a:srgbClr val="2929FF"/>
              </a:solidFill>
              <a:ea typeface="新細明體" panose="02020500000000000000" pitchFamily="18" charset="-120"/>
            </a:endParaRPr>
          </a:p>
          <a:p>
            <a:pPr>
              <a:spcBef>
                <a:spcPct val="0"/>
              </a:spcBef>
              <a:buClrTx/>
              <a:buSzTx/>
              <a:buFontTx/>
              <a:buNone/>
            </a:pPr>
            <a:r>
              <a:rPr lang="en-US" altLang="zh-TW" sz="2100" b="1">
                <a:solidFill>
                  <a:srgbClr val="2929FF"/>
                </a:solidFill>
                <a:ea typeface="新細明體" panose="02020500000000000000" pitchFamily="18" charset="-120"/>
              </a:rPr>
              <a:t>return</a:t>
            </a:r>
            <a:endParaRPr lang="zh-TW" altLang="en-US" sz="2100" b="1">
              <a:solidFill>
                <a:srgbClr val="2929FF"/>
              </a:solidFill>
              <a:ea typeface="新細明體" panose="02020500000000000000" pitchFamily="18" charset="-120"/>
            </a:endParaRPr>
          </a:p>
        </p:txBody>
      </p:sp>
      <p:sp>
        <p:nvSpPr>
          <p:cNvPr id="22534" name="文字方塊 5">
            <a:extLst>
              <a:ext uri="{FF2B5EF4-FFF2-40B4-BE49-F238E27FC236}">
                <a16:creationId xmlns:a16="http://schemas.microsoft.com/office/drawing/2014/main" id="{712C950D-E1E4-449F-A413-EA672F67D7C2}"/>
              </a:ext>
            </a:extLst>
          </p:cNvPr>
          <p:cNvSpPr txBox="1">
            <a:spLocks noChangeArrowheads="1"/>
          </p:cNvSpPr>
          <p:nvPr/>
        </p:nvSpPr>
        <p:spPr bwMode="auto">
          <a:xfrm>
            <a:off x="4229100" y="920354"/>
            <a:ext cx="2286000" cy="3647152"/>
          </a:xfrm>
          <a:prstGeom prst="rect">
            <a:avLst/>
          </a:prstGeom>
          <a:solidFill>
            <a:srgbClr val="FFC000"/>
          </a:solidFill>
          <a:ln w="9525">
            <a:solidFill>
              <a:srgbClr val="FF0000"/>
            </a:solidFill>
            <a:miter lim="800000"/>
            <a:headEnd/>
            <a:tailEnd/>
          </a:ln>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100" b="1">
                <a:solidFill>
                  <a:srgbClr val="2929FF"/>
                </a:solidFill>
                <a:ea typeface="新細明體" panose="02020500000000000000" pitchFamily="18" charset="-120"/>
              </a:rPr>
              <a:t>Callee Save</a:t>
            </a:r>
          </a:p>
          <a:p>
            <a:pPr>
              <a:spcBef>
                <a:spcPct val="0"/>
              </a:spcBef>
              <a:buClrTx/>
              <a:buSzTx/>
              <a:buFontTx/>
              <a:buNone/>
            </a:pPr>
            <a:endParaRPr lang="en-US" altLang="zh-TW" sz="2100" b="1">
              <a:solidFill>
                <a:srgbClr val="2929FF"/>
              </a:solidFill>
              <a:ea typeface="新細明體" panose="02020500000000000000" pitchFamily="18" charset="-120"/>
            </a:endParaRPr>
          </a:p>
          <a:p>
            <a:pPr>
              <a:spcBef>
                <a:spcPct val="0"/>
              </a:spcBef>
              <a:buClrTx/>
              <a:buSzTx/>
              <a:buFontTx/>
              <a:buNone/>
            </a:pPr>
            <a:r>
              <a:rPr lang="en-US" altLang="zh-TW" sz="2100" b="1">
                <a:solidFill>
                  <a:srgbClr val="2929FF"/>
                </a:solidFill>
                <a:ea typeface="新細明體" panose="02020500000000000000" pitchFamily="18" charset="-120"/>
              </a:rPr>
              <a:t>$S1 = a*b;</a:t>
            </a:r>
          </a:p>
          <a:p>
            <a:pPr>
              <a:spcBef>
                <a:spcPct val="0"/>
              </a:spcBef>
              <a:buClrTx/>
              <a:buSzTx/>
              <a:buFontTx/>
              <a:buNone/>
            </a:pPr>
            <a:r>
              <a:rPr lang="en-US" altLang="zh-TW" sz="2100" b="1">
                <a:solidFill>
                  <a:srgbClr val="2929FF"/>
                </a:solidFill>
                <a:ea typeface="新細明體" panose="02020500000000000000" pitchFamily="18" charset="-120"/>
              </a:rPr>
              <a:t>… = B(1,2,3);</a:t>
            </a:r>
          </a:p>
          <a:p>
            <a:pPr>
              <a:spcBef>
                <a:spcPct val="0"/>
              </a:spcBef>
              <a:buClrTx/>
              <a:buSzTx/>
              <a:buFontTx/>
              <a:buNone/>
            </a:pPr>
            <a:r>
              <a:rPr lang="en-US" altLang="zh-TW" sz="2100" b="1">
                <a:solidFill>
                  <a:srgbClr val="2929FF"/>
                </a:solidFill>
                <a:ea typeface="新細明體" panose="02020500000000000000" pitchFamily="18" charset="-120"/>
              </a:rPr>
              <a:t>…</a:t>
            </a:r>
          </a:p>
          <a:p>
            <a:pPr>
              <a:spcBef>
                <a:spcPct val="0"/>
              </a:spcBef>
              <a:buClrTx/>
              <a:buSzTx/>
              <a:buFontTx/>
              <a:buNone/>
            </a:pPr>
            <a:r>
              <a:rPr lang="en-US" altLang="zh-TW" sz="2100" b="1">
                <a:solidFill>
                  <a:srgbClr val="2929FF"/>
                </a:solidFill>
                <a:ea typeface="新細明體" panose="02020500000000000000" pitchFamily="18" charset="-120"/>
              </a:rPr>
              <a:t>… = C(4,a);</a:t>
            </a:r>
          </a:p>
          <a:p>
            <a:pPr>
              <a:spcBef>
                <a:spcPct val="0"/>
              </a:spcBef>
              <a:buClrTx/>
              <a:buSzTx/>
              <a:buFontTx/>
              <a:buNone/>
            </a:pPr>
            <a:r>
              <a:rPr lang="en-US" altLang="zh-TW" sz="2100" b="1">
                <a:solidFill>
                  <a:srgbClr val="2929FF"/>
                </a:solidFill>
                <a:ea typeface="新細明體" panose="02020500000000000000" pitchFamily="18" charset="-120"/>
              </a:rPr>
              <a:t>…</a:t>
            </a:r>
          </a:p>
          <a:p>
            <a:pPr>
              <a:spcBef>
                <a:spcPct val="0"/>
              </a:spcBef>
              <a:buClrTx/>
              <a:buSzTx/>
              <a:buFontTx/>
              <a:buNone/>
            </a:pPr>
            <a:r>
              <a:rPr lang="en-US" altLang="zh-TW" sz="2100" b="1">
                <a:solidFill>
                  <a:srgbClr val="2929FF"/>
                </a:solidFill>
                <a:ea typeface="新細明體" panose="02020500000000000000" pitchFamily="18" charset="-120"/>
              </a:rPr>
              <a:t>… = D(x,y);</a:t>
            </a:r>
          </a:p>
          <a:p>
            <a:pPr>
              <a:spcBef>
                <a:spcPct val="0"/>
              </a:spcBef>
              <a:buClrTx/>
              <a:buSzTx/>
              <a:buFontTx/>
              <a:buNone/>
            </a:pPr>
            <a:r>
              <a:rPr lang="en-US" altLang="zh-TW" sz="2100" b="1">
                <a:solidFill>
                  <a:srgbClr val="2929FF"/>
                </a:solidFill>
                <a:ea typeface="新細明體" panose="02020500000000000000" pitchFamily="18" charset="-120"/>
              </a:rPr>
              <a:t>… = $S1;</a:t>
            </a:r>
          </a:p>
          <a:p>
            <a:pPr>
              <a:spcBef>
                <a:spcPct val="0"/>
              </a:spcBef>
              <a:buClrTx/>
              <a:buSzTx/>
              <a:buFontTx/>
              <a:buNone/>
            </a:pPr>
            <a:endParaRPr lang="en-US" altLang="zh-TW" sz="2100" b="1">
              <a:solidFill>
                <a:srgbClr val="2929FF"/>
              </a:solidFill>
              <a:ea typeface="新細明體" panose="02020500000000000000" pitchFamily="18" charset="-120"/>
            </a:endParaRPr>
          </a:p>
          <a:p>
            <a:pPr>
              <a:spcBef>
                <a:spcPct val="0"/>
              </a:spcBef>
              <a:buClrTx/>
              <a:buSzTx/>
              <a:buFontTx/>
              <a:buNone/>
            </a:pPr>
            <a:endParaRPr lang="en-US" altLang="zh-TW" sz="2100" b="1">
              <a:solidFill>
                <a:srgbClr val="2929FF"/>
              </a:solidFill>
              <a:ea typeface="新細明體" panose="02020500000000000000" pitchFamily="18" charset="-120"/>
            </a:endParaRPr>
          </a:p>
        </p:txBody>
      </p:sp>
      <p:sp>
        <p:nvSpPr>
          <p:cNvPr id="28" name="文字方塊 27">
            <a:extLst>
              <a:ext uri="{FF2B5EF4-FFF2-40B4-BE49-F238E27FC236}">
                <a16:creationId xmlns:a16="http://schemas.microsoft.com/office/drawing/2014/main" id="{D4059AE9-866F-414B-898D-A71BE36C00DF}"/>
              </a:ext>
            </a:extLst>
          </p:cNvPr>
          <p:cNvSpPr txBox="1"/>
          <p:nvPr/>
        </p:nvSpPr>
        <p:spPr>
          <a:xfrm>
            <a:off x="4310063" y="4114800"/>
            <a:ext cx="2182416" cy="461665"/>
          </a:xfrm>
          <a:prstGeom prst="rect">
            <a:avLst/>
          </a:prstGeom>
          <a:solidFill>
            <a:schemeClr val="accent1">
              <a:lumMod val="40000"/>
              <a:lumOff val="60000"/>
            </a:schemeClr>
          </a:solidFill>
          <a:ln>
            <a:solidFill>
              <a:schemeClr val="bg1">
                <a:lumMod val="75000"/>
              </a:schemeClr>
            </a:solidFill>
          </a:ln>
        </p:spPr>
        <p:txBody>
          <a:bodyPr>
            <a:spAutoFit/>
          </a:bodyPr>
          <a:lstStyle/>
          <a:p>
            <a:pPr>
              <a:defRPr/>
            </a:pPr>
            <a:r>
              <a:rPr lang="en-US" altLang="zh-TW" b="1" dirty="0">
                <a:solidFill>
                  <a:srgbClr val="FF0000"/>
                </a:solidFill>
                <a:latin typeface="標楷體" pitchFamily="65" charset="-120"/>
                <a:ea typeface="標楷體" pitchFamily="65" charset="-120"/>
              </a:rPr>
              <a:t>Total Cost: </a:t>
            </a:r>
            <a:r>
              <a:rPr lang="en-US" altLang="zh-TW" sz="2400" b="1" dirty="0">
                <a:solidFill>
                  <a:srgbClr val="FF0000"/>
                </a:solidFill>
                <a:latin typeface="標楷體" pitchFamily="65" charset="-120"/>
                <a:ea typeface="標楷體" pitchFamily="65" charset="-120"/>
              </a:rPr>
              <a:t>2</a:t>
            </a:r>
            <a:r>
              <a:rPr lang="en-US" altLang="zh-TW" b="1" dirty="0">
                <a:solidFill>
                  <a:srgbClr val="FF0000"/>
                </a:solidFill>
                <a:latin typeface="標楷體" pitchFamily="65" charset="-120"/>
                <a:ea typeface="標楷體" pitchFamily="65" charset="-120"/>
              </a:rPr>
              <a:t> </a:t>
            </a:r>
            <a:endParaRPr lang="zh-TW" altLang="en-US" b="1" dirty="0">
              <a:solidFill>
                <a:srgbClr val="FF0000"/>
              </a:solidFill>
              <a:latin typeface="標楷體" pitchFamily="65" charset="-120"/>
              <a:ea typeface="標楷體" pitchFamily="65" charset="-120"/>
            </a:endParaRPr>
          </a:p>
        </p:txBody>
      </p:sp>
      <p:cxnSp>
        <p:nvCxnSpPr>
          <p:cNvPr id="22" name="直線單箭頭接點 21">
            <a:extLst>
              <a:ext uri="{FF2B5EF4-FFF2-40B4-BE49-F238E27FC236}">
                <a16:creationId xmlns:a16="http://schemas.microsoft.com/office/drawing/2014/main" id="{666226FC-D735-4317-A0D3-66659FCFE130}"/>
              </a:ext>
            </a:extLst>
          </p:cNvPr>
          <p:cNvCxnSpPr>
            <a:cxnSpLocks noChangeShapeType="1"/>
          </p:cNvCxnSpPr>
          <p:nvPr/>
        </p:nvCxnSpPr>
        <p:spPr bwMode="auto">
          <a:xfrm flipH="1">
            <a:off x="4710113" y="1359694"/>
            <a:ext cx="1200150" cy="0"/>
          </a:xfrm>
          <a:prstGeom prst="straightConnector1">
            <a:avLst/>
          </a:prstGeom>
          <a:noFill/>
          <a:ln w="3810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23" name="文字方塊 22">
            <a:extLst>
              <a:ext uri="{FF2B5EF4-FFF2-40B4-BE49-F238E27FC236}">
                <a16:creationId xmlns:a16="http://schemas.microsoft.com/office/drawing/2014/main" id="{88C09C3A-BA39-4AD0-AF52-45753D3393D9}"/>
              </a:ext>
            </a:extLst>
          </p:cNvPr>
          <p:cNvSpPr txBox="1"/>
          <p:nvPr/>
        </p:nvSpPr>
        <p:spPr>
          <a:xfrm>
            <a:off x="5932885" y="1085850"/>
            <a:ext cx="1200150" cy="369332"/>
          </a:xfrm>
          <a:prstGeom prst="rect">
            <a:avLst/>
          </a:prstGeom>
          <a:solidFill>
            <a:schemeClr val="accent2">
              <a:lumMod val="40000"/>
              <a:lumOff val="60000"/>
            </a:schemeClr>
          </a:solidFill>
          <a:ln>
            <a:solidFill>
              <a:schemeClr val="bg1">
                <a:lumMod val="75000"/>
              </a:schemeClr>
            </a:solidFill>
          </a:ln>
        </p:spPr>
        <p:txBody>
          <a:bodyPr wrap="square">
            <a:spAutoFit/>
          </a:bodyPr>
          <a:lstStyle/>
          <a:p>
            <a:pPr>
              <a:defRPr/>
            </a:pPr>
            <a:r>
              <a:rPr lang="en-US" altLang="zh-TW" b="1" dirty="0">
                <a:solidFill>
                  <a:srgbClr val="FF0000"/>
                </a:solidFill>
                <a:latin typeface="標楷體" pitchFamily="65" charset="-120"/>
                <a:ea typeface="標楷體" pitchFamily="65" charset="-120"/>
              </a:rPr>
              <a:t>Save</a:t>
            </a:r>
            <a:endParaRPr lang="zh-TW" altLang="en-US" b="1" dirty="0">
              <a:solidFill>
                <a:srgbClr val="FF0000"/>
              </a:solidFill>
              <a:latin typeface="標楷體" pitchFamily="65" charset="-120"/>
              <a:ea typeface="標楷體" pitchFamily="65" charset="-120"/>
            </a:endParaRPr>
          </a:p>
        </p:txBody>
      </p:sp>
      <p:cxnSp>
        <p:nvCxnSpPr>
          <p:cNvPr id="18442" name="直線單箭頭接點 23">
            <a:extLst>
              <a:ext uri="{FF2B5EF4-FFF2-40B4-BE49-F238E27FC236}">
                <a16:creationId xmlns:a16="http://schemas.microsoft.com/office/drawing/2014/main" id="{E097560D-5331-4A95-826D-EA5FE11CE297}"/>
              </a:ext>
            </a:extLst>
          </p:cNvPr>
          <p:cNvCxnSpPr>
            <a:cxnSpLocks noChangeShapeType="1"/>
          </p:cNvCxnSpPr>
          <p:nvPr/>
        </p:nvCxnSpPr>
        <p:spPr bwMode="auto">
          <a:xfrm flipH="1">
            <a:off x="4514850" y="3954066"/>
            <a:ext cx="1418035" cy="0"/>
          </a:xfrm>
          <a:prstGeom prst="straightConnector1">
            <a:avLst/>
          </a:prstGeom>
          <a:noFill/>
          <a:ln w="38100" algn="ctr">
            <a:solidFill>
              <a:srgbClr val="FF0000"/>
            </a:solidFill>
            <a:round/>
            <a:headEnd/>
            <a:tailEnd type="stealth" w="lg" len="lg"/>
          </a:ln>
          <a:extLst>
            <a:ext uri="{909E8E84-426E-40DD-AFC4-6F175D3DCCD1}">
              <a14:hiddenFill xmlns:a14="http://schemas.microsoft.com/office/drawing/2010/main">
                <a:noFill/>
              </a14:hiddenFill>
            </a:ext>
          </a:extLst>
        </p:spPr>
      </p:cxnSp>
      <p:sp>
        <p:nvSpPr>
          <p:cNvPr id="27" name="文字方塊 26">
            <a:extLst>
              <a:ext uri="{FF2B5EF4-FFF2-40B4-BE49-F238E27FC236}">
                <a16:creationId xmlns:a16="http://schemas.microsoft.com/office/drawing/2014/main" id="{DEDB6B29-EF80-4D78-9822-B5E249A6624F}"/>
              </a:ext>
            </a:extLst>
          </p:cNvPr>
          <p:cNvSpPr txBox="1"/>
          <p:nvPr/>
        </p:nvSpPr>
        <p:spPr>
          <a:xfrm>
            <a:off x="5924550" y="3757613"/>
            <a:ext cx="1504950" cy="369332"/>
          </a:xfrm>
          <a:prstGeom prst="rect">
            <a:avLst/>
          </a:prstGeom>
          <a:solidFill>
            <a:schemeClr val="accent2">
              <a:lumMod val="40000"/>
              <a:lumOff val="60000"/>
            </a:schemeClr>
          </a:solidFill>
          <a:ln>
            <a:solidFill>
              <a:schemeClr val="bg1">
                <a:lumMod val="75000"/>
              </a:schemeClr>
            </a:solidFill>
          </a:ln>
        </p:spPr>
        <p:txBody>
          <a:bodyPr wrap="square">
            <a:spAutoFit/>
          </a:bodyPr>
          <a:lstStyle/>
          <a:p>
            <a:pPr>
              <a:defRPr/>
            </a:pPr>
            <a:r>
              <a:rPr lang="en-US" altLang="zh-TW" b="1" dirty="0">
                <a:solidFill>
                  <a:srgbClr val="FF0000"/>
                </a:solidFill>
                <a:latin typeface="標楷體" pitchFamily="65" charset="-120"/>
                <a:ea typeface="標楷體" pitchFamily="65" charset="-120"/>
              </a:rPr>
              <a:t>Restore</a:t>
            </a:r>
            <a:endParaRPr lang="zh-TW" altLang="en-US" b="1" dirty="0">
              <a:solidFill>
                <a:srgbClr val="FF0000"/>
              </a:solidFill>
              <a:latin typeface="標楷體" pitchFamily="65" charset="-120"/>
              <a:ea typeface="標楷體" pitchFamily="65" charset="-12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844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3" grpId="0" animBg="1"/>
      <p:bldP spid="2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CEAB38BC-6BCD-40E7-9CD1-F82949121572}"/>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B79A701A-A59B-4BD6-9725-1E7D4DD112EF}"/>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63E70EB4-9767-4DA3-9A4C-D00C1BE58B5A}" type="slidenum">
              <a:rPr lang="zh-TW" altLang="en-US" sz="900"/>
              <a:pPr>
                <a:spcBef>
                  <a:spcPct val="0"/>
                </a:spcBef>
                <a:buClrTx/>
                <a:buSzTx/>
                <a:buFontTx/>
                <a:buNone/>
              </a:pPr>
              <a:t>20</a:t>
            </a:fld>
            <a:endParaRPr lang="en-US" altLang="zh-TW" sz="900"/>
          </a:p>
        </p:txBody>
      </p:sp>
      <p:sp>
        <p:nvSpPr>
          <p:cNvPr id="5" name="Rectangle 2">
            <a:extLst>
              <a:ext uri="{FF2B5EF4-FFF2-40B4-BE49-F238E27FC236}">
                <a16:creationId xmlns:a16="http://schemas.microsoft.com/office/drawing/2014/main" id="{6CFB8C36-579D-45A0-919B-AB8639A4ACCF}"/>
              </a:ext>
            </a:extLst>
          </p:cNvPr>
          <p:cNvSpPr txBox="1">
            <a:spLocks noChangeArrowheads="1"/>
          </p:cNvSpPr>
          <p:nvPr/>
        </p:nvSpPr>
        <p:spPr bwMode="auto">
          <a:xfrm>
            <a:off x="457200" y="0"/>
            <a:ext cx="6400800" cy="68580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300" dirty="0">
                <a:ea typeface="新細明體" pitchFamily="18" charset="-120"/>
              </a:rPr>
              <a:t>General Rules</a:t>
            </a:r>
          </a:p>
        </p:txBody>
      </p:sp>
      <p:sp>
        <p:nvSpPr>
          <p:cNvPr id="12" name="Rectangle 2">
            <a:extLst>
              <a:ext uri="{FF2B5EF4-FFF2-40B4-BE49-F238E27FC236}">
                <a16:creationId xmlns:a16="http://schemas.microsoft.com/office/drawing/2014/main" id="{0545B9B4-4C8B-497D-8425-632DAD4A4E1E}"/>
              </a:ext>
            </a:extLst>
          </p:cNvPr>
          <p:cNvSpPr txBox="1">
            <a:spLocks noChangeArrowheads="1"/>
          </p:cNvSpPr>
          <p:nvPr/>
        </p:nvSpPr>
        <p:spPr bwMode="auto">
          <a:xfrm>
            <a:off x="1601391" y="1142999"/>
            <a:ext cx="6171009" cy="2558143"/>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algn="l" eaLnBrk="1" hangingPunct="1">
              <a:defRPr/>
            </a:pPr>
            <a:r>
              <a:rPr lang="en-US" altLang="zh-TW" sz="2100" dirty="0">
                <a:effectLst/>
                <a:ea typeface="新細明體" pitchFamily="18" charset="-120"/>
              </a:rPr>
              <a:t>Caller registers are allocated to temporaries.</a:t>
            </a:r>
          </a:p>
          <a:p>
            <a:pPr algn="l" eaLnBrk="1" hangingPunct="1">
              <a:defRPr/>
            </a:pPr>
            <a:r>
              <a:rPr lang="en-US" altLang="zh-TW" sz="2100" dirty="0">
                <a:solidFill>
                  <a:srgbClr val="FF0000"/>
                </a:solidFill>
                <a:effectLst/>
                <a:ea typeface="新細明體" pitchFamily="18" charset="-120"/>
              </a:rPr>
              <a:t>Why?</a:t>
            </a:r>
          </a:p>
          <a:p>
            <a:pPr algn="l" eaLnBrk="1" hangingPunct="1">
              <a:defRPr/>
            </a:pPr>
            <a:r>
              <a:rPr lang="en-US" altLang="zh-TW" sz="2100" dirty="0" err="1">
                <a:effectLst/>
                <a:ea typeface="新細明體" pitchFamily="18" charset="-120"/>
              </a:rPr>
              <a:t>Callee</a:t>
            </a:r>
            <a:r>
              <a:rPr lang="en-US" altLang="zh-TW" sz="2100" dirty="0">
                <a:effectLst/>
                <a:ea typeface="新細明體" pitchFamily="18" charset="-120"/>
              </a:rPr>
              <a:t> registers are allocated to local variables</a:t>
            </a:r>
          </a:p>
          <a:p>
            <a:pPr algn="l" eaLnBrk="1" hangingPunct="1">
              <a:defRPr/>
            </a:pPr>
            <a:r>
              <a:rPr lang="en-US" altLang="zh-TW" sz="2100" dirty="0">
                <a:solidFill>
                  <a:srgbClr val="FF0000"/>
                </a:solidFill>
                <a:effectLst/>
                <a:ea typeface="新細明體" pitchFamily="18" charset="-120"/>
              </a:rPr>
              <a:t>Why?</a:t>
            </a:r>
          </a:p>
          <a:p>
            <a:pPr algn="l" eaLnBrk="1" hangingPunct="1">
              <a:defRPr/>
            </a:pPr>
            <a:r>
              <a:rPr lang="en-US" altLang="zh-TW" sz="2100" dirty="0">
                <a:effectLst/>
                <a:ea typeface="新細明體" pitchFamily="18" charset="-120"/>
              </a:rPr>
              <a:t>Callee registers are allocated to CSEs (Common Sub-Expressions)</a:t>
            </a:r>
          </a:p>
          <a:p>
            <a:pPr algn="l" eaLnBrk="1" hangingPunct="1">
              <a:defRPr/>
            </a:pPr>
            <a:r>
              <a:rPr lang="en-US" altLang="zh-TW" sz="2100" dirty="0">
                <a:solidFill>
                  <a:srgbClr val="FF0000"/>
                </a:solidFill>
                <a:effectLst/>
                <a:ea typeface="新細明體" pitchFamily="18" charset="-120"/>
              </a:rPr>
              <a:t>Why?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56368B37-BD92-4902-824E-A735E04FBF38}"/>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2369C087-C93C-44C0-8C9D-96A957D794EA}"/>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DF36DEBD-461F-476C-8C61-E33F2E200AAC}" type="slidenum">
              <a:rPr lang="zh-TW" altLang="en-US" sz="900"/>
              <a:pPr>
                <a:spcBef>
                  <a:spcPct val="0"/>
                </a:spcBef>
                <a:buClrTx/>
                <a:buSzTx/>
                <a:buFontTx/>
                <a:buNone/>
              </a:pPr>
              <a:t>21</a:t>
            </a:fld>
            <a:endParaRPr lang="en-US" altLang="zh-TW" sz="900"/>
          </a:p>
        </p:txBody>
      </p:sp>
      <p:sp>
        <p:nvSpPr>
          <p:cNvPr id="5" name="Rectangle 2">
            <a:extLst>
              <a:ext uri="{FF2B5EF4-FFF2-40B4-BE49-F238E27FC236}">
                <a16:creationId xmlns:a16="http://schemas.microsoft.com/office/drawing/2014/main" id="{4D27436C-7783-436E-9E38-A49688DA5BC3}"/>
              </a:ext>
            </a:extLst>
          </p:cNvPr>
          <p:cNvSpPr txBox="1">
            <a:spLocks noChangeArrowheads="1"/>
          </p:cNvSpPr>
          <p:nvPr/>
        </p:nvSpPr>
        <p:spPr bwMode="auto">
          <a:xfrm>
            <a:off x="791028" y="0"/>
            <a:ext cx="6400800" cy="68580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300" dirty="0">
                <a:ea typeface="新細明體" pitchFamily="18" charset="-120"/>
              </a:rPr>
              <a:t>General Rules</a:t>
            </a:r>
          </a:p>
        </p:txBody>
      </p:sp>
      <p:sp>
        <p:nvSpPr>
          <p:cNvPr id="12" name="Rectangle 2">
            <a:extLst>
              <a:ext uri="{FF2B5EF4-FFF2-40B4-BE49-F238E27FC236}">
                <a16:creationId xmlns:a16="http://schemas.microsoft.com/office/drawing/2014/main" id="{FCAB0D84-C9B5-4C1C-8CB2-A4DF9B460AAF}"/>
              </a:ext>
            </a:extLst>
          </p:cNvPr>
          <p:cNvSpPr txBox="1">
            <a:spLocks noChangeArrowheads="1"/>
          </p:cNvSpPr>
          <p:nvPr/>
        </p:nvSpPr>
        <p:spPr bwMode="auto">
          <a:xfrm>
            <a:off x="1202870" y="852715"/>
            <a:ext cx="6569529" cy="354330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algn="l" eaLnBrk="1" hangingPunct="1">
              <a:defRPr/>
            </a:pPr>
            <a:r>
              <a:rPr lang="en-US" altLang="zh-TW" sz="2100" dirty="0">
                <a:effectLst/>
                <a:ea typeface="新細明體" pitchFamily="18" charset="-120"/>
              </a:rPr>
              <a:t>Caller registers are allocated to temporaries.</a:t>
            </a:r>
          </a:p>
          <a:p>
            <a:pPr algn="l" eaLnBrk="1" hangingPunct="1">
              <a:defRPr/>
            </a:pPr>
            <a:r>
              <a:rPr lang="en-US" altLang="zh-TW" sz="2100" dirty="0">
                <a:solidFill>
                  <a:srgbClr val="FF0000"/>
                </a:solidFill>
                <a:effectLst/>
                <a:ea typeface="新細明體" pitchFamily="18" charset="-120"/>
              </a:rPr>
              <a:t>Why?</a:t>
            </a:r>
          </a:p>
          <a:p>
            <a:pPr algn="l" eaLnBrk="1" hangingPunct="1">
              <a:defRPr/>
            </a:pPr>
            <a:r>
              <a:rPr lang="en-US" altLang="zh-TW" sz="2100" dirty="0">
                <a:solidFill>
                  <a:srgbClr val="FF0000"/>
                </a:solidFill>
                <a:effectLst/>
                <a:ea typeface="新細明體" pitchFamily="18" charset="-120"/>
              </a:rPr>
              <a:t>	temporaries are short-lived</a:t>
            </a:r>
          </a:p>
          <a:p>
            <a:pPr algn="l" eaLnBrk="1" hangingPunct="1">
              <a:defRPr/>
            </a:pPr>
            <a:r>
              <a:rPr lang="en-US" altLang="zh-TW" sz="2100" dirty="0" err="1">
                <a:effectLst/>
                <a:ea typeface="新細明體" pitchFamily="18" charset="-120"/>
              </a:rPr>
              <a:t>Callee</a:t>
            </a:r>
            <a:r>
              <a:rPr lang="en-US" altLang="zh-TW" sz="2100" dirty="0">
                <a:effectLst/>
                <a:ea typeface="新細明體" pitchFamily="18" charset="-120"/>
              </a:rPr>
              <a:t> registers are allocated to local variables</a:t>
            </a:r>
          </a:p>
          <a:p>
            <a:pPr algn="l" eaLnBrk="1" hangingPunct="1">
              <a:defRPr/>
            </a:pPr>
            <a:r>
              <a:rPr lang="en-US" altLang="zh-TW" sz="2100" dirty="0">
                <a:solidFill>
                  <a:srgbClr val="FF0000"/>
                </a:solidFill>
                <a:effectLst/>
                <a:ea typeface="新細明體" pitchFamily="18" charset="-120"/>
              </a:rPr>
              <a:t>Why?</a:t>
            </a:r>
          </a:p>
          <a:p>
            <a:pPr algn="l" eaLnBrk="1" hangingPunct="1">
              <a:defRPr/>
            </a:pPr>
            <a:r>
              <a:rPr lang="en-US" altLang="zh-TW" sz="2100" dirty="0" err="1">
                <a:effectLst/>
                <a:ea typeface="新細明體" pitchFamily="18" charset="-120"/>
              </a:rPr>
              <a:t>Callee</a:t>
            </a:r>
            <a:r>
              <a:rPr lang="en-US" altLang="zh-TW" sz="2100" dirty="0">
                <a:effectLst/>
                <a:ea typeface="新細明體" pitchFamily="18" charset="-120"/>
              </a:rPr>
              <a:t> registers are allocated to CSEs</a:t>
            </a:r>
          </a:p>
          <a:p>
            <a:pPr algn="l" eaLnBrk="1" hangingPunct="1">
              <a:defRPr/>
            </a:pPr>
            <a:r>
              <a:rPr lang="en-US" altLang="zh-TW" sz="2100" dirty="0">
                <a:solidFill>
                  <a:srgbClr val="FF0000"/>
                </a:solidFill>
                <a:effectLst/>
                <a:ea typeface="新細明體" pitchFamily="18" charset="-120"/>
              </a:rPr>
              <a:t>Why? </a:t>
            </a:r>
          </a:p>
          <a:p>
            <a:pPr algn="l" eaLnBrk="1" hangingPunct="1">
              <a:defRPr/>
            </a:pPr>
            <a:r>
              <a:rPr lang="en-US" altLang="zh-TW" sz="2100" dirty="0">
                <a:solidFill>
                  <a:srgbClr val="FF0000"/>
                </a:solidFill>
                <a:effectLst/>
                <a:ea typeface="新細明體" pitchFamily="18" charset="-120"/>
              </a:rPr>
              <a:t>	local variables and CSEs are tend to live longer (may be as long as the procedure invocation)</a:t>
            </a:r>
          </a:p>
          <a:p>
            <a:pPr algn="l" eaLnBrk="1" hangingPunct="1">
              <a:defRPr/>
            </a:pPr>
            <a:endParaRPr lang="en-US" altLang="zh-TW" sz="2100" dirty="0">
              <a:ea typeface="新細明體" pitchFamily="18" charset="-12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9D520E15-9772-4659-9E24-D9F711C39DEE}"/>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6E26EF94-3BC9-4148-924C-230ED3DAB1BB}"/>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A00D6FF9-8B90-49DB-A8CA-6C40DA66615C}" type="slidenum">
              <a:rPr lang="zh-TW" altLang="en-US" sz="900"/>
              <a:pPr>
                <a:spcBef>
                  <a:spcPct val="0"/>
                </a:spcBef>
                <a:buClrTx/>
                <a:buSzTx/>
                <a:buFontTx/>
                <a:buNone/>
              </a:pPr>
              <a:t>22</a:t>
            </a:fld>
            <a:endParaRPr lang="en-US" altLang="zh-TW" sz="900"/>
          </a:p>
        </p:txBody>
      </p:sp>
      <p:sp>
        <p:nvSpPr>
          <p:cNvPr id="5" name="Rectangle 2">
            <a:extLst>
              <a:ext uri="{FF2B5EF4-FFF2-40B4-BE49-F238E27FC236}">
                <a16:creationId xmlns:a16="http://schemas.microsoft.com/office/drawing/2014/main" id="{DA1B1416-5DFC-444B-A699-0809972EC8C9}"/>
              </a:ext>
            </a:extLst>
          </p:cNvPr>
          <p:cNvSpPr txBox="1">
            <a:spLocks noChangeArrowheads="1"/>
          </p:cNvSpPr>
          <p:nvPr/>
        </p:nvSpPr>
        <p:spPr bwMode="auto">
          <a:xfrm>
            <a:off x="976710" y="-15239"/>
            <a:ext cx="5829300" cy="62865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300" dirty="0">
                <a:ea typeface="新細明體" pitchFamily="18" charset="-120"/>
              </a:rPr>
              <a:t>A Simple Test</a:t>
            </a:r>
          </a:p>
        </p:txBody>
      </p:sp>
      <p:sp>
        <p:nvSpPr>
          <p:cNvPr id="25605" name="文字方塊 1">
            <a:extLst>
              <a:ext uri="{FF2B5EF4-FFF2-40B4-BE49-F238E27FC236}">
                <a16:creationId xmlns:a16="http://schemas.microsoft.com/office/drawing/2014/main" id="{A6C7D38A-3C6C-4300-83E5-D2D8C0C50313}"/>
              </a:ext>
            </a:extLst>
          </p:cNvPr>
          <p:cNvSpPr txBox="1">
            <a:spLocks noChangeArrowheads="1"/>
          </p:cNvSpPr>
          <p:nvPr/>
        </p:nvSpPr>
        <p:spPr bwMode="auto">
          <a:xfrm>
            <a:off x="1761388" y="775143"/>
            <a:ext cx="4800600" cy="3000821"/>
          </a:xfrm>
          <a:prstGeom prst="rect">
            <a:avLst/>
          </a:prstGeom>
          <a:solidFill>
            <a:srgbClr val="FFC000"/>
          </a:solidFill>
          <a:ln w="9525">
            <a:solidFill>
              <a:srgbClr val="FF0000"/>
            </a:solidFill>
            <a:miter lim="800000"/>
            <a:headEnd/>
            <a:tailEnd/>
          </a:ln>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100" b="1">
                <a:solidFill>
                  <a:srgbClr val="2929FF"/>
                </a:solidFill>
                <a:ea typeface="新細明體" panose="02020500000000000000" pitchFamily="18" charset="-120"/>
              </a:rPr>
              <a:t>Function A ()</a:t>
            </a:r>
          </a:p>
          <a:p>
            <a:pPr>
              <a:spcBef>
                <a:spcPct val="0"/>
              </a:spcBef>
              <a:buClrTx/>
              <a:buSzTx/>
              <a:buFontTx/>
              <a:buNone/>
            </a:pPr>
            <a:r>
              <a:rPr lang="en-US" altLang="zh-TW" sz="2100" b="1">
                <a:solidFill>
                  <a:srgbClr val="2929FF"/>
                </a:solidFill>
                <a:ea typeface="新細明體" panose="02020500000000000000" pitchFamily="18" charset="-120"/>
              </a:rPr>
              <a:t>…</a:t>
            </a:r>
          </a:p>
          <a:p>
            <a:pPr>
              <a:spcBef>
                <a:spcPct val="0"/>
              </a:spcBef>
              <a:buClrTx/>
              <a:buSzTx/>
              <a:buFontTx/>
              <a:buNone/>
            </a:pPr>
            <a:r>
              <a:rPr lang="en-US" altLang="zh-TW" sz="2100" b="1">
                <a:solidFill>
                  <a:srgbClr val="2929FF"/>
                </a:solidFill>
                <a:ea typeface="新細明體" panose="02020500000000000000" pitchFamily="18" charset="-120"/>
              </a:rPr>
              <a:t>lw $8 -4($fp)</a:t>
            </a:r>
          </a:p>
          <a:p>
            <a:pPr>
              <a:spcBef>
                <a:spcPct val="0"/>
              </a:spcBef>
              <a:buClrTx/>
              <a:buSzTx/>
              <a:buFontTx/>
              <a:buNone/>
            </a:pPr>
            <a:r>
              <a:rPr lang="en-US" altLang="zh-TW" sz="2100" b="1">
                <a:solidFill>
                  <a:srgbClr val="2929FF"/>
                </a:solidFill>
                <a:ea typeface="新細明體" panose="02020500000000000000" pitchFamily="18" charset="-120"/>
              </a:rPr>
              <a:t>lw $9 -8($fp)</a:t>
            </a:r>
          </a:p>
          <a:p>
            <a:pPr>
              <a:spcBef>
                <a:spcPct val="0"/>
              </a:spcBef>
              <a:buClrTx/>
              <a:buSzTx/>
              <a:buFontTx/>
              <a:buNone/>
            </a:pPr>
            <a:r>
              <a:rPr lang="en-US" altLang="zh-TW" sz="2100" b="1">
                <a:solidFill>
                  <a:srgbClr val="2929FF"/>
                </a:solidFill>
                <a:ea typeface="新細明體" panose="02020500000000000000" pitchFamily="18" charset="-120"/>
              </a:rPr>
              <a:t>add $10, $8,$9</a:t>
            </a:r>
          </a:p>
          <a:p>
            <a:pPr>
              <a:spcBef>
                <a:spcPct val="0"/>
              </a:spcBef>
              <a:buClrTx/>
              <a:buSzTx/>
              <a:buFontTx/>
              <a:buNone/>
            </a:pPr>
            <a:r>
              <a:rPr lang="en-US" altLang="zh-TW" sz="2100" b="1">
                <a:solidFill>
                  <a:srgbClr val="2929FF"/>
                </a:solidFill>
                <a:ea typeface="新細明體" panose="02020500000000000000" pitchFamily="18" charset="-120"/>
              </a:rPr>
              <a:t>sw $10, -12($fp)</a:t>
            </a:r>
          </a:p>
          <a:p>
            <a:pPr>
              <a:spcBef>
                <a:spcPct val="0"/>
              </a:spcBef>
              <a:buClrTx/>
              <a:buSzTx/>
              <a:buFontTx/>
              <a:buNone/>
            </a:pPr>
            <a:r>
              <a:rPr lang="en-US" altLang="zh-TW" sz="2100" b="1">
                <a:solidFill>
                  <a:srgbClr val="2929FF"/>
                </a:solidFill>
                <a:ea typeface="新細明體" panose="02020500000000000000" pitchFamily="18" charset="-120"/>
              </a:rPr>
              <a:t>$v0 =  B(1,2,3); /* function call */</a:t>
            </a:r>
          </a:p>
          <a:p>
            <a:pPr>
              <a:spcBef>
                <a:spcPct val="0"/>
              </a:spcBef>
              <a:buClrTx/>
              <a:buSzTx/>
              <a:buFontTx/>
              <a:buNone/>
            </a:pPr>
            <a:r>
              <a:rPr lang="en-US" altLang="zh-TW" sz="2100" b="1">
                <a:solidFill>
                  <a:srgbClr val="2929FF"/>
                </a:solidFill>
                <a:ea typeface="新細明體" panose="02020500000000000000" pitchFamily="18" charset="-120"/>
              </a:rPr>
              <a:t>add $v0, $v0, $v0</a:t>
            </a:r>
          </a:p>
          <a:p>
            <a:pPr>
              <a:spcBef>
                <a:spcPct val="0"/>
              </a:spcBef>
              <a:buClrTx/>
              <a:buSzTx/>
              <a:buFontTx/>
              <a:buNone/>
            </a:pPr>
            <a:r>
              <a:rPr lang="en-US" altLang="zh-TW" sz="2100" b="1">
                <a:solidFill>
                  <a:srgbClr val="2929FF"/>
                </a:solidFill>
                <a:ea typeface="新細明體" panose="02020500000000000000" pitchFamily="18" charset="-120"/>
              </a:rPr>
              <a:t>return</a:t>
            </a:r>
            <a:endParaRPr lang="zh-TW" altLang="en-US" sz="2100" b="1">
              <a:solidFill>
                <a:srgbClr val="2929FF"/>
              </a:solidFill>
              <a:ea typeface="新細明體" panose="02020500000000000000" pitchFamily="18" charset="-120"/>
            </a:endParaRPr>
          </a:p>
        </p:txBody>
      </p:sp>
      <p:sp>
        <p:nvSpPr>
          <p:cNvPr id="25606" name="文字方塊 2">
            <a:extLst>
              <a:ext uri="{FF2B5EF4-FFF2-40B4-BE49-F238E27FC236}">
                <a16:creationId xmlns:a16="http://schemas.microsoft.com/office/drawing/2014/main" id="{4CF9573D-C534-45A6-A6DF-6DBEFD0BB646}"/>
              </a:ext>
            </a:extLst>
          </p:cNvPr>
          <p:cNvSpPr txBox="1">
            <a:spLocks noChangeArrowheads="1"/>
          </p:cNvSpPr>
          <p:nvPr/>
        </p:nvSpPr>
        <p:spPr bwMode="auto">
          <a:xfrm>
            <a:off x="1230993" y="3825851"/>
            <a:ext cx="62889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1800" dirty="0">
                <a:ea typeface="新細明體" panose="02020500000000000000" pitchFamily="18" charset="-120"/>
              </a:rPr>
              <a:t>What registers must be saved/restored across the call to B?</a:t>
            </a:r>
            <a:endParaRPr lang="zh-TW" altLang="en-US" sz="1800" dirty="0">
              <a:ea typeface="新細明體" panose="02020500000000000000" pitchFamily="18" charset="-120"/>
            </a:endParaRPr>
          </a:p>
        </p:txBody>
      </p:sp>
      <p:sp>
        <p:nvSpPr>
          <p:cNvPr id="21511" name="文字方塊 6">
            <a:extLst>
              <a:ext uri="{FF2B5EF4-FFF2-40B4-BE49-F238E27FC236}">
                <a16:creationId xmlns:a16="http://schemas.microsoft.com/office/drawing/2014/main" id="{730D935F-2E0B-41E6-8DAC-ADB6EEC1E7CD}"/>
              </a:ext>
            </a:extLst>
          </p:cNvPr>
          <p:cNvSpPr txBox="1">
            <a:spLocks noChangeArrowheads="1"/>
          </p:cNvSpPr>
          <p:nvPr/>
        </p:nvSpPr>
        <p:spPr bwMode="auto">
          <a:xfrm>
            <a:off x="1624106" y="4124578"/>
            <a:ext cx="46346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1800" dirty="0">
                <a:solidFill>
                  <a:srgbClr val="FF0000"/>
                </a:solidFill>
                <a:ea typeface="新細明體" panose="02020500000000000000" pitchFamily="18" charset="-120"/>
              </a:rPr>
              <a:t>None – no values live across function call B</a:t>
            </a:r>
            <a:endParaRPr lang="zh-TW" altLang="en-US" sz="1800" dirty="0">
              <a:solidFill>
                <a:srgbClr val="FF0000"/>
              </a:solidFill>
              <a:ea typeface="新細明體" panose="02020500000000000000" pitchFamily="18" charset="-12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5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A1142D37-70BB-43B7-9D2E-F2BACC22611F}"/>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77F1EF9B-355A-433B-AAAC-AACDBB1083FE}"/>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C17BB1F4-EC33-4225-84E4-15154EEB5410}" type="slidenum">
              <a:rPr lang="zh-TW" altLang="en-US" sz="900"/>
              <a:pPr>
                <a:spcBef>
                  <a:spcPct val="0"/>
                </a:spcBef>
                <a:buClrTx/>
                <a:buSzTx/>
                <a:buFontTx/>
                <a:buNone/>
              </a:pPr>
              <a:t>23</a:t>
            </a:fld>
            <a:endParaRPr lang="en-US" altLang="zh-TW" sz="900"/>
          </a:p>
        </p:txBody>
      </p:sp>
      <p:sp>
        <p:nvSpPr>
          <p:cNvPr id="5" name="Rectangle 2">
            <a:extLst>
              <a:ext uri="{FF2B5EF4-FFF2-40B4-BE49-F238E27FC236}">
                <a16:creationId xmlns:a16="http://schemas.microsoft.com/office/drawing/2014/main" id="{4196B512-F19B-403E-AC97-CF2D152B2D65}"/>
              </a:ext>
            </a:extLst>
          </p:cNvPr>
          <p:cNvSpPr txBox="1">
            <a:spLocks noChangeArrowheads="1"/>
          </p:cNvSpPr>
          <p:nvPr/>
        </p:nvSpPr>
        <p:spPr bwMode="auto">
          <a:xfrm>
            <a:off x="1237060" y="-19645"/>
            <a:ext cx="4992290" cy="62865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300" dirty="0">
                <a:ea typeface="新細明體" pitchFamily="18" charset="-120"/>
              </a:rPr>
              <a:t>Another Test</a:t>
            </a:r>
          </a:p>
        </p:txBody>
      </p:sp>
      <p:sp>
        <p:nvSpPr>
          <p:cNvPr id="26629" name="文字方塊 1">
            <a:extLst>
              <a:ext uri="{FF2B5EF4-FFF2-40B4-BE49-F238E27FC236}">
                <a16:creationId xmlns:a16="http://schemas.microsoft.com/office/drawing/2014/main" id="{A0BA56A7-662A-4B6B-A0A1-CA8FE8CEB02A}"/>
              </a:ext>
            </a:extLst>
          </p:cNvPr>
          <p:cNvSpPr txBox="1">
            <a:spLocks noChangeArrowheads="1"/>
          </p:cNvSpPr>
          <p:nvPr/>
        </p:nvSpPr>
        <p:spPr bwMode="auto">
          <a:xfrm>
            <a:off x="1428750" y="1333500"/>
            <a:ext cx="4800600" cy="2354491"/>
          </a:xfrm>
          <a:prstGeom prst="rect">
            <a:avLst/>
          </a:prstGeom>
          <a:solidFill>
            <a:srgbClr val="FFC000"/>
          </a:solidFill>
          <a:ln w="9525">
            <a:solidFill>
              <a:srgbClr val="FF0000"/>
            </a:solidFill>
            <a:miter lim="800000"/>
            <a:headEnd/>
            <a:tailEnd/>
          </a:ln>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100" b="1">
                <a:solidFill>
                  <a:srgbClr val="2929FF"/>
                </a:solidFill>
                <a:ea typeface="新細明體" panose="02020500000000000000" pitchFamily="18" charset="-120"/>
              </a:rPr>
              <a:t>Suppose Function A () is a leaf routine:</a:t>
            </a:r>
          </a:p>
          <a:p>
            <a:pPr>
              <a:spcBef>
                <a:spcPct val="0"/>
              </a:spcBef>
              <a:buClrTx/>
              <a:buSzTx/>
              <a:buFontTx/>
              <a:buNone/>
            </a:pPr>
            <a:endParaRPr lang="en-US" altLang="zh-TW" sz="2100" b="1">
              <a:solidFill>
                <a:srgbClr val="2929FF"/>
              </a:solidFill>
              <a:ea typeface="新細明體" panose="02020500000000000000" pitchFamily="18" charset="-120"/>
            </a:endParaRPr>
          </a:p>
          <a:p>
            <a:pPr>
              <a:spcBef>
                <a:spcPct val="0"/>
              </a:spcBef>
              <a:buClrTx/>
              <a:buSzTx/>
              <a:buFontTx/>
              <a:buNone/>
            </a:pPr>
            <a:r>
              <a:rPr lang="en-US" altLang="zh-TW" sz="2100" b="1">
                <a:solidFill>
                  <a:srgbClr val="2929FF"/>
                </a:solidFill>
                <a:ea typeface="新細明體" panose="02020500000000000000" pitchFamily="18" charset="-120"/>
              </a:rPr>
              <a:t>A leaf routine calls no others</a:t>
            </a:r>
          </a:p>
          <a:p>
            <a:pPr>
              <a:spcBef>
                <a:spcPct val="0"/>
              </a:spcBef>
              <a:buClrTx/>
              <a:buSzTx/>
              <a:buFontTx/>
              <a:buNone/>
            </a:pPr>
            <a:endParaRPr lang="en-US" altLang="zh-TW" sz="2100" b="1">
              <a:solidFill>
                <a:srgbClr val="2929FF"/>
              </a:solidFill>
              <a:ea typeface="新細明體" panose="02020500000000000000" pitchFamily="18" charset="-120"/>
            </a:endParaRPr>
          </a:p>
          <a:p>
            <a:pPr>
              <a:spcBef>
                <a:spcPct val="0"/>
              </a:spcBef>
              <a:buClrTx/>
              <a:buSzTx/>
              <a:buFontTx/>
              <a:buNone/>
            </a:pPr>
            <a:r>
              <a:rPr lang="en-US" altLang="zh-TW" sz="2100" b="1">
                <a:solidFill>
                  <a:srgbClr val="2929FF"/>
                </a:solidFill>
                <a:ea typeface="新細明體" panose="02020500000000000000" pitchFamily="18" charset="-120"/>
              </a:rPr>
              <a:t>What registers should be used for</a:t>
            </a:r>
          </a:p>
          <a:p>
            <a:pPr>
              <a:spcBef>
                <a:spcPct val="0"/>
              </a:spcBef>
              <a:buClrTx/>
              <a:buSzTx/>
              <a:buFontTx/>
              <a:buNone/>
            </a:pPr>
            <a:r>
              <a:rPr lang="en-US" altLang="zh-TW" sz="2100" b="1">
                <a:solidFill>
                  <a:srgbClr val="2929FF"/>
                </a:solidFill>
                <a:ea typeface="新細明體" panose="02020500000000000000" pitchFamily="18" charset="-120"/>
              </a:rPr>
              <a:t>Function A?    Why?</a:t>
            </a:r>
          </a:p>
        </p:txBody>
      </p:sp>
      <p:sp>
        <p:nvSpPr>
          <p:cNvPr id="21510" name="文字方塊 2">
            <a:extLst>
              <a:ext uri="{FF2B5EF4-FFF2-40B4-BE49-F238E27FC236}">
                <a16:creationId xmlns:a16="http://schemas.microsoft.com/office/drawing/2014/main" id="{8B0F75B9-F184-4E09-BC94-F9C9F48191C9}"/>
              </a:ext>
            </a:extLst>
          </p:cNvPr>
          <p:cNvSpPr txBox="1">
            <a:spLocks noChangeArrowheads="1"/>
          </p:cNvSpPr>
          <p:nvPr/>
        </p:nvSpPr>
        <p:spPr bwMode="auto">
          <a:xfrm>
            <a:off x="1476375" y="3886200"/>
            <a:ext cx="6550896"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100">
                <a:ea typeface="新細明體" panose="02020500000000000000" pitchFamily="18" charset="-120"/>
              </a:rPr>
              <a:t>Function A should use Caller Save registers as many </a:t>
            </a:r>
          </a:p>
          <a:p>
            <a:pPr>
              <a:spcBef>
                <a:spcPct val="0"/>
              </a:spcBef>
              <a:buClrTx/>
              <a:buSzTx/>
              <a:buFontTx/>
              <a:buNone/>
            </a:pPr>
            <a:r>
              <a:rPr lang="en-US" altLang="zh-TW" sz="2100">
                <a:ea typeface="新細明體" panose="02020500000000000000" pitchFamily="18" charset="-120"/>
              </a:rPr>
              <a:t>as possible – no need to save/restore any regs.</a:t>
            </a:r>
            <a:endParaRPr lang="zh-TW" altLang="en-US" sz="2100">
              <a:ea typeface="新細明體" panose="02020500000000000000" pitchFamily="18" charset="-120"/>
            </a:endParaRPr>
          </a:p>
        </p:txBody>
      </p:sp>
      <p:pic>
        <p:nvPicPr>
          <p:cNvPr id="26631" name="Picture 1">
            <a:extLst>
              <a:ext uri="{FF2B5EF4-FFF2-40B4-BE49-F238E27FC236}">
                <a16:creationId xmlns:a16="http://schemas.microsoft.com/office/drawing/2014/main" id="{402FED40-511A-4376-A465-46F1BAF9991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288258" y="1333500"/>
            <a:ext cx="2125265" cy="2354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51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5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0DA5DBAA-219D-42A1-972E-E2FE303B106F}"/>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0B38CB38-3B00-4B59-A7E2-27DE69921272}"/>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6BF47F74-EAB5-4A6C-ADFB-D2465F2E9767}" type="slidenum">
              <a:rPr lang="zh-TW" altLang="en-US" sz="900"/>
              <a:pPr>
                <a:spcBef>
                  <a:spcPct val="0"/>
                </a:spcBef>
                <a:buClrTx/>
                <a:buSzTx/>
                <a:buFontTx/>
                <a:buNone/>
              </a:pPr>
              <a:t>24</a:t>
            </a:fld>
            <a:endParaRPr lang="en-US" altLang="zh-TW" sz="900"/>
          </a:p>
        </p:txBody>
      </p:sp>
      <p:sp>
        <p:nvSpPr>
          <p:cNvPr id="5" name="Rectangle 2">
            <a:extLst>
              <a:ext uri="{FF2B5EF4-FFF2-40B4-BE49-F238E27FC236}">
                <a16:creationId xmlns:a16="http://schemas.microsoft.com/office/drawing/2014/main" id="{BB73B651-2936-4B66-842E-9B5B1AC1701C}"/>
              </a:ext>
            </a:extLst>
          </p:cNvPr>
          <p:cNvSpPr txBox="1">
            <a:spLocks noChangeArrowheads="1"/>
          </p:cNvSpPr>
          <p:nvPr/>
        </p:nvSpPr>
        <p:spPr bwMode="auto">
          <a:xfrm>
            <a:off x="1615339" y="0"/>
            <a:ext cx="4992290" cy="62865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300" dirty="0">
                <a:ea typeface="新細明體" pitchFamily="18" charset="-120"/>
              </a:rPr>
              <a:t>Another Variation</a:t>
            </a:r>
          </a:p>
        </p:txBody>
      </p:sp>
      <p:sp>
        <p:nvSpPr>
          <p:cNvPr id="27653" name="文字方塊 1">
            <a:extLst>
              <a:ext uri="{FF2B5EF4-FFF2-40B4-BE49-F238E27FC236}">
                <a16:creationId xmlns:a16="http://schemas.microsoft.com/office/drawing/2014/main" id="{D4F29042-A29F-476B-8B1C-A6225F41F491}"/>
              </a:ext>
            </a:extLst>
          </p:cNvPr>
          <p:cNvSpPr txBox="1">
            <a:spLocks noChangeArrowheads="1"/>
          </p:cNvSpPr>
          <p:nvPr/>
        </p:nvSpPr>
        <p:spPr bwMode="auto">
          <a:xfrm>
            <a:off x="1143000" y="962026"/>
            <a:ext cx="4800600" cy="2677656"/>
          </a:xfrm>
          <a:prstGeom prst="rect">
            <a:avLst/>
          </a:prstGeom>
          <a:solidFill>
            <a:srgbClr val="FFC000"/>
          </a:solidFill>
          <a:ln w="9525">
            <a:solidFill>
              <a:srgbClr val="FF0000"/>
            </a:solidFill>
            <a:miter lim="800000"/>
            <a:headEnd/>
            <a:tailEnd/>
          </a:ln>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100" b="1" dirty="0">
                <a:solidFill>
                  <a:srgbClr val="2929FF"/>
                </a:solidFill>
                <a:ea typeface="新細明體" panose="02020500000000000000" pitchFamily="18" charset="-120"/>
              </a:rPr>
              <a:t>Suppose Function A () is a non-leaf routine:</a:t>
            </a:r>
          </a:p>
          <a:p>
            <a:pPr>
              <a:spcBef>
                <a:spcPct val="0"/>
              </a:spcBef>
              <a:buClrTx/>
              <a:buSzTx/>
              <a:buFontTx/>
              <a:buNone/>
            </a:pPr>
            <a:endParaRPr lang="en-US" altLang="zh-TW" sz="2100" b="1" dirty="0">
              <a:solidFill>
                <a:srgbClr val="2929FF"/>
              </a:solidFill>
              <a:ea typeface="新細明體" panose="02020500000000000000" pitchFamily="18" charset="-120"/>
            </a:endParaRPr>
          </a:p>
          <a:p>
            <a:pPr>
              <a:spcBef>
                <a:spcPct val="0"/>
              </a:spcBef>
              <a:buClrTx/>
              <a:buSzTx/>
              <a:buFontTx/>
              <a:buNone/>
            </a:pPr>
            <a:r>
              <a:rPr lang="en-US" altLang="zh-TW" sz="2100" b="1" dirty="0">
                <a:solidFill>
                  <a:srgbClr val="2929FF"/>
                </a:solidFill>
                <a:ea typeface="新細明體" panose="02020500000000000000" pitchFamily="18" charset="-120"/>
              </a:rPr>
              <a:t>A() calls B(),C(),D(), in the ELSE part</a:t>
            </a:r>
          </a:p>
          <a:p>
            <a:pPr>
              <a:spcBef>
                <a:spcPct val="0"/>
              </a:spcBef>
              <a:buClrTx/>
              <a:buSzTx/>
              <a:buFontTx/>
              <a:buNone/>
            </a:pPr>
            <a:r>
              <a:rPr lang="en-US" altLang="zh-TW" sz="2100" b="1" dirty="0">
                <a:solidFill>
                  <a:srgbClr val="2929FF"/>
                </a:solidFill>
                <a:ea typeface="新細明體" panose="02020500000000000000" pitchFamily="18" charset="-120"/>
              </a:rPr>
              <a:t>but else is rarely true.</a:t>
            </a:r>
          </a:p>
          <a:p>
            <a:pPr>
              <a:spcBef>
                <a:spcPct val="0"/>
              </a:spcBef>
              <a:buClrTx/>
              <a:buSzTx/>
              <a:buFontTx/>
              <a:buNone/>
            </a:pPr>
            <a:endParaRPr lang="en-US" altLang="zh-TW" sz="2100" b="1" dirty="0">
              <a:solidFill>
                <a:srgbClr val="2929FF"/>
              </a:solidFill>
              <a:ea typeface="新細明體" panose="02020500000000000000" pitchFamily="18" charset="-120"/>
            </a:endParaRPr>
          </a:p>
          <a:p>
            <a:pPr>
              <a:spcBef>
                <a:spcPct val="0"/>
              </a:spcBef>
              <a:buClrTx/>
              <a:buSzTx/>
              <a:buFontTx/>
              <a:buNone/>
            </a:pPr>
            <a:r>
              <a:rPr lang="en-US" altLang="zh-TW" sz="2100" b="1" dirty="0">
                <a:solidFill>
                  <a:srgbClr val="2929FF"/>
                </a:solidFill>
                <a:ea typeface="新細明體" panose="02020500000000000000" pitchFamily="18" charset="-120"/>
              </a:rPr>
              <a:t>What registers should be used for</a:t>
            </a:r>
          </a:p>
          <a:p>
            <a:pPr>
              <a:spcBef>
                <a:spcPct val="0"/>
              </a:spcBef>
              <a:buClrTx/>
              <a:buSzTx/>
              <a:buFontTx/>
              <a:buNone/>
            </a:pPr>
            <a:r>
              <a:rPr lang="en-US" altLang="zh-TW" sz="2100" b="1" dirty="0">
                <a:solidFill>
                  <a:srgbClr val="2929FF"/>
                </a:solidFill>
                <a:ea typeface="新細明體" panose="02020500000000000000" pitchFamily="18" charset="-120"/>
              </a:rPr>
              <a:t>Function A?    Why?</a:t>
            </a:r>
          </a:p>
        </p:txBody>
      </p:sp>
      <p:sp>
        <p:nvSpPr>
          <p:cNvPr id="21510" name="文字方塊 2">
            <a:extLst>
              <a:ext uri="{FF2B5EF4-FFF2-40B4-BE49-F238E27FC236}">
                <a16:creationId xmlns:a16="http://schemas.microsoft.com/office/drawing/2014/main" id="{30DE3814-0E3E-4CE6-97CD-B8092D51BC6B}"/>
              </a:ext>
            </a:extLst>
          </p:cNvPr>
          <p:cNvSpPr txBox="1">
            <a:spLocks noChangeArrowheads="1"/>
          </p:cNvSpPr>
          <p:nvPr/>
        </p:nvSpPr>
        <p:spPr bwMode="auto">
          <a:xfrm>
            <a:off x="1009924" y="3812142"/>
            <a:ext cx="5848076"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100" dirty="0">
                <a:ea typeface="新細明體" panose="02020500000000000000" pitchFamily="18" charset="-120"/>
              </a:rPr>
              <a:t>Function A should use Caller Save registers </a:t>
            </a:r>
          </a:p>
          <a:p>
            <a:pPr>
              <a:spcBef>
                <a:spcPct val="0"/>
              </a:spcBef>
              <a:buClrTx/>
              <a:buSzTx/>
              <a:buFontTx/>
              <a:buNone/>
            </a:pPr>
            <a:r>
              <a:rPr lang="en-US" altLang="zh-TW" sz="2100" dirty="0">
                <a:ea typeface="新細明體" panose="02020500000000000000" pitchFamily="18" charset="-120"/>
              </a:rPr>
              <a:t>because save/restore occur in infrequent paths.</a:t>
            </a:r>
            <a:endParaRPr lang="zh-TW" altLang="en-US" sz="2100" dirty="0">
              <a:ea typeface="新細明體" panose="02020500000000000000" pitchFamily="18" charset="-120"/>
            </a:endParaRPr>
          </a:p>
        </p:txBody>
      </p:sp>
      <p:pic>
        <p:nvPicPr>
          <p:cNvPr id="27655" name="Picture 1">
            <a:extLst>
              <a:ext uri="{FF2B5EF4-FFF2-40B4-BE49-F238E27FC236}">
                <a16:creationId xmlns:a16="http://schemas.microsoft.com/office/drawing/2014/main" id="{1F3778C0-C178-4242-B437-9C1DEB4758C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057900" y="976194"/>
            <a:ext cx="2125265"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51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15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56368B37-BD92-4902-824E-A735E04FBF38}"/>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2369C087-C93C-44C0-8C9D-96A957D794EA}"/>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DF36DEBD-461F-476C-8C61-E33F2E200AAC}" type="slidenum">
              <a:rPr lang="zh-TW" altLang="en-US" sz="900"/>
              <a:pPr>
                <a:spcBef>
                  <a:spcPct val="0"/>
                </a:spcBef>
                <a:buClrTx/>
                <a:buSzTx/>
                <a:buFontTx/>
                <a:buNone/>
              </a:pPr>
              <a:t>25</a:t>
            </a:fld>
            <a:endParaRPr lang="en-US" altLang="zh-TW" sz="900"/>
          </a:p>
        </p:txBody>
      </p:sp>
      <p:sp>
        <p:nvSpPr>
          <p:cNvPr id="5" name="Rectangle 2">
            <a:extLst>
              <a:ext uri="{FF2B5EF4-FFF2-40B4-BE49-F238E27FC236}">
                <a16:creationId xmlns:a16="http://schemas.microsoft.com/office/drawing/2014/main" id="{4D27436C-7783-436E-9E38-A49688DA5BC3}"/>
              </a:ext>
            </a:extLst>
          </p:cNvPr>
          <p:cNvSpPr txBox="1">
            <a:spLocks noChangeArrowheads="1"/>
          </p:cNvSpPr>
          <p:nvPr/>
        </p:nvSpPr>
        <p:spPr bwMode="auto">
          <a:xfrm>
            <a:off x="791028" y="0"/>
            <a:ext cx="6400800" cy="68580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300" dirty="0">
                <a:ea typeface="新細明體" pitchFamily="18" charset="-120"/>
              </a:rPr>
              <a:t>Summary</a:t>
            </a:r>
          </a:p>
        </p:txBody>
      </p:sp>
      <p:sp>
        <p:nvSpPr>
          <p:cNvPr id="12" name="Rectangle 2">
            <a:extLst>
              <a:ext uri="{FF2B5EF4-FFF2-40B4-BE49-F238E27FC236}">
                <a16:creationId xmlns:a16="http://schemas.microsoft.com/office/drawing/2014/main" id="{FCAB0D84-C9B5-4C1C-8CB2-A4DF9B460AAF}"/>
              </a:ext>
            </a:extLst>
          </p:cNvPr>
          <p:cNvSpPr txBox="1">
            <a:spLocks noChangeArrowheads="1"/>
          </p:cNvSpPr>
          <p:nvPr/>
        </p:nvSpPr>
        <p:spPr bwMode="auto">
          <a:xfrm>
            <a:off x="1202870" y="852715"/>
            <a:ext cx="6569529" cy="354330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algn="l" eaLnBrk="1" hangingPunct="1">
              <a:defRPr/>
            </a:pPr>
            <a:endParaRPr lang="en-US" altLang="zh-TW" sz="2100" dirty="0">
              <a:ea typeface="新細明體" pitchFamily="18" charset="-120"/>
            </a:endParaRPr>
          </a:p>
        </p:txBody>
      </p:sp>
      <p:sp>
        <p:nvSpPr>
          <p:cNvPr id="6" name="Rectangle 2">
            <a:extLst>
              <a:ext uri="{FF2B5EF4-FFF2-40B4-BE49-F238E27FC236}">
                <a16:creationId xmlns:a16="http://schemas.microsoft.com/office/drawing/2014/main" id="{7A29AC88-1BF4-471C-8215-00A2F821D6A9}"/>
              </a:ext>
            </a:extLst>
          </p:cNvPr>
          <p:cNvSpPr txBox="1">
            <a:spLocks noChangeArrowheads="1"/>
          </p:cNvSpPr>
          <p:nvPr/>
        </p:nvSpPr>
        <p:spPr bwMode="auto">
          <a:xfrm>
            <a:off x="0" y="685800"/>
            <a:ext cx="9029700" cy="382905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marL="228600" indent="-342900" algn="l" eaLnBrk="1" hangingPunct="1">
              <a:buFont typeface="Arial" panose="020B0604020202020204" pitchFamily="34" charset="0"/>
              <a:buChar char="•"/>
              <a:defRPr/>
            </a:pPr>
            <a:r>
              <a:rPr lang="en-US" altLang="zh-TW" sz="2000" dirty="0">
                <a:effectLst/>
                <a:latin typeface="Times New Roman" panose="02020603050405020304" pitchFamily="18" charset="0"/>
                <a:ea typeface="新細明體" pitchFamily="18" charset="-120"/>
                <a:cs typeface="Times New Roman" panose="02020603050405020304" pitchFamily="18" charset="0"/>
              </a:rPr>
              <a:t>Core principle: Ensure functions can interoperate efficiently and correctly</a:t>
            </a:r>
          </a:p>
          <a:p>
            <a:pPr marL="685800" lvl="1" indent="-342900" algn="l" eaLnBrk="1" hangingPunct="1">
              <a:buFont typeface="Arial" panose="020B0604020202020204" pitchFamily="34" charset="0"/>
              <a:buChar char="•"/>
              <a:defRPr/>
            </a:pPr>
            <a:r>
              <a:rPr lang="en-US" altLang="zh-TW" sz="2000" dirty="0">
                <a:effectLst/>
                <a:latin typeface="Times New Roman" panose="02020603050405020304" pitchFamily="18" charset="0"/>
                <a:ea typeface="新細明體" pitchFamily="18" charset="-120"/>
                <a:cs typeface="Times New Roman" panose="02020603050405020304" pitchFamily="18" charset="0"/>
              </a:rPr>
              <a:t>Registers: defines how to pass arguments, return values, and preserve data</a:t>
            </a:r>
          </a:p>
          <a:p>
            <a:pPr marL="685800" lvl="1" indent="-342900" algn="l" eaLnBrk="1" hangingPunct="1">
              <a:buFont typeface="Arial" panose="020B0604020202020204" pitchFamily="34" charset="0"/>
              <a:buChar char="•"/>
              <a:defRPr/>
            </a:pPr>
            <a:r>
              <a:rPr lang="en-US" altLang="zh-TW" sz="2000" dirty="0">
                <a:effectLst/>
                <a:latin typeface="Times New Roman" panose="02020603050405020304" pitchFamily="18" charset="0"/>
                <a:ea typeface="新細明體" pitchFamily="18" charset="-120"/>
                <a:cs typeface="Times New Roman" panose="02020603050405020304" pitchFamily="18" charset="0"/>
              </a:rPr>
              <a:t>Stacks: local variables and register saving </a:t>
            </a:r>
          </a:p>
          <a:p>
            <a:pPr marL="228600" indent="-342900" algn="l" eaLnBrk="1" hangingPunct="1">
              <a:buFont typeface="Arial" panose="020B0604020202020204" pitchFamily="34" charset="0"/>
              <a:buChar char="•"/>
              <a:defRPr/>
            </a:pPr>
            <a:r>
              <a:rPr lang="en-US" altLang="zh-TW" sz="2100" dirty="0">
                <a:effectLst/>
                <a:latin typeface="Times New Roman" panose="02020603050405020304" pitchFamily="18" charset="0"/>
                <a:ea typeface="新細明體" pitchFamily="18" charset="-120"/>
                <a:cs typeface="Times New Roman" panose="02020603050405020304" pitchFamily="18" charset="0"/>
              </a:rPr>
              <a:t>Registers:</a:t>
            </a:r>
          </a:p>
          <a:p>
            <a:pPr marL="685800" lvl="1" indent="-342900" algn="l" eaLnBrk="1" hangingPunct="1">
              <a:buFont typeface="Arial" panose="020B0604020202020204" pitchFamily="34" charset="0"/>
              <a:buChar char="•"/>
              <a:defRPr/>
            </a:pPr>
            <a:r>
              <a:rPr lang="en-US" altLang="zh-TW" sz="2100" dirty="0">
                <a:effectLst/>
                <a:latin typeface="Times New Roman" panose="02020603050405020304" pitchFamily="18" charset="0"/>
                <a:ea typeface="新細明體" pitchFamily="18" charset="-120"/>
                <a:cs typeface="Times New Roman" panose="02020603050405020304" pitchFamily="18" charset="0"/>
              </a:rPr>
              <a:t>Argument passing (a0-a7/X10-X17), a0 and a1 also used for returned value.</a:t>
            </a:r>
          </a:p>
          <a:p>
            <a:pPr marL="685800" lvl="1" indent="-342900" algn="l" eaLnBrk="1" hangingPunct="1">
              <a:buFont typeface="Arial" panose="020B0604020202020204" pitchFamily="34" charset="0"/>
              <a:buChar char="•"/>
              <a:defRPr/>
            </a:pPr>
            <a:r>
              <a:rPr lang="en-US" altLang="zh-TW" sz="2100" dirty="0">
                <a:effectLst/>
                <a:latin typeface="Times New Roman" panose="02020603050405020304" pitchFamily="18" charset="0"/>
                <a:ea typeface="新細明體" pitchFamily="18" charset="-120"/>
                <a:cs typeface="Times New Roman" panose="02020603050405020304" pitchFamily="18" charset="0"/>
              </a:rPr>
              <a:t>Return address (ra/X1)</a:t>
            </a:r>
          </a:p>
          <a:p>
            <a:pPr marL="685800" lvl="1" indent="-342900" algn="l" eaLnBrk="1" hangingPunct="1">
              <a:buFont typeface="Arial" panose="020B0604020202020204" pitchFamily="34" charset="0"/>
              <a:buChar char="•"/>
              <a:defRPr/>
            </a:pPr>
            <a:r>
              <a:rPr lang="en-US" altLang="zh-TW" sz="2100" dirty="0">
                <a:effectLst/>
                <a:latin typeface="Times New Roman" panose="02020603050405020304" pitchFamily="18" charset="0"/>
                <a:ea typeface="新細明體" pitchFamily="18" charset="-120"/>
                <a:cs typeface="Times New Roman" panose="02020603050405020304" pitchFamily="18" charset="0"/>
              </a:rPr>
              <a:t>Temporary registers (t0-t6/X5-X7, X28-X31): also </a:t>
            </a:r>
            <a:r>
              <a:rPr lang="en-US" altLang="zh-TW" sz="2100" dirty="0">
                <a:effectLst/>
                <a:highlight>
                  <a:srgbClr val="FFFF00"/>
                </a:highlight>
                <a:latin typeface="Times New Roman" panose="02020603050405020304" pitchFamily="18" charset="0"/>
                <a:ea typeface="新細明體" pitchFamily="18" charset="-120"/>
                <a:cs typeface="Times New Roman" panose="02020603050405020304" pitchFamily="18" charset="0"/>
              </a:rPr>
              <a:t>caller-saved</a:t>
            </a:r>
            <a:r>
              <a:rPr lang="en-US" altLang="zh-TW" sz="2100" dirty="0">
                <a:effectLst/>
                <a:latin typeface="Times New Roman" panose="02020603050405020304" pitchFamily="18" charset="0"/>
                <a:ea typeface="新細明體" pitchFamily="18" charset="-120"/>
                <a:cs typeface="Times New Roman" panose="02020603050405020304" pitchFamily="18" charset="0"/>
              </a:rPr>
              <a:t> registers</a:t>
            </a:r>
          </a:p>
          <a:p>
            <a:pPr marL="685800" lvl="1" indent="-342900" algn="l" eaLnBrk="1" hangingPunct="1">
              <a:buFont typeface="Arial" panose="020B0604020202020204" pitchFamily="34" charset="0"/>
              <a:buChar char="•"/>
              <a:defRPr/>
            </a:pPr>
            <a:r>
              <a:rPr lang="en-US" altLang="zh-TW" sz="2100" dirty="0">
                <a:effectLst/>
                <a:latin typeface="Times New Roman" panose="02020603050405020304" pitchFamily="18" charset="0"/>
                <a:ea typeface="新細明體" pitchFamily="18" charset="-120"/>
                <a:cs typeface="Times New Roman" panose="02020603050405020304" pitchFamily="18" charset="0"/>
              </a:rPr>
              <a:t>Saved registers (s0-s11/X8-X9, X18-X27): also </a:t>
            </a:r>
            <a:r>
              <a:rPr lang="en-US" altLang="zh-TW" sz="2100" dirty="0">
                <a:effectLst/>
                <a:highlight>
                  <a:srgbClr val="FFFF00"/>
                </a:highlight>
                <a:latin typeface="Times New Roman" panose="02020603050405020304" pitchFamily="18" charset="0"/>
                <a:ea typeface="新細明體" pitchFamily="18" charset="-120"/>
                <a:cs typeface="Times New Roman" panose="02020603050405020304" pitchFamily="18" charset="0"/>
              </a:rPr>
              <a:t>callee-saved</a:t>
            </a:r>
            <a:r>
              <a:rPr lang="en-US" altLang="zh-TW" sz="2100" dirty="0">
                <a:effectLst/>
                <a:latin typeface="Times New Roman" panose="02020603050405020304" pitchFamily="18" charset="0"/>
                <a:ea typeface="新細明體" pitchFamily="18" charset="-120"/>
                <a:cs typeface="Times New Roman" panose="02020603050405020304" pitchFamily="18" charset="0"/>
              </a:rPr>
              <a:t> registers</a:t>
            </a:r>
          </a:p>
          <a:p>
            <a:pPr marL="228600" indent="-342900" algn="l" eaLnBrk="1" hangingPunct="1">
              <a:buFont typeface="Arial" panose="020B0604020202020204" pitchFamily="34" charset="0"/>
              <a:buChar char="•"/>
              <a:defRPr/>
            </a:pPr>
            <a:r>
              <a:rPr lang="en-US" altLang="zh-TW" sz="2100" dirty="0">
                <a:effectLst/>
                <a:latin typeface="Times New Roman" panose="02020603050405020304" pitchFamily="18" charset="0"/>
                <a:ea typeface="新細明體" pitchFamily="18" charset="-120"/>
                <a:cs typeface="Times New Roman" panose="02020603050405020304" pitchFamily="18" charset="0"/>
              </a:rPr>
              <a:t>Leaf routines</a:t>
            </a:r>
          </a:p>
          <a:p>
            <a:pPr marL="685800" lvl="1" indent="-342900" algn="l" eaLnBrk="1" hangingPunct="1">
              <a:buFont typeface="Arial" panose="020B0604020202020204" pitchFamily="34" charset="0"/>
              <a:buChar char="•"/>
              <a:defRPr/>
            </a:pPr>
            <a:r>
              <a:rPr lang="en-US" altLang="zh-TW" sz="2100" dirty="0">
                <a:effectLst/>
                <a:latin typeface="Times New Roman" panose="02020603050405020304" pitchFamily="18" charset="0"/>
                <a:ea typeface="新細明體" pitchFamily="18" charset="-120"/>
                <a:cs typeface="Times New Roman" panose="02020603050405020304" pitchFamily="18" charset="0"/>
              </a:rPr>
              <a:t>Use argument registers and caller-saved registers</a:t>
            </a:r>
          </a:p>
        </p:txBody>
      </p:sp>
    </p:spTree>
    <p:extLst>
      <p:ext uri="{BB962C8B-B14F-4D97-AF65-F5344CB8AC3E}">
        <p14:creationId xmlns:p14="http://schemas.microsoft.com/office/powerpoint/2010/main" val="2769385263"/>
      </p:ext>
    </p:extLst>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en-US" altLang="zh-TW" sz="1800" b="1" i="0" u="none" strike="noStrike" cap="none" normalizeH="0" baseline="0" smtClean="0">
            <a:ln>
              <a:noFill/>
            </a:ln>
            <a:solidFill>
              <a:schemeClr val="tx1"/>
            </a:solidFill>
            <a:effectLst/>
            <a:latin typeface="Arial" panose="020B0604020202090204" pitchFamily="34" charset="0"/>
            <a:ea typeface="新細明體" panose="02020500000000000000"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en-US" altLang="zh-TW" sz="1800" b="1" i="0" u="none" strike="noStrike" cap="none" normalizeH="0" baseline="0" smtClean="0">
            <a:ln>
              <a:noFill/>
            </a:ln>
            <a:solidFill>
              <a:schemeClr val="tx1"/>
            </a:solidFill>
            <a:effectLst/>
            <a:latin typeface="Arial" panose="020B0604020202090204" pitchFamily="34" charset="0"/>
            <a:ea typeface="新細明體" panose="02020500000000000000" pitchFamily="18" charset="-120"/>
          </a:defRPr>
        </a:defPPr>
      </a:lstStyle>
    </a:lnDef>
    <a:txDef>
      <a:spPr>
        <a:noFill/>
      </a:spPr>
      <a:bodyPr wrap="none" rtlCol="0" anchor="ctr" anchorCtr="1">
        <a:spAutoFit/>
      </a:bodyPr>
      <a:lstStyle>
        <a:defPPr>
          <a:defRPr dirty="0" smtClean="0">
            <a:ea typeface="標楷體" pitchFamily="65" charset="-120"/>
            <a:cs typeface="Calibri" panose="020F07020304040A0204"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NTHU UniCloud</Template>
  <TotalTime>8969</TotalTime>
  <Words>1713</Words>
  <Application>Microsoft Office PowerPoint</Application>
  <PresentationFormat>On-screen Show (16:9)</PresentationFormat>
  <Paragraphs>400</Paragraphs>
  <Slides>25</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標楷體</vt:lpstr>
      <vt:lpstr>MS Sans Serif</vt:lpstr>
      <vt:lpstr>Arial</vt:lpstr>
      <vt:lpstr>Calibri</vt:lpstr>
      <vt:lpstr>Times New Roman</vt:lpstr>
      <vt:lpstr>Wingdings</vt:lpstr>
      <vt:lpstr>NTHU UniCloud</vt:lpstr>
      <vt:lpstr>CSC3050 – Computer Architecture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Open 5G / IoT Cloud Platform</dc:title>
  <dc:creator>Wu-Chun Chung</dc:creator>
  <cp:lastModifiedBy>Prof. HSU Wei-Chung (SDS)</cp:lastModifiedBy>
  <cp:revision>338</cp:revision>
  <dcterms:created xsi:type="dcterms:W3CDTF">2021-01-11T16:17:04Z</dcterms:created>
  <dcterms:modified xsi:type="dcterms:W3CDTF">2025-02-24T05:54:20Z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2052-3.0.0.4824</vt:lpwstr>
  </property>
</Properties>
</file>