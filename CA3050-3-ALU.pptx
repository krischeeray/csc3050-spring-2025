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40"/>
  </p:notesMasterIdLst>
  <p:handoutMasterIdLst>
    <p:handoutMasterId r:id="rId41"/>
  </p:handoutMasterIdLst>
  <p:sldIdLst>
    <p:sldId id="256" r:id="rId3"/>
    <p:sldId id="445" r:id="rId4"/>
    <p:sldId id="575" r:id="rId5"/>
    <p:sldId id="587" r:id="rId6"/>
    <p:sldId id="576" r:id="rId7"/>
    <p:sldId id="588" r:id="rId8"/>
    <p:sldId id="585" r:id="rId9"/>
    <p:sldId id="592" r:id="rId10"/>
    <p:sldId id="586" r:id="rId11"/>
    <p:sldId id="589" r:id="rId12"/>
    <p:sldId id="593" r:id="rId13"/>
    <p:sldId id="590" r:id="rId14"/>
    <p:sldId id="446" r:id="rId15"/>
    <p:sldId id="292" r:id="rId16"/>
    <p:sldId id="293" r:id="rId17"/>
    <p:sldId id="294" r:id="rId18"/>
    <p:sldId id="448" r:id="rId19"/>
    <p:sldId id="449" r:id="rId20"/>
    <p:sldId id="460" r:id="rId21"/>
    <p:sldId id="463" r:id="rId22"/>
    <p:sldId id="322" r:id="rId23"/>
    <p:sldId id="523" r:id="rId24"/>
    <p:sldId id="578" r:id="rId25"/>
    <p:sldId id="580" r:id="rId26"/>
    <p:sldId id="591" r:id="rId27"/>
    <p:sldId id="579" r:id="rId28"/>
    <p:sldId id="332" r:id="rId29"/>
    <p:sldId id="333" r:id="rId30"/>
    <p:sldId id="499" r:id="rId31"/>
    <p:sldId id="335" r:id="rId32"/>
    <p:sldId id="339" r:id="rId33"/>
    <p:sldId id="340" r:id="rId34"/>
    <p:sldId id="524" r:id="rId35"/>
    <p:sldId id="341" r:id="rId36"/>
    <p:sldId id="422" r:id="rId37"/>
    <p:sldId id="425" r:id="rId38"/>
    <p:sldId id="582" r:id="rId3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4660"/>
  </p:normalViewPr>
  <p:slideViewPr>
    <p:cSldViewPr snapToGrid="0">
      <p:cViewPr varScale="1">
        <p:scale>
          <a:sx n="100" d="100"/>
          <a:sy n="100" d="100"/>
        </p:scale>
        <p:origin x="756" y="6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3/3/2025</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2025/3/3</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of bits (byte, word, double word) can encode char, numbers, color/audio, logic, instructions…..</a:t>
            </a:r>
          </a:p>
          <a:p>
            <a:r>
              <a:rPr lang="en-US" dirty="0"/>
              <a:t>This chapter will look at a more complex encoding: FP numbers.</a:t>
            </a:r>
          </a:p>
          <a:p>
            <a:r>
              <a:rPr lang="en-US" dirty="0"/>
              <a:t>How does HW do */div complex arithmetic?</a:t>
            </a:r>
          </a:p>
          <a:p>
            <a:r>
              <a:rPr lang="en-US" dirty="0"/>
              <a:t>How does HW handle overflows/underflows?</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a:t>
            </a:fld>
            <a:endParaRPr lang="zh-TW" altLang="en-US"/>
          </a:p>
        </p:txBody>
      </p:sp>
    </p:spTree>
    <p:extLst>
      <p:ext uri="{BB962C8B-B14F-4D97-AF65-F5344CB8AC3E}">
        <p14:creationId xmlns:p14="http://schemas.microsoft.com/office/powerpoint/2010/main" val="2485215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Subword</a:t>
            </a:r>
            <a:r>
              <a:rPr lang="en-US" dirty="0"/>
              <a:t> parallelism means a single word or double word can store 4 or 8 data items, they can compute 4/8 operations with one instruction.</a:t>
            </a:r>
          </a:p>
          <a:p>
            <a:r>
              <a:rPr lang="en-US" dirty="0"/>
              <a:t>SIMD is </a:t>
            </a:r>
            <a:r>
              <a:rPr lang="en-US" dirty="0" err="1"/>
              <a:t>futher</a:t>
            </a:r>
            <a:r>
              <a:rPr lang="en-US" dirty="0"/>
              <a:t> push to 128 bit or 512 bits wide SIMD registers. 16 SP numbers may be loaded into a SIMD register, and one instruction can do 16 </a:t>
            </a:r>
          </a:p>
          <a:p>
            <a:r>
              <a:rPr lang="en-US" dirty="0"/>
              <a:t>computation at the same time.</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2</a:t>
            </a:fld>
            <a:endParaRPr lang="zh-TW" altLang="en-US"/>
          </a:p>
        </p:txBody>
      </p:sp>
    </p:spTree>
    <p:extLst>
      <p:ext uri="{BB962C8B-B14F-4D97-AF65-F5344CB8AC3E}">
        <p14:creationId xmlns:p14="http://schemas.microsoft.com/office/powerpoint/2010/main" val="136880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r>
              <a:rPr lang="en-US" altLang="zh-TW" dirty="0"/>
              <a:t>C/C++ often leaves overflow as undefined behavior. Leaving the responsibility to programmers.</a:t>
            </a:r>
          </a:p>
          <a:p>
            <a:r>
              <a:rPr lang="en-US" altLang="zh-TW" dirty="0"/>
              <a:t>Some people think overflow rarely happens, can we have the HW to generate a trap? This introduces a challenging issue: precise interrupts</a:t>
            </a:r>
          </a:p>
          <a:p>
            <a:r>
              <a:rPr lang="en-US" altLang="zh-TW" dirty="0"/>
              <a:t>Early days, checking are expensive, so it was undefined behavior. Later this becomes a compatibility requirements.</a:t>
            </a:r>
          </a:p>
          <a:p>
            <a:r>
              <a:rPr lang="en-US" altLang="zh-TW" dirty="0"/>
              <a:t>Java defines overflow as wrapped around.</a:t>
            </a:r>
            <a:endParaRPr lang="zh-TW" altLang="en-US" dirty="0"/>
          </a:p>
        </p:txBody>
      </p:sp>
    </p:spTree>
    <p:extLst>
      <p:ext uri="{BB962C8B-B14F-4D97-AF65-F5344CB8AC3E}">
        <p14:creationId xmlns:p14="http://schemas.microsoft.com/office/powerpoint/2010/main" val="3952288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r>
              <a:rPr lang="en-US" altLang="zh-TW" dirty="0"/>
              <a:t>C/C++ often leaves overflow as undefined behavior. Leaving the responsibility to programmers.</a:t>
            </a:r>
          </a:p>
          <a:p>
            <a:r>
              <a:rPr lang="en-US" altLang="zh-TW" dirty="0"/>
              <a:t>Some people think overflow rarely happens, can we have the HW to generate a trap? This introduces a challenging issue: precise interrupts</a:t>
            </a:r>
          </a:p>
          <a:p>
            <a:r>
              <a:rPr lang="en-US" altLang="zh-TW" dirty="0"/>
              <a:t>Early days, checking are expensive, so it was undefined behavior. Later this becomes a compatibility requirements.</a:t>
            </a:r>
          </a:p>
          <a:p>
            <a:r>
              <a:rPr lang="en-US" altLang="zh-TW" dirty="0"/>
              <a:t>Java defines overflow as wrapped around.</a:t>
            </a:r>
            <a:endParaRPr lang="zh-TW" altLang="en-US" dirty="0"/>
          </a:p>
        </p:txBody>
      </p:sp>
    </p:spTree>
    <p:extLst>
      <p:ext uri="{BB962C8B-B14F-4D97-AF65-F5344CB8AC3E}">
        <p14:creationId xmlns:p14="http://schemas.microsoft.com/office/powerpoint/2010/main" val="2124178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1119667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2399420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620867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1575431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data is set up in registers, the ALU operates on the complete width. If specific byte is needed, masking and shifting operations can be used.</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13</a:t>
            </a:fld>
            <a:endParaRPr lang="zh-TW" altLang="en-US"/>
          </a:p>
        </p:txBody>
      </p:sp>
    </p:spTree>
    <p:extLst>
      <p:ext uri="{BB962C8B-B14F-4D97-AF65-F5344CB8AC3E}">
        <p14:creationId xmlns:p14="http://schemas.microsoft.com/office/powerpoint/2010/main" val="3703916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026"/>
          <p:cNvSpPr>
            <a:spLocks noGrp="1" noChangeArrowheads="1"/>
          </p:cNvSpPr>
          <p:nvPr>
            <p:ph type="body" idx="1"/>
          </p:nvPr>
        </p:nvSpPr>
        <p:spPr>
          <a:xfrm>
            <a:off x="512763" y="4721225"/>
            <a:ext cx="5865812" cy="4471988"/>
          </a:xfrm>
          <a:noFill/>
        </p:spPr>
        <p:txBody>
          <a:bodyPr lIns="92485" tIns="46243" rIns="92485" bIns="46243"/>
          <a:lstStyle/>
          <a:p>
            <a:endParaRPr lang="en-US" altLang="zh-TW"/>
          </a:p>
        </p:txBody>
      </p:sp>
      <p:sp>
        <p:nvSpPr>
          <p:cNvPr id="135171" name="Rectangle 1027"/>
          <p:cNvSpPr>
            <a:spLocks noGrp="1" noRot="1" noChangeAspect="1" noChangeArrowheads="1" noTextEdit="1"/>
          </p:cNvSpPr>
          <p:nvPr>
            <p:ph type="sldImg"/>
          </p:nvPr>
        </p:nvSpPr>
        <p:spPr>
          <a:xfrm>
            <a:off x="111125" y="636588"/>
            <a:ext cx="6604000" cy="3714750"/>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dirty="0"/>
              <a:t>Now that I have shown you how to build a 1-bit full adder, we have all the major components needed for this 1-bit ALU.</a:t>
            </a:r>
          </a:p>
          <a:p>
            <a:r>
              <a:rPr lang="en-US" altLang="zh-TW" dirty="0"/>
              <a:t>In order to build a 4-bit ALU, we simply connect four 1-bit ALUs in series to feed the </a:t>
            </a:r>
            <a:r>
              <a:rPr lang="en-US" altLang="zh-TW" dirty="0" err="1"/>
              <a:t>CarryOut</a:t>
            </a:r>
            <a:r>
              <a:rPr lang="en-US" altLang="zh-TW" dirty="0"/>
              <a:t> of one ALU to the </a:t>
            </a:r>
            <a:r>
              <a:rPr lang="en-US" altLang="zh-TW" dirty="0" err="1"/>
              <a:t>CarryIn</a:t>
            </a:r>
            <a:r>
              <a:rPr lang="en-US" altLang="zh-TW" dirty="0"/>
              <a:t> of the next ALU.</a:t>
            </a:r>
          </a:p>
          <a:p>
            <a:r>
              <a:rPr lang="en-US" altLang="zh-TW" dirty="0"/>
              <a:t>Adders have multiple different implementation, ripple carry or carry lookahead, or carry skip, parallel prefix adder. With sufficient transistors, adder can be faster.</a:t>
            </a:r>
          </a:p>
          <a:p>
            <a:r>
              <a:rPr lang="en-US" altLang="zh-TW" dirty="0"/>
              <a:t>Even though I called this an ALU, I actually lied a little.  There is something missing about this ALU.  This  ALU can NOT perform the subtract operation.</a:t>
            </a:r>
          </a:p>
          <a:p>
            <a:r>
              <a:rPr lang="en-US" altLang="zh-TW" dirty="0"/>
              <a:t>Let see how can we fix this problem.</a:t>
            </a:r>
          </a:p>
          <a:p>
            <a:endParaRPr lang="en-US" altLang="zh-TW" dirty="0"/>
          </a:p>
          <a:p>
            <a:r>
              <a:rPr lang="en-US" altLang="zh-TW" dirty="0"/>
              <a:t>2 min = 35 min. (Y:15)</a:t>
            </a:r>
          </a:p>
        </p:txBody>
      </p:sp>
      <p:sp>
        <p:nvSpPr>
          <p:cNvPr id="137219" name="Rectangle 3"/>
          <p:cNvSpPr>
            <a:spLocks noGrp="1" noRot="1" noChangeAspect="1" noChangeArrowheads="1" noTextEdit="1"/>
          </p:cNvSpPr>
          <p:nvPr>
            <p:ph type="sldImg"/>
          </p:nvPr>
        </p:nvSpPr>
        <p:spPr>
          <a:xfrm>
            <a:off x="93663" y="746125"/>
            <a:ext cx="6623050" cy="37258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a:t>Recalled something you learned from grade school that: A - B is the same as A plus (-B).</a:t>
            </a:r>
          </a:p>
          <a:p>
            <a:r>
              <a:rPr lang="en-US" altLang="zh-TW"/>
              <a:t>Also recall from earlier slides that in order to calculate the 2 complement representation of negative B, we simply take the inverse of very bit and add 1.</a:t>
            </a:r>
          </a:p>
          <a:p>
            <a:r>
              <a:rPr lang="en-US" altLang="zh-TW"/>
              <a:t>The bitwise inverse of B is easy to compute.  Just pass them through the inverter.</a:t>
            </a:r>
          </a:p>
          <a:p>
            <a:r>
              <a:rPr lang="en-US" altLang="zh-TW"/>
              <a:t>In order to do the add 1 operation, we simply set the CarryIn to 1.</a:t>
            </a:r>
          </a:p>
          <a:p>
            <a:r>
              <a:rPr lang="en-US" altLang="zh-TW"/>
              <a:t>So for the subtract operation, we simply select the output of the inverter and set CarryIn to 1.</a:t>
            </a:r>
          </a:p>
          <a:p>
            <a:r>
              <a:rPr lang="en-US" altLang="zh-TW"/>
              <a:t>Then we will be adding A to the negative of B and whola, we have the A minus B operation.</a:t>
            </a:r>
          </a:p>
          <a:p>
            <a:endParaRPr lang="en-US" altLang="zh-TW"/>
          </a:p>
          <a:p>
            <a:r>
              <a:rPr lang="zh-CN" altLang="en-US"/>
              <a:t>这里</a:t>
            </a:r>
            <a:r>
              <a:rPr lang="en-US" altLang="zh-CN"/>
              <a:t>Bnegate</a:t>
            </a:r>
            <a:r>
              <a:rPr lang="zh-CN" altLang="en-US"/>
              <a:t>就是一个控制信号，选择是原码还是反码</a:t>
            </a:r>
            <a:endParaRPr lang="en-US" altLang="zh-TW"/>
          </a:p>
          <a:p>
            <a:endParaRPr lang="en-US" altLang="zh-TW"/>
          </a:p>
          <a:p>
            <a:r>
              <a:rPr lang="en-US" altLang="zh-TW"/>
              <a:t>+2 = 37 min. (Y:17)</a:t>
            </a:r>
          </a:p>
        </p:txBody>
      </p:sp>
      <p:sp>
        <p:nvSpPr>
          <p:cNvPr id="138243" name="Rectangle 3"/>
          <p:cNvSpPr>
            <a:spLocks noGrp="1" noRot="1" noChangeAspect="1" noChangeArrowheads="1" noTextEdit="1"/>
          </p:cNvSpPr>
          <p:nvPr>
            <p:ph type="sldImg"/>
          </p:nvPr>
        </p:nvSpPr>
        <p:spPr>
          <a:xfrm>
            <a:off x="93663" y="746125"/>
            <a:ext cx="6623050" cy="37258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 Carry Lookahead Adder. Just based on the previous four bits of a and b, I could know what would be the carry from the previous group.</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18</a:t>
            </a:fld>
            <a:endParaRPr lang="zh-TW" altLang="en-US"/>
          </a:p>
        </p:txBody>
      </p:sp>
    </p:spTree>
    <p:extLst>
      <p:ext uri="{BB962C8B-B14F-4D97-AF65-F5344CB8AC3E}">
        <p14:creationId xmlns:p14="http://schemas.microsoft.com/office/powerpoint/2010/main" val="4055746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第一个数叫被乘数 </a:t>
            </a:r>
            <a:r>
              <a:rPr lang="en-US" altLang="zh-CN">
                <a:sym typeface="+mn-ea"/>
              </a:rPr>
              <a:t>multiplicand</a:t>
            </a:r>
            <a:r>
              <a:rPr lang="zh-CN" altLang="en-US">
                <a:sym typeface="+mn-ea"/>
              </a:rPr>
              <a:t>，第二个数是乘数</a:t>
            </a:r>
            <a:r>
              <a:rPr lang="en-US" altLang="zh-CN">
                <a:sym typeface="+mn-ea"/>
              </a:rPr>
              <a:t>multiplier</a:t>
            </a:r>
            <a:r>
              <a:rPr lang="zh-CN" altLang="en-US">
                <a:sym typeface="+mn-ea"/>
              </a:rPr>
              <a:t>，</a:t>
            </a:r>
            <a:endParaRPr lang="zh-CN" altLang="en-US"/>
          </a:p>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83299"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83299"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1702381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3885352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8320207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r>
              <a:rPr lang="en-US" altLang="zh-TW" dirty="0"/>
              <a:t>In computer industry, this is often called the pyramid in a multiplier.</a:t>
            </a:r>
            <a:endParaRPr lang="zh-TW" altLang="en-US" dirty="0"/>
          </a:p>
        </p:txBody>
      </p:sp>
    </p:spTree>
    <p:extLst>
      <p:ext uri="{BB962C8B-B14F-4D97-AF65-F5344CB8AC3E}">
        <p14:creationId xmlns:p14="http://schemas.microsoft.com/office/powerpoint/2010/main" val="40296814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96611"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97635"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body" idx="1"/>
          </p:nvPr>
        </p:nvSpPr>
        <p:spPr>
          <a:xfrm>
            <a:off x="512763" y="4721225"/>
            <a:ext cx="5865812" cy="4471988"/>
          </a:xfrm>
          <a:noFill/>
        </p:spPr>
        <p:txBody>
          <a:bodyPr lIns="92485" tIns="46243" rIns="92485" bIns="46243"/>
          <a:lstStyle/>
          <a:p>
            <a:r>
              <a:rPr lang="zh-TW" altLang="en-US"/>
              <a:t>	</a:t>
            </a:r>
            <a:r>
              <a:rPr lang="en-US" altLang="zh-TW"/>
              <a:t>Q: 0000	D: 0010 0000	R: 0000 0111  = 1110 0000</a:t>
            </a:r>
          </a:p>
          <a:p>
            <a:r>
              <a:rPr lang="en-US" altLang="zh-TW"/>
              <a:t>1: R = R 	Q: 0000	D: 0010 0000	R: </a:t>
            </a:r>
            <a:r>
              <a:rPr lang="en-US" altLang="zh-TW" u="sng"/>
              <a:t>1110 0111</a:t>
            </a:r>
            <a:endParaRPr lang="en-US" altLang="zh-TW"/>
          </a:p>
          <a:p>
            <a:r>
              <a:rPr lang="en-US" altLang="zh-TW"/>
              <a:t>2b: +D, sl Q, 0	 Q: </a:t>
            </a:r>
            <a:r>
              <a:rPr lang="en-US" altLang="zh-TW" u="sng"/>
              <a:t>0000</a:t>
            </a:r>
            <a:r>
              <a:rPr lang="en-US" altLang="zh-TW"/>
              <a:t>	D: 0010 0000	R: </a:t>
            </a:r>
            <a:r>
              <a:rPr lang="en-US" altLang="zh-TW" u="sng"/>
              <a:t>0000 0111</a:t>
            </a:r>
            <a:endParaRPr lang="en-US" altLang="zh-TW"/>
          </a:p>
          <a:p>
            <a:r>
              <a:rPr lang="en-US" altLang="zh-TW"/>
              <a:t>3: Shr D	Q: 0000	D: </a:t>
            </a:r>
            <a:r>
              <a:rPr lang="en-US" altLang="zh-TW" u="sng"/>
              <a:t>0001 0000 </a:t>
            </a:r>
            <a:r>
              <a:rPr lang="en-US" altLang="zh-TW"/>
              <a:t>	R: 0000 0111  = 1111 0000</a:t>
            </a:r>
          </a:p>
          <a:p>
            <a:r>
              <a:rPr lang="en-US" altLang="zh-TW"/>
              <a:t>1: R = R 	Q: 0000	D: 0001 0000 	R: </a:t>
            </a:r>
            <a:r>
              <a:rPr lang="en-US" altLang="zh-TW" u="sng"/>
              <a:t>1111 0111</a:t>
            </a:r>
            <a:endParaRPr lang="en-US" altLang="zh-TW"/>
          </a:p>
          <a:p>
            <a:r>
              <a:rPr lang="en-US" altLang="zh-TW"/>
              <a:t>2b: +D, sl Q, 0	 Q:</a:t>
            </a:r>
            <a:r>
              <a:rPr lang="en-US" altLang="zh-TW" u="sng"/>
              <a:t> 0000</a:t>
            </a:r>
            <a:r>
              <a:rPr lang="en-US" altLang="zh-TW"/>
              <a:t>	D: 0001 0000 	R:</a:t>
            </a:r>
            <a:r>
              <a:rPr lang="en-US" altLang="zh-TW" u="sng"/>
              <a:t> 0000 0111</a:t>
            </a:r>
            <a:endParaRPr lang="en-US" altLang="zh-TW"/>
          </a:p>
          <a:p>
            <a:r>
              <a:rPr lang="en-US" altLang="zh-TW"/>
              <a:t>3: Shr D	Q: 0000	D: </a:t>
            </a:r>
            <a:r>
              <a:rPr lang="en-US" altLang="zh-TW" u="sng"/>
              <a:t>0000 1000</a:t>
            </a:r>
            <a:r>
              <a:rPr lang="en-US" altLang="zh-TW"/>
              <a:t>	R: 0000 0111  = 1111 1000</a:t>
            </a:r>
          </a:p>
          <a:p>
            <a:r>
              <a:rPr lang="en-US" altLang="zh-TW"/>
              <a:t>1: R = R 	Q: 0000	D: 0000 1000 	R: </a:t>
            </a:r>
            <a:r>
              <a:rPr lang="en-US" altLang="zh-TW" u="sng"/>
              <a:t>1111 1111</a:t>
            </a:r>
            <a:endParaRPr lang="en-US" altLang="zh-TW"/>
          </a:p>
          <a:p>
            <a:r>
              <a:rPr lang="en-US" altLang="zh-TW"/>
              <a:t>2b: +D, sl Q, 0	 Q:</a:t>
            </a:r>
            <a:r>
              <a:rPr lang="en-US" altLang="zh-TW" u="sng"/>
              <a:t> 0000</a:t>
            </a:r>
            <a:r>
              <a:rPr lang="en-US" altLang="zh-TW"/>
              <a:t>	D: 0000 1000 	R: </a:t>
            </a:r>
            <a:r>
              <a:rPr lang="en-US" altLang="zh-TW" u="sng"/>
              <a:t>0000 0111</a:t>
            </a:r>
            <a:endParaRPr lang="en-US" altLang="zh-TW"/>
          </a:p>
          <a:p>
            <a:r>
              <a:rPr lang="en-US" altLang="zh-TW"/>
              <a:t>3: Shr D	Q: 0000	D: </a:t>
            </a:r>
            <a:r>
              <a:rPr lang="en-US" altLang="zh-TW" u="sng"/>
              <a:t>0000 0100</a:t>
            </a:r>
            <a:r>
              <a:rPr lang="en-US" altLang="zh-TW"/>
              <a:t>	R: 0000 0111  = 1111 1100</a:t>
            </a:r>
          </a:p>
          <a:p>
            <a:r>
              <a:rPr lang="en-US" altLang="zh-TW"/>
              <a:t>1: R = R 	Q: 0000	D: 0000 0100 	R:</a:t>
            </a:r>
            <a:r>
              <a:rPr lang="en-US" altLang="zh-TW" u="sng"/>
              <a:t> 0000 0011</a:t>
            </a:r>
            <a:endParaRPr lang="en-US" altLang="zh-TW"/>
          </a:p>
          <a:p>
            <a:r>
              <a:rPr lang="en-US" altLang="zh-TW"/>
              <a:t>2a: sl Q, 1	 Q: </a:t>
            </a:r>
            <a:r>
              <a:rPr lang="en-US" altLang="zh-TW" u="sng"/>
              <a:t>0001</a:t>
            </a:r>
            <a:r>
              <a:rPr lang="en-US" altLang="zh-TW"/>
              <a:t>	D: 0000 0100 	R: 0000 0011</a:t>
            </a:r>
          </a:p>
          <a:p>
            <a:r>
              <a:rPr lang="en-US" altLang="zh-TW"/>
              <a:t>3: Shr D	Q: 0000	D:</a:t>
            </a:r>
            <a:r>
              <a:rPr lang="en-US" altLang="zh-TW" u="sng"/>
              <a:t> 0000 0010</a:t>
            </a:r>
            <a:r>
              <a:rPr lang="en-US" altLang="zh-TW"/>
              <a:t>	R: 0000 0011  = 1111 1110</a:t>
            </a:r>
          </a:p>
          <a:p>
            <a:r>
              <a:rPr lang="en-US" altLang="zh-TW"/>
              <a:t>1: R = R 	Q: 0000	D: 0000 0010 	R: </a:t>
            </a:r>
            <a:r>
              <a:rPr lang="en-US" altLang="zh-TW" u="sng"/>
              <a:t>0000 0001</a:t>
            </a:r>
            <a:endParaRPr lang="en-US" altLang="zh-TW"/>
          </a:p>
          <a:p>
            <a:r>
              <a:rPr lang="en-US" altLang="zh-TW"/>
              <a:t>2a: sl Q, 1	 Q:</a:t>
            </a:r>
            <a:r>
              <a:rPr lang="en-US" altLang="zh-TW" u="sng"/>
              <a:t> 0011</a:t>
            </a:r>
            <a:r>
              <a:rPr lang="en-US" altLang="zh-TW"/>
              <a:t>	D: 0000 0010 	R: 0000 0001</a:t>
            </a:r>
          </a:p>
          <a:p>
            <a:r>
              <a:rPr lang="en-US" altLang="zh-TW"/>
              <a:t>3: Shr D	Q: 0011	D: </a:t>
            </a:r>
            <a:r>
              <a:rPr lang="en-US" altLang="zh-TW" u="sng"/>
              <a:t>0000 0001</a:t>
            </a:r>
            <a:r>
              <a:rPr lang="en-US" altLang="zh-TW"/>
              <a:t>	R: 0000 0001</a:t>
            </a:r>
          </a:p>
          <a:p>
            <a:endParaRPr lang="en-US" altLang="zh-TW"/>
          </a:p>
          <a:p>
            <a:r>
              <a:rPr lang="en-US" altLang="zh-TW"/>
              <a:t>Recommend show 2 comp of divisor, show lines for subtract divisor and restore remainder</a:t>
            </a:r>
          </a:p>
        </p:txBody>
      </p:sp>
      <p:sp>
        <p:nvSpPr>
          <p:cNvPr id="198659"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99683"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200707"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body" idx="1"/>
          </p:nvPr>
        </p:nvSpPr>
        <p:spPr>
          <a:xfrm>
            <a:off x="512763" y="4721225"/>
            <a:ext cx="5865812" cy="4471988"/>
          </a:xfrm>
          <a:noFill/>
        </p:spPr>
        <p:txBody>
          <a:bodyPr lIns="92485" tIns="46243" rIns="92485" bIns="46243"/>
          <a:lstStyle/>
          <a:p>
            <a:r>
              <a:rPr lang="zh-TW" altLang="en-US"/>
              <a:t>		</a:t>
            </a:r>
            <a:r>
              <a:rPr lang="en-US" altLang="zh-TW"/>
              <a:t>D: 0010	R: 0000 0111</a:t>
            </a:r>
          </a:p>
          <a:p>
            <a:r>
              <a:rPr lang="en-US" altLang="zh-TW"/>
              <a:t>0: Shl R		D: 0010	R:</a:t>
            </a:r>
            <a:r>
              <a:rPr lang="en-US" altLang="zh-TW" u="sng"/>
              <a:t> 0000 1110</a:t>
            </a:r>
            <a:endParaRPr lang="en-US" altLang="zh-TW"/>
          </a:p>
          <a:p>
            <a:r>
              <a:rPr lang="en-US" altLang="zh-TW"/>
              <a:t>1: R = R 		D: 0010	R: </a:t>
            </a:r>
            <a:r>
              <a:rPr lang="en-US" altLang="zh-TW" u="sng"/>
              <a:t>1110</a:t>
            </a:r>
            <a:r>
              <a:rPr lang="en-US" altLang="zh-TW"/>
              <a:t> 1110</a:t>
            </a:r>
          </a:p>
          <a:p>
            <a:r>
              <a:rPr lang="en-US" altLang="zh-TW"/>
              <a:t>2b: +D, sl R, 0	 	D: 0010	R:</a:t>
            </a:r>
            <a:r>
              <a:rPr lang="en-US" altLang="zh-TW" u="sng"/>
              <a:t> 0001</a:t>
            </a:r>
            <a:r>
              <a:rPr lang="en-US" altLang="zh-TW"/>
              <a:t> </a:t>
            </a:r>
            <a:r>
              <a:rPr lang="en-US" altLang="zh-TW" u="sng"/>
              <a:t>1100</a:t>
            </a:r>
            <a:endParaRPr lang="en-US" altLang="zh-TW"/>
          </a:p>
          <a:p>
            <a:r>
              <a:rPr lang="en-US" altLang="zh-TW"/>
              <a:t>1: R = R 		D: 0010	R: </a:t>
            </a:r>
            <a:r>
              <a:rPr lang="en-US" altLang="zh-TW" u="sng"/>
              <a:t>1111</a:t>
            </a:r>
            <a:r>
              <a:rPr lang="en-US" altLang="zh-TW"/>
              <a:t> 1100</a:t>
            </a:r>
          </a:p>
          <a:p>
            <a:r>
              <a:rPr lang="en-US" altLang="zh-TW"/>
              <a:t>2b: +D, sl R, 0	 	D: 0010	R:</a:t>
            </a:r>
            <a:r>
              <a:rPr lang="en-US" altLang="zh-TW" u="sng"/>
              <a:t> 0011</a:t>
            </a:r>
            <a:r>
              <a:rPr lang="en-US" altLang="zh-TW"/>
              <a:t> </a:t>
            </a:r>
            <a:r>
              <a:rPr lang="en-US" altLang="zh-TW" u="sng"/>
              <a:t>1000</a:t>
            </a:r>
            <a:endParaRPr lang="en-US" altLang="zh-TW"/>
          </a:p>
          <a:p>
            <a:r>
              <a:rPr lang="en-US" altLang="zh-TW"/>
              <a:t>1: R = R 		D: 0010	R: </a:t>
            </a:r>
            <a:r>
              <a:rPr lang="en-US" altLang="zh-TW" u="sng"/>
              <a:t>0001</a:t>
            </a:r>
            <a:r>
              <a:rPr lang="en-US" altLang="zh-TW"/>
              <a:t> 1000</a:t>
            </a:r>
          </a:p>
          <a:p>
            <a:r>
              <a:rPr lang="en-US" altLang="zh-TW"/>
              <a:t>2a: sl R, 1	 	D: 0010	R:</a:t>
            </a:r>
            <a:r>
              <a:rPr lang="en-US" altLang="zh-TW" u="sng"/>
              <a:t> 0011</a:t>
            </a:r>
            <a:r>
              <a:rPr lang="en-US" altLang="zh-TW"/>
              <a:t> </a:t>
            </a:r>
            <a:r>
              <a:rPr lang="en-US" altLang="zh-TW" u="sng"/>
              <a:t>0001</a:t>
            </a:r>
            <a:endParaRPr lang="en-US" altLang="zh-TW"/>
          </a:p>
          <a:p>
            <a:r>
              <a:rPr lang="en-US" altLang="zh-TW"/>
              <a:t>1: R = R 		D: 0010	R: </a:t>
            </a:r>
            <a:r>
              <a:rPr lang="en-US" altLang="zh-TW" u="sng"/>
              <a:t>0001</a:t>
            </a:r>
            <a:r>
              <a:rPr lang="en-US" altLang="zh-TW"/>
              <a:t> 0001</a:t>
            </a:r>
          </a:p>
          <a:p>
            <a:r>
              <a:rPr lang="en-US" altLang="zh-TW"/>
              <a:t>2a: sl R, 1	 	D: 0010	R:</a:t>
            </a:r>
            <a:r>
              <a:rPr lang="en-US" altLang="zh-TW" u="sng"/>
              <a:t> 0010</a:t>
            </a:r>
            <a:r>
              <a:rPr lang="en-US" altLang="zh-TW"/>
              <a:t> </a:t>
            </a:r>
            <a:r>
              <a:rPr lang="en-US" altLang="zh-TW" u="sng"/>
              <a:t>0011</a:t>
            </a:r>
            <a:endParaRPr lang="en-US" altLang="zh-TW"/>
          </a:p>
          <a:p>
            <a:r>
              <a:rPr lang="en-US" altLang="zh-TW"/>
              <a:t>Shr R(rh)		D: 0010	R:</a:t>
            </a:r>
            <a:r>
              <a:rPr lang="en-US" altLang="zh-TW" u="sng"/>
              <a:t> 0001</a:t>
            </a:r>
            <a:r>
              <a:rPr lang="en-US" altLang="zh-TW"/>
              <a:t> 0011</a:t>
            </a:r>
          </a:p>
        </p:txBody>
      </p:sp>
      <p:sp>
        <p:nvSpPr>
          <p:cNvPr id="201731"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202755"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body" idx="1"/>
          </p:nvPr>
        </p:nvSpPr>
        <p:spPr>
          <a:xfrm>
            <a:off x="512763" y="4721225"/>
            <a:ext cx="5865812" cy="4471988"/>
          </a:xfrm>
          <a:noFill/>
        </p:spPr>
        <p:txBody>
          <a:bodyPr lIns="92485" tIns="46243" rIns="92485" bIns="46243"/>
          <a:lstStyle/>
          <a:p>
            <a:r>
              <a:rPr lang="en-US" altLang="zh-TW"/>
              <a:t>Multiply</a:t>
            </a:r>
            <a:r>
              <a:rPr lang="zh-CN" altLang="en-US"/>
              <a:t>和</a:t>
            </a:r>
            <a:r>
              <a:rPr lang="en-US" altLang="zh-CN"/>
              <a:t>Divide</a:t>
            </a:r>
            <a:r>
              <a:rPr lang="zh-CN" altLang="en-US"/>
              <a:t>用完全相同的结构</a:t>
            </a:r>
          </a:p>
        </p:txBody>
      </p:sp>
      <p:sp>
        <p:nvSpPr>
          <p:cNvPr id="203779"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204803"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114021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414977" cy="569415"/>
            <a:chOff x="86980" y="6239920"/>
            <a:chExt cx="3414977"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672120"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8" y="1021404"/>
            <a:ext cx="8160657" cy="2683883"/>
          </a:xfrm>
        </p:spPr>
        <p:txBody>
          <a:bodyPr/>
          <a:lstStyle/>
          <a:p>
            <a:pPr algn="ctr"/>
            <a:r>
              <a:rPr lang="en-US" altLang="zh-TW" sz="4000" dirty="0">
                <a:effectLst>
                  <a:outerShdw blurRad="38100" dist="38100" dir="2700000" algn="tl">
                    <a:srgbClr val="000000">
                      <a:alpha val="43137"/>
                    </a:srgbClr>
                  </a:outerShdw>
                </a:effectLst>
              </a:rPr>
              <a:t>CSC3050 – Computer Architecture</a:t>
            </a:r>
            <a:br>
              <a:rPr lang="en-US" altLang="zh-TW" sz="4000" dirty="0">
                <a:effectLst>
                  <a:outerShdw blurRad="38100" dist="38100" dir="2700000" algn="tl">
                    <a:srgbClr val="000000">
                      <a:alpha val="43137"/>
                    </a:srgbClr>
                  </a:outerShdw>
                </a:effectLst>
              </a:rPr>
            </a:br>
            <a:r>
              <a:rPr lang="en-US" altLang="zh-TW" sz="4000">
                <a:effectLst>
                  <a:outerShdw blurRad="38100" dist="38100" dir="2700000" algn="tl">
                    <a:srgbClr val="000000">
                      <a:alpha val="43137"/>
                    </a:srgbClr>
                  </a:outerShdw>
                </a:effectLst>
              </a:rPr>
              <a:t>ALU Operations</a:t>
            </a:r>
            <a:endParaRPr lang="zh-TW" altLang="en-US" sz="40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1818968" y="3429000"/>
            <a:ext cx="7908692" cy="23395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769360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5795" y="144466"/>
            <a:ext cx="10191792" cy="692151"/>
          </a:xfrm>
        </p:spPr>
        <p:txBody>
          <a:bodyPr/>
          <a:lstStyle/>
          <a:p>
            <a:r>
              <a:rPr lang="en-US" dirty="0"/>
              <a:t>Arithmetic for Computers</a:t>
            </a:r>
          </a:p>
        </p:txBody>
      </p:sp>
      <p:sp>
        <p:nvSpPr>
          <p:cNvPr id="3" name="Content Placeholder 2"/>
          <p:cNvSpPr>
            <a:spLocks noGrp="1"/>
          </p:cNvSpPr>
          <p:nvPr>
            <p:ph idx="1"/>
          </p:nvPr>
        </p:nvSpPr>
        <p:spPr>
          <a:xfrm>
            <a:off x="1498834" y="1125537"/>
            <a:ext cx="10083565" cy="4631796"/>
          </a:xfrm>
        </p:spPr>
        <p:txBody>
          <a:bodyPr>
            <a:normAutofit lnSpcReduction="10000"/>
          </a:bodyPr>
          <a:lstStyle/>
          <a:p>
            <a:r>
              <a:rPr lang="en-US" dirty="0"/>
              <a:t>Operations on integers</a:t>
            </a:r>
          </a:p>
          <a:p>
            <a:pPr lvl="1"/>
            <a:r>
              <a:rPr lang="en-US" sz="2800" dirty="0"/>
              <a:t>Addition and subtraction</a:t>
            </a:r>
          </a:p>
          <a:p>
            <a:pPr lvl="1"/>
            <a:r>
              <a:rPr lang="en-US" sz="2800" dirty="0"/>
              <a:t>Multiplication and division</a:t>
            </a:r>
          </a:p>
          <a:p>
            <a:pPr lvl="1"/>
            <a:r>
              <a:rPr lang="en-US" sz="2800" dirty="0"/>
              <a:t>Dealing with overflow</a:t>
            </a:r>
          </a:p>
          <a:p>
            <a:r>
              <a:rPr lang="en-US" dirty="0"/>
              <a:t>Floating-point real numbers</a:t>
            </a:r>
          </a:p>
          <a:p>
            <a:pPr lvl="1"/>
            <a:r>
              <a:rPr lang="en-US" sz="2800" dirty="0"/>
              <a:t>Representation and operations</a:t>
            </a:r>
          </a:p>
          <a:p>
            <a:r>
              <a:rPr lang="en-US" dirty="0" err="1"/>
              <a:t>Subword</a:t>
            </a:r>
            <a:r>
              <a:rPr lang="en-US" dirty="0"/>
              <a:t> Parallelism</a:t>
            </a:r>
          </a:p>
          <a:p>
            <a:r>
              <a:rPr lang="en-US" dirty="0"/>
              <a:t>SIMD, Vector, and GPU Architecture</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5795" y="144466"/>
            <a:ext cx="10191792" cy="692151"/>
          </a:xfrm>
        </p:spPr>
        <p:txBody>
          <a:bodyPr/>
          <a:lstStyle/>
          <a:p>
            <a:r>
              <a:rPr lang="en-US" dirty="0"/>
              <a:t>Addition and Subtraction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3487" y="1125537"/>
                <a:ext cx="4305904" cy="4631796"/>
              </a:xfrm>
            </p:spPr>
            <p:txBody>
              <a:bodyPr>
                <a:normAutofit/>
              </a:bodyPr>
              <a:lstStyle/>
              <a:p>
                <a:r>
                  <a:rPr lang="en-US" dirty="0"/>
                  <a:t>Adding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6</m:t>
                        </m:r>
                      </m:e>
                      <m:sub>
                        <m:r>
                          <a:rPr lang="en-US" b="0" i="1" dirty="0" smtClean="0">
                            <a:latin typeface="Cambria Math" panose="02040503050406030204" pitchFamily="18" charset="0"/>
                          </a:rPr>
                          <m:t>10</m:t>
                        </m:r>
                      </m:sub>
                    </m:sSub>
                    <m:r>
                      <a:rPr lang="en-US" i="1" dirty="0" smtClean="0">
                        <a:latin typeface="Cambria Math" panose="02040503050406030204" pitchFamily="18" charset="0"/>
                      </a:rPr>
                      <m:t> </m:t>
                    </m:r>
                  </m:oMath>
                </a14:m>
                <a:r>
                  <a:rPr lang="en-US" dirty="0"/>
                  <a:t>to </a:t>
                </a:r>
                <a14:m>
                  <m:oMath xmlns:m="http://schemas.openxmlformats.org/officeDocument/2006/math">
                    <m:sSub>
                      <m:sSubPr>
                        <m:ctrlPr>
                          <a:rPr lang="en-US" i="1" dirty="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7</m:t>
                        </m:r>
                      </m:e>
                      <m:sub>
                        <m:r>
                          <a:rPr lang="en-US" i="1" dirty="0">
                            <a:solidFill>
                              <a:prstClr val="black"/>
                            </a:solidFill>
                            <a:latin typeface="Cambria Math" panose="02040503050406030204" pitchFamily="18" charset="0"/>
                          </a:rPr>
                          <m:t>10</m:t>
                        </m:r>
                      </m:sub>
                    </m:sSub>
                  </m:oMath>
                </a14:m>
                <a:endParaRPr lang="en-US" dirty="0"/>
              </a:p>
              <a:p>
                <a:endParaRPr lang="en-US" dirty="0"/>
              </a:p>
              <a:p>
                <a:endParaRPr lang="en-US" dirty="0"/>
              </a:p>
              <a:p>
                <a:endParaRPr lang="en-US" dirty="0"/>
              </a:p>
              <a:p>
                <a:r>
                  <a:rPr lang="en-US" dirty="0"/>
                  <a:t>Subtract </a:t>
                </a:r>
                <a14:m>
                  <m:oMath xmlns:m="http://schemas.openxmlformats.org/officeDocument/2006/math">
                    <m:sSub>
                      <m:sSubPr>
                        <m:ctrlPr>
                          <a:rPr lang="en-US" sz="3200" i="1" dirty="0">
                            <a:solidFill>
                              <a:prstClr val="black"/>
                            </a:solidFill>
                            <a:latin typeface="Cambria Math" panose="02040503050406030204" pitchFamily="18" charset="0"/>
                          </a:rPr>
                        </m:ctrlPr>
                      </m:sSubPr>
                      <m:e>
                        <m:r>
                          <a:rPr lang="en-US" sz="3200" i="1" dirty="0">
                            <a:solidFill>
                              <a:prstClr val="black"/>
                            </a:solidFill>
                            <a:latin typeface="Cambria Math" panose="02040503050406030204" pitchFamily="18" charset="0"/>
                          </a:rPr>
                          <m:t>6</m:t>
                        </m:r>
                      </m:e>
                      <m:sub>
                        <m:r>
                          <a:rPr lang="en-US" sz="3200" i="1" dirty="0">
                            <a:solidFill>
                              <a:prstClr val="black"/>
                            </a:solidFill>
                            <a:latin typeface="Cambria Math" panose="02040503050406030204" pitchFamily="18" charset="0"/>
                          </a:rPr>
                          <m:t>10</m:t>
                        </m:r>
                      </m:sub>
                    </m:sSub>
                    <m:r>
                      <a:rPr lang="en-US" sz="3200" i="1" dirty="0">
                        <a:solidFill>
                          <a:prstClr val="black"/>
                        </a:solidFill>
                        <a:latin typeface="Cambria Math" panose="02040503050406030204" pitchFamily="18" charset="0"/>
                      </a:rPr>
                      <m:t> </m:t>
                    </m:r>
                    <m:r>
                      <m:rPr>
                        <m:sty m:val="p"/>
                      </m:rPr>
                      <a:rPr lang="en-US" sz="3200" dirty="0">
                        <a:solidFill>
                          <a:prstClr val="black"/>
                        </a:solidFill>
                        <a:latin typeface="Cambria Math" panose="02040503050406030204" pitchFamily="18" charset="0"/>
                      </a:rPr>
                      <m:t>from</m:t>
                    </m:r>
                  </m:oMath>
                </a14:m>
                <a:r>
                  <a:rPr lang="en-US" sz="3200" dirty="0">
                    <a:solidFill>
                      <a:prstClr val="black"/>
                    </a:solidFill>
                  </a:rPr>
                  <a:t> </a:t>
                </a:r>
                <a14:m>
                  <m:oMath xmlns:m="http://schemas.openxmlformats.org/officeDocument/2006/math">
                    <m:sSub>
                      <m:sSubPr>
                        <m:ctrlPr>
                          <a:rPr lang="en-US" sz="3200" i="1" dirty="0">
                            <a:solidFill>
                              <a:prstClr val="black"/>
                            </a:solidFill>
                            <a:latin typeface="Cambria Math" panose="02040503050406030204" pitchFamily="18" charset="0"/>
                          </a:rPr>
                        </m:ctrlPr>
                      </m:sSubPr>
                      <m:e>
                        <m:r>
                          <a:rPr lang="en-US" sz="3200" i="1" dirty="0">
                            <a:solidFill>
                              <a:prstClr val="black"/>
                            </a:solidFill>
                            <a:latin typeface="Cambria Math" panose="02040503050406030204" pitchFamily="18" charset="0"/>
                          </a:rPr>
                          <m:t>7</m:t>
                        </m:r>
                      </m:e>
                      <m:sub>
                        <m:r>
                          <a:rPr lang="en-US" sz="3200" i="1" dirty="0">
                            <a:solidFill>
                              <a:prstClr val="black"/>
                            </a:solidFill>
                            <a:latin typeface="Cambria Math" panose="02040503050406030204" pitchFamily="18" charset="0"/>
                          </a:rPr>
                          <m:t>10</m:t>
                        </m:r>
                      </m:sub>
                    </m:sSub>
                  </m:oMath>
                </a14:m>
                <a:r>
                  <a:rPr lang="en-US" dirty="0"/>
                  <a:t>  </a:t>
                </a:r>
                <a:r>
                  <a:rPr lang="en-US" sz="3200" dirty="0"/>
                  <a:t>(7 + (-6))</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3487" y="1125537"/>
                <a:ext cx="4305904" cy="4631796"/>
              </a:xfrm>
              <a:blipFill>
                <a:blip r:embed="rId2"/>
                <a:stretch>
                  <a:fillRect l="-2833" t="-2240"/>
                </a:stretch>
              </a:blipFill>
            </p:spPr>
            <p:txBody>
              <a:bodyPr/>
              <a:lstStyle/>
              <a:p>
                <a:r>
                  <a:rPr lang="en-US">
                    <a:noFill/>
                  </a:rPr>
                  <a:t> </a:t>
                </a:r>
              </a:p>
            </p:txBody>
          </p:sp>
        </mc:Fallback>
      </mc:AlternateContent>
      <p:sp>
        <p:nvSpPr>
          <p:cNvPr id="6" name="灯片编号占位符 5"/>
          <p:cNvSpPr>
            <a:spLocks noGrp="1"/>
          </p:cNvSpPr>
          <p:nvPr>
            <p:ph type="sldNum" sz="quarter" idx="10"/>
          </p:nvPr>
        </p:nvSpPr>
        <p:spPr/>
        <p:txBody>
          <a:bodyPr/>
          <a:lstStyle/>
          <a:p>
            <a:fld id="{D9B6BDF2-6896-4B98-8776-C18582F63BA5}" type="slidenum">
              <a:rPr lang="zh-TW" altLang="en-US" smtClean="0"/>
              <a:t>3</a:t>
            </a:fld>
            <a:endParaRPr lang="zh-TW" altLang="en-US"/>
          </a:p>
        </p:txBody>
      </p:sp>
      <p:sp>
        <p:nvSpPr>
          <p:cNvPr id="4" name="Rectangle 3">
            <a:extLst>
              <a:ext uri="{FF2B5EF4-FFF2-40B4-BE49-F238E27FC236}">
                <a16:creationId xmlns:a16="http://schemas.microsoft.com/office/drawing/2014/main" id="{53AE63E5-C3E5-440D-9663-C29E2A3428C1}"/>
              </a:ext>
            </a:extLst>
          </p:cNvPr>
          <p:cNvSpPr/>
          <p:nvPr/>
        </p:nvSpPr>
        <p:spPr bwMode="auto">
          <a:xfrm>
            <a:off x="5796037" y="1248230"/>
            <a:ext cx="1703009" cy="803119"/>
          </a:xfrm>
          <a:prstGeom prst="rect">
            <a:avLst/>
          </a:prstGeom>
          <a:noFill/>
          <a:ln w="15875" cap="flat" cmpd="sng" algn="ctr">
            <a:noFill/>
            <a:prstDash val="solid"/>
            <a:round/>
            <a:headEnd type="none" w="med" len="med"/>
            <a:tailEnd type="none" w="med" len="med"/>
          </a:ln>
        </p:spPr>
        <p:txBody>
          <a:bodyPr vert="horz" wrap="none" lIns="121920" tIns="60960" rIns="121920" bIns="60960" numCol="1" rtlCol="0" anchor="ctr" anchorCtr="0" compatLnSpc="1"/>
          <a:lstStyle/>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00000110</a:t>
            </a:r>
          </a:p>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00000111</a:t>
            </a:r>
          </a:p>
        </p:txBody>
      </p:sp>
      <p:cxnSp>
        <p:nvCxnSpPr>
          <p:cNvPr id="7" name="Straight Connector 6">
            <a:extLst>
              <a:ext uri="{FF2B5EF4-FFF2-40B4-BE49-F238E27FC236}">
                <a16:creationId xmlns:a16="http://schemas.microsoft.com/office/drawing/2014/main" id="{57A07026-F12D-479B-8D97-3EF76325649F}"/>
              </a:ext>
            </a:extLst>
          </p:cNvPr>
          <p:cNvCxnSpPr/>
          <p:nvPr/>
        </p:nvCxnSpPr>
        <p:spPr bwMode="auto">
          <a:xfrm>
            <a:off x="5537938" y="2041672"/>
            <a:ext cx="1693333" cy="0"/>
          </a:xfrm>
          <a:prstGeom prst="line">
            <a:avLst/>
          </a:prstGeom>
          <a:noFill/>
          <a:ln w="15875" cap="flat" cmpd="sng" algn="ctr">
            <a:solidFill>
              <a:srgbClr val="FF0000"/>
            </a:solidFill>
            <a:prstDash val="solid"/>
            <a:round/>
            <a:headEnd type="none" w="med" len="med"/>
            <a:tailEnd type="none" w="med" len="med"/>
          </a:ln>
        </p:spPr>
      </p:cxnSp>
      <p:sp>
        <p:nvSpPr>
          <p:cNvPr id="8" name="TextBox 7">
            <a:extLst>
              <a:ext uri="{FF2B5EF4-FFF2-40B4-BE49-F238E27FC236}">
                <a16:creationId xmlns:a16="http://schemas.microsoft.com/office/drawing/2014/main" id="{035D4BED-5C0C-4FEE-8E30-6C060FB180C1}"/>
              </a:ext>
            </a:extLst>
          </p:cNvPr>
          <p:cNvSpPr txBox="1"/>
          <p:nvPr/>
        </p:nvSpPr>
        <p:spPr>
          <a:xfrm>
            <a:off x="5454108" y="1574296"/>
            <a:ext cx="364202"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a:t>
            </a:r>
          </a:p>
        </p:txBody>
      </p:sp>
      <p:sp>
        <p:nvSpPr>
          <p:cNvPr id="9" name="TextBox 8">
            <a:extLst>
              <a:ext uri="{FF2B5EF4-FFF2-40B4-BE49-F238E27FC236}">
                <a16:creationId xmlns:a16="http://schemas.microsoft.com/office/drawing/2014/main" id="{FBBCB407-239D-4CF9-9461-A4C9402699E7}"/>
              </a:ext>
            </a:extLst>
          </p:cNvPr>
          <p:cNvSpPr txBox="1"/>
          <p:nvPr/>
        </p:nvSpPr>
        <p:spPr>
          <a:xfrm>
            <a:off x="5796037" y="2057062"/>
            <a:ext cx="1539845" cy="461665"/>
          </a:xfrm>
          <a:prstGeom prst="rect">
            <a:avLst/>
          </a:prstGeom>
          <a:noFill/>
        </p:spPr>
        <p:txBody>
          <a:bodyPr wrap="none" rtlCol="0" anchor="ctr" anchorCtr="1">
            <a:spAutoFit/>
          </a:bodyPr>
          <a:lstStyle/>
          <a:p>
            <a:r>
              <a:rPr lang="en-US" sz="2400" b="1" dirty="0">
                <a:ea typeface="標楷體" panose="02010601000101010101" pitchFamily="65" charset="-120"/>
                <a:cs typeface="Calibri" panose="020F0502020204030204" pitchFamily="34" charset="0"/>
              </a:rPr>
              <a:t>00001101</a:t>
            </a:r>
          </a:p>
        </p:txBody>
      </p:sp>
      <p:sp>
        <p:nvSpPr>
          <p:cNvPr id="10" name="Rectangle 9">
            <a:extLst>
              <a:ext uri="{FF2B5EF4-FFF2-40B4-BE49-F238E27FC236}">
                <a16:creationId xmlns:a16="http://schemas.microsoft.com/office/drawing/2014/main" id="{3E05E09A-F571-4148-9A6B-770697100A62}"/>
              </a:ext>
            </a:extLst>
          </p:cNvPr>
          <p:cNvSpPr/>
          <p:nvPr/>
        </p:nvSpPr>
        <p:spPr bwMode="auto">
          <a:xfrm>
            <a:off x="5737982" y="3696306"/>
            <a:ext cx="1703009" cy="803119"/>
          </a:xfrm>
          <a:prstGeom prst="rect">
            <a:avLst/>
          </a:prstGeom>
          <a:noFill/>
          <a:ln w="15875" cap="flat" cmpd="sng" algn="ctr">
            <a:noFill/>
            <a:prstDash val="solid"/>
            <a:round/>
            <a:headEnd type="none" w="med" len="med"/>
            <a:tailEnd type="none" w="med" len="med"/>
          </a:ln>
        </p:spPr>
        <p:txBody>
          <a:bodyPr vert="horz" wrap="none" lIns="121920" tIns="60960" rIns="121920" bIns="60960" numCol="1" rtlCol="0" anchor="ctr" anchorCtr="0" compatLnSpc="1"/>
          <a:lstStyle/>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11111010</a:t>
            </a:r>
          </a:p>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00000111</a:t>
            </a:r>
          </a:p>
        </p:txBody>
      </p:sp>
      <p:cxnSp>
        <p:nvCxnSpPr>
          <p:cNvPr id="11" name="Straight Connector 10">
            <a:extLst>
              <a:ext uri="{FF2B5EF4-FFF2-40B4-BE49-F238E27FC236}">
                <a16:creationId xmlns:a16="http://schemas.microsoft.com/office/drawing/2014/main" id="{30CD9781-6034-4520-9C01-093E7E0E7A3C}"/>
              </a:ext>
            </a:extLst>
          </p:cNvPr>
          <p:cNvCxnSpPr/>
          <p:nvPr/>
        </p:nvCxnSpPr>
        <p:spPr bwMode="auto">
          <a:xfrm>
            <a:off x="5479883" y="4489748"/>
            <a:ext cx="1693333" cy="0"/>
          </a:xfrm>
          <a:prstGeom prst="line">
            <a:avLst/>
          </a:prstGeom>
          <a:noFill/>
          <a:ln w="15875" cap="flat" cmpd="sng" algn="ctr">
            <a:solidFill>
              <a:srgbClr val="FF0000"/>
            </a:solidFill>
            <a:prstDash val="solid"/>
            <a:round/>
            <a:headEnd type="none" w="med" len="med"/>
            <a:tailEnd type="none" w="med" len="med"/>
          </a:ln>
        </p:spPr>
      </p:cxnSp>
      <p:sp>
        <p:nvSpPr>
          <p:cNvPr id="12" name="TextBox 11">
            <a:extLst>
              <a:ext uri="{FF2B5EF4-FFF2-40B4-BE49-F238E27FC236}">
                <a16:creationId xmlns:a16="http://schemas.microsoft.com/office/drawing/2014/main" id="{B3511D52-5D92-4627-9255-F4940763736B}"/>
              </a:ext>
            </a:extLst>
          </p:cNvPr>
          <p:cNvSpPr txBox="1"/>
          <p:nvPr/>
        </p:nvSpPr>
        <p:spPr>
          <a:xfrm>
            <a:off x="5396053" y="4022372"/>
            <a:ext cx="364202"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a:t>
            </a:r>
          </a:p>
        </p:txBody>
      </p:sp>
      <p:sp>
        <p:nvSpPr>
          <p:cNvPr id="13" name="TextBox 12">
            <a:extLst>
              <a:ext uri="{FF2B5EF4-FFF2-40B4-BE49-F238E27FC236}">
                <a16:creationId xmlns:a16="http://schemas.microsoft.com/office/drawing/2014/main" id="{A1D44FC7-E8E3-4FC7-B401-F82828257BB6}"/>
              </a:ext>
            </a:extLst>
          </p:cNvPr>
          <p:cNvSpPr txBox="1"/>
          <p:nvPr/>
        </p:nvSpPr>
        <p:spPr>
          <a:xfrm>
            <a:off x="5737981" y="4505138"/>
            <a:ext cx="1556836" cy="461665"/>
          </a:xfrm>
          <a:prstGeom prst="rect">
            <a:avLst/>
          </a:prstGeom>
          <a:noFill/>
        </p:spPr>
        <p:txBody>
          <a:bodyPr wrap="none" rtlCol="0" anchor="ctr" anchorCtr="1">
            <a:spAutoFit/>
          </a:bodyPr>
          <a:lstStyle/>
          <a:p>
            <a:r>
              <a:rPr lang="en-US" sz="2400" b="1" dirty="0">
                <a:ea typeface="標楷體" panose="02010601000101010101" pitchFamily="65" charset="-120"/>
                <a:cs typeface="Calibri" panose="020F0502020204030204" pitchFamily="34" charset="0"/>
              </a:rPr>
              <a:t>00000001</a:t>
            </a:r>
          </a:p>
        </p:txBody>
      </p:sp>
      <p:cxnSp>
        <p:nvCxnSpPr>
          <p:cNvPr id="15" name="Straight Arrow Connector 14">
            <a:extLst>
              <a:ext uri="{FF2B5EF4-FFF2-40B4-BE49-F238E27FC236}">
                <a16:creationId xmlns:a16="http://schemas.microsoft.com/office/drawing/2014/main" id="{C9848250-BED7-46A3-A10D-FCB915E9C24F}"/>
              </a:ext>
            </a:extLst>
          </p:cNvPr>
          <p:cNvCxnSpPr/>
          <p:nvPr/>
        </p:nvCxnSpPr>
        <p:spPr bwMode="auto">
          <a:xfrm flipH="1">
            <a:off x="7044267" y="3357639"/>
            <a:ext cx="1393372" cy="551543"/>
          </a:xfrm>
          <a:prstGeom prst="straightConnector1">
            <a:avLst/>
          </a:prstGeom>
          <a:noFill/>
          <a:ln w="15875" cap="flat" cmpd="sng" algn="ctr">
            <a:solidFill>
              <a:srgbClr val="FF0000"/>
            </a:solidFill>
            <a:prstDash val="solid"/>
            <a:round/>
            <a:headEnd type="none" w="med" len="med"/>
            <a:tailEnd type="triangle"/>
          </a:ln>
        </p:spPr>
      </p:cxnSp>
      <p:sp>
        <p:nvSpPr>
          <p:cNvPr id="16" name="TextBox 15">
            <a:extLst>
              <a:ext uri="{FF2B5EF4-FFF2-40B4-BE49-F238E27FC236}">
                <a16:creationId xmlns:a16="http://schemas.microsoft.com/office/drawing/2014/main" id="{F1A6E0B9-19B9-4ACA-B934-5377A99F24AF}"/>
              </a:ext>
            </a:extLst>
          </p:cNvPr>
          <p:cNvSpPr txBox="1"/>
          <p:nvPr/>
        </p:nvSpPr>
        <p:spPr>
          <a:xfrm>
            <a:off x="8437639" y="3058022"/>
            <a:ext cx="2900987"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-6 (2’s complement)</a:t>
            </a:r>
          </a:p>
        </p:txBody>
      </p:sp>
      <p:sp>
        <p:nvSpPr>
          <p:cNvPr id="5" name="TextBox 4">
            <a:extLst>
              <a:ext uri="{FF2B5EF4-FFF2-40B4-BE49-F238E27FC236}">
                <a16:creationId xmlns:a16="http://schemas.microsoft.com/office/drawing/2014/main" id="{0A936C44-3668-4CA7-9323-8EF57BBE5E11}"/>
              </a:ext>
            </a:extLst>
          </p:cNvPr>
          <p:cNvSpPr txBox="1"/>
          <p:nvPr/>
        </p:nvSpPr>
        <p:spPr>
          <a:xfrm>
            <a:off x="7844630" y="1204964"/>
            <a:ext cx="3262432"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Assuming 8bit signed integers</a:t>
            </a:r>
          </a:p>
        </p:txBody>
      </p:sp>
    </p:spTree>
    <p:extLst>
      <p:ext uri="{BB962C8B-B14F-4D97-AF65-F5344CB8AC3E}">
        <p14:creationId xmlns:p14="http://schemas.microsoft.com/office/powerpoint/2010/main" val="3240594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5795" y="144466"/>
            <a:ext cx="10191792" cy="692151"/>
          </a:xfrm>
        </p:spPr>
        <p:txBody>
          <a:bodyPr/>
          <a:lstStyle/>
          <a:p>
            <a:r>
              <a:rPr lang="en-US" dirty="0"/>
              <a:t>Addition and Subtraction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3487" y="1125537"/>
                <a:ext cx="4556982" cy="4631796"/>
              </a:xfrm>
            </p:spPr>
            <p:txBody>
              <a:bodyPr>
                <a:normAutofit/>
              </a:bodyPr>
              <a:lstStyle/>
              <a:p>
                <a:r>
                  <a:rPr lang="en-US" dirty="0"/>
                  <a:t>Adding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127</m:t>
                        </m:r>
                      </m:e>
                      <m:sub>
                        <m:r>
                          <a:rPr lang="en-US" b="0" i="1" dirty="0" smtClean="0">
                            <a:latin typeface="Cambria Math" panose="02040503050406030204" pitchFamily="18" charset="0"/>
                          </a:rPr>
                          <m:t>10</m:t>
                        </m:r>
                      </m:sub>
                    </m:sSub>
                    <m:r>
                      <a:rPr lang="en-US" i="1" dirty="0" smtClean="0">
                        <a:latin typeface="Cambria Math" panose="02040503050406030204" pitchFamily="18" charset="0"/>
                      </a:rPr>
                      <m:t> </m:t>
                    </m:r>
                  </m:oMath>
                </a14:m>
                <a:r>
                  <a:rPr lang="en-US" dirty="0"/>
                  <a:t>to </a:t>
                </a:r>
                <a14:m>
                  <m:oMath xmlns:m="http://schemas.openxmlformats.org/officeDocument/2006/math">
                    <m:sSub>
                      <m:sSubPr>
                        <m:ctrlPr>
                          <a:rPr lang="en-US" i="1" dirty="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3</m:t>
                        </m:r>
                      </m:e>
                      <m:sub>
                        <m:r>
                          <a:rPr lang="en-US" i="1" dirty="0">
                            <a:solidFill>
                              <a:prstClr val="black"/>
                            </a:solidFill>
                            <a:latin typeface="Cambria Math" panose="02040503050406030204" pitchFamily="18" charset="0"/>
                          </a:rPr>
                          <m:t>10</m:t>
                        </m:r>
                      </m:sub>
                    </m:sSub>
                  </m:oMath>
                </a14:m>
                <a:endParaRPr lang="en-US" dirty="0"/>
              </a:p>
              <a:p>
                <a:endParaRPr lang="en-US" dirty="0"/>
              </a:p>
              <a:p>
                <a:endParaRPr lang="en-US" dirty="0"/>
              </a:p>
              <a:p>
                <a:endParaRPr lang="en-US" dirty="0"/>
              </a:p>
              <a:p>
                <a:r>
                  <a:rPr lang="en-US" dirty="0"/>
                  <a:t>Subtract </a:t>
                </a:r>
                <a14:m>
                  <m:oMath xmlns:m="http://schemas.openxmlformats.org/officeDocument/2006/math">
                    <m:sSub>
                      <m:sSubPr>
                        <m:ctrlPr>
                          <a:rPr lang="en-US" sz="3200" i="1" dirty="0">
                            <a:solidFill>
                              <a:prstClr val="black"/>
                            </a:solidFill>
                            <a:latin typeface="Cambria Math" panose="02040503050406030204" pitchFamily="18" charset="0"/>
                          </a:rPr>
                        </m:ctrlPr>
                      </m:sSubPr>
                      <m:e>
                        <m:r>
                          <a:rPr lang="en-US" sz="3200" i="1" dirty="0">
                            <a:solidFill>
                              <a:prstClr val="black"/>
                            </a:solidFill>
                            <a:latin typeface="Cambria Math" panose="02040503050406030204" pitchFamily="18" charset="0"/>
                          </a:rPr>
                          <m:t>6</m:t>
                        </m:r>
                      </m:e>
                      <m:sub>
                        <m:r>
                          <a:rPr lang="en-US" sz="3200" i="1" dirty="0">
                            <a:solidFill>
                              <a:prstClr val="black"/>
                            </a:solidFill>
                            <a:latin typeface="Cambria Math" panose="02040503050406030204" pitchFamily="18" charset="0"/>
                          </a:rPr>
                          <m:t>10</m:t>
                        </m:r>
                      </m:sub>
                    </m:sSub>
                    <m:r>
                      <a:rPr lang="en-US" sz="3200" i="1" dirty="0">
                        <a:solidFill>
                          <a:prstClr val="black"/>
                        </a:solidFill>
                        <a:latin typeface="Cambria Math" panose="02040503050406030204" pitchFamily="18" charset="0"/>
                      </a:rPr>
                      <m:t> </m:t>
                    </m:r>
                    <m:r>
                      <m:rPr>
                        <m:sty m:val="p"/>
                      </m:rPr>
                      <a:rPr lang="en-US" sz="3200" dirty="0">
                        <a:solidFill>
                          <a:prstClr val="black"/>
                        </a:solidFill>
                        <a:latin typeface="Cambria Math" panose="02040503050406030204" pitchFamily="18" charset="0"/>
                      </a:rPr>
                      <m:t>from</m:t>
                    </m:r>
                  </m:oMath>
                </a14:m>
                <a:r>
                  <a:rPr lang="en-US" sz="3200" dirty="0">
                    <a:solidFill>
                      <a:prstClr val="black"/>
                    </a:solidFill>
                  </a:rPr>
                  <a:t> </a:t>
                </a:r>
                <a14:m>
                  <m:oMath xmlns:m="http://schemas.openxmlformats.org/officeDocument/2006/math">
                    <m:sSub>
                      <m:sSubPr>
                        <m:ctrlPr>
                          <a:rPr lang="en-US" sz="3200" i="1" dirty="0">
                            <a:solidFill>
                              <a:prstClr val="black"/>
                            </a:solidFill>
                            <a:latin typeface="Cambria Math" panose="02040503050406030204" pitchFamily="18" charset="0"/>
                          </a:rPr>
                        </m:ctrlPr>
                      </m:sSubPr>
                      <m:e>
                        <m:r>
                          <a:rPr lang="en-US" sz="3200" b="0" i="1" dirty="0" smtClean="0">
                            <a:solidFill>
                              <a:prstClr val="black"/>
                            </a:solidFill>
                            <a:latin typeface="Cambria Math" panose="02040503050406030204" pitchFamily="18" charset="0"/>
                          </a:rPr>
                          <m:t>−128</m:t>
                        </m:r>
                      </m:e>
                      <m:sub>
                        <m:r>
                          <a:rPr lang="en-US" sz="3200" i="1" dirty="0">
                            <a:solidFill>
                              <a:prstClr val="black"/>
                            </a:solidFill>
                            <a:latin typeface="Cambria Math" panose="02040503050406030204" pitchFamily="18" charset="0"/>
                          </a:rPr>
                          <m:t>10</m:t>
                        </m:r>
                      </m:sub>
                    </m:sSub>
                  </m:oMath>
                </a14:m>
                <a:r>
                  <a:rPr lang="en-US" dirty="0"/>
                  <a:t>  </a:t>
                </a:r>
                <a:r>
                  <a:rPr lang="en-US" sz="3200" dirty="0"/>
                  <a:t>(-128 + (-6))</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3487" y="1125537"/>
                <a:ext cx="4556982" cy="4631796"/>
              </a:xfrm>
              <a:blipFill>
                <a:blip r:embed="rId2"/>
                <a:stretch>
                  <a:fillRect l="-2677" t="-2240"/>
                </a:stretch>
              </a:blipFill>
            </p:spPr>
            <p:txBody>
              <a:bodyPr/>
              <a:lstStyle/>
              <a:p>
                <a:r>
                  <a:rPr lang="en-US">
                    <a:noFill/>
                  </a:rPr>
                  <a:t> </a:t>
                </a:r>
              </a:p>
            </p:txBody>
          </p:sp>
        </mc:Fallback>
      </mc:AlternateContent>
      <p:sp>
        <p:nvSpPr>
          <p:cNvPr id="6" name="灯片编号占位符 5"/>
          <p:cNvSpPr>
            <a:spLocks noGrp="1"/>
          </p:cNvSpPr>
          <p:nvPr>
            <p:ph type="sldNum" sz="quarter" idx="10"/>
          </p:nvPr>
        </p:nvSpPr>
        <p:spPr/>
        <p:txBody>
          <a:bodyPr/>
          <a:lstStyle/>
          <a:p>
            <a:fld id="{D9B6BDF2-6896-4B98-8776-C18582F63BA5}" type="slidenum">
              <a:rPr lang="zh-TW" altLang="en-US" smtClean="0"/>
              <a:t>4</a:t>
            </a:fld>
            <a:endParaRPr lang="zh-TW" altLang="en-US"/>
          </a:p>
        </p:txBody>
      </p:sp>
      <p:sp>
        <p:nvSpPr>
          <p:cNvPr id="4" name="Rectangle 3">
            <a:extLst>
              <a:ext uri="{FF2B5EF4-FFF2-40B4-BE49-F238E27FC236}">
                <a16:creationId xmlns:a16="http://schemas.microsoft.com/office/drawing/2014/main" id="{53AE63E5-C3E5-440D-9663-C29E2A3428C1}"/>
              </a:ext>
            </a:extLst>
          </p:cNvPr>
          <p:cNvSpPr/>
          <p:nvPr/>
        </p:nvSpPr>
        <p:spPr bwMode="auto">
          <a:xfrm>
            <a:off x="5796037" y="1248230"/>
            <a:ext cx="1703009" cy="803119"/>
          </a:xfrm>
          <a:prstGeom prst="rect">
            <a:avLst/>
          </a:prstGeom>
          <a:noFill/>
          <a:ln w="15875" cap="flat" cmpd="sng" algn="ctr">
            <a:noFill/>
            <a:prstDash val="solid"/>
            <a:round/>
            <a:headEnd type="none" w="med" len="med"/>
            <a:tailEnd type="none" w="med" len="med"/>
          </a:ln>
        </p:spPr>
        <p:txBody>
          <a:bodyPr vert="horz" wrap="none" lIns="121920" tIns="60960" rIns="121920" bIns="60960" numCol="1" rtlCol="0" anchor="ctr" anchorCtr="0" compatLnSpc="1"/>
          <a:lstStyle/>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 01111111</a:t>
            </a:r>
          </a:p>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00000011</a:t>
            </a:r>
          </a:p>
        </p:txBody>
      </p:sp>
      <p:cxnSp>
        <p:nvCxnSpPr>
          <p:cNvPr id="7" name="Straight Connector 6">
            <a:extLst>
              <a:ext uri="{FF2B5EF4-FFF2-40B4-BE49-F238E27FC236}">
                <a16:creationId xmlns:a16="http://schemas.microsoft.com/office/drawing/2014/main" id="{57A07026-F12D-479B-8D97-3EF76325649F}"/>
              </a:ext>
            </a:extLst>
          </p:cNvPr>
          <p:cNvCxnSpPr/>
          <p:nvPr/>
        </p:nvCxnSpPr>
        <p:spPr bwMode="auto">
          <a:xfrm>
            <a:off x="5537938" y="2041672"/>
            <a:ext cx="1693333" cy="0"/>
          </a:xfrm>
          <a:prstGeom prst="line">
            <a:avLst/>
          </a:prstGeom>
          <a:noFill/>
          <a:ln w="15875" cap="flat" cmpd="sng" algn="ctr">
            <a:solidFill>
              <a:srgbClr val="FF0000"/>
            </a:solidFill>
            <a:prstDash val="solid"/>
            <a:round/>
            <a:headEnd type="none" w="med" len="med"/>
            <a:tailEnd type="none" w="med" len="med"/>
          </a:ln>
        </p:spPr>
      </p:cxnSp>
      <p:sp>
        <p:nvSpPr>
          <p:cNvPr id="8" name="TextBox 7">
            <a:extLst>
              <a:ext uri="{FF2B5EF4-FFF2-40B4-BE49-F238E27FC236}">
                <a16:creationId xmlns:a16="http://schemas.microsoft.com/office/drawing/2014/main" id="{035D4BED-5C0C-4FEE-8E30-6C060FB180C1}"/>
              </a:ext>
            </a:extLst>
          </p:cNvPr>
          <p:cNvSpPr txBox="1"/>
          <p:nvPr/>
        </p:nvSpPr>
        <p:spPr>
          <a:xfrm>
            <a:off x="5454108" y="1574296"/>
            <a:ext cx="364202"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a:t>
            </a:r>
          </a:p>
        </p:txBody>
      </p:sp>
      <p:sp>
        <p:nvSpPr>
          <p:cNvPr id="9" name="TextBox 8">
            <a:extLst>
              <a:ext uri="{FF2B5EF4-FFF2-40B4-BE49-F238E27FC236}">
                <a16:creationId xmlns:a16="http://schemas.microsoft.com/office/drawing/2014/main" id="{FBBCB407-239D-4CF9-9461-A4C9402699E7}"/>
              </a:ext>
            </a:extLst>
          </p:cNvPr>
          <p:cNvSpPr txBox="1"/>
          <p:nvPr/>
        </p:nvSpPr>
        <p:spPr>
          <a:xfrm>
            <a:off x="5807206" y="1967829"/>
            <a:ext cx="1556836" cy="461665"/>
          </a:xfrm>
          <a:prstGeom prst="rect">
            <a:avLst/>
          </a:prstGeom>
          <a:noFill/>
        </p:spPr>
        <p:txBody>
          <a:bodyPr wrap="none" rtlCol="0" anchor="ctr" anchorCtr="1">
            <a:spAutoFit/>
          </a:bodyPr>
          <a:lstStyle/>
          <a:p>
            <a:r>
              <a:rPr lang="en-US" sz="2400" b="1" dirty="0">
                <a:ea typeface="標楷體" panose="02010601000101010101" pitchFamily="65" charset="-120"/>
                <a:cs typeface="Calibri" panose="020F0502020204030204" pitchFamily="34" charset="0"/>
              </a:rPr>
              <a:t>10000010</a:t>
            </a:r>
          </a:p>
        </p:txBody>
      </p:sp>
      <p:sp>
        <p:nvSpPr>
          <p:cNvPr id="10" name="Rectangle 9">
            <a:extLst>
              <a:ext uri="{FF2B5EF4-FFF2-40B4-BE49-F238E27FC236}">
                <a16:creationId xmlns:a16="http://schemas.microsoft.com/office/drawing/2014/main" id="{3E05E09A-F571-4148-9A6B-770697100A62}"/>
              </a:ext>
            </a:extLst>
          </p:cNvPr>
          <p:cNvSpPr/>
          <p:nvPr/>
        </p:nvSpPr>
        <p:spPr bwMode="auto">
          <a:xfrm>
            <a:off x="5737982" y="3696306"/>
            <a:ext cx="1703009" cy="803119"/>
          </a:xfrm>
          <a:prstGeom prst="rect">
            <a:avLst/>
          </a:prstGeom>
          <a:noFill/>
          <a:ln w="15875" cap="flat" cmpd="sng" algn="ctr">
            <a:noFill/>
            <a:prstDash val="solid"/>
            <a:round/>
            <a:headEnd type="none" w="med" len="med"/>
            <a:tailEnd type="none" w="med" len="med"/>
          </a:ln>
        </p:spPr>
        <p:txBody>
          <a:bodyPr vert="horz" wrap="none" lIns="121920" tIns="60960" rIns="121920" bIns="60960" numCol="1" rtlCol="0" anchor="ctr" anchorCtr="0" compatLnSpc="1"/>
          <a:lstStyle/>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 11111010</a:t>
            </a:r>
          </a:p>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10000000</a:t>
            </a:r>
          </a:p>
        </p:txBody>
      </p:sp>
      <p:cxnSp>
        <p:nvCxnSpPr>
          <p:cNvPr id="11" name="Straight Connector 10">
            <a:extLst>
              <a:ext uri="{FF2B5EF4-FFF2-40B4-BE49-F238E27FC236}">
                <a16:creationId xmlns:a16="http://schemas.microsoft.com/office/drawing/2014/main" id="{30CD9781-6034-4520-9C01-093E7E0E7A3C}"/>
              </a:ext>
            </a:extLst>
          </p:cNvPr>
          <p:cNvCxnSpPr/>
          <p:nvPr/>
        </p:nvCxnSpPr>
        <p:spPr bwMode="auto">
          <a:xfrm>
            <a:off x="5479883" y="4489748"/>
            <a:ext cx="1693333" cy="0"/>
          </a:xfrm>
          <a:prstGeom prst="line">
            <a:avLst/>
          </a:prstGeom>
          <a:noFill/>
          <a:ln w="15875" cap="flat" cmpd="sng" algn="ctr">
            <a:solidFill>
              <a:srgbClr val="FF0000"/>
            </a:solidFill>
            <a:prstDash val="solid"/>
            <a:round/>
            <a:headEnd type="none" w="med" len="med"/>
            <a:tailEnd type="none" w="med" len="med"/>
          </a:ln>
        </p:spPr>
      </p:cxnSp>
      <p:sp>
        <p:nvSpPr>
          <p:cNvPr id="12" name="TextBox 11">
            <a:extLst>
              <a:ext uri="{FF2B5EF4-FFF2-40B4-BE49-F238E27FC236}">
                <a16:creationId xmlns:a16="http://schemas.microsoft.com/office/drawing/2014/main" id="{B3511D52-5D92-4627-9255-F4940763736B}"/>
              </a:ext>
            </a:extLst>
          </p:cNvPr>
          <p:cNvSpPr txBox="1"/>
          <p:nvPr/>
        </p:nvSpPr>
        <p:spPr>
          <a:xfrm>
            <a:off x="5396053" y="4022372"/>
            <a:ext cx="364202"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a:t>
            </a:r>
          </a:p>
        </p:txBody>
      </p:sp>
      <p:sp>
        <p:nvSpPr>
          <p:cNvPr id="13" name="TextBox 12">
            <a:extLst>
              <a:ext uri="{FF2B5EF4-FFF2-40B4-BE49-F238E27FC236}">
                <a16:creationId xmlns:a16="http://schemas.microsoft.com/office/drawing/2014/main" id="{A1D44FC7-E8E3-4FC7-B401-F82828257BB6}"/>
              </a:ext>
            </a:extLst>
          </p:cNvPr>
          <p:cNvSpPr txBox="1"/>
          <p:nvPr/>
        </p:nvSpPr>
        <p:spPr>
          <a:xfrm>
            <a:off x="5796037" y="4556983"/>
            <a:ext cx="1505861" cy="461665"/>
          </a:xfrm>
          <a:prstGeom prst="rect">
            <a:avLst/>
          </a:prstGeom>
          <a:noFill/>
        </p:spPr>
        <p:txBody>
          <a:bodyPr wrap="none" rtlCol="0" anchor="ctr" anchorCtr="1">
            <a:spAutoFit/>
          </a:bodyPr>
          <a:lstStyle/>
          <a:p>
            <a:r>
              <a:rPr lang="en-US" sz="2400" b="1" dirty="0">
                <a:ea typeface="標楷體" panose="02010601000101010101" pitchFamily="65" charset="-120"/>
                <a:cs typeface="Calibri" panose="020F0502020204030204" pitchFamily="34" charset="0"/>
              </a:rPr>
              <a:t>01111010</a:t>
            </a:r>
          </a:p>
        </p:txBody>
      </p:sp>
      <p:cxnSp>
        <p:nvCxnSpPr>
          <p:cNvPr id="15" name="Straight Arrow Connector 14">
            <a:extLst>
              <a:ext uri="{FF2B5EF4-FFF2-40B4-BE49-F238E27FC236}">
                <a16:creationId xmlns:a16="http://schemas.microsoft.com/office/drawing/2014/main" id="{C9848250-BED7-46A3-A10D-FCB915E9C24F}"/>
              </a:ext>
            </a:extLst>
          </p:cNvPr>
          <p:cNvCxnSpPr/>
          <p:nvPr/>
        </p:nvCxnSpPr>
        <p:spPr bwMode="auto">
          <a:xfrm flipH="1">
            <a:off x="7044267" y="3357639"/>
            <a:ext cx="1393372" cy="551543"/>
          </a:xfrm>
          <a:prstGeom prst="straightConnector1">
            <a:avLst/>
          </a:prstGeom>
          <a:noFill/>
          <a:ln w="15875" cap="flat" cmpd="sng" algn="ctr">
            <a:solidFill>
              <a:srgbClr val="FF0000"/>
            </a:solidFill>
            <a:prstDash val="solid"/>
            <a:round/>
            <a:headEnd type="none" w="med" len="med"/>
            <a:tailEnd type="triangle"/>
          </a:ln>
        </p:spPr>
      </p:cxnSp>
      <p:sp>
        <p:nvSpPr>
          <p:cNvPr id="16" name="TextBox 15">
            <a:extLst>
              <a:ext uri="{FF2B5EF4-FFF2-40B4-BE49-F238E27FC236}">
                <a16:creationId xmlns:a16="http://schemas.microsoft.com/office/drawing/2014/main" id="{F1A6E0B9-19B9-4ACA-B934-5377A99F24AF}"/>
              </a:ext>
            </a:extLst>
          </p:cNvPr>
          <p:cNvSpPr txBox="1"/>
          <p:nvPr/>
        </p:nvSpPr>
        <p:spPr>
          <a:xfrm>
            <a:off x="8437639" y="3058022"/>
            <a:ext cx="2900987"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-6 (2’s complement)</a:t>
            </a:r>
          </a:p>
        </p:txBody>
      </p:sp>
      <p:sp>
        <p:nvSpPr>
          <p:cNvPr id="5" name="TextBox 4">
            <a:extLst>
              <a:ext uri="{FF2B5EF4-FFF2-40B4-BE49-F238E27FC236}">
                <a16:creationId xmlns:a16="http://schemas.microsoft.com/office/drawing/2014/main" id="{0A936C44-3668-4CA7-9323-8EF57BBE5E11}"/>
              </a:ext>
            </a:extLst>
          </p:cNvPr>
          <p:cNvSpPr txBox="1"/>
          <p:nvPr/>
        </p:nvSpPr>
        <p:spPr>
          <a:xfrm>
            <a:off x="7844630" y="1204964"/>
            <a:ext cx="3262432"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Assuming 8bit signed integers</a:t>
            </a:r>
          </a:p>
        </p:txBody>
      </p:sp>
      <p:sp>
        <p:nvSpPr>
          <p:cNvPr id="17" name="TextBox 16">
            <a:extLst>
              <a:ext uri="{FF2B5EF4-FFF2-40B4-BE49-F238E27FC236}">
                <a16:creationId xmlns:a16="http://schemas.microsoft.com/office/drawing/2014/main" id="{62AE892B-FAEE-4E3E-BA64-C85DB93A726F}"/>
              </a:ext>
            </a:extLst>
          </p:cNvPr>
          <p:cNvSpPr txBox="1"/>
          <p:nvPr/>
        </p:nvSpPr>
        <p:spPr>
          <a:xfrm>
            <a:off x="7840975" y="1981685"/>
            <a:ext cx="321113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Overflowed, result is negative</a:t>
            </a:r>
          </a:p>
        </p:txBody>
      </p:sp>
      <p:sp>
        <p:nvSpPr>
          <p:cNvPr id="18" name="TextBox 17">
            <a:extLst>
              <a:ext uri="{FF2B5EF4-FFF2-40B4-BE49-F238E27FC236}">
                <a16:creationId xmlns:a16="http://schemas.microsoft.com/office/drawing/2014/main" id="{67269D6C-A040-48A4-A340-CBEA82B9FF72}"/>
              </a:ext>
            </a:extLst>
          </p:cNvPr>
          <p:cNvSpPr txBox="1"/>
          <p:nvPr/>
        </p:nvSpPr>
        <p:spPr>
          <a:xfrm>
            <a:off x="7895927" y="4309333"/>
            <a:ext cx="3121367"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Overflowed, result is positive</a:t>
            </a:r>
          </a:p>
          <a:p>
            <a:r>
              <a:rPr lang="en-US" dirty="0">
                <a:ea typeface="標楷體" pitchFamily="65" charset="-120"/>
                <a:cs typeface="Calibri" pitchFamily="34" charset="0"/>
              </a:rPr>
              <a:t>Carry from the MSB is lost.</a:t>
            </a:r>
          </a:p>
        </p:txBody>
      </p:sp>
    </p:spTree>
    <p:extLst>
      <p:ext uri="{BB962C8B-B14F-4D97-AF65-F5344CB8AC3E}">
        <p14:creationId xmlns:p14="http://schemas.microsoft.com/office/powerpoint/2010/main" val="391627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5795" y="144466"/>
            <a:ext cx="10191792" cy="692151"/>
          </a:xfrm>
        </p:spPr>
        <p:txBody>
          <a:bodyPr/>
          <a:lstStyle/>
          <a:p>
            <a:r>
              <a:rPr lang="en-US" dirty="0"/>
              <a:t>Overflow Detections</a:t>
            </a:r>
          </a:p>
        </p:txBody>
      </p:sp>
      <p:sp>
        <p:nvSpPr>
          <p:cNvPr id="3" name="Content Placeholder 2"/>
          <p:cNvSpPr>
            <a:spLocks noGrp="1"/>
          </p:cNvSpPr>
          <p:nvPr>
            <p:ph idx="1"/>
          </p:nvPr>
        </p:nvSpPr>
        <p:spPr>
          <a:xfrm>
            <a:off x="493487" y="1125537"/>
            <a:ext cx="10779275" cy="692152"/>
          </a:xfrm>
        </p:spPr>
        <p:txBody>
          <a:bodyPr>
            <a:normAutofit/>
          </a:bodyPr>
          <a:lstStyle/>
          <a:p>
            <a:r>
              <a:rPr lang="en-US" sz="3200" dirty="0"/>
              <a:t>Overflow detection for 2’s complement numbers</a:t>
            </a:r>
          </a:p>
          <a:p>
            <a:endParaRPr lang="en-US" dirty="0"/>
          </a:p>
          <a:p>
            <a:endParaRPr lang="en-US" dirty="0"/>
          </a:p>
          <a:p>
            <a:endParaRPr lang="en-US" dirty="0"/>
          </a:p>
        </p:txBody>
      </p:sp>
      <p:sp>
        <p:nvSpPr>
          <p:cNvPr id="6" name="灯片编号占位符 5"/>
          <p:cNvSpPr>
            <a:spLocks noGrp="1"/>
          </p:cNvSpPr>
          <p:nvPr>
            <p:ph type="sldNum" sz="quarter" idx="10"/>
          </p:nvPr>
        </p:nvSpPr>
        <p:spPr/>
        <p:txBody>
          <a:bodyPr/>
          <a:lstStyle/>
          <a:p>
            <a:fld id="{D9B6BDF2-6896-4B98-8776-C18582F63BA5}" type="slidenum">
              <a:rPr lang="zh-TW" altLang="en-US" smtClean="0"/>
              <a:t>5</a:t>
            </a:fld>
            <a:endParaRPr lang="zh-TW" altLang="en-US"/>
          </a:p>
        </p:txBody>
      </p:sp>
      <p:graphicFrame>
        <p:nvGraphicFramePr>
          <p:cNvPr id="5" name="Table 13">
            <a:extLst>
              <a:ext uri="{FF2B5EF4-FFF2-40B4-BE49-F238E27FC236}">
                <a16:creationId xmlns:a16="http://schemas.microsoft.com/office/drawing/2014/main" id="{636592A8-1C17-4DF4-B3C3-60458B3BD696}"/>
              </a:ext>
            </a:extLst>
          </p:cNvPr>
          <p:cNvGraphicFramePr>
            <a:graphicFrameLocks noGrp="1"/>
          </p:cNvGraphicFramePr>
          <p:nvPr>
            <p:extLst>
              <p:ext uri="{D42A27DB-BD31-4B8C-83A1-F6EECF244321}">
                <p14:modId xmlns:p14="http://schemas.microsoft.com/office/powerpoint/2010/main" val="3533684130"/>
              </p:ext>
            </p:extLst>
          </p:nvPr>
        </p:nvGraphicFramePr>
        <p:xfrm>
          <a:off x="980015" y="1817689"/>
          <a:ext cx="10779275" cy="2831591"/>
        </p:xfrm>
        <a:graphic>
          <a:graphicData uri="http://schemas.openxmlformats.org/drawingml/2006/table">
            <a:tbl>
              <a:tblPr firstRow="1" bandRow="1">
                <a:tableStyleId>{5C22544A-7EE6-4342-B048-85BDC9FD1C3A}</a:tableStyleId>
              </a:tblPr>
              <a:tblGrid>
                <a:gridCol w="1967466">
                  <a:extLst>
                    <a:ext uri="{9D8B030D-6E8A-4147-A177-3AD203B41FA5}">
                      <a16:colId xmlns:a16="http://schemas.microsoft.com/office/drawing/2014/main" val="472818852"/>
                    </a:ext>
                  </a:extLst>
                </a:gridCol>
                <a:gridCol w="2033081">
                  <a:extLst>
                    <a:ext uri="{9D8B030D-6E8A-4147-A177-3AD203B41FA5}">
                      <a16:colId xmlns:a16="http://schemas.microsoft.com/office/drawing/2014/main" val="1122120880"/>
                    </a:ext>
                  </a:extLst>
                </a:gridCol>
                <a:gridCol w="1957267">
                  <a:extLst>
                    <a:ext uri="{9D8B030D-6E8A-4147-A177-3AD203B41FA5}">
                      <a16:colId xmlns:a16="http://schemas.microsoft.com/office/drawing/2014/main" val="22366522"/>
                    </a:ext>
                  </a:extLst>
                </a:gridCol>
                <a:gridCol w="4821461">
                  <a:extLst>
                    <a:ext uri="{9D8B030D-6E8A-4147-A177-3AD203B41FA5}">
                      <a16:colId xmlns:a16="http://schemas.microsoft.com/office/drawing/2014/main" val="4165946454"/>
                    </a:ext>
                  </a:extLst>
                </a:gridCol>
              </a:tblGrid>
              <a:tr h="853779">
                <a:tc>
                  <a:txBody>
                    <a:bodyPr/>
                    <a:lstStyle/>
                    <a:p>
                      <a:r>
                        <a:rPr lang="en-US" sz="2400" dirty="0"/>
                        <a:t>Operation</a:t>
                      </a:r>
                    </a:p>
                  </a:txBody>
                  <a:tcPr marL="121920" marR="121920" marT="60960" marB="60960"/>
                </a:tc>
                <a:tc>
                  <a:txBody>
                    <a:bodyPr/>
                    <a:lstStyle/>
                    <a:p>
                      <a:r>
                        <a:rPr lang="en-US" sz="2400" dirty="0"/>
                        <a:t>Operand A</a:t>
                      </a:r>
                    </a:p>
                  </a:txBody>
                  <a:tcPr marL="121920" marR="121920" marT="60960" marB="60960"/>
                </a:tc>
                <a:tc>
                  <a:txBody>
                    <a:bodyPr/>
                    <a:lstStyle/>
                    <a:p>
                      <a:r>
                        <a:rPr lang="en-US" sz="2400" dirty="0"/>
                        <a:t>Operand B</a:t>
                      </a:r>
                    </a:p>
                  </a:txBody>
                  <a:tcPr marL="121920" marR="121920" marT="60960" marB="60960"/>
                </a:tc>
                <a:tc>
                  <a:txBody>
                    <a:bodyPr/>
                    <a:lstStyle/>
                    <a:p>
                      <a:r>
                        <a:rPr lang="en-US" sz="2400" dirty="0"/>
                        <a:t>Result indicating overflow</a:t>
                      </a:r>
                    </a:p>
                  </a:txBody>
                  <a:tcPr marL="121920" marR="121920" marT="60960" marB="60960"/>
                </a:tc>
                <a:extLst>
                  <a:ext uri="{0D108BD9-81ED-4DB2-BD59-A6C34878D82A}">
                    <a16:rowId xmlns:a16="http://schemas.microsoft.com/office/drawing/2014/main" val="3690539309"/>
                  </a:ext>
                </a:extLst>
              </a:tr>
              <a:tr h="494453">
                <a:tc>
                  <a:txBody>
                    <a:bodyPr/>
                    <a:lstStyle/>
                    <a:p>
                      <a:r>
                        <a:rPr lang="en-US" sz="2400" dirty="0"/>
                        <a:t>A + B</a:t>
                      </a:r>
                    </a:p>
                  </a:txBody>
                  <a:tcPr marL="121920" marR="121920" marT="60960" marB="60960"/>
                </a:tc>
                <a:tc>
                  <a:txBody>
                    <a:bodyPr/>
                    <a:lstStyle/>
                    <a:p>
                      <a:r>
                        <a:rPr lang="en-US" sz="2400" dirty="0"/>
                        <a:t>&gt;= 0 </a:t>
                      </a:r>
                    </a:p>
                  </a:txBody>
                  <a:tcPr marL="121920" marR="121920" marT="60960" marB="60960"/>
                </a:tc>
                <a:tc>
                  <a:txBody>
                    <a:bodyPr/>
                    <a:lstStyle/>
                    <a:p>
                      <a:r>
                        <a:rPr lang="en-US" sz="2400" dirty="0"/>
                        <a:t>&gt;= 0</a:t>
                      </a:r>
                    </a:p>
                  </a:txBody>
                  <a:tcPr marL="121920" marR="121920" marT="60960" marB="60960"/>
                </a:tc>
                <a:tc>
                  <a:txBody>
                    <a:bodyPr/>
                    <a:lstStyle/>
                    <a:p>
                      <a:r>
                        <a:rPr lang="en-US" sz="2400" dirty="0"/>
                        <a:t>&lt; 0 </a:t>
                      </a:r>
                    </a:p>
                  </a:txBody>
                  <a:tcPr marL="121920" marR="121920" marT="60960" marB="60960"/>
                </a:tc>
                <a:extLst>
                  <a:ext uri="{0D108BD9-81ED-4DB2-BD59-A6C34878D82A}">
                    <a16:rowId xmlns:a16="http://schemas.microsoft.com/office/drawing/2014/main" val="2422332103"/>
                  </a:ext>
                </a:extLst>
              </a:tr>
              <a:tr h="494453">
                <a:tc>
                  <a:txBody>
                    <a:bodyPr/>
                    <a:lstStyle/>
                    <a:p>
                      <a:r>
                        <a:rPr lang="en-US" sz="2400" dirty="0"/>
                        <a:t>A + B</a:t>
                      </a:r>
                    </a:p>
                  </a:txBody>
                  <a:tcPr marL="121920" marR="121920" marT="60960" marB="60960"/>
                </a:tc>
                <a:tc>
                  <a:txBody>
                    <a:bodyPr/>
                    <a:lstStyle/>
                    <a:p>
                      <a:r>
                        <a:rPr lang="en-US" sz="2400" dirty="0"/>
                        <a:t>&lt; 0</a:t>
                      </a:r>
                    </a:p>
                  </a:txBody>
                  <a:tcPr marL="121920" marR="121920" marT="60960" marB="60960"/>
                </a:tc>
                <a:tc>
                  <a:txBody>
                    <a:bodyPr/>
                    <a:lstStyle/>
                    <a:p>
                      <a:r>
                        <a:rPr lang="en-US" sz="2400" dirty="0"/>
                        <a:t>&lt; 0 </a:t>
                      </a:r>
                    </a:p>
                  </a:txBody>
                  <a:tcPr marL="121920" marR="121920" marT="60960" marB="60960"/>
                </a:tc>
                <a:tc>
                  <a:txBody>
                    <a:bodyPr/>
                    <a:lstStyle/>
                    <a:p>
                      <a:r>
                        <a:rPr lang="en-US" sz="2400" dirty="0"/>
                        <a:t>&gt;= 0</a:t>
                      </a:r>
                    </a:p>
                  </a:txBody>
                  <a:tcPr marL="121920" marR="121920" marT="60960" marB="60960"/>
                </a:tc>
                <a:extLst>
                  <a:ext uri="{0D108BD9-81ED-4DB2-BD59-A6C34878D82A}">
                    <a16:rowId xmlns:a16="http://schemas.microsoft.com/office/drawing/2014/main" val="835495410"/>
                  </a:ext>
                </a:extLst>
              </a:tr>
              <a:tr h="494453">
                <a:tc>
                  <a:txBody>
                    <a:bodyPr/>
                    <a:lstStyle/>
                    <a:p>
                      <a:r>
                        <a:rPr lang="en-US" sz="2400" dirty="0"/>
                        <a:t>A - B</a:t>
                      </a:r>
                    </a:p>
                  </a:txBody>
                  <a:tcPr marL="121920" marR="121920" marT="60960" marB="60960"/>
                </a:tc>
                <a:tc>
                  <a:txBody>
                    <a:bodyPr/>
                    <a:lstStyle/>
                    <a:p>
                      <a:r>
                        <a:rPr lang="en-US" sz="2400" dirty="0"/>
                        <a:t>&gt;= 0</a:t>
                      </a:r>
                    </a:p>
                  </a:txBody>
                  <a:tcPr marL="121920" marR="121920" marT="60960" marB="60960"/>
                </a:tc>
                <a:tc>
                  <a:txBody>
                    <a:bodyPr/>
                    <a:lstStyle/>
                    <a:p>
                      <a:r>
                        <a:rPr lang="en-US" sz="2400" dirty="0"/>
                        <a:t>&lt; 0</a:t>
                      </a:r>
                    </a:p>
                  </a:txBody>
                  <a:tcPr marL="121920" marR="121920" marT="60960" marB="60960"/>
                </a:tc>
                <a:tc>
                  <a:txBody>
                    <a:bodyPr/>
                    <a:lstStyle/>
                    <a:p>
                      <a:r>
                        <a:rPr lang="en-US" sz="2400" dirty="0"/>
                        <a:t>&lt; 0</a:t>
                      </a:r>
                    </a:p>
                  </a:txBody>
                  <a:tcPr marL="121920" marR="121920" marT="60960" marB="60960"/>
                </a:tc>
                <a:extLst>
                  <a:ext uri="{0D108BD9-81ED-4DB2-BD59-A6C34878D82A}">
                    <a16:rowId xmlns:a16="http://schemas.microsoft.com/office/drawing/2014/main" val="1913279375"/>
                  </a:ext>
                </a:extLst>
              </a:tr>
              <a:tr h="494453">
                <a:tc>
                  <a:txBody>
                    <a:bodyPr/>
                    <a:lstStyle/>
                    <a:p>
                      <a:r>
                        <a:rPr lang="en-US" sz="2400" dirty="0"/>
                        <a:t>A - B</a:t>
                      </a:r>
                    </a:p>
                  </a:txBody>
                  <a:tcPr marL="121920" marR="121920" marT="60960" marB="60960"/>
                </a:tc>
                <a:tc>
                  <a:txBody>
                    <a:bodyPr/>
                    <a:lstStyle/>
                    <a:p>
                      <a:r>
                        <a:rPr lang="en-US" sz="2400" dirty="0"/>
                        <a:t>&lt; 0</a:t>
                      </a:r>
                    </a:p>
                  </a:txBody>
                  <a:tcPr marL="121920" marR="121920" marT="60960" marB="60960"/>
                </a:tc>
                <a:tc>
                  <a:txBody>
                    <a:bodyPr/>
                    <a:lstStyle/>
                    <a:p>
                      <a:r>
                        <a:rPr lang="en-US" sz="2400" dirty="0"/>
                        <a:t>&gt;= 0</a:t>
                      </a:r>
                    </a:p>
                  </a:txBody>
                  <a:tcPr marL="121920" marR="121920" marT="60960" marB="60960"/>
                </a:tc>
                <a:tc>
                  <a:txBody>
                    <a:bodyPr/>
                    <a:lstStyle/>
                    <a:p>
                      <a:r>
                        <a:rPr lang="en-US" sz="2400" dirty="0"/>
                        <a:t>&gt;= 0</a:t>
                      </a:r>
                    </a:p>
                  </a:txBody>
                  <a:tcPr marL="121920" marR="121920" marT="60960" marB="60960"/>
                </a:tc>
                <a:extLst>
                  <a:ext uri="{0D108BD9-81ED-4DB2-BD59-A6C34878D82A}">
                    <a16:rowId xmlns:a16="http://schemas.microsoft.com/office/drawing/2014/main" val="2153352633"/>
                  </a:ext>
                </a:extLst>
              </a:tr>
            </a:tbl>
          </a:graphicData>
        </a:graphic>
      </p:graphicFrame>
      <p:sp>
        <p:nvSpPr>
          <p:cNvPr id="17" name="Content Placeholder 2">
            <a:extLst>
              <a:ext uri="{FF2B5EF4-FFF2-40B4-BE49-F238E27FC236}">
                <a16:creationId xmlns:a16="http://schemas.microsoft.com/office/drawing/2014/main" id="{BD09675E-DD52-481F-9C46-B15C9299BDB3}"/>
              </a:ext>
            </a:extLst>
          </p:cNvPr>
          <p:cNvSpPr txBox="1">
            <a:spLocks/>
          </p:cNvSpPr>
          <p:nvPr/>
        </p:nvSpPr>
        <p:spPr bwMode="auto">
          <a:xfrm>
            <a:off x="432710" y="4649280"/>
            <a:ext cx="11619860" cy="1735211"/>
          </a:xfrm>
          <a:prstGeom prst="rect">
            <a:avLst/>
          </a:prstGeom>
          <a:noFill/>
          <a:ln w="9525">
            <a:noFill/>
            <a:miter lim="800000"/>
          </a:ln>
        </p:spPr>
        <p:txBody>
          <a:bodyPr vert="horz" wrap="square" lIns="121920" tIns="60960" rIns="121920" bIns="60960" numCol="1" anchor="t" anchorCtr="0" compatLnSpc="1">
            <a:normAutofit fontScale="92500"/>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sz="3500" kern="0" dirty="0"/>
              <a:t> Overflow detection for unsigned numbers </a:t>
            </a:r>
            <a:r>
              <a:rPr lang="en-US" sz="3200" kern="0" dirty="0"/>
              <a:t>(</a:t>
            </a:r>
            <a:r>
              <a:rPr lang="en-US" sz="2533" kern="0" dirty="0"/>
              <a:t>need to use branch instructions</a:t>
            </a:r>
            <a:r>
              <a:rPr lang="en-US" sz="2933" kern="0" dirty="0"/>
              <a:t>)</a:t>
            </a:r>
          </a:p>
          <a:p>
            <a:pPr lvl="1"/>
            <a:r>
              <a:rPr lang="en-US" sz="2667" kern="0" dirty="0"/>
              <a:t>For addition, if the sum is less than either of the addends</a:t>
            </a:r>
          </a:p>
          <a:p>
            <a:pPr lvl="1"/>
            <a:r>
              <a:rPr lang="en-US" sz="2667" kern="0" dirty="0"/>
              <a:t>For subtraction, if the difference is greater than the minuends.</a:t>
            </a:r>
          </a:p>
          <a:p>
            <a:endParaRPr lang="en-US" sz="3200" kern="0" dirty="0"/>
          </a:p>
          <a:p>
            <a:endParaRPr lang="en-US" sz="3200" kern="0" dirty="0"/>
          </a:p>
          <a:p>
            <a:endParaRPr lang="en-US" sz="3200" kern="0" dirty="0"/>
          </a:p>
        </p:txBody>
      </p:sp>
    </p:spTree>
    <p:extLst>
      <p:ext uri="{BB962C8B-B14F-4D97-AF65-F5344CB8AC3E}">
        <p14:creationId xmlns:p14="http://schemas.microsoft.com/office/powerpoint/2010/main" val="412723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5795" y="144466"/>
            <a:ext cx="10191792" cy="692151"/>
          </a:xfrm>
        </p:spPr>
        <p:txBody>
          <a:bodyPr/>
          <a:lstStyle/>
          <a:p>
            <a:r>
              <a:rPr lang="en-US" dirty="0"/>
              <a:t>Overflow Detections</a:t>
            </a:r>
          </a:p>
        </p:txBody>
      </p:sp>
      <p:sp>
        <p:nvSpPr>
          <p:cNvPr id="3" name="Content Placeholder 2"/>
          <p:cNvSpPr>
            <a:spLocks noGrp="1"/>
          </p:cNvSpPr>
          <p:nvPr>
            <p:ph idx="1"/>
          </p:nvPr>
        </p:nvSpPr>
        <p:spPr>
          <a:xfrm>
            <a:off x="493487" y="1125537"/>
            <a:ext cx="10779275" cy="692152"/>
          </a:xfrm>
        </p:spPr>
        <p:txBody>
          <a:bodyPr>
            <a:normAutofit/>
          </a:bodyPr>
          <a:lstStyle/>
          <a:p>
            <a:r>
              <a:rPr lang="en-US" sz="3200" dirty="0"/>
              <a:t>Overflow detection for 2’s complement numbers</a:t>
            </a:r>
          </a:p>
          <a:p>
            <a:endParaRPr lang="en-US" dirty="0"/>
          </a:p>
          <a:p>
            <a:endParaRPr lang="en-US" dirty="0"/>
          </a:p>
          <a:p>
            <a:endParaRPr lang="en-US" dirty="0"/>
          </a:p>
        </p:txBody>
      </p:sp>
      <p:sp>
        <p:nvSpPr>
          <p:cNvPr id="6" name="灯片编号占位符 5"/>
          <p:cNvSpPr>
            <a:spLocks noGrp="1"/>
          </p:cNvSpPr>
          <p:nvPr>
            <p:ph type="sldNum" sz="quarter" idx="10"/>
          </p:nvPr>
        </p:nvSpPr>
        <p:spPr/>
        <p:txBody>
          <a:bodyPr/>
          <a:lstStyle/>
          <a:p>
            <a:fld id="{D9B6BDF2-6896-4B98-8776-C18582F63BA5}" type="slidenum">
              <a:rPr lang="zh-TW" altLang="en-US" smtClean="0"/>
              <a:t>6</a:t>
            </a:fld>
            <a:endParaRPr lang="zh-TW" altLang="en-US"/>
          </a:p>
        </p:txBody>
      </p:sp>
      <p:graphicFrame>
        <p:nvGraphicFramePr>
          <p:cNvPr id="5" name="Table 13">
            <a:extLst>
              <a:ext uri="{FF2B5EF4-FFF2-40B4-BE49-F238E27FC236}">
                <a16:creationId xmlns:a16="http://schemas.microsoft.com/office/drawing/2014/main" id="{636592A8-1C17-4DF4-B3C3-60458B3BD696}"/>
              </a:ext>
            </a:extLst>
          </p:cNvPr>
          <p:cNvGraphicFramePr>
            <a:graphicFrameLocks noGrp="1"/>
          </p:cNvGraphicFramePr>
          <p:nvPr/>
        </p:nvGraphicFramePr>
        <p:xfrm>
          <a:off x="980015" y="1817689"/>
          <a:ext cx="10779275" cy="2831591"/>
        </p:xfrm>
        <a:graphic>
          <a:graphicData uri="http://schemas.openxmlformats.org/drawingml/2006/table">
            <a:tbl>
              <a:tblPr firstRow="1" bandRow="1">
                <a:tableStyleId>{5C22544A-7EE6-4342-B048-85BDC9FD1C3A}</a:tableStyleId>
              </a:tblPr>
              <a:tblGrid>
                <a:gridCol w="1967466">
                  <a:extLst>
                    <a:ext uri="{9D8B030D-6E8A-4147-A177-3AD203B41FA5}">
                      <a16:colId xmlns:a16="http://schemas.microsoft.com/office/drawing/2014/main" val="472818852"/>
                    </a:ext>
                  </a:extLst>
                </a:gridCol>
                <a:gridCol w="2033081">
                  <a:extLst>
                    <a:ext uri="{9D8B030D-6E8A-4147-A177-3AD203B41FA5}">
                      <a16:colId xmlns:a16="http://schemas.microsoft.com/office/drawing/2014/main" val="1122120880"/>
                    </a:ext>
                  </a:extLst>
                </a:gridCol>
                <a:gridCol w="1957267">
                  <a:extLst>
                    <a:ext uri="{9D8B030D-6E8A-4147-A177-3AD203B41FA5}">
                      <a16:colId xmlns:a16="http://schemas.microsoft.com/office/drawing/2014/main" val="22366522"/>
                    </a:ext>
                  </a:extLst>
                </a:gridCol>
                <a:gridCol w="4821461">
                  <a:extLst>
                    <a:ext uri="{9D8B030D-6E8A-4147-A177-3AD203B41FA5}">
                      <a16:colId xmlns:a16="http://schemas.microsoft.com/office/drawing/2014/main" val="4165946454"/>
                    </a:ext>
                  </a:extLst>
                </a:gridCol>
              </a:tblGrid>
              <a:tr h="853779">
                <a:tc>
                  <a:txBody>
                    <a:bodyPr/>
                    <a:lstStyle/>
                    <a:p>
                      <a:r>
                        <a:rPr lang="en-US" sz="2400" dirty="0"/>
                        <a:t>Operation</a:t>
                      </a:r>
                    </a:p>
                  </a:txBody>
                  <a:tcPr marL="121920" marR="121920" marT="60960" marB="60960"/>
                </a:tc>
                <a:tc>
                  <a:txBody>
                    <a:bodyPr/>
                    <a:lstStyle/>
                    <a:p>
                      <a:r>
                        <a:rPr lang="en-US" sz="2400" dirty="0"/>
                        <a:t>Operand A</a:t>
                      </a:r>
                    </a:p>
                  </a:txBody>
                  <a:tcPr marL="121920" marR="121920" marT="60960" marB="60960"/>
                </a:tc>
                <a:tc>
                  <a:txBody>
                    <a:bodyPr/>
                    <a:lstStyle/>
                    <a:p>
                      <a:r>
                        <a:rPr lang="en-US" sz="2400" dirty="0"/>
                        <a:t>Operand B</a:t>
                      </a:r>
                    </a:p>
                  </a:txBody>
                  <a:tcPr marL="121920" marR="121920" marT="60960" marB="60960"/>
                </a:tc>
                <a:tc>
                  <a:txBody>
                    <a:bodyPr/>
                    <a:lstStyle/>
                    <a:p>
                      <a:r>
                        <a:rPr lang="en-US" sz="2400" dirty="0"/>
                        <a:t>Result indicating overflow</a:t>
                      </a:r>
                    </a:p>
                  </a:txBody>
                  <a:tcPr marL="121920" marR="121920" marT="60960" marB="60960"/>
                </a:tc>
                <a:extLst>
                  <a:ext uri="{0D108BD9-81ED-4DB2-BD59-A6C34878D82A}">
                    <a16:rowId xmlns:a16="http://schemas.microsoft.com/office/drawing/2014/main" val="3690539309"/>
                  </a:ext>
                </a:extLst>
              </a:tr>
              <a:tr h="494453">
                <a:tc>
                  <a:txBody>
                    <a:bodyPr/>
                    <a:lstStyle/>
                    <a:p>
                      <a:r>
                        <a:rPr lang="en-US" sz="2400" dirty="0"/>
                        <a:t>A + B</a:t>
                      </a:r>
                    </a:p>
                  </a:txBody>
                  <a:tcPr marL="121920" marR="121920" marT="60960" marB="60960"/>
                </a:tc>
                <a:tc>
                  <a:txBody>
                    <a:bodyPr/>
                    <a:lstStyle/>
                    <a:p>
                      <a:r>
                        <a:rPr lang="en-US" sz="2400" dirty="0"/>
                        <a:t>&gt;= 0 </a:t>
                      </a:r>
                    </a:p>
                  </a:txBody>
                  <a:tcPr marL="121920" marR="121920" marT="60960" marB="60960"/>
                </a:tc>
                <a:tc>
                  <a:txBody>
                    <a:bodyPr/>
                    <a:lstStyle/>
                    <a:p>
                      <a:r>
                        <a:rPr lang="en-US" sz="2400" dirty="0"/>
                        <a:t>&gt;= 0</a:t>
                      </a:r>
                    </a:p>
                  </a:txBody>
                  <a:tcPr marL="121920" marR="121920" marT="60960" marB="60960"/>
                </a:tc>
                <a:tc>
                  <a:txBody>
                    <a:bodyPr/>
                    <a:lstStyle/>
                    <a:p>
                      <a:r>
                        <a:rPr lang="en-US" sz="2400" dirty="0"/>
                        <a:t>&lt; 0 </a:t>
                      </a:r>
                    </a:p>
                  </a:txBody>
                  <a:tcPr marL="121920" marR="121920" marT="60960" marB="60960"/>
                </a:tc>
                <a:extLst>
                  <a:ext uri="{0D108BD9-81ED-4DB2-BD59-A6C34878D82A}">
                    <a16:rowId xmlns:a16="http://schemas.microsoft.com/office/drawing/2014/main" val="2422332103"/>
                  </a:ext>
                </a:extLst>
              </a:tr>
              <a:tr h="494453">
                <a:tc>
                  <a:txBody>
                    <a:bodyPr/>
                    <a:lstStyle/>
                    <a:p>
                      <a:r>
                        <a:rPr lang="en-US" sz="2400" dirty="0"/>
                        <a:t>A + B</a:t>
                      </a:r>
                    </a:p>
                  </a:txBody>
                  <a:tcPr marL="121920" marR="121920" marT="60960" marB="60960"/>
                </a:tc>
                <a:tc>
                  <a:txBody>
                    <a:bodyPr/>
                    <a:lstStyle/>
                    <a:p>
                      <a:r>
                        <a:rPr lang="en-US" sz="2400" dirty="0"/>
                        <a:t>&lt; 0</a:t>
                      </a:r>
                    </a:p>
                  </a:txBody>
                  <a:tcPr marL="121920" marR="121920" marT="60960" marB="60960"/>
                </a:tc>
                <a:tc>
                  <a:txBody>
                    <a:bodyPr/>
                    <a:lstStyle/>
                    <a:p>
                      <a:r>
                        <a:rPr lang="en-US" sz="2400" dirty="0"/>
                        <a:t>&lt; 0 </a:t>
                      </a:r>
                    </a:p>
                  </a:txBody>
                  <a:tcPr marL="121920" marR="121920" marT="60960" marB="60960"/>
                </a:tc>
                <a:tc>
                  <a:txBody>
                    <a:bodyPr/>
                    <a:lstStyle/>
                    <a:p>
                      <a:r>
                        <a:rPr lang="en-US" sz="2400" dirty="0"/>
                        <a:t>&gt;= 0</a:t>
                      </a:r>
                    </a:p>
                  </a:txBody>
                  <a:tcPr marL="121920" marR="121920" marT="60960" marB="60960"/>
                </a:tc>
                <a:extLst>
                  <a:ext uri="{0D108BD9-81ED-4DB2-BD59-A6C34878D82A}">
                    <a16:rowId xmlns:a16="http://schemas.microsoft.com/office/drawing/2014/main" val="835495410"/>
                  </a:ext>
                </a:extLst>
              </a:tr>
              <a:tr h="494453">
                <a:tc>
                  <a:txBody>
                    <a:bodyPr/>
                    <a:lstStyle/>
                    <a:p>
                      <a:r>
                        <a:rPr lang="en-US" sz="2400" dirty="0"/>
                        <a:t>A - B</a:t>
                      </a:r>
                    </a:p>
                  </a:txBody>
                  <a:tcPr marL="121920" marR="121920" marT="60960" marB="60960"/>
                </a:tc>
                <a:tc>
                  <a:txBody>
                    <a:bodyPr/>
                    <a:lstStyle/>
                    <a:p>
                      <a:r>
                        <a:rPr lang="en-US" sz="2400" dirty="0"/>
                        <a:t>&gt;= 0</a:t>
                      </a:r>
                    </a:p>
                  </a:txBody>
                  <a:tcPr marL="121920" marR="121920" marT="60960" marB="60960"/>
                </a:tc>
                <a:tc>
                  <a:txBody>
                    <a:bodyPr/>
                    <a:lstStyle/>
                    <a:p>
                      <a:r>
                        <a:rPr lang="en-US" sz="2400" dirty="0"/>
                        <a:t>&lt; 0</a:t>
                      </a:r>
                    </a:p>
                  </a:txBody>
                  <a:tcPr marL="121920" marR="121920" marT="60960" marB="60960"/>
                </a:tc>
                <a:tc>
                  <a:txBody>
                    <a:bodyPr/>
                    <a:lstStyle/>
                    <a:p>
                      <a:r>
                        <a:rPr lang="en-US" sz="2400" dirty="0"/>
                        <a:t>&lt; 0</a:t>
                      </a:r>
                    </a:p>
                  </a:txBody>
                  <a:tcPr marL="121920" marR="121920" marT="60960" marB="60960"/>
                </a:tc>
                <a:extLst>
                  <a:ext uri="{0D108BD9-81ED-4DB2-BD59-A6C34878D82A}">
                    <a16:rowId xmlns:a16="http://schemas.microsoft.com/office/drawing/2014/main" val="1913279375"/>
                  </a:ext>
                </a:extLst>
              </a:tr>
              <a:tr h="494453">
                <a:tc>
                  <a:txBody>
                    <a:bodyPr/>
                    <a:lstStyle/>
                    <a:p>
                      <a:r>
                        <a:rPr lang="en-US" sz="2400" dirty="0"/>
                        <a:t>A - B</a:t>
                      </a:r>
                    </a:p>
                  </a:txBody>
                  <a:tcPr marL="121920" marR="121920" marT="60960" marB="60960"/>
                </a:tc>
                <a:tc>
                  <a:txBody>
                    <a:bodyPr/>
                    <a:lstStyle/>
                    <a:p>
                      <a:r>
                        <a:rPr lang="en-US" sz="2400" dirty="0"/>
                        <a:t>&lt; 0</a:t>
                      </a:r>
                    </a:p>
                  </a:txBody>
                  <a:tcPr marL="121920" marR="121920" marT="60960" marB="60960"/>
                </a:tc>
                <a:tc>
                  <a:txBody>
                    <a:bodyPr/>
                    <a:lstStyle/>
                    <a:p>
                      <a:r>
                        <a:rPr lang="en-US" sz="2400" dirty="0"/>
                        <a:t>&gt;= 0</a:t>
                      </a:r>
                    </a:p>
                  </a:txBody>
                  <a:tcPr marL="121920" marR="121920" marT="60960" marB="60960"/>
                </a:tc>
                <a:tc>
                  <a:txBody>
                    <a:bodyPr/>
                    <a:lstStyle/>
                    <a:p>
                      <a:r>
                        <a:rPr lang="en-US" sz="2400" dirty="0"/>
                        <a:t>&gt;= 0</a:t>
                      </a:r>
                    </a:p>
                  </a:txBody>
                  <a:tcPr marL="121920" marR="121920" marT="60960" marB="60960"/>
                </a:tc>
                <a:extLst>
                  <a:ext uri="{0D108BD9-81ED-4DB2-BD59-A6C34878D82A}">
                    <a16:rowId xmlns:a16="http://schemas.microsoft.com/office/drawing/2014/main" val="2153352633"/>
                  </a:ext>
                </a:extLst>
              </a:tr>
            </a:tbl>
          </a:graphicData>
        </a:graphic>
      </p:graphicFrame>
      <p:sp>
        <p:nvSpPr>
          <p:cNvPr id="17" name="Content Placeholder 2">
            <a:extLst>
              <a:ext uri="{FF2B5EF4-FFF2-40B4-BE49-F238E27FC236}">
                <a16:creationId xmlns:a16="http://schemas.microsoft.com/office/drawing/2014/main" id="{BD09675E-DD52-481F-9C46-B15C9299BDB3}"/>
              </a:ext>
            </a:extLst>
          </p:cNvPr>
          <p:cNvSpPr txBox="1">
            <a:spLocks/>
          </p:cNvSpPr>
          <p:nvPr/>
        </p:nvSpPr>
        <p:spPr bwMode="auto">
          <a:xfrm>
            <a:off x="286070" y="4568898"/>
            <a:ext cx="11619860" cy="1735211"/>
          </a:xfrm>
          <a:prstGeom prst="rect">
            <a:avLst/>
          </a:prstGeom>
          <a:noFill/>
          <a:ln w="9525">
            <a:noFill/>
            <a:miter lim="800000"/>
          </a:ln>
        </p:spPr>
        <p:txBody>
          <a:bodyPr vert="horz" wrap="square" lIns="121920" tIns="60960" rIns="121920" bIns="60960" numCol="1" anchor="t" anchorCtr="0" compatLnSpc="1">
            <a:normAutofit fontScale="92500"/>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sz="3500" kern="0" dirty="0"/>
              <a:t> Overflow detection for unsigned numbers </a:t>
            </a:r>
            <a:r>
              <a:rPr lang="en-US" sz="3200" kern="0" dirty="0"/>
              <a:t>(</a:t>
            </a:r>
            <a:r>
              <a:rPr lang="en-US" sz="2533" kern="0" dirty="0"/>
              <a:t>need to use branch instructions</a:t>
            </a:r>
            <a:r>
              <a:rPr lang="en-US" sz="2933" kern="0" dirty="0"/>
              <a:t>)</a:t>
            </a:r>
          </a:p>
          <a:p>
            <a:pPr lvl="1"/>
            <a:r>
              <a:rPr lang="en-US" sz="2667" kern="0" dirty="0"/>
              <a:t>For addition, if the sum is less than either of the addends</a:t>
            </a:r>
          </a:p>
          <a:p>
            <a:pPr lvl="1"/>
            <a:r>
              <a:rPr lang="en-US" sz="2667" kern="0" dirty="0"/>
              <a:t>For subtraction, if the difference is greater than the minuends.</a:t>
            </a:r>
          </a:p>
          <a:p>
            <a:endParaRPr lang="en-US" sz="3200" kern="0" dirty="0"/>
          </a:p>
          <a:p>
            <a:endParaRPr lang="en-US" sz="3200" kern="0" dirty="0"/>
          </a:p>
          <a:p>
            <a:endParaRPr lang="en-US" sz="3200" kern="0" dirty="0"/>
          </a:p>
        </p:txBody>
      </p:sp>
      <p:sp>
        <p:nvSpPr>
          <p:cNvPr id="4" name="TextBox 3">
            <a:extLst>
              <a:ext uri="{FF2B5EF4-FFF2-40B4-BE49-F238E27FC236}">
                <a16:creationId xmlns:a16="http://schemas.microsoft.com/office/drawing/2014/main" id="{9B423056-2046-48D3-A9BC-C73AD908B076}"/>
              </a:ext>
            </a:extLst>
          </p:cNvPr>
          <p:cNvSpPr txBox="1"/>
          <p:nvPr/>
        </p:nvSpPr>
        <p:spPr>
          <a:xfrm>
            <a:off x="508390" y="3233484"/>
            <a:ext cx="11250900" cy="584775"/>
          </a:xfrm>
          <a:prstGeom prst="rect">
            <a:avLst/>
          </a:prstGeom>
          <a:solidFill>
            <a:srgbClr val="FFFF00"/>
          </a:solidFill>
          <a:ln>
            <a:solidFill>
              <a:schemeClr val="tx2"/>
            </a:solidFill>
          </a:ln>
        </p:spPr>
        <p:txBody>
          <a:bodyPr wrap="none" rtlCol="0" anchor="ctr" anchorCtr="1">
            <a:spAutoFit/>
          </a:bodyPr>
          <a:lstStyle/>
          <a:p>
            <a:r>
              <a:rPr lang="en-US" sz="3200" b="1" dirty="0">
                <a:solidFill>
                  <a:srgbClr val="FF0000"/>
                </a:solidFill>
              </a:rPr>
              <a:t>(NOT (</a:t>
            </a:r>
            <a:r>
              <a:rPr lang="en-US" sz="3200" b="1" dirty="0" err="1">
                <a:solidFill>
                  <a:srgbClr val="FF0000"/>
                </a:solidFill>
              </a:rPr>
              <a:t>sign_A</a:t>
            </a:r>
            <a:r>
              <a:rPr lang="en-US" sz="3200" b="1" dirty="0">
                <a:solidFill>
                  <a:srgbClr val="FF0000"/>
                </a:solidFill>
              </a:rPr>
              <a:t> XOR </a:t>
            </a:r>
            <a:r>
              <a:rPr lang="en-US" sz="3200" b="1" dirty="0" err="1">
                <a:solidFill>
                  <a:srgbClr val="FF0000"/>
                </a:solidFill>
              </a:rPr>
              <a:t>sign_B</a:t>
            </a:r>
            <a:r>
              <a:rPr lang="en-US" sz="3200" b="1" dirty="0">
                <a:solidFill>
                  <a:srgbClr val="FF0000"/>
                </a:solidFill>
              </a:rPr>
              <a:t>)) AND (</a:t>
            </a:r>
            <a:r>
              <a:rPr lang="en-US" sz="3200" b="1" dirty="0" err="1">
                <a:solidFill>
                  <a:srgbClr val="FF0000"/>
                </a:solidFill>
              </a:rPr>
              <a:t>sign_A</a:t>
            </a:r>
            <a:r>
              <a:rPr lang="en-US" sz="3200" b="1" dirty="0">
                <a:solidFill>
                  <a:srgbClr val="FF0000"/>
                </a:solidFill>
              </a:rPr>
              <a:t> XOR </a:t>
            </a:r>
            <a:r>
              <a:rPr lang="en-US" sz="3200" b="1" dirty="0" err="1">
                <a:solidFill>
                  <a:srgbClr val="FF0000"/>
                </a:solidFill>
              </a:rPr>
              <a:t>new_sign</a:t>
            </a:r>
            <a:r>
              <a:rPr lang="en-US" sz="3200" b="1" dirty="0">
                <a:solidFill>
                  <a:srgbClr val="FF0000"/>
                </a:solidFill>
              </a:rPr>
              <a:t>)</a:t>
            </a:r>
            <a:endParaRPr lang="en-US" sz="3200" b="1" dirty="0">
              <a:solidFill>
                <a:srgbClr val="FF0000"/>
              </a:solidFill>
              <a:ea typeface="標楷體" pitchFamily="65" charset="-120"/>
              <a:cs typeface="Calibri" pitchFamily="34" charset="0"/>
            </a:endParaRPr>
          </a:p>
        </p:txBody>
      </p:sp>
    </p:spTree>
    <p:extLst>
      <p:ext uri="{BB962C8B-B14F-4D97-AF65-F5344CB8AC3E}">
        <p14:creationId xmlns:p14="http://schemas.microsoft.com/office/powerpoint/2010/main" val="105954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US" altLang="zh-TW" dirty="0"/>
              <a:t>Dealing with Overflow</a:t>
            </a:r>
            <a:endParaRPr lang="en-AU" altLang="zh-TW" dirty="0">
              <a:ea typeface="PMingLiU" panose="02020500000000000000" pitchFamily="18" charset="-120"/>
            </a:endParaRPr>
          </a:p>
        </p:txBody>
      </p:sp>
      <p:sp>
        <p:nvSpPr>
          <p:cNvPr id="31747" name="Rectangle 3"/>
          <p:cNvSpPr>
            <a:spLocks noGrp="1" noChangeArrowheads="1"/>
          </p:cNvSpPr>
          <p:nvPr>
            <p:ph type="body" idx="1"/>
          </p:nvPr>
        </p:nvSpPr>
        <p:spPr>
          <a:xfrm>
            <a:off x="972766" y="1125477"/>
            <a:ext cx="10447506" cy="5039109"/>
          </a:xfrm>
        </p:spPr>
        <p:txBody>
          <a:bodyPr/>
          <a:lstStyle/>
          <a:p>
            <a:r>
              <a:rPr lang="en-US" altLang="zh-TW" sz="2800" dirty="0"/>
              <a:t>Some languages (e.g., C) ignore overflow</a:t>
            </a:r>
          </a:p>
          <a:p>
            <a:pPr lvl="1"/>
            <a:r>
              <a:rPr lang="en-US" altLang="zh-TW" sz="2800" dirty="0"/>
              <a:t>Let compilers or programmers decide what to do</a:t>
            </a:r>
          </a:p>
          <a:p>
            <a:r>
              <a:rPr lang="en-US" altLang="zh-TW" sz="2800" dirty="0"/>
              <a:t>Other languages (e.g., Ada, Fortran) require an exception to be raised. If the hardware detects overflow/underflow, it raises an exception and invokes the exception handler.</a:t>
            </a:r>
          </a:p>
          <a:p>
            <a:pPr lvl="2"/>
            <a:r>
              <a:rPr lang="en-US" altLang="zh-TW" sz="2200" dirty="0"/>
              <a:t>Save PC in exception program counter (</a:t>
            </a:r>
            <a:r>
              <a:rPr lang="en-US" altLang="zh-TW" sz="2200" dirty="0" err="1"/>
              <a:t>mepc</a:t>
            </a:r>
            <a:r>
              <a:rPr lang="en-US" altLang="zh-TW" sz="2200" dirty="0"/>
              <a:t>) register</a:t>
            </a:r>
          </a:p>
          <a:p>
            <a:pPr lvl="2"/>
            <a:r>
              <a:rPr lang="en-US" altLang="zh-TW" sz="2200" dirty="0"/>
              <a:t>Save status in the CSR registers (e.g. </a:t>
            </a:r>
            <a:r>
              <a:rPr lang="en-US" altLang="zh-TW" sz="2200" dirty="0" err="1"/>
              <a:t>mcause</a:t>
            </a:r>
            <a:r>
              <a:rPr lang="en-US" altLang="zh-TW" sz="2200" dirty="0"/>
              <a:t>).</a:t>
            </a:r>
          </a:p>
          <a:p>
            <a:pPr lvl="2"/>
            <a:r>
              <a:rPr lang="en-US" altLang="zh-TW" sz="2200" dirty="0"/>
              <a:t>Jump to a predefined handler address </a:t>
            </a:r>
          </a:p>
          <a:p>
            <a:pPr lvl="2"/>
            <a:r>
              <a:rPr lang="en-US" altLang="zh-TW" sz="2200" dirty="0"/>
              <a:t>Return after corrective action (by </a:t>
            </a:r>
            <a:r>
              <a:rPr lang="en-US" altLang="zh-TW" sz="2200" dirty="0" err="1"/>
              <a:t>jalr</a:t>
            </a:r>
            <a:r>
              <a:rPr lang="en-US" altLang="zh-TW" sz="2200" dirty="0"/>
              <a:t> instruction)</a:t>
            </a:r>
          </a:p>
          <a:p>
            <a:pPr lvl="2"/>
            <a:r>
              <a:rPr lang="en-US" altLang="zh-TW" sz="2200" dirty="0"/>
              <a:t>This requires </a:t>
            </a:r>
            <a:r>
              <a:rPr lang="en-US" altLang="zh-TW" sz="2200" b="1" i="1" dirty="0">
                <a:solidFill>
                  <a:srgbClr val="FF0000"/>
                </a:solidFill>
              </a:rPr>
              <a:t>precise exceptions</a:t>
            </a:r>
            <a:r>
              <a:rPr lang="en-US" altLang="zh-TW" sz="2200" dirty="0"/>
              <a:t>, making out-of-order execution hard to implement</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7</a:t>
            </a:fld>
            <a:endParaRPr lang="zh-TW" altLang="en-US"/>
          </a:p>
        </p:txBody>
      </p:sp>
    </p:spTree>
    <p:extLst>
      <p:ext uri="{BB962C8B-B14F-4D97-AF65-F5344CB8AC3E}">
        <p14:creationId xmlns:p14="http://schemas.microsoft.com/office/powerpoint/2010/main" val="2080102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US" altLang="zh-TW" dirty="0"/>
              <a:t>Why not HW traps on Overflow</a:t>
            </a:r>
            <a:endParaRPr lang="en-AU" altLang="zh-TW" dirty="0">
              <a:ea typeface="PMingLiU" panose="02020500000000000000" pitchFamily="18" charset="-120"/>
            </a:endParaRPr>
          </a:p>
        </p:txBody>
      </p:sp>
      <p:sp>
        <p:nvSpPr>
          <p:cNvPr id="31747" name="Rectangle 3"/>
          <p:cNvSpPr>
            <a:spLocks noGrp="1" noChangeArrowheads="1"/>
          </p:cNvSpPr>
          <p:nvPr>
            <p:ph type="body" idx="1"/>
          </p:nvPr>
        </p:nvSpPr>
        <p:spPr>
          <a:xfrm>
            <a:off x="476250" y="1125477"/>
            <a:ext cx="10944022" cy="5039109"/>
          </a:xfrm>
        </p:spPr>
        <p:txBody>
          <a:bodyPr/>
          <a:lstStyle/>
          <a:p>
            <a:pPr>
              <a:buSzPct val="100000"/>
            </a:pPr>
            <a:r>
              <a:rPr lang="en-US" altLang="zh-TW" sz="2200" dirty="0"/>
              <a:t> </a:t>
            </a:r>
            <a:r>
              <a:rPr lang="en-US" altLang="zh-TW" sz="2800" dirty="0"/>
              <a:t>Performance impact</a:t>
            </a:r>
          </a:p>
          <a:p>
            <a:pPr lvl="1"/>
            <a:r>
              <a:rPr lang="en-US" altLang="zh-TW" sz="2400" dirty="0"/>
              <a:t>Checking for overflow incurs significant overhead</a:t>
            </a:r>
          </a:p>
          <a:p>
            <a:pPr lvl="1"/>
            <a:r>
              <a:rPr lang="en-US" altLang="zh-TW" sz="2400" dirty="0"/>
              <a:t>Traps are expensive to handle</a:t>
            </a:r>
          </a:p>
          <a:p>
            <a:pPr lvl="1"/>
            <a:r>
              <a:rPr lang="en-US" altLang="zh-TW" sz="2400" dirty="0"/>
              <a:t>Overflows are rare cases. Adding checking overhead slows down everyone.</a:t>
            </a:r>
          </a:p>
          <a:p>
            <a:r>
              <a:rPr lang="en-US" altLang="zh-TW" sz="2800" dirty="0"/>
              <a:t>Exception handling increases the complexity of high performance implementations (pipelining, out-of-order execution).</a:t>
            </a:r>
          </a:p>
          <a:p>
            <a:r>
              <a:rPr lang="en-US" altLang="zh-TW" sz="2800" dirty="0"/>
              <a:t>Flexibility</a:t>
            </a:r>
          </a:p>
          <a:p>
            <a:pPr lvl="1"/>
            <a:r>
              <a:rPr lang="en-US" altLang="zh-TW" sz="2267" dirty="0"/>
              <a:t>Some applications want the wraparound behavior of the unsigned integers</a:t>
            </a:r>
            <a:endParaRPr lang="en-US" altLang="zh-TW" sz="2800" dirty="0"/>
          </a:p>
          <a:p>
            <a:pPr marL="0" indent="0">
              <a:buNone/>
            </a:pPr>
            <a:r>
              <a:rPr lang="en-US" altLang="zh-TW" sz="2800" dirty="0"/>
              <a:t>The potential performance impact and added complexity of hardware traps have led to alternative approaches that rely on software or compiler support for overflow detection and handling.</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8</a:t>
            </a:fld>
            <a:endParaRPr lang="zh-TW" altLang="en-US"/>
          </a:p>
        </p:txBody>
      </p:sp>
    </p:spTree>
    <p:extLst>
      <p:ext uri="{BB962C8B-B14F-4D97-AF65-F5344CB8AC3E}">
        <p14:creationId xmlns:p14="http://schemas.microsoft.com/office/powerpoint/2010/main" val="2177861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US" altLang="zh-TW" dirty="0"/>
              <a:t>Overflow Handling in RISC-V</a:t>
            </a:r>
            <a:endParaRPr lang="en-AU" altLang="zh-TW" dirty="0">
              <a:ea typeface="PMingLiU" panose="02020500000000000000" pitchFamily="18" charset="-120"/>
            </a:endParaRPr>
          </a:p>
        </p:txBody>
      </p:sp>
      <p:sp>
        <p:nvSpPr>
          <p:cNvPr id="31747" name="Rectangle 3"/>
          <p:cNvSpPr>
            <a:spLocks noGrp="1" noChangeArrowheads="1"/>
          </p:cNvSpPr>
          <p:nvPr>
            <p:ph type="body" idx="1"/>
          </p:nvPr>
        </p:nvSpPr>
        <p:spPr>
          <a:xfrm>
            <a:off x="212004" y="1125477"/>
            <a:ext cx="11767991" cy="5039109"/>
          </a:xfrm>
        </p:spPr>
        <p:txBody>
          <a:bodyPr/>
          <a:lstStyle/>
          <a:p>
            <a:r>
              <a:rPr lang="en-US" altLang="zh-TW" sz="2600" dirty="0"/>
              <a:t>RISC-V shifts the burden of </a:t>
            </a:r>
            <a:r>
              <a:rPr lang="en-US" altLang="zh-TW" sz="2600" i="1" dirty="0">
                <a:solidFill>
                  <a:srgbClr val="FF0000"/>
                </a:solidFill>
              </a:rPr>
              <a:t>arithmetic exception </a:t>
            </a:r>
            <a:r>
              <a:rPr lang="en-US" altLang="zh-TW" sz="2600" dirty="0"/>
              <a:t>handling to software. It does not require the hardware to generate traps. </a:t>
            </a:r>
          </a:p>
          <a:p>
            <a:r>
              <a:rPr lang="en-US" altLang="zh-TW" sz="2600" dirty="0"/>
              <a:t>For signed/unsigned integer operations, the responsibility is shifted to software. If the program needs to check for overflows, the compiler should explicitly generate instructions to check for overflows.</a:t>
            </a:r>
          </a:p>
          <a:p>
            <a:r>
              <a:rPr lang="en-US" altLang="zh-TW" sz="2600" dirty="0"/>
              <a:t>For floating point operations, the hardware sets flags (</a:t>
            </a:r>
            <a:r>
              <a:rPr lang="en-US" altLang="zh-TW" sz="2600" dirty="0" err="1"/>
              <a:t>fflags</a:t>
            </a:r>
            <a:r>
              <a:rPr lang="en-US" altLang="zh-TW" sz="2600" dirty="0"/>
              <a:t> in </a:t>
            </a:r>
            <a:r>
              <a:rPr lang="en-US" altLang="zh-TW" sz="2600" b="1" dirty="0" err="1"/>
              <a:t>fcsr</a:t>
            </a:r>
            <a:r>
              <a:rPr lang="en-US" altLang="zh-TW" sz="2600" dirty="0"/>
              <a:t>) to inform that the overflow/underflow has occurred. The software must explicitly check the flags if it cares about such exceptions.</a:t>
            </a:r>
          </a:p>
          <a:p>
            <a:r>
              <a:rPr lang="en-US" altLang="zh-TW" sz="2600" dirty="0"/>
              <a:t>Shifting overflow/underflow detection responsibility to software is not new for RISC machines. However, MIPS/ARM/Power ISA still provides instructions to demand the hardware to trap. RISC-V simply does not support such instructions in the core set. (if you really want that, add them to some extensions)</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9</a:t>
            </a:fld>
            <a:endParaRPr lang="zh-TW" altLang="en-US"/>
          </a:p>
        </p:txBody>
      </p:sp>
    </p:spTree>
    <p:extLst>
      <p:ext uri="{BB962C8B-B14F-4D97-AF65-F5344CB8AC3E}">
        <p14:creationId xmlns:p14="http://schemas.microsoft.com/office/powerpoint/2010/main" val="3409011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US" altLang="zh-TW" dirty="0"/>
              <a:t>Overflow Handling in RISC-V</a:t>
            </a:r>
            <a:endParaRPr lang="en-AU" altLang="zh-TW" dirty="0">
              <a:ea typeface="PMingLiU" panose="02020500000000000000" pitchFamily="18" charset="-120"/>
            </a:endParaRPr>
          </a:p>
        </p:txBody>
      </p:sp>
      <p:sp>
        <p:nvSpPr>
          <p:cNvPr id="31747" name="Rectangle 3"/>
          <p:cNvSpPr>
            <a:spLocks noGrp="1" noChangeArrowheads="1"/>
          </p:cNvSpPr>
          <p:nvPr>
            <p:ph type="body" idx="1"/>
          </p:nvPr>
        </p:nvSpPr>
        <p:spPr>
          <a:xfrm>
            <a:off x="212004" y="1125477"/>
            <a:ext cx="11767991" cy="5039109"/>
          </a:xfrm>
        </p:spPr>
        <p:txBody>
          <a:bodyPr/>
          <a:lstStyle/>
          <a:p>
            <a:r>
              <a:rPr lang="en-US" altLang="zh-TW" sz="2600" dirty="0"/>
              <a:t>RISC-V shifts the burden of </a:t>
            </a:r>
            <a:r>
              <a:rPr lang="en-US" altLang="zh-TW" sz="2600" i="1" dirty="0">
                <a:solidFill>
                  <a:srgbClr val="FF0000"/>
                </a:solidFill>
              </a:rPr>
              <a:t>arithmetic exception </a:t>
            </a:r>
            <a:r>
              <a:rPr lang="en-US" altLang="zh-TW" sz="2600" dirty="0"/>
              <a:t>handling to software. It does not require the hardware to generate traps. </a:t>
            </a:r>
          </a:p>
          <a:p>
            <a:r>
              <a:rPr lang="en-US" altLang="zh-TW" sz="2600" dirty="0"/>
              <a:t>For signed/unsigned integer operations, the responsibility is shifted to software. If the program needs to check for overflows, the compiler should explicitly generate instructions to check for overflows.</a:t>
            </a:r>
          </a:p>
          <a:p>
            <a:r>
              <a:rPr lang="en-US" altLang="zh-TW" sz="2600" dirty="0"/>
              <a:t>For floating point operations, the hardware sets a flag to inform that the overflow/underflow has occurred. The software must explicitly check the flags if it cares about such exceptions.</a:t>
            </a:r>
          </a:p>
          <a:p>
            <a:r>
              <a:rPr lang="en-US" altLang="zh-TW" sz="2600" dirty="0"/>
              <a:t>Shifting overflow/underflow detection responsibility to software is not new for RISC machines. However, MIPS/ARM/Power ISA still provides instructions to demand the hardware to trap. RISC-V simply does not support such instructions in the core set. (if you really want that, add them to some extensions)</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10</a:t>
            </a:fld>
            <a:endParaRPr lang="zh-TW" altLang="en-US"/>
          </a:p>
        </p:txBody>
      </p:sp>
      <p:sp>
        <p:nvSpPr>
          <p:cNvPr id="2" name="TextBox 1">
            <a:extLst>
              <a:ext uri="{FF2B5EF4-FFF2-40B4-BE49-F238E27FC236}">
                <a16:creationId xmlns:a16="http://schemas.microsoft.com/office/drawing/2014/main" id="{AF2EE4FA-6B1D-4975-9D4B-6D3DC860EC20}"/>
              </a:ext>
            </a:extLst>
          </p:cNvPr>
          <p:cNvSpPr txBox="1"/>
          <p:nvPr/>
        </p:nvSpPr>
        <p:spPr>
          <a:xfrm>
            <a:off x="212005" y="2521059"/>
            <a:ext cx="11598996" cy="1384995"/>
          </a:xfrm>
          <a:prstGeom prst="rect">
            <a:avLst/>
          </a:prstGeom>
          <a:solidFill>
            <a:srgbClr val="FFFF00"/>
          </a:solidFill>
          <a:ln>
            <a:solidFill>
              <a:schemeClr val="tx2"/>
            </a:solidFill>
          </a:ln>
        </p:spPr>
        <p:txBody>
          <a:bodyPr wrap="square" rtlCol="0" anchor="ctr" anchorCtr="1">
            <a:spAutoFit/>
          </a:bodyPr>
          <a:lstStyle/>
          <a:p>
            <a:r>
              <a:rPr lang="en-US" sz="2800" dirty="0">
                <a:solidFill>
                  <a:srgbClr val="FF0000"/>
                </a:solidFill>
                <a:ea typeface="標楷體" pitchFamily="65" charset="-120"/>
                <a:cs typeface="Calibri" pitchFamily="34" charset="0"/>
              </a:rPr>
              <a:t>To support such traps, the hardware must have precise exceptions. </a:t>
            </a:r>
          </a:p>
          <a:p>
            <a:r>
              <a:rPr lang="en-US" sz="2800" dirty="0">
                <a:solidFill>
                  <a:srgbClr val="FF0000"/>
                </a:solidFill>
                <a:ea typeface="標楷體" pitchFamily="65" charset="-120"/>
                <a:cs typeface="Calibri" pitchFamily="34" charset="0"/>
              </a:rPr>
              <a:t>This necessitates that the execution pipeline retires instructions in order. </a:t>
            </a:r>
          </a:p>
          <a:p>
            <a:r>
              <a:rPr lang="en-US" sz="2800" dirty="0">
                <a:solidFill>
                  <a:srgbClr val="FF0000"/>
                </a:solidFill>
                <a:ea typeface="標楷體" pitchFamily="65" charset="-120"/>
                <a:cs typeface="Calibri" pitchFamily="34" charset="0"/>
              </a:rPr>
              <a:t>Such requirements limit the efficiency of pipeline implementation.</a:t>
            </a:r>
          </a:p>
        </p:txBody>
      </p:sp>
      <p:cxnSp>
        <p:nvCxnSpPr>
          <p:cNvPr id="4" name="Straight Arrow Connector 3">
            <a:extLst>
              <a:ext uri="{FF2B5EF4-FFF2-40B4-BE49-F238E27FC236}">
                <a16:creationId xmlns:a16="http://schemas.microsoft.com/office/drawing/2014/main" id="{C5AC8BBE-9354-46F5-A7A3-48E57B23F03E}"/>
              </a:ext>
            </a:extLst>
          </p:cNvPr>
          <p:cNvCxnSpPr>
            <a:cxnSpLocks/>
          </p:cNvCxnSpPr>
          <p:nvPr/>
        </p:nvCxnSpPr>
        <p:spPr bwMode="auto">
          <a:xfrm flipH="1">
            <a:off x="2743200" y="3906054"/>
            <a:ext cx="3981450" cy="1580346"/>
          </a:xfrm>
          <a:prstGeom prst="straightConnector1">
            <a:avLst/>
          </a:prstGeom>
          <a:noFill/>
          <a:ln w="571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205979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AU" altLang="zh-TW" dirty="0">
                <a:ea typeface="PMingLiU" panose="02020500000000000000" pitchFamily="18" charset="-120"/>
              </a:rPr>
              <a:t>Instruction Execution Orders</a:t>
            </a:r>
          </a:p>
        </p:txBody>
      </p:sp>
      <p:sp>
        <p:nvSpPr>
          <p:cNvPr id="31747" name="Rectangle 3"/>
          <p:cNvSpPr>
            <a:spLocks noGrp="1" noChangeArrowheads="1"/>
          </p:cNvSpPr>
          <p:nvPr>
            <p:ph type="body" idx="1"/>
          </p:nvPr>
        </p:nvSpPr>
        <p:spPr>
          <a:xfrm>
            <a:off x="0" y="1125477"/>
            <a:ext cx="11767991" cy="5039109"/>
          </a:xfrm>
        </p:spPr>
        <p:txBody>
          <a:bodyPr/>
          <a:lstStyle/>
          <a:p>
            <a:r>
              <a:rPr lang="en-US" altLang="zh-TW" sz="2600" dirty="0"/>
              <a:t>Example code</a:t>
            </a:r>
          </a:p>
          <a:p>
            <a:pPr marL="0" indent="0">
              <a:buNone/>
            </a:pPr>
            <a:r>
              <a:rPr lang="en-US" altLang="zh-TW" sz="2600" dirty="0"/>
              <a:t>1	LD 	X2, 4(X10)</a:t>
            </a:r>
          </a:p>
          <a:p>
            <a:pPr marL="0" indent="0">
              <a:buNone/>
            </a:pPr>
            <a:r>
              <a:rPr lang="en-US" altLang="zh-TW" sz="2600" dirty="0"/>
              <a:t>2	ADD	X3, X2, X4</a:t>
            </a:r>
          </a:p>
          <a:p>
            <a:pPr marL="0" indent="0">
              <a:buNone/>
            </a:pPr>
            <a:r>
              <a:rPr lang="en-US" altLang="zh-TW" sz="2600" dirty="0"/>
              <a:t>3	DIV	X5, X6, X7</a:t>
            </a:r>
          </a:p>
          <a:p>
            <a:pPr marL="0" indent="0">
              <a:buNone/>
            </a:pPr>
            <a:r>
              <a:rPr lang="en-US" altLang="zh-TW" sz="2600" dirty="0"/>
              <a:t>4	ADD	X8, X5, X9</a:t>
            </a:r>
          </a:p>
          <a:p>
            <a:pPr marL="0" indent="0">
              <a:buNone/>
            </a:pPr>
            <a:r>
              <a:rPr lang="en-US" altLang="zh-TW" sz="2600" dirty="0"/>
              <a:t>5	AND 	X13, X11,X12</a:t>
            </a:r>
          </a:p>
          <a:p>
            <a:pPr marL="0" indent="0">
              <a:buNone/>
            </a:pPr>
            <a:r>
              <a:rPr lang="en-US" altLang="zh-TW" sz="2600" dirty="0"/>
              <a:t>6	…</a:t>
            </a:r>
          </a:p>
          <a:p>
            <a:pPr marL="0" indent="0">
              <a:buNone/>
            </a:pPr>
            <a:r>
              <a:rPr lang="en-US" altLang="zh-TW" sz="2600" dirty="0"/>
              <a:t>		</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11</a:t>
            </a:fld>
            <a:endParaRPr lang="zh-TW" altLang="en-US"/>
          </a:p>
        </p:txBody>
      </p:sp>
      <p:sp>
        <p:nvSpPr>
          <p:cNvPr id="2" name="Rectangle 1">
            <a:extLst>
              <a:ext uri="{FF2B5EF4-FFF2-40B4-BE49-F238E27FC236}">
                <a16:creationId xmlns:a16="http://schemas.microsoft.com/office/drawing/2014/main" id="{68800229-6B30-4709-9E9A-BA67AEFB50EE}"/>
              </a:ext>
            </a:extLst>
          </p:cNvPr>
          <p:cNvSpPr/>
          <p:nvPr/>
        </p:nvSpPr>
        <p:spPr bwMode="auto">
          <a:xfrm>
            <a:off x="4897981" y="1125477"/>
            <a:ext cx="3108032" cy="498551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 name="TextBox 2">
            <a:extLst>
              <a:ext uri="{FF2B5EF4-FFF2-40B4-BE49-F238E27FC236}">
                <a16:creationId xmlns:a16="http://schemas.microsoft.com/office/drawing/2014/main" id="{DC15F964-9814-4F53-9EF8-D913C4B30221}"/>
              </a:ext>
            </a:extLst>
          </p:cNvPr>
          <p:cNvSpPr txBox="1"/>
          <p:nvPr/>
        </p:nvSpPr>
        <p:spPr>
          <a:xfrm>
            <a:off x="5126955" y="1155579"/>
            <a:ext cx="2650084"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In order execution</a:t>
            </a:r>
          </a:p>
        </p:txBody>
      </p:sp>
      <p:sp>
        <p:nvSpPr>
          <p:cNvPr id="7" name="TextBox 6">
            <a:extLst>
              <a:ext uri="{FF2B5EF4-FFF2-40B4-BE49-F238E27FC236}">
                <a16:creationId xmlns:a16="http://schemas.microsoft.com/office/drawing/2014/main" id="{96FA0F86-151A-4A0C-A4B4-CAB4CB1E2C7A}"/>
              </a:ext>
            </a:extLst>
          </p:cNvPr>
          <p:cNvSpPr txBox="1"/>
          <p:nvPr/>
        </p:nvSpPr>
        <p:spPr>
          <a:xfrm>
            <a:off x="4950080" y="1755976"/>
            <a:ext cx="2916183" cy="3785652"/>
          </a:xfrm>
          <a:prstGeom prst="rect">
            <a:avLst/>
          </a:prstGeom>
          <a:noFill/>
        </p:spPr>
        <p:txBody>
          <a:bodyPr wrap="none" rtlCol="0" anchor="ctr" anchorCtr="1">
            <a:spAutoFit/>
          </a:bodyPr>
          <a:lstStyle/>
          <a:p>
            <a:r>
              <a:rPr lang="en-US" sz="2000" dirty="0">
                <a:ea typeface="標楷體" pitchFamily="65" charset="-120"/>
                <a:cs typeface="Calibri" pitchFamily="34" charset="0"/>
              </a:rPr>
              <a:t>Architecture states are</a:t>
            </a:r>
          </a:p>
          <a:p>
            <a:r>
              <a:rPr lang="en-US" sz="2000" dirty="0">
                <a:ea typeface="標楷體" pitchFamily="65" charset="-120"/>
                <a:cs typeface="Calibri" pitchFamily="34" charset="0"/>
              </a:rPr>
              <a:t>updated in order:</a:t>
            </a:r>
          </a:p>
          <a:p>
            <a:endParaRPr lang="en-US" sz="2000" dirty="0">
              <a:ea typeface="標楷體" pitchFamily="65" charset="-120"/>
              <a:cs typeface="Calibri" pitchFamily="34" charset="0"/>
            </a:endParaRPr>
          </a:p>
          <a:p>
            <a:r>
              <a:rPr lang="en-US" sz="2000" dirty="0">
                <a:ea typeface="標楷體" pitchFamily="65" charset="-120"/>
                <a:cs typeface="Calibri" pitchFamily="34" charset="0"/>
              </a:rPr>
              <a:t>X2</a:t>
            </a:r>
          </a:p>
          <a:p>
            <a:r>
              <a:rPr lang="en-US" sz="2000" dirty="0">
                <a:ea typeface="標楷體" pitchFamily="65" charset="-120"/>
                <a:cs typeface="Calibri" pitchFamily="34" charset="0"/>
              </a:rPr>
              <a:t>X3</a:t>
            </a:r>
          </a:p>
          <a:p>
            <a:r>
              <a:rPr lang="en-US" sz="2000" dirty="0">
                <a:ea typeface="標楷體" pitchFamily="65" charset="-120"/>
                <a:cs typeface="Calibri" pitchFamily="34" charset="0"/>
              </a:rPr>
              <a:t>X5</a:t>
            </a:r>
          </a:p>
          <a:p>
            <a:r>
              <a:rPr lang="en-US" sz="2000" dirty="0">
                <a:ea typeface="標楷體" pitchFamily="65" charset="-120"/>
                <a:cs typeface="Calibri" pitchFamily="34" charset="0"/>
              </a:rPr>
              <a:t>X8</a:t>
            </a:r>
          </a:p>
          <a:p>
            <a:r>
              <a:rPr lang="en-US" sz="2000" dirty="0">
                <a:ea typeface="標楷體" pitchFamily="65" charset="-120"/>
                <a:cs typeface="Calibri" pitchFamily="34" charset="0"/>
              </a:rPr>
              <a:t>X13</a:t>
            </a:r>
          </a:p>
          <a:p>
            <a:endParaRPr lang="en-US" sz="2000" dirty="0">
              <a:ea typeface="標楷體" pitchFamily="65" charset="-120"/>
              <a:cs typeface="Calibri" pitchFamily="34" charset="0"/>
            </a:endParaRPr>
          </a:p>
          <a:p>
            <a:r>
              <a:rPr lang="en-US" sz="2000" dirty="0">
                <a:ea typeface="標楷體" pitchFamily="65" charset="-120"/>
                <a:cs typeface="Calibri" pitchFamily="34" charset="0"/>
              </a:rPr>
              <a:t>If any </a:t>
            </a:r>
            <a:r>
              <a:rPr lang="en-US" sz="2000" dirty="0" err="1">
                <a:ea typeface="標楷體" pitchFamily="65" charset="-120"/>
                <a:cs typeface="Calibri" pitchFamily="34" charset="0"/>
              </a:rPr>
              <a:t>inst</a:t>
            </a:r>
            <a:r>
              <a:rPr lang="en-US" sz="2000" dirty="0">
                <a:ea typeface="標楷體" pitchFamily="65" charset="-120"/>
                <a:cs typeface="Calibri" pitchFamily="34" charset="0"/>
              </a:rPr>
              <a:t> generates an </a:t>
            </a:r>
          </a:p>
          <a:p>
            <a:r>
              <a:rPr lang="en-US" sz="2000" dirty="0">
                <a:ea typeface="標楷體" pitchFamily="65" charset="-120"/>
                <a:cs typeface="Calibri" pitchFamily="34" charset="0"/>
              </a:rPr>
              <a:t>Exception, the updated</a:t>
            </a:r>
          </a:p>
          <a:p>
            <a:r>
              <a:rPr lang="en-US" sz="2000" dirty="0">
                <a:ea typeface="標楷體" pitchFamily="65" charset="-120"/>
                <a:cs typeface="Calibri" pitchFamily="34" charset="0"/>
              </a:rPr>
              <a:t>arch states are precise.</a:t>
            </a:r>
          </a:p>
        </p:txBody>
      </p:sp>
      <p:sp>
        <p:nvSpPr>
          <p:cNvPr id="8" name="Rectangle 7">
            <a:extLst>
              <a:ext uri="{FF2B5EF4-FFF2-40B4-BE49-F238E27FC236}">
                <a16:creationId xmlns:a16="http://schemas.microsoft.com/office/drawing/2014/main" id="{C87D3A0B-658A-41CF-B77D-7944029F9304}"/>
              </a:ext>
            </a:extLst>
          </p:cNvPr>
          <p:cNvSpPr/>
          <p:nvPr/>
        </p:nvSpPr>
        <p:spPr bwMode="auto">
          <a:xfrm>
            <a:off x="8182831" y="1125477"/>
            <a:ext cx="3390043" cy="498551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TextBox 8">
            <a:extLst>
              <a:ext uri="{FF2B5EF4-FFF2-40B4-BE49-F238E27FC236}">
                <a16:creationId xmlns:a16="http://schemas.microsoft.com/office/drawing/2014/main" id="{2D364D9A-81C2-4ADA-AC44-2305EFE6A517}"/>
              </a:ext>
            </a:extLst>
          </p:cNvPr>
          <p:cNvSpPr txBox="1"/>
          <p:nvPr/>
        </p:nvSpPr>
        <p:spPr>
          <a:xfrm>
            <a:off x="8323361" y="1184154"/>
            <a:ext cx="3230372"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Out of order execution</a:t>
            </a:r>
          </a:p>
        </p:txBody>
      </p:sp>
      <p:sp>
        <p:nvSpPr>
          <p:cNvPr id="10" name="TextBox 9">
            <a:extLst>
              <a:ext uri="{FF2B5EF4-FFF2-40B4-BE49-F238E27FC236}">
                <a16:creationId xmlns:a16="http://schemas.microsoft.com/office/drawing/2014/main" id="{C58AE0CB-32C1-4DF0-944A-59F173EACAF0}"/>
              </a:ext>
            </a:extLst>
          </p:cNvPr>
          <p:cNvSpPr txBox="1"/>
          <p:nvPr/>
        </p:nvSpPr>
        <p:spPr>
          <a:xfrm>
            <a:off x="8388373" y="1709782"/>
            <a:ext cx="2805576" cy="4401205"/>
          </a:xfrm>
          <a:prstGeom prst="rect">
            <a:avLst/>
          </a:prstGeom>
          <a:noFill/>
        </p:spPr>
        <p:txBody>
          <a:bodyPr wrap="none" rtlCol="0" anchor="ctr" anchorCtr="1">
            <a:spAutoFit/>
          </a:bodyPr>
          <a:lstStyle/>
          <a:p>
            <a:r>
              <a:rPr lang="en-US" sz="2000" dirty="0">
                <a:ea typeface="標楷體" pitchFamily="65" charset="-120"/>
                <a:cs typeface="Calibri" pitchFamily="34" charset="0"/>
              </a:rPr>
              <a:t>The execution order </a:t>
            </a:r>
          </a:p>
          <a:p>
            <a:r>
              <a:rPr lang="en-US" sz="2000" dirty="0">
                <a:ea typeface="標楷體" pitchFamily="65" charset="-120"/>
                <a:cs typeface="Calibri" pitchFamily="34" charset="0"/>
              </a:rPr>
              <a:t>might be</a:t>
            </a:r>
          </a:p>
          <a:p>
            <a:endParaRPr lang="en-US" sz="2000" dirty="0">
              <a:ea typeface="標楷體" pitchFamily="65" charset="-120"/>
              <a:cs typeface="Calibri" pitchFamily="34" charset="0"/>
            </a:endParaRPr>
          </a:p>
          <a:p>
            <a:r>
              <a:rPr lang="en-US" sz="2000" dirty="0">
                <a:ea typeface="標楷體" pitchFamily="65" charset="-120"/>
                <a:cs typeface="Calibri" pitchFamily="34" charset="0"/>
              </a:rPr>
              <a:t>1 LD,</a:t>
            </a:r>
          </a:p>
          <a:p>
            <a:r>
              <a:rPr lang="en-US" sz="2000" dirty="0">
                <a:ea typeface="標楷體" pitchFamily="65" charset="-120"/>
                <a:cs typeface="Calibri" pitchFamily="34" charset="0"/>
              </a:rPr>
              <a:t>3 DIV,</a:t>
            </a:r>
          </a:p>
          <a:p>
            <a:r>
              <a:rPr lang="en-US" sz="2000" dirty="0">
                <a:ea typeface="標楷體" pitchFamily="65" charset="-120"/>
                <a:cs typeface="Calibri" pitchFamily="34" charset="0"/>
              </a:rPr>
              <a:t>5 AND</a:t>
            </a:r>
          </a:p>
          <a:p>
            <a:endParaRPr lang="en-US" sz="2000" dirty="0">
              <a:ea typeface="標楷體" pitchFamily="65" charset="-120"/>
              <a:cs typeface="Calibri" pitchFamily="34" charset="0"/>
            </a:endParaRPr>
          </a:p>
          <a:p>
            <a:r>
              <a:rPr lang="en-US" sz="2000" dirty="0">
                <a:ea typeface="標楷體" pitchFamily="65" charset="-120"/>
                <a:cs typeface="Calibri" pitchFamily="34" charset="0"/>
              </a:rPr>
              <a:t>and, instruction 5 </a:t>
            </a:r>
          </a:p>
          <a:p>
            <a:r>
              <a:rPr lang="en-US" sz="2000" dirty="0">
                <a:ea typeface="標楷體" pitchFamily="65" charset="-120"/>
                <a:cs typeface="Calibri" pitchFamily="34" charset="0"/>
              </a:rPr>
              <a:t>finished before </a:t>
            </a:r>
            <a:r>
              <a:rPr lang="en-US" sz="2000" dirty="0" err="1">
                <a:ea typeface="標楷體" pitchFamily="65" charset="-120"/>
                <a:cs typeface="Calibri" pitchFamily="34" charset="0"/>
              </a:rPr>
              <a:t>inst</a:t>
            </a:r>
            <a:r>
              <a:rPr lang="en-US" sz="2000" dirty="0">
                <a:ea typeface="標楷體" pitchFamily="65" charset="-120"/>
                <a:cs typeface="Calibri" pitchFamily="34" charset="0"/>
              </a:rPr>
              <a:t> 3.</a:t>
            </a:r>
          </a:p>
          <a:p>
            <a:r>
              <a:rPr lang="en-US" sz="2000" dirty="0">
                <a:ea typeface="標楷體" pitchFamily="65" charset="-120"/>
                <a:cs typeface="Calibri" pitchFamily="34" charset="0"/>
              </a:rPr>
              <a:t>If </a:t>
            </a:r>
            <a:r>
              <a:rPr lang="en-US" sz="2000" dirty="0" err="1">
                <a:ea typeface="標楷體" pitchFamily="65" charset="-120"/>
                <a:cs typeface="Calibri" pitchFamily="34" charset="0"/>
              </a:rPr>
              <a:t>inst</a:t>
            </a:r>
            <a:r>
              <a:rPr lang="en-US" sz="2000" dirty="0">
                <a:ea typeface="標楷體" pitchFamily="65" charset="-120"/>
                <a:cs typeface="Calibri" pitchFamily="34" charset="0"/>
              </a:rPr>
              <a:t> 3 generates a </a:t>
            </a:r>
          </a:p>
          <a:p>
            <a:r>
              <a:rPr lang="en-US" sz="2000" dirty="0">
                <a:solidFill>
                  <a:srgbClr val="FF0000"/>
                </a:solidFill>
                <a:ea typeface="標楷體" pitchFamily="65" charset="-120"/>
                <a:cs typeface="Calibri" pitchFamily="34" charset="0"/>
              </a:rPr>
              <a:t>trap</a:t>
            </a:r>
            <a:r>
              <a:rPr lang="en-US" sz="2000" dirty="0">
                <a:ea typeface="標楷體" pitchFamily="65" charset="-120"/>
                <a:cs typeface="Calibri" pitchFamily="34" charset="0"/>
              </a:rPr>
              <a:t>, the updated arch </a:t>
            </a:r>
          </a:p>
          <a:p>
            <a:r>
              <a:rPr lang="en-US" sz="2000" dirty="0">
                <a:ea typeface="標楷體" pitchFamily="65" charset="-120"/>
                <a:cs typeface="Calibri" pitchFamily="34" charset="0"/>
              </a:rPr>
              <a:t>states are X13,</a:t>
            </a:r>
          </a:p>
          <a:p>
            <a:r>
              <a:rPr lang="en-US" sz="2000" dirty="0">
                <a:ea typeface="標楷體" pitchFamily="65" charset="-120"/>
                <a:cs typeface="Calibri" pitchFamily="34" charset="0"/>
              </a:rPr>
              <a:t>which is incorrect </a:t>
            </a:r>
          </a:p>
          <a:p>
            <a:r>
              <a:rPr lang="en-US" sz="2000" dirty="0">
                <a:ea typeface="標楷體" pitchFamily="65" charset="-120"/>
                <a:cs typeface="Calibri" pitchFamily="34" charset="0"/>
              </a:rPr>
              <a:t>(should be X2, and X3)</a:t>
            </a:r>
          </a:p>
        </p:txBody>
      </p:sp>
      <p:sp>
        <p:nvSpPr>
          <p:cNvPr id="4" name="Arrow: Left 3">
            <a:extLst>
              <a:ext uri="{FF2B5EF4-FFF2-40B4-BE49-F238E27FC236}">
                <a16:creationId xmlns:a16="http://schemas.microsoft.com/office/drawing/2014/main" id="{81836C55-9486-4272-9E09-C4F810BAA2EA}"/>
              </a:ext>
            </a:extLst>
          </p:cNvPr>
          <p:cNvSpPr/>
          <p:nvPr/>
        </p:nvSpPr>
        <p:spPr bwMode="auto">
          <a:xfrm>
            <a:off x="3133725" y="1946871"/>
            <a:ext cx="476250" cy="257175"/>
          </a:xfrm>
          <a:prstGeom prst="lef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2" name="Arrow: Left 11">
            <a:extLst>
              <a:ext uri="{FF2B5EF4-FFF2-40B4-BE49-F238E27FC236}">
                <a16:creationId xmlns:a16="http://schemas.microsoft.com/office/drawing/2014/main" id="{C5D5DC85-0458-4EC0-9B64-D4F42ED7AC40}"/>
              </a:ext>
            </a:extLst>
          </p:cNvPr>
          <p:cNvSpPr/>
          <p:nvPr/>
        </p:nvSpPr>
        <p:spPr bwMode="auto">
          <a:xfrm>
            <a:off x="3107835" y="2896852"/>
            <a:ext cx="476250" cy="257175"/>
          </a:xfrm>
          <a:prstGeom prst="lef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TextBox 5">
            <a:extLst>
              <a:ext uri="{FF2B5EF4-FFF2-40B4-BE49-F238E27FC236}">
                <a16:creationId xmlns:a16="http://schemas.microsoft.com/office/drawing/2014/main" id="{5951A6A9-43BE-40C2-A12F-38DDE3D7EA09}"/>
              </a:ext>
            </a:extLst>
          </p:cNvPr>
          <p:cNvSpPr txBox="1"/>
          <p:nvPr/>
        </p:nvSpPr>
        <p:spPr>
          <a:xfrm>
            <a:off x="3584085" y="1858845"/>
            <a:ext cx="91563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latency</a:t>
            </a:r>
          </a:p>
        </p:txBody>
      </p:sp>
      <p:sp>
        <p:nvSpPr>
          <p:cNvPr id="14" name="TextBox 13">
            <a:extLst>
              <a:ext uri="{FF2B5EF4-FFF2-40B4-BE49-F238E27FC236}">
                <a16:creationId xmlns:a16="http://schemas.microsoft.com/office/drawing/2014/main" id="{30EEFD14-9F8B-426E-BEF9-7432157A56A2}"/>
              </a:ext>
            </a:extLst>
          </p:cNvPr>
          <p:cNvSpPr txBox="1"/>
          <p:nvPr/>
        </p:nvSpPr>
        <p:spPr>
          <a:xfrm>
            <a:off x="3599986" y="2840773"/>
            <a:ext cx="91563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latency</a:t>
            </a:r>
          </a:p>
        </p:txBody>
      </p:sp>
      <p:cxnSp>
        <p:nvCxnSpPr>
          <p:cNvPr id="13" name="Straight Arrow Connector 12">
            <a:extLst>
              <a:ext uri="{FF2B5EF4-FFF2-40B4-BE49-F238E27FC236}">
                <a16:creationId xmlns:a16="http://schemas.microsoft.com/office/drawing/2014/main" id="{38FF2936-F477-4DE1-8F60-D6BEB7E5F163}"/>
              </a:ext>
            </a:extLst>
          </p:cNvPr>
          <p:cNvCxnSpPr/>
          <p:nvPr/>
        </p:nvCxnSpPr>
        <p:spPr bwMode="auto">
          <a:xfrm>
            <a:off x="2114550" y="1946871"/>
            <a:ext cx="266700" cy="281306"/>
          </a:xfrm>
          <a:prstGeom prst="straightConnector1">
            <a:avLst/>
          </a:prstGeom>
          <a:noFill/>
          <a:ln w="15875"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F9321822-D7DE-4999-8486-4FC1686C3DEE}"/>
              </a:ext>
            </a:extLst>
          </p:cNvPr>
          <p:cNvCxnSpPr/>
          <p:nvPr/>
        </p:nvCxnSpPr>
        <p:spPr bwMode="auto">
          <a:xfrm>
            <a:off x="2247900" y="2908918"/>
            <a:ext cx="266700" cy="281306"/>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372197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AU" altLang="zh-TW" dirty="0">
                <a:ea typeface="PMingLiU" panose="02020500000000000000" pitchFamily="18" charset="-120"/>
              </a:rPr>
              <a:t>Precise Exception</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12</a:t>
            </a:fld>
            <a:endParaRPr lang="zh-TW" altLang="en-US"/>
          </a:p>
        </p:txBody>
      </p:sp>
      <p:sp>
        <p:nvSpPr>
          <p:cNvPr id="3" name="Rectangle 1">
            <a:extLst>
              <a:ext uri="{FF2B5EF4-FFF2-40B4-BE49-F238E27FC236}">
                <a16:creationId xmlns:a16="http://schemas.microsoft.com/office/drawing/2014/main" id="{CFFE51D7-089C-403E-922C-0F7717626080}"/>
              </a:ext>
            </a:extLst>
          </p:cNvPr>
          <p:cNvSpPr>
            <a:spLocks noGrp="1" noChangeArrowheads="1"/>
          </p:cNvSpPr>
          <p:nvPr>
            <p:ph type="body" idx="1"/>
          </p:nvPr>
        </p:nvSpPr>
        <p:spPr bwMode="auto">
          <a:xfrm>
            <a:off x="402344" y="1151945"/>
            <a:ext cx="10030310" cy="4986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 precise exception is a type of exception or interrupt that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chemeClr val="tx1"/>
                </a:solidFill>
                <a:effectLst/>
                <a:latin typeface="Arial" panose="020B0604020202020204" pitchFamily="34" charset="0"/>
              </a:rPr>
              <a:t>allows a program to be stopped and then resumed in a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1" u="none" strike="noStrike" cap="none" normalizeH="0" baseline="0" dirty="0">
                <a:ln>
                  <a:noFill/>
                </a:ln>
                <a:solidFill>
                  <a:srgbClr val="FF0000"/>
                </a:solidFill>
                <a:effectLst/>
                <a:latin typeface="Arial" panose="020B0604020202020204" pitchFamily="34" charset="0"/>
              </a:rPr>
              <a:t>well-defined state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Think of it like hitting "pause" on a movie—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you can resume from the exact frame where you stopped.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a:ln>
                  <a:noFill/>
                </a:ln>
                <a:solidFill>
                  <a:schemeClr val="tx1"/>
                </a:solidFill>
                <a:effectLst/>
                <a:latin typeface="Arial" panose="020B0604020202020204" pitchFamily="34" charset="0"/>
              </a:rPr>
              <a:t>Precise</a:t>
            </a:r>
          </a:p>
          <a:p>
            <a:pPr lvl="1" eaLnBrk="0" hangingPunct="0">
              <a:spcBef>
                <a:spcPct val="0"/>
              </a:spcBef>
              <a:buClrTx/>
              <a:buSzTx/>
              <a:buFont typeface="Wingdings" panose="05000000000000000000" pitchFamily="2" charset="2"/>
              <a:buChar char="§"/>
            </a:pPr>
            <a:r>
              <a:rPr kumimoji="0" lang="en-US" altLang="en-US" sz="2267" dirty="0">
                <a:latin typeface="Arial" panose="020B0604020202020204" pitchFamily="34" charset="0"/>
              </a:rPr>
              <a:t>Clean state</a:t>
            </a:r>
          </a:p>
          <a:p>
            <a:pPr lvl="1" eaLnBrk="0" hangingPunct="0">
              <a:spcBef>
                <a:spcPct val="0"/>
              </a:spcBef>
              <a:buClrTx/>
              <a:buSzTx/>
              <a:buFont typeface="Wingdings" panose="05000000000000000000" pitchFamily="2" charset="2"/>
              <a:buChar char="§"/>
            </a:pPr>
            <a:r>
              <a:rPr kumimoji="0" lang="en-US" altLang="en-US" sz="2267" b="0" i="0" u="none" strike="noStrike" cap="none" normalizeH="0" baseline="0" dirty="0">
                <a:ln>
                  <a:noFill/>
                </a:ln>
                <a:solidFill>
                  <a:schemeClr val="tx1"/>
                </a:solidFill>
                <a:effectLst/>
                <a:latin typeface="Arial" panose="020B0604020202020204" pitchFamily="34" charset="0"/>
              </a:rPr>
              <a:t>Re-</a:t>
            </a:r>
            <a:r>
              <a:rPr kumimoji="0" lang="en-US" altLang="en-US" sz="2267" b="0" i="0" u="none" strike="noStrike" cap="none" normalizeH="0" baseline="0" dirty="0" err="1">
                <a:ln>
                  <a:noFill/>
                </a:ln>
                <a:solidFill>
                  <a:schemeClr val="tx1"/>
                </a:solidFill>
                <a:effectLst/>
                <a:latin typeface="Arial" panose="020B0604020202020204" pitchFamily="34" charset="0"/>
              </a:rPr>
              <a:t>startable</a:t>
            </a:r>
            <a:endParaRPr kumimoji="0" lang="en-US" altLang="en-US" sz="2267" b="0" i="0" u="none" strike="noStrike" cap="none" normalizeH="0" baseline="0" dirty="0">
              <a:ln>
                <a:noFill/>
              </a:ln>
              <a:solidFill>
                <a:schemeClr val="tx1"/>
              </a:solidFill>
              <a:effectLst/>
              <a:latin typeface="Arial" panose="020B0604020202020204" pitchFamily="34" charset="0"/>
            </a:endParaRPr>
          </a:p>
          <a:p>
            <a:pPr lvl="2" eaLnBrk="0" hangingPunct="0">
              <a:spcBef>
                <a:spcPct val="0"/>
              </a:spcBef>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The program can be resumed from the exact instruction that caused </a:t>
            </a:r>
          </a:p>
          <a:p>
            <a:pPr marL="914354" lvl="2" indent="0" eaLnBrk="0" hangingPunct="0">
              <a:spcBef>
                <a:spcPct val="0"/>
              </a:spcBef>
              <a:buNone/>
            </a:pPr>
            <a:r>
              <a:rPr kumimoji="0" lang="en-US" altLang="en-US" sz="2200" b="0" i="0" u="none" strike="noStrike" cap="none" normalizeH="0" baseline="0" dirty="0">
                <a:ln>
                  <a:noFill/>
                </a:ln>
                <a:solidFill>
                  <a:schemeClr val="tx1"/>
                </a:solidFill>
                <a:effectLst/>
                <a:latin typeface="Arial" panose="020B0604020202020204" pitchFamily="34" charset="0"/>
              </a:rPr>
              <a:t>   the exception</a:t>
            </a:r>
          </a:p>
          <a:p>
            <a:pPr lvl="1" eaLnBrk="0" hangingPunct="0">
              <a:spcBef>
                <a:spcPct val="0"/>
              </a:spcBef>
              <a:buClrTx/>
              <a:buSzTx/>
              <a:buFont typeface="Wingdings" panose="05000000000000000000" pitchFamily="2" charset="2"/>
              <a:buChar char="§"/>
            </a:pPr>
            <a:r>
              <a:rPr kumimoji="0" lang="en-US" altLang="en-US" sz="2267" dirty="0">
                <a:latin typeface="Arial" panose="020B0604020202020204" pitchFamily="34" charset="0"/>
              </a:rPr>
              <a:t>Consistent execution</a:t>
            </a:r>
          </a:p>
          <a:p>
            <a:pPr lvl="2" eaLnBrk="0" hangingPunct="0">
              <a:spcBef>
                <a:spcPct val="0"/>
              </a:spcBef>
              <a:buFont typeface="Wingdings" panose="05000000000000000000" pitchFamily="2" charset="2"/>
              <a:buChar char="§"/>
            </a:pPr>
            <a:r>
              <a:rPr lang="en-US" sz="2200" dirty="0"/>
              <a:t>It is as if the exception never happened</a:t>
            </a:r>
          </a:p>
          <a:p>
            <a:pPr eaLnBrk="0" hangingPunct="0">
              <a:spcBef>
                <a:spcPct val="0"/>
              </a:spcBef>
              <a:buFont typeface="Wingdings" panose="05000000000000000000" pitchFamily="2" charset="2"/>
              <a:buChar char="§"/>
            </a:pPr>
            <a:r>
              <a:rPr kumimoji="0" lang="en-US" altLang="en-US" sz="2400" b="0" i="0" u="none" strike="noStrike" cap="none" normalizeH="0" baseline="0" dirty="0">
                <a:ln>
                  <a:noFill/>
                </a:ln>
                <a:solidFill>
                  <a:schemeClr val="tx1"/>
                </a:solidFill>
                <a:effectLst/>
                <a:highlight>
                  <a:srgbClr val="FFFF00"/>
                </a:highlight>
                <a:latin typeface="Arial" panose="020B0604020202020204" pitchFamily="34" charset="0"/>
              </a:rPr>
              <a:t>Precise exception makes out-of-order execution difficult to implement.</a:t>
            </a:r>
          </a:p>
        </p:txBody>
      </p:sp>
    </p:spTree>
    <p:extLst>
      <p:ext uri="{BB962C8B-B14F-4D97-AF65-F5344CB8AC3E}">
        <p14:creationId xmlns:p14="http://schemas.microsoft.com/office/powerpoint/2010/main" val="1728109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RV Arithmetic and Logic Unit (ALU)</a:t>
            </a:r>
          </a:p>
        </p:txBody>
      </p:sp>
      <p:sp>
        <p:nvSpPr>
          <p:cNvPr id="3" name="Content Placeholder 2"/>
          <p:cNvSpPr>
            <a:spLocks noGrp="1"/>
          </p:cNvSpPr>
          <p:nvPr>
            <p:ph idx="1"/>
          </p:nvPr>
        </p:nvSpPr>
        <p:spPr>
          <a:xfrm>
            <a:off x="107005" y="1230386"/>
            <a:ext cx="8023421" cy="4843244"/>
          </a:xfrm>
        </p:spPr>
        <p:txBody>
          <a:bodyPr>
            <a:normAutofit fontScale="92500" lnSpcReduction="20000"/>
          </a:bodyPr>
          <a:lstStyle/>
          <a:p>
            <a:r>
              <a:rPr lang="en-US" sz="2800" dirty="0"/>
              <a:t>Must support the Arithmetic/Logic operations of the ISA</a:t>
            </a:r>
          </a:p>
          <a:p>
            <a:pPr lvl="1"/>
            <a:r>
              <a:rPr lang="en-US" sz="3067" dirty="0">
                <a:latin typeface="Courier New" panose="02070309020205020404" pitchFamily="49" charset="0"/>
                <a:cs typeface="Courier New" panose="02070309020205020404" pitchFamily="49" charset="0"/>
              </a:rPr>
              <a:t>add</a:t>
            </a:r>
            <a:r>
              <a:rPr lang="en-US" sz="3067" dirty="0"/>
              <a:t>, </a:t>
            </a:r>
            <a:r>
              <a:rPr lang="en-US" sz="3067" dirty="0" err="1">
                <a:latin typeface="Courier New" panose="02070309020205020404" pitchFamily="49" charset="0"/>
                <a:cs typeface="Courier New" panose="02070309020205020404" pitchFamily="49" charset="0"/>
              </a:rPr>
              <a:t>addi,sub</a:t>
            </a:r>
            <a:endParaRPr lang="en-US" sz="3067" dirty="0">
              <a:latin typeface="Courier New" panose="02070309020205020404" pitchFamily="49" charset="0"/>
              <a:cs typeface="Courier New" panose="02070309020205020404" pitchFamily="49" charset="0"/>
            </a:endParaRPr>
          </a:p>
          <a:p>
            <a:pPr lvl="1"/>
            <a:r>
              <a:rPr lang="en-US" sz="3067" dirty="0">
                <a:latin typeface="Courier New" panose="02070309020205020404" pitchFamily="49" charset="0"/>
                <a:cs typeface="Courier New" panose="02070309020205020404" pitchFamily="49" charset="0"/>
              </a:rPr>
              <a:t>and</a:t>
            </a:r>
            <a:r>
              <a:rPr lang="en-US" sz="3067" dirty="0"/>
              <a:t>, </a:t>
            </a:r>
            <a:r>
              <a:rPr lang="en-US" sz="3067" dirty="0" err="1">
                <a:latin typeface="Courier New" panose="02070309020205020404" pitchFamily="49" charset="0"/>
                <a:cs typeface="Courier New" panose="02070309020205020404" pitchFamily="49" charset="0"/>
              </a:rPr>
              <a:t>andi</a:t>
            </a:r>
            <a:r>
              <a:rPr lang="en-US" sz="3067" dirty="0"/>
              <a:t>, </a:t>
            </a:r>
            <a:r>
              <a:rPr lang="en-US" sz="3067" dirty="0">
                <a:latin typeface="Courier New" panose="02070309020205020404" pitchFamily="49" charset="0"/>
                <a:cs typeface="Courier New" panose="02070309020205020404" pitchFamily="49" charset="0"/>
              </a:rPr>
              <a:t>or</a:t>
            </a:r>
            <a:r>
              <a:rPr lang="en-US" sz="3067" dirty="0"/>
              <a:t>, </a:t>
            </a:r>
            <a:r>
              <a:rPr lang="en-US" sz="3067" dirty="0" err="1">
                <a:latin typeface="Courier New" panose="02070309020205020404" pitchFamily="49" charset="0"/>
                <a:cs typeface="Courier New" panose="02070309020205020404" pitchFamily="49" charset="0"/>
              </a:rPr>
              <a:t>ori</a:t>
            </a:r>
            <a:r>
              <a:rPr lang="en-US" sz="3067" dirty="0"/>
              <a:t>, </a:t>
            </a:r>
            <a:r>
              <a:rPr lang="en-US" sz="3067" dirty="0" err="1">
                <a:latin typeface="Courier New" panose="02070309020205020404" pitchFamily="49" charset="0"/>
                <a:cs typeface="Courier New" panose="02070309020205020404" pitchFamily="49" charset="0"/>
              </a:rPr>
              <a:t>xor</a:t>
            </a:r>
            <a:r>
              <a:rPr lang="en-US" sz="3067" dirty="0"/>
              <a:t>, </a:t>
            </a:r>
            <a:r>
              <a:rPr lang="en-US" sz="3067" dirty="0" err="1">
                <a:latin typeface="Courier New" panose="02070309020205020404" pitchFamily="49" charset="0"/>
                <a:cs typeface="Courier New" panose="02070309020205020404" pitchFamily="49" charset="0"/>
              </a:rPr>
              <a:t>xori</a:t>
            </a:r>
            <a:endParaRPr lang="en-US" sz="3067" dirty="0">
              <a:latin typeface="Courier New" panose="02070309020205020404" pitchFamily="49" charset="0"/>
              <a:cs typeface="Courier New" panose="02070309020205020404" pitchFamily="49" charset="0"/>
            </a:endParaRPr>
          </a:p>
          <a:p>
            <a:pPr lvl="1"/>
            <a:r>
              <a:rPr lang="en-US" sz="3067" dirty="0" err="1">
                <a:latin typeface="Courier New" panose="02070309020205020404" pitchFamily="49" charset="0"/>
                <a:cs typeface="Courier New" panose="02070309020205020404" pitchFamily="49" charset="0"/>
              </a:rPr>
              <a:t>beq</a:t>
            </a:r>
            <a:r>
              <a:rPr lang="en-US" sz="3067" dirty="0"/>
              <a:t>, </a:t>
            </a:r>
            <a:r>
              <a:rPr lang="en-US" sz="3067" dirty="0" err="1">
                <a:latin typeface="Courier New" panose="02070309020205020404" pitchFamily="49" charset="0"/>
                <a:cs typeface="Courier New" panose="02070309020205020404" pitchFamily="49" charset="0"/>
              </a:rPr>
              <a:t>bne</a:t>
            </a:r>
            <a:r>
              <a:rPr lang="en-US" sz="3067" dirty="0"/>
              <a:t>, </a:t>
            </a:r>
            <a:r>
              <a:rPr lang="en-US" sz="3067" dirty="0" err="1">
                <a:latin typeface="Courier New" panose="02070309020205020404" pitchFamily="49" charset="0"/>
                <a:cs typeface="Courier New" panose="02070309020205020404" pitchFamily="49" charset="0"/>
              </a:rPr>
              <a:t>slt</a:t>
            </a:r>
            <a:r>
              <a:rPr lang="en-US" sz="3067" dirty="0"/>
              <a:t>, </a:t>
            </a:r>
            <a:r>
              <a:rPr lang="en-US" sz="3067" dirty="0" err="1">
                <a:latin typeface="Courier New" panose="02070309020205020404" pitchFamily="49" charset="0"/>
                <a:cs typeface="Courier New" panose="02070309020205020404" pitchFamily="49" charset="0"/>
              </a:rPr>
              <a:t>slti</a:t>
            </a:r>
            <a:endParaRPr lang="en-US" sz="3067" dirty="0">
              <a:latin typeface="Courier New" panose="02070309020205020404" pitchFamily="49" charset="0"/>
              <a:cs typeface="Courier New" panose="02070309020205020404" pitchFamily="49" charset="0"/>
            </a:endParaRPr>
          </a:p>
          <a:p>
            <a:r>
              <a:rPr lang="en-US" sz="2800" dirty="0"/>
              <a:t>Some ALUs must handle signs and zero extensions due to different operand sizes (such as </a:t>
            </a:r>
            <a:r>
              <a:rPr lang="en-US" sz="2800" dirty="0" err="1"/>
              <a:t>addb</a:t>
            </a:r>
            <a:r>
              <a:rPr lang="en-US" sz="2800" dirty="0"/>
              <a:t>, </a:t>
            </a:r>
            <a:r>
              <a:rPr lang="en-US" sz="2800" dirty="0" err="1"/>
              <a:t>addh</a:t>
            </a:r>
            <a:r>
              <a:rPr lang="en-US" sz="2800" dirty="0"/>
              <a:t>). RV does not need to do that.</a:t>
            </a:r>
            <a:r>
              <a:rPr lang="en-US" sz="2200" dirty="0"/>
              <a:t> </a:t>
            </a:r>
          </a:p>
          <a:p>
            <a:pPr lvl="1">
              <a:buFont typeface="Wingdings" panose="05000000000000000000" pitchFamily="2" charset="2"/>
              <a:buChar char="Ø"/>
            </a:pPr>
            <a:r>
              <a:rPr lang="en-US" sz="2200" dirty="0"/>
              <a:t>The potential overhead of processing extra bits on byte operations is often outweighed by the benefits of a simpler and more streamlined architecture.)</a:t>
            </a:r>
          </a:p>
          <a:p>
            <a:r>
              <a:rPr lang="en-US" sz="2800" dirty="0"/>
              <a:t>Detecting overflows in ALU?</a:t>
            </a:r>
          </a:p>
          <a:p>
            <a:pPr lvl="1"/>
            <a:r>
              <a:rPr lang="en-US" sz="2267" dirty="0"/>
              <a:t>Some ALU may generate a trap on such overflows; </a:t>
            </a:r>
            <a:r>
              <a:rPr lang="en-US" sz="2267" dirty="0">
                <a:solidFill>
                  <a:srgbClr val="FF0000"/>
                </a:solidFill>
              </a:rPr>
              <a:t>RV does not</a:t>
            </a:r>
            <a:r>
              <a:rPr lang="en-US" sz="2267" dirty="0"/>
              <a:t>. For FP exceptions, RV sets a flag but does not trap.</a:t>
            </a:r>
          </a:p>
        </p:txBody>
      </p:sp>
      <p:grpSp>
        <p:nvGrpSpPr>
          <p:cNvPr id="7" name="Group 6"/>
          <p:cNvGrpSpPr/>
          <p:nvPr/>
        </p:nvGrpSpPr>
        <p:grpSpPr>
          <a:xfrm>
            <a:off x="8091524" y="1983462"/>
            <a:ext cx="3861293" cy="3337091"/>
            <a:chOff x="4534486" y="666070"/>
            <a:chExt cx="3055093" cy="2520077"/>
          </a:xfrm>
        </p:grpSpPr>
        <p:grpSp>
          <p:nvGrpSpPr>
            <p:cNvPr id="8" name="Group 7"/>
            <p:cNvGrpSpPr/>
            <p:nvPr/>
          </p:nvGrpSpPr>
          <p:grpSpPr>
            <a:xfrm>
              <a:off x="4867221" y="1177152"/>
              <a:ext cx="707163" cy="433261"/>
              <a:chOff x="4733419" y="1170525"/>
              <a:chExt cx="707163" cy="433261"/>
            </a:xfrm>
          </p:grpSpPr>
          <p:grpSp>
            <p:nvGrpSpPr>
              <p:cNvPr id="38" name="Group 37"/>
              <p:cNvGrpSpPr/>
              <p:nvPr/>
            </p:nvGrpSpPr>
            <p:grpSpPr>
              <a:xfrm>
                <a:off x="4733419" y="1459786"/>
                <a:ext cx="707163" cy="144000"/>
                <a:chOff x="4733419" y="1459786"/>
                <a:chExt cx="707163" cy="144000"/>
              </a:xfrm>
            </p:grpSpPr>
            <p:cxnSp>
              <p:nvCxnSpPr>
                <p:cNvPr id="40" name="Straight Arrow Connector 39"/>
                <p:cNvCxnSpPr/>
                <p:nvPr/>
              </p:nvCxnSpPr>
              <p:spPr>
                <a:xfrm>
                  <a:off x="4733419" y="1531786"/>
                  <a:ext cx="70716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a:off x="5015000" y="1459786"/>
                  <a:ext cx="144000" cy="144000"/>
                </a:xfrm>
                <a:prstGeom prst="straightConnector1">
                  <a:avLst/>
                </a:prstGeom>
                <a:ln w="28575">
                  <a:tailEnd type="none"/>
                </a:ln>
              </p:spPr>
              <p:style>
                <a:lnRef idx="1">
                  <a:schemeClr val="accent1"/>
                </a:lnRef>
                <a:fillRef idx="0">
                  <a:schemeClr val="accent1"/>
                </a:fillRef>
                <a:effectRef idx="0">
                  <a:schemeClr val="accent1"/>
                </a:effectRef>
                <a:fontRef idx="minor">
                  <a:schemeClr val="tx1"/>
                </a:fontRef>
              </p:style>
            </p:cxnSp>
          </p:grpSp>
          <p:sp>
            <p:nvSpPr>
              <p:cNvPr id="39" name="TextBox 38"/>
              <p:cNvSpPr txBox="1"/>
              <p:nvPr/>
            </p:nvSpPr>
            <p:spPr>
              <a:xfrm>
                <a:off x="4895280" y="1170525"/>
                <a:ext cx="303380" cy="232425"/>
              </a:xfrm>
              <a:prstGeom prst="rect">
                <a:avLst/>
              </a:prstGeom>
              <a:noFill/>
            </p:spPr>
            <p:txBody>
              <a:bodyPr wrap="none" rtlCol="0">
                <a:spAutoFit/>
              </a:bodyPr>
              <a:lstStyle/>
              <a:p>
                <a:r>
                  <a:rPr lang="en-US" sz="1400" b="1" dirty="0">
                    <a:solidFill>
                      <a:schemeClr val="accent1"/>
                    </a:solidFill>
                  </a:rPr>
                  <a:t>32</a:t>
                </a:r>
              </a:p>
            </p:txBody>
          </p:sp>
        </p:grpSp>
        <p:grpSp>
          <p:nvGrpSpPr>
            <p:cNvPr id="9" name="Group 8"/>
            <p:cNvGrpSpPr/>
            <p:nvPr/>
          </p:nvGrpSpPr>
          <p:grpSpPr>
            <a:xfrm>
              <a:off x="4867221" y="2013778"/>
              <a:ext cx="707163" cy="433261"/>
              <a:chOff x="4733419" y="1170525"/>
              <a:chExt cx="707163" cy="433261"/>
            </a:xfrm>
          </p:grpSpPr>
          <p:grpSp>
            <p:nvGrpSpPr>
              <p:cNvPr id="34" name="Group 33"/>
              <p:cNvGrpSpPr/>
              <p:nvPr/>
            </p:nvGrpSpPr>
            <p:grpSpPr>
              <a:xfrm>
                <a:off x="4733419" y="1459786"/>
                <a:ext cx="707163" cy="144000"/>
                <a:chOff x="4733419" y="1459786"/>
                <a:chExt cx="707163" cy="144000"/>
              </a:xfrm>
            </p:grpSpPr>
            <p:cxnSp>
              <p:nvCxnSpPr>
                <p:cNvPr id="36" name="Straight Arrow Connector 35"/>
                <p:cNvCxnSpPr/>
                <p:nvPr/>
              </p:nvCxnSpPr>
              <p:spPr>
                <a:xfrm>
                  <a:off x="4733419" y="1531786"/>
                  <a:ext cx="70716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5015000" y="1459786"/>
                  <a:ext cx="144000" cy="144000"/>
                </a:xfrm>
                <a:prstGeom prst="straightConnector1">
                  <a:avLst/>
                </a:prstGeom>
                <a:ln w="28575">
                  <a:tailEnd type="none"/>
                </a:ln>
              </p:spPr>
              <p:style>
                <a:lnRef idx="1">
                  <a:schemeClr val="accent1"/>
                </a:lnRef>
                <a:fillRef idx="0">
                  <a:schemeClr val="accent1"/>
                </a:fillRef>
                <a:effectRef idx="0">
                  <a:schemeClr val="accent1"/>
                </a:effectRef>
                <a:fontRef idx="minor">
                  <a:schemeClr val="tx1"/>
                </a:fontRef>
              </p:style>
            </p:cxnSp>
          </p:grpSp>
          <p:sp>
            <p:nvSpPr>
              <p:cNvPr id="35" name="TextBox 34"/>
              <p:cNvSpPr txBox="1"/>
              <p:nvPr/>
            </p:nvSpPr>
            <p:spPr>
              <a:xfrm>
                <a:off x="4895280" y="1170525"/>
                <a:ext cx="303380" cy="232425"/>
              </a:xfrm>
              <a:prstGeom prst="rect">
                <a:avLst/>
              </a:prstGeom>
              <a:noFill/>
            </p:spPr>
            <p:txBody>
              <a:bodyPr wrap="none" rtlCol="0">
                <a:spAutoFit/>
              </a:bodyPr>
              <a:lstStyle/>
              <a:p>
                <a:r>
                  <a:rPr lang="en-US" sz="1400" b="1" dirty="0">
                    <a:solidFill>
                      <a:schemeClr val="accent1"/>
                    </a:solidFill>
                  </a:rPr>
                  <a:t>32</a:t>
                </a:r>
              </a:p>
            </p:txBody>
          </p:sp>
        </p:grpSp>
        <p:grpSp>
          <p:nvGrpSpPr>
            <p:cNvPr id="10" name="Group 9"/>
            <p:cNvGrpSpPr/>
            <p:nvPr/>
          </p:nvGrpSpPr>
          <p:grpSpPr>
            <a:xfrm>
              <a:off x="6255178" y="1631279"/>
              <a:ext cx="707163" cy="433261"/>
              <a:chOff x="4733419" y="1170525"/>
              <a:chExt cx="707163" cy="433261"/>
            </a:xfrm>
          </p:grpSpPr>
          <p:grpSp>
            <p:nvGrpSpPr>
              <p:cNvPr id="30" name="Group 29"/>
              <p:cNvGrpSpPr/>
              <p:nvPr/>
            </p:nvGrpSpPr>
            <p:grpSpPr>
              <a:xfrm>
                <a:off x="4733419" y="1459786"/>
                <a:ext cx="707163" cy="144000"/>
                <a:chOff x="4733419" y="1459786"/>
                <a:chExt cx="707163" cy="144000"/>
              </a:xfrm>
            </p:grpSpPr>
            <p:cxnSp>
              <p:nvCxnSpPr>
                <p:cNvPr id="32" name="Straight Arrow Connector 31"/>
                <p:cNvCxnSpPr/>
                <p:nvPr/>
              </p:nvCxnSpPr>
              <p:spPr>
                <a:xfrm>
                  <a:off x="4733419" y="1531786"/>
                  <a:ext cx="70716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5015000" y="1459786"/>
                  <a:ext cx="144000" cy="144000"/>
                </a:xfrm>
                <a:prstGeom prst="straightConnector1">
                  <a:avLst/>
                </a:prstGeom>
                <a:ln w="28575">
                  <a:tailEnd type="none"/>
                </a:ln>
              </p:spPr>
              <p:style>
                <a:lnRef idx="1">
                  <a:schemeClr val="accent1"/>
                </a:lnRef>
                <a:fillRef idx="0">
                  <a:schemeClr val="accent1"/>
                </a:fillRef>
                <a:effectRef idx="0">
                  <a:schemeClr val="accent1"/>
                </a:effectRef>
                <a:fontRef idx="minor">
                  <a:schemeClr val="tx1"/>
                </a:fontRef>
              </p:style>
            </p:cxnSp>
          </p:grpSp>
          <p:sp>
            <p:nvSpPr>
              <p:cNvPr id="31" name="TextBox 30"/>
              <p:cNvSpPr txBox="1"/>
              <p:nvPr/>
            </p:nvSpPr>
            <p:spPr>
              <a:xfrm>
                <a:off x="4895280" y="1170525"/>
                <a:ext cx="303380" cy="232425"/>
              </a:xfrm>
              <a:prstGeom prst="rect">
                <a:avLst/>
              </a:prstGeom>
              <a:noFill/>
            </p:spPr>
            <p:txBody>
              <a:bodyPr wrap="none" rtlCol="0">
                <a:spAutoFit/>
              </a:bodyPr>
              <a:lstStyle/>
              <a:p>
                <a:r>
                  <a:rPr lang="en-US" sz="1400" b="1" dirty="0">
                    <a:solidFill>
                      <a:schemeClr val="accent1"/>
                    </a:solidFill>
                  </a:rPr>
                  <a:t>32</a:t>
                </a:r>
              </a:p>
            </p:txBody>
          </p:sp>
        </p:grpSp>
        <p:grpSp>
          <p:nvGrpSpPr>
            <p:cNvPr id="11" name="Group 10"/>
            <p:cNvGrpSpPr/>
            <p:nvPr/>
          </p:nvGrpSpPr>
          <p:grpSpPr>
            <a:xfrm>
              <a:off x="5864558" y="2478984"/>
              <a:ext cx="332745" cy="707163"/>
              <a:chOff x="5864558" y="2478984"/>
              <a:chExt cx="332745" cy="707163"/>
            </a:xfrm>
          </p:grpSpPr>
          <p:grpSp>
            <p:nvGrpSpPr>
              <p:cNvPr id="26" name="Group 25"/>
              <p:cNvGrpSpPr/>
              <p:nvPr/>
            </p:nvGrpSpPr>
            <p:grpSpPr>
              <a:xfrm>
                <a:off x="5864558" y="2478984"/>
                <a:ext cx="144000" cy="707163"/>
                <a:chOff x="5301202" y="2173857"/>
                <a:chExt cx="144000" cy="707163"/>
              </a:xfrm>
            </p:grpSpPr>
            <p:cxnSp>
              <p:nvCxnSpPr>
                <p:cNvPr id="28" name="Straight Arrow Connector 27"/>
                <p:cNvCxnSpPr/>
                <p:nvPr/>
              </p:nvCxnSpPr>
              <p:spPr>
                <a:xfrm rot="16200000">
                  <a:off x="5019621" y="2527439"/>
                  <a:ext cx="70716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5301202" y="2455439"/>
                  <a:ext cx="144000" cy="144000"/>
                </a:xfrm>
                <a:prstGeom prst="straightConnector1">
                  <a:avLst/>
                </a:prstGeom>
                <a:ln w="28575">
                  <a:tailEnd type="none"/>
                </a:ln>
              </p:spPr>
              <p:style>
                <a:lnRef idx="1">
                  <a:schemeClr val="accent1"/>
                </a:lnRef>
                <a:fillRef idx="0">
                  <a:schemeClr val="accent1"/>
                </a:fillRef>
                <a:effectRef idx="0">
                  <a:schemeClr val="accent1"/>
                </a:effectRef>
                <a:fontRef idx="minor">
                  <a:schemeClr val="tx1"/>
                </a:fontRef>
              </p:style>
            </p:cxnSp>
          </p:grpSp>
          <p:sp>
            <p:nvSpPr>
              <p:cNvPr id="27" name="TextBox 26"/>
              <p:cNvSpPr txBox="1"/>
              <p:nvPr/>
            </p:nvSpPr>
            <p:spPr>
              <a:xfrm>
                <a:off x="5972558" y="2670233"/>
                <a:ext cx="224745" cy="232424"/>
              </a:xfrm>
              <a:prstGeom prst="rect">
                <a:avLst/>
              </a:prstGeom>
              <a:noFill/>
            </p:spPr>
            <p:txBody>
              <a:bodyPr wrap="none" rtlCol="0">
                <a:spAutoFit/>
              </a:bodyPr>
              <a:lstStyle/>
              <a:p>
                <a:r>
                  <a:rPr lang="en-US" sz="1400" b="1" dirty="0">
                    <a:solidFill>
                      <a:schemeClr val="accent1"/>
                    </a:solidFill>
                  </a:rPr>
                  <a:t>4</a:t>
                </a:r>
              </a:p>
            </p:txBody>
          </p:sp>
        </p:grpSp>
        <p:cxnSp>
          <p:nvCxnSpPr>
            <p:cNvPr id="12" name="Straight Arrow Connector 11"/>
            <p:cNvCxnSpPr/>
            <p:nvPr/>
          </p:nvCxnSpPr>
          <p:spPr>
            <a:xfrm flipV="1">
              <a:off x="6089439" y="831250"/>
              <a:ext cx="0" cy="73323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805781" y="831250"/>
              <a:ext cx="0" cy="54797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5554010" y="1257534"/>
              <a:ext cx="702174" cy="1413286"/>
              <a:chOff x="5416536" y="1486134"/>
              <a:chExt cx="702174" cy="1413286"/>
            </a:xfrm>
          </p:grpSpPr>
          <p:sp>
            <p:nvSpPr>
              <p:cNvPr id="22" name="Trapezoid 21"/>
              <p:cNvSpPr/>
              <p:nvPr/>
            </p:nvSpPr>
            <p:spPr>
              <a:xfrm rot="16200000" flipV="1">
                <a:off x="5081355" y="1862064"/>
                <a:ext cx="1413286" cy="661425"/>
              </a:xfrm>
              <a:prstGeom prst="trapezoid">
                <a:avLst>
                  <a:gd name="adj" fmla="val 60933"/>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p:cNvGrpSpPr/>
              <p:nvPr/>
            </p:nvGrpSpPr>
            <p:grpSpPr>
              <a:xfrm rot="16200000">
                <a:off x="5430935" y="2078854"/>
                <a:ext cx="199052" cy="227850"/>
                <a:chOff x="7100887" y="4466259"/>
                <a:chExt cx="95249" cy="109027"/>
              </a:xfrm>
            </p:grpSpPr>
            <p:sp>
              <p:nvSpPr>
                <p:cNvPr id="24" name="Isosceles Triangle 23"/>
                <p:cNvSpPr/>
                <p:nvPr/>
              </p:nvSpPr>
              <p:spPr>
                <a:xfrm flipV="1">
                  <a:off x="7100887" y="4493899"/>
                  <a:ext cx="95249" cy="81387"/>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24"/>
                <p:cNvSpPr/>
                <p:nvPr/>
              </p:nvSpPr>
              <p:spPr>
                <a:xfrm flipV="1">
                  <a:off x="7100887" y="4466259"/>
                  <a:ext cx="95249" cy="813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5" name="TextBox 14"/>
            <p:cNvSpPr txBox="1"/>
            <p:nvPr/>
          </p:nvSpPr>
          <p:spPr>
            <a:xfrm>
              <a:off x="5669512" y="1581150"/>
              <a:ext cx="521530" cy="278909"/>
            </a:xfrm>
            <a:prstGeom prst="rect">
              <a:avLst/>
            </a:prstGeom>
            <a:noFill/>
          </p:spPr>
          <p:txBody>
            <a:bodyPr wrap="none" rtlCol="0">
              <a:spAutoFit/>
            </a:bodyPr>
            <a:lstStyle/>
            <a:p>
              <a:pPr algn="ctr"/>
              <a:r>
                <a:rPr lang="en-US" b="1" dirty="0"/>
                <a:t>ALU</a:t>
              </a:r>
            </a:p>
          </p:txBody>
        </p:sp>
        <p:sp>
          <p:nvSpPr>
            <p:cNvPr id="16" name="TextBox 15"/>
            <p:cNvSpPr txBox="1"/>
            <p:nvPr/>
          </p:nvSpPr>
          <p:spPr>
            <a:xfrm>
              <a:off x="4534487" y="1353748"/>
              <a:ext cx="267867" cy="278909"/>
            </a:xfrm>
            <a:prstGeom prst="rect">
              <a:avLst/>
            </a:prstGeom>
            <a:noFill/>
          </p:spPr>
          <p:txBody>
            <a:bodyPr wrap="none" rtlCol="0">
              <a:spAutoFit/>
            </a:bodyPr>
            <a:lstStyle/>
            <a:p>
              <a:pPr algn="ctr"/>
              <a:r>
                <a:rPr lang="en-US" dirty="0"/>
                <a:t>A</a:t>
              </a:r>
            </a:p>
          </p:txBody>
        </p:sp>
        <p:sp>
          <p:nvSpPr>
            <p:cNvPr id="17" name="TextBox 16"/>
            <p:cNvSpPr txBox="1"/>
            <p:nvPr/>
          </p:nvSpPr>
          <p:spPr>
            <a:xfrm>
              <a:off x="4534486" y="2191492"/>
              <a:ext cx="267867" cy="278909"/>
            </a:xfrm>
            <a:prstGeom prst="rect">
              <a:avLst/>
            </a:prstGeom>
            <a:noFill/>
          </p:spPr>
          <p:txBody>
            <a:bodyPr wrap="none" rtlCol="0">
              <a:spAutoFit/>
            </a:bodyPr>
            <a:lstStyle/>
            <a:p>
              <a:pPr algn="ctr"/>
              <a:r>
                <a:rPr lang="en-US" dirty="0"/>
                <a:t>B</a:t>
              </a:r>
            </a:p>
          </p:txBody>
        </p:sp>
        <p:sp>
          <p:nvSpPr>
            <p:cNvPr id="18" name="TextBox 17"/>
            <p:cNvSpPr txBox="1"/>
            <p:nvPr/>
          </p:nvSpPr>
          <p:spPr>
            <a:xfrm>
              <a:off x="6997024" y="1788825"/>
              <a:ext cx="592555" cy="278909"/>
            </a:xfrm>
            <a:prstGeom prst="rect">
              <a:avLst/>
            </a:prstGeom>
            <a:noFill/>
          </p:spPr>
          <p:txBody>
            <a:bodyPr wrap="none" rtlCol="0">
              <a:spAutoFit/>
            </a:bodyPr>
            <a:lstStyle/>
            <a:p>
              <a:pPr algn="ctr"/>
              <a:r>
                <a:rPr lang="en-US" dirty="0"/>
                <a:t>result</a:t>
              </a:r>
            </a:p>
          </p:txBody>
        </p:sp>
        <p:sp>
          <p:nvSpPr>
            <p:cNvPr id="19" name="TextBox 18"/>
            <p:cNvSpPr txBox="1"/>
            <p:nvPr/>
          </p:nvSpPr>
          <p:spPr>
            <a:xfrm>
              <a:off x="6076956" y="2875616"/>
              <a:ext cx="1231784" cy="278909"/>
            </a:xfrm>
            <a:prstGeom prst="rect">
              <a:avLst/>
            </a:prstGeom>
            <a:noFill/>
          </p:spPr>
          <p:txBody>
            <a:bodyPr wrap="none" rtlCol="0">
              <a:spAutoFit/>
            </a:bodyPr>
            <a:lstStyle/>
            <a:p>
              <a:pPr algn="ctr"/>
              <a:r>
                <a:rPr lang="en-US" dirty="0"/>
                <a:t>m (operation)</a:t>
              </a:r>
            </a:p>
          </p:txBody>
        </p:sp>
        <p:sp>
          <p:nvSpPr>
            <p:cNvPr id="20" name="TextBox 19"/>
            <p:cNvSpPr txBox="1"/>
            <p:nvPr/>
          </p:nvSpPr>
          <p:spPr>
            <a:xfrm>
              <a:off x="5189963" y="666070"/>
              <a:ext cx="501237" cy="278909"/>
            </a:xfrm>
            <a:prstGeom prst="rect">
              <a:avLst/>
            </a:prstGeom>
            <a:noFill/>
          </p:spPr>
          <p:txBody>
            <a:bodyPr wrap="none" rtlCol="0">
              <a:spAutoFit/>
            </a:bodyPr>
            <a:lstStyle/>
            <a:p>
              <a:pPr algn="ctr"/>
              <a:r>
                <a:rPr lang="en-US" dirty="0"/>
                <a:t>zero</a:t>
              </a:r>
            </a:p>
          </p:txBody>
        </p:sp>
        <p:sp>
          <p:nvSpPr>
            <p:cNvPr id="21" name="TextBox 20"/>
            <p:cNvSpPr txBox="1"/>
            <p:nvPr/>
          </p:nvSpPr>
          <p:spPr>
            <a:xfrm>
              <a:off x="6198415" y="686379"/>
              <a:ext cx="825925" cy="278909"/>
            </a:xfrm>
            <a:prstGeom prst="rect">
              <a:avLst/>
            </a:prstGeom>
            <a:noFill/>
          </p:spPr>
          <p:txBody>
            <a:bodyPr wrap="none" rtlCol="0">
              <a:spAutoFit/>
            </a:bodyPr>
            <a:lstStyle/>
            <a:p>
              <a:pPr algn="ctr"/>
              <a:r>
                <a:rPr lang="en-US" dirty="0"/>
                <a:t>overflow</a:t>
              </a:r>
            </a:p>
          </p:txBody>
        </p:sp>
      </p:grpSp>
      <p:sp>
        <p:nvSpPr>
          <p:cNvPr id="6" name="灯片编号占位符 5"/>
          <p:cNvSpPr>
            <a:spLocks noGrp="1"/>
          </p:cNvSpPr>
          <p:nvPr>
            <p:ph type="sldNum" sz="quarter" idx="10"/>
          </p:nvPr>
        </p:nvSpPr>
        <p:spPr/>
        <p:txBody>
          <a:bodyPr/>
          <a:lstStyle/>
          <a:p>
            <a:fld id="{D9B6BDF2-6896-4B98-8776-C18582F63BA5}" type="slidenum">
              <a:rPr lang="zh-TW" altLang="en-US" smtClean="0"/>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5" name="Rectangle 44"/>
          <p:cNvSpPr>
            <a:spLocks noGrp="1" noChangeArrowheads="1"/>
          </p:cNvSpPr>
          <p:nvPr>
            <p:ph type="title"/>
          </p:nvPr>
        </p:nvSpPr>
        <p:spPr>
          <a:xfrm>
            <a:off x="1325233" y="216951"/>
            <a:ext cx="10698154" cy="626379"/>
          </a:xfrm>
        </p:spPr>
        <p:txBody>
          <a:bodyPr/>
          <a:lstStyle/>
          <a:p>
            <a:r>
              <a:rPr lang="en-US" altLang="zh-TW" sz="4400" dirty="0"/>
              <a:t>A 1-bit ALU – And, Or, and Add Operations</a:t>
            </a:r>
          </a:p>
        </p:txBody>
      </p:sp>
      <p:grpSp>
        <p:nvGrpSpPr>
          <p:cNvPr id="2" name="组合 1"/>
          <p:cNvGrpSpPr/>
          <p:nvPr/>
        </p:nvGrpSpPr>
        <p:grpSpPr>
          <a:xfrm>
            <a:off x="2807518" y="1209064"/>
            <a:ext cx="6131959" cy="4711193"/>
            <a:chOff x="2509838" y="1593420"/>
            <a:chExt cx="3604022" cy="3151937"/>
          </a:xfrm>
        </p:grpSpPr>
        <p:grpSp>
          <p:nvGrpSpPr>
            <p:cNvPr id="12290" name="Group 2"/>
            <p:cNvGrpSpPr/>
            <p:nvPr/>
          </p:nvGrpSpPr>
          <p:grpSpPr bwMode="auto">
            <a:xfrm>
              <a:off x="3761185" y="2052638"/>
              <a:ext cx="619125" cy="457200"/>
              <a:chOff x="2251" y="1766"/>
              <a:chExt cx="480" cy="384"/>
            </a:xfrm>
          </p:grpSpPr>
          <p:sp>
            <p:nvSpPr>
              <p:cNvPr id="12333" name="Arc 3"/>
              <p:cNvSpPr/>
              <p:nvPr/>
            </p:nvSpPr>
            <p:spPr bwMode="auto">
              <a:xfrm>
                <a:off x="2531" y="1767"/>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334" name="Arc 4"/>
              <p:cNvSpPr/>
              <p:nvPr/>
            </p:nvSpPr>
            <p:spPr bwMode="auto">
              <a:xfrm>
                <a:off x="2531" y="1958"/>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335" name="Line 5"/>
              <p:cNvSpPr>
                <a:spLocks noChangeShapeType="1"/>
              </p:cNvSpPr>
              <p:nvPr/>
            </p:nvSpPr>
            <p:spPr bwMode="auto">
              <a:xfrm flipH="1">
                <a:off x="2251" y="1766"/>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36" name="Line 6"/>
              <p:cNvSpPr>
                <a:spLocks noChangeShapeType="1"/>
              </p:cNvSpPr>
              <p:nvPr/>
            </p:nvSpPr>
            <p:spPr bwMode="auto">
              <a:xfrm>
                <a:off x="2251" y="1766"/>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37" name="Line 7"/>
              <p:cNvSpPr>
                <a:spLocks noChangeShapeType="1"/>
              </p:cNvSpPr>
              <p:nvPr/>
            </p:nvSpPr>
            <p:spPr bwMode="auto">
              <a:xfrm flipH="1">
                <a:off x="2251" y="2150"/>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grpSp>
        <p:sp>
          <p:nvSpPr>
            <p:cNvPr id="12291" name="Line 8"/>
            <p:cNvSpPr>
              <a:spLocks noChangeShapeType="1"/>
            </p:cNvSpPr>
            <p:nvPr/>
          </p:nvSpPr>
          <p:spPr bwMode="auto">
            <a:xfrm flipH="1">
              <a:off x="2770585" y="2166938"/>
              <a:ext cx="9906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292" name="Line 9"/>
            <p:cNvSpPr>
              <a:spLocks noChangeShapeType="1"/>
            </p:cNvSpPr>
            <p:nvPr/>
          </p:nvSpPr>
          <p:spPr bwMode="auto">
            <a:xfrm flipH="1">
              <a:off x="3451622" y="2395538"/>
              <a:ext cx="309563"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293" name="Line 10"/>
            <p:cNvSpPr>
              <a:spLocks noChangeShapeType="1"/>
            </p:cNvSpPr>
            <p:nvPr/>
          </p:nvSpPr>
          <p:spPr bwMode="auto">
            <a:xfrm>
              <a:off x="4380310" y="2281238"/>
              <a:ext cx="68103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294" name="Rectangle 11"/>
            <p:cNvSpPr>
              <a:spLocks noChangeArrowheads="1"/>
            </p:cNvSpPr>
            <p:nvPr/>
          </p:nvSpPr>
          <p:spPr bwMode="auto">
            <a:xfrm>
              <a:off x="2509838" y="2060973"/>
              <a:ext cx="195969"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A</a:t>
              </a:r>
            </a:p>
          </p:txBody>
        </p:sp>
        <p:sp>
          <p:nvSpPr>
            <p:cNvPr id="12295" name="Arc 12"/>
            <p:cNvSpPr/>
            <p:nvPr/>
          </p:nvSpPr>
          <p:spPr bwMode="auto">
            <a:xfrm>
              <a:off x="3813573" y="2853929"/>
              <a:ext cx="525065" cy="228600"/>
            </a:xfrm>
            <a:custGeom>
              <a:avLst/>
              <a:gdLst>
                <a:gd name="T0" fmla="*/ 0 w 21653"/>
                <a:gd name="T1" fmla="*/ 0 h 21600"/>
                <a:gd name="T2" fmla="*/ 2147483647 w 21653"/>
                <a:gd name="T3" fmla="*/ 2147483647 h 21600"/>
                <a:gd name="T4" fmla="*/ 2147483647 w 21653"/>
                <a:gd name="T5" fmla="*/ 2147483647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0" y="0"/>
                  </a:moveTo>
                  <a:cubicBezTo>
                    <a:pt x="17" y="0"/>
                    <a:pt x="35" y="-1"/>
                    <a:pt x="53" y="0"/>
                  </a:cubicBezTo>
                  <a:cubicBezTo>
                    <a:pt x="11982" y="0"/>
                    <a:pt x="21653" y="9670"/>
                    <a:pt x="21653" y="21600"/>
                  </a:cubicBezTo>
                </a:path>
                <a:path w="21653" h="21600" stroke="0" extrusionOk="0">
                  <a:moveTo>
                    <a:pt x="0" y="0"/>
                  </a:moveTo>
                  <a:cubicBezTo>
                    <a:pt x="17" y="0"/>
                    <a:pt x="35" y="-1"/>
                    <a:pt x="53" y="0"/>
                  </a:cubicBezTo>
                  <a:cubicBezTo>
                    <a:pt x="11982" y="0"/>
                    <a:pt x="21653" y="9670"/>
                    <a:pt x="21653" y="21600"/>
                  </a:cubicBezTo>
                  <a:lnTo>
                    <a:pt x="53" y="21600"/>
                  </a:lnTo>
                  <a:lnTo>
                    <a:pt x="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296" name="Arc 13"/>
            <p:cNvSpPr/>
            <p:nvPr/>
          </p:nvSpPr>
          <p:spPr bwMode="auto">
            <a:xfrm>
              <a:off x="3812381" y="3081338"/>
              <a:ext cx="525066" cy="228600"/>
            </a:xfrm>
            <a:custGeom>
              <a:avLst/>
              <a:gdLst>
                <a:gd name="T0" fmla="*/ 2147483647 w 21653"/>
                <a:gd name="T1" fmla="*/ 0 h 21600"/>
                <a:gd name="T2" fmla="*/ 0 w 21653"/>
                <a:gd name="T3" fmla="*/ 2147483647 h 21600"/>
                <a:gd name="T4" fmla="*/ 2147483647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21653" y="0"/>
                  </a:moveTo>
                  <a:cubicBezTo>
                    <a:pt x="21653" y="11929"/>
                    <a:pt x="11982" y="21600"/>
                    <a:pt x="53" y="21600"/>
                  </a:cubicBezTo>
                  <a:cubicBezTo>
                    <a:pt x="35" y="21600"/>
                    <a:pt x="17" y="21599"/>
                    <a:pt x="0" y="21599"/>
                  </a:cubicBezTo>
                </a:path>
                <a:path w="21653" h="21600" stroke="0" extrusionOk="0">
                  <a:moveTo>
                    <a:pt x="21653" y="0"/>
                  </a:moveTo>
                  <a:cubicBezTo>
                    <a:pt x="21653" y="11929"/>
                    <a:pt x="11982" y="21600"/>
                    <a:pt x="53" y="21600"/>
                  </a:cubicBezTo>
                  <a:cubicBezTo>
                    <a:pt x="35" y="21600"/>
                    <a:pt x="17" y="21599"/>
                    <a:pt x="0" y="21599"/>
                  </a:cubicBezTo>
                  <a:lnTo>
                    <a:pt x="53" y="0"/>
                  </a:lnTo>
                  <a:lnTo>
                    <a:pt x="21653"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297" name="Arc 14"/>
            <p:cNvSpPr/>
            <p:nvPr/>
          </p:nvSpPr>
          <p:spPr bwMode="auto">
            <a:xfrm>
              <a:off x="3761185" y="2853929"/>
              <a:ext cx="157163" cy="2286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298" name="Arc 15"/>
            <p:cNvSpPr/>
            <p:nvPr/>
          </p:nvSpPr>
          <p:spPr bwMode="auto">
            <a:xfrm>
              <a:off x="3761185" y="3081338"/>
              <a:ext cx="157163" cy="22860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299" name="Line 16"/>
            <p:cNvSpPr>
              <a:spLocks noChangeShapeType="1"/>
            </p:cNvSpPr>
            <p:nvPr/>
          </p:nvSpPr>
          <p:spPr bwMode="auto">
            <a:xfrm>
              <a:off x="4318397" y="3081338"/>
              <a:ext cx="7429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0" name="Line 17"/>
            <p:cNvSpPr>
              <a:spLocks noChangeShapeType="1"/>
            </p:cNvSpPr>
            <p:nvPr/>
          </p:nvSpPr>
          <p:spPr bwMode="auto">
            <a:xfrm flipH="1">
              <a:off x="3203972" y="2967038"/>
              <a:ext cx="68103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1" name="Line 18"/>
            <p:cNvSpPr>
              <a:spLocks noChangeShapeType="1"/>
            </p:cNvSpPr>
            <p:nvPr/>
          </p:nvSpPr>
          <p:spPr bwMode="auto">
            <a:xfrm flipH="1">
              <a:off x="3451622" y="3195638"/>
              <a:ext cx="43338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2" name="Rectangle 19"/>
            <p:cNvSpPr>
              <a:spLocks noChangeArrowheads="1"/>
            </p:cNvSpPr>
            <p:nvPr/>
          </p:nvSpPr>
          <p:spPr bwMode="auto">
            <a:xfrm>
              <a:off x="2509838" y="4061224"/>
              <a:ext cx="195969"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a:t>
              </a:r>
            </a:p>
          </p:txBody>
        </p:sp>
        <p:grpSp>
          <p:nvGrpSpPr>
            <p:cNvPr id="12303" name="Group 20"/>
            <p:cNvGrpSpPr/>
            <p:nvPr/>
          </p:nvGrpSpPr>
          <p:grpSpPr bwMode="auto">
            <a:xfrm>
              <a:off x="3894535" y="3662365"/>
              <a:ext cx="784622" cy="666751"/>
              <a:chOff x="2355" y="3118"/>
              <a:chExt cx="608" cy="560"/>
            </a:xfrm>
          </p:grpSpPr>
          <p:sp>
            <p:nvSpPr>
              <p:cNvPr id="12331" name="Rectangle 21"/>
              <p:cNvSpPr>
                <a:spLocks noChangeArrowheads="1"/>
              </p:cNvSpPr>
              <p:nvPr/>
            </p:nvSpPr>
            <p:spPr bwMode="auto">
              <a:xfrm>
                <a:off x="2355" y="3118"/>
                <a:ext cx="608" cy="56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332" name="Rectangle 22"/>
              <p:cNvSpPr>
                <a:spLocks noChangeArrowheads="1"/>
              </p:cNvSpPr>
              <p:nvPr/>
            </p:nvSpPr>
            <p:spPr bwMode="auto">
              <a:xfrm>
                <a:off x="2489" y="3165"/>
                <a:ext cx="354"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dirty="0">
                    <a:latin typeface="Arial" panose="020B0604020202020204" pitchFamily="34" charset="0"/>
                  </a:rPr>
                  <a:t>1-</a:t>
                </a:r>
                <a:r>
                  <a:rPr kumimoji="1" lang="en-US" altLang="zh-TW" sz="1600" b="1" dirty="0">
                    <a:latin typeface="Arial" panose="020B0604020202020204" pitchFamily="34" charset="0"/>
                  </a:rPr>
                  <a:t>bit</a:t>
                </a:r>
              </a:p>
              <a:p>
                <a:pPr algn="ctr"/>
                <a:r>
                  <a:rPr kumimoji="1" lang="en-US" altLang="zh-TW" sz="1600" b="1" dirty="0">
                    <a:latin typeface="Arial" panose="020B0604020202020204" pitchFamily="34" charset="0"/>
                  </a:rPr>
                  <a:t>Full</a:t>
                </a:r>
              </a:p>
              <a:p>
                <a:pPr algn="ctr"/>
                <a:r>
                  <a:rPr kumimoji="1" lang="en-US" altLang="zh-TW" sz="1600" b="1" dirty="0">
                    <a:latin typeface="Arial" panose="020B0604020202020204" pitchFamily="34" charset="0"/>
                  </a:rPr>
                  <a:t>Adder</a:t>
                </a:r>
              </a:p>
            </p:txBody>
          </p:sp>
        </p:grpSp>
        <p:sp>
          <p:nvSpPr>
            <p:cNvPr id="12304" name="Line 23"/>
            <p:cNvSpPr>
              <a:spLocks noChangeShapeType="1"/>
            </p:cNvSpPr>
            <p:nvPr/>
          </p:nvSpPr>
          <p:spPr bwMode="auto">
            <a:xfrm>
              <a:off x="2770585" y="4167188"/>
              <a:ext cx="111442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5" name="Line 24"/>
            <p:cNvSpPr>
              <a:spLocks noChangeShapeType="1"/>
            </p:cNvSpPr>
            <p:nvPr/>
          </p:nvSpPr>
          <p:spPr bwMode="auto">
            <a:xfrm>
              <a:off x="3451622" y="2395538"/>
              <a:ext cx="0" cy="17716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6" name="Line 25"/>
            <p:cNvSpPr>
              <a:spLocks noChangeShapeType="1"/>
            </p:cNvSpPr>
            <p:nvPr/>
          </p:nvSpPr>
          <p:spPr bwMode="auto">
            <a:xfrm>
              <a:off x="3203972" y="2166938"/>
              <a:ext cx="0" cy="16573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7" name="Line 26"/>
            <p:cNvSpPr>
              <a:spLocks noChangeShapeType="1"/>
            </p:cNvSpPr>
            <p:nvPr/>
          </p:nvSpPr>
          <p:spPr bwMode="auto">
            <a:xfrm>
              <a:off x="3203972" y="3824288"/>
              <a:ext cx="68103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8" name="Line 27"/>
            <p:cNvSpPr>
              <a:spLocks noChangeShapeType="1"/>
            </p:cNvSpPr>
            <p:nvPr/>
          </p:nvSpPr>
          <p:spPr bwMode="auto">
            <a:xfrm>
              <a:off x="4442222" y="1824038"/>
              <a:ext cx="0" cy="1828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9" name="Line 28"/>
            <p:cNvSpPr>
              <a:spLocks noChangeShapeType="1"/>
            </p:cNvSpPr>
            <p:nvPr/>
          </p:nvSpPr>
          <p:spPr bwMode="auto">
            <a:xfrm>
              <a:off x="4318397" y="4338638"/>
              <a:ext cx="0" cy="4000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0" name="Rectangle 29"/>
            <p:cNvSpPr>
              <a:spLocks noChangeArrowheads="1"/>
            </p:cNvSpPr>
            <p:nvPr/>
          </p:nvSpPr>
          <p:spPr bwMode="auto">
            <a:xfrm>
              <a:off x="4367213" y="4518423"/>
              <a:ext cx="632186"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CarryOut</a:t>
              </a:r>
            </a:p>
          </p:txBody>
        </p:sp>
        <p:sp>
          <p:nvSpPr>
            <p:cNvPr id="12311" name="Line 30"/>
            <p:cNvSpPr>
              <a:spLocks noChangeShapeType="1"/>
            </p:cNvSpPr>
            <p:nvPr/>
          </p:nvSpPr>
          <p:spPr bwMode="auto">
            <a:xfrm>
              <a:off x="5061347" y="2052638"/>
              <a:ext cx="0" cy="2286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2" name="Line 31"/>
            <p:cNvSpPr>
              <a:spLocks noChangeShapeType="1"/>
            </p:cNvSpPr>
            <p:nvPr/>
          </p:nvSpPr>
          <p:spPr bwMode="auto">
            <a:xfrm>
              <a:off x="5061347" y="2052638"/>
              <a:ext cx="37147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3" name="Line 32"/>
            <p:cNvSpPr>
              <a:spLocks noChangeShapeType="1"/>
            </p:cNvSpPr>
            <p:nvPr/>
          </p:nvSpPr>
          <p:spPr bwMode="auto">
            <a:xfrm>
              <a:off x="5432822" y="2224088"/>
              <a:ext cx="0" cy="19431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4" name="Rectangle 33"/>
            <p:cNvSpPr>
              <a:spLocks noChangeArrowheads="1"/>
            </p:cNvSpPr>
            <p:nvPr/>
          </p:nvSpPr>
          <p:spPr bwMode="auto">
            <a:xfrm rot="5400000">
              <a:off x="5076185" y="3378135"/>
              <a:ext cx="398955" cy="19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Mux</a:t>
              </a:r>
            </a:p>
          </p:txBody>
        </p:sp>
        <p:sp>
          <p:nvSpPr>
            <p:cNvPr id="12315" name="Line 34"/>
            <p:cNvSpPr>
              <a:spLocks noChangeShapeType="1"/>
            </p:cNvSpPr>
            <p:nvPr/>
          </p:nvSpPr>
          <p:spPr bwMode="auto">
            <a:xfrm flipV="1">
              <a:off x="5061347" y="4167188"/>
              <a:ext cx="37147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6" name="Line 35"/>
            <p:cNvSpPr>
              <a:spLocks noChangeShapeType="1"/>
            </p:cNvSpPr>
            <p:nvPr/>
          </p:nvSpPr>
          <p:spPr bwMode="auto">
            <a:xfrm>
              <a:off x="4689872" y="3995738"/>
              <a:ext cx="37147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7" name="Line 36"/>
            <p:cNvSpPr>
              <a:spLocks noChangeShapeType="1"/>
            </p:cNvSpPr>
            <p:nvPr/>
          </p:nvSpPr>
          <p:spPr bwMode="auto">
            <a:xfrm>
              <a:off x="5432822" y="3081338"/>
              <a:ext cx="68103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8" name="Rectangle 37"/>
            <p:cNvSpPr>
              <a:spLocks noChangeArrowheads="1"/>
            </p:cNvSpPr>
            <p:nvPr/>
          </p:nvSpPr>
          <p:spPr bwMode="auto">
            <a:xfrm>
              <a:off x="4180929" y="1593420"/>
              <a:ext cx="554830"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p>
              <a:r>
                <a:rPr kumimoji="1" lang="en-US" altLang="zh-TW" sz="1600" b="1" dirty="0" err="1">
                  <a:latin typeface="Arial" panose="020B0604020202020204" pitchFamily="34" charset="0"/>
                </a:rPr>
                <a:t>CarryIn</a:t>
              </a:r>
              <a:endParaRPr kumimoji="1" lang="en-US" altLang="zh-TW" sz="1600" b="1" dirty="0">
                <a:latin typeface="Arial" panose="020B0604020202020204" pitchFamily="34" charset="0"/>
              </a:endParaRPr>
            </a:p>
          </p:txBody>
        </p:sp>
        <p:sp>
          <p:nvSpPr>
            <p:cNvPr id="12319" name="Rectangle 38"/>
            <p:cNvSpPr>
              <a:spLocks noChangeArrowheads="1"/>
            </p:cNvSpPr>
            <p:nvPr/>
          </p:nvSpPr>
          <p:spPr bwMode="auto">
            <a:xfrm>
              <a:off x="5419725" y="2861073"/>
              <a:ext cx="477673"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Result</a:t>
              </a:r>
            </a:p>
          </p:txBody>
        </p:sp>
        <p:sp>
          <p:nvSpPr>
            <p:cNvPr id="12320" name="Rectangle 39"/>
            <p:cNvSpPr>
              <a:spLocks noChangeArrowheads="1"/>
            </p:cNvSpPr>
            <p:nvPr/>
          </p:nvSpPr>
          <p:spPr bwMode="auto">
            <a:xfrm>
              <a:off x="4679982" y="3673078"/>
              <a:ext cx="323160"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solidFill>
                    <a:srgbClr val="FF0000"/>
                  </a:solidFill>
                  <a:latin typeface="Arial" panose="020B0604020202020204" pitchFamily="34" charset="0"/>
                </a:rPr>
                <a:t>add</a:t>
              </a:r>
            </a:p>
          </p:txBody>
        </p:sp>
        <p:sp>
          <p:nvSpPr>
            <p:cNvPr id="12321" name="Rectangle 40"/>
            <p:cNvSpPr>
              <a:spLocks noChangeArrowheads="1"/>
            </p:cNvSpPr>
            <p:nvPr/>
          </p:nvSpPr>
          <p:spPr bwMode="auto">
            <a:xfrm>
              <a:off x="4558904" y="1943100"/>
              <a:ext cx="323160"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solidFill>
                    <a:srgbClr val="FF0000"/>
                  </a:solidFill>
                  <a:latin typeface="Arial" panose="020B0604020202020204" pitchFamily="34" charset="0"/>
                </a:rPr>
                <a:t>and</a:t>
              </a:r>
            </a:p>
          </p:txBody>
        </p:sp>
        <p:sp>
          <p:nvSpPr>
            <p:cNvPr id="12322" name="Rectangle 41"/>
            <p:cNvSpPr>
              <a:spLocks noChangeArrowheads="1"/>
            </p:cNvSpPr>
            <p:nvPr/>
          </p:nvSpPr>
          <p:spPr bwMode="auto">
            <a:xfrm>
              <a:off x="4620816" y="2800350"/>
              <a:ext cx="229886"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solidFill>
                    <a:srgbClr val="FF0000"/>
                  </a:solidFill>
                  <a:latin typeface="Arial" panose="020B0604020202020204" pitchFamily="34" charset="0"/>
                </a:rPr>
                <a:t>or</a:t>
              </a:r>
            </a:p>
          </p:txBody>
        </p:sp>
        <p:sp>
          <p:nvSpPr>
            <p:cNvPr id="12323" name="Line 42"/>
            <p:cNvSpPr>
              <a:spLocks noChangeShapeType="1"/>
            </p:cNvSpPr>
            <p:nvPr/>
          </p:nvSpPr>
          <p:spPr bwMode="auto">
            <a:xfrm>
              <a:off x="5191125" y="1835944"/>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24" name="Rectangle 43"/>
            <p:cNvSpPr>
              <a:spLocks noChangeArrowheads="1"/>
            </p:cNvSpPr>
            <p:nvPr/>
          </p:nvSpPr>
          <p:spPr bwMode="auto">
            <a:xfrm>
              <a:off x="4992291" y="1600200"/>
              <a:ext cx="679295"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solidFill>
                    <a:schemeClr val="accent1"/>
                  </a:solidFill>
                  <a:latin typeface="Arial" panose="020B0604020202020204" pitchFamily="34" charset="0"/>
                </a:rPr>
                <a:t>Operation</a:t>
              </a:r>
              <a:endParaRPr kumimoji="1" lang="en-US" altLang="zh-TW" sz="1600" b="1">
                <a:latin typeface="Arial" panose="020B0604020202020204" pitchFamily="34" charset="0"/>
              </a:endParaRPr>
            </a:p>
          </p:txBody>
        </p:sp>
        <p:sp>
          <p:nvSpPr>
            <p:cNvPr id="12327" name="Text Box 46"/>
            <p:cNvSpPr txBox="1">
              <a:spLocks noChangeArrowheads="1"/>
            </p:cNvSpPr>
            <p:nvPr/>
          </p:nvSpPr>
          <p:spPr bwMode="auto">
            <a:xfrm>
              <a:off x="5067300" y="2171701"/>
              <a:ext cx="247650" cy="226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a:spAutoFit/>
            </a:bodyPr>
            <a:lstStyle>
              <a:lvl1pPr>
                <a:defRPr sz="2400">
                  <a:solidFill>
                    <a:schemeClr val="tx1"/>
                  </a:solidFill>
                  <a:latin typeface="Times New Roman" panose="02020603050405020304" pitchFamily="18" charset="0"/>
                  <a:ea typeface="PMingLiU" panose="02020500000000000000" pitchFamily="18" charset="-120"/>
                </a:defRPr>
              </a:lvl1pPr>
              <a:lvl2pPr marL="742950" indent="-285750">
                <a:defRPr sz="2400">
                  <a:solidFill>
                    <a:schemeClr val="tx1"/>
                  </a:solidFill>
                  <a:latin typeface="Times New Roman" panose="02020603050405020304" pitchFamily="18" charset="0"/>
                  <a:ea typeface="PMingLiU" panose="02020500000000000000" pitchFamily="18" charset="-120"/>
                </a:defRPr>
              </a:lvl2pPr>
              <a:lvl3pPr marL="1143000" indent="-228600">
                <a:defRPr sz="2400">
                  <a:solidFill>
                    <a:schemeClr val="tx1"/>
                  </a:solidFill>
                  <a:latin typeface="Times New Roman" panose="02020603050405020304" pitchFamily="18" charset="0"/>
                  <a:ea typeface="PMingLiU" panose="02020500000000000000" pitchFamily="18" charset="-120"/>
                </a:defRPr>
              </a:lvl3pPr>
              <a:lvl4pPr marL="1600200" indent="-228600">
                <a:defRPr sz="2400">
                  <a:solidFill>
                    <a:schemeClr val="tx1"/>
                  </a:solidFill>
                  <a:latin typeface="Times New Roman" panose="02020603050405020304" pitchFamily="18" charset="0"/>
                  <a:ea typeface="PMingLiU" panose="02020500000000000000" pitchFamily="18" charset="-120"/>
                </a:defRPr>
              </a:lvl4pPr>
              <a:lvl5pPr marL="2057400" indent="-228600">
                <a:defRPr sz="2400">
                  <a:solidFill>
                    <a:schemeClr val="tx1"/>
                  </a:solidFill>
                  <a:latin typeface="Times New Roman" panose="02020603050405020304" pitchFamily="18" charset="0"/>
                  <a:ea typeface="PMingLiU" panose="02020500000000000000" pitchFamily="18" charset="-12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9pPr>
            </a:lstStyle>
            <a:p>
              <a:pPr>
                <a:spcBef>
                  <a:spcPct val="50000"/>
                </a:spcBef>
              </a:pPr>
              <a:r>
                <a:rPr kumimoji="1" lang="zh-TW" altLang="en-US" sz="1600" b="1">
                  <a:latin typeface="Century Gothic" panose="020B0502020202020204" pitchFamily="34" charset="0"/>
                </a:rPr>
                <a:t>0</a:t>
              </a:r>
            </a:p>
          </p:txBody>
        </p:sp>
        <p:sp>
          <p:nvSpPr>
            <p:cNvPr id="12328" name="Text Box 47"/>
            <p:cNvSpPr txBox="1">
              <a:spLocks noChangeArrowheads="1"/>
            </p:cNvSpPr>
            <p:nvPr/>
          </p:nvSpPr>
          <p:spPr bwMode="auto">
            <a:xfrm>
              <a:off x="5067300" y="2971800"/>
              <a:ext cx="247650" cy="226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a:spAutoFit/>
            </a:bodyPr>
            <a:lstStyle>
              <a:lvl1pPr>
                <a:defRPr sz="2400">
                  <a:solidFill>
                    <a:schemeClr val="tx1"/>
                  </a:solidFill>
                  <a:latin typeface="Times New Roman" panose="02020603050405020304" pitchFamily="18" charset="0"/>
                  <a:ea typeface="PMingLiU" panose="02020500000000000000" pitchFamily="18" charset="-120"/>
                </a:defRPr>
              </a:lvl1pPr>
              <a:lvl2pPr marL="742950" indent="-285750">
                <a:defRPr sz="2400">
                  <a:solidFill>
                    <a:schemeClr val="tx1"/>
                  </a:solidFill>
                  <a:latin typeface="Times New Roman" panose="02020603050405020304" pitchFamily="18" charset="0"/>
                  <a:ea typeface="PMingLiU" panose="02020500000000000000" pitchFamily="18" charset="-120"/>
                </a:defRPr>
              </a:lvl2pPr>
              <a:lvl3pPr marL="1143000" indent="-228600">
                <a:defRPr sz="2400">
                  <a:solidFill>
                    <a:schemeClr val="tx1"/>
                  </a:solidFill>
                  <a:latin typeface="Times New Roman" panose="02020603050405020304" pitchFamily="18" charset="0"/>
                  <a:ea typeface="PMingLiU" panose="02020500000000000000" pitchFamily="18" charset="-120"/>
                </a:defRPr>
              </a:lvl3pPr>
              <a:lvl4pPr marL="1600200" indent="-228600">
                <a:defRPr sz="2400">
                  <a:solidFill>
                    <a:schemeClr val="tx1"/>
                  </a:solidFill>
                  <a:latin typeface="Times New Roman" panose="02020603050405020304" pitchFamily="18" charset="0"/>
                  <a:ea typeface="PMingLiU" panose="02020500000000000000" pitchFamily="18" charset="-120"/>
                </a:defRPr>
              </a:lvl4pPr>
              <a:lvl5pPr marL="2057400" indent="-228600">
                <a:defRPr sz="2400">
                  <a:solidFill>
                    <a:schemeClr val="tx1"/>
                  </a:solidFill>
                  <a:latin typeface="Times New Roman" panose="02020603050405020304" pitchFamily="18" charset="0"/>
                  <a:ea typeface="PMingLiU" panose="02020500000000000000" pitchFamily="18" charset="-12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9pPr>
            </a:lstStyle>
            <a:p>
              <a:pPr>
                <a:spcBef>
                  <a:spcPct val="50000"/>
                </a:spcBef>
              </a:pPr>
              <a:r>
                <a:rPr kumimoji="1" lang="zh-TW" altLang="en-US" sz="1600" b="1">
                  <a:latin typeface="Century Gothic" panose="020B0502020202020204" pitchFamily="34" charset="0"/>
                </a:rPr>
                <a:t>1</a:t>
              </a:r>
            </a:p>
          </p:txBody>
        </p:sp>
        <p:sp>
          <p:nvSpPr>
            <p:cNvPr id="12329" name="Text Box 48"/>
            <p:cNvSpPr txBox="1">
              <a:spLocks noChangeArrowheads="1"/>
            </p:cNvSpPr>
            <p:nvPr/>
          </p:nvSpPr>
          <p:spPr bwMode="auto">
            <a:xfrm>
              <a:off x="5067300" y="3829051"/>
              <a:ext cx="247650" cy="226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a:spAutoFit/>
            </a:bodyPr>
            <a:lstStyle>
              <a:lvl1pPr>
                <a:defRPr sz="2400">
                  <a:solidFill>
                    <a:schemeClr val="tx1"/>
                  </a:solidFill>
                  <a:latin typeface="Times New Roman" panose="02020603050405020304" pitchFamily="18" charset="0"/>
                  <a:ea typeface="PMingLiU" panose="02020500000000000000" pitchFamily="18" charset="-120"/>
                </a:defRPr>
              </a:lvl1pPr>
              <a:lvl2pPr marL="742950" indent="-285750">
                <a:defRPr sz="2400">
                  <a:solidFill>
                    <a:schemeClr val="tx1"/>
                  </a:solidFill>
                  <a:latin typeface="Times New Roman" panose="02020603050405020304" pitchFamily="18" charset="0"/>
                  <a:ea typeface="PMingLiU" panose="02020500000000000000" pitchFamily="18" charset="-120"/>
                </a:defRPr>
              </a:lvl2pPr>
              <a:lvl3pPr marL="1143000" indent="-228600">
                <a:defRPr sz="2400">
                  <a:solidFill>
                    <a:schemeClr val="tx1"/>
                  </a:solidFill>
                  <a:latin typeface="Times New Roman" panose="02020603050405020304" pitchFamily="18" charset="0"/>
                  <a:ea typeface="PMingLiU" panose="02020500000000000000" pitchFamily="18" charset="-120"/>
                </a:defRPr>
              </a:lvl3pPr>
              <a:lvl4pPr marL="1600200" indent="-228600">
                <a:defRPr sz="2400">
                  <a:solidFill>
                    <a:schemeClr val="tx1"/>
                  </a:solidFill>
                  <a:latin typeface="Times New Roman" panose="02020603050405020304" pitchFamily="18" charset="0"/>
                  <a:ea typeface="PMingLiU" panose="02020500000000000000" pitchFamily="18" charset="-120"/>
                </a:defRPr>
              </a:lvl4pPr>
              <a:lvl5pPr marL="2057400" indent="-228600">
                <a:defRPr sz="2400">
                  <a:solidFill>
                    <a:schemeClr val="tx1"/>
                  </a:solidFill>
                  <a:latin typeface="Times New Roman" panose="02020603050405020304" pitchFamily="18" charset="0"/>
                  <a:ea typeface="PMingLiU" panose="02020500000000000000" pitchFamily="18" charset="-12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9pPr>
            </a:lstStyle>
            <a:p>
              <a:pPr>
                <a:spcBef>
                  <a:spcPct val="50000"/>
                </a:spcBef>
              </a:pPr>
              <a:r>
                <a:rPr kumimoji="1" lang="zh-TW" altLang="en-US" sz="1600" b="1">
                  <a:latin typeface="Century Gothic" panose="020B0502020202020204" pitchFamily="34" charset="0"/>
                </a:rPr>
                <a:t>2</a:t>
              </a:r>
            </a:p>
          </p:txBody>
        </p:sp>
      </p:grpSp>
      <p:sp>
        <p:nvSpPr>
          <p:cNvPr id="51"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xfrm>
            <a:off x="7878129" y="1097110"/>
            <a:ext cx="1423667" cy="420628"/>
          </a:xfrm>
          <a:noFill/>
        </p:spPr>
        <p:txBody>
          <a:bodyPr vert="horz" wrap="square" lIns="63500" tIns="25400" rIns="63500" bIns="25400" numCol="1" anchor="t" anchorCtr="0" compatLnSpc="1">
            <a:prstTxWarp prst="textNoShape">
              <a:avLst/>
            </a:prstTxWarp>
            <a:spAutoFit/>
          </a:bodyPr>
          <a:lstStyle/>
          <a:p>
            <a:pPr marL="203195" indent="-203195">
              <a:buNone/>
            </a:pPr>
            <a:r>
              <a:rPr lang="en-US" altLang="zh-TW" sz="2400" b="1" u="sng" dirty="0">
                <a:solidFill>
                  <a:srgbClr val="FF0000"/>
                </a:solidFill>
              </a:rPr>
              <a:t>4-bit ALU</a:t>
            </a:r>
          </a:p>
        </p:txBody>
      </p:sp>
      <p:sp>
        <p:nvSpPr>
          <p:cNvPr id="14384" name="Line 85"/>
          <p:cNvSpPr>
            <a:spLocks noChangeShapeType="1"/>
          </p:cNvSpPr>
          <p:nvPr/>
        </p:nvSpPr>
        <p:spPr bwMode="auto">
          <a:xfrm>
            <a:off x="8589963" y="5482205"/>
            <a:ext cx="0" cy="3810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85" name="Rectangle 86"/>
          <p:cNvSpPr>
            <a:spLocks noGrp="1" noChangeArrowheads="1"/>
          </p:cNvSpPr>
          <p:nvPr>
            <p:ph type="title"/>
          </p:nvPr>
        </p:nvSpPr>
        <p:spPr>
          <a:xfrm>
            <a:off x="1297498" y="134225"/>
            <a:ext cx="10212199" cy="648748"/>
          </a:xfrm>
        </p:spPr>
        <p:txBody>
          <a:bodyPr/>
          <a:lstStyle/>
          <a:p>
            <a:r>
              <a:rPr lang="en-US" altLang="zh-TW" sz="4400" dirty="0"/>
              <a:t>A 4-bit ALU – And, Or, and Add Operations</a:t>
            </a:r>
          </a:p>
        </p:txBody>
      </p:sp>
      <p:grpSp>
        <p:nvGrpSpPr>
          <p:cNvPr id="5" name="组合 4"/>
          <p:cNvGrpSpPr/>
          <p:nvPr/>
        </p:nvGrpSpPr>
        <p:grpSpPr>
          <a:xfrm>
            <a:off x="7086603" y="1526156"/>
            <a:ext cx="3485586" cy="4458760"/>
            <a:chOff x="5314951" y="1144617"/>
            <a:chExt cx="2614189" cy="3344070"/>
          </a:xfrm>
        </p:grpSpPr>
        <p:sp>
          <p:nvSpPr>
            <p:cNvPr id="14383" name="Rectangle 84"/>
            <p:cNvSpPr>
              <a:spLocks noChangeArrowheads="1"/>
            </p:cNvSpPr>
            <p:nvPr/>
          </p:nvSpPr>
          <p:spPr bwMode="auto">
            <a:xfrm>
              <a:off x="6429375" y="4234289"/>
              <a:ext cx="89207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CarryOut3</a:t>
              </a:r>
            </a:p>
          </p:txBody>
        </p:sp>
        <p:grpSp>
          <p:nvGrpSpPr>
            <p:cNvPr id="4" name="组合 3"/>
            <p:cNvGrpSpPr/>
            <p:nvPr/>
          </p:nvGrpSpPr>
          <p:grpSpPr>
            <a:xfrm>
              <a:off x="5314951" y="1144617"/>
              <a:ext cx="2614189" cy="3058321"/>
              <a:chOff x="5314951" y="1144617"/>
              <a:chExt cx="2614189" cy="3058321"/>
            </a:xfrm>
          </p:grpSpPr>
          <p:sp>
            <p:nvSpPr>
              <p:cNvPr id="14340" name="Rectangle 41"/>
              <p:cNvSpPr>
                <a:spLocks noChangeArrowheads="1"/>
              </p:cNvSpPr>
              <p:nvPr/>
            </p:nvSpPr>
            <p:spPr bwMode="auto">
              <a:xfrm>
                <a:off x="5314951" y="160538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A0</a:t>
                </a:r>
              </a:p>
            </p:txBody>
          </p:sp>
          <p:sp>
            <p:nvSpPr>
              <p:cNvPr id="14341" name="Rectangle 42"/>
              <p:cNvSpPr>
                <a:spLocks noChangeArrowheads="1"/>
              </p:cNvSpPr>
              <p:nvPr/>
            </p:nvSpPr>
            <p:spPr bwMode="auto">
              <a:xfrm>
                <a:off x="5314951" y="189113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B0</a:t>
                </a:r>
              </a:p>
            </p:txBody>
          </p:sp>
          <p:sp>
            <p:nvSpPr>
              <p:cNvPr id="14342" name="Rectangle 43"/>
              <p:cNvSpPr>
                <a:spLocks noChangeArrowheads="1"/>
              </p:cNvSpPr>
              <p:nvPr/>
            </p:nvSpPr>
            <p:spPr bwMode="auto">
              <a:xfrm>
                <a:off x="6019800" y="1663729"/>
                <a:ext cx="845344" cy="3810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343" name="Rectangle 44"/>
              <p:cNvSpPr>
                <a:spLocks noChangeArrowheads="1"/>
              </p:cNvSpPr>
              <p:nvPr/>
            </p:nvSpPr>
            <p:spPr bwMode="auto">
              <a:xfrm>
                <a:off x="6197336" y="1662539"/>
                <a:ext cx="465271" cy="43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a:latin typeface="Arial" panose="020B0604020202020204" pitchFamily="34" charset="0"/>
                  </a:rPr>
                  <a:t>1-</a:t>
                </a:r>
                <a:r>
                  <a:rPr kumimoji="1" lang="en-US" altLang="zh-TW" sz="1600" b="1">
                    <a:latin typeface="Arial" panose="020B0604020202020204" pitchFamily="34" charset="0"/>
                  </a:rPr>
                  <a:t>bit</a:t>
                </a:r>
              </a:p>
              <a:p>
                <a:pPr algn="ctr"/>
                <a:r>
                  <a:rPr kumimoji="1" lang="en-US" altLang="zh-TW" sz="1600" b="1">
                    <a:latin typeface="Arial" panose="020B0604020202020204" pitchFamily="34" charset="0"/>
                  </a:rPr>
                  <a:t>ALU</a:t>
                </a:r>
              </a:p>
            </p:txBody>
          </p:sp>
          <p:sp>
            <p:nvSpPr>
              <p:cNvPr id="14344" name="Line 45"/>
              <p:cNvSpPr>
                <a:spLocks noChangeShapeType="1"/>
              </p:cNvSpPr>
              <p:nvPr/>
            </p:nvSpPr>
            <p:spPr bwMode="auto">
              <a:xfrm>
                <a:off x="6875860" y="18256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45" name="Line 46"/>
              <p:cNvSpPr>
                <a:spLocks noChangeShapeType="1"/>
              </p:cNvSpPr>
              <p:nvPr/>
            </p:nvSpPr>
            <p:spPr bwMode="auto">
              <a:xfrm>
                <a:off x="5575697" y="17685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46" name="Line 47"/>
              <p:cNvSpPr>
                <a:spLocks noChangeShapeType="1"/>
              </p:cNvSpPr>
              <p:nvPr/>
            </p:nvSpPr>
            <p:spPr bwMode="auto">
              <a:xfrm>
                <a:off x="5575697" y="19399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47" name="Rectangle 48"/>
              <p:cNvSpPr>
                <a:spLocks noChangeArrowheads="1"/>
              </p:cNvSpPr>
              <p:nvPr/>
            </p:nvSpPr>
            <p:spPr bwMode="auto">
              <a:xfrm>
                <a:off x="7234238" y="1719689"/>
                <a:ext cx="69490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Result0</a:t>
                </a:r>
              </a:p>
            </p:txBody>
          </p:sp>
          <p:sp>
            <p:nvSpPr>
              <p:cNvPr id="14348" name="Line 49"/>
              <p:cNvSpPr>
                <a:spLocks noChangeShapeType="1"/>
              </p:cNvSpPr>
              <p:nvPr/>
            </p:nvSpPr>
            <p:spPr bwMode="auto">
              <a:xfrm>
                <a:off x="6442472" y="13684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49" name="Rectangle 50"/>
              <p:cNvSpPr>
                <a:spLocks noChangeArrowheads="1"/>
              </p:cNvSpPr>
              <p:nvPr/>
            </p:nvSpPr>
            <p:spPr bwMode="auto">
              <a:xfrm>
                <a:off x="5685235" y="1197004"/>
                <a:ext cx="76343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CarryIn0</a:t>
                </a:r>
              </a:p>
            </p:txBody>
          </p:sp>
          <p:sp>
            <p:nvSpPr>
              <p:cNvPr id="14350" name="Rectangle 51"/>
              <p:cNvSpPr>
                <a:spLocks noChangeArrowheads="1"/>
              </p:cNvSpPr>
              <p:nvPr/>
            </p:nvSpPr>
            <p:spPr bwMode="auto">
              <a:xfrm>
                <a:off x="6699764" y="2069930"/>
                <a:ext cx="892071"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latin typeface="Arial" panose="020B0604020202020204" pitchFamily="34" charset="0"/>
                  </a:rPr>
                  <a:t>CarryOut0</a:t>
                </a:r>
              </a:p>
            </p:txBody>
          </p:sp>
          <p:sp>
            <p:nvSpPr>
              <p:cNvPr id="14351" name="Rectangle 52"/>
              <p:cNvSpPr>
                <a:spLocks noChangeArrowheads="1"/>
              </p:cNvSpPr>
              <p:nvPr/>
            </p:nvSpPr>
            <p:spPr bwMode="auto">
              <a:xfrm>
                <a:off x="5314951" y="229118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A1</a:t>
                </a:r>
              </a:p>
            </p:txBody>
          </p:sp>
          <p:sp>
            <p:nvSpPr>
              <p:cNvPr id="14352" name="Rectangle 53"/>
              <p:cNvSpPr>
                <a:spLocks noChangeArrowheads="1"/>
              </p:cNvSpPr>
              <p:nvPr/>
            </p:nvSpPr>
            <p:spPr bwMode="auto">
              <a:xfrm>
                <a:off x="5314951" y="257693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B1</a:t>
                </a:r>
              </a:p>
            </p:txBody>
          </p:sp>
          <p:sp>
            <p:nvSpPr>
              <p:cNvPr id="14353" name="Rectangle 54"/>
              <p:cNvSpPr>
                <a:spLocks noChangeArrowheads="1"/>
              </p:cNvSpPr>
              <p:nvPr/>
            </p:nvSpPr>
            <p:spPr bwMode="auto">
              <a:xfrm>
                <a:off x="6019800" y="2349529"/>
                <a:ext cx="845344" cy="3810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354" name="Rectangle 55"/>
              <p:cNvSpPr>
                <a:spLocks noChangeArrowheads="1"/>
              </p:cNvSpPr>
              <p:nvPr/>
            </p:nvSpPr>
            <p:spPr bwMode="auto">
              <a:xfrm>
                <a:off x="6197336" y="2348339"/>
                <a:ext cx="465271" cy="43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dirty="0">
                    <a:latin typeface="Arial" panose="020B0604020202020204" pitchFamily="34" charset="0"/>
                  </a:rPr>
                  <a:t>1-</a:t>
                </a:r>
                <a:r>
                  <a:rPr kumimoji="1" lang="en-US" altLang="zh-TW" sz="1600" b="1" dirty="0">
                    <a:latin typeface="Arial" panose="020B0604020202020204" pitchFamily="34" charset="0"/>
                  </a:rPr>
                  <a:t>bit</a:t>
                </a:r>
              </a:p>
              <a:p>
                <a:pPr algn="ctr"/>
                <a:r>
                  <a:rPr kumimoji="1" lang="en-US" altLang="zh-TW" sz="1600" b="1" dirty="0">
                    <a:latin typeface="Arial" panose="020B0604020202020204" pitchFamily="34" charset="0"/>
                  </a:rPr>
                  <a:t>ALU</a:t>
                </a:r>
              </a:p>
            </p:txBody>
          </p:sp>
          <p:sp>
            <p:nvSpPr>
              <p:cNvPr id="14355" name="Line 56"/>
              <p:cNvSpPr>
                <a:spLocks noChangeShapeType="1"/>
              </p:cNvSpPr>
              <p:nvPr/>
            </p:nvSpPr>
            <p:spPr bwMode="auto">
              <a:xfrm>
                <a:off x="6875860" y="25114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56" name="Line 57"/>
              <p:cNvSpPr>
                <a:spLocks noChangeShapeType="1"/>
              </p:cNvSpPr>
              <p:nvPr/>
            </p:nvSpPr>
            <p:spPr bwMode="auto">
              <a:xfrm>
                <a:off x="5575697" y="24543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57" name="Line 58"/>
              <p:cNvSpPr>
                <a:spLocks noChangeShapeType="1"/>
              </p:cNvSpPr>
              <p:nvPr/>
            </p:nvSpPr>
            <p:spPr bwMode="auto">
              <a:xfrm>
                <a:off x="5575697" y="26257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58" name="Rectangle 59"/>
              <p:cNvSpPr>
                <a:spLocks noChangeArrowheads="1"/>
              </p:cNvSpPr>
              <p:nvPr/>
            </p:nvSpPr>
            <p:spPr bwMode="auto">
              <a:xfrm>
                <a:off x="7234238" y="2405489"/>
                <a:ext cx="69490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Result1</a:t>
                </a:r>
              </a:p>
            </p:txBody>
          </p:sp>
          <p:sp>
            <p:nvSpPr>
              <p:cNvPr id="14359" name="Line 60"/>
              <p:cNvSpPr>
                <a:spLocks noChangeShapeType="1"/>
              </p:cNvSpPr>
              <p:nvPr/>
            </p:nvSpPr>
            <p:spPr bwMode="auto">
              <a:xfrm>
                <a:off x="6442472" y="20542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60" name="Rectangle 61"/>
              <p:cNvSpPr>
                <a:spLocks noChangeArrowheads="1"/>
              </p:cNvSpPr>
              <p:nvPr/>
            </p:nvSpPr>
            <p:spPr bwMode="auto">
              <a:xfrm>
                <a:off x="5637610" y="2119739"/>
                <a:ext cx="76343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CarryIn1</a:t>
                </a:r>
              </a:p>
            </p:txBody>
          </p:sp>
          <p:sp>
            <p:nvSpPr>
              <p:cNvPr id="14361" name="Rectangle 62"/>
              <p:cNvSpPr>
                <a:spLocks noChangeArrowheads="1"/>
              </p:cNvSpPr>
              <p:nvPr/>
            </p:nvSpPr>
            <p:spPr bwMode="auto">
              <a:xfrm>
                <a:off x="6719989" y="2765852"/>
                <a:ext cx="892071"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latin typeface="Arial" panose="020B0604020202020204" pitchFamily="34" charset="0"/>
                  </a:rPr>
                  <a:t>CarryOut1</a:t>
                </a:r>
              </a:p>
            </p:txBody>
          </p:sp>
          <p:sp>
            <p:nvSpPr>
              <p:cNvPr id="14362" name="Rectangle 63"/>
              <p:cNvSpPr>
                <a:spLocks noChangeArrowheads="1"/>
              </p:cNvSpPr>
              <p:nvPr/>
            </p:nvSpPr>
            <p:spPr bwMode="auto">
              <a:xfrm>
                <a:off x="5314951" y="297698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A2</a:t>
                </a:r>
              </a:p>
            </p:txBody>
          </p:sp>
          <p:sp>
            <p:nvSpPr>
              <p:cNvPr id="14363" name="Rectangle 64"/>
              <p:cNvSpPr>
                <a:spLocks noChangeArrowheads="1"/>
              </p:cNvSpPr>
              <p:nvPr/>
            </p:nvSpPr>
            <p:spPr bwMode="auto">
              <a:xfrm>
                <a:off x="5314951" y="326273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B2</a:t>
                </a:r>
              </a:p>
            </p:txBody>
          </p:sp>
          <p:sp>
            <p:nvSpPr>
              <p:cNvPr id="14364" name="Rectangle 65"/>
              <p:cNvSpPr>
                <a:spLocks noChangeArrowheads="1"/>
              </p:cNvSpPr>
              <p:nvPr/>
            </p:nvSpPr>
            <p:spPr bwMode="auto">
              <a:xfrm>
                <a:off x="6019800" y="3035329"/>
                <a:ext cx="845344" cy="3810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365" name="Rectangle 66"/>
              <p:cNvSpPr>
                <a:spLocks noChangeArrowheads="1"/>
              </p:cNvSpPr>
              <p:nvPr/>
            </p:nvSpPr>
            <p:spPr bwMode="auto">
              <a:xfrm>
                <a:off x="6197336" y="3034139"/>
                <a:ext cx="465271" cy="43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a:latin typeface="Arial" panose="020B0604020202020204" pitchFamily="34" charset="0"/>
                  </a:rPr>
                  <a:t>1-</a:t>
                </a:r>
                <a:r>
                  <a:rPr kumimoji="1" lang="en-US" altLang="zh-TW" sz="1600" b="1">
                    <a:latin typeface="Arial" panose="020B0604020202020204" pitchFamily="34" charset="0"/>
                  </a:rPr>
                  <a:t>bit</a:t>
                </a:r>
              </a:p>
              <a:p>
                <a:pPr algn="ctr"/>
                <a:r>
                  <a:rPr kumimoji="1" lang="en-US" altLang="zh-TW" sz="1600" b="1">
                    <a:latin typeface="Arial" panose="020B0604020202020204" pitchFamily="34" charset="0"/>
                  </a:rPr>
                  <a:t>ALU</a:t>
                </a:r>
              </a:p>
            </p:txBody>
          </p:sp>
          <p:sp>
            <p:nvSpPr>
              <p:cNvPr id="14366" name="Line 67"/>
              <p:cNvSpPr>
                <a:spLocks noChangeShapeType="1"/>
              </p:cNvSpPr>
              <p:nvPr/>
            </p:nvSpPr>
            <p:spPr bwMode="auto">
              <a:xfrm>
                <a:off x="6875860" y="31972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67" name="Line 68"/>
              <p:cNvSpPr>
                <a:spLocks noChangeShapeType="1"/>
              </p:cNvSpPr>
              <p:nvPr/>
            </p:nvSpPr>
            <p:spPr bwMode="auto">
              <a:xfrm>
                <a:off x="5575697" y="31401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68" name="Line 69"/>
              <p:cNvSpPr>
                <a:spLocks noChangeShapeType="1"/>
              </p:cNvSpPr>
              <p:nvPr/>
            </p:nvSpPr>
            <p:spPr bwMode="auto">
              <a:xfrm>
                <a:off x="5575697" y="33115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69" name="Rectangle 70"/>
              <p:cNvSpPr>
                <a:spLocks noChangeArrowheads="1"/>
              </p:cNvSpPr>
              <p:nvPr/>
            </p:nvSpPr>
            <p:spPr bwMode="auto">
              <a:xfrm>
                <a:off x="7234238" y="3091289"/>
                <a:ext cx="69490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Result2</a:t>
                </a:r>
              </a:p>
            </p:txBody>
          </p:sp>
          <p:sp>
            <p:nvSpPr>
              <p:cNvPr id="14370" name="Line 71"/>
              <p:cNvSpPr>
                <a:spLocks noChangeShapeType="1"/>
              </p:cNvSpPr>
              <p:nvPr/>
            </p:nvSpPr>
            <p:spPr bwMode="auto">
              <a:xfrm>
                <a:off x="6442472" y="27400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71" name="Rectangle 72"/>
              <p:cNvSpPr>
                <a:spLocks noChangeArrowheads="1"/>
              </p:cNvSpPr>
              <p:nvPr/>
            </p:nvSpPr>
            <p:spPr bwMode="auto">
              <a:xfrm>
                <a:off x="5637610" y="2805539"/>
                <a:ext cx="76343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CarryIn2</a:t>
                </a:r>
              </a:p>
            </p:txBody>
          </p:sp>
          <p:sp>
            <p:nvSpPr>
              <p:cNvPr id="14372" name="Rectangle 73"/>
              <p:cNvSpPr>
                <a:spLocks noChangeArrowheads="1"/>
              </p:cNvSpPr>
              <p:nvPr/>
            </p:nvSpPr>
            <p:spPr bwMode="auto">
              <a:xfrm>
                <a:off x="6728222" y="3434189"/>
                <a:ext cx="892071"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latin typeface="Arial" panose="020B0604020202020204" pitchFamily="34" charset="0"/>
                  </a:rPr>
                  <a:t>CarryOut2</a:t>
                </a:r>
              </a:p>
            </p:txBody>
          </p:sp>
          <p:sp>
            <p:nvSpPr>
              <p:cNvPr id="14373" name="Rectangle 74"/>
              <p:cNvSpPr>
                <a:spLocks noChangeArrowheads="1"/>
              </p:cNvSpPr>
              <p:nvPr/>
            </p:nvSpPr>
            <p:spPr bwMode="auto">
              <a:xfrm>
                <a:off x="5314951" y="366278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A3</a:t>
                </a:r>
              </a:p>
            </p:txBody>
          </p:sp>
          <p:sp>
            <p:nvSpPr>
              <p:cNvPr id="14374" name="Rectangle 75"/>
              <p:cNvSpPr>
                <a:spLocks noChangeArrowheads="1"/>
              </p:cNvSpPr>
              <p:nvPr/>
            </p:nvSpPr>
            <p:spPr bwMode="auto">
              <a:xfrm>
                <a:off x="5314951" y="394853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B3</a:t>
                </a:r>
              </a:p>
            </p:txBody>
          </p:sp>
          <p:sp>
            <p:nvSpPr>
              <p:cNvPr id="14375" name="Rectangle 76"/>
              <p:cNvSpPr>
                <a:spLocks noChangeArrowheads="1"/>
              </p:cNvSpPr>
              <p:nvPr/>
            </p:nvSpPr>
            <p:spPr bwMode="auto">
              <a:xfrm>
                <a:off x="6019800" y="3721129"/>
                <a:ext cx="845344" cy="3810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376" name="Rectangle 77"/>
              <p:cNvSpPr>
                <a:spLocks noChangeArrowheads="1"/>
              </p:cNvSpPr>
              <p:nvPr/>
            </p:nvSpPr>
            <p:spPr bwMode="auto">
              <a:xfrm>
                <a:off x="6197336" y="3719939"/>
                <a:ext cx="465271" cy="43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a:latin typeface="Arial" panose="020B0604020202020204" pitchFamily="34" charset="0"/>
                  </a:rPr>
                  <a:t>1-</a:t>
                </a:r>
                <a:r>
                  <a:rPr kumimoji="1" lang="en-US" altLang="zh-TW" sz="1600" b="1">
                    <a:latin typeface="Arial" panose="020B0604020202020204" pitchFamily="34" charset="0"/>
                  </a:rPr>
                  <a:t>bit</a:t>
                </a:r>
              </a:p>
              <a:p>
                <a:pPr algn="ctr"/>
                <a:r>
                  <a:rPr kumimoji="1" lang="en-US" altLang="zh-TW" sz="1600" b="1">
                    <a:latin typeface="Arial" panose="020B0604020202020204" pitchFamily="34" charset="0"/>
                  </a:rPr>
                  <a:t>ALU</a:t>
                </a:r>
              </a:p>
            </p:txBody>
          </p:sp>
          <p:sp>
            <p:nvSpPr>
              <p:cNvPr id="14377" name="Line 78"/>
              <p:cNvSpPr>
                <a:spLocks noChangeShapeType="1"/>
              </p:cNvSpPr>
              <p:nvPr/>
            </p:nvSpPr>
            <p:spPr bwMode="auto">
              <a:xfrm>
                <a:off x="6875860" y="38830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78" name="Line 79"/>
              <p:cNvSpPr>
                <a:spLocks noChangeShapeType="1"/>
              </p:cNvSpPr>
              <p:nvPr/>
            </p:nvSpPr>
            <p:spPr bwMode="auto">
              <a:xfrm>
                <a:off x="5575697" y="38259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79" name="Line 80"/>
              <p:cNvSpPr>
                <a:spLocks noChangeShapeType="1"/>
              </p:cNvSpPr>
              <p:nvPr/>
            </p:nvSpPr>
            <p:spPr bwMode="auto">
              <a:xfrm>
                <a:off x="5575697" y="39973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80" name="Rectangle 81"/>
              <p:cNvSpPr>
                <a:spLocks noChangeArrowheads="1"/>
              </p:cNvSpPr>
              <p:nvPr/>
            </p:nvSpPr>
            <p:spPr bwMode="auto">
              <a:xfrm>
                <a:off x="7234238" y="3777089"/>
                <a:ext cx="69490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Result3</a:t>
                </a:r>
              </a:p>
            </p:txBody>
          </p:sp>
          <p:sp>
            <p:nvSpPr>
              <p:cNvPr id="14381" name="Line 82"/>
              <p:cNvSpPr>
                <a:spLocks noChangeShapeType="1"/>
              </p:cNvSpPr>
              <p:nvPr/>
            </p:nvSpPr>
            <p:spPr bwMode="auto">
              <a:xfrm>
                <a:off x="6442472" y="34258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82" name="Rectangle 83"/>
              <p:cNvSpPr>
                <a:spLocks noChangeArrowheads="1"/>
              </p:cNvSpPr>
              <p:nvPr/>
            </p:nvSpPr>
            <p:spPr bwMode="auto">
              <a:xfrm>
                <a:off x="5637610" y="3491339"/>
                <a:ext cx="76343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CarryIn3</a:t>
                </a:r>
              </a:p>
            </p:txBody>
          </p:sp>
          <p:sp>
            <p:nvSpPr>
              <p:cNvPr id="14388" name="Line 89"/>
              <p:cNvSpPr>
                <a:spLocks noChangeShapeType="1"/>
              </p:cNvSpPr>
              <p:nvPr/>
            </p:nvSpPr>
            <p:spPr bwMode="auto">
              <a:xfrm>
                <a:off x="6714067" y="1380360"/>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89" name="Rectangle 90"/>
              <p:cNvSpPr>
                <a:spLocks noChangeArrowheads="1"/>
              </p:cNvSpPr>
              <p:nvPr/>
            </p:nvSpPr>
            <p:spPr bwMode="auto">
              <a:xfrm>
                <a:off x="6557963" y="1144617"/>
                <a:ext cx="95699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chemeClr val="accent1"/>
                    </a:solidFill>
                    <a:latin typeface="Arial" panose="020B0604020202020204" pitchFamily="34" charset="0"/>
                  </a:rPr>
                  <a:t>Operation</a:t>
                </a:r>
                <a:endParaRPr kumimoji="1" lang="en-US" altLang="zh-TW" b="1">
                  <a:latin typeface="Arial" panose="020B0604020202020204" pitchFamily="34" charset="0"/>
                </a:endParaRPr>
              </a:p>
            </p:txBody>
          </p:sp>
          <p:sp>
            <p:nvSpPr>
              <p:cNvPr id="14390" name="Line 91"/>
              <p:cNvSpPr>
                <a:spLocks noChangeShapeType="1"/>
              </p:cNvSpPr>
              <p:nvPr/>
            </p:nvSpPr>
            <p:spPr bwMode="auto">
              <a:xfrm>
                <a:off x="6717506" y="2078067"/>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91" name="Line 92"/>
              <p:cNvSpPr>
                <a:spLocks noChangeShapeType="1"/>
              </p:cNvSpPr>
              <p:nvPr/>
            </p:nvSpPr>
            <p:spPr bwMode="auto">
              <a:xfrm>
                <a:off x="6711130" y="2732910"/>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92" name="Line 93"/>
              <p:cNvSpPr>
                <a:spLocks noChangeShapeType="1"/>
              </p:cNvSpPr>
              <p:nvPr/>
            </p:nvSpPr>
            <p:spPr bwMode="auto">
              <a:xfrm>
                <a:off x="6717506" y="3429426"/>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grpSp>
      </p:grpSp>
      <p:sp>
        <p:nvSpPr>
          <p:cNvPr id="132"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15</a:t>
            </a:fld>
            <a:endParaRPr lang="zh-TW" altLang="en-US"/>
          </a:p>
        </p:txBody>
      </p:sp>
      <p:grpSp>
        <p:nvGrpSpPr>
          <p:cNvPr id="6" name="组合 5"/>
          <p:cNvGrpSpPr/>
          <p:nvPr/>
        </p:nvGrpSpPr>
        <p:grpSpPr>
          <a:xfrm>
            <a:off x="716847" y="1623395"/>
            <a:ext cx="5624029" cy="4494213"/>
            <a:chOff x="520522" y="1263625"/>
            <a:chExt cx="4218022" cy="3370660"/>
          </a:xfrm>
        </p:grpSpPr>
        <p:grpSp>
          <p:nvGrpSpPr>
            <p:cNvPr id="3" name="组合 2"/>
            <p:cNvGrpSpPr/>
            <p:nvPr/>
          </p:nvGrpSpPr>
          <p:grpSpPr>
            <a:xfrm>
              <a:off x="520522" y="1263625"/>
              <a:ext cx="4218022" cy="3370660"/>
              <a:chOff x="1401366" y="1272014"/>
              <a:chExt cx="4218022" cy="3370660"/>
            </a:xfrm>
          </p:grpSpPr>
          <p:grpSp>
            <p:nvGrpSpPr>
              <p:cNvPr id="14339" name="Group 3"/>
              <p:cNvGrpSpPr/>
              <p:nvPr/>
            </p:nvGrpSpPr>
            <p:grpSpPr bwMode="auto">
              <a:xfrm>
                <a:off x="1401366" y="1272014"/>
                <a:ext cx="4218022" cy="3370660"/>
                <a:chOff x="422" y="1167"/>
                <a:chExt cx="3270" cy="2831"/>
              </a:xfrm>
            </p:grpSpPr>
            <p:grpSp>
              <p:nvGrpSpPr>
                <p:cNvPr id="14394" name="Group 4"/>
                <p:cNvGrpSpPr/>
                <p:nvPr/>
              </p:nvGrpSpPr>
              <p:grpSpPr bwMode="auto">
                <a:xfrm>
                  <a:off x="1392" y="1584"/>
                  <a:ext cx="480" cy="384"/>
                  <a:chOff x="1392" y="1584"/>
                  <a:chExt cx="480" cy="384"/>
                </a:xfrm>
              </p:grpSpPr>
              <p:sp>
                <p:nvSpPr>
                  <p:cNvPr id="14426" name="Arc 5"/>
                  <p:cNvSpPr/>
                  <p:nvPr/>
                </p:nvSpPr>
                <p:spPr bwMode="auto">
                  <a:xfrm>
                    <a:off x="1672" y="1585"/>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27" name="Arc 6"/>
                  <p:cNvSpPr/>
                  <p:nvPr/>
                </p:nvSpPr>
                <p:spPr bwMode="auto">
                  <a:xfrm>
                    <a:off x="1672" y="1776"/>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28" name="Line 7"/>
                  <p:cNvSpPr>
                    <a:spLocks noChangeShapeType="1"/>
                  </p:cNvSpPr>
                  <p:nvPr/>
                </p:nvSpPr>
                <p:spPr bwMode="auto">
                  <a:xfrm flipH="1">
                    <a:off x="1392" y="1584"/>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29" name="Line 8"/>
                  <p:cNvSpPr>
                    <a:spLocks noChangeShapeType="1"/>
                  </p:cNvSpPr>
                  <p:nvPr/>
                </p:nvSpPr>
                <p:spPr bwMode="auto">
                  <a:xfrm>
                    <a:off x="1392" y="1584"/>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30" name="Line 9"/>
                  <p:cNvSpPr>
                    <a:spLocks noChangeShapeType="1"/>
                  </p:cNvSpPr>
                  <p:nvPr/>
                </p:nvSpPr>
                <p:spPr bwMode="auto">
                  <a:xfrm flipH="1">
                    <a:off x="1392" y="1968"/>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grpSp>
            <p:sp>
              <p:nvSpPr>
                <p:cNvPr id="14395" name="Line 10"/>
                <p:cNvSpPr>
                  <a:spLocks noChangeShapeType="1"/>
                </p:cNvSpPr>
                <p:nvPr/>
              </p:nvSpPr>
              <p:spPr bwMode="auto">
                <a:xfrm flipH="1">
                  <a:off x="624" y="1680"/>
                  <a:ext cx="768"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96" name="Line 11"/>
                <p:cNvSpPr>
                  <a:spLocks noChangeShapeType="1"/>
                </p:cNvSpPr>
                <p:nvPr/>
              </p:nvSpPr>
              <p:spPr bwMode="auto">
                <a:xfrm flipH="1">
                  <a:off x="1152" y="1872"/>
                  <a:ext cx="24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97" name="Line 12"/>
                <p:cNvSpPr>
                  <a:spLocks noChangeShapeType="1"/>
                </p:cNvSpPr>
                <p:nvPr/>
              </p:nvSpPr>
              <p:spPr bwMode="auto">
                <a:xfrm>
                  <a:off x="1872" y="1776"/>
                  <a:ext cx="52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98" name="Rectangle 13"/>
                <p:cNvSpPr>
                  <a:spLocks noChangeArrowheads="1"/>
                </p:cNvSpPr>
                <p:nvPr/>
              </p:nvSpPr>
              <p:spPr bwMode="auto">
                <a:xfrm>
                  <a:off x="422" y="1591"/>
                  <a:ext cx="19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latin typeface="Arial" panose="020B0604020202020204" pitchFamily="34" charset="0"/>
                    </a:rPr>
                    <a:t>A</a:t>
                  </a:r>
                </a:p>
              </p:txBody>
            </p:sp>
            <p:sp>
              <p:nvSpPr>
                <p:cNvPr id="14399" name="Arc 14"/>
                <p:cNvSpPr/>
                <p:nvPr/>
              </p:nvSpPr>
              <p:spPr bwMode="auto">
                <a:xfrm>
                  <a:off x="1433" y="2257"/>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0" y="0"/>
                      </a:moveTo>
                      <a:cubicBezTo>
                        <a:pt x="17" y="0"/>
                        <a:pt x="35" y="-1"/>
                        <a:pt x="53" y="0"/>
                      </a:cubicBezTo>
                      <a:cubicBezTo>
                        <a:pt x="11982" y="0"/>
                        <a:pt x="21653" y="9670"/>
                        <a:pt x="21653" y="21600"/>
                      </a:cubicBezTo>
                    </a:path>
                    <a:path w="21653" h="21600" stroke="0" extrusionOk="0">
                      <a:moveTo>
                        <a:pt x="0" y="0"/>
                      </a:moveTo>
                      <a:cubicBezTo>
                        <a:pt x="17" y="0"/>
                        <a:pt x="35" y="-1"/>
                        <a:pt x="53" y="0"/>
                      </a:cubicBezTo>
                      <a:cubicBezTo>
                        <a:pt x="11982" y="0"/>
                        <a:pt x="21653" y="9670"/>
                        <a:pt x="21653" y="21600"/>
                      </a:cubicBezTo>
                      <a:lnTo>
                        <a:pt x="53" y="21600"/>
                      </a:lnTo>
                      <a:lnTo>
                        <a:pt x="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00" name="Arc 15"/>
                <p:cNvSpPr/>
                <p:nvPr/>
              </p:nvSpPr>
              <p:spPr bwMode="auto">
                <a:xfrm>
                  <a:off x="1432" y="2448"/>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21653" y="0"/>
                      </a:moveTo>
                      <a:cubicBezTo>
                        <a:pt x="21653" y="11929"/>
                        <a:pt x="11982" y="21600"/>
                        <a:pt x="53" y="21600"/>
                      </a:cubicBezTo>
                      <a:cubicBezTo>
                        <a:pt x="35" y="21600"/>
                        <a:pt x="17" y="21599"/>
                        <a:pt x="0" y="21599"/>
                      </a:cubicBezTo>
                    </a:path>
                    <a:path w="21653" h="21600" stroke="0" extrusionOk="0">
                      <a:moveTo>
                        <a:pt x="21653" y="0"/>
                      </a:moveTo>
                      <a:cubicBezTo>
                        <a:pt x="21653" y="11929"/>
                        <a:pt x="11982" y="21600"/>
                        <a:pt x="53" y="21600"/>
                      </a:cubicBezTo>
                      <a:cubicBezTo>
                        <a:pt x="35" y="21600"/>
                        <a:pt x="17" y="21599"/>
                        <a:pt x="0" y="21599"/>
                      </a:cubicBezTo>
                      <a:lnTo>
                        <a:pt x="53" y="0"/>
                      </a:lnTo>
                      <a:lnTo>
                        <a:pt x="21653"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01" name="Arc 16"/>
                <p:cNvSpPr/>
                <p:nvPr/>
              </p:nvSpPr>
              <p:spPr bwMode="auto">
                <a:xfrm>
                  <a:off x="1392" y="2257"/>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02" name="Arc 17"/>
                <p:cNvSpPr/>
                <p:nvPr/>
              </p:nvSpPr>
              <p:spPr bwMode="auto">
                <a:xfrm>
                  <a:off x="1392" y="2448"/>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03" name="Line 18"/>
                <p:cNvSpPr>
                  <a:spLocks noChangeShapeType="1"/>
                </p:cNvSpPr>
                <p:nvPr/>
              </p:nvSpPr>
              <p:spPr bwMode="auto">
                <a:xfrm>
                  <a:off x="1824" y="2448"/>
                  <a:ext cx="576"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04" name="Line 19"/>
                <p:cNvSpPr>
                  <a:spLocks noChangeShapeType="1"/>
                </p:cNvSpPr>
                <p:nvPr/>
              </p:nvSpPr>
              <p:spPr bwMode="auto">
                <a:xfrm flipH="1">
                  <a:off x="960" y="2352"/>
                  <a:ext cx="52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05" name="Line 20"/>
                <p:cNvSpPr>
                  <a:spLocks noChangeShapeType="1"/>
                </p:cNvSpPr>
                <p:nvPr/>
              </p:nvSpPr>
              <p:spPr bwMode="auto">
                <a:xfrm flipH="1">
                  <a:off x="1152" y="2544"/>
                  <a:ext cx="336"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06" name="Rectangle 21"/>
                <p:cNvSpPr>
                  <a:spLocks noChangeArrowheads="1"/>
                </p:cNvSpPr>
                <p:nvPr/>
              </p:nvSpPr>
              <p:spPr bwMode="auto">
                <a:xfrm>
                  <a:off x="422" y="3271"/>
                  <a:ext cx="19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a:t>
                  </a:r>
                </a:p>
              </p:txBody>
            </p:sp>
            <p:grpSp>
              <p:nvGrpSpPr>
                <p:cNvPr id="14407" name="Group 22"/>
                <p:cNvGrpSpPr/>
                <p:nvPr/>
              </p:nvGrpSpPr>
              <p:grpSpPr bwMode="auto">
                <a:xfrm>
                  <a:off x="1496" y="2936"/>
                  <a:ext cx="608" cy="571"/>
                  <a:chOff x="1496" y="2936"/>
                  <a:chExt cx="608" cy="571"/>
                </a:xfrm>
              </p:grpSpPr>
              <p:sp>
                <p:nvSpPr>
                  <p:cNvPr id="14424" name="Rectangle 23"/>
                  <p:cNvSpPr>
                    <a:spLocks noChangeArrowheads="1"/>
                  </p:cNvSpPr>
                  <p:nvPr/>
                </p:nvSpPr>
                <p:spPr bwMode="auto">
                  <a:xfrm>
                    <a:off x="1496" y="2936"/>
                    <a:ext cx="608" cy="56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25" name="Rectangle 24"/>
                  <p:cNvSpPr>
                    <a:spLocks noChangeArrowheads="1"/>
                  </p:cNvSpPr>
                  <p:nvPr/>
                </p:nvSpPr>
                <p:spPr bwMode="auto">
                  <a:xfrm>
                    <a:off x="1580" y="2983"/>
                    <a:ext cx="45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dirty="0">
                        <a:latin typeface="Arial" panose="020B0604020202020204" pitchFamily="34" charset="0"/>
                      </a:rPr>
                      <a:t>1-</a:t>
                    </a:r>
                    <a:r>
                      <a:rPr kumimoji="1" lang="en-US" altLang="zh-TW" sz="1600" b="1" dirty="0">
                        <a:latin typeface="Arial" panose="020B0604020202020204" pitchFamily="34" charset="0"/>
                      </a:rPr>
                      <a:t>bit</a:t>
                    </a:r>
                  </a:p>
                  <a:p>
                    <a:pPr algn="ctr"/>
                    <a:r>
                      <a:rPr kumimoji="1" lang="en-US" altLang="zh-TW" sz="1600" b="1" dirty="0">
                        <a:latin typeface="Arial" panose="020B0604020202020204" pitchFamily="34" charset="0"/>
                      </a:rPr>
                      <a:t>Full</a:t>
                    </a:r>
                  </a:p>
                  <a:p>
                    <a:pPr algn="ctr"/>
                    <a:r>
                      <a:rPr kumimoji="1" lang="en-US" altLang="zh-TW" sz="1600" b="1" dirty="0">
                        <a:latin typeface="Arial" panose="020B0604020202020204" pitchFamily="34" charset="0"/>
                      </a:rPr>
                      <a:t>Adder</a:t>
                    </a:r>
                  </a:p>
                </p:txBody>
              </p:sp>
            </p:grpSp>
            <p:sp>
              <p:nvSpPr>
                <p:cNvPr id="14408" name="Line 25"/>
                <p:cNvSpPr>
                  <a:spLocks noChangeShapeType="1"/>
                </p:cNvSpPr>
                <p:nvPr/>
              </p:nvSpPr>
              <p:spPr bwMode="auto">
                <a:xfrm>
                  <a:off x="624" y="3360"/>
                  <a:ext cx="864"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09" name="Line 26"/>
                <p:cNvSpPr>
                  <a:spLocks noChangeShapeType="1"/>
                </p:cNvSpPr>
                <p:nvPr/>
              </p:nvSpPr>
              <p:spPr bwMode="auto">
                <a:xfrm>
                  <a:off x="1152" y="1872"/>
                  <a:ext cx="0" cy="14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0" name="Line 27"/>
                <p:cNvSpPr>
                  <a:spLocks noChangeShapeType="1"/>
                </p:cNvSpPr>
                <p:nvPr/>
              </p:nvSpPr>
              <p:spPr bwMode="auto">
                <a:xfrm>
                  <a:off x="960" y="1680"/>
                  <a:ext cx="0" cy="13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1" name="Line 28"/>
                <p:cNvSpPr>
                  <a:spLocks noChangeShapeType="1"/>
                </p:cNvSpPr>
                <p:nvPr/>
              </p:nvSpPr>
              <p:spPr bwMode="auto">
                <a:xfrm>
                  <a:off x="960" y="3072"/>
                  <a:ext cx="52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2" name="Line 29"/>
                <p:cNvSpPr>
                  <a:spLocks noChangeShapeType="1"/>
                </p:cNvSpPr>
                <p:nvPr/>
              </p:nvSpPr>
              <p:spPr bwMode="auto">
                <a:xfrm>
                  <a:off x="1920" y="1392"/>
                  <a:ext cx="0" cy="153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3" name="Line 30"/>
                <p:cNvSpPr>
                  <a:spLocks noChangeShapeType="1"/>
                </p:cNvSpPr>
                <p:nvPr/>
              </p:nvSpPr>
              <p:spPr bwMode="auto">
                <a:xfrm>
                  <a:off x="1824" y="3504"/>
                  <a:ext cx="0" cy="33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4" name="Rectangle 31"/>
                <p:cNvSpPr>
                  <a:spLocks noChangeArrowheads="1"/>
                </p:cNvSpPr>
                <p:nvPr/>
              </p:nvSpPr>
              <p:spPr bwMode="auto">
                <a:xfrm>
                  <a:off x="1510" y="3784"/>
                  <a:ext cx="62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err="1">
                      <a:latin typeface="Arial" panose="020B0604020202020204" pitchFamily="34" charset="0"/>
                    </a:rPr>
                    <a:t>CarryOut</a:t>
                  </a:r>
                  <a:endParaRPr kumimoji="1" lang="en-US" altLang="zh-TW" sz="1600" b="1" dirty="0">
                    <a:latin typeface="Arial" panose="020B0604020202020204" pitchFamily="34" charset="0"/>
                  </a:endParaRPr>
                </a:p>
              </p:txBody>
            </p:sp>
            <p:sp>
              <p:nvSpPr>
                <p:cNvPr id="14415" name="Line 32"/>
                <p:cNvSpPr>
                  <a:spLocks noChangeShapeType="1"/>
                </p:cNvSpPr>
                <p:nvPr/>
              </p:nvSpPr>
              <p:spPr bwMode="auto">
                <a:xfrm>
                  <a:off x="2400" y="1584"/>
                  <a:ext cx="0" cy="192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6" name="Line 33"/>
                <p:cNvSpPr>
                  <a:spLocks noChangeShapeType="1"/>
                </p:cNvSpPr>
                <p:nvPr/>
              </p:nvSpPr>
              <p:spPr bwMode="auto">
                <a:xfrm>
                  <a:off x="2400" y="1584"/>
                  <a:ext cx="28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7" name="Line 34"/>
                <p:cNvSpPr>
                  <a:spLocks noChangeShapeType="1"/>
                </p:cNvSpPr>
                <p:nvPr/>
              </p:nvSpPr>
              <p:spPr bwMode="auto">
                <a:xfrm>
                  <a:off x="2688" y="1728"/>
                  <a:ext cx="0" cy="163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8" name="Rectangle 35"/>
                <p:cNvSpPr>
                  <a:spLocks noChangeArrowheads="1"/>
                </p:cNvSpPr>
                <p:nvPr/>
              </p:nvSpPr>
              <p:spPr bwMode="auto">
                <a:xfrm rot="5400000">
                  <a:off x="2347" y="2413"/>
                  <a:ext cx="37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Mux</a:t>
                  </a:r>
                </a:p>
              </p:txBody>
            </p:sp>
            <p:sp>
              <p:nvSpPr>
                <p:cNvPr id="14419" name="Line 36"/>
                <p:cNvSpPr>
                  <a:spLocks noChangeShapeType="1"/>
                </p:cNvSpPr>
                <p:nvPr/>
              </p:nvSpPr>
              <p:spPr bwMode="auto">
                <a:xfrm flipV="1">
                  <a:off x="2400" y="3360"/>
                  <a:ext cx="28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20" name="Line 37"/>
                <p:cNvSpPr>
                  <a:spLocks noChangeShapeType="1"/>
                </p:cNvSpPr>
                <p:nvPr/>
              </p:nvSpPr>
              <p:spPr bwMode="auto">
                <a:xfrm>
                  <a:off x="2112" y="3216"/>
                  <a:ext cx="2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21" name="Line 38"/>
                <p:cNvSpPr>
                  <a:spLocks noChangeShapeType="1"/>
                </p:cNvSpPr>
                <p:nvPr/>
              </p:nvSpPr>
              <p:spPr bwMode="auto">
                <a:xfrm>
                  <a:off x="2688" y="2448"/>
                  <a:ext cx="52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22" name="Rectangle 39"/>
                <p:cNvSpPr>
                  <a:spLocks noChangeArrowheads="1"/>
                </p:cNvSpPr>
                <p:nvPr/>
              </p:nvSpPr>
              <p:spPr bwMode="auto">
                <a:xfrm>
                  <a:off x="1658" y="1167"/>
                  <a:ext cx="52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err="1">
                      <a:latin typeface="Arial" panose="020B0604020202020204" pitchFamily="34" charset="0"/>
                    </a:rPr>
                    <a:t>CarryIn</a:t>
                  </a:r>
                  <a:endParaRPr kumimoji="1" lang="en-US" altLang="zh-TW" sz="1600" b="1" dirty="0">
                    <a:latin typeface="Arial" panose="020B0604020202020204" pitchFamily="34" charset="0"/>
                  </a:endParaRPr>
                </a:p>
              </p:txBody>
            </p:sp>
            <p:sp>
              <p:nvSpPr>
                <p:cNvPr id="14423" name="Rectangle 40"/>
                <p:cNvSpPr>
                  <a:spLocks noChangeArrowheads="1"/>
                </p:cNvSpPr>
                <p:nvPr/>
              </p:nvSpPr>
              <p:spPr bwMode="auto">
                <a:xfrm>
                  <a:off x="3219" y="2332"/>
                  <a:ext cx="4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latin typeface="Arial" panose="020B0604020202020204" pitchFamily="34" charset="0"/>
                    </a:rPr>
                    <a:t>Result</a:t>
                  </a:r>
                </a:p>
              </p:txBody>
            </p:sp>
          </p:grpSp>
          <p:sp>
            <p:nvSpPr>
              <p:cNvPr id="14386" name="Line 87"/>
              <p:cNvSpPr>
                <a:spLocks noChangeShapeType="1"/>
              </p:cNvSpPr>
              <p:nvPr/>
            </p:nvSpPr>
            <p:spPr bwMode="auto">
              <a:xfrm>
                <a:off x="4115991" y="1544667"/>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87" name="Rectangle 88"/>
              <p:cNvSpPr>
                <a:spLocks noChangeArrowheads="1"/>
              </p:cNvSpPr>
              <p:nvPr/>
            </p:nvSpPr>
            <p:spPr bwMode="auto">
              <a:xfrm>
                <a:off x="3917156" y="1308923"/>
                <a:ext cx="956993"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chemeClr val="accent1"/>
                    </a:solidFill>
                    <a:latin typeface="Arial" panose="020B0604020202020204" pitchFamily="34" charset="0"/>
                  </a:rPr>
                  <a:t>Operation</a:t>
                </a:r>
                <a:endParaRPr kumimoji="1" lang="en-US" altLang="zh-TW" b="1">
                  <a:latin typeface="Arial" panose="020B0604020202020204" pitchFamily="34" charset="0"/>
                </a:endParaRPr>
              </a:p>
            </p:txBody>
          </p:sp>
        </p:grpSp>
        <p:sp>
          <p:nvSpPr>
            <p:cNvPr id="2" name="矩形 1"/>
            <p:cNvSpPr/>
            <p:nvPr/>
          </p:nvSpPr>
          <p:spPr bwMode="auto">
            <a:xfrm>
              <a:off x="947956" y="1654204"/>
              <a:ext cx="2655141" cy="2580085"/>
            </a:xfrm>
            <a:prstGeom prst="rect">
              <a:avLst/>
            </a:prstGeom>
            <a:noFill/>
            <a:ln w="15875" cap="flat" cmpd="sng" algn="ctr">
              <a:solidFill>
                <a:srgbClr val="FF0000"/>
              </a:solidFill>
              <a:prstDash val="solid"/>
              <a:round/>
              <a:headEnd type="none" w="med" len="med"/>
              <a:tailEnd type="none" w="med" len="med"/>
            </a:ln>
            <a:effectLst/>
          </p:spPr>
          <p:txBody>
            <a:bodyPr vert="horz" wrap="none" lIns="121920" tIns="60960" rIns="121920" bIns="60960" numCol="1" rtlCol="0" anchor="ctr" anchorCtr="0" compatLnSpc="1"/>
            <a:lstStyle/>
            <a:p>
              <a:pPr algn="ctr" defTabSz="1219170" fontAlgn="base">
                <a:spcBef>
                  <a:spcPct val="0"/>
                </a:spcBef>
                <a:spcAft>
                  <a:spcPct val="0"/>
                </a:spcAft>
              </a:pPr>
              <a:endParaRPr kumimoji="1" lang="zh-CN" altLang="en-US" sz="2400" b="1">
                <a:latin typeface="Arial" panose="020B0604020202020204" pitchFamily="34" charset="0"/>
                <a:ea typeface="PMingLiU" panose="02020500000000000000" pitchFamily="18" charset="-120"/>
              </a:endParaRPr>
            </a:p>
          </p:txBody>
        </p:sp>
      </p:grpSp>
      <p:sp>
        <p:nvSpPr>
          <p:cNvPr id="100" name="Rectangle 2"/>
          <p:cNvSpPr txBox="1">
            <a:spLocks noChangeArrowheads="1"/>
          </p:cNvSpPr>
          <p:nvPr/>
        </p:nvSpPr>
        <p:spPr bwMode="auto">
          <a:xfrm>
            <a:off x="2550246" y="1128763"/>
            <a:ext cx="1389669" cy="420628"/>
          </a:xfrm>
          <a:prstGeom prst="rect">
            <a:avLst/>
          </a:prstGeom>
          <a:noFill/>
          <a:ln w="9525">
            <a:noFill/>
            <a:miter lim="800000"/>
          </a:ln>
        </p:spPr>
        <p:txBody>
          <a:bodyPr vert="horz" wrap="square" lIns="63500" tIns="25400" rIns="63500" bIns="25400" numCol="1" anchor="t" anchorCtr="0" compatLnSpc="1">
            <a:spAutoFit/>
          </a:bodyPr>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203195" indent="-203195">
              <a:buNone/>
            </a:pPr>
            <a:r>
              <a:rPr lang="zh-TW" altLang="en-US" b="1" u="sng" kern="0" dirty="0">
                <a:solidFill>
                  <a:srgbClr val="FF0000"/>
                </a:solidFill>
              </a:rPr>
              <a:t>1-</a:t>
            </a:r>
            <a:r>
              <a:rPr lang="en-US" altLang="zh-TW" b="1" u="sng" kern="0" dirty="0">
                <a:solidFill>
                  <a:srgbClr val="FF0000"/>
                </a:solidFill>
              </a:rPr>
              <a:t>bit ALU</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8" name="Rectangle 42"/>
          <p:cNvSpPr>
            <a:spLocks noGrp="1" noChangeArrowheads="1"/>
          </p:cNvSpPr>
          <p:nvPr>
            <p:ph type="title"/>
          </p:nvPr>
        </p:nvSpPr>
        <p:spPr>
          <a:xfrm>
            <a:off x="1420537" y="156594"/>
            <a:ext cx="8885515" cy="682305"/>
          </a:xfrm>
        </p:spPr>
        <p:txBody>
          <a:bodyPr/>
          <a:lstStyle/>
          <a:p>
            <a:r>
              <a:rPr lang="en-US" altLang="zh-TW" dirty="0"/>
              <a:t>Subtraction Operation</a:t>
            </a:r>
          </a:p>
        </p:txBody>
      </p:sp>
      <p:sp>
        <p:nvSpPr>
          <p:cNvPr id="15389" name="Rectangle 43"/>
          <p:cNvSpPr>
            <a:spLocks noGrp="1" noChangeArrowheads="1"/>
          </p:cNvSpPr>
          <p:nvPr>
            <p:ph type="body" idx="1"/>
          </p:nvPr>
        </p:nvSpPr>
        <p:spPr>
          <a:xfrm>
            <a:off x="971868" y="1111943"/>
            <a:ext cx="10544517" cy="1481443"/>
          </a:xfrm>
        </p:spPr>
        <p:txBody>
          <a:bodyPr/>
          <a:lstStyle/>
          <a:p>
            <a:pPr marL="286166" indent="-286166"/>
            <a:r>
              <a:rPr lang="zh-TW" altLang="en-US" sz="2667" dirty="0">
                <a:latin typeface="Times New Roman" panose="02020603050405020304" pitchFamily="18" charset="0"/>
                <a:cs typeface="Times New Roman" panose="02020603050405020304" pitchFamily="18" charset="0"/>
              </a:rPr>
              <a:t>2</a:t>
            </a:r>
            <a:r>
              <a:rPr lang="en-US" altLang="zh-TW" sz="2667" dirty="0">
                <a:latin typeface="Times New Roman" panose="02020603050405020304" pitchFamily="18" charset="0"/>
                <a:cs typeface="Times New Roman" panose="02020603050405020304" pitchFamily="18" charset="0"/>
              </a:rPr>
              <a:t>’s</a:t>
            </a:r>
            <a:r>
              <a:rPr lang="en-US" altLang="zh-TW" sz="2667" dirty="0"/>
              <a:t> complement: </a:t>
            </a:r>
            <a:r>
              <a:rPr lang="en-US" altLang="zh-CN" sz="2667" dirty="0"/>
              <a:t>T</a:t>
            </a:r>
            <a:r>
              <a:rPr lang="en-US" altLang="zh-TW" sz="2667" dirty="0"/>
              <a:t>ake inverse of every bit and add 1 (at </a:t>
            </a:r>
            <a:r>
              <a:rPr lang="en-US" altLang="zh-TW" sz="2667" dirty="0" err="1"/>
              <a:t>c</a:t>
            </a:r>
            <a:r>
              <a:rPr lang="en-US" altLang="zh-TW" sz="2667" baseline="-25000" dirty="0" err="1"/>
              <a:t>in</a:t>
            </a:r>
            <a:r>
              <a:rPr lang="en-US" altLang="zh-TW" sz="2667" dirty="0"/>
              <a:t> of first stage)</a:t>
            </a:r>
          </a:p>
          <a:p>
            <a:pPr marL="705256" lvl="1" indent="-228594"/>
            <a:r>
              <a:rPr lang="en-US" altLang="zh-TW" sz="2400" dirty="0"/>
              <a:t>A + B’ + 1 = A + (B’ + 1) = A + (-B) = A - B</a:t>
            </a:r>
          </a:p>
          <a:p>
            <a:pPr marL="705256" lvl="1" indent="-228594"/>
            <a:r>
              <a:rPr lang="en-US" altLang="zh-TW" sz="2400" dirty="0"/>
              <a:t>Bit-wise inverse of B is B’</a:t>
            </a:r>
          </a:p>
        </p:txBody>
      </p:sp>
      <p:grpSp>
        <p:nvGrpSpPr>
          <p:cNvPr id="2" name="组合 1"/>
          <p:cNvGrpSpPr/>
          <p:nvPr/>
        </p:nvGrpSpPr>
        <p:grpSpPr>
          <a:xfrm>
            <a:off x="2555478" y="2633339"/>
            <a:ext cx="7501033" cy="3248392"/>
            <a:chOff x="1834754" y="2228850"/>
            <a:chExt cx="5199304" cy="2200275"/>
          </a:xfrm>
        </p:grpSpPr>
        <p:sp>
          <p:nvSpPr>
            <p:cNvPr id="15362" name="Line 2"/>
            <p:cNvSpPr>
              <a:spLocks noChangeShapeType="1"/>
            </p:cNvSpPr>
            <p:nvPr/>
          </p:nvSpPr>
          <p:spPr bwMode="auto">
            <a:xfrm flipH="1">
              <a:off x="4138613" y="2895600"/>
              <a:ext cx="742950"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grpSp>
          <p:nvGrpSpPr>
            <p:cNvPr id="15363" name="Group 3"/>
            <p:cNvGrpSpPr/>
            <p:nvPr/>
          </p:nvGrpSpPr>
          <p:grpSpPr bwMode="auto">
            <a:xfrm>
              <a:off x="4881563" y="2724150"/>
              <a:ext cx="619125" cy="685800"/>
              <a:chOff x="3504" y="2448"/>
              <a:chExt cx="480" cy="576"/>
            </a:xfrm>
          </p:grpSpPr>
          <p:sp>
            <p:nvSpPr>
              <p:cNvPr id="15402" name="Line 4"/>
              <p:cNvSpPr>
                <a:spLocks noChangeShapeType="1"/>
              </p:cNvSpPr>
              <p:nvPr/>
            </p:nvSpPr>
            <p:spPr bwMode="auto">
              <a:xfrm>
                <a:off x="3504" y="2448"/>
                <a:ext cx="0"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3" name="Line 5"/>
              <p:cNvSpPr>
                <a:spLocks noChangeShapeType="1"/>
              </p:cNvSpPr>
              <p:nvPr/>
            </p:nvSpPr>
            <p:spPr bwMode="auto">
              <a:xfrm>
                <a:off x="3504" y="2448"/>
                <a:ext cx="480" cy="24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4" name="Line 6"/>
              <p:cNvSpPr>
                <a:spLocks noChangeShapeType="1"/>
              </p:cNvSpPr>
              <p:nvPr/>
            </p:nvSpPr>
            <p:spPr bwMode="auto">
              <a:xfrm>
                <a:off x="3504" y="2736"/>
                <a:ext cx="192"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5" name="Line 7"/>
              <p:cNvSpPr>
                <a:spLocks noChangeShapeType="1"/>
              </p:cNvSpPr>
              <p:nvPr/>
            </p:nvSpPr>
            <p:spPr bwMode="auto">
              <a:xfrm>
                <a:off x="3696" y="2832"/>
                <a:ext cx="0" cy="19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6" name="Line 8"/>
              <p:cNvSpPr>
                <a:spLocks noChangeShapeType="1"/>
              </p:cNvSpPr>
              <p:nvPr/>
            </p:nvSpPr>
            <p:spPr bwMode="auto">
              <a:xfrm>
                <a:off x="3984" y="2688"/>
                <a:ext cx="0" cy="33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grpSp>
        <p:grpSp>
          <p:nvGrpSpPr>
            <p:cNvPr id="15364" name="Group 9"/>
            <p:cNvGrpSpPr/>
            <p:nvPr/>
          </p:nvGrpSpPr>
          <p:grpSpPr bwMode="auto">
            <a:xfrm>
              <a:off x="4881563" y="3409950"/>
              <a:ext cx="619125" cy="685800"/>
              <a:chOff x="3504" y="3024"/>
              <a:chExt cx="480" cy="576"/>
            </a:xfrm>
          </p:grpSpPr>
          <p:sp>
            <p:nvSpPr>
              <p:cNvPr id="15397" name="Line 10"/>
              <p:cNvSpPr>
                <a:spLocks noChangeShapeType="1"/>
              </p:cNvSpPr>
              <p:nvPr/>
            </p:nvSpPr>
            <p:spPr bwMode="auto">
              <a:xfrm flipV="1">
                <a:off x="3504" y="3312"/>
                <a:ext cx="0"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98" name="Line 11"/>
              <p:cNvSpPr>
                <a:spLocks noChangeShapeType="1"/>
              </p:cNvSpPr>
              <p:nvPr/>
            </p:nvSpPr>
            <p:spPr bwMode="auto">
              <a:xfrm flipV="1">
                <a:off x="3504" y="3360"/>
                <a:ext cx="480" cy="24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99" name="Line 12"/>
              <p:cNvSpPr>
                <a:spLocks noChangeShapeType="1"/>
              </p:cNvSpPr>
              <p:nvPr/>
            </p:nvSpPr>
            <p:spPr bwMode="auto">
              <a:xfrm flipV="1">
                <a:off x="3504" y="3216"/>
                <a:ext cx="192"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0" name="Line 13"/>
              <p:cNvSpPr>
                <a:spLocks noChangeShapeType="1"/>
              </p:cNvSpPr>
              <p:nvPr/>
            </p:nvSpPr>
            <p:spPr bwMode="auto">
              <a:xfrm flipV="1">
                <a:off x="3696" y="3024"/>
                <a:ext cx="0" cy="19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1" name="Line 14"/>
              <p:cNvSpPr>
                <a:spLocks noChangeShapeType="1"/>
              </p:cNvSpPr>
              <p:nvPr/>
            </p:nvSpPr>
            <p:spPr bwMode="auto">
              <a:xfrm flipV="1">
                <a:off x="3984" y="3024"/>
                <a:ext cx="0" cy="33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grpSp>
        <p:sp>
          <p:nvSpPr>
            <p:cNvPr id="15365" name="Line 15"/>
            <p:cNvSpPr>
              <a:spLocks noChangeShapeType="1"/>
            </p:cNvSpPr>
            <p:nvPr/>
          </p:nvSpPr>
          <p:spPr bwMode="auto">
            <a:xfrm>
              <a:off x="5500687" y="3409950"/>
              <a:ext cx="928688" cy="1191"/>
            </a:xfrm>
            <a:prstGeom prst="line">
              <a:avLst/>
            </a:prstGeom>
            <a:noFill/>
            <a:ln w="28575">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66" name="Line 16"/>
            <p:cNvSpPr>
              <a:spLocks noChangeShapeType="1"/>
            </p:cNvSpPr>
            <p:nvPr/>
          </p:nvSpPr>
          <p:spPr bwMode="auto">
            <a:xfrm flipH="1">
              <a:off x="4138613" y="3924300"/>
              <a:ext cx="742950"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67" name="Rectangle 17"/>
            <p:cNvSpPr>
              <a:spLocks noChangeArrowheads="1"/>
            </p:cNvSpPr>
            <p:nvPr/>
          </p:nvSpPr>
          <p:spPr bwMode="auto">
            <a:xfrm rot="5400000">
              <a:off x="5009721" y="3249580"/>
              <a:ext cx="447342" cy="256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ALU</a:t>
              </a:r>
            </a:p>
          </p:txBody>
        </p:sp>
        <p:sp>
          <p:nvSpPr>
            <p:cNvPr id="15368" name="Rectangle 18"/>
            <p:cNvSpPr>
              <a:spLocks noChangeArrowheads="1"/>
            </p:cNvSpPr>
            <p:nvPr/>
          </p:nvSpPr>
          <p:spPr bwMode="auto">
            <a:xfrm>
              <a:off x="4063604" y="2675335"/>
              <a:ext cx="244445"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A</a:t>
              </a:r>
            </a:p>
          </p:txBody>
        </p:sp>
        <p:sp>
          <p:nvSpPr>
            <p:cNvPr id="15369" name="Rectangle 19"/>
            <p:cNvSpPr>
              <a:spLocks noChangeArrowheads="1"/>
            </p:cNvSpPr>
            <p:nvPr/>
          </p:nvSpPr>
          <p:spPr bwMode="auto">
            <a:xfrm>
              <a:off x="3320654" y="4161235"/>
              <a:ext cx="288890"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B’</a:t>
              </a:r>
            </a:p>
          </p:txBody>
        </p:sp>
        <p:sp>
          <p:nvSpPr>
            <p:cNvPr id="15370" name="Rectangle 20"/>
            <p:cNvSpPr>
              <a:spLocks noChangeArrowheads="1"/>
            </p:cNvSpPr>
            <p:nvPr/>
          </p:nvSpPr>
          <p:spPr bwMode="auto">
            <a:xfrm>
              <a:off x="6416279" y="3303985"/>
              <a:ext cx="617779"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Result</a:t>
              </a:r>
            </a:p>
          </p:txBody>
        </p:sp>
        <p:sp>
          <p:nvSpPr>
            <p:cNvPr id="15371" name="Line 21"/>
            <p:cNvSpPr>
              <a:spLocks noChangeShapeType="1"/>
            </p:cNvSpPr>
            <p:nvPr/>
          </p:nvSpPr>
          <p:spPr bwMode="auto">
            <a:xfrm>
              <a:off x="5092304" y="2499122"/>
              <a:ext cx="1190" cy="342900"/>
            </a:xfrm>
            <a:prstGeom prst="line">
              <a:avLst/>
            </a:prstGeom>
            <a:noFill/>
            <a:ln w="28575">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72" name="Rectangle 22"/>
            <p:cNvSpPr>
              <a:spLocks noChangeArrowheads="1"/>
            </p:cNvSpPr>
            <p:nvPr/>
          </p:nvSpPr>
          <p:spPr bwMode="auto">
            <a:xfrm>
              <a:off x="4405313" y="2256235"/>
              <a:ext cx="688891"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CarryIn</a:t>
              </a:r>
            </a:p>
          </p:txBody>
        </p:sp>
        <p:sp>
          <p:nvSpPr>
            <p:cNvPr id="15373" name="Line 23"/>
            <p:cNvSpPr>
              <a:spLocks noChangeShapeType="1"/>
            </p:cNvSpPr>
            <p:nvPr/>
          </p:nvSpPr>
          <p:spPr bwMode="auto">
            <a:xfrm>
              <a:off x="5253038" y="3924300"/>
              <a:ext cx="1191" cy="457200"/>
            </a:xfrm>
            <a:prstGeom prst="line">
              <a:avLst/>
            </a:prstGeom>
            <a:noFill/>
            <a:ln w="28575">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74" name="Rectangle 24"/>
            <p:cNvSpPr>
              <a:spLocks noChangeArrowheads="1"/>
            </p:cNvSpPr>
            <p:nvPr/>
          </p:nvSpPr>
          <p:spPr bwMode="auto">
            <a:xfrm>
              <a:off x="5301853" y="4161235"/>
              <a:ext cx="822224"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CarryOut</a:t>
              </a:r>
            </a:p>
          </p:txBody>
        </p:sp>
        <p:sp>
          <p:nvSpPr>
            <p:cNvPr id="15375" name="Line 25"/>
            <p:cNvSpPr>
              <a:spLocks noChangeShapeType="1"/>
            </p:cNvSpPr>
            <p:nvPr/>
          </p:nvSpPr>
          <p:spPr bwMode="auto">
            <a:xfrm flipH="1">
              <a:off x="2095500" y="3752850"/>
              <a:ext cx="1547813"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76" name="Rectangle 26"/>
            <p:cNvSpPr>
              <a:spLocks noChangeArrowheads="1"/>
            </p:cNvSpPr>
            <p:nvPr/>
          </p:nvSpPr>
          <p:spPr bwMode="auto">
            <a:xfrm>
              <a:off x="1834754" y="3646885"/>
              <a:ext cx="244445"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B</a:t>
              </a:r>
            </a:p>
          </p:txBody>
        </p:sp>
        <p:grpSp>
          <p:nvGrpSpPr>
            <p:cNvPr id="15377" name="Group 27"/>
            <p:cNvGrpSpPr/>
            <p:nvPr/>
          </p:nvGrpSpPr>
          <p:grpSpPr bwMode="auto">
            <a:xfrm>
              <a:off x="2714626" y="3924300"/>
              <a:ext cx="422672" cy="342900"/>
              <a:chOff x="1824" y="3456"/>
              <a:chExt cx="328" cy="288"/>
            </a:xfrm>
          </p:grpSpPr>
          <p:sp>
            <p:nvSpPr>
              <p:cNvPr id="15393" name="Oval 28"/>
              <p:cNvSpPr>
                <a:spLocks noChangeArrowheads="1"/>
              </p:cNvSpPr>
              <p:nvPr/>
            </p:nvSpPr>
            <p:spPr bwMode="auto">
              <a:xfrm>
                <a:off x="2072" y="3560"/>
                <a:ext cx="80" cy="80"/>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5394" name="Line 29"/>
              <p:cNvSpPr>
                <a:spLocks noChangeShapeType="1"/>
              </p:cNvSpPr>
              <p:nvPr/>
            </p:nvSpPr>
            <p:spPr bwMode="auto">
              <a:xfrm flipH="1" flipV="1">
                <a:off x="1824" y="3456"/>
                <a:ext cx="240" cy="144"/>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95" name="Line 30"/>
              <p:cNvSpPr>
                <a:spLocks noChangeShapeType="1"/>
              </p:cNvSpPr>
              <p:nvPr/>
            </p:nvSpPr>
            <p:spPr bwMode="auto">
              <a:xfrm flipH="1">
                <a:off x="1824" y="3600"/>
                <a:ext cx="240" cy="144"/>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96" name="Line 31"/>
              <p:cNvSpPr>
                <a:spLocks noChangeShapeType="1"/>
              </p:cNvSpPr>
              <p:nvPr/>
            </p:nvSpPr>
            <p:spPr bwMode="auto">
              <a:xfrm>
                <a:off x="1824" y="3456"/>
                <a:ext cx="0"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grpSp>
        <p:sp>
          <p:nvSpPr>
            <p:cNvPr id="15378" name="Line 32"/>
            <p:cNvSpPr>
              <a:spLocks noChangeShapeType="1"/>
            </p:cNvSpPr>
            <p:nvPr/>
          </p:nvSpPr>
          <p:spPr bwMode="auto">
            <a:xfrm>
              <a:off x="2528888" y="3752850"/>
              <a:ext cx="1191" cy="3429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79" name="Line 33"/>
            <p:cNvSpPr>
              <a:spLocks noChangeShapeType="1"/>
            </p:cNvSpPr>
            <p:nvPr/>
          </p:nvSpPr>
          <p:spPr bwMode="auto">
            <a:xfrm>
              <a:off x="2528887" y="4095750"/>
              <a:ext cx="185738" cy="119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80" name="Line 34"/>
            <p:cNvSpPr>
              <a:spLocks noChangeShapeType="1"/>
            </p:cNvSpPr>
            <p:nvPr/>
          </p:nvSpPr>
          <p:spPr bwMode="auto">
            <a:xfrm flipH="1">
              <a:off x="3148013" y="4095750"/>
              <a:ext cx="495300"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81" name="Rectangle 35"/>
            <p:cNvSpPr>
              <a:spLocks noChangeArrowheads="1"/>
            </p:cNvSpPr>
            <p:nvPr/>
          </p:nvSpPr>
          <p:spPr bwMode="auto">
            <a:xfrm>
              <a:off x="3654029" y="3476625"/>
              <a:ext cx="473869" cy="952500"/>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5382" name="Rectangle 36"/>
            <p:cNvSpPr>
              <a:spLocks noChangeArrowheads="1"/>
            </p:cNvSpPr>
            <p:nvPr/>
          </p:nvSpPr>
          <p:spPr bwMode="auto">
            <a:xfrm>
              <a:off x="3630216" y="3646885"/>
              <a:ext cx="217779"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zh-TW" altLang="en-US" b="1">
                  <a:latin typeface="Arial" panose="020B0604020202020204" pitchFamily="34" charset="0"/>
                </a:rPr>
                <a:t>0</a:t>
              </a:r>
            </a:p>
          </p:txBody>
        </p:sp>
        <p:sp>
          <p:nvSpPr>
            <p:cNvPr id="15383" name="Rectangle 37"/>
            <p:cNvSpPr>
              <a:spLocks noChangeArrowheads="1"/>
            </p:cNvSpPr>
            <p:nvPr/>
          </p:nvSpPr>
          <p:spPr bwMode="auto">
            <a:xfrm>
              <a:off x="3630216" y="3989785"/>
              <a:ext cx="217779"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zh-TW" altLang="en-US" b="1">
                  <a:latin typeface="Arial" panose="020B0604020202020204" pitchFamily="34" charset="0"/>
                </a:rPr>
                <a:t>1</a:t>
              </a:r>
            </a:p>
          </p:txBody>
        </p:sp>
        <p:sp>
          <p:nvSpPr>
            <p:cNvPr id="15384" name="Rectangle 38"/>
            <p:cNvSpPr>
              <a:spLocks noChangeArrowheads="1"/>
            </p:cNvSpPr>
            <p:nvPr/>
          </p:nvSpPr>
          <p:spPr bwMode="auto">
            <a:xfrm rot="5400000">
              <a:off x="3689806" y="3824651"/>
              <a:ext cx="482087" cy="256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zh-TW" altLang="en-US" b="1" dirty="0">
                  <a:latin typeface="Arial" panose="020B0604020202020204" pitchFamily="34" charset="0"/>
                </a:rPr>
                <a:t> </a:t>
              </a:r>
              <a:r>
                <a:rPr kumimoji="1" lang="en-US" altLang="zh-TW" b="1" dirty="0">
                  <a:latin typeface="Arial" panose="020B0604020202020204" pitchFamily="34" charset="0"/>
                </a:rPr>
                <a:t>Mux</a:t>
              </a:r>
            </a:p>
          </p:txBody>
        </p:sp>
        <p:sp>
          <p:nvSpPr>
            <p:cNvPr id="15385" name="Line 39"/>
            <p:cNvSpPr>
              <a:spLocks noChangeShapeType="1"/>
            </p:cNvSpPr>
            <p:nvPr/>
          </p:nvSpPr>
          <p:spPr bwMode="auto">
            <a:xfrm flipV="1">
              <a:off x="3890963" y="2324100"/>
              <a:ext cx="1191" cy="1143000"/>
            </a:xfrm>
            <a:prstGeom prst="line">
              <a:avLst/>
            </a:prstGeom>
            <a:noFill/>
            <a:ln w="28575">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86" name="Rectangle 40"/>
            <p:cNvSpPr>
              <a:spLocks noChangeArrowheads="1"/>
            </p:cNvSpPr>
            <p:nvPr/>
          </p:nvSpPr>
          <p:spPr bwMode="auto">
            <a:xfrm>
              <a:off x="3692129" y="3475435"/>
              <a:ext cx="368890"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Sel</a:t>
              </a:r>
            </a:p>
          </p:txBody>
        </p:sp>
        <p:sp>
          <p:nvSpPr>
            <p:cNvPr id="15387" name="Rectangle 41"/>
            <p:cNvSpPr>
              <a:spLocks noChangeArrowheads="1"/>
            </p:cNvSpPr>
            <p:nvPr/>
          </p:nvSpPr>
          <p:spPr bwMode="auto">
            <a:xfrm>
              <a:off x="2988469" y="2228850"/>
              <a:ext cx="866668" cy="438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solidFill>
                    <a:schemeClr val="accent1"/>
                  </a:solidFill>
                  <a:latin typeface="Arial" panose="020B0604020202020204" pitchFamily="34" charset="0"/>
                </a:rPr>
                <a:t>Subtract</a:t>
              </a:r>
            </a:p>
            <a:p>
              <a:r>
                <a:rPr kumimoji="1" lang="en-US" altLang="zh-TW" b="1">
                  <a:solidFill>
                    <a:schemeClr val="accent1"/>
                  </a:solidFill>
                  <a:latin typeface="Arial" panose="020B0604020202020204" pitchFamily="34" charset="0"/>
                </a:rPr>
                <a:t>(</a:t>
              </a:r>
              <a:r>
                <a:rPr kumimoji="1" lang="en-US" altLang="zh-TW" b="1" i="1">
                  <a:solidFill>
                    <a:schemeClr val="accent1"/>
                  </a:solidFill>
                  <a:latin typeface="Arial" panose="020B0604020202020204" pitchFamily="34" charset="0"/>
                </a:rPr>
                <a:t>Bnegate</a:t>
              </a:r>
              <a:r>
                <a:rPr kumimoji="1" lang="en-US" altLang="zh-TW" b="1">
                  <a:solidFill>
                    <a:schemeClr val="accent1"/>
                  </a:solidFill>
                  <a:latin typeface="Arial" panose="020B0604020202020204" pitchFamily="34" charset="0"/>
                </a:rPr>
                <a:t>)</a:t>
              </a:r>
            </a:p>
          </p:txBody>
        </p:sp>
        <p:sp>
          <p:nvSpPr>
            <p:cNvPr id="15390" name="Line 45"/>
            <p:cNvSpPr>
              <a:spLocks noChangeShapeType="1"/>
            </p:cNvSpPr>
            <p:nvPr/>
          </p:nvSpPr>
          <p:spPr bwMode="auto">
            <a:xfrm flipH="1">
              <a:off x="5388769" y="2537223"/>
              <a:ext cx="0" cy="42029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91" name="Rectangle 46"/>
            <p:cNvSpPr>
              <a:spLocks noChangeArrowheads="1"/>
            </p:cNvSpPr>
            <p:nvPr/>
          </p:nvSpPr>
          <p:spPr bwMode="auto">
            <a:xfrm>
              <a:off x="5189935" y="2264569"/>
              <a:ext cx="884446"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chemeClr val="accent1"/>
                  </a:solidFill>
                  <a:latin typeface="Arial" panose="020B0604020202020204" pitchFamily="34" charset="0"/>
                </a:rPr>
                <a:t>Operation</a:t>
              </a:r>
              <a:endParaRPr kumimoji="1" lang="en-US" altLang="zh-TW" b="1">
                <a:latin typeface="Arial" panose="020B0604020202020204" pitchFamily="34" charset="0"/>
              </a:endParaRPr>
            </a:p>
          </p:txBody>
        </p:sp>
      </p:grpSp>
      <p:sp>
        <p:nvSpPr>
          <p:cNvPr id="47"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1-bit RV ALU </a:t>
            </a:r>
          </a:p>
        </p:txBody>
      </p:sp>
      <p:sp>
        <p:nvSpPr>
          <p:cNvPr id="8" name="Content Placeholder 7"/>
          <p:cNvSpPr>
            <a:spLocks noGrp="1"/>
          </p:cNvSpPr>
          <p:nvPr>
            <p:ph idx="1"/>
          </p:nvPr>
        </p:nvSpPr>
        <p:spPr>
          <a:xfrm>
            <a:off x="1453219" y="1073792"/>
            <a:ext cx="6969327" cy="626379"/>
          </a:xfrm>
        </p:spPr>
        <p:txBody>
          <a:bodyPr>
            <a:noAutofit/>
          </a:bodyPr>
          <a:lstStyle/>
          <a:p>
            <a:r>
              <a:rPr lang="en-US" dirty="0">
                <a:cs typeface="Calibri" panose="020F0502020204030204" pitchFamily="34" charset="0"/>
              </a:rPr>
              <a:t>and, or, add, sub, </a:t>
            </a:r>
            <a:r>
              <a:rPr lang="en-US" dirty="0" err="1">
                <a:cs typeface="Calibri" panose="020F0502020204030204" pitchFamily="34" charset="0"/>
              </a:rPr>
              <a:t>slt</a:t>
            </a:r>
            <a:endParaRPr lang="en-US" dirty="0">
              <a:cs typeface="Calibri" panose="020F0502020204030204" pitchFamily="34" charset="0"/>
            </a:endParaRPr>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433896" y="1674300"/>
            <a:ext cx="5301841" cy="4455256"/>
          </a:xfrm>
          <a:prstGeom prst="rect">
            <a:avLst/>
          </a:prstGeom>
        </p:spPr>
      </p:pic>
      <p:sp>
        <p:nvSpPr>
          <p:cNvPr id="3" name="灯片编号占位符 2"/>
          <p:cNvSpPr>
            <a:spLocks noGrp="1"/>
          </p:cNvSpPr>
          <p:nvPr>
            <p:ph type="sldNum" sz="quarter" idx="10"/>
          </p:nvPr>
        </p:nvSpPr>
        <p:spPr/>
        <p:txBody>
          <a:bodyPr/>
          <a:lstStyle/>
          <a:p>
            <a:fld id="{D9B6BDF2-6896-4B98-8776-C18582F63BA5}" type="slidenum">
              <a:rPr lang="zh-TW" altLang="en-US" smtClean="0"/>
              <a:t>17</a:t>
            </a:fld>
            <a:endParaRPr lang="zh-TW" altLang="en-US"/>
          </a:p>
        </p:txBody>
      </p:sp>
      <p:sp>
        <p:nvSpPr>
          <p:cNvPr id="4" name="TextBox 3">
            <a:extLst>
              <a:ext uri="{FF2B5EF4-FFF2-40B4-BE49-F238E27FC236}">
                <a16:creationId xmlns:a16="http://schemas.microsoft.com/office/drawing/2014/main" id="{B36C761B-396B-4155-A5D4-4AA2701C5ABC}"/>
              </a:ext>
            </a:extLst>
          </p:cNvPr>
          <p:cNvSpPr txBox="1"/>
          <p:nvPr/>
        </p:nvSpPr>
        <p:spPr>
          <a:xfrm>
            <a:off x="8891080" y="2276432"/>
            <a:ext cx="2281522" cy="369332"/>
          </a:xfrm>
          <a:prstGeom prst="rect">
            <a:avLst/>
          </a:prstGeom>
          <a:noFill/>
        </p:spPr>
        <p:txBody>
          <a:bodyPr wrap="none" rtlCol="0" anchor="ctr" anchorCtr="1">
            <a:spAutoFit/>
          </a:bodyPr>
          <a:lstStyle/>
          <a:p>
            <a:r>
              <a:rPr lang="en-US" dirty="0">
                <a:ea typeface="標楷體" pitchFamily="65" charset="-120"/>
                <a:cs typeface="Calibri" pitchFamily="34" charset="0"/>
              </a:rPr>
              <a:t>A nor B = ~A and ~B</a:t>
            </a:r>
          </a:p>
        </p:txBody>
      </p:sp>
      <p:sp>
        <p:nvSpPr>
          <p:cNvPr id="5" name="TextBox 4">
            <a:extLst>
              <a:ext uri="{FF2B5EF4-FFF2-40B4-BE49-F238E27FC236}">
                <a16:creationId xmlns:a16="http://schemas.microsoft.com/office/drawing/2014/main" id="{779A6582-BC46-475E-8E4D-9EDF37865552}"/>
              </a:ext>
            </a:extLst>
          </p:cNvPr>
          <p:cNvSpPr txBox="1"/>
          <p:nvPr/>
        </p:nvSpPr>
        <p:spPr>
          <a:xfrm>
            <a:off x="8946293" y="4253816"/>
            <a:ext cx="2689775" cy="923330"/>
          </a:xfrm>
          <a:prstGeom prst="rect">
            <a:avLst/>
          </a:prstGeom>
          <a:noFill/>
        </p:spPr>
        <p:txBody>
          <a:bodyPr wrap="none" rtlCol="0" anchor="ctr" anchorCtr="1">
            <a:spAutoFit/>
          </a:bodyPr>
          <a:lstStyle/>
          <a:p>
            <a:r>
              <a:rPr lang="en-US" dirty="0">
                <a:ea typeface="標楷體" pitchFamily="65" charset="-120"/>
                <a:cs typeface="Calibri" pitchFamily="34" charset="0"/>
              </a:rPr>
              <a:t>SLT A,B is computed as </a:t>
            </a:r>
          </a:p>
          <a:p>
            <a:r>
              <a:rPr lang="en-US" dirty="0">
                <a:ea typeface="標楷體" pitchFamily="65" charset="-120"/>
                <a:cs typeface="Calibri" pitchFamily="34" charset="0"/>
              </a:rPr>
              <a:t>taking the sign bit from </a:t>
            </a:r>
          </a:p>
          <a:p>
            <a:r>
              <a:rPr lang="en-US" dirty="0">
                <a:ea typeface="標楷體" pitchFamily="65" charset="-120"/>
                <a:cs typeface="Calibri" pitchFamily="34" charset="0"/>
              </a:rPr>
              <a:t>A-B</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32-bit ALU</a:t>
            </a:r>
          </a:p>
        </p:txBody>
      </p:sp>
      <p:pic>
        <p:nvPicPr>
          <p:cNvPr id="7" name="Picture 6"/>
          <p:cNvPicPr>
            <a:picLocks noChangeAspect="1"/>
          </p:cNvPicPr>
          <p:nvPr/>
        </p:nvPicPr>
        <p:blipFill>
          <a:blip r:embed="rId3"/>
          <a:stretch>
            <a:fillRect/>
          </a:stretch>
        </p:blipFill>
        <p:spPr>
          <a:xfrm>
            <a:off x="5738274" y="1159220"/>
            <a:ext cx="5229460" cy="4959149"/>
          </a:xfrm>
          <a:prstGeom prst="rect">
            <a:avLst/>
          </a:prstGeom>
        </p:spPr>
      </p:pic>
      <p:grpSp>
        <p:nvGrpSpPr>
          <p:cNvPr id="10" name="Group 9"/>
          <p:cNvGrpSpPr/>
          <p:nvPr/>
        </p:nvGrpSpPr>
        <p:grpSpPr>
          <a:xfrm>
            <a:off x="1252758" y="1748992"/>
            <a:ext cx="3873836" cy="3922967"/>
            <a:chOff x="476250" y="1445126"/>
            <a:chExt cx="2372381" cy="2303108"/>
          </a:xfrm>
        </p:grpSpPr>
        <p:pic>
          <p:nvPicPr>
            <p:cNvPr id="8" name="Picture 7"/>
            <p:cNvPicPr>
              <a:picLocks noChangeAspect="1"/>
            </p:cNvPicPr>
            <p:nvPr/>
          </p:nvPicPr>
          <p:blipFill>
            <a:blip r:embed="rId4"/>
            <a:stretch>
              <a:fillRect/>
            </a:stretch>
          </p:blipFill>
          <p:spPr>
            <a:xfrm>
              <a:off x="476250" y="1445126"/>
              <a:ext cx="2372381" cy="1993565"/>
            </a:xfrm>
            <a:prstGeom prst="rect">
              <a:avLst/>
            </a:prstGeom>
            <a:ln w="19050">
              <a:solidFill>
                <a:schemeClr val="tx1"/>
              </a:solidFill>
              <a:prstDash val="dash"/>
            </a:ln>
          </p:spPr>
        </p:pic>
        <p:sp>
          <p:nvSpPr>
            <p:cNvPr id="9" name="TextBox 8"/>
            <p:cNvSpPr txBox="1"/>
            <p:nvPr/>
          </p:nvSpPr>
          <p:spPr>
            <a:xfrm>
              <a:off x="1095586" y="3531405"/>
              <a:ext cx="694296" cy="216829"/>
            </a:xfrm>
            <a:prstGeom prst="rect">
              <a:avLst/>
            </a:prstGeom>
            <a:noFill/>
          </p:spPr>
          <p:txBody>
            <a:bodyPr wrap="none" rtlCol="0">
              <a:spAutoFit/>
            </a:bodyPr>
            <a:lstStyle/>
            <a:p>
              <a:r>
                <a:rPr lang="en-US" dirty="0"/>
                <a:t>1-bit ALU</a:t>
              </a:r>
            </a:p>
          </p:txBody>
        </p:sp>
      </p:grpSp>
      <p:sp>
        <p:nvSpPr>
          <p:cNvPr id="3"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Multiplication</a:t>
            </a:r>
          </a:p>
        </p:txBody>
      </p:sp>
      <p:sp>
        <p:nvSpPr>
          <p:cNvPr id="3" name="Content Placeholder 2"/>
          <p:cNvSpPr>
            <a:spLocks noGrp="1"/>
          </p:cNvSpPr>
          <p:nvPr>
            <p:ph idx="1"/>
          </p:nvPr>
        </p:nvSpPr>
        <p:spPr>
          <a:xfrm>
            <a:off x="1364611" y="1152089"/>
            <a:ext cx="8674741" cy="4753761"/>
          </a:xfrm>
        </p:spPr>
        <p:txBody>
          <a:bodyPr>
            <a:normAutofit fontScale="92500" lnSpcReduction="20000"/>
          </a:bodyPr>
          <a:lstStyle/>
          <a:p>
            <a:r>
              <a:rPr lang="en-US" sz="2667" dirty="0"/>
              <a:t>More complicated than addition</a:t>
            </a:r>
          </a:p>
          <a:p>
            <a:pPr lvl="1"/>
            <a:r>
              <a:rPr lang="en-US" sz="2133" dirty="0"/>
              <a:t>Can be accomplished via </a:t>
            </a:r>
            <a:r>
              <a:rPr lang="en-US" sz="2133" b="1" dirty="0">
                <a:solidFill>
                  <a:schemeClr val="accent1"/>
                </a:solidFill>
              </a:rPr>
              <a:t>shifting</a:t>
            </a:r>
            <a:r>
              <a:rPr lang="en-US" sz="2133" dirty="0">
                <a:solidFill>
                  <a:schemeClr val="accent1"/>
                </a:solidFill>
              </a:rPr>
              <a:t> </a:t>
            </a:r>
            <a:r>
              <a:rPr lang="en-US" sz="2133" dirty="0"/>
              <a:t>and </a:t>
            </a:r>
            <a:r>
              <a:rPr lang="en-US" sz="2133" b="1" dirty="0">
                <a:solidFill>
                  <a:schemeClr val="accent1"/>
                </a:solidFill>
              </a:rPr>
              <a:t>adding</a:t>
            </a: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dirty="0"/>
          </a:p>
          <a:p>
            <a:r>
              <a:rPr lang="en-US" sz="2667" b="1" dirty="0">
                <a:solidFill>
                  <a:schemeClr val="accent1"/>
                </a:solidFill>
              </a:rPr>
              <a:t>Double precision</a:t>
            </a:r>
            <a:r>
              <a:rPr lang="en-US" sz="2667" dirty="0"/>
              <a:t> product is produced</a:t>
            </a:r>
          </a:p>
          <a:p>
            <a:r>
              <a:rPr lang="en-US" sz="2667" dirty="0"/>
              <a:t>More time and more area are required</a:t>
            </a:r>
          </a:p>
        </p:txBody>
      </p:sp>
      <p:grpSp>
        <p:nvGrpSpPr>
          <p:cNvPr id="11" name="Group 10"/>
          <p:cNvGrpSpPr/>
          <p:nvPr/>
        </p:nvGrpSpPr>
        <p:grpSpPr>
          <a:xfrm>
            <a:off x="3619698" y="2217092"/>
            <a:ext cx="2202927" cy="2389950"/>
            <a:chOff x="2095697" y="2499118"/>
            <a:chExt cx="2202926" cy="2389950"/>
          </a:xfrm>
        </p:grpSpPr>
        <p:sp>
          <p:nvSpPr>
            <p:cNvPr id="6" name="TextBox 5"/>
            <p:cNvSpPr txBox="1"/>
            <p:nvPr/>
          </p:nvSpPr>
          <p:spPr>
            <a:xfrm>
              <a:off x="2095697" y="2499118"/>
              <a:ext cx="2064470" cy="2389950"/>
            </a:xfrm>
            <a:prstGeom prst="rect">
              <a:avLst/>
            </a:prstGeom>
            <a:noFill/>
          </p:spPr>
          <p:txBody>
            <a:bodyPr wrap="square" rtlCol="0">
              <a:spAutoFit/>
            </a:bodyPr>
            <a:lstStyle/>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rPr>
                <a:t>0010</a:t>
              </a: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rPr>
                <a:t>×       1011</a:t>
              </a: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rPr>
                <a:t>0010</a:t>
              </a: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rPr>
                <a:t>0010</a:t>
              </a:r>
              <a:r>
                <a:rPr lang="en-US" sz="2133"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0</a:t>
              </a:r>
              <a:endParaRPr lang="en-US" sz="2133"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endParaRP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0000</a:t>
              </a:r>
              <a:r>
                <a:rPr lang="en-US" sz="2133"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a:t>
              </a: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0010</a:t>
              </a:r>
              <a:r>
                <a:rPr lang="en-US" sz="2133"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000</a:t>
              </a: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00010110</a:t>
              </a:r>
              <a:endParaRPr lang="en-US" sz="2133"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cxnSp>
          <p:nvCxnSpPr>
            <p:cNvPr id="7" name="Straight Connector 6"/>
            <p:cNvCxnSpPr/>
            <p:nvPr/>
          </p:nvCxnSpPr>
          <p:spPr>
            <a:xfrm>
              <a:off x="2479249" y="3271101"/>
              <a:ext cx="18193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479249" y="4769963"/>
              <a:ext cx="18193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6454221" y="2187796"/>
            <a:ext cx="1975221" cy="420564"/>
          </a:xfrm>
          <a:prstGeom prst="rect">
            <a:avLst/>
          </a:prstGeom>
          <a:noFill/>
        </p:spPr>
        <p:txBody>
          <a:bodyPr wrap="none" rtlCol="0">
            <a:spAutoFit/>
          </a:bodyPr>
          <a:lstStyle/>
          <a:p>
            <a:r>
              <a:rPr lang="en-US" sz="2133" dirty="0"/>
              <a:t>(</a:t>
            </a:r>
            <a:r>
              <a:rPr lang="en-US" sz="2133" b="1" dirty="0">
                <a:solidFill>
                  <a:schemeClr val="accent1"/>
                </a:solidFill>
              </a:rPr>
              <a:t>multiplicand</a:t>
            </a:r>
            <a:r>
              <a:rPr lang="en-US" sz="2133" dirty="0"/>
              <a:t>)</a:t>
            </a:r>
          </a:p>
        </p:txBody>
      </p:sp>
      <p:sp>
        <p:nvSpPr>
          <p:cNvPr id="12" name="TextBox 11"/>
          <p:cNvSpPr txBox="1"/>
          <p:nvPr/>
        </p:nvSpPr>
        <p:spPr>
          <a:xfrm>
            <a:off x="6454219" y="2527409"/>
            <a:ext cx="1595309" cy="420564"/>
          </a:xfrm>
          <a:prstGeom prst="rect">
            <a:avLst/>
          </a:prstGeom>
          <a:noFill/>
        </p:spPr>
        <p:txBody>
          <a:bodyPr wrap="none" rtlCol="0">
            <a:spAutoFit/>
          </a:bodyPr>
          <a:lstStyle/>
          <a:p>
            <a:r>
              <a:rPr lang="en-US" sz="2133" dirty="0"/>
              <a:t>(</a:t>
            </a:r>
            <a:r>
              <a:rPr lang="en-US" sz="2133" b="1" dirty="0">
                <a:solidFill>
                  <a:schemeClr val="accent1"/>
                </a:solidFill>
              </a:rPr>
              <a:t>multiplier</a:t>
            </a:r>
            <a:r>
              <a:rPr lang="en-US" sz="2133" dirty="0"/>
              <a:t>)</a:t>
            </a:r>
          </a:p>
        </p:txBody>
      </p:sp>
      <p:sp>
        <p:nvSpPr>
          <p:cNvPr id="13" name="TextBox 12"/>
          <p:cNvSpPr txBox="1"/>
          <p:nvPr/>
        </p:nvSpPr>
        <p:spPr>
          <a:xfrm>
            <a:off x="6454219" y="3496859"/>
            <a:ext cx="3021981" cy="420564"/>
          </a:xfrm>
          <a:prstGeom prst="rect">
            <a:avLst/>
          </a:prstGeom>
          <a:noFill/>
        </p:spPr>
        <p:txBody>
          <a:bodyPr wrap="none" rtlCol="0">
            <a:spAutoFit/>
          </a:bodyPr>
          <a:lstStyle/>
          <a:p>
            <a:r>
              <a:rPr lang="en-US" sz="2133" dirty="0"/>
              <a:t>(</a:t>
            </a:r>
            <a:r>
              <a:rPr lang="en-US" sz="2133" b="1" dirty="0">
                <a:solidFill>
                  <a:schemeClr val="accent1"/>
                </a:solidFill>
              </a:rPr>
              <a:t>partial product array</a:t>
            </a:r>
            <a:r>
              <a:rPr lang="en-US" sz="2133" dirty="0"/>
              <a:t>)</a:t>
            </a:r>
          </a:p>
        </p:txBody>
      </p:sp>
      <p:sp>
        <p:nvSpPr>
          <p:cNvPr id="14" name="TextBox 13"/>
          <p:cNvSpPr txBox="1"/>
          <p:nvPr/>
        </p:nvSpPr>
        <p:spPr>
          <a:xfrm>
            <a:off x="6454219" y="4175821"/>
            <a:ext cx="1383712" cy="420564"/>
          </a:xfrm>
          <a:prstGeom prst="rect">
            <a:avLst/>
          </a:prstGeom>
          <a:noFill/>
        </p:spPr>
        <p:txBody>
          <a:bodyPr wrap="none" rtlCol="0">
            <a:spAutoFit/>
          </a:bodyPr>
          <a:lstStyle/>
          <a:p>
            <a:r>
              <a:rPr lang="en-US" sz="2133" dirty="0"/>
              <a:t>(</a:t>
            </a:r>
            <a:r>
              <a:rPr lang="en-US" sz="2133" b="1" dirty="0">
                <a:solidFill>
                  <a:schemeClr val="accent1"/>
                </a:solidFill>
              </a:rPr>
              <a:t>product</a:t>
            </a:r>
            <a:r>
              <a:rPr lang="en-US" sz="2133" dirty="0"/>
              <a:t>)</a:t>
            </a:r>
          </a:p>
        </p:txBody>
      </p:sp>
      <p:sp>
        <p:nvSpPr>
          <p:cNvPr id="8" name="灯片编号占位符 7"/>
          <p:cNvSpPr>
            <a:spLocks noGrp="1"/>
          </p:cNvSpPr>
          <p:nvPr>
            <p:ph type="sldNum" sz="quarter" idx="10"/>
          </p:nvPr>
        </p:nvSpPr>
        <p:spPr/>
        <p:txBody>
          <a:bodyPr/>
          <a:lstStyle/>
          <a:p>
            <a:fld id="{D9B6BDF2-6896-4B98-8776-C18582F63BA5}" type="slidenum">
              <a:rPr lang="zh-TW" altLang="en-US" smtClean="0"/>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Multiplication Hardware (1</a:t>
            </a:r>
            <a:r>
              <a:rPr lang="en-US" baseline="30000" dirty="0">
                <a:sym typeface="+mn-ea"/>
              </a:rPr>
              <a:t>st</a:t>
            </a:r>
            <a:r>
              <a:rPr lang="en-US" dirty="0">
                <a:sym typeface="+mn-ea"/>
              </a:rPr>
              <a:t> Version)</a:t>
            </a:r>
            <a:endParaRPr lang="en-US" dirty="0"/>
          </a:p>
        </p:txBody>
      </p:sp>
      <p:pic>
        <p:nvPicPr>
          <p:cNvPr id="9" name="Picture 8"/>
          <p:cNvPicPr>
            <a:picLocks noChangeAspect="1"/>
          </p:cNvPicPr>
          <p:nvPr/>
        </p:nvPicPr>
        <p:blipFill>
          <a:blip r:embed="rId2">
            <a:clrChange>
              <a:clrFrom>
                <a:srgbClr val="FFFFFF"/>
              </a:clrFrom>
              <a:clrTo>
                <a:srgbClr val="FFFFFF">
                  <a:alpha val="0"/>
                </a:srgbClr>
              </a:clrTo>
            </a:clrChange>
          </a:blip>
          <a:stretch>
            <a:fillRect/>
          </a:stretch>
        </p:blipFill>
        <p:spPr>
          <a:xfrm>
            <a:off x="6845355" y="1075796"/>
            <a:ext cx="4200971" cy="5508264"/>
          </a:xfrm>
          <a:prstGeom prst="rect">
            <a:avLst/>
          </a:prstGeom>
        </p:spPr>
      </p:pic>
      <p:pic>
        <p:nvPicPr>
          <p:cNvPr id="10" name="Picture 9"/>
          <p:cNvPicPr>
            <a:picLocks noChangeAspect="1"/>
          </p:cNvPicPr>
          <p:nvPr/>
        </p:nvPicPr>
        <p:blipFill>
          <a:blip r:embed="rId3"/>
          <a:stretch>
            <a:fillRect/>
          </a:stretch>
        </p:blipFill>
        <p:spPr>
          <a:xfrm>
            <a:off x="290819" y="2104166"/>
            <a:ext cx="5687784" cy="3264788"/>
          </a:xfrm>
          <a:prstGeom prst="rect">
            <a:avLst/>
          </a:prstGeom>
          <a:ln w="19050">
            <a:solidFill>
              <a:schemeClr val="tx1"/>
            </a:solidFill>
            <a:prstDash val="sysDot"/>
          </a:ln>
        </p:spPr>
      </p:pic>
      <p:sp>
        <p:nvSpPr>
          <p:cNvPr id="3" name="灯片编号占位符 2"/>
          <p:cNvSpPr>
            <a:spLocks noGrp="1"/>
          </p:cNvSpPr>
          <p:nvPr>
            <p:ph type="sldNum" sz="quarter" idx="10"/>
          </p:nvPr>
        </p:nvSpPr>
        <p:spPr/>
        <p:txBody>
          <a:bodyPr/>
          <a:lstStyle/>
          <a:p>
            <a:fld id="{D9B6BDF2-6896-4B98-8776-C18582F63BA5}" type="slidenum">
              <a:rPr lang="zh-TW" altLang="en-US" smtClean="0"/>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3810" y="2323576"/>
            <a:ext cx="6852191" cy="3784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60420" name="Rectangle 4"/>
          <p:cNvSpPr>
            <a:spLocks noGrp="1" noChangeArrowheads="1"/>
          </p:cNvSpPr>
          <p:nvPr>
            <p:ph type="body" idx="1"/>
          </p:nvPr>
        </p:nvSpPr>
        <p:spPr>
          <a:xfrm>
            <a:off x="1364609" y="1091982"/>
            <a:ext cx="9205520" cy="865449"/>
          </a:xfrm>
        </p:spPr>
        <p:txBody>
          <a:bodyPr/>
          <a:lstStyle/>
          <a:p>
            <a:r>
              <a:rPr lang="zh-TW" altLang="en-US" sz="2667" dirty="0"/>
              <a:t>32-</a:t>
            </a:r>
            <a:r>
              <a:rPr lang="en-US" altLang="zh-TW" sz="2667" dirty="0"/>
              <a:t>bit Multiplicand register, 32 -bit ALU, 64-bit Product register, (</a:t>
            </a:r>
            <a:r>
              <a:rPr lang="en-US" altLang="zh-TW" sz="2667" dirty="0">
                <a:solidFill>
                  <a:srgbClr val="FF0000"/>
                </a:solidFill>
              </a:rPr>
              <a:t>0</a:t>
            </a:r>
            <a:r>
              <a:rPr lang="en-US" altLang="zh-TW" sz="2667" dirty="0"/>
              <a:t>-bit Multiplier register)</a:t>
            </a:r>
          </a:p>
        </p:txBody>
      </p:sp>
      <p:sp>
        <p:nvSpPr>
          <p:cNvPr id="8" name="Title 1"/>
          <p:cNvSpPr>
            <a:spLocks noGrp="1"/>
          </p:cNvSpPr>
          <p:nvPr>
            <p:ph type="title"/>
          </p:nvPr>
        </p:nvSpPr>
        <p:spPr>
          <a:xfrm>
            <a:off x="1296786" y="144466"/>
            <a:ext cx="10270801" cy="692151"/>
          </a:xfrm>
        </p:spPr>
        <p:txBody>
          <a:bodyPr>
            <a:normAutofit fontScale="90000"/>
          </a:bodyPr>
          <a:lstStyle/>
          <a:p>
            <a:r>
              <a:rPr lang="en-US" dirty="0"/>
              <a:t>Multiplication Hardware (</a:t>
            </a:r>
            <a:r>
              <a:rPr lang="en-US" altLang="zh-CN" dirty="0"/>
              <a:t>2</a:t>
            </a:r>
            <a:r>
              <a:rPr lang="en-US" baseline="30000" dirty="0"/>
              <a:t>nd</a:t>
            </a:r>
            <a:r>
              <a:rPr lang="en-US" dirty="0"/>
              <a:t> Version)</a:t>
            </a:r>
          </a:p>
        </p:txBody>
      </p:sp>
      <p:sp>
        <p:nvSpPr>
          <p:cNvPr id="9"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96786" y="144466"/>
            <a:ext cx="10270801" cy="692151"/>
          </a:xfrm>
        </p:spPr>
        <p:txBody>
          <a:bodyPr>
            <a:normAutofit fontScale="90000"/>
          </a:bodyPr>
          <a:lstStyle/>
          <a:p>
            <a:r>
              <a:rPr lang="en-US" dirty="0"/>
              <a:t>Multiplication Hardware (</a:t>
            </a:r>
            <a:r>
              <a:rPr lang="en-US" altLang="zh-CN" dirty="0"/>
              <a:t>2</a:t>
            </a:r>
            <a:r>
              <a:rPr lang="en-US" baseline="30000" dirty="0"/>
              <a:t>nd</a:t>
            </a:r>
            <a:r>
              <a:rPr lang="en-US" dirty="0"/>
              <a:t> Version)</a:t>
            </a:r>
          </a:p>
        </p:txBody>
      </p:sp>
      <p:sp>
        <p:nvSpPr>
          <p:cNvPr id="9" name="Rectangle 3"/>
          <p:cNvSpPr txBox="1">
            <a:spLocks noChangeArrowheads="1"/>
          </p:cNvSpPr>
          <p:nvPr/>
        </p:nvSpPr>
        <p:spPr bwMode="auto">
          <a:xfrm>
            <a:off x="469784" y="1812022"/>
            <a:ext cx="4608352" cy="4149753"/>
          </a:xfrm>
          <a:prstGeom prst="rect">
            <a:avLst/>
          </a:prstGeom>
          <a:noFill/>
          <a:ln w="9525">
            <a:noFill/>
            <a:miter lim="800000"/>
          </a:ln>
        </p:spPr>
        <p:txBody>
          <a:bodyPr vert="horz" wrap="square" lIns="92075" tIns="46039" rIns="92075" bIns="46039"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203195" indent="-203195">
              <a:lnSpc>
                <a:spcPct val="80000"/>
              </a:lnSpc>
              <a:buNone/>
              <a:tabLst>
                <a:tab pos="1085400" algn="l"/>
                <a:tab pos="1428291" algn="l"/>
              </a:tabLst>
            </a:pPr>
            <a:r>
              <a:rPr lang="zh-TW" altLang="en-US" sz="2667" b="1" kern="0" dirty="0"/>
              <a:t>0010 </a:t>
            </a:r>
            <a:r>
              <a:rPr lang="en-US" altLang="zh-TW" sz="2667" b="1" kern="0" dirty="0"/>
              <a:t>x 0011</a:t>
            </a:r>
          </a:p>
          <a:p>
            <a:pPr marL="203195" indent="-203195">
              <a:buNone/>
              <a:tabLst>
                <a:tab pos="1085400" algn="l"/>
                <a:tab pos="1428291" algn="l"/>
              </a:tabLst>
            </a:pPr>
            <a:r>
              <a:rPr lang="en-US" altLang="zh-TW" sz="2667" b="1" kern="0" dirty="0"/>
              <a:t>Multiplicand	   Product</a:t>
            </a:r>
            <a:br>
              <a:rPr lang="en-US" altLang="zh-TW" sz="2667" b="1" kern="0" dirty="0"/>
            </a:br>
            <a:r>
              <a:rPr lang="en-US" altLang="zh-TW" sz="2667" b="1" kern="0" dirty="0">
                <a:latin typeface="Courier New" panose="02070309020205020404" pitchFamily="49" charset="0"/>
              </a:rPr>
              <a:t>0010			0000 </a:t>
            </a:r>
            <a:r>
              <a:rPr lang="en-US" altLang="zh-TW" sz="2667" b="1" kern="0" dirty="0">
                <a:solidFill>
                  <a:srgbClr val="008000"/>
                </a:solidFill>
                <a:latin typeface="Courier New" panose="02070309020205020404" pitchFamily="49" charset="0"/>
              </a:rPr>
              <a:t>001</a:t>
            </a:r>
            <a:r>
              <a:rPr lang="en-US" altLang="zh-TW" sz="2667" b="1" u="sng" kern="0" dirty="0">
                <a:solidFill>
                  <a:srgbClr val="008000"/>
                </a:solidFill>
                <a:latin typeface="Courier New" panose="02070309020205020404" pitchFamily="49" charset="0"/>
              </a:rPr>
              <a:t>1</a:t>
            </a:r>
          </a:p>
          <a:p>
            <a:pPr marL="203195" indent="-203195">
              <a:lnSpc>
                <a:spcPct val="80000"/>
              </a:lnSpc>
              <a:buNone/>
              <a:tabLst>
                <a:tab pos="1085400" algn="l"/>
                <a:tab pos="1428291" algn="l"/>
              </a:tabLst>
            </a:pPr>
            <a:r>
              <a:rPr lang="en-US" altLang="zh-TW" sz="2667" b="1" kern="0" dirty="0">
                <a:latin typeface="Courier New" panose="02070309020205020404" pitchFamily="49" charset="0"/>
              </a:rPr>
              <a:t>				</a:t>
            </a:r>
            <a:r>
              <a:rPr lang="en-US" altLang="zh-TW" sz="2667" b="1" kern="0" dirty="0">
                <a:solidFill>
                  <a:schemeClr val="folHlink"/>
                </a:solidFill>
                <a:latin typeface="Courier New" panose="02070309020205020404" pitchFamily="49" charset="0"/>
              </a:rPr>
              <a:t>0010</a:t>
            </a:r>
            <a:r>
              <a:rPr lang="en-US" altLang="zh-TW" sz="2667" b="1" kern="0" dirty="0">
                <a:latin typeface="Courier New" panose="02070309020205020404" pitchFamily="49" charset="0"/>
              </a:rPr>
              <a:t> </a:t>
            </a:r>
            <a:r>
              <a:rPr lang="en-US" altLang="zh-TW" sz="2667" b="1" kern="0" dirty="0">
                <a:solidFill>
                  <a:srgbClr val="008000"/>
                </a:solidFill>
                <a:latin typeface="Courier New" panose="02070309020205020404" pitchFamily="49" charset="0"/>
              </a:rPr>
              <a:t>0011</a:t>
            </a:r>
          </a:p>
          <a:p>
            <a:pPr marL="203195" indent="-203195">
              <a:lnSpc>
                <a:spcPct val="80000"/>
              </a:lnSpc>
              <a:buNone/>
              <a:tabLst>
                <a:tab pos="1085400" algn="l"/>
                <a:tab pos="1428291" algn="l"/>
              </a:tabLst>
            </a:pPr>
            <a:r>
              <a:rPr lang="en-US" altLang="zh-TW" sz="2667" b="1" kern="0" dirty="0">
                <a:latin typeface="Courier New" panose="02070309020205020404" pitchFamily="49" charset="0"/>
              </a:rPr>
              <a:t>	0010			</a:t>
            </a:r>
            <a:r>
              <a:rPr lang="en-US" altLang="zh-TW" sz="2667" b="1" kern="0" dirty="0">
                <a:solidFill>
                  <a:schemeClr val="folHlink"/>
                </a:solidFill>
                <a:latin typeface="Courier New" panose="02070309020205020404" pitchFamily="49" charset="0"/>
              </a:rPr>
              <a:t>0001</a:t>
            </a:r>
            <a:r>
              <a:rPr lang="en-US" altLang="zh-TW" sz="2667" b="1" kern="0" dirty="0">
                <a:latin typeface="Courier New" panose="02070309020205020404" pitchFamily="49" charset="0"/>
              </a:rPr>
              <a:t> </a:t>
            </a:r>
            <a:r>
              <a:rPr lang="en-US" altLang="zh-TW" sz="2667" b="1" kern="0" dirty="0">
                <a:solidFill>
                  <a:schemeClr val="folHlink"/>
                </a:solidFill>
                <a:latin typeface="Courier New" panose="02070309020205020404" pitchFamily="49" charset="0"/>
              </a:rPr>
              <a:t>0</a:t>
            </a:r>
            <a:r>
              <a:rPr lang="en-US" altLang="zh-TW" sz="2667" b="1" kern="0" dirty="0">
                <a:solidFill>
                  <a:srgbClr val="008000"/>
                </a:solidFill>
                <a:latin typeface="Courier New" panose="02070309020205020404" pitchFamily="49" charset="0"/>
              </a:rPr>
              <a:t>00</a:t>
            </a:r>
            <a:r>
              <a:rPr lang="en-US" altLang="zh-TW" sz="2667" b="1" u="sng" kern="0" dirty="0">
                <a:solidFill>
                  <a:srgbClr val="008000"/>
                </a:solidFill>
                <a:latin typeface="Courier New" panose="02070309020205020404" pitchFamily="49" charset="0"/>
              </a:rPr>
              <a:t>1</a:t>
            </a:r>
          </a:p>
          <a:p>
            <a:pPr marL="203195" indent="-203195">
              <a:lnSpc>
                <a:spcPct val="80000"/>
              </a:lnSpc>
              <a:buNone/>
              <a:tabLst>
                <a:tab pos="1085400" algn="l"/>
                <a:tab pos="1428291" algn="l"/>
              </a:tabLst>
            </a:pPr>
            <a:r>
              <a:rPr lang="en-US" altLang="zh-TW" sz="2667" b="1" kern="0" dirty="0">
                <a:latin typeface="Courier New" panose="02070309020205020404" pitchFamily="49" charset="0"/>
              </a:rPr>
              <a:t>				</a:t>
            </a:r>
            <a:r>
              <a:rPr lang="en-US" altLang="zh-TW" sz="2667" b="1" kern="0" dirty="0">
                <a:solidFill>
                  <a:schemeClr val="folHlink"/>
                </a:solidFill>
                <a:latin typeface="Courier New" panose="02070309020205020404" pitchFamily="49" charset="0"/>
              </a:rPr>
              <a:t>0011</a:t>
            </a:r>
            <a:r>
              <a:rPr lang="en-US" altLang="zh-TW" sz="2667" b="1" kern="0" dirty="0">
                <a:latin typeface="Courier New" panose="02070309020205020404" pitchFamily="49" charset="0"/>
              </a:rPr>
              <a:t> </a:t>
            </a:r>
            <a:r>
              <a:rPr lang="en-US" altLang="zh-TW" sz="2667" b="1" kern="0" dirty="0">
                <a:solidFill>
                  <a:schemeClr val="folHlink"/>
                </a:solidFill>
                <a:latin typeface="Courier New" panose="02070309020205020404" pitchFamily="49" charset="0"/>
              </a:rPr>
              <a:t>0</a:t>
            </a:r>
            <a:r>
              <a:rPr lang="en-US" altLang="zh-TW" sz="2667" b="1" kern="0" dirty="0">
                <a:solidFill>
                  <a:srgbClr val="008000"/>
                </a:solidFill>
                <a:latin typeface="Courier New" panose="02070309020205020404" pitchFamily="49" charset="0"/>
              </a:rPr>
              <a:t>001</a:t>
            </a:r>
          </a:p>
          <a:p>
            <a:pPr marL="203195" indent="-203195">
              <a:lnSpc>
                <a:spcPct val="80000"/>
              </a:lnSpc>
              <a:buNone/>
              <a:tabLst>
                <a:tab pos="1085400" algn="l"/>
                <a:tab pos="1428291" algn="l"/>
              </a:tabLst>
            </a:pPr>
            <a:r>
              <a:rPr lang="en-US" altLang="zh-TW" sz="2667" b="1" kern="0" dirty="0">
                <a:latin typeface="Courier New" panose="02070309020205020404" pitchFamily="49" charset="0"/>
              </a:rPr>
              <a:t>	0010			</a:t>
            </a:r>
            <a:r>
              <a:rPr lang="en-US" altLang="zh-TW" sz="2667" b="1" kern="0" dirty="0">
                <a:solidFill>
                  <a:schemeClr val="folHlink"/>
                </a:solidFill>
                <a:latin typeface="Courier New" panose="02070309020205020404" pitchFamily="49" charset="0"/>
              </a:rPr>
              <a:t>0001</a:t>
            </a:r>
            <a:r>
              <a:rPr lang="en-US" altLang="zh-TW" sz="2667" b="1" kern="0" dirty="0">
                <a:latin typeface="Courier New" panose="02070309020205020404" pitchFamily="49" charset="0"/>
              </a:rPr>
              <a:t> </a:t>
            </a:r>
            <a:r>
              <a:rPr lang="en-US" altLang="zh-TW" sz="2667" b="1" kern="0" dirty="0">
                <a:solidFill>
                  <a:schemeClr val="folHlink"/>
                </a:solidFill>
                <a:latin typeface="Courier New" panose="02070309020205020404" pitchFamily="49" charset="0"/>
              </a:rPr>
              <a:t>10</a:t>
            </a:r>
            <a:r>
              <a:rPr lang="en-US" altLang="zh-TW" sz="2667" b="1" kern="0" dirty="0">
                <a:solidFill>
                  <a:srgbClr val="008000"/>
                </a:solidFill>
                <a:latin typeface="Courier New" panose="02070309020205020404" pitchFamily="49" charset="0"/>
              </a:rPr>
              <a:t>0</a:t>
            </a:r>
            <a:r>
              <a:rPr lang="en-US" altLang="zh-TW" sz="2667" b="1" u="sng" kern="0" dirty="0">
                <a:solidFill>
                  <a:srgbClr val="008000"/>
                </a:solidFill>
                <a:latin typeface="Courier New" panose="02070309020205020404" pitchFamily="49" charset="0"/>
              </a:rPr>
              <a:t>0</a:t>
            </a:r>
          </a:p>
          <a:p>
            <a:pPr marL="203195" indent="-203195">
              <a:lnSpc>
                <a:spcPct val="80000"/>
              </a:lnSpc>
              <a:buNone/>
              <a:tabLst>
                <a:tab pos="1085400" algn="l"/>
                <a:tab pos="1428291" algn="l"/>
              </a:tabLst>
            </a:pPr>
            <a:r>
              <a:rPr lang="en-US" altLang="zh-TW" sz="2667" b="1" kern="0" dirty="0">
                <a:latin typeface="Courier New" panose="02070309020205020404" pitchFamily="49" charset="0"/>
              </a:rPr>
              <a:t>	0010			</a:t>
            </a:r>
            <a:r>
              <a:rPr lang="en-US" altLang="zh-TW" sz="2667" b="1" kern="0" dirty="0">
                <a:solidFill>
                  <a:schemeClr val="folHlink"/>
                </a:solidFill>
                <a:latin typeface="Courier New" panose="02070309020205020404" pitchFamily="49" charset="0"/>
              </a:rPr>
              <a:t>0000</a:t>
            </a:r>
            <a:r>
              <a:rPr lang="en-US" altLang="zh-TW" sz="2667" b="1" kern="0" dirty="0">
                <a:latin typeface="Courier New" panose="02070309020205020404" pitchFamily="49" charset="0"/>
              </a:rPr>
              <a:t> </a:t>
            </a:r>
            <a:r>
              <a:rPr lang="en-US" altLang="zh-TW" sz="2667" b="1" kern="0" dirty="0">
                <a:solidFill>
                  <a:schemeClr val="folHlink"/>
                </a:solidFill>
                <a:latin typeface="Courier New" panose="02070309020205020404" pitchFamily="49" charset="0"/>
              </a:rPr>
              <a:t>110</a:t>
            </a:r>
            <a:r>
              <a:rPr lang="en-US" altLang="zh-TW" sz="2667" b="1" u="sng" kern="0" dirty="0">
                <a:solidFill>
                  <a:srgbClr val="008000"/>
                </a:solidFill>
                <a:latin typeface="Courier New" panose="02070309020205020404" pitchFamily="49" charset="0"/>
              </a:rPr>
              <a:t>0</a:t>
            </a:r>
          </a:p>
          <a:p>
            <a:pPr marL="203195" indent="-203195">
              <a:lnSpc>
                <a:spcPct val="80000"/>
              </a:lnSpc>
              <a:buNone/>
              <a:tabLst>
                <a:tab pos="1085400" algn="l"/>
                <a:tab pos="1428291" algn="l"/>
              </a:tabLst>
            </a:pPr>
            <a:r>
              <a:rPr lang="en-US" altLang="zh-TW" sz="2667" b="1" kern="0" dirty="0">
                <a:latin typeface="Courier New" panose="02070309020205020404" pitchFamily="49" charset="0"/>
              </a:rPr>
              <a:t>	0010		</a:t>
            </a:r>
            <a:r>
              <a:rPr lang="en-US" altLang="zh-TW" sz="2667" b="1" kern="0" dirty="0">
                <a:solidFill>
                  <a:schemeClr val="accent1"/>
                </a:solidFill>
                <a:latin typeface="Courier New" panose="02070309020205020404" pitchFamily="49" charset="0"/>
              </a:rPr>
              <a:t>	0000 0110</a:t>
            </a:r>
          </a:p>
        </p:txBody>
      </p:sp>
      <p:grpSp>
        <p:nvGrpSpPr>
          <p:cNvPr id="5" name="组合 4"/>
          <p:cNvGrpSpPr/>
          <p:nvPr/>
        </p:nvGrpSpPr>
        <p:grpSpPr>
          <a:xfrm>
            <a:off x="5245915" y="1118529"/>
            <a:ext cx="6601146" cy="4993765"/>
            <a:chOff x="4085438" y="855675"/>
            <a:chExt cx="4950859" cy="3745324"/>
          </a:xfrm>
        </p:grpSpPr>
        <p:sp>
          <p:nvSpPr>
            <p:cNvPr id="23" name="Rectangle 22"/>
            <p:cNvSpPr>
              <a:spLocks noChangeArrowheads="1"/>
            </p:cNvSpPr>
            <p:nvPr/>
          </p:nvSpPr>
          <p:spPr bwMode="auto">
            <a:xfrm>
              <a:off x="4085438" y="2138151"/>
              <a:ext cx="3614897" cy="351466"/>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grpSp>
          <p:nvGrpSpPr>
            <p:cNvPr id="4" name="组合 3"/>
            <p:cNvGrpSpPr/>
            <p:nvPr/>
          </p:nvGrpSpPr>
          <p:grpSpPr>
            <a:xfrm>
              <a:off x="4108437" y="855675"/>
              <a:ext cx="4927860" cy="3745324"/>
              <a:chOff x="4108437" y="855675"/>
              <a:chExt cx="4927860" cy="3745324"/>
            </a:xfrm>
          </p:grpSpPr>
          <p:sp>
            <p:nvSpPr>
              <p:cNvPr id="11" name="Rectangle 21"/>
              <p:cNvSpPr>
                <a:spLocks noChangeArrowheads="1"/>
              </p:cNvSpPr>
              <p:nvPr/>
            </p:nvSpPr>
            <p:spPr bwMode="auto">
              <a:xfrm>
                <a:off x="4108437" y="2138151"/>
                <a:ext cx="2727237" cy="346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200" b="1" dirty="0">
                    <a:latin typeface="Arial" panose="020B0604020202020204" pitchFamily="34" charset="0"/>
                  </a:rPr>
                  <a:t>1</a:t>
                </a:r>
                <a:r>
                  <a:rPr kumimoji="1" lang="en-US" altLang="zh-TW" sz="1200" b="1" dirty="0">
                    <a:latin typeface="Arial" panose="020B0604020202020204" pitchFamily="34" charset="0"/>
                  </a:rPr>
                  <a:t>a. Add multiplicand to left half of product and </a:t>
                </a:r>
              </a:p>
              <a:p>
                <a:r>
                  <a:rPr kumimoji="1" lang="en-US" altLang="zh-TW" sz="1200" b="1" dirty="0">
                    <a:latin typeface="Arial" panose="020B0604020202020204" pitchFamily="34" charset="0"/>
                  </a:rPr>
                  <a:t>place the result in left half of Product register</a:t>
                </a:r>
              </a:p>
            </p:txBody>
          </p:sp>
          <p:sp>
            <p:nvSpPr>
              <p:cNvPr id="13" name="Rectangle 25"/>
              <p:cNvSpPr>
                <a:spLocks noChangeArrowheads="1"/>
              </p:cNvSpPr>
              <p:nvPr/>
            </p:nvSpPr>
            <p:spPr bwMode="auto">
              <a:xfrm>
                <a:off x="6743862" y="3786114"/>
                <a:ext cx="736981" cy="319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lnSpc>
                    <a:spcPct val="90000"/>
                  </a:lnSpc>
                </a:pPr>
                <a:r>
                  <a:rPr kumimoji="1" lang="zh-TW" altLang="en-US" sz="1200" b="1">
                    <a:solidFill>
                      <a:srgbClr val="000000"/>
                    </a:solidFill>
                    <a:latin typeface="Arial" panose="020B0604020202020204" pitchFamily="34" charset="0"/>
                  </a:rPr>
                  <a:t>32</a:t>
                </a:r>
                <a:r>
                  <a:rPr kumimoji="1" lang="en-US" altLang="zh-TW" sz="1200" b="1">
                    <a:solidFill>
                      <a:srgbClr val="000000"/>
                    </a:solidFill>
                    <a:latin typeface="Arial" panose="020B0604020202020204" pitchFamily="34" charset="0"/>
                  </a:rPr>
                  <a:t>nd </a:t>
                </a:r>
              </a:p>
              <a:p>
                <a:pPr algn="ctr">
                  <a:lnSpc>
                    <a:spcPct val="90000"/>
                  </a:lnSpc>
                </a:pPr>
                <a:r>
                  <a:rPr kumimoji="1" lang="en-US" altLang="zh-TW" sz="1200" b="1">
                    <a:solidFill>
                      <a:srgbClr val="000000"/>
                    </a:solidFill>
                    <a:latin typeface="Arial" panose="020B0604020202020204" pitchFamily="34" charset="0"/>
                  </a:rPr>
                  <a:t>repetition?</a:t>
                </a:r>
              </a:p>
            </p:txBody>
          </p:sp>
          <p:sp>
            <p:nvSpPr>
              <p:cNvPr id="14" name="Rectangle 9"/>
              <p:cNvSpPr>
                <a:spLocks noChangeArrowheads="1"/>
              </p:cNvSpPr>
              <p:nvPr/>
            </p:nvSpPr>
            <p:spPr bwMode="auto">
              <a:xfrm>
                <a:off x="5785390" y="2919602"/>
                <a:ext cx="2008963" cy="20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200" b="1">
                    <a:latin typeface="Arial" panose="020B0604020202020204" pitchFamily="34" charset="0"/>
                  </a:rPr>
                  <a:t>2. </a:t>
                </a:r>
                <a:r>
                  <a:rPr kumimoji="1" lang="en-US" altLang="zh-TW" sz="1200" b="1">
                    <a:latin typeface="Arial" panose="020B0604020202020204" pitchFamily="34" charset="0"/>
                  </a:rPr>
                  <a:t>Shift Product register right 1 bit</a:t>
                </a:r>
              </a:p>
            </p:txBody>
          </p:sp>
          <p:sp>
            <p:nvSpPr>
              <p:cNvPr id="15" name="AutoShape 5"/>
              <p:cNvSpPr>
                <a:spLocks noChangeArrowheads="1"/>
              </p:cNvSpPr>
              <p:nvPr/>
            </p:nvSpPr>
            <p:spPr bwMode="auto">
              <a:xfrm>
                <a:off x="6784361" y="4427353"/>
                <a:ext cx="612983" cy="151429"/>
              </a:xfrm>
              <a:prstGeom prst="roundRect">
                <a:avLst>
                  <a:gd name="adj" fmla="val 43542"/>
                </a:avLst>
              </a:pr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16" name="Rectangle 6"/>
              <p:cNvSpPr>
                <a:spLocks noChangeArrowheads="1"/>
              </p:cNvSpPr>
              <p:nvPr/>
            </p:nvSpPr>
            <p:spPr bwMode="auto">
              <a:xfrm>
                <a:off x="6919357" y="4392767"/>
                <a:ext cx="428002" cy="20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a:solidFill>
                      <a:srgbClr val="000000"/>
                    </a:solidFill>
                    <a:latin typeface="Arial" panose="020B0604020202020204" pitchFamily="34" charset="0"/>
                  </a:rPr>
                  <a:t>Done</a:t>
                </a:r>
              </a:p>
            </p:txBody>
          </p:sp>
          <p:sp>
            <p:nvSpPr>
              <p:cNvPr id="17" name="Rectangle 7"/>
              <p:cNvSpPr>
                <a:spLocks noChangeArrowheads="1"/>
              </p:cNvSpPr>
              <p:nvPr/>
            </p:nvSpPr>
            <p:spPr bwMode="auto">
              <a:xfrm>
                <a:off x="7115351" y="4209555"/>
                <a:ext cx="1158634" cy="20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a:solidFill>
                      <a:srgbClr val="000000"/>
                    </a:solidFill>
                    <a:latin typeface="Arial" panose="020B0604020202020204" pitchFamily="34" charset="0"/>
                  </a:rPr>
                  <a:t>Yes: 32 repetitions</a:t>
                </a:r>
              </a:p>
            </p:txBody>
          </p:sp>
          <p:sp>
            <p:nvSpPr>
              <p:cNvPr id="18" name="Rectangle 10"/>
              <p:cNvSpPr>
                <a:spLocks noChangeArrowheads="1"/>
              </p:cNvSpPr>
              <p:nvPr/>
            </p:nvSpPr>
            <p:spPr bwMode="auto">
              <a:xfrm>
                <a:off x="5780390" y="2924275"/>
                <a:ext cx="2898918" cy="183211"/>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19" name="Rectangle 11"/>
              <p:cNvSpPr>
                <a:spLocks noChangeArrowheads="1"/>
              </p:cNvSpPr>
              <p:nvPr/>
            </p:nvSpPr>
            <p:spPr bwMode="auto">
              <a:xfrm>
                <a:off x="7475342" y="3798266"/>
                <a:ext cx="1214275" cy="20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a:solidFill>
                      <a:srgbClr val="000000"/>
                    </a:solidFill>
                    <a:latin typeface="Arial" panose="020B0604020202020204" pitchFamily="34" charset="0"/>
                  </a:rPr>
                  <a:t>No: &lt; 32 repetitions</a:t>
                </a:r>
              </a:p>
            </p:txBody>
          </p:sp>
          <p:grpSp>
            <p:nvGrpSpPr>
              <p:cNvPr id="20" name="Group 13"/>
              <p:cNvGrpSpPr/>
              <p:nvPr/>
            </p:nvGrpSpPr>
            <p:grpSpPr bwMode="auto">
              <a:xfrm>
                <a:off x="6771359" y="1401569"/>
                <a:ext cx="639220" cy="331837"/>
                <a:chOff x="3565" y="766"/>
                <a:chExt cx="590" cy="355"/>
              </a:xfrm>
            </p:grpSpPr>
            <p:sp>
              <p:nvSpPr>
                <p:cNvPr id="35" name="Rectangle 14"/>
                <p:cNvSpPr>
                  <a:spLocks noChangeArrowheads="1"/>
                </p:cNvSpPr>
                <p:nvPr/>
              </p:nvSpPr>
              <p:spPr bwMode="auto">
                <a:xfrm>
                  <a:off x="3565" y="766"/>
                  <a:ext cx="590"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nSpc>
                      <a:spcPct val="90000"/>
                    </a:lnSpc>
                  </a:pPr>
                  <a:r>
                    <a:rPr kumimoji="1" lang="zh-TW" altLang="en-US" sz="1200" b="1">
                      <a:solidFill>
                        <a:srgbClr val="000000"/>
                      </a:solidFill>
                      <a:latin typeface="Arial" panose="020B0604020202020204" pitchFamily="34" charset="0"/>
                    </a:rPr>
                    <a:t>1. </a:t>
                  </a:r>
                  <a:r>
                    <a:rPr kumimoji="1" lang="en-US" altLang="zh-TW" sz="1200" b="1">
                      <a:solidFill>
                        <a:srgbClr val="000000"/>
                      </a:solidFill>
                      <a:latin typeface="Arial" panose="020B0604020202020204" pitchFamily="34" charset="0"/>
                    </a:rPr>
                    <a:t>Test</a:t>
                  </a:r>
                </a:p>
                <a:p>
                  <a:pPr>
                    <a:lnSpc>
                      <a:spcPct val="90000"/>
                    </a:lnSpc>
                  </a:pPr>
                  <a:r>
                    <a:rPr kumimoji="1" lang="en-US" altLang="zh-TW" sz="1200" b="1" u="sng">
                      <a:solidFill>
                        <a:schemeClr val="accent1"/>
                      </a:solidFill>
                      <a:latin typeface="Arial" panose="020B0604020202020204" pitchFamily="34" charset="0"/>
                    </a:rPr>
                    <a:t>Product0</a:t>
                  </a:r>
                  <a:endParaRPr kumimoji="1" lang="en-US" altLang="zh-TW" sz="1200" b="1">
                    <a:solidFill>
                      <a:srgbClr val="000000"/>
                    </a:solidFill>
                    <a:latin typeface="Arial" panose="020B0604020202020204" pitchFamily="34" charset="0"/>
                  </a:endParaRPr>
                </a:p>
              </p:txBody>
            </p:sp>
            <p:grpSp>
              <p:nvGrpSpPr>
                <p:cNvPr id="36" name="Group 15"/>
                <p:cNvGrpSpPr/>
                <p:nvPr/>
              </p:nvGrpSpPr>
              <p:grpSpPr bwMode="auto">
                <a:xfrm>
                  <a:off x="3846" y="792"/>
                  <a:ext cx="182" cy="329"/>
                  <a:chOff x="3846" y="792"/>
                  <a:chExt cx="182" cy="329"/>
                </a:xfrm>
              </p:grpSpPr>
              <p:sp>
                <p:nvSpPr>
                  <p:cNvPr id="37" name="Rectangle 16"/>
                  <p:cNvSpPr>
                    <a:spLocks noChangeArrowheads="1"/>
                  </p:cNvSpPr>
                  <p:nvPr/>
                </p:nvSpPr>
                <p:spPr bwMode="auto">
                  <a:xfrm>
                    <a:off x="3846" y="792"/>
                    <a:ext cx="12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endParaRPr kumimoji="1" lang="zh-TW" altLang="en-US" sz="1200" b="1">
                      <a:solidFill>
                        <a:srgbClr val="000000"/>
                      </a:solidFill>
                      <a:latin typeface="Arial" panose="020B0604020202020204" pitchFamily="34" charset="0"/>
                    </a:endParaRPr>
                  </a:p>
                </p:txBody>
              </p:sp>
              <p:sp>
                <p:nvSpPr>
                  <p:cNvPr id="38" name="Rectangle 17"/>
                  <p:cNvSpPr>
                    <a:spLocks noChangeArrowheads="1"/>
                  </p:cNvSpPr>
                  <p:nvPr/>
                </p:nvSpPr>
                <p:spPr bwMode="auto">
                  <a:xfrm>
                    <a:off x="3899" y="898"/>
                    <a:ext cx="12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endParaRPr kumimoji="1" lang="zh-TW" altLang="en-US" sz="1200" b="1" u="sng">
                      <a:solidFill>
                        <a:schemeClr val="accent1"/>
                      </a:solidFill>
                      <a:latin typeface="Arial" panose="020B0604020202020204" pitchFamily="34" charset="0"/>
                    </a:endParaRPr>
                  </a:p>
                </p:txBody>
              </p:sp>
            </p:grpSp>
          </p:grpSp>
          <p:sp>
            <p:nvSpPr>
              <p:cNvPr id="21" name="Rectangle 18"/>
              <p:cNvSpPr>
                <a:spLocks noChangeArrowheads="1"/>
              </p:cNvSpPr>
              <p:nvPr/>
            </p:nvSpPr>
            <p:spPr bwMode="auto">
              <a:xfrm>
                <a:off x="7766333" y="1375395"/>
                <a:ext cx="835566" cy="20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u="sng">
                    <a:solidFill>
                      <a:schemeClr val="accent1"/>
                    </a:solidFill>
                    <a:latin typeface="Arial" panose="020B0604020202020204" pitchFamily="34" charset="0"/>
                  </a:rPr>
                  <a:t>Product0</a:t>
                </a:r>
                <a:r>
                  <a:rPr kumimoji="1" lang="en-US" altLang="zh-TW" sz="1200" b="1">
                    <a:solidFill>
                      <a:srgbClr val="000000"/>
                    </a:solidFill>
                    <a:latin typeface="Arial" panose="020B0604020202020204" pitchFamily="34" charset="0"/>
                  </a:rPr>
                  <a:t> = 0</a:t>
                </a:r>
              </a:p>
            </p:txBody>
          </p:sp>
          <p:sp>
            <p:nvSpPr>
              <p:cNvPr id="22" name="Rectangle 19"/>
              <p:cNvSpPr>
                <a:spLocks noChangeArrowheads="1"/>
              </p:cNvSpPr>
              <p:nvPr/>
            </p:nvSpPr>
            <p:spPr bwMode="auto">
              <a:xfrm>
                <a:off x="5508397" y="1358571"/>
                <a:ext cx="835566" cy="20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u="sng">
                    <a:solidFill>
                      <a:schemeClr val="accent1"/>
                    </a:solidFill>
                    <a:latin typeface="Arial" panose="020B0604020202020204" pitchFamily="34" charset="0"/>
                  </a:rPr>
                  <a:t>Product0</a:t>
                </a:r>
                <a:r>
                  <a:rPr kumimoji="1" lang="en-US" altLang="zh-TW" sz="1200" b="1">
                    <a:solidFill>
                      <a:srgbClr val="000000"/>
                    </a:solidFill>
                    <a:latin typeface="Arial" panose="020B0604020202020204" pitchFamily="34" charset="0"/>
                  </a:rPr>
                  <a:t> = 1</a:t>
                </a:r>
              </a:p>
            </p:txBody>
          </p:sp>
          <p:sp>
            <p:nvSpPr>
              <p:cNvPr id="24" name="AutoShape 26"/>
              <p:cNvSpPr>
                <a:spLocks noChangeArrowheads="1"/>
              </p:cNvSpPr>
              <p:nvPr/>
            </p:nvSpPr>
            <p:spPr bwMode="auto">
              <a:xfrm>
                <a:off x="6797361" y="864088"/>
                <a:ext cx="599983" cy="176668"/>
              </a:xfrm>
              <a:prstGeom prst="roundRect">
                <a:avLst>
                  <a:gd name="adj" fmla="val 43778"/>
                </a:avLst>
              </a:pr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25" name="Rectangle 27"/>
              <p:cNvSpPr>
                <a:spLocks noChangeArrowheads="1"/>
              </p:cNvSpPr>
              <p:nvPr/>
            </p:nvSpPr>
            <p:spPr bwMode="auto">
              <a:xfrm>
                <a:off x="6855359" y="855675"/>
                <a:ext cx="401552" cy="20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a:solidFill>
                      <a:srgbClr val="000000"/>
                    </a:solidFill>
                    <a:latin typeface="Arial" panose="020B0604020202020204" pitchFamily="34" charset="0"/>
                  </a:rPr>
                  <a:t>Start</a:t>
                </a:r>
              </a:p>
            </p:txBody>
          </p:sp>
          <p:sp>
            <p:nvSpPr>
              <p:cNvPr id="26" name="AutoShape 28"/>
              <p:cNvSpPr>
                <a:spLocks noChangeArrowheads="1"/>
              </p:cNvSpPr>
              <p:nvPr/>
            </p:nvSpPr>
            <p:spPr bwMode="auto">
              <a:xfrm>
                <a:off x="6455370" y="1293137"/>
                <a:ext cx="1334962" cy="583284"/>
              </a:xfrm>
              <a:prstGeom prst="diamond">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27" name="AutoShape 29"/>
              <p:cNvSpPr>
                <a:spLocks noChangeArrowheads="1"/>
              </p:cNvSpPr>
              <p:nvPr/>
            </p:nvSpPr>
            <p:spPr bwMode="auto">
              <a:xfrm>
                <a:off x="6535368" y="3745920"/>
                <a:ext cx="1115969" cy="503830"/>
              </a:xfrm>
              <a:prstGeom prst="diamond">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sz="1200"/>
              </a:p>
            </p:txBody>
          </p:sp>
          <p:sp>
            <p:nvSpPr>
              <p:cNvPr id="28" name="Freeform 30"/>
              <p:cNvSpPr/>
              <p:nvPr/>
            </p:nvSpPr>
            <p:spPr bwMode="auto">
              <a:xfrm>
                <a:off x="5556396" y="1595062"/>
                <a:ext cx="890975" cy="529068"/>
              </a:xfrm>
              <a:custGeom>
                <a:avLst/>
                <a:gdLst>
                  <a:gd name="T0" fmla="*/ 2147483647 w 822"/>
                  <a:gd name="T1" fmla="*/ 0 h 566"/>
                  <a:gd name="T2" fmla="*/ 0 w 822"/>
                  <a:gd name="T3" fmla="*/ 0 h 566"/>
                  <a:gd name="T4" fmla="*/ 0 w 822"/>
                  <a:gd name="T5" fmla="*/ 2147483647 h 566"/>
                  <a:gd name="T6" fmla="*/ 0 60000 65536"/>
                  <a:gd name="T7" fmla="*/ 0 60000 65536"/>
                  <a:gd name="T8" fmla="*/ 0 60000 65536"/>
                  <a:gd name="T9" fmla="*/ 0 w 822"/>
                  <a:gd name="T10" fmla="*/ 0 h 566"/>
                  <a:gd name="T11" fmla="*/ 822 w 822"/>
                  <a:gd name="T12" fmla="*/ 566 h 566"/>
                </a:gdLst>
                <a:ahLst/>
                <a:cxnLst>
                  <a:cxn ang="T6">
                    <a:pos x="T0" y="T1"/>
                  </a:cxn>
                  <a:cxn ang="T7">
                    <a:pos x="T2" y="T3"/>
                  </a:cxn>
                  <a:cxn ang="T8">
                    <a:pos x="T4" y="T5"/>
                  </a:cxn>
                </a:cxnLst>
                <a:rect l="T9" t="T10" r="T11" b="T12"/>
                <a:pathLst>
                  <a:path w="822" h="566">
                    <a:moveTo>
                      <a:pt x="821" y="0"/>
                    </a:moveTo>
                    <a:lnTo>
                      <a:pt x="0" y="0"/>
                    </a:lnTo>
                    <a:lnTo>
                      <a:pt x="0" y="565"/>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29" name="Freeform 31"/>
              <p:cNvSpPr/>
              <p:nvPr/>
            </p:nvSpPr>
            <p:spPr bwMode="auto">
              <a:xfrm>
                <a:off x="5580395" y="2492421"/>
                <a:ext cx="1399960" cy="429050"/>
              </a:xfrm>
              <a:custGeom>
                <a:avLst/>
                <a:gdLst>
                  <a:gd name="T0" fmla="*/ 0 w 1292"/>
                  <a:gd name="T1" fmla="*/ 0 h 459"/>
                  <a:gd name="T2" fmla="*/ 0 w 1292"/>
                  <a:gd name="T3" fmla="*/ 2147483647 h 459"/>
                  <a:gd name="T4" fmla="*/ 2147483647 w 1292"/>
                  <a:gd name="T5" fmla="*/ 2147483647 h 459"/>
                  <a:gd name="T6" fmla="*/ 2147483647 w 1292"/>
                  <a:gd name="T7" fmla="*/ 2147483647 h 459"/>
                  <a:gd name="T8" fmla="*/ 0 60000 65536"/>
                  <a:gd name="T9" fmla="*/ 0 60000 65536"/>
                  <a:gd name="T10" fmla="*/ 0 60000 65536"/>
                  <a:gd name="T11" fmla="*/ 0 60000 65536"/>
                  <a:gd name="T12" fmla="*/ 0 w 1292"/>
                  <a:gd name="T13" fmla="*/ 0 h 459"/>
                  <a:gd name="T14" fmla="*/ 1292 w 1292"/>
                  <a:gd name="T15" fmla="*/ 459 h 459"/>
                </a:gdLst>
                <a:ahLst/>
                <a:cxnLst>
                  <a:cxn ang="T8">
                    <a:pos x="T0" y="T1"/>
                  </a:cxn>
                  <a:cxn ang="T9">
                    <a:pos x="T2" y="T3"/>
                  </a:cxn>
                  <a:cxn ang="T10">
                    <a:pos x="T4" y="T5"/>
                  </a:cxn>
                  <a:cxn ang="T11">
                    <a:pos x="T6" y="T7"/>
                  </a:cxn>
                </a:cxnLst>
                <a:rect l="T12" t="T13" r="T14" b="T15"/>
                <a:pathLst>
                  <a:path w="1292" h="459">
                    <a:moveTo>
                      <a:pt x="0" y="0"/>
                    </a:moveTo>
                    <a:lnTo>
                      <a:pt x="0" y="181"/>
                    </a:lnTo>
                    <a:lnTo>
                      <a:pt x="1291" y="181"/>
                    </a:lnTo>
                    <a:lnTo>
                      <a:pt x="1291" y="458"/>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30" name="Freeform 32"/>
              <p:cNvSpPr/>
              <p:nvPr/>
            </p:nvSpPr>
            <p:spPr bwMode="auto">
              <a:xfrm>
                <a:off x="7302346" y="1595062"/>
                <a:ext cx="947973" cy="1317061"/>
              </a:xfrm>
              <a:custGeom>
                <a:avLst/>
                <a:gdLst>
                  <a:gd name="T0" fmla="*/ 2147483647 w 875"/>
                  <a:gd name="T1" fmla="*/ 0 h 1409"/>
                  <a:gd name="T2" fmla="*/ 2147483647 w 875"/>
                  <a:gd name="T3" fmla="*/ 0 h 1409"/>
                  <a:gd name="T4" fmla="*/ 2147483647 w 875"/>
                  <a:gd name="T5" fmla="*/ 2147483647 h 1409"/>
                  <a:gd name="T6" fmla="*/ 0 w 875"/>
                  <a:gd name="T7" fmla="*/ 2147483647 h 1409"/>
                  <a:gd name="T8" fmla="*/ 0 w 875"/>
                  <a:gd name="T9" fmla="*/ 2147483647 h 1409"/>
                  <a:gd name="T10" fmla="*/ 0 60000 65536"/>
                  <a:gd name="T11" fmla="*/ 0 60000 65536"/>
                  <a:gd name="T12" fmla="*/ 0 60000 65536"/>
                  <a:gd name="T13" fmla="*/ 0 60000 65536"/>
                  <a:gd name="T14" fmla="*/ 0 60000 65536"/>
                  <a:gd name="T15" fmla="*/ 0 w 875"/>
                  <a:gd name="T16" fmla="*/ 0 h 1409"/>
                  <a:gd name="T17" fmla="*/ 875 w 875"/>
                  <a:gd name="T18" fmla="*/ 1409 h 1409"/>
                </a:gdLst>
                <a:ahLst/>
                <a:cxnLst>
                  <a:cxn ang="T10">
                    <a:pos x="T0" y="T1"/>
                  </a:cxn>
                  <a:cxn ang="T11">
                    <a:pos x="T2" y="T3"/>
                  </a:cxn>
                  <a:cxn ang="T12">
                    <a:pos x="T4" y="T5"/>
                  </a:cxn>
                  <a:cxn ang="T13">
                    <a:pos x="T6" y="T7"/>
                  </a:cxn>
                  <a:cxn ang="T14">
                    <a:pos x="T8" y="T9"/>
                  </a:cxn>
                </a:cxnLst>
                <a:rect l="T15" t="T16" r="T17" b="T18"/>
                <a:pathLst>
                  <a:path w="875" h="1409">
                    <a:moveTo>
                      <a:pt x="480" y="0"/>
                    </a:moveTo>
                    <a:lnTo>
                      <a:pt x="874" y="0"/>
                    </a:lnTo>
                    <a:lnTo>
                      <a:pt x="874" y="1152"/>
                    </a:lnTo>
                    <a:lnTo>
                      <a:pt x="0" y="1152"/>
                    </a:lnTo>
                    <a:lnTo>
                      <a:pt x="0" y="1408"/>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31" name="Freeform 33"/>
              <p:cNvSpPr/>
              <p:nvPr/>
            </p:nvSpPr>
            <p:spPr bwMode="auto">
              <a:xfrm>
                <a:off x="7116352" y="3129920"/>
                <a:ext cx="1000" cy="619739"/>
              </a:xfrm>
              <a:custGeom>
                <a:avLst/>
                <a:gdLst>
                  <a:gd name="T0" fmla="*/ 0 w 1"/>
                  <a:gd name="T1" fmla="*/ 0 h 663"/>
                  <a:gd name="T2" fmla="*/ 0 w 1"/>
                  <a:gd name="T3" fmla="*/ 2147483647 h 663"/>
                  <a:gd name="T4" fmla="*/ 0 60000 65536"/>
                  <a:gd name="T5" fmla="*/ 0 60000 65536"/>
                  <a:gd name="T6" fmla="*/ 0 w 1"/>
                  <a:gd name="T7" fmla="*/ 0 h 663"/>
                  <a:gd name="T8" fmla="*/ 1 w 1"/>
                  <a:gd name="T9" fmla="*/ 663 h 663"/>
                </a:gdLst>
                <a:ahLst/>
                <a:cxnLst>
                  <a:cxn ang="T4">
                    <a:pos x="T0" y="T1"/>
                  </a:cxn>
                  <a:cxn ang="T5">
                    <a:pos x="T2" y="T3"/>
                  </a:cxn>
                </a:cxnLst>
                <a:rect l="T6" t="T7" r="T8" b="T9"/>
                <a:pathLst>
                  <a:path w="1" h="663">
                    <a:moveTo>
                      <a:pt x="0" y="0"/>
                    </a:moveTo>
                    <a:lnTo>
                      <a:pt x="0" y="662"/>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32" name="Freeform 34"/>
              <p:cNvSpPr/>
              <p:nvPr/>
            </p:nvSpPr>
            <p:spPr bwMode="auto">
              <a:xfrm>
                <a:off x="7105353" y="4276857"/>
                <a:ext cx="999" cy="130865"/>
              </a:xfrm>
              <a:custGeom>
                <a:avLst/>
                <a:gdLst>
                  <a:gd name="T0" fmla="*/ 0 w 1"/>
                  <a:gd name="T1" fmla="*/ 0 h 140"/>
                  <a:gd name="T2" fmla="*/ 0 w 1"/>
                  <a:gd name="T3" fmla="*/ 2147483647 h 140"/>
                  <a:gd name="T4" fmla="*/ 0 60000 65536"/>
                  <a:gd name="T5" fmla="*/ 0 60000 65536"/>
                  <a:gd name="T6" fmla="*/ 0 w 1"/>
                  <a:gd name="T7" fmla="*/ 0 h 140"/>
                  <a:gd name="T8" fmla="*/ 1 w 1"/>
                  <a:gd name="T9" fmla="*/ 140 h 140"/>
                </a:gdLst>
                <a:ahLst/>
                <a:cxnLst>
                  <a:cxn ang="T4">
                    <a:pos x="T0" y="T1"/>
                  </a:cxn>
                  <a:cxn ang="T5">
                    <a:pos x="T2" y="T3"/>
                  </a:cxn>
                </a:cxnLst>
                <a:rect l="T6" t="T7" r="T8" b="T9"/>
                <a:pathLst>
                  <a:path w="1" h="140">
                    <a:moveTo>
                      <a:pt x="0" y="0"/>
                    </a:moveTo>
                    <a:lnTo>
                      <a:pt x="0" y="139"/>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33" name="Freeform 35"/>
              <p:cNvSpPr/>
              <p:nvPr/>
            </p:nvSpPr>
            <p:spPr bwMode="auto">
              <a:xfrm>
                <a:off x="7105352" y="1166011"/>
                <a:ext cx="1930945" cy="2842573"/>
              </a:xfrm>
              <a:custGeom>
                <a:avLst/>
                <a:gdLst>
                  <a:gd name="T0" fmla="*/ 2147483647 w 1782"/>
                  <a:gd name="T1" fmla="*/ 2147483647 h 3041"/>
                  <a:gd name="T2" fmla="*/ 2147483647 w 1782"/>
                  <a:gd name="T3" fmla="*/ 2147483647 h 3041"/>
                  <a:gd name="T4" fmla="*/ 2147483647 w 1782"/>
                  <a:gd name="T5" fmla="*/ 0 h 3041"/>
                  <a:gd name="T6" fmla="*/ 0 w 1782"/>
                  <a:gd name="T7" fmla="*/ 0 h 3041"/>
                  <a:gd name="T8" fmla="*/ 0 60000 65536"/>
                  <a:gd name="T9" fmla="*/ 0 60000 65536"/>
                  <a:gd name="T10" fmla="*/ 0 60000 65536"/>
                  <a:gd name="T11" fmla="*/ 0 60000 65536"/>
                  <a:gd name="T12" fmla="*/ 0 w 1782"/>
                  <a:gd name="T13" fmla="*/ 0 h 3041"/>
                  <a:gd name="T14" fmla="*/ 1782 w 1782"/>
                  <a:gd name="T15" fmla="*/ 3041 h 3041"/>
                </a:gdLst>
                <a:ahLst/>
                <a:cxnLst>
                  <a:cxn ang="T8">
                    <a:pos x="T0" y="T1"/>
                  </a:cxn>
                  <a:cxn ang="T9">
                    <a:pos x="T2" y="T3"/>
                  </a:cxn>
                  <a:cxn ang="T10">
                    <a:pos x="T4" y="T5"/>
                  </a:cxn>
                  <a:cxn ang="T11">
                    <a:pos x="T6" y="T7"/>
                  </a:cxn>
                </a:cxnLst>
                <a:rect l="T12" t="T13" r="T14" b="T15"/>
                <a:pathLst>
                  <a:path w="1782" h="3041">
                    <a:moveTo>
                      <a:pt x="501" y="3040"/>
                    </a:moveTo>
                    <a:lnTo>
                      <a:pt x="1781" y="3040"/>
                    </a:lnTo>
                    <a:lnTo>
                      <a:pt x="1781" y="0"/>
                    </a:lnTo>
                    <a:lnTo>
                      <a:pt x="0"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34" name="Freeform 36"/>
              <p:cNvSpPr/>
              <p:nvPr/>
            </p:nvSpPr>
            <p:spPr bwMode="auto">
              <a:xfrm>
                <a:off x="7116352" y="1056647"/>
                <a:ext cx="1000" cy="229949"/>
              </a:xfrm>
              <a:custGeom>
                <a:avLst/>
                <a:gdLst>
                  <a:gd name="T0" fmla="*/ 0 w 1"/>
                  <a:gd name="T1" fmla="*/ 0 h 246"/>
                  <a:gd name="T2" fmla="*/ 0 w 1"/>
                  <a:gd name="T3" fmla="*/ 2147483647 h 246"/>
                  <a:gd name="T4" fmla="*/ 0 60000 65536"/>
                  <a:gd name="T5" fmla="*/ 0 60000 65536"/>
                  <a:gd name="T6" fmla="*/ 0 w 1"/>
                  <a:gd name="T7" fmla="*/ 0 h 246"/>
                  <a:gd name="T8" fmla="*/ 1 w 1"/>
                  <a:gd name="T9" fmla="*/ 246 h 246"/>
                </a:gdLst>
                <a:ahLst/>
                <a:cxnLst>
                  <a:cxn ang="T4">
                    <a:pos x="T0" y="T1"/>
                  </a:cxn>
                  <a:cxn ang="T5">
                    <a:pos x="T2" y="T3"/>
                  </a:cxn>
                </a:cxnLst>
                <a:rect l="T6" t="T7" r="T8" b="T9"/>
                <a:pathLst>
                  <a:path w="1" h="246">
                    <a:moveTo>
                      <a:pt x="0" y="0"/>
                    </a:moveTo>
                    <a:lnTo>
                      <a:pt x="0" y="245"/>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grpSp>
      </p:grpSp>
      <p:sp>
        <p:nvSpPr>
          <p:cNvPr id="40"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AU" altLang="zh-TW" dirty="0">
                <a:ea typeface="PMingLiU" panose="02020500000000000000" pitchFamily="18" charset="-120"/>
              </a:rPr>
              <a:t>Signed Multiplication</a:t>
            </a:r>
          </a:p>
        </p:txBody>
      </p:sp>
      <p:sp>
        <p:nvSpPr>
          <p:cNvPr id="31747" name="Rectangle 3"/>
          <p:cNvSpPr>
            <a:spLocks noGrp="1" noChangeArrowheads="1"/>
          </p:cNvSpPr>
          <p:nvPr>
            <p:ph type="body" idx="1"/>
          </p:nvPr>
        </p:nvSpPr>
        <p:spPr>
          <a:xfrm>
            <a:off x="1353425" y="1291590"/>
            <a:ext cx="9608191" cy="4828315"/>
          </a:xfrm>
        </p:spPr>
        <p:txBody>
          <a:bodyPr/>
          <a:lstStyle/>
          <a:p>
            <a:r>
              <a:rPr lang="en-US" altLang="zh-TW" sz="3200" dirty="0"/>
              <a:t>Convert multiplier and multiplicand to positive numbers.</a:t>
            </a:r>
          </a:p>
          <a:p>
            <a:r>
              <a:rPr lang="en-US" altLang="zh-TW" sz="3200" dirty="0"/>
              <a:t>Remember their original signs.</a:t>
            </a:r>
          </a:p>
          <a:p>
            <a:r>
              <a:rPr lang="en-US" altLang="zh-TW" sz="3200" dirty="0"/>
              <a:t>Multiply as before, leaving the sign out of the calculation</a:t>
            </a:r>
          </a:p>
          <a:p>
            <a:r>
              <a:rPr lang="en-US" altLang="zh-TW" sz="3200" dirty="0"/>
              <a:t>We negate the product only if the original signs disagree.</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23</a:t>
            </a:fld>
            <a:endParaRPr lang="zh-TW" altLang="en-US"/>
          </a:p>
        </p:txBody>
      </p:sp>
    </p:spTree>
    <p:extLst>
      <p:ext uri="{BB962C8B-B14F-4D97-AF65-F5344CB8AC3E}">
        <p14:creationId xmlns:p14="http://schemas.microsoft.com/office/powerpoint/2010/main" val="2572490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AU" altLang="zh-TW" dirty="0">
                <a:ea typeface="PMingLiU" panose="02020500000000000000" pitchFamily="18" charset="-120"/>
              </a:rPr>
              <a:t>RISC-V Multiply Instructions</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24</a:t>
            </a:fld>
            <a:endParaRPr lang="zh-TW" altLang="en-US"/>
          </a:p>
        </p:txBody>
      </p:sp>
      <p:sp>
        <p:nvSpPr>
          <p:cNvPr id="2" name="Text Placeholder 1">
            <a:extLst>
              <a:ext uri="{FF2B5EF4-FFF2-40B4-BE49-F238E27FC236}">
                <a16:creationId xmlns:a16="http://schemas.microsoft.com/office/drawing/2014/main" id="{0FC05AB3-DF2E-4FA4-954B-FE8763ADDB60}"/>
              </a:ext>
            </a:extLst>
          </p:cNvPr>
          <p:cNvSpPr>
            <a:spLocks noGrp="1" noChangeArrowheads="1"/>
          </p:cNvSpPr>
          <p:nvPr>
            <p:ph type="body" idx="1"/>
          </p:nvPr>
        </p:nvSpPr>
        <p:spPr bwMode="auto">
          <a:xfrm>
            <a:off x="1413992" y="3534191"/>
            <a:ext cx="9364016" cy="23698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rgbClr val="0D0D0D"/>
                </a:solidFill>
                <a:effectLst/>
                <a:latin typeface="+mn-lt"/>
                <a:ea typeface="Söhne Mono"/>
              </a:rPr>
              <a:t> MUL</a:t>
            </a:r>
            <a:r>
              <a:rPr kumimoji="0" lang="en-US" altLang="en-US" sz="2800" i="0" u="none" strike="noStrike" cap="none" normalizeH="0" baseline="0" dirty="0">
                <a:ln>
                  <a:noFill/>
                </a:ln>
                <a:solidFill>
                  <a:srgbClr val="0D0D0D"/>
                </a:solidFill>
                <a:effectLst/>
                <a:latin typeface="+mn-lt"/>
                <a:ea typeface="Söhne"/>
              </a:rPr>
              <a:t>:</a:t>
            </a:r>
            <a:r>
              <a:rPr kumimoji="0" lang="en-US" altLang="en-US" sz="2800" b="0" i="0" u="none" strike="noStrike" cap="none" normalizeH="0" baseline="0" dirty="0">
                <a:ln>
                  <a:noFill/>
                </a:ln>
                <a:solidFill>
                  <a:srgbClr val="0D0D0D"/>
                </a:solidFill>
                <a:effectLst/>
                <a:latin typeface="+mn-lt"/>
                <a:ea typeface="Söhne"/>
              </a:rPr>
              <a:t> </a:t>
            </a:r>
            <a:r>
              <a:rPr kumimoji="0" lang="en-US" altLang="en-US" sz="2800" b="0" i="0" u="none" strike="noStrike" cap="none" normalizeH="0" baseline="0" dirty="0">
                <a:ln>
                  <a:noFill/>
                </a:ln>
                <a:solidFill>
                  <a:srgbClr val="0D0D0D"/>
                </a:solidFill>
                <a:effectLst/>
                <a:ea typeface="Söhne"/>
              </a:rPr>
              <a:t>	</a:t>
            </a:r>
            <a:r>
              <a:rPr kumimoji="0" lang="en-US" altLang="en-US" sz="2400" b="0" i="0" u="none" strike="noStrike" cap="none" normalizeH="0" baseline="0" dirty="0">
                <a:ln>
                  <a:noFill/>
                </a:ln>
                <a:solidFill>
                  <a:srgbClr val="0D0D0D"/>
                </a:solidFill>
                <a:effectLst/>
                <a:ea typeface="Söhne"/>
              </a:rPr>
              <a:t>Multiplication</a:t>
            </a:r>
            <a:endParaRPr kumimoji="0" lang="en-US" altLang="en-US" sz="2400" b="0" i="0" u="none" strike="noStrike" cap="none" normalizeH="0" baseline="0" dirty="0">
              <a:ln>
                <a:noFill/>
              </a:ln>
              <a:solidFill>
                <a:srgbClr val="0D0D0D"/>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rgbClr val="0D0D0D"/>
                </a:solidFill>
                <a:effectLst/>
                <a:latin typeface="Arial Unicode MS"/>
                <a:ea typeface="Söhne Mono"/>
              </a:rPr>
              <a:t> MULH</a:t>
            </a:r>
            <a:r>
              <a:rPr kumimoji="0" lang="en-US" altLang="en-US" sz="2800" i="0" u="none" strike="noStrike" cap="none" normalizeH="0" baseline="0" dirty="0">
                <a:ln>
                  <a:noFill/>
                </a:ln>
                <a:solidFill>
                  <a:srgbClr val="0D0D0D"/>
                </a:solidFill>
                <a:effectLst/>
                <a:ea typeface="Söhne"/>
              </a:rPr>
              <a:t>:</a:t>
            </a:r>
            <a:r>
              <a:rPr kumimoji="0" lang="en-US" altLang="en-US" sz="2800" b="0" i="0" u="none" strike="noStrike" cap="none" normalizeH="0" baseline="0" dirty="0">
                <a:ln>
                  <a:noFill/>
                </a:ln>
                <a:solidFill>
                  <a:srgbClr val="0D0D0D"/>
                </a:solidFill>
                <a:effectLst/>
                <a:ea typeface="Söhne"/>
              </a:rPr>
              <a:t> 	</a:t>
            </a:r>
            <a:r>
              <a:rPr kumimoji="0" lang="en-US" altLang="en-US" sz="2400" b="0" i="0" u="none" strike="noStrike" cap="none" normalizeH="0" baseline="0" dirty="0">
                <a:ln>
                  <a:noFill/>
                </a:ln>
                <a:solidFill>
                  <a:srgbClr val="0D0D0D"/>
                </a:solidFill>
                <a:effectLst/>
                <a:ea typeface="Söhne"/>
              </a:rPr>
              <a:t>Multiply high (signed × signed)</a:t>
            </a:r>
            <a:endParaRPr kumimoji="0" lang="en-US" altLang="en-US" sz="2400" b="0" i="0" u="none" strike="noStrike" cap="none" normalizeH="0" baseline="0" dirty="0">
              <a:ln>
                <a:noFill/>
              </a:ln>
              <a:solidFill>
                <a:srgbClr val="0D0D0D"/>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rgbClr val="0D0D0D"/>
                </a:solidFill>
                <a:effectLst/>
                <a:latin typeface="Arial Unicode MS"/>
                <a:ea typeface="Söhne Mono"/>
              </a:rPr>
              <a:t> MULHSU</a:t>
            </a:r>
            <a:r>
              <a:rPr kumimoji="0" lang="en-US" altLang="en-US" sz="2800" i="0" u="none" strike="noStrike" cap="none" normalizeH="0" baseline="0" dirty="0">
                <a:ln>
                  <a:noFill/>
                </a:ln>
                <a:solidFill>
                  <a:srgbClr val="0D0D0D"/>
                </a:solidFill>
                <a:effectLst/>
                <a:ea typeface="Söhne"/>
              </a:rPr>
              <a:t>:</a:t>
            </a:r>
            <a:r>
              <a:rPr kumimoji="0" lang="en-US" altLang="en-US" sz="2800" b="0" i="0" u="none" strike="noStrike" cap="none" normalizeH="0" baseline="0" dirty="0">
                <a:ln>
                  <a:noFill/>
                </a:ln>
                <a:solidFill>
                  <a:srgbClr val="0D0D0D"/>
                </a:solidFill>
                <a:effectLst/>
                <a:ea typeface="Söhne"/>
              </a:rPr>
              <a:t> </a:t>
            </a:r>
            <a:r>
              <a:rPr kumimoji="0" lang="en-US" altLang="en-US" sz="2400" b="0" i="0" u="none" strike="noStrike" cap="none" normalizeH="0" baseline="0" dirty="0">
                <a:ln>
                  <a:noFill/>
                </a:ln>
                <a:solidFill>
                  <a:srgbClr val="0D0D0D"/>
                </a:solidFill>
                <a:effectLst/>
                <a:ea typeface="Söhne"/>
              </a:rPr>
              <a:t>Multiply high (signed × unsigned)</a:t>
            </a:r>
            <a:endParaRPr kumimoji="0" lang="en-US" altLang="en-US" sz="2400" b="0" i="0" u="none" strike="noStrike" cap="none" normalizeH="0" baseline="0" dirty="0">
              <a:ln>
                <a:noFill/>
              </a:ln>
              <a:solidFill>
                <a:srgbClr val="0D0D0D"/>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rgbClr val="0D0D0D"/>
                </a:solidFill>
                <a:effectLst/>
                <a:latin typeface="Arial Unicode MS"/>
                <a:ea typeface="Söhne Mono"/>
              </a:rPr>
              <a:t> MULHU</a:t>
            </a:r>
            <a:r>
              <a:rPr kumimoji="0" lang="en-US" altLang="en-US" sz="2800" i="0" u="none" strike="noStrike" cap="none" normalizeH="0" baseline="0" dirty="0">
                <a:ln>
                  <a:noFill/>
                </a:ln>
                <a:solidFill>
                  <a:srgbClr val="0D0D0D"/>
                </a:solidFill>
                <a:effectLst/>
                <a:ea typeface="Söhne"/>
              </a:rPr>
              <a:t>:</a:t>
            </a:r>
            <a:r>
              <a:rPr kumimoji="0" lang="en-US" altLang="en-US" sz="2800" b="0" i="0" u="none" strike="noStrike" cap="none" normalizeH="0" baseline="0" dirty="0">
                <a:ln>
                  <a:noFill/>
                </a:ln>
                <a:solidFill>
                  <a:srgbClr val="0D0D0D"/>
                </a:solidFill>
                <a:effectLst/>
                <a:ea typeface="Söhne"/>
              </a:rPr>
              <a:t> 	</a:t>
            </a:r>
            <a:r>
              <a:rPr kumimoji="0" lang="en-US" altLang="en-US" sz="2400" b="0" i="0" u="none" strike="noStrike" cap="none" normalizeH="0" baseline="0" dirty="0">
                <a:ln>
                  <a:noFill/>
                </a:ln>
                <a:solidFill>
                  <a:srgbClr val="0D0D0D"/>
                </a:solidFill>
                <a:effectLst/>
                <a:ea typeface="Söhne"/>
              </a:rPr>
              <a:t>Multiply high (unsigned × unsigned)</a:t>
            </a:r>
            <a:endParaRPr kumimoji="0" lang="en-US" altLang="en-US" sz="2400" b="0" i="0" u="none" strike="noStrike" cap="none" normalizeH="0" baseline="0" dirty="0">
              <a:ln>
                <a:noFill/>
              </a:ln>
              <a:solidFill>
                <a:srgbClr val="0D0D0D"/>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DA2EA40C-DFEC-45EF-94F5-CED380F41BD2}"/>
              </a:ext>
            </a:extLst>
          </p:cNvPr>
          <p:cNvSpPr txBox="1"/>
          <p:nvPr/>
        </p:nvSpPr>
        <p:spPr>
          <a:xfrm>
            <a:off x="1267019" y="1385992"/>
            <a:ext cx="10199929" cy="2031325"/>
          </a:xfrm>
          <a:prstGeom prst="rect">
            <a:avLst/>
          </a:prstGeom>
          <a:noFill/>
        </p:spPr>
        <p:txBody>
          <a:bodyPr wrap="square">
            <a:spAutoFit/>
          </a:bodyPr>
          <a:lstStyle/>
          <a:p>
            <a:pPr marL="285750" indent="-285750">
              <a:buFont typeface="Wingdings" panose="05000000000000000000" pitchFamily="2" charset="2"/>
              <a:buChar char="q"/>
            </a:pPr>
            <a:r>
              <a:rPr lang="en-US" dirty="0"/>
              <a:t>For a standard 32-bit multiplication, the result fits within a single 32-bit register. </a:t>
            </a:r>
          </a:p>
          <a:p>
            <a:pPr marL="285750" indent="-285750">
              <a:buFont typeface="Wingdings" panose="05000000000000000000" pitchFamily="2" charset="2"/>
              <a:buChar char="q"/>
            </a:pPr>
            <a:r>
              <a:rPr lang="en-US" dirty="0"/>
              <a:t>For a 64-bit multiplication, where the result could potentially be 64 bits, RISC-V handles it differently based on the specific instruction used:</a:t>
            </a:r>
          </a:p>
          <a:p>
            <a:endParaRPr lang="en-US" dirty="0"/>
          </a:p>
          <a:p>
            <a:pPr marL="285750" indent="-285750">
              <a:buFont typeface="Wingdings" panose="05000000000000000000" pitchFamily="2" charset="2"/>
              <a:buChar char="Ø"/>
            </a:pPr>
            <a:r>
              <a:rPr lang="en-US" dirty="0"/>
              <a:t>MUL instruction: Returns the lower 32 bits of the product.</a:t>
            </a:r>
          </a:p>
          <a:p>
            <a:pPr marL="285750" indent="-285750">
              <a:buFont typeface="Wingdings" panose="05000000000000000000" pitchFamily="2" charset="2"/>
              <a:buChar char="Ø"/>
            </a:pPr>
            <a:r>
              <a:rPr lang="en-US" dirty="0"/>
              <a:t>MULH, MULHSU, and MULHU instructions: These instructions are provided to obtain the higher 32 bits of the product for signed and unsigned multiplication</a:t>
            </a:r>
          </a:p>
        </p:txBody>
      </p:sp>
    </p:spTree>
    <p:extLst>
      <p:ext uri="{BB962C8B-B14F-4D97-AF65-F5344CB8AC3E}">
        <p14:creationId xmlns:p14="http://schemas.microsoft.com/office/powerpoint/2010/main" val="1581159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446656" y="81690"/>
            <a:ext cx="9019739" cy="592821"/>
          </a:xfrm>
        </p:spPr>
        <p:txBody>
          <a:bodyPr/>
          <a:lstStyle/>
          <a:p>
            <a:r>
              <a:rPr lang="en-AU" altLang="zh-TW" dirty="0">
                <a:ea typeface="PMingLiU" panose="02020500000000000000" pitchFamily="18" charset="-120"/>
              </a:rPr>
              <a:t>Shift and Add to replace Multiply</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25</a:t>
            </a:fld>
            <a:endParaRPr lang="zh-TW" altLang="en-US"/>
          </a:p>
        </p:txBody>
      </p:sp>
      <p:sp>
        <p:nvSpPr>
          <p:cNvPr id="2" name="Text Placeholder 1">
            <a:extLst>
              <a:ext uri="{FF2B5EF4-FFF2-40B4-BE49-F238E27FC236}">
                <a16:creationId xmlns:a16="http://schemas.microsoft.com/office/drawing/2014/main" id="{0FC05AB3-DF2E-4FA4-954B-FE8763ADDB60}"/>
              </a:ext>
            </a:extLst>
          </p:cNvPr>
          <p:cNvSpPr>
            <a:spLocks noGrp="1" noChangeArrowheads="1"/>
          </p:cNvSpPr>
          <p:nvPr>
            <p:ph type="body" idx="1"/>
          </p:nvPr>
        </p:nvSpPr>
        <p:spPr bwMode="auto">
          <a:xfrm>
            <a:off x="392469" y="1279287"/>
            <a:ext cx="11407062"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hangingPunct="0">
              <a:spcBef>
                <a:spcPct val="0"/>
              </a:spcBef>
              <a:buClrTx/>
              <a:buSzTx/>
              <a:buFont typeface="Wingdings" panose="05000000000000000000" pitchFamily="2" charset="2"/>
              <a:buChar char="§"/>
            </a:pPr>
            <a:r>
              <a:rPr kumimoji="0" lang="en-US" altLang="en-US" sz="2400" dirty="0">
                <a:latin typeface="Arial" panose="020B0604020202020204" pitchFamily="34" charset="0"/>
              </a:rPr>
              <a:t>Compilers are clever at replacing multiplication with shifts and adds, especially when dealing with multiplication by constants.</a:t>
            </a:r>
          </a:p>
          <a:p>
            <a:pPr lvl="0" eaLnBrk="0" hangingPunct="0">
              <a:spcBef>
                <a:spcPct val="0"/>
              </a:spcBef>
              <a:buClrTx/>
              <a:buSzTx/>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Decompose the constant:  </a:t>
            </a:r>
          </a:p>
          <a:p>
            <a:pPr marL="0" lvl="0" indent="0" eaLnBrk="0" hangingPunct="0">
              <a:spcBef>
                <a:spcPct val="0"/>
              </a:spcBef>
              <a:buClrTx/>
              <a:buSzTx/>
              <a:buNone/>
            </a:pPr>
            <a:r>
              <a:rPr kumimoji="0" lang="en-US" altLang="en-US" sz="2400" dirty="0">
                <a:latin typeface="Arial" panose="020B0604020202020204" pitchFamily="34" charset="0"/>
              </a:rPr>
              <a:t>	The compiler </a:t>
            </a:r>
            <a:r>
              <a:rPr kumimoji="0" lang="en-US" altLang="en-US" sz="2400" b="0" i="0" u="none" strike="noStrike" cap="none" normalizeH="0" baseline="0" dirty="0">
                <a:ln>
                  <a:noFill/>
                </a:ln>
                <a:solidFill>
                  <a:schemeClr val="tx1"/>
                </a:solidFill>
                <a:effectLst/>
                <a:latin typeface="Arial" panose="020B0604020202020204" pitchFamily="34" charset="0"/>
              </a:rPr>
              <a:t>breaks down the constant into a sum of powers of 2. </a:t>
            </a:r>
          </a:p>
          <a:p>
            <a:pPr marL="0" lvl="0" indent="0" eaLnBrk="0" hangingPunct="0">
              <a:spcBef>
                <a:spcPct val="0"/>
              </a:spcBef>
              <a:buClrTx/>
              <a:buSzTx/>
              <a:buNone/>
            </a:pPr>
            <a:r>
              <a:rPr kumimoji="0" lang="en-US" altLang="en-US" sz="2400" b="0" i="0" u="none" strike="noStrike" cap="none" normalizeH="0" baseline="0" dirty="0">
                <a:ln>
                  <a:noFill/>
                </a:ln>
                <a:solidFill>
                  <a:schemeClr val="tx1"/>
                </a:solidFill>
                <a:effectLst/>
                <a:latin typeface="Arial" panose="020B0604020202020204" pitchFamily="34" charset="0"/>
              </a:rPr>
              <a:t>    For example:</a:t>
            </a:r>
          </a:p>
          <a:p>
            <a:pPr marL="0" lvl="0" indent="0" eaLnBrk="0" hangingPunct="0">
              <a:spcBef>
                <a:spcPct val="0"/>
              </a:spcBef>
              <a:buClrTx/>
              <a:buSzTx/>
              <a:buNone/>
            </a:pPr>
            <a:r>
              <a:rPr kumimoji="0"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10 = 8 + 2 (2^3 + 2^1)</a:t>
            </a:r>
          </a:p>
          <a:p>
            <a:pPr marL="0" lvl="0" indent="0" eaLnBrk="0" hangingPunct="0">
              <a:spcBef>
                <a:spcPct val="0"/>
              </a:spcBef>
              <a:buClrTx/>
              <a:buSzTx/>
              <a:buNone/>
            </a:pPr>
            <a:r>
              <a:rPr kumimoji="0"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13 = 8 + 4 + 1 (2^3 + 2^2 + 2^0)</a:t>
            </a:r>
          </a:p>
          <a:p>
            <a:pPr marL="0" lvl="0" indent="0" eaLnBrk="0" hangingPunct="0">
              <a:spcBef>
                <a:spcPct val="0"/>
              </a:spcBef>
              <a:buClrTx/>
              <a:buSzTx/>
              <a:buNone/>
            </a:pPr>
            <a:r>
              <a:rPr kumimoji="0" lang="en-US" altLang="en-US" sz="2400" dirty="0">
                <a:latin typeface="Arial" panose="020B0604020202020204" pitchFamily="34" charset="0"/>
              </a:rPr>
              <a:t>    So, </a:t>
            </a:r>
            <a:r>
              <a:rPr kumimoji="0" lang="en-US" altLang="en-US" sz="2400" b="0" i="0" u="none" strike="noStrike" cap="none" normalizeH="0" baseline="0" dirty="0">
                <a:ln>
                  <a:noFill/>
                </a:ln>
                <a:solidFill>
                  <a:schemeClr val="tx1"/>
                </a:solidFill>
                <a:effectLst/>
                <a:latin typeface="Arial" panose="020B0604020202020204" pitchFamily="34" charset="0"/>
              </a:rPr>
              <a:t> x*13 = </a:t>
            </a:r>
            <a:r>
              <a:rPr lang="en-US" sz="2400" dirty="0"/>
              <a:t> </a:t>
            </a:r>
            <a:r>
              <a:rPr lang="en-US" sz="2400" dirty="0">
                <a:latin typeface="+mn-lt"/>
              </a:rPr>
              <a:t>(x &lt;&lt; 3) + (x &lt;&lt; 2) + x</a:t>
            </a:r>
            <a:endParaRPr kumimoji="0" lang="en-US" altLang="en-US" sz="2400" b="0" i="0" u="none" strike="noStrike" cap="none" normalizeH="0" baseline="0" dirty="0">
              <a:ln>
                <a:noFill/>
              </a:ln>
              <a:solidFill>
                <a:schemeClr val="tx1"/>
              </a:solidFill>
              <a:effectLst/>
              <a:latin typeface="+mn-lt"/>
            </a:endParaRPr>
          </a:p>
        </p:txBody>
      </p:sp>
      <p:sp>
        <p:nvSpPr>
          <p:cNvPr id="6" name="Text Placeholder 1">
            <a:extLst>
              <a:ext uri="{FF2B5EF4-FFF2-40B4-BE49-F238E27FC236}">
                <a16:creationId xmlns:a16="http://schemas.microsoft.com/office/drawing/2014/main" id="{726D847A-CB48-4D13-AAE5-C87C5A66D30E}"/>
              </a:ext>
            </a:extLst>
          </p:cNvPr>
          <p:cNvSpPr txBox="1">
            <a:spLocks noChangeArrowheads="1"/>
          </p:cNvSpPr>
          <p:nvPr/>
        </p:nvSpPr>
        <p:spPr bwMode="auto">
          <a:xfrm>
            <a:off x="658478" y="4724151"/>
            <a:ext cx="11407062" cy="830997"/>
          </a:xfrm>
          <a:prstGeom prst="rect">
            <a:avLst/>
          </a:prstGeom>
          <a:solidFill>
            <a:srgbClr val="FFFFFF"/>
          </a:solidFill>
          <a:ln w="9525">
            <a:noFill/>
            <a:miter lim="800000"/>
            <a:headEnd/>
            <a:tailEnd/>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0" indent="0" eaLnBrk="0" hangingPunct="0">
              <a:spcBef>
                <a:spcPct val="0"/>
              </a:spcBef>
              <a:buClrTx/>
              <a:buSzTx/>
              <a:buFont typeface="Wingdings" pitchFamily="2" charset="2"/>
              <a:buNone/>
            </a:pPr>
            <a:r>
              <a:rPr kumimoji="0" lang="en-US" altLang="en-US" sz="2400" kern="0" dirty="0">
                <a:latin typeface="Arial" panose="020B0604020202020204" pitchFamily="34" charset="0"/>
              </a:rPr>
              <a:t>Exercise: 	X*1054 = (2^? + 2^? - 2^?)</a:t>
            </a:r>
          </a:p>
          <a:p>
            <a:pPr marL="0" indent="0" eaLnBrk="0" hangingPunct="0">
              <a:spcBef>
                <a:spcPct val="0"/>
              </a:spcBef>
              <a:buClrTx/>
              <a:buSzTx/>
              <a:buFont typeface="Wingdings" pitchFamily="2" charset="2"/>
              <a:buNone/>
            </a:pPr>
            <a:r>
              <a:rPr kumimoji="0" lang="en-US" altLang="en-US" sz="2400" kern="0" dirty="0">
                <a:latin typeface="Arial" panose="020B0604020202020204" pitchFamily="34" charset="0"/>
              </a:rPr>
              <a:t>    So,  x*1054 = </a:t>
            </a:r>
            <a:r>
              <a:rPr lang="en-US" sz="2400" kern="0" dirty="0"/>
              <a:t> </a:t>
            </a:r>
            <a:r>
              <a:rPr lang="en-US" sz="2400" kern="0" dirty="0">
                <a:latin typeface="+mn-lt"/>
              </a:rPr>
              <a:t>(x &lt;&lt; ?) + (x &lt;&lt; ?) +…</a:t>
            </a:r>
            <a:endParaRPr kumimoji="0" lang="en-US" altLang="en-US" sz="2400" kern="0" dirty="0">
              <a:latin typeface="+mn-lt"/>
            </a:endParaRPr>
          </a:p>
        </p:txBody>
      </p:sp>
    </p:spTree>
    <p:extLst>
      <p:ext uri="{BB962C8B-B14F-4D97-AF65-F5344CB8AC3E}">
        <p14:creationId xmlns:p14="http://schemas.microsoft.com/office/powerpoint/2010/main" val="9533898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AU" altLang="zh-TW" dirty="0">
                <a:ea typeface="PMingLiU" panose="02020500000000000000" pitchFamily="18" charset="-120"/>
              </a:rPr>
              <a:t>Faster Multiplication</a:t>
            </a:r>
          </a:p>
        </p:txBody>
      </p:sp>
      <p:sp>
        <p:nvSpPr>
          <p:cNvPr id="31747" name="Rectangle 3"/>
          <p:cNvSpPr>
            <a:spLocks noGrp="1" noChangeArrowheads="1"/>
          </p:cNvSpPr>
          <p:nvPr>
            <p:ph type="body" idx="1"/>
          </p:nvPr>
        </p:nvSpPr>
        <p:spPr>
          <a:xfrm>
            <a:off x="428017" y="982494"/>
            <a:ext cx="11420272" cy="5137411"/>
          </a:xfrm>
        </p:spPr>
        <p:txBody>
          <a:bodyPr/>
          <a:lstStyle/>
          <a:p>
            <a:pPr marL="0" indent="0">
              <a:buNone/>
            </a:pPr>
            <a:r>
              <a:rPr lang="en-US" altLang="zh-TW" sz="2400" dirty="0"/>
              <a:t>With Moore’s law, we could use more transistors to make the multiplication go faster. Whether the multiplicand should be added at each step can be predetermined by looking at the respective bit in the multiplier. So 31 adders could be used in a pyramid. The delay could be reduced from 31 to 5 or even lower.</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26</a:t>
            </a:fld>
            <a:endParaRPr lang="zh-TW" altLang="en-US"/>
          </a:p>
        </p:txBody>
      </p:sp>
      <p:pic>
        <p:nvPicPr>
          <p:cNvPr id="3" name="Picture 2">
            <a:extLst>
              <a:ext uri="{FF2B5EF4-FFF2-40B4-BE49-F238E27FC236}">
                <a16:creationId xmlns:a16="http://schemas.microsoft.com/office/drawing/2014/main" id="{8C8A3927-C667-464C-AE14-B4DE79942BE2}"/>
              </a:ext>
            </a:extLst>
          </p:cNvPr>
          <p:cNvPicPr>
            <a:picLocks noChangeAspect="1"/>
          </p:cNvPicPr>
          <p:nvPr/>
        </p:nvPicPr>
        <p:blipFill>
          <a:blip r:embed="rId3"/>
          <a:stretch>
            <a:fillRect/>
          </a:stretch>
        </p:blipFill>
        <p:spPr>
          <a:xfrm>
            <a:off x="1461351" y="2597285"/>
            <a:ext cx="9069066" cy="3522620"/>
          </a:xfrm>
          <a:prstGeom prst="rect">
            <a:avLst/>
          </a:prstGeom>
        </p:spPr>
      </p:pic>
    </p:spTree>
    <p:extLst>
      <p:ext uri="{BB962C8B-B14F-4D97-AF65-F5344CB8AC3E}">
        <p14:creationId xmlns:p14="http://schemas.microsoft.com/office/powerpoint/2010/main" val="2676704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31" name="Rectangle 7"/>
          <p:cNvSpPr>
            <a:spLocks noGrp="1" noChangeArrowheads="1"/>
          </p:cNvSpPr>
          <p:nvPr>
            <p:ph type="title"/>
          </p:nvPr>
        </p:nvSpPr>
        <p:spPr>
          <a:xfrm>
            <a:off x="1386981" y="156595"/>
            <a:ext cx="8762476" cy="659935"/>
          </a:xfrm>
        </p:spPr>
        <p:txBody>
          <a:bodyPr/>
          <a:lstStyle/>
          <a:p>
            <a:r>
              <a:rPr lang="en-US" altLang="zh-TW" dirty="0"/>
              <a:t>Divide: Paper &amp; Pencil</a:t>
            </a:r>
          </a:p>
        </p:txBody>
      </p:sp>
      <p:sp>
        <p:nvSpPr>
          <p:cNvPr id="9"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27</a:t>
            </a:fld>
            <a:endParaRPr lang="zh-TW" altLang="en-US"/>
          </a:p>
        </p:txBody>
      </p:sp>
      <p:pic>
        <p:nvPicPr>
          <p:cNvPr id="6" name="图片 5"/>
          <p:cNvPicPr>
            <a:picLocks noChangeAspect="1"/>
          </p:cNvPicPr>
          <p:nvPr/>
        </p:nvPicPr>
        <p:blipFill>
          <a:blip r:embed="rId3"/>
          <a:stretch>
            <a:fillRect/>
          </a:stretch>
        </p:blipFill>
        <p:spPr>
          <a:xfrm>
            <a:off x="1756095" y="1114277"/>
            <a:ext cx="8623883" cy="493379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9565" y="2621822"/>
            <a:ext cx="8241072" cy="3306764"/>
            <a:chOff x="1643063" y="2050256"/>
            <a:chExt cx="6180804" cy="2480073"/>
          </a:xfrm>
        </p:grpSpPr>
        <p:sp>
          <p:nvSpPr>
            <p:cNvPr id="78850" name="Rectangle 2"/>
            <p:cNvSpPr>
              <a:spLocks noChangeArrowheads="1"/>
            </p:cNvSpPr>
            <p:nvPr/>
          </p:nvSpPr>
          <p:spPr bwMode="auto">
            <a:xfrm>
              <a:off x="2019300" y="3867150"/>
              <a:ext cx="2300288" cy="2940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a:p>
          </p:txBody>
        </p:sp>
        <p:sp>
          <p:nvSpPr>
            <p:cNvPr id="78851" name="Rectangle 3"/>
            <p:cNvSpPr>
              <a:spLocks noChangeArrowheads="1"/>
            </p:cNvSpPr>
            <p:nvPr/>
          </p:nvSpPr>
          <p:spPr bwMode="auto">
            <a:xfrm>
              <a:off x="2030016" y="3876675"/>
              <a:ext cx="2299097" cy="292894"/>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78852" name="Rectangle 4"/>
            <p:cNvSpPr>
              <a:spLocks noChangeArrowheads="1"/>
            </p:cNvSpPr>
            <p:nvPr/>
          </p:nvSpPr>
          <p:spPr bwMode="auto">
            <a:xfrm>
              <a:off x="2601516" y="3882629"/>
              <a:ext cx="1033937"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Remainder</a:t>
              </a:r>
            </a:p>
          </p:txBody>
        </p:sp>
        <p:sp>
          <p:nvSpPr>
            <p:cNvPr id="78853" name="Rectangle 5"/>
            <p:cNvSpPr>
              <a:spLocks noChangeArrowheads="1"/>
            </p:cNvSpPr>
            <p:nvPr/>
          </p:nvSpPr>
          <p:spPr bwMode="auto">
            <a:xfrm>
              <a:off x="5687616" y="2953941"/>
              <a:ext cx="1219200" cy="3619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a:p>
          </p:txBody>
        </p:sp>
        <p:sp>
          <p:nvSpPr>
            <p:cNvPr id="78854" name="Rectangle 6"/>
            <p:cNvSpPr>
              <a:spLocks noChangeArrowheads="1"/>
            </p:cNvSpPr>
            <p:nvPr/>
          </p:nvSpPr>
          <p:spPr bwMode="auto">
            <a:xfrm>
              <a:off x="5698332" y="2963466"/>
              <a:ext cx="1216819" cy="359569"/>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78855" name="Rectangle 7"/>
            <p:cNvSpPr>
              <a:spLocks noChangeArrowheads="1"/>
            </p:cNvSpPr>
            <p:nvPr/>
          </p:nvSpPr>
          <p:spPr bwMode="auto">
            <a:xfrm>
              <a:off x="5820966" y="3001566"/>
              <a:ext cx="85119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Quotient</a:t>
              </a:r>
            </a:p>
          </p:txBody>
        </p:sp>
        <p:sp>
          <p:nvSpPr>
            <p:cNvPr id="78856" name="Rectangle 8"/>
            <p:cNvSpPr>
              <a:spLocks noChangeArrowheads="1"/>
            </p:cNvSpPr>
            <p:nvPr/>
          </p:nvSpPr>
          <p:spPr bwMode="auto">
            <a:xfrm>
              <a:off x="2680097" y="2199198"/>
              <a:ext cx="2300288" cy="295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a:p>
          </p:txBody>
        </p:sp>
        <p:sp>
          <p:nvSpPr>
            <p:cNvPr id="78857" name="Rectangle 9"/>
            <p:cNvSpPr>
              <a:spLocks noChangeArrowheads="1"/>
            </p:cNvSpPr>
            <p:nvPr/>
          </p:nvSpPr>
          <p:spPr bwMode="auto">
            <a:xfrm>
              <a:off x="2690813" y="2201466"/>
              <a:ext cx="2297906" cy="292894"/>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78858" name="Rectangle 10"/>
            <p:cNvSpPr>
              <a:spLocks noChangeArrowheads="1"/>
            </p:cNvSpPr>
            <p:nvPr/>
          </p:nvSpPr>
          <p:spPr bwMode="auto">
            <a:xfrm>
              <a:off x="3370660" y="2215074"/>
              <a:ext cx="72616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dirty="0">
                  <a:solidFill>
                    <a:srgbClr val="000000"/>
                  </a:solidFill>
                  <a:latin typeface="Arial" panose="020B0604020202020204" pitchFamily="34" charset="0"/>
                </a:rPr>
                <a:t>Divisor</a:t>
              </a:r>
            </a:p>
          </p:txBody>
        </p:sp>
        <p:sp>
          <p:nvSpPr>
            <p:cNvPr id="78859" name="Rectangle 11"/>
            <p:cNvSpPr>
              <a:spLocks noChangeArrowheads="1"/>
            </p:cNvSpPr>
            <p:nvPr/>
          </p:nvSpPr>
          <p:spPr bwMode="auto">
            <a:xfrm>
              <a:off x="2663428" y="3205163"/>
              <a:ext cx="99863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a:solidFill>
                    <a:srgbClr val="000000"/>
                  </a:solidFill>
                  <a:latin typeface="Arial" panose="020B0604020202020204" pitchFamily="34" charset="0"/>
                </a:rPr>
                <a:t>64-</a:t>
              </a:r>
              <a:r>
                <a:rPr kumimoji="1" lang="en-US" altLang="zh-TW" b="1">
                  <a:solidFill>
                    <a:srgbClr val="000000"/>
                  </a:solidFill>
                  <a:latin typeface="Arial" panose="020B0604020202020204" pitchFamily="34" charset="0"/>
                </a:rPr>
                <a:t>bit ALU</a:t>
              </a:r>
            </a:p>
          </p:txBody>
        </p:sp>
        <p:sp>
          <p:nvSpPr>
            <p:cNvPr id="78860" name="Line 12"/>
            <p:cNvSpPr>
              <a:spLocks noChangeShapeType="1"/>
            </p:cNvSpPr>
            <p:nvPr/>
          </p:nvSpPr>
          <p:spPr bwMode="auto">
            <a:xfrm>
              <a:off x="3596878" y="2050256"/>
              <a:ext cx="576263" cy="0"/>
            </a:xfrm>
            <a:prstGeom prst="line">
              <a:avLst/>
            </a:prstGeom>
            <a:noFill/>
            <a:ln w="25400">
              <a:solidFill>
                <a:schemeClr val="hlink"/>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78861" name="Line 13"/>
            <p:cNvSpPr>
              <a:spLocks noChangeShapeType="1"/>
            </p:cNvSpPr>
            <p:nvPr/>
          </p:nvSpPr>
          <p:spPr bwMode="auto">
            <a:xfrm>
              <a:off x="5991225" y="2811066"/>
              <a:ext cx="576263"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78862" name="Rectangle 14"/>
            <p:cNvSpPr>
              <a:spLocks noChangeArrowheads="1"/>
            </p:cNvSpPr>
            <p:nvPr/>
          </p:nvSpPr>
          <p:spPr bwMode="auto">
            <a:xfrm>
              <a:off x="5078016" y="2133600"/>
              <a:ext cx="101470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Shift Right</a:t>
              </a:r>
            </a:p>
          </p:txBody>
        </p:sp>
        <p:sp>
          <p:nvSpPr>
            <p:cNvPr id="78863" name="Rectangle 15"/>
            <p:cNvSpPr>
              <a:spLocks noChangeArrowheads="1"/>
            </p:cNvSpPr>
            <p:nvPr/>
          </p:nvSpPr>
          <p:spPr bwMode="auto">
            <a:xfrm>
              <a:off x="6934200" y="2997994"/>
              <a:ext cx="889667"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Shift Left</a:t>
              </a:r>
            </a:p>
          </p:txBody>
        </p:sp>
        <p:sp>
          <p:nvSpPr>
            <p:cNvPr id="78864" name="Rectangle 16"/>
            <p:cNvSpPr>
              <a:spLocks noChangeArrowheads="1"/>
            </p:cNvSpPr>
            <p:nvPr/>
          </p:nvSpPr>
          <p:spPr bwMode="auto">
            <a:xfrm>
              <a:off x="4523185" y="3793331"/>
              <a:ext cx="569147"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Write</a:t>
              </a:r>
            </a:p>
          </p:txBody>
        </p:sp>
        <p:sp>
          <p:nvSpPr>
            <p:cNvPr id="78865" name="AutoShape 17"/>
            <p:cNvSpPr>
              <a:spLocks noChangeArrowheads="1"/>
            </p:cNvSpPr>
            <p:nvPr/>
          </p:nvSpPr>
          <p:spPr bwMode="auto">
            <a:xfrm>
              <a:off x="5238750" y="3775473"/>
              <a:ext cx="1454944" cy="596503"/>
            </a:xfrm>
            <a:prstGeom prst="roundRect">
              <a:avLst>
                <a:gd name="adj" fmla="val 48565"/>
              </a:avLst>
            </a:prstGeom>
            <a:noFill/>
            <a:ln w="25400">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78866" name="Rectangle 18"/>
            <p:cNvSpPr>
              <a:spLocks noChangeArrowheads="1"/>
            </p:cNvSpPr>
            <p:nvPr/>
          </p:nvSpPr>
          <p:spPr bwMode="auto">
            <a:xfrm>
              <a:off x="5573316" y="3905250"/>
              <a:ext cx="75501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FF"/>
                  </a:solidFill>
                  <a:latin typeface="Arial" panose="020B0604020202020204" pitchFamily="34" charset="0"/>
                </a:rPr>
                <a:t>Control</a:t>
              </a:r>
            </a:p>
          </p:txBody>
        </p:sp>
        <p:sp>
          <p:nvSpPr>
            <p:cNvPr id="78867" name="Rectangle 19"/>
            <p:cNvSpPr>
              <a:spLocks noChangeArrowheads="1"/>
            </p:cNvSpPr>
            <p:nvPr/>
          </p:nvSpPr>
          <p:spPr bwMode="auto">
            <a:xfrm>
              <a:off x="6059092" y="3307556"/>
              <a:ext cx="68768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a:solidFill>
                    <a:srgbClr val="000000"/>
                  </a:solidFill>
                  <a:latin typeface="Arial" panose="020B0604020202020204" pitchFamily="34" charset="0"/>
                </a:rPr>
                <a:t>32 </a:t>
              </a:r>
              <a:r>
                <a:rPr kumimoji="1" lang="en-US" altLang="zh-TW" b="1">
                  <a:solidFill>
                    <a:srgbClr val="000000"/>
                  </a:solidFill>
                  <a:latin typeface="Arial" panose="020B0604020202020204" pitchFamily="34" charset="0"/>
                </a:rPr>
                <a:t>bits</a:t>
              </a:r>
            </a:p>
          </p:txBody>
        </p:sp>
        <p:sp>
          <p:nvSpPr>
            <p:cNvPr id="78868" name="Rectangle 20"/>
            <p:cNvSpPr>
              <a:spLocks noChangeArrowheads="1"/>
            </p:cNvSpPr>
            <p:nvPr/>
          </p:nvSpPr>
          <p:spPr bwMode="auto">
            <a:xfrm>
              <a:off x="3771843" y="2569877"/>
              <a:ext cx="68768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dirty="0">
                  <a:solidFill>
                    <a:srgbClr val="000000"/>
                  </a:solidFill>
                  <a:latin typeface="Arial" panose="020B0604020202020204" pitchFamily="34" charset="0"/>
                </a:rPr>
                <a:t>64 </a:t>
              </a:r>
              <a:r>
                <a:rPr kumimoji="1" lang="en-US" altLang="zh-TW" b="1" dirty="0">
                  <a:solidFill>
                    <a:srgbClr val="000000"/>
                  </a:solidFill>
                  <a:latin typeface="Arial" panose="020B0604020202020204" pitchFamily="34" charset="0"/>
                </a:rPr>
                <a:t>bits</a:t>
              </a:r>
            </a:p>
          </p:txBody>
        </p:sp>
        <p:sp>
          <p:nvSpPr>
            <p:cNvPr id="78869" name="Rectangle 21"/>
            <p:cNvSpPr>
              <a:spLocks noChangeArrowheads="1"/>
            </p:cNvSpPr>
            <p:nvPr/>
          </p:nvSpPr>
          <p:spPr bwMode="auto">
            <a:xfrm>
              <a:off x="3205163" y="4189185"/>
              <a:ext cx="68768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dirty="0">
                  <a:solidFill>
                    <a:srgbClr val="000000"/>
                  </a:solidFill>
                  <a:latin typeface="Arial" panose="020B0604020202020204" pitchFamily="34" charset="0"/>
                </a:rPr>
                <a:t>64 </a:t>
              </a:r>
              <a:r>
                <a:rPr kumimoji="1" lang="en-US" altLang="zh-TW" b="1" dirty="0">
                  <a:solidFill>
                    <a:srgbClr val="000000"/>
                  </a:solidFill>
                  <a:latin typeface="Arial" panose="020B0604020202020204" pitchFamily="34" charset="0"/>
                </a:rPr>
                <a:t>bits</a:t>
              </a:r>
            </a:p>
          </p:txBody>
        </p:sp>
        <p:sp>
          <p:nvSpPr>
            <p:cNvPr id="78870" name="Freeform 22"/>
            <p:cNvSpPr/>
            <p:nvPr/>
          </p:nvSpPr>
          <p:spPr bwMode="auto">
            <a:xfrm>
              <a:off x="6705600" y="3259931"/>
              <a:ext cx="538163" cy="801291"/>
            </a:xfrm>
            <a:custGeom>
              <a:avLst/>
              <a:gdLst>
                <a:gd name="T0" fmla="*/ 0 w 417"/>
                <a:gd name="T1" fmla="*/ 2147483647 h 673"/>
                <a:gd name="T2" fmla="*/ 2147483647 w 417"/>
                <a:gd name="T3" fmla="*/ 2147483647 h 673"/>
                <a:gd name="T4" fmla="*/ 2147483647 w 417"/>
                <a:gd name="T5" fmla="*/ 0 h 673"/>
                <a:gd name="T6" fmla="*/ 2147483647 w 417"/>
                <a:gd name="T7" fmla="*/ 0 h 673"/>
                <a:gd name="T8" fmla="*/ 0 60000 65536"/>
                <a:gd name="T9" fmla="*/ 0 60000 65536"/>
                <a:gd name="T10" fmla="*/ 0 60000 65536"/>
                <a:gd name="T11" fmla="*/ 0 60000 65536"/>
                <a:gd name="T12" fmla="*/ 0 w 417"/>
                <a:gd name="T13" fmla="*/ 0 h 673"/>
                <a:gd name="T14" fmla="*/ 417 w 417"/>
                <a:gd name="T15" fmla="*/ 673 h 673"/>
              </a:gdLst>
              <a:ahLst/>
              <a:cxnLst>
                <a:cxn ang="T8">
                  <a:pos x="T0" y="T1"/>
                </a:cxn>
                <a:cxn ang="T9">
                  <a:pos x="T2" y="T3"/>
                </a:cxn>
                <a:cxn ang="T10">
                  <a:pos x="T4" y="T5"/>
                </a:cxn>
                <a:cxn ang="T11">
                  <a:pos x="T6" y="T7"/>
                </a:cxn>
              </a:cxnLst>
              <a:rect l="T12" t="T13" r="T14" b="T15"/>
              <a:pathLst>
                <a:path w="417" h="673">
                  <a:moveTo>
                    <a:pt x="0" y="672"/>
                  </a:moveTo>
                  <a:lnTo>
                    <a:pt x="416" y="672"/>
                  </a:lnTo>
                  <a:lnTo>
                    <a:pt x="416" y="0"/>
                  </a:lnTo>
                  <a:lnTo>
                    <a:pt x="171"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1" name="Freeform 23"/>
            <p:cNvSpPr/>
            <p:nvPr/>
          </p:nvSpPr>
          <p:spPr bwMode="auto">
            <a:xfrm>
              <a:off x="5013722" y="2408635"/>
              <a:ext cx="552450" cy="1359694"/>
            </a:xfrm>
            <a:custGeom>
              <a:avLst/>
              <a:gdLst>
                <a:gd name="T0" fmla="*/ 2147483647 w 428"/>
                <a:gd name="T1" fmla="*/ 2147483647 h 1142"/>
                <a:gd name="T2" fmla="*/ 2147483647 w 428"/>
                <a:gd name="T3" fmla="*/ 0 h 1142"/>
                <a:gd name="T4" fmla="*/ 0 w 428"/>
                <a:gd name="T5" fmla="*/ 0 h 1142"/>
                <a:gd name="T6" fmla="*/ 0 w 428"/>
                <a:gd name="T7" fmla="*/ 0 h 1142"/>
                <a:gd name="T8" fmla="*/ 0 w 428"/>
                <a:gd name="T9" fmla="*/ 0 h 1142"/>
                <a:gd name="T10" fmla="*/ 0 60000 65536"/>
                <a:gd name="T11" fmla="*/ 0 60000 65536"/>
                <a:gd name="T12" fmla="*/ 0 60000 65536"/>
                <a:gd name="T13" fmla="*/ 0 60000 65536"/>
                <a:gd name="T14" fmla="*/ 0 60000 65536"/>
                <a:gd name="T15" fmla="*/ 0 w 428"/>
                <a:gd name="T16" fmla="*/ 0 h 1142"/>
                <a:gd name="T17" fmla="*/ 428 w 428"/>
                <a:gd name="T18" fmla="*/ 1142 h 1142"/>
              </a:gdLst>
              <a:ahLst/>
              <a:cxnLst>
                <a:cxn ang="T10">
                  <a:pos x="T0" y="T1"/>
                </a:cxn>
                <a:cxn ang="T11">
                  <a:pos x="T2" y="T3"/>
                </a:cxn>
                <a:cxn ang="T12">
                  <a:pos x="T4" y="T5"/>
                </a:cxn>
                <a:cxn ang="T13">
                  <a:pos x="T6" y="T7"/>
                </a:cxn>
                <a:cxn ang="T14">
                  <a:pos x="T8" y="T9"/>
                </a:cxn>
              </a:cxnLst>
              <a:rect l="T15" t="T16" r="T17" b="T18"/>
              <a:pathLst>
                <a:path w="428" h="1142">
                  <a:moveTo>
                    <a:pt x="427" y="1141"/>
                  </a:moveTo>
                  <a:lnTo>
                    <a:pt x="427"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2" name="Freeform 24"/>
            <p:cNvSpPr/>
            <p:nvPr/>
          </p:nvSpPr>
          <p:spPr bwMode="auto">
            <a:xfrm>
              <a:off x="3871912" y="3348038"/>
              <a:ext cx="1472804" cy="484585"/>
            </a:xfrm>
            <a:custGeom>
              <a:avLst/>
              <a:gdLst>
                <a:gd name="T0" fmla="*/ 2147483647 w 1142"/>
                <a:gd name="T1" fmla="*/ 2147483647 h 407"/>
                <a:gd name="T2" fmla="*/ 2147483647 w 1142"/>
                <a:gd name="T3" fmla="*/ 0 h 407"/>
                <a:gd name="T4" fmla="*/ 0 w 1142"/>
                <a:gd name="T5" fmla="*/ 0 h 407"/>
                <a:gd name="T6" fmla="*/ 0 60000 65536"/>
                <a:gd name="T7" fmla="*/ 0 60000 65536"/>
                <a:gd name="T8" fmla="*/ 0 60000 65536"/>
                <a:gd name="T9" fmla="*/ 0 w 1142"/>
                <a:gd name="T10" fmla="*/ 0 h 407"/>
                <a:gd name="T11" fmla="*/ 1142 w 1142"/>
                <a:gd name="T12" fmla="*/ 407 h 407"/>
              </a:gdLst>
              <a:ahLst/>
              <a:cxnLst>
                <a:cxn ang="T6">
                  <a:pos x="T0" y="T1"/>
                </a:cxn>
                <a:cxn ang="T7">
                  <a:pos x="T2" y="T3"/>
                </a:cxn>
                <a:cxn ang="T8">
                  <a:pos x="T4" y="T5"/>
                </a:cxn>
              </a:cxnLst>
              <a:rect l="T9" t="T10" r="T11" b="T12"/>
              <a:pathLst>
                <a:path w="1142" h="407">
                  <a:moveTo>
                    <a:pt x="1141" y="406"/>
                  </a:moveTo>
                  <a:lnTo>
                    <a:pt x="1141"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3" name="Freeform 25"/>
            <p:cNvSpPr/>
            <p:nvPr/>
          </p:nvSpPr>
          <p:spPr bwMode="auto">
            <a:xfrm>
              <a:off x="4331154" y="4071938"/>
              <a:ext cx="896541" cy="1191"/>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4" name="Freeform 26"/>
            <p:cNvSpPr/>
            <p:nvPr/>
          </p:nvSpPr>
          <p:spPr bwMode="auto">
            <a:xfrm>
              <a:off x="2220517" y="2942035"/>
              <a:ext cx="1955006" cy="648890"/>
            </a:xfrm>
            <a:custGeom>
              <a:avLst/>
              <a:gdLst>
                <a:gd name="T0" fmla="*/ 0 w 1515"/>
                <a:gd name="T1" fmla="*/ 2147483647 h 545"/>
                <a:gd name="T2" fmla="*/ 2147483647 w 1515"/>
                <a:gd name="T3" fmla="*/ 2147483647 h 545"/>
                <a:gd name="T4" fmla="*/ 2147483647 w 1515"/>
                <a:gd name="T5" fmla="*/ 2147483647 h 545"/>
                <a:gd name="T6" fmla="*/ 2147483647 w 1515"/>
                <a:gd name="T7" fmla="*/ 2147483647 h 545"/>
                <a:gd name="T8" fmla="*/ 2147483647 w 1515"/>
                <a:gd name="T9" fmla="*/ 2147483647 h 545"/>
                <a:gd name="T10" fmla="*/ 2147483647 w 1515"/>
                <a:gd name="T11" fmla="*/ 2147483647 h 545"/>
                <a:gd name="T12" fmla="*/ 2147483647 w 1515"/>
                <a:gd name="T13" fmla="*/ 0 h 545"/>
                <a:gd name="T14" fmla="*/ 0 w 1515"/>
                <a:gd name="T15" fmla="*/ 2147483647 h 545"/>
                <a:gd name="T16" fmla="*/ 0 60000 65536"/>
                <a:gd name="T17" fmla="*/ 0 60000 65536"/>
                <a:gd name="T18" fmla="*/ 0 60000 65536"/>
                <a:gd name="T19" fmla="*/ 0 60000 65536"/>
                <a:gd name="T20" fmla="*/ 0 60000 65536"/>
                <a:gd name="T21" fmla="*/ 0 60000 65536"/>
                <a:gd name="T22" fmla="*/ 0 60000 65536"/>
                <a:gd name="T23" fmla="*/ 0 60000 65536"/>
                <a:gd name="T24" fmla="*/ 0 w 1515"/>
                <a:gd name="T25" fmla="*/ 0 h 545"/>
                <a:gd name="T26" fmla="*/ 1515 w 1515"/>
                <a:gd name="T27" fmla="*/ 545 h 5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15" h="545">
                  <a:moveTo>
                    <a:pt x="0" y="10"/>
                  </a:moveTo>
                  <a:lnTo>
                    <a:pt x="394" y="544"/>
                  </a:lnTo>
                  <a:lnTo>
                    <a:pt x="1130" y="544"/>
                  </a:lnTo>
                  <a:lnTo>
                    <a:pt x="1514" y="21"/>
                  </a:lnTo>
                  <a:lnTo>
                    <a:pt x="906" y="21"/>
                  </a:lnTo>
                  <a:lnTo>
                    <a:pt x="768" y="202"/>
                  </a:lnTo>
                  <a:lnTo>
                    <a:pt x="608" y="0"/>
                  </a:lnTo>
                  <a:lnTo>
                    <a:pt x="0" y="10"/>
                  </a:lnTo>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5" name="Freeform 27"/>
            <p:cNvSpPr/>
            <p:nvPr/>
          </p:nvSpPr>
          <p:spPr bwMode="auto">
            <a:xfrm>
              <a:off x="3198019" y="3620179"/>
              <a:ext cx="1191" cy="280988"/>
            </a:xfrm>
            <a:custGeom>
              <a:avLst/>
              <a:gdLst>
                <a:gd name="T0" fmla="*/ 0 w 1"/>
                <a:gd name="T1" fmla="*/ 0 h 236"/>
                <a:gd name="T2" fmla="*/ 0 w 1"/>
                <a:gd name="T3" fmla="*/ 2147483647 h 236"/>
                <a:gd name="T4" fmla="*/ 0 60000 65536"/>
                <a:gd name="T5" fmla="*/ 0 60000 65536"/>
                <a:gd name="T6" fmla="*/ 0 w 1"/>
                <a:gd name="T7" fmla="*/ 0 h 236"/>
                <a:gd name="T8" fmla="*/ 1 w 1"/>
                <a:gd name="T9" fmla="*/ 236 h 236"/>
              </a:gdLst>
              <a:ahLst/>
              <a:cxnLst>
                <a:cxn ang="T4">
                  <a:pos x="T0" y="T1"/>
                </a:cxn>
                <a:cxn ang="T5">
                  <a:pos x="T2" y="T3"/>
                </a:cxn>
              </a:cxnLst>
              <a:rect l="T6" t="T7" r="T8" b="T9"/>
              <a:pathLst>
                <a:path w="1" h="236">
                  <a:moveTo>
                    <a:pt x="0" y="0"/>
                  </a:moveTo>
                  <a:lnTo>
                    <a:pt x="0" y="235"/>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6" name="Freeform 28"/>
            <p:cNvSpPr/>
            <p:nvPr/>
          </p:nvSpPr>
          <p:spPr bwMode="auto">
            <a:xfrm>
              <a:off x="1643063" y="2599135"/>
              <a:ext cx="1556147" cy="1931194"/>
            </a:xfrm>
            <a:custGeom>
              <a:avLst/>
              <a:gdLst>
                <a:gd name="T0" fmla="*/ 2147483647 w 1206"/>
                <a:gd name="T1" fmla="*/ 2147483647 h 1622"/>
                <a:gd name="T2" fmla="*/ 2147483647 w 1206"/>
                <a:gd name="T3" fmla="*/ 2147483647 h 1622"/>
                <a:gd name="T4" fmla="*/ 0 w 1206"/>
                <a:gd name="T5" fmla="*/ 2147483647 h 1622"/>
                <a:gd name="T6" fmla="*/ 0 w 1206"/>
                <a:gd name="T7" fmla="*/ 0 h 1622"/>
                <a:gd name="T8" fmla="*/ 2147483647 w 1206"/>
                <a:gd name="T9" fmla="*/ 0 h 1622"/>
                <a:gd name="T10" fmla="*/ 2147483647 w 1206"/>
                <a:gd name="T11" fmla="*/ 2147483647 h 1622"/>
                <a:gd name="T12" fmla="*/ 0 60000 65536"/>
                <a:gd name="T13" fmla="*/ 0 60000 65536"/>
                <a:gd name="T14" fmla="*/ 0 60000 65536"/>
                <a:gd name="T15" fmla="*/ 0 60000 65536"/>
                <a:gd name="T16" fmla="*/ 0 60000 65536"/>
                <a:gd name="T17" fmla="*/ 0 60000 65536"/>
                <a:gd name="T18" fmla="*/ 0 w 1206"/>
                <a:gd name="T19" fmla="*/ 0 h 1622"/>
                <a:gd name="T20" fmla="*/ 1206 w 1206"/>
                <a:gd name="T21" fmla="*/ 1622 h 1622"/>
              </a:gdLst>
              <a:ahLst/>
              <a:cxnLst>
                <a:cxn ang="T12">
                  <a:pos x="T0" y="T1"/>
                </a:cxn>
                <a:cxn ang="T13">
                  <a:pos x="T2" y="T3"/>
                </a:cxn>
                <a:cxn ang="T14">
                  <a:pos x="T4" y="T5"/>
                </a:cxn>
                <a:cxn ang="T15">
                  <a:pos x="T6" y="T7"/>
                </a:cxn>
                <a:cxn ang="T16">
                  <a:pos x="T8" y="T9"/>
                </a:cxn>
                <a:cxn ang="T17">
                  <a:pos x="T10" y="T11"/>
                </a:cxn>
              </a:cxnLst>
              <a:rect l="T18" t="T19" r="T20" b="T21"/>
              <a:pathLst>
                <a:path w="1206" h="1622">
                  <a:moveTo>
                    <a:pt x="1205" y="1323"/>
                  </a:moveTo>
                  <a:lnTo>
                    <a:pt x="1205" y="1621"/>
                  </a:lnTo>
                  <a:lnTo>
                    <a:pt x="0" y="1621"/>
                  </a:lnTo>
                  <a:lnTo>
                    <a:pt x="0" y="0"/>
                  </a:lnTo>
                  <a:lnTo>
                    <a:pt x="779" y="0"/>
                  </a:lnTo>
                  <a:lnTo>
                    <a:pt x="779" y="288"/>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7" name="Freeform 29"/>
            <p:cNvSpPr/>
            <p:nvPr/>
          </p:nvSpPr>
          <p:spPr bwMode="auto">
            <a:xfrm>
              <a:off x="3706417" y="2509837"/>
              <a:ext cx="2381" cy="433388"/>
            </a:xfrm>
            <a:custGeom>
              <a:avLst/>
              <a:gdLst>
                <a:gd name="T0" fmla="*/ 0 w 1"/>
                <a:gd name="T1" fmla="*/ 0 h 364"/>
                <a:gd name="T2" fmla="*/ 0 w 1"/>
                <a:gd name="T3" fmla="*/ 2147483647 h 364"/>
                <a:gd name="T4" fmla="*/ 0 60000 65536"/>
                <a:gd name="T5" fmla="*/ 0 60000 65536"/>
                <a:gd name="T6" fmla="*/ 0 w 1"/>
                <a:gd name="T7" fmla="*/ 0 h 364"/>
                <a:gd name="T8" fmla="*/ 1 w 1"/>
                <a:gd name="T9" fmla="*/ 364 h 364"/>
              </a:gdLst>
              <a:ahLst/>
              <a:cxnLst>
                <a:cxn ang="T4">
                  <a:pos x="T0" y="T1"/>
                </a:cxn>
                <a:cxn ang="T5">
                  <a:pos x="T2" y="T3"/>
                </a:cxn>
              </a:cxnLst>
              <a:rect l="T6" t="T7" r="T8" b="T9"/>
              <a:pathLst>
                <a:path w="1" h="364">
                  <a:moveTo>
                    <a:pt x="0" y="0"/>
                  </a:moveTo>
                  <a:lnTo>
                    <a:pt x="0" y="36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8" name="Freeform 30"/>
            <p:cNvSpPr/>
            <p:nvPr/>
          </p:nvSpPr>
          <p:spPr bwMode="auto">
            <a:xfrm>
              <a:off x="3201591" y="4361260"/>
              <a:ext cx="2818209" cy="158353"/>
            </a:xfrm>
            <a:custGeom>
              <a:avLst/>
              <a:gdLst>
                <a:gd name="T0" fmla="*/ 0 w 2185"/>
                <a:gd name="T1" fmla="*/ 2147483647 h 133"/>
                <a:gd name="T2" fmla="*/ 2147483647 w 2185"/>
                <a:gd name="T3" fmla="*/ 2147483647 h 133"/>
                <a:gd name="T4" fmla="*/ 2147483647 w 2185"/>
                <a:gd name="T5" fmla="*/ 0 h 133"/>
                <a:gd name="T6" fmla="*/ 0 60000 65536"/>
                <a:gd name="T7" fmla="*/ 0 60000 65536"/>
                <a:gd name="T8" fmla="*/ 0 60000 65536"/>
                <a:gd name="T9" fmla="*/ 0 w 2185"/>
                <a:gd name="T10" fmla="*/ 0 h 133"/>
                <a:gd name="T11" fmla="*/ 2185 w 2185"/>
                <a:gd name="T12" fmla="*/ 133 h 133"/>
              </a:gdLst>
              <a:ahLst/>
              <a:cxnLst>
                <a:cxn ang="T6">
                  <a:pos x="T0" y="T1"/>
                </a:cxn>
                <a:cxn ang="T7">
                  <a:pos x="T2" y="T3"/>
                </a:cxn>
                <a:cxn ang="T8">
                  <a:pos x="T4" y="T5"/>
                </a:cxn>
              </a:cxnLst>
              <a:rect l="T9" t="T10" r="T11" b="T12"/>
              <a:pathLst>
                <a:path w="2185" h="133">
                  <a:moveTo>
                    <a:pt x="0" y="132"/>
                  </a:moveTo>
                  <a:lnTo>
                    <a:pt x="2184" y="132"/>
                  </a:lnTo>
                  <a:lnTo>
                    <a:pt x="2184"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grpSp>
      <p:sp>
        <p:nvSpPr>
          <p:cNvPr id="78879" name="Rectangle 31"/>
          <p:cNvSpPr>
            <a:spLocks noGrp="1" noChangeArrowheads="1"/>
          </p:cNvSpPr>
          <p:nvPr>
            <p:ph type="title"/>
          </p:nvPr>
        </p:nvSpPr>
        <p:spPr>
          <a:xfrm>
            <a:off x="1528021" y="223707"/>
            <a:ext cx="8420100" cy="514524"/>
          </a:xfrm>
        </p:spPr>
        <p:txBody>
          <a:bodyPr/>
          <a:lstStyle/>
          <a:p>
            <a:r>
              <a:rPr lang="en-US" altLang="zh-TW" dirty="0"/>
              <a:t>Divide Hardware - Version 1 (1)</a:t>
            </a:r>
          </a:p>
        </p:txBody>
      </p:sp>
      <p:sp>
        <p:nvSpPr>
          <p:cNvPr id="78880" name="Rectangle 32"/>
          <p:cNvSpPr>
            <a:spLocks noGrp="1" noChangeArrowheads="1"/>
          </p:cNvSpPr>
          <p:nvPr>
            <p:ph type="body" idx="1"/>
          </p:nvPr>
        </p:nvSpPr>
        <p:spPr>
          <a:xfrm>
            <a:off x="1588317" y="1125538"/>
            <a:ext cx="9994084" cy="1301677"/>
          </a:xfrm>
        </p:spPr>
        <p:txBody>
          <a:bodyPr/>
          <a:lstStyle/>
          <a:p>
            <a:r>
              <a:rPr lang="zh-TW" altLang="en-US" sz="2667" dirty="0"/>
              <a:t>64-</a:t>
            </a:r>
            <a:r>
              <a:rPr lang="en-US" altLang="zh-TW" sz="2667" dirty="0"/>
              <a:t>bit Divisor register (initialized with 32-bit divisor in left half), 64-bit ALU, 64-bit Remainder register (initialized with 64-bit dividend), 32-bit Quotient register</a:t>
            </a:r>
          </a:p>
        </p:txBody>
      </p:sp>
      <p:sp>
        <p:nvSpPr>
          <p:cNvPr id="34"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670957" y="1163271"/>
            <a:ext cx="5302280" cy="4932728"/>
            <a:chOff x="3536157" y="95250"/>
            <a:chExt cx="4643437" cy="4967288"/>
          </a:xfrm>
        </p:grpSpPr>
        <p:grpSp>
          <p:nvGrpSpPr>
            <p:cNvPr id="2" name="Group 1041"/>
            <p:cNvGrpSpPr/>
            <p:nvPr/>
          </p:nvGrpSpPr>
          <p:grpSpPr bwMode="auto">
            <a:xfrm>
              <a:off x="3771901" y="3420674"/>
              <a:ext cx="3212306" cy="283369"/>
              <a:chOff x="1761" y="2873"/>
              <a:chExt cx="2491" cy="238"/>
            </a:xfrm>
            <a:solidFill>
              <a:srgbClr val="92D050"/>
            </a:solidFill>
          </p:grpSpPr>
          <p:sp>
            <p:nvSpPr>
              <p:cNvPr id="75812" name="Rectangle 1043"/>
              <p:cNvSpPr>
                <a:spLocks noChangeArrowheads="1"/>
              </p:cNvSpPr>
              <p:nvPr/>
            </p:nvSpPr>
            <p:spPr bwMode="auto">
              <a:xfrm>
                <a:off x="1761" y="2874"/>
                <a:ext cx="2491" cy="237"/>
              </a:xfrm>
              <a:prstGeom prst="rect">
                <a:avLst/>
              </a:prstGeom>
              <a:grpFill/>
              <a:ln w="25400">
                <a:noFill/>
                <a:miter lim="800000"/>
              </a:ln>
            </p:spPr>
            <p:txBody>
              <a:bodyPr wrap="none" anchor="ctr"/>
              <a:lstStyle/>
              <a:p>
                <a:pPr>
                  <a:defRPr/>
                </a:pPr>
                <a:endParaRPr lang="zh-TW" altLang="en-US" sz="1200"/>
              </a:p>
            </p:txBody>
          </p:sp>
          <p:sp>
            <p:nvSpPr>
              <p:cNvPr id="75811" name="Rectangle 1042"/>
              <p:cNvSpPr>
                <a:spLocks noChangeArrowheads="1"/>
              </p:cNvSpPr>
              <p:nvPr/>
            </p:nvSpPr>
            <p:spPr bwMode="auto">
              <a:xfrm>
                <a:off x="1785" y="2873"/>
                <a:ext cx="1778" cy="235"/>
              </a:xfrm>
              <a:prstGeom prst="rect">
                <a:avLst/>
              </a:prstGeom>
              <a:noFill/>
              <a:ln w="9525">
                <a:noFill/>
                <a:miter lim="800000"/>
              </a:ln>
            </p:spPr>
            <p:txBody>
              <a:bodyPr wrap="none" lIns="92075" tIns="46039" rIns="92075" bIns="46039">
                <a:spAutoFit/>
              </a:bodyPr>
              <a:lstStyle/>
              <a:p>
                <a:pPr>
                  <a:defRPr/>
                </a:pPr>
                <a:r>
                  <a:rPr kumimoji="1" lang="zh-TW" altLang="en-US" sz="1200" b="1" dirty="0">
                    <a:latin typeface="Arial" panose="020B0604020202020204" pitchFamily="34" charset="0"/>
                  </a:rPr>
                  <a:t>3. </a:t>
                </a:r>
                <a:r>
                  <a:rPr kumimoji="1" lang="en-US" altLang="zh-TW" sz="1200" b="1" dirty="0">
                    <a:latin typeface="Arial" panose="020B0604020202020204" pitchFamily="34" charset="0"/>
                  </a:rPr>
                  <a:t>Shift Divisor register right 1 bit</a:t>
                </a:r>
              </a:p>
            </p:txBody>
          </p:sp>
        </p:grpSp>
        <p:sp>
          <p:nvSpPr>
            <p:cNvPr id="79875" name="AutoShape 1052"/>
            <p:cNvSpPr>
              <a:spLocks noChangeArrowheads="1"/>
            </p:cNvSpPr>
            <p:nvPr/>
          </p:nvSpPr>
          <p:spPr bwMode="auto">
            <a:xfrm>
              <a:off x="5124450" y="1528762"/>
              <a:ext cx="1444229" cy="490538"/>
            </a:xfrm>
            <a:prstGeom prst="diamond">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p>
              <a:endParaRPr lang="zh-TW" altLang="en-US" sz="1200"/>
            </a:p>
          </p:txBody>
        </p:sp>
        <p:sp>
          <p:nvSpPr>
            <p:cNvPr id="79876" name="Rectangle 1061"/>
            <p:cNvSpPr>
              <a:spLocks noChangeArrowheads="1"/>
            </p:cNvSpPr>
            <p:nvPr/>
          </p:nvSpPr>
          <p:spPr bwMode="auto">
            <a:xfrm>
              <a:off x="5354241" y="3996929"/>
              <a:ext cx="1455761" cy="2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200" b="1">
                  <a:latin typeface="Arial" panose="020B0604020202020204" pitchFamily="34" charset="0"/>
                </a:rPr>
                <a:t> </a:t>
              </a:r>
              <a:r>
                <a:rPr kumimoji="1" lang="en-US" altLang="zh-TW" sz="1200" b="1">
                  <a:latin typeface="Arial" panose="020B0604020202020204" pitchFamily="34" charset="0"/>
                </a:rPr>
                <a:t>No: &lt; 33 repetitions</a:t>
              </a:r>
            </a:p>
          </p:txBody>
        </p:sp>
        <p:sp>
          <p:nvSpPr>
            <p:cNvPr id="79877" name="Rectangle 1027"/>
            <p:cNvSpPr>
              <a:spLocks noChangeArrowheads="1"/>
            </p:cNvSpPr>
            <p:nvPr/>
          </p:nvSpPr>
          <p:spPr bwMode="auto">
            <a:xfrm>
              <a:off x="5301853" y="2237281"/>
              <a:ext cx="2727723" cy="836819"/>
            </a:xfrm>
            <a:prstGeom prst="rect">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kumimoji="1" lang="zh-TW" altLang="en-US" sz="1200" b="1">
                  <a:latin typeface="Arial" panose="020B0604020202020204" pitchFamily="34" charset="0"/>
                </a:rPr>
                <a:t>2</a:t>
              </a:r>
              <a:r>
                <a:rPr kumimoji="1" lang="en-US" altLang="zh-TW" sz="1200" b="1">
                  <a:latin typeface="Arial" panose="020B0604020202020204" pitchFamily="34" charset="0"/>
                </a:rPr>
                <a:t>b. Restore original value by adding Divisor to Remainder, place sum in Remainder, shift Quotient to the left, setting new least significant bit to 0</a:t>
              </a:r>
              <a:endParaRPr lang="zh-TW" altLang="en-US" sz="1200"/>
            </a:p>
          </p:txBody>
        </p:sp>
        <p:sp>
          <p:nvSpPr>
            <p:cNvPr id="79880" name="Rectangle 1030"/>
            <p:cNvSpPr>
              <a:spLocks noChangeArrowheads="1"/>
            </p:cNvSpPr>
            <p:nvPr/>
          </p:nvSpPr>
          <p:spPr bwMode="auto">
            <a:xfrm>
              <a:off x="5334000" y="833438"/>
              <a:ext cx="2733675" cy="27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200"/>
            </a:p>
          </p:txBody>
        </p:sp>
        <p:sp>
          <p:nvSpPr>
            <p:cNvPr id="79881" name="Rectangle 1032"/>
            <p:cNvSpPr>
              <a:spLocks noChangeArrowheads="1"/>
            </p:cNvSpPr>
            <p:nvPr/>
          </p:nvSpPr>
          <p:spPr bwMode="auto">
            <a:xfrm>
              <a:off x="5457582" y="1548242"/>
              <a:ext cx="857734" cy="428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lnSpc>
                  <a:spcPct val="90000"/>
                </a:lnSpc>
              </a:pPr>
              <a:r>
                <a:rPr kumimoji="1" lang="en-US" altLang="zh-TW" sz="1200" b="1" dirty="0">
                  <a:latin typeface="Arial" panose="020B0604020202020204" pitchFamily="34" charset="0"/>
                </a:rPr>
                <a:t>Test </a:t>
              </a:r>
              <a:br>
                <a:rPr kumimoji="1" lang="en-US" altLang="zh-TW" sz="1200" b="1" dirty="0">
                  <a:latin typeface="Arial" panose="020B0604020202020204" pitchFamily="34" charset="0"/>
                </a:rPr>
              </a:br>
              <a:r>
                <a:rPr kumimoji="1" lang="en-US" altLang="zh-TW" sz="1200" b="1" dirty="0">
                  <a:latin typeface="Arial" panose="020B0604020202020204" pitchFamily="34" charset="0"/>
                </a:rPr>
                <a:t>Remainder</a:t>
              </a:r>
            </a:p>
          </p:txBody>
        </p:sp>
        <p:sp>
          <p:nvSpPr>
            <p:cNvPr id="79882" name="Rectangle 1033"/>
            <p:cNvSpPr>
              <a:spLocks noChangeArrowheads="1"/>
            </p:cNvSpPr>
            <p:nvPr/>
          </p:nvSpPr>
          <p:spPr bwMode="auto">
            <a:xfrm>
              <a:off x="6574631" y="1468041"/>
              <a:ext cx="1086556" cy="2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a:latin typeface="Arial" panose="020B0604020202020204" pitchFamily="34" charset="0"/>
                </a:rPr>
                <a:t>Remainder &lt; 0</a:t>
              </a:r>
            </a:p>
          </p:txBody>
        </p:sp>
        <p:sp>
          <p:nvSpPr>
            <p:cNvPr id="79883" name="Rectangle 1034"/>
            <p:cNvSpPr>
              <a:spLocks noChangeArrowheads="1"/>
            </p:cNvSpPr>
            <p:nvPr/>
          </p:nvSpPr>
          <p:spPr bwMode="auto">
            <a:xfrm>
              <a:off x="3769519" y="1484711"/>
              <a:ext cx="1082345" cy="2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a:latin typeface="Arial" panose="020B0604020202020204" pitchFamily="34" charset="0"/>
                </a:rPr>
                <a:t>Remainder </a:t>
              </a:r>
              <a:r>
                <a:rPr kumimoji="1" lang="en-US" altLang="zh-TW" sz="1200" b="1">
                  <a:latin typeface="Arial" panose="020B0604020202020204" pitchFamily="34" charset="0"/>
                  <a:sym typeface="Symbol" panose="05050102010706020507" pitchFamily="18" charset="2"/>
                </a:rPr>
                <a:t> </a:t>
              </a:r>
              <a:r>
                <a:rPr kumimoji="1" lang="en-US" altLang="zh-TW" sz="1200" b="1">
                  <a:latin typeface="Arial" panose="020B0604020202020204" pitchFamily="34" charset="0"/>
                </a:rPr>
                <a:t>0</a:t>
              </a:r>
            </a:p>
          </p:txBody>
        </p:sp>
        <p:sp>
          <p:nvSpPr>
            <p:cNvPr id="79884" name="Rectangle 1036"/>
            <p:cNvSpPr>
              <a:spLocks noChangeArrowheads="1"/>
            </p:cNvSpPr>
            <p:nvPr/>
          </p:nvSpPr>
          <p:spPr bwMode="auto">
            <a:xfrm>
              <a:off x="4714875" y="641748"/>
              <a:ext cx="2318717" cy="651508"/>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200" b="1">
                  <a:latin typeface="Arial" panose="020B0604020202020204" pitchFamily="34" charset="0"/>
                </a:rPr>
                <a:t>1. </a:t>
              </a:r>
              <a:r>
                <a:rPr kumimoji="1" lang="en-US" altLang="zh-TW" sz="1200" b="1">
                  <a:latin typeface="Arial" panose="020B0604020202020204" pitchFamily="34" charset="0"/>
                </a:rPr>
                <a:t>Subtract Divisor register from</a:t>
              </a:r>
            </a:p>
            <a:p>
              <a:r>
                <a:rPr kumimoji="1" lang="en-US" altLang="zh-TW" sz="1200" b="1">
                  <a:latin typeface="Arial" panose="020B0604020202020204" pitchFamily="34" charset="0"/>
                </a:rPr>
                <a:t>Remainder register, and place the</a:t>
              </a:r>
            </a:p>
            <a:p>
              <a:r>
                <a:rPr kumimoji="1" lang="en-US" altLang="zh-TW" sz="1200" b="1">
                  <a:latin typeface="Arial" panose="020B0604020202020204" pitchFamily="34" charset="0"/>
                </a:rPr>
                <a:t>result in Remainder register</a:t>
              </a:r>
            </a:p>
          </p:txBody>
        </p:sp>
        <p:sp>
          <p:nvSpPr>
            <p:cNvPr id="79885" name="Rectangle 1037"/>
            <p:cNvSpPr>
              <a:spLocks noChangeArrowheads="1"/>
            </p:cNvSpPr>
            <p:nvPr/>
          </p:nvSpPr>
          <p:spPr bwMode="auto">
            <a:xfrm>
              <a:off x="4736307" y="639366"/>
              <a:ext cx="3261122" cy="63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200"/>
            </a:p>
          </p:txBody>
        </p:sp>
        <p:sp>
          <p:nvSpPr>
            <p:cNvPr id="79886" name="Rectangle 1040"/>
            <p:cNvSpPr>
              <a:spLocks noChangeArrowheads="1"/>
            </p:cNvSpPr>
            <p:nvPr/>
          </p:nvSpPr>
          <p:spPr bwMode="auto">
            <a:xfrm>
              <a:off x="3536157" y="2317759"/>
              <a:ext cx="1640681" cy="650859"/>
            </a:xfrm>
            <a:prstGeom prst="rect">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kumimoji="1" lang="zh-TW" altLang="en-US" sz="1200" b="1" dirty="0">
                  <a:latin typeface="Arial" panose="020B0604020202020204" pitchFamily="34" charset="0"/>
                </a:rPr>
                <a:t>2</a:t>
              </a:r>
              <a:r>
                <a:rPr kumimoji="1" lang="en-US" altLang="zh-TW" sz="1200" b="1" dirty="0">
                  <a:latin typeface="Arial" panose="020B0604020202020204" pitchFamily="34" charset="0"/>
                </a:rPr>
                <a:t>a. Shift Quotient register to left, setting new rightmost bit to 1</a:t>
              </a:r>
              <a:endParaRPr lang="zh-TW" altLang="en-US" sz="1200" dirty="0"/>
            </a:p>
          </p:txBody>
        </p:sp>
        <p:grpSp>
          <p:nvGrpSpPr>
            <p:cNvPr id="3" name="Group 1045"/>
            <p:cNvGrpSpPr/>
            <p:nvPr/>
          </p:nvGrpSpPr>
          <p:grpSpPr bwMode="auto">
            <a:xfrm>
              <a:off x="4146948" y="4738688"/>
              <a:ext cx="816769" cy="323850"/>
              <a:chOff x="2550" y="3980"/>
              <a:chExt cx="634" cy="272"/>
            </a:xfrm>
            <a:solidFill>
              <a:srgbClr val="92D050"/>
            </a:solidFill>
          </p:grpSpPr>
          <p:sp>
            <p:nvSpPr>
              <p:cNvPr id="75809" name="AutoShape 1046"/>
              <p:cNvSpPr>
                <a:spLocks noChangeArrowheads="1"/>
              </p:cNvSpPr>
              <p:nvPr/>
            </p:nvSpPr>
            <p:spPr bwMode="auto">
              <a:xfrm>
                <a:off x="2550" y="3980"/>
                <a:ext cx="634" cy="272"/>
              </a:xfrm>
              <a:prstGeom prst="roundRect">
                <a:avLst>
                  <a:gd name="adj" fmla="val 46292"/>
                </a:avLst>
              </a:prstGeom>
              <a:grpFill/>
              <a:ln w="25400">
                <a:noFill/>
                <a:round/>
              </a:ln>
            </p:spPr>
            <p:txBody>
              <a:bodyPr wrap="none" anchor="ctr"/>
              <a:lstStyle/>
              <a:p>
                <a:pPr>
                  <a:defRPr/>
                </a:pPr>
                <a:endParaRPr lang="zh-TW" altLang="en-US" sz="1200"/>
              </a:p>
            </p:txBody>
          </p:sp>
          <p:sp>
            <p:nvSpPr>
              <p:cNvPr id="75810" name="Rectangle 1047"/>
              <p:cNvSpPr>
                <a:spLocks noChangeArrowheads="1"/>
              </p:cNvSpPr>
              <p:nvPr/>
            </p:nvSpPr>
            <p:spPr bwMode="auto">
              <a:xfrm>
                <a:off x="2672" y="4007"/>
                <a:ext cx="388" cy="235"/>
              </a:xfrm>
              <a:prstGeom prst="rect">
                <a:avLst/>
              </a:prstGeom>
              <a:noFill/>
              <a:ln w="9525">
                <a:noFill/>
                <a:miter lim="800000"/>
              </a:ln>
            </p:spPr>
            <p:txBody>
              <a:bodyPr wrap="none" lIns="92075" tIns="46039" rIns="92075" bIns="46039">
                <a:spAutoFit/>
              </a:bodyPr>
              <a:lstStyle/>
              <a:p>
                <a:pPr>
                  <a:defRPr/>
                </a:pPr>
                <a:r>
                  <a:rPr kumimoji="1" lang="en-US" altLang="zh-TW" sz="1200" b="1" dirty="0">
                    <a:latin typeface="Arial" panose="020B0604020202020204" pitchFamily="34" charset="0"/>
                  </a:rPr>
                  <a:t>Done</a:t>
                </a:r>
              </a:p>
            </p:txBody>
          </p:sp>
        </p:grpSp>
        <p:sp>
          <p:nvSpPr>
            <p:cNvPr id="79888" name="Rectangle 1048"/>
            <p:cNvSpPr>
              <a:spLocks noChangeArrowheads="1"/>
            </p:cNvSpPr>
            <p:nvPr/>
          </p:nvSpPr>
          <p:spPr bwMode="auto">
            <a:xfrm>
              <a:off x="5753101" y="4200525"/>
              <a:ext cx="640556" cy="27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200"/>
            </a:p>
          </p:txBody>
        </p:sp>
        <p:sp>
          <p:nvSpPr>
            <p:cNvPr id="79889" name="Rectangle 1049"/>
            <p:cNvSpPr>
              <a:spLocks noChangeArrowheads="1"/>
            </p:cNvSpPr>
            <p:nvPr/>
          </p:nvSpPr>
          <p:spPr bwMode="auto">
            <a:xfrm>
              <a:off x="4827985" y="4468415"/>
              <a:ext cx="1388377" cy="2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200" b="1">
                  <a:latin typeface="Arial" panose="020B0604020202020204" pitchFamily="34" charset="0"/>
                </a:rPr>
                <a:t> </a:t>
              </a:r>
              <a:r>
                <a:rPr kumimoji="1" lang="en-US" altLang="zh-TW" sz="1200" b="1">
                  <a:latin typeface="Arial" panose="020B0604020202020204" pitchFamily="34" charset="0"/>
                </a:rPr>
                <a:t>Yes: 33 repetitions</a:t>
              </a:r>
            </a:p>
          </p:txBody>
        </p:sp>
        <p:sp>
          <p:nvSpPr>
            <p:cNvPr id="79890" name="AutoShape 1050"/>
            <p:cNvSpPr>
              <a:spLocks noChangeArrowheads="1"/>
            </p:cNvSpPr>
            <p:nvPr/>
          </p:nvSpPr>
          <p:spPr bwMode="auto">
            <a:xfrm>
              <a:off x="4799411" y="95250"/>
              <a:ext cx="2359795" cy="295336"/>
            </a:xfrm>
            <a:prstGeom prst="roundRect">
              <a:avLst>
                <a:gd name="adj" fmla="val 43597"/>
              </a:avLst>
            </a:prstGeom>
            <a:solidFill>
              <a:srgbClr val="92D050"/>
            </a:solidFill>
            <a:ln>
              <a:noFill/>
            </a:ln>
            <a:extLst>
              <a:ext uri="{91240B29-F687-4F45-9708-019B960494DF}">
                <a14:hiddenLine xmlns:a14="http://schemas.microsoft.com/office/drawing/2010/main" w="25400">
                  <a:solidFill>
                    <a:srgbClr val="000000"/>
                  </a:solidFill>
                  <a:round/>
                </a14:hiddenLine>
              </a:ext>
            </a:extLst>
          </p:spPr>
          <p:txBody>
            <a:bodyPr wrap="none" anchor="ctr"/>
            <a:lstStyle/>
            <a:p>
              <a:endParaRPr lang="zh-TW" altLang="en-US" sz="1200"/>
            </a:p>
          </p:txBody>
        </p:sp>
        <p:sp>
          <p:nvSpPr>
            <p:cNvPr id="79891" name="Rectangle 1051"/>
            <p:cNvSpPr>
              <a:spLocks noChangeArrowheads="1"/>
            </p:cNvSpPr>
            <p:nvPr/>
          </p:nvSpPr>
          <p:spPr bwMode="auto">
            <a:xfrm>
              <a:off x="4757739" y="107156"/>
              <a:ext cx="2401936" cy="2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dirty="0">
                  <a:latin typeface="Arial" panose="020B0604020202020204" pitchFamily="34" charset="0"/>
                </a:rPr>
                <a:t>Start: Place Dividend in Remainder</a:t>
              </a:r>
            </a:p>
          </p:txBody>
        </p:sp>
        <p:sp>
          <p:nvSpPr>
            <p:cNvPr id="79893" name="Freeform 1054"/>
            <p:cNvSpPr/>
            <p:nvPr/>
          </p:nvSpPr>
          <p:spPr bwMode="auto">
            <a:xfrm>
              <a:off x="6553200" y="1775223"/>
              <a:ext cx="577454" cy="297656"/>
            </a:xfrm>
            <a:custGeom>
              <a:avLst/>
              <a:gdLst>
                <a:gd name="T0" fmla="*/ 0 w 445"/>
                <a:gd name="T1" fmla="*/ 0 h 289"/>
                <a:gd name="T2" fmla="*/ 2147483647 w 445"/>
                <a:gd name="T3" fmla="*/ 0 h 289"/>
                <a:gd name="T4" fmla="*/ 2147483647 w 445"/>
                <a:gd name="T5" fmla="*/ 2147483647 h 289"/>
                <a:gd name="T6" fmla="*/ 0 60000 65536"/>
                <a:gd name="T7" fmla="*/ 0 60000 65536"/>
                <a:gd name="T8" fmla="*/ 0 60000 65536"/>
                <a:gd name="T9" fmla="*/ 0 w 445"/>
                <a:gd name="T10" fmla="*/ 0 h 289"/>
                <a:gd name="T11" fmla="*/ 445 w 445"/>
                <a:gd name="T12" fmla="*/ 289 h 289"/>
              </a:gdLst>
              <a:ahLst/>
              <a:cxnLst>
                <a:cxn ang="T6">
                  <a:pos x="T0" y="T1"/>
                </a:cxn>
                <a:cxn ang="T7">
                  <a:pos x="T2" y="T3"/>
                </a:cxn>
                <a:cxn ang="T8">
                  <a:pos x="T4" y="T5"/>
                </a:cxn>
              </a:cxnLst>
              <a:rect l="T9" t="T10" r="T11" b="T12"/>
              <a:pathLst>
                <a:path w="445" h="289">
                  <a:moveTo>
                    <a:pt x="0" y="0"/>
                  </a:moveTo>
                  <a:lnTo>
                    <a:pt x="444" y="0"/>
                  </a:lnTo>
                  <a:lnTo>
                    <a:pt x="444" y="288"/>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79894" name="Freeform 1055"/>
            <p:cNvSpPr/>
            <p:nvPr/>
          </p:nvSpPr>
          <p:spPr bwMode="auto">
            <a:xfrm>
              <a:off x="4144567" y="1790700"/>
              <a:ext cx="1001315" cy="410766"/>
            </a:xfrm>
            <a:custGeom>
              <a:avLst/>
              <a:gdLst>
                <a:gd name="T0" fmla="*/ 2147483647 w 1429"/>
                <a:gd name="T1" fmla="*/ 0 h 301"/>
                <a:gd name="T2" fmla="*/ 0 w 1429"/>
                <a:gd name="T3" fmla="*/ 0 h 301"/>
                <a:gd name="T4" fmla="*/ 0 w 1429"/>
                <a:gd name="T5" fmla="*/ 2147483647 h 301"/>
                <a:gd name="T6" fmla="*/ 0 60000 65536"/>
                <a:gd name="T7" fmla="*/ 0 60000 65536"/>
                <a:gd name="T8" fmla="*/ 0 60000 65536"/>
                <a:gd name="T9" fmla="*/ 0 w 1429"/>
                <a:gd name="T10" fmla="*/ 0 h 301"/>
                <a:gd name="T11" fmla="*/ 1429 w 1429"/>
                <a:gd name="T12" fmla="*/ 301 h 301"/>
              </a:gdLst>
              <a:ahLst/>
              <a:cxnLst>
                <a:cxn ang="T6">
                  <a:pos x="T0" y="T1"/>
                </a:cxn>
                <a:cxn ang="T7">
                  <a:pos x="T2" y="T3"/>
                </a:cxn>
                <a:cxn ang="T8">
                  <a:pos x="T4" y="T5"/>
                </a:cxn>
              </a:cxnLst>
              <a:rect l="T9" t="T10" r="T11" b="T12"/>
              <a:pathLst>
                <a:path w="1429" h="301">
                  <a:moveTo>
                    <a:pt x="1428" y="0"/>
                  </a:moveTo>
                  <a:lnTo>
                    <a:pt x="0" y="0"/>
                  </a:lnTo>
                  <a:lnTo>
                    <a:pt x="0" y="30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grpSp>
          <p:nvGrpSpPr>
            <p:cNvPr id="79895" name="Group 1056"/>
            <p:cNvGrpSpPr/>
            <p:nvPr/>
          </p:nvGrpSpPr>
          <p:grpSpPr bwMode="auto">
            <a:xfrm>
              <a:off x="3824287" y="3967162"/>
              <a:ext cx="1433513" cy="566738"/>
              <a:chOff x="2300" y="3332"/>
              <a:chExt cx="1112" cy="476"/>
            </a:xfrm>
          </p:grpSpPr>
          <p:sp>
            <p:nvSpPr>
              <p:cNvPr id="79903" name="AutoShape 1058"/>
              <p:cNvSpPr>
                <a:spLocks noChangeArrowheads="1"/>
              </p:cNvSpPr>
              <p:nvPr/>
            </p:nvSpPr>
            <p:spPr bwMode="auto">
              <a:xfrm>
                <a:off x="2300" y="3332"/>
                <a:ext cx="1112" cy="476"/>
              </a:xfrm>
              <a:prstGeom prst="diamond">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p>
                <a:endParaRPr lang="zh-TW" altLang="en-US" sz="1200"/>
              </a:p>
            </p:txBody>
          </p:sp>
          <p:sp>
            <p:nvSpPr>
              <p:cNvPr id="79904" name="Rectangle 1057"/>
              <p:cNvSpPr>
                <a:spLocks noChangeArrowheads="1"/>
              </p:cNvSpPr>
              <p:nvPr/>
            </p:nvSpPr>
            <p:spPr bwMode="auto">
              <a:xfrm>
                <a:off x="2567" y="3355"/>
                <a:ext cx="66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lnSpc>
                    <a:spcPct val="90000"/>
                  </a:lnSpc>
                </a:pPr>
                <a:r>
                  <a:rPr kumimoji="1" lang="zh-TW" altLang="en-US" sz="1200" b="1">
                    <a:latin typeface="Arial" panose="020B0604020202020204" pitchFamily="34" charset="0"/>
                  </a:rPr>
                  <a:t>33</a:t>
                </a:r>
                <a:r>
                  <a:rPr kumimoji="1" lang="en-US" altLang="zh-TW" sz="1200" b="1">
                    <a:latin typeface="Arial" panose="020B0604020202020204" pitchFamily="34" charset="0"/>
                  </a:rPr>
                  <a:t>rd</a:t>
                </a:r>
              </a:p>
              <a:p>
                <a:pPr algn="ctr">
                  <a:lnSpc>
                    <a:spcPct val="90000"/>
                  </a:lnSpc>
                </a:pPr>
                <a:r>
                  <a:rPr kumimoji="1" lang="en-US" altLang="zh-TW" sz="1200" b="1">
                    <a:latin typeface="Arial" panose="020B0604020202020204" pitchFamily="34" charset="0"/>
                  </a:rPr>
                  <a:t>repetition?</a:t>
                </a:r>
              </a:p>
            </p:txBody>
          </p:sp>
        </p:grpSp>
        <p:sp>
          <p:nvSpPr>
            <p:cNvPr id="79896" name="Line 1059"/>
            <p:cNvSpPr>
              <a:spLocks noChangeShapeType="1"/>
            </p:cNvSpPr>
            <p:nvPr/>
          </p:nvSpPr>
          <p:spPr bwMode="auto">
            <a:xfrm>
              <a:off x="4572000" y="3657600"/>
              <a:ext cx="0" cy="3429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79897" name="Line 1060"/>
            <p:cNvSpPr>
              <a:spLocks noChangeShapeType="1"/>
            </p:cNvSpPr>
            <p:nvPr/>
          </p:nvSpPr>
          <p:spPr bwMode="auto">
            <a:xfrm>
              <a:off x="4556522" y="4557713"/>
              <a:ext cx="0" cy="1714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79898" name="Line 1062"/>
            <p:cNvSpPr>
              <a:spLocks noChangeShapeType="1"/>
            </p:cNvSpPr>
            <p:nvPr/>
          </p:nvSpPr>
          <p:spPr bwMode="auto">
            <a:xfrm>
              <a:off x="5856685" y="371475"/>
              <a:ext cx="0" cy="257175"/>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79899" name="Freeform 1063"/>
            <p:cNvSpPr/>
            <p:nvPr/>
          </p:nvSpPr>
          <p:spPr bwMode="auto">
            <a:xfrm>
              <a:off x="5253038" y="529153"/>
              <a:ext cx="2926556" cy="3729713"/>
            </a:xfrm>
            <a:custGeom>
              <a:avLst/>
              <a:gdLst>
                <a:gd name="T0" fmla="*/ 0 w 2269"/>
                <a:gd name="T1" fmla="*/ 2147483647 h 3181"/>
                <a:gd name="T2" fmla="*/ 2147483647 w 2269"/>
                <a:gd name="T3" fmla="*/ 2147483647 h 3181"/>
                <a:gd name="T4" fmla="*/ 2147483647 w 2269"/>
                <a:gd name="T5" fmla="*/ 0 h 3181"/>
                <a:gd name="T6" fmla="*/ 2147483647 w 2269"/>
                <a:gd name="T7" fmla="*/ 0 h 3181"/>
                <a:gd name="T8" fmla="*/ 0 60000 65536"/>
                <a:gd name="T9" fmla="*/ 0 60000 65536"/>
                <a:gd name="T10" fmla="*/ 0 60000 65536"/>
                <a:gd name="T11" fmla="*/ 0 60000 65536"/>
                <a:gd name="T12" fmla="*/ 0 w 2269"/>
                <a:gd name="T13" fmla="*/ 0 h 3181"/>
                <a:gd name="T14" fmla="*/ 2269 w 2269"/>
                <a:gd name="T15" fmla="*/ 3181 h 3181"/>
              </a:gdLst>
              <a:ahLst/>
              <a:cxnLst>
                <a:cxn ang="T8">
                  <a:pos x="T0" y="T1"/>
                </a:cxn>
                <a:cxn ang="T9">
                  <a:pos x="T2" y="T3"/>
                </a:cxn>
                <a:cxn ang="T10">
                  <a:pos x="T4" y="T5"/>
                </a:cxn>
                <a:cxn ang="T11">
                  <a:pos x="T6" y="T7"/>
                </a:cxn>
              </a:cxnLst>
              <a:rect l="T12" t="T13" r="T14" b="T15"/>
              <a:pathLst>
                <a:path w="2269" h="3181">
                  <a:moveTo>
                    <a:pt x="0" y="3180"/>
                  </a:moveTo>
                  <a:lnTo>
                    <a:pt x="2268" y="3180"/>
                  </a:lnTo>
                  <a:lnTo>
                    <a:pt x="2268" y="0"/>
                  </a:lnTo>
                  <a:lnTo>
                    <a:pt x="492"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79900" name="Freeform 1064"/>
            <p:cNvSpPr/>
            <p:nvPr/>
          </p:nvSpPr>
          <p:spPr bwMode="auto">
            <a:xfrm>
              <a:off x="5918598" y="3243262"/>
              <a:ext cx="1190" cy="186929"/>
            </a:xfrm>
            <a:custGeom>
              <a:avLst/>
              <a:gdLst>
                <a:gd name="T0" fmla="*/ 0 w 1"/>
                <a:gd name="T1" fmla="*/ 0 h 157"/>
                <a:gd name="T2" fmla="*/ 0 w 1"/>
                <a:gd name="T3" fmla="*/ 2147483647 h 157"/>
                <a:gd name="T4" fmla="*/ 0 60000 65536"/>
                <a:gd name="T5" fmla="*/ 0 60000 65536"/>
                <a:gd name="T6" fmla="*/ 0 w 1"/>
                <a:gd name="T7" fmla="*/ 0 h 157"/>
                <a:gd name="T8" fmla="*/ 1 w 1"/>
                <a:gd name="T9" fmla="*/ 157 h 157"/>
              </a:gdLst>
              <a:ahLst/>
              <a:cxnLst>
                <a:cxn ang="T4">
                  <a:pos x="T0" y="T1"/>
                </a:cxn>
                <a:cxn ang="T5">
                  <a:pos x="T2" y="T3"/>
                </a:cxn>
              </a:cxnLst>
              <a:rect l="T6" t="T7" r="T8" b="T9"/>
              <a:pathLst>
                <a:path w="1" h="157">
                  <a:moveTo>
                    <a:pt x="0" y="0"/>
                  </a:moveTo>
                  <a:lnTo>
                    <a:pt x="0" y="156"/>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79901" name="Freeform 1065"/>
            <p:cNvSpPr/>
            <p:nvPr/>
          </p:nvSpPr>
          <p:spPr bwMode="auto">
            <a:xfrm flipH="1">
              <a:off x="4235053" y="3077766"/>
              <a:ext cx="32147" cy="352425"/>
            </a:xfrm>
            <a:custGeom>
              <a:avLst/>
              <a:gdLst>
                <a:gd name="T0" fmla="*/ 0 w 1"/>
                <a:gd name="T1" fmla="*/ 0 h 157"/>
                <a:gd name="T2" fmla="*/ 0 w 1"/>
                <a:gd name="T3" fmla="*/ 2147483647 h 157"/>
                <a:gd name="T4" fmla="*/ 0 60000 65536"/>
                <a:gd name="T5" fmla="*/ 0 60000 65536"/>
                <a:gd name="T6" fmla="*/ 0 w 1"/>
                <a:gd name="T7" fmla="*/ 0 h 157"/>
                <a:gd name="T8" fmla="*/ 1 w 1"/>
                <a:gd name="T9" fmla="*/ 157 h 157"/>
              </a:gdLst>
              <a:ahLst/>
              <a:cxnLst>
                <a:cxn ang="T4">
                  <a:pos x="T0" y="T1"/>
                </a:cxn>
                <a:cxn ang="T5">
                  <a:pos x="T2" y="T3"/>
                </a:cxn>
              </a:cxnLst>
              <a:rect l="T6" t="T7" r="T8" b="T9"/>
              <a:pathLst>
                <a:path w="1" h="157">
                  <a:moveTo>
                    <a:pt x="0" y="0"/>
                  </a:moveTo>
                  <a:lnTo>
                    <a:pt x="0" y="156"/>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grpSp>
      <p:sp>
        <p:nvSpPr>
          <p:cNvPr id="433194" name="Rectangle 1066"/>
          <p:cNvSpPr>
            <a:spLocks noChangeArrowheads="1"/>
          </p:cNvSpPr>
          <p:nvPr/>
        </p:nvSpPr>
        <p:spPr bwMode="auto">
          <a:xfrm>
            <a:off x="1364610" y="1177561"/>
            <a:ext cx="3635229" cy="4870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lstStyle/>
          <a:p>
            <a:pPr>
              <a:lnSpc>
                <a:spcPct val="90000"/>
              </a:lnSpc>
              <a:spcBef>
                <a:spcPct val="15000"/>
              </a:spcBef>
              <a:buClr>
                <a:schemeClr val="folHlink"/>
              </a:buClr>
              <a:buSzPct val="75000"/>
              <a:tabLst>
                <a:tab pos="1028674" algn="l"/>
                <a:tab pos="2914154" algn="l"/>
              </a:tabLst>
            </a:pPr>
            <a:r>
              <a:rPr lang="en-US" altLang="zh-TW" sz="1867" b="1" dirty="0"/>
              <a:t>0111 /  0010</a:t>
            </a:r>
          </a:p>
          <a:p>
            <a:pPr>
              <a:lnSpc>
                <a:spcPct val="90000"/>
              </a:lnSpc>
              <a:spcBef>
                <a:spcPct val="15000"/>
              </a:spcBef>
              <a:buClr>
                <a:schemeClr val="folHlink"/>
              </a:buClr>
              <a:buSzPct val="75000"/>
              <a:tabLst>
                <a:tab pos="1028674" algn="l"/>
                <a:tab pos="2914154" algn="l"/>
              </a:tabLst>
            </a:pPr>
            <a:r>
              <a:rPr lang="en-US" altLang="zh-TW" sz="1867" b="1" dirty="0">
                <a:latin typeface="Century Gothic" panose="020B0502020202020204" pitchFamily="34" charset="0"/>
                <a:ea typeface="標楷體" panose="02010601000101010101" pitchFamily="65" charset="-120"/>
              </a:rPr>
              <a:t>Quot. Divisor        Rem.</a:t>
            </a:r>
          </a:p>
          <a:p>
            <a:pPr>
              <a:lnSpc>
                <a:spcPct val="90000"/>
              </a:lnSpc>
              <a:spcBef>
                <a:spcPct val="15000"/>
              </a:spcBef>
              <a:buClr>
                <a:schemeClr val="folHlink"/>
              </a:buClr>
              <a:buSzPct val="75000"/>
              <a:tabLst>
                <a:tab pos="1028674" algn="l"/>
                <a:tab pos="2914154" algn="l"/>
              </a:tabLst>
            </a:pPr>
            <a:r>
              <a:rPr lang="en-US" altLang="zh-TW" sz="1867" b="1" dirty="0">
                <a:latin typeface="Courier New" panose="02070309020205020404" pitchFamily="49" charset="0"/>
                <a:ea typeface="標楷體" panose="02010601000101010101" pitchFamily="65" charset="-120"/>
              </a:rPr>
              <a:t>0000 </a:t>
            </a:r>
            <a:r>
              <a:rPr lang="en-US" altLang="zh-TW" sz="1867" b="1" u="sng" dirty="0">
                <a:latin typeface="Courier New" panose="02070309020205020404" pitchFamily="49" charset="0"/>
                <a:ea typeface="標楷體" panose="02010601000101010101" pitchFamily="65" charset="-120"/>
              </a:rPr>
              <a:t>0010</a:t>
            </a:r>
            <a:r>
              <a:rPr lang="en-US" altLang="zh-TW" sz="1867" b="1" dirty="0">
                <a:latin typeface="Courier New" panose="02070309020205020404" pitchFamily="49" charset="0"/>
                <a:ea typeface="標楷體" panose="02010601000101010101" pitchFamily="65" charset="-120"/>
              </a:rPr>
              <a:t>0000 </a:t>
            </a:r>
            <a:r>
              <a:rPr lang="en-US" altLang="zh-TW" sz="1867" b="1" u="sng" dirty="0">
                <a:latin typeface="Courier New" panose="02070309020205020404" pitchFamily="49" charset="0"/>
                <a:ea typeface="標楷體" panose="02010601000101010101" pitchFamily="65" charset="-120"/>
              </a:rPr>
              <a:t>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11100111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000</a:t>
            </a:r>
            <a:r>
              <a:rPr lang="en-US" altLang="zh-TW" sz="1867" b="1" dirty="0">
                <a:solidFill>
                  <a:schemeClr val="accent2"/>
                </a:solidFill>
                <a:latin typeface="Courier New" panose="02070309020205020404" pitchFamily="49" charset="0"/>
                <a:ea typeface="標楷體" panose="02010601000101010101" pitchFamily="65" charset="-120"/>
              </a:rPr>
              <a:t>0</a:t>
            </a:r>
            <a:r>
              <a:rPr lang="en-US" altLang="zh-TW" sz="1867" b="1" dirty="0">
                <a:latin typeface="Courier New" panose="02070309020205020404" pitchFamily="49" charset="0"/>
                <a:ea typeface="標楷體" panose="02010601000101010101" pitchFamily="65" charset="-120"/>
              </a:rPr>
              <a:t> 0</a:t>
            </a:r>
            <a:r>
              <a:rPr lang="en-US" altLang="zh-TW" sz="1867" b="1" u="sng" dirty="0">
                <a:latin typeface="Courier New" panose="02070309020205020404" pitchFamily="49" charset="0"/>
                <a:ea typeface="標楷體" panose="02010601000101010101" pitchFamily="65" charset="-120"/>
              </a:rPr>
              <a:t>0010</a:t>
            </a:r>
            <a:r>
              <a:rPr lang="en-US" altLang="zh-TW" sz="1867" b="1" dirty="0">
                <a:latin typeface="Courier New" panose="02070309020205020404" pitchFamily="49" charset="0"/>
                <a:ea typeface="標楷體" panose="02010601000101010101" pitchFamily="65" charset="-120"/>
              </a:rPr>
              <a:t>000 00000111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11110111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00</a:t>
            </a:r>
            <a:r>
              <a:rPr lang="en-US" altLang="zh-TW" sz="1867" b="1" dirty="0">
                <a:solidFill>
                  <a:schemeClr val="accent2"/>
                </a:solidFill>
                <a:latin typeface="Courier New" panose="02070309020205020404" pitchFamily="49" charset="0"/>
                <a:ea typeface="標楷體" panose="02010601000101010101" pitchFamily="65" charset="-120"/>
              </a:rPr>
              <a:t>00</a:t>
            </a:r>
            <a:r>
              <a:rPr lang="en-US" altLang="zh-TW" sz="1867" b="1" dirty="0">
                <a:latin typeface="Courier New" panose="02070309020205020404" pitchFamily="49" charset="0"/>
                <a:ea typeface="標楷體" panose="02010601000101010101" pitchFamily="65" charset="-120"/>
              </a:rPr>
              <a:t> 00</a:t>
            </a:r>
            <a:r>
              <a:rPr lang="en-US" altLang="zh-TW" sz="1867" b="1" u="sng" dirty="0">
                <a:latin typeface="Courier New" panose="02070309020205020404" pitchFamily="49" charset="0"/>
                <a:ea typeface="標楷體" panose="02010601000101010101" pitchFamily="65" charset="-120"/>
              </a:rPr>
              <a:t>0010</a:t>
            </a:r>
            <a:r>
              <a:rPr lang="en-US" altLang="zh-TW" sz="1867" b="1" dirty="0">
                <a:latin typeface="Courier New" panose="02070309020205020404" pitchFamily="49" charset="0"/>
                <a:ea typeface="標楷體" panose="02010601000101010101" pitchFamily="65" charset="-120"/>
              </a:rPr>
              <a:t>00 00000111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11111111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0</a:t>
            </a:r>
            <a:r>
              <a:rPr lang="en-US" altLang="zh-TW" sz="1867" b="1" dirty="0">
                <a:solidFill>
                  <a:schemeClr val="accent2"/>
                </a:solidFill>
                <a:latin typeface="Courier New" panose="02070309020205020404" pitchFamily="49" charset="0"/>
                <a:ea typeface="標楷體" panose="02010601000101010101" pitchFamily="65" charset="-120"/>
              </a:rPr>
              <a:t>000</a:t>
            </a:r>
            <a:r>
              <a:rPr lang="en-US" altLang="zh-TW" sz="1867" b="1" dirty="0">
                <a:latin typeface="Courier New" panose="02070309020205020404" pitchFamily="49" charset="0"/>
                <a:ea typeface="標楷體" panose="02010601000101010101" pitchFamily="65" charset="-120"/>
              </a:rPr>
              <a:t> 000</a:t>
            </a:r>
            <a:r>
              <a:rPr lang="en-US" altLang="zh-TW" sz="1867" b="1" u="sng" dirty="0">
                <a:latin typeface="Courier New" panose="02070309020205020404" pitchFamily="49" charset="0"/>
                <a:ea typeface="標楷體" panose="02010601000101010101" pitchFamily="65" charset="-120"/>
              </a:rPr>
              <a:t>0010</a:t>
            </a:r>
            <a:r>
              <a:rPr lang="en-US" altLang="zh-TW" sz="1867" b="1" dirty="0">
                <a:latin typeface="Courier New" panose="02070309020205020404" pitchFamily="49" charset="0"/>
                <a:ea typeface="標楷體" panose="02010601000101010101" pitchFamily="65" charset="-120"/>
              </a:rPr>
              <a:t>0 00000111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00000011</a:t>
            </a:r>
            <a:br>
              <a:rPr lang="en-US" altLang="zh-TW" sz="1867" b="1" dirty="0">
                <a:latin typeface="Courier New" panose="02070309020205020404" pitchFamily="49" charset="0"/>
                <a:ea typeface="標楷體" panose="02010601000101010101" pitchFamily="65" charset="-120"/>
              </a:rPr>
            </a:br>
            <a:r>
              <a:rPr lang="en-US" altLang="zh-TW" sz="1867" b="1" dirty="0">
                <a:solidFill>
                  <a:schemeClr val="accent2"/>
                </a:solidFill>
                <a:latin typeface="Courier New" panose="02070309020205020404" pitchFamily="49" charset="0"/>
                <a:ea typeface="標楷體" panose="02010601000101010101" pitchFamily="65" charset="-120"/>
              </a:rPr>
              <a:t>0001</a:t>
            </a:r>
            <a:r>
              <a:rPr lang="en-US" altLang="zh-TW" sz="1867" b="1" dirty="0">
                <a:latin typeface="Courier New" panose="02070309020205020404" pitchFamily="49" charset="0"/>
                <a:ea typeface="標楷體" panose="02010601000101010101" pitchFamily="65" charset="-120"/>
              </a:rPr>
              <a:t>          00000011</a:t>
            </a:r>
            <a:br>
              <a:rPr lang="en-US" altLang="zh-TW" sz="1867" b="1" dirty="0">
                <a:latin typeface="Courier New" panose="02070309020205020404" pitchFamily="49" charset="0"/>
                <a:ea typeface="標楷體" panose="02010601000101010101" pitchFamily="65" charset="-120"/>
              </a:rPr>
            </a:br>
            <a:r>
              <a:rPr lang="en-US" altLang="zh-TW" sz="1867" b="1" dirty="0">
                <a:solidFill>
                  <a:schemeClr val="accent2"/>
                </a:solidFill>
                <a:latin typeface="Courier New" panose="02070309020205020404" pitchFamily="49" charset="0"/>
                <a:ea typeface="標楷體" panose="02010601000101010101" pitchFamily="65" charset="-120"/>
              </a:rPr>
              <a:t>0001</a:t>
            </a:r>
            <a:r>
              <a:rPr lang="en-US" altLang="zh-TW" sz="1867" b="1" dirty="0">
                <a:latin typeface="Courier New" panose="02070309020205020404" pitchFamily="49" charset="0"/>
                <a:ea typeface="標楷體" panose="02010601000101010101" pitchFamily="65" charset="-120"/>
              </a:rPr>
              <a:t> 0000</a:t>
            </a:r>
            <a:r>
              <a:rPr lang="en-US" altLang="zh-TW" sz="1867" b="1" u="sng" dirty="0">
                <a:latin typeface="Courier New" panose="02070309020205020404" pitchFamily="49" charset="0"/>
                <a:ea typeface="標楷體" panose="02010601000101010101" pitchFamily="65" charset="-120"/>
              </a:rPr>
              <a:t>0010</a:t>
            </a:r>
            <a:r>
              <a:rPr lang="en-US" altLang="zh-TW" sz="1867" b="1" dirty="0">
                <a:latin typeface="Courier New" panose="02070309020205020404" pitchFamily="49" charset="0"/>
                <a:ea typeface="標楷體" panose="02010601000101010101" pitchFamily="65" charset="-120"/>
              </a:rPr>
              <a:t> 00000011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00000001</a:t>
            </a:r>
            <a:br>
              <a:rPr lang="en-US" altLang="zh-TW" sz="1867" b="1" dirty="0">
                <a:latin typeface="Courier New" panose="02070309020205020404" pitchFamily="49" charset="0"/>
                <a:ea typeface="標楷體" panose="02010601000101010101" pitchFamily="65" charset="-120"/>
              </a:rPr>
            </a:br>
            <a:r>
              <a:rPr lang="en-US" altLang="zh-TW" sz="1867" b="1" dirty="0">
                <a:solidFill>
                  <a:schemeClr val="accent2"/>
                </a:solidFill>
                <a:latin typeface="Courier New" panose="02070309020205020404" pitchFamily="49" charset="0"/>
                <a:ea typeface="標楷體" panose="02010601000101010101" pitchFamily="65" charset="-120"/>
              </a:rPr>
              <a:t>0011</a:t>
            </a:r>
            <a:r>
              <a:rPr lang="en-US" altLang="zh-TW" sz="1867" b="1" dirty="0">
                <a:latin typeface="Courier New" panose="02070309020205020404" pitchFamily="49" charset="0"/>
                <a:ea typeface="標楷體" panose="02010601000101010101" pitchFamily="65" charset="-120"/>
              </a:rPr>
              <a:t>          00000001</a:t>
            </a:r>
            <a:br>
              <a:rPr lang="en-US" altLang="zh-TW" sz="1867" b="1" dirty="0">
                <a:latin typeface="Courier New" panose="02070309020205020404" pitchFamily="49" charset="0"/>
                <a:ea typeface="標楷體" panose="02010601000101010101" pitchFamily="65" charset="-120"/>
              </a:rPr>
            </a:br>
            <a:r>
              <a:rPr lang="en-US" altLang="zh-TW" sz="1867" b="1" dirty="0">
                <a:solidFill>
                  <a:schemeClr val="accent2"/>
                </a:solidFill>
                <a:latin typeface="Courier New" panose="02070309020205020404" pitchFamily="49" charset="0"/>
                <a:ea typeface="標楷體" panose="02010601000101010101" pitchFamily="65" charset="-120"/>
              </a:rPr>
              <a:t>0011</a:t>
            </a:r>
            <a:r>
              <a:rPr lang="en-US" altLang="zh-TW" sz="1867" b="1" dirty="0">
                <a:latin typeface="Courier New" panose="02070309020205020404" pitchFamily="49" charset="0"/>
                <a:ea typeface="標楷體" panose="02010601000101010101" pitchFamily="65" charset="-120"/>
              </a:rPr>
              <a:t> 00000001 00000001</a:t>
            </a:r>
          </a:p>
        </p:txBody>
      </p:sp>
      <p:sp>
        <p:nvSpPr>
          <p:cNvPr id="37"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29</a:t>
            </a:fld>
            <a:endParaRPr lang="zh-TW" altLang="en-US"/>
          </a:p>
        </p:txBody>
      </p:sp>
      <p:sp>
        <p:nvSpPr>
          <p:cNvPr id="39" name="Rectangle 31"/>
          <p:cNvSpPr txBox="1">
            <a:spLocks noChangeArrowheads="1"/>
          </p:cNvSpPr>
          <p:nvPr/>
        </p:nvSpPr>
        <p:spPr>
          <a:xfrm>
            <a:off x="1404982" y="111854"/>
            <a:ext cx="8420100" cy="648748"/>
          </a:xfrm>
          <a:prstGeom prst="rect">
            <a:avLst/>
          </a:prstGeom>
        </p:spPr>
        <p:txBody>
          <a:bodyPr/>
          <a:lstStyle>
            <a:lvl1pPr algn="l" rtl="0" eaLnBrk="1" fontAlgn="base" hangingPunct="1">
              <a:spcBef>
                <a:spcPct val="0"/>
              </a:spcBef>
              <a:spcAft>
                <a:spcPct val="0"/>
              </a:spcAft>
              <a:defRPr kumimoji="1" sz="3600" b="1">
                <a:solidFill>
                  <a:schemeClr val="tx2"/>
                </a:solidFill>
                <a:latin typeface="Calibri" panose="020F0502020204030204" pitchFamily="34" charset="0"/>
                <a:ea typeface="標楷體" panose="02010601000101010101" pitchFamily="65" charset="-120"/>
                <a:cs typeface="+mj-cs"/>
              </a:defRPr>
            </a:lvl1pPr>
            <a:lvl2pPr algn="l" rtl="0" eaLnBrk="1" fontAlgn="base" hangingPunct="1">
              <a:spcBef>
                <a:spcPct val="0"/>
              </a:spcBef>
              <a:spcAft>
                <a:spcPct val="0"/>
              </a:spcAft>
              <a:defRPr kumimoji="1" sz="2700" b="1">
                <a:solidFill>
                  <a:schemeClr val="tx2"/>
                </a:solidFill>
                <a:latin typeface="Calibri" panose="020F0502020204030204" pitchFamily="34" charset="0"/>
                <a:ea typeface="標楷體" panose="02010601000101010101" pitchFamily="65" charset="-120"/>
                <a:cs typeface="MS Sans Serif"/>
              </a:defRPr>
            </a:lvl2pPr>
            <a:lvl3pPr algn="l" rtl="0" eaLnBrk="1" fontAlgn="base" hangingPunct="1">
              <a:spcBef>
                <a:spcPct val="0"/>
              </a:spcBef>
              <a:spcAft>
                <a:spcPct val="0"/>
              </a:spcAft>
              <a:defRPr kumimoji="1" sz="2700" b="1">
                <a:solidFill>
                  <a:schemeClr val="tx2"/>
                </a:solidFill>
                <a:latin typeface="Calibri" panose="020F0502020204030204" pitchFamily="34" charset="0"/>
                <a:ea typeface="標楷體" panose="02010601000101010101" pitchFamily="65" charset="-120"/>
                <a:cs typeface="MS Sans Serif"/>
              </a:defRPr>
            </a:lvl3pPr>
            <a:lvl4pPr algn="l" rtl="0" eaLnBrk="1" fontAlgn="base" hangingPunct="1">
              <a:spcBef>
                <a:spcPct val="0"/>
              </a:spcBef>
              <a:spcAft>
                <a:spcPct val="0"/>
              </a:spcAft>
              <a:defRPr kumimoji="1" sz="2700" b="1">
                <a:solidFill>
                  <a:schemeClr val="tx2"/>
                </a:solidFill>
                <a:latin typeface="Calibri" panose="020F0502020204030204" pitchFamily="34" charset="0"/>
                <a:ea typeface="標楷體" panose="02010601000101010101" pitchFamily="65" charset="-120"/>
                <a:cs typeface="MS Sans Serif"/>
              </a:defRPr>
            </a:lvl4pPr>
            <a:lvl5pPr algn="l" rtl="0" eaLnBrk="1" fontAlgn="base" hangingPunct="1">
              <a:spcBef>
                <a:spcPct val="0"/>
              </a:spcBef>
              <a:spcAft>
                <a:spcPct val="0"/>
              </a:spcAft>
              <a:defRPr kumimoji="1" sz="2700" b="1">
                <a:solidFill>
                  <a:schemeClr val="tx2"/>
                </a:solidFill>
                <a:latin typeface="Calibri" panose="020F0502020204030204" pitchFamily="34" charset="0"/>
                <a:ea typeface="標楷體" panose="02010601000101010101"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a:lstStyle>
          <a:p>
            <a:r>
              <a:rPr lang="en-US" altLang="zh-TW" sz="4267" kern="0" dirty="0"/>
              <a:t>Divide Hardware - Version 1 (2)</a:t>
            </a:r>
          </a:p>
        </p:txBody>
      </p:sp>
      <p:sp>
        <p:nvSpPr>
          <p:cNvPr id="38" name="Line 1062"/>
          <p:cNvSpPr>
            <a:spLocks noChangeShapeType="1"/>
          </p:cNvSpPr>
          <p:nvPr/>
        </p:nvSpPr>
        <p:spPr bwMode="auto">
          <a:xfrm>
            <a:off x="8338972" y="2331425"/>
            <a:ext cx="0" cy="255385"/>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1208015" y="212521"/>
            <a:ext cx="9673205" cy="548080"/>
          </a:xfrm>
        </p:spPr>
        <p:txBody>
          <a:bodyPr/>
          <a:lstStyle/>
          <a:p>
            <a:r>
              <a:rPr lang="en-US" altLang="zh-TW" dirty="0"/>
              <a:t>Observations - Version 1</a:t>
            </a:r>
          </a:p>
        </p:txBody>
      </p:sp>
      <p:sp>
        <p:nvSpPr>
          <p:cNvPr id="80899" name="Rectangle 3"/>
          <p:cNvSpPr>
            <a:spLocks noGrp="1" noChangeArrowheads="1"/>
          </p:cNvSpPr>
          <p:nvPr>
            <p:ph type="body" idx="1"/>
          </p:nvPr>
        </p:nvSpPr>
        <p:spPr>
          <a:xfrm>
            <a:off x="1275127" y="1125537"/>
            <a:ext cx="9764787" cy="4895851"/>
          </a:xfrm>
        </p:spPr>
        <p:txBody>
          <a:bodyPr/>
          <a:lstStyle/>
          <a:p>
            <a:r>
              <a:rPr lang="en-US" altLang="zh-TW" sz="2667" dirty="0"/>
              <a:t>Half of the bits in divisor register always 0</a:t>
            </a:r>
            <a:br>
              <a:rPr lang="en-US" altLang="zh-TW" sz="2667" dirty="0"/>
            </a:br>
            <a:r>
              <a:rPr lang="en-US" altLang="zh-TW" sz="2667" dirty="0"/>
              <a:t> =&gt; 1/2 of 64-bit adder is wasted</a:t>
            </a:r>
            <a:br>
              <a:rPr lang="en-US" altLang="zh-TW" sz="2667" dirty="0"/>
            </a:br>
            <a:r>
              <a:rPr lang="en-US" altLang="zh-TW" sz="2667" dirty="0"/>
              <a:t> =&gt; 1/2 of divisor is wasted</a:t>
            </a:r>
          </a:p>
          <a:p>
            <a:r>
              <a:rPr lang="en-US" altLang="zh-TW" sz="2667" dirty="0"/>
              <a:t>Instead of shifting divisor to right, </a:t>
            </a:r>
            <a:br>
              <a:rPr lang="en-US" altLang="zh-TW" sz="2667" dirty="0"/>
            </a:br>
            <a:r>
              <a:rPr lang="en-US" altLang="zh-TW" sz="2667" dirty="0"/>
              <a:t>shift remainder to left?</a:t>
            </a:r>
          </a:p>
          <a:p>
            <a:r>
              <a:rPr lang="en-US" altLang="zh-TW" sz="2667" dirty="0"/>
              <a:t>1st step cannot produce a 1 in quotient bit </a:t>
            </a:r>
            <a:br>
              <a:rPr lang="en-US" altLang="zh-TW" sz="2667" dirty="0"/>
            </a:br>
            <a:r>
              <a:rPr lang="en-US" altLang="zh-TW" sz="2667" dirty="0"/>
              <a:t> =&gt; switch order to shift first and then subtract</a:t>
            </a:r>
            <a:br>
              <a:rPr lang="en-US" altLang="zh-TW" sz="2667" dirty="0"/>
            </a:br>
            <a:r>
              <a:rPr lang="en-US" altLang="zh-TW" sz="2667" dirty="0"/>
              <a:t> =&gt; save 1 iteration</a:t>
            </a:r>
          </a:p>
          <a:p>
            <a:r>
              <a:rPr lang="en-US" altLang="zh-TW" sz="2667" dirty="0"/>
              <a:t>Eliminate Quotient register by combining with Remainder register as shifted left</a:t>
            </a:r>
          </a:p>
        </p:txBody>
      </p:sp>
      <p:sp>
        <p:nvSpPr>
          <p:cNvPr id="5"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291768" y="2701715"/>
            <a:ext cx="7752651" cy="3271245"/>
            <a:chOff x="1785938" y="2097882"/>
            <a:chExt cx="5505450" cy="2075260"/>
          </a:xfrm>
        </p:grpSpPr>
        <p:sp>
          <p:nvSpPr>
            <p:cNvPr id="81922" name="Rectangle 2"/>
            <p:cNvSpPr>
              <a:spLocks noChangeArrowheads="1"/>
            </p:cNvSpPr>
            <p:nvPr/>
          </p:nvSpPr>
          <p:spPr bwMode="auto">
            <a:xfrm>
              <a:off x="2616994" y="3534966"/>
              <a:ext cx="2299097" cy="2940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a:p>
          </p:txBody>
        </p:sp>
        <p:sp>
          <p:nvSpPr>
            <p:cNvPr id="81923" name="Rectangle 3"/>
            <p:cNvSpPr>
              <a:spLocks noChangeArrowheads="1"/>
            </p:cNvSpPr>
            <p:nvPr/>
          </p:nvSpPr>
          <p:spPr bwMode="auto">
            <a:xfrm>
              <a:off x="2626519" y="3544491"/>
              <a:ext cx="2299097" cy="292894"/>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81924" name="Rectangle 4"/>
            <p:cNvSpPr>
              <a:spLocks noChangeArrowheads="1"/>
            </p:cNvSpPr>
            <p:nvPr/>
          </p:nvSpPr>
          <p:spPr bwMode="auto">
            <a:xfrm>
              <a:off x="2712244" y="3577829"/>
              <a:ext cx="978984" cy="23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Remainder</a:t>
              </a:r>
            </a:p>
          </p:txBody>
        </p:sp>
        <p:sp>
          <p:nvSpPr>
            <p:cNvPr id="81925" name="Rectangle 5"/>
            <p:cNvSpPr>
              <a:spLocks noChangeArrowheads="1"/>
            </p:cNvSpPr>
            <p:nvPr/>
          </p:nvSpPr>
          <p:spPr bwMode="auto">
            <a:xfrm>
              <a:off x="3903752" y="3586067"/>
              <a:ext cx="915235" cy="23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dirty="0">
                  <a:solidFill>
                    <a:schemeClr val="accent1"/>
                  </a:solidFill>
                  <a:latin typeface="Arial" panose="020B0604020202020204" pitchFamily="34" charset="0"/>
                </a:rPr>
                <a:t>(</a:t>
              </a:r>
              <a:r>
                <a:rPr kumimoji="1" lang="en-US" altLang="zh-TW" b="1" dirty="0">
                  <a:solidFill>
                    <a:schemeClr val="accent1"/>
                  </a:solidFill>
                  <a:latin typeface="Arial" panose="020B0604020202020204" pitchFamily="34" charset="0"/>
                </a:rPr>
                <a:t>Quotient)</a:t>
              </a:r>
            </a:p>
          </p:txBody>
        </p:sp>
        <p:sp>
          <p:nvSpPr>
            <p:cNvPr id="81926" name="Rectangle 6"/>
            <p:cNvSpPr>
              <a:spLocks noChangeArrowheads="1"/>
            </p:cNvSpPr>
            <p:nvPr/>
          </p:nvSpPr>
          <p:spPr bwMode="auto">
            <a:xfrm>
              <a:off x="3190876" y="2097882"/>
              <a:ext cx="1088231" cy="29289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81927" name="Rectangle 7"/>
            <p:cNvSpPr>
              <a:spLocks noChangeArrowheads="1"/>
            </p:cNvSpPr>
            <p:nvPr/>
          </p:nvSpPr>
          <p:spPr bwMode="auto">
            <a:xfrm>
              <a:off x="3294866" y="2130612"/>
              <a:ext cx="880250" cy="23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p>
              <a:pPr algn="ctr"/>
              <a:r>
                <a:rPr kumimoji="1" lang="en-US" altLang="zh-TW" b="1" dirty="0">
                  <a:solidFill>
                    <a:srgbClr val="000000"/>
                  </a:solidFill>
                  <a:latin typeface="Arial" panose="020B0604020202020204" pitchFamily="34" charset="0"/>
                </a:rPr>
                <a:t>Divisor</a:t>
              </a:r>
            </a:p>
          </p:txBody>
        </p:sp>
        <p:sp>
          <p:nvSpPr>
            <p:cNvPr id="81928" name="Rectangle 8"/>
            <p:cNvSpPr>
              <a:spLocks noChangeArrowheads="1"/>
            </p:cNvSpPr>
            <p:nvPr/>
          </p:nvSpPr>
          <p:spPr bwMode="auto">
            <a:xfrm>
              <a:off x="2864909" y="2959863"/>
              <a:ext cx="945561" cy="23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dirty="0">
                  <a:solidFill>
                    <a:srgbClr val="000000"/>
                  </a:solidFill>
                  <a:latin typeface="Arial" panose="020B0604020202020204" pitchFamily="34" charset="0"/>
                </a:rPr>
                <a:t>32-</a:t>
              </a:r>
              <a:r>
                <a:rPr kumimoji="1" lang="en-US" altLang="zh-TW" b="1" dirty="0">
                  <a:solidFill>
                    <a:srgbClr val="000000"/>
                  </a:solidFill>
                  <a:latin typeface="Arial" panose="020B0604020202020204" pitchFamily="34" charset="0"/>
                </a:rPr>
                <a:t>bit ALU</a:t>
              </a:r>
            </a:p>
          </p:txBody>
        </p:sp>
        <p:sp>
          <p:nvSpPr>
            <p:cNvPr id="81929" name="Rectangle 9"/>
            <p:cNvSpPr>
              <a:spLocks noChangeArrowheads="1"/>
            </p:cNvSpPr>
            <p:nvPr/>
          </p:nvSpPr>
          <p:spPr bwMode="auto">
            <a:xfrm>
              <a:off x="5066110" y="3842147"/>
              <a:ext cx="538897" cy="23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Write</a:t>
              </a:r>
            </a:p>
          </p:txBody>
        </p:sp>
        <p:sp>
          <p:nvSpPr>
            <p:cNvPr id="81930" name="AutoShape 10"/>
            <p:cNvSpPr>
              <a:spLocks noChangeArrowheads="1"/>
            </p:cNvSpPr>
            <p:nvPr/>
          </p:nvSpPr>
          <p:spPr bwMode="auto">
            <a:xfrm>
              <a:off x="5836444" y="3443287"/>
              <a:ext cx="1454944" cy="596504"/>
            </a:xfrm>
            <a:prstGeom prst="roundRect">
              <a:avLst>
                <a:gd name="adj" fmla="val 48565"/>
              </a:avLst>
            </a:prstGeom>
            <a:noFill/>
            <a:ln w="254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81931" name="Rectangle 11"/>
            <p:cNvSpPr>
              <a:spLocks noChangeArrowheads="1"/>
            </p:cNvSpPr>
            <p:nvPr/>
          </p:nvSpPr>
          <p:spPr bwMode="auto">
            <a:xfrm>
              <a:off x="6119813" y="3600450"/>
              <a:ext cx="714886" cy="23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chemeClr val="accent1"/>
                  </a:solidFill>
                  <a:latin typeface="Arial" panose="020B0604020202020204" pitchFamily="34" charset="0"/>
                </a:rPr>
                <a:t>Control</a:t>
              </a:r>
            </a:p>
          </p:txBody>
        </p:sp>
        <p:sp>
          <p:nvSpPr>
            <p:cNvPr id="81932" name="Rectangle 12"/>
            <p:cNvSpPr>
              <a:spLocks noChangeArrowheads="1"/>
            </p:cNvSpPr>
            <p:nvPr/>
          </p:nvSpPr>
          <p:spPr bwMode="auto">
            <a:xfrm>
              <a:off x="3662363" y="2421731"/>
              <a:ext cx="651138" cy="23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a:solidFill>
                    <a:srgbClr val="000000"/>
                  </a:solidFill>
                  <a:latin typeface="Arial" panose="020B0604020202020204" pitchFamily="34" charset="0"/>
                </a:rPr>
                <a:t>32 </a:t>
              </a:r>
              <a:r>
                <a:rPr kumimoji="1" lang="en-US" altLang="zh-TW" b="1">
                  <a:solidFill>
                    <a:srgbClr val="000000"/>
                  </a:solidFill>
                  <a:latin typeface="Arial" panose="020B0604020202020204" pitchFamily="34" charset="0"/>
                </a:rPr>
                <a:t>bits</a:t>
              </a:r>
            </a:p>
          </p:txBody>
        </p:sp>
        <p:sp>
          <p:nvSpPr>
            <p:cNvPr id="81933" name="Rectangle 13"/>
            <p:cNvSpPr>
              <a:spLocks noChangeArrowheads="1"/>
            </p:cNvSpPr>
            <p:nvPr/>
          </p:nvSpPr>
          <p:spPr bwMode="auto">
            <a:xfrm>
              <a:off x="3499248" y="3858816"/>
              <a:ext cx="651138" cy="23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a:solidFill>
                    <a:srgbClr val="000000"/>
                  </a:solidFill>
                  <a:latin typeface="Arial" panose="020B0604020202020204" pitchFamily="34" charset="0"/>
                </a:rPr>
                <a:t>64 </a:t>
              </a:r>
              <a:r>
                <a:rPr kumimoji="1" lang="en-US" altLang="zh-TW" b="1">
                  <a:solidFill>
                    <a:srgbClr val="000000"/>
                  </a:solidFill>
                  <a:latin typeface="Arial" panose="020B0604020202020204" pitchFamily="34" charset="0"/>
                </a:rPr>
                <a:t>bits</a:t>
              </a:r>
            </a:p>
          </p:txBody>
        </p:sp>
        <p:sp>
          <p:nvSpPr>
            <p:cNvPr id="81934" name="Freeform 14"/>
            <p:cNvSpPr/>
            <p:nvPr/>
          </p:nvSpPr>
          <p:spPr bwMode="auto">
            <a:xfrm>
              <a:off x="3863579" y="3015854"/>
              <a:ext cx="2078831" cy="484584"/>
            </a:xfrm>
            <a:custGeom>
              <a:avLst/>
              <a:gdLst>
                <a:gd name="T0" fmla="*/ 2147483647 w 1611"/>
                <a:gd name="T1" fmla="*/ 2147483647 h 407"/>
                <a:gd name="T2" fmla="*/ 2147483647 w 1611"/>
                <a:gd name="T3" fmla="*/ 0 h 407"/>
                <a:gd name="T4" fmla="*/ 0 w 1611"/>
                <a:gd name="T5" fmla="*/ 0 h 407"/>
                <a:gd name="T6" fmla="*/ 0 60000 65536"/>
                <a:gd name="T7" fmla="*/ 0 60000 65536"/>
                <a:gd name="T8" fmla="*/ 0 60000 65536"/>
                <a:gd name="T9" fmla="*/ 0 w 1611"/>
                <a:gd name="T10" fmla="*/ 0 h 407"/>
                <a:gd name="T11" fmla="*/ 1611 w 1611"/>
                <a:gd name="T12" fmla="*/ 407 h 407"/>
              </a:gdLst>
              <a:ahLst/>
              <a:cxnLst>
                <a:cxn ang="T6">
                  <a:pos x="T0" y="T1"/>
                </a:cxn>
                <a:cxn ang="T7">
                  <a:pos x="T2" y="T3"/>
                </a:cxn>
                <a:cxn ang="T8">
                  <a:pos x="T4" y="T5"/>
                </a:cxn>
              </a:cxnLst>
              <a:rect l="T9" t="T10" r="T11" b="T12"/>
              <a:pathLst>
                <a:path w="1611" h="407">
                  <a:moveTo>
                    <a:pt x="1610" y="406"/>
                  </a:moveTo>
                  <a:lnTo>
                    <a:pt x="1610"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81935" name="Freeform 15"/>
            <p:cNvSpPr/>
            <p:nvPr/>
          </p:nvSpPr>
          <p:spPr bwMode="auto">
            <a:xfrm>
              <a:off x="4925600" y="3640411"/>
              <a:ext cx="896540" cy="1190"/>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81936" name="Freeform 16"/>
            <p:cNvSpPr/>
            <p:nvPr/>
          </p:nvSpPr>
          <p:spPr bwMode="auto">
            <a:xfrm>
              <a:off x="2671762" y="2831306"/>
              <a:ext cx="1309688" cy="434579"/>
            </a:xfrm>
            <a:custGeom>
              <a:avLst/>
              <a:gdLst>
                <a:gd name="T0" fmla="*/ 0 w 1015"/>
                <a:gd name="T1" fmla="*/ 2147483647 h 365"/>
                <a:gd name="T2" fmla="*/ 2147483647 w 1015"/>
                <a:gd name="T3" fmla="*/ 2147483647 h 365"/>
                <a:gd name="T4" fmla="*/ 2147483647 w 1015"/>
                <a:gd name="T5" fmla="*/ 2147483647 h 365"/>
                <a:gd name="T6" fmla="*/ 2147483647 w 1015"/>
                <a:gd name="T7" fmla="*/ 2147483647 h 365"/>
                <a:gd name="T8" fmla="*/ 2147483647 w 1015"/>
                <a:gd name="T9" fmla="*/ 2147483647 h 365"/>
                <a:gd name="T10" fmla="*/ 2147483647 w 1015"/>
                <a:gd name="T11" fmla="*/ 2147483647 h 365"/>
                <a:gd name="T12" fmla="*/ 2147483647 w 1015"/>
                <a:gd name="T13" fmla="*/ 0 h 365"/>
                <a:gd name="T14" fmla="*/ 0 w 1015"/>
                <a:gd name="T15" fmla="*/ 2147483647 h 365"/>
                <a:gd name="T16" fmla="*/ 0 60000 65536"/>
                <a:gd name="T17" fmla="*/ 0 60000 65536"/>
                <a:gd name="T18" fmla="*/ 0 60000 65536"/>
                <a:gd name="T19" fmla="*/ 0 60000 65536"/>
                <a:gd name="T20" fmla="*/ 0 60000 65536"/>
                <a:gd name="T21" fmla="*/ 0 60000 65536"/>
                <a:gd name="T22" fmla="*/ 0 60000 65536"/>
                <a:gd name="T23" fmla="*/ 0 60000 65536"/>
                <a:gd name="T24" fmla="*/ 0 w 1015"/>
                <a:gd name="T25" fmla="*/ 0 h 365"/>
                <a:gd name="T26" fmla="*/ 1015 w 1015"/>
                <a:gd name="T27" fmla="*/ 365 h 3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5" h="365">
                  <a:moveTo>
                    <a:pt x="0" y="7"/>
                  </a:moveTo>
                  <a:lnTo>
                    <a:pt x="264" y="364"/>
                  </a:lnTo>
                  <a:lnTo>
                    <a:pt x="757" y="364"/>
                  </a:lnTo>
                  <a:lnTo>
                    <a:pt x="1014" y="14"/>
                  </a:lnTo>
                  <a:lnTo>
                    <a:pt x="607" y="14"/>
                  </a:lnTo>
                  <a:lnTo>
                    <a:pt x="514" y="135"/>
                  </a:lnTo>
                  <a:lnTo>
                    <a:pt x="407" y="0"/>
                  </a:lnTo>
                  <a:lnTo>
                    <a:pt x="0" y="7"/>
                  </a:lnTo>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81937" name="Freeform 17"/>
            <p:cNvSpPr/>
            <p:nvPr/>
          </p:nvSpPr>
          <p:spPr bwMode="auto">
            <a:xfrm>
              <a:off x="3313510" y="3282553"/>
              <a:ext cx="1190" cy="280988"/>
            </a:xfrm>
            <a:custGeom>
              <a:avLst/>
              <a:gdLst>
                <a:gd name="T0" fmla="*/ 0 w 1"/>
                <a:gd name="T1" fmla="*/ 0 h 236"/>
                <a:gd name="T2" fmla="*/ 0 w 1"/>
                <a:gd name="T3" fmla="*/ 2147483647 h 236"/>
                <a:gd name="T4" fmla="*/ 0 60000 65536"/>
                <a:gd name="T5" fmla="*/ 0 60000 65536"/>
                <a:gd name="T6" fmla="*/ 0 w 1"/>
                <a:gd name="T7" fmla="*/ 0 h 236"/>
                <a:gd name="T8" fmla="*/ 1 w 1"/>
                <a:gd name="T9" fmla="*/ 236 h 236"/>
              </a:gdLst>
              <a:ahLst/>
              <a:cxnLst>
                <a:cxn ang="T4">
                  <a:pos x="T0" y="T1"/>
                </a:cxn>
                <a:cxn ang="T5">
                  <a:pos x="T2" y="T3"/>
                </a:cxn>
              </a:cxnLst>
              <a:rect l="T6" t="T7" r="T8" b="T9"/>
              <a:pathLst>
                <a:path w="1" h="236">
                  <a:moveTo>
                    <a:pt x="0" y="0"/>
                  </a:moveTo>
                  <a:lnTo>
                    <a:pt x="0" y="235"/>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81938" name="Freeform 18"/>
            <p:cNvSpPr/>
            <p:nvPr/>
          </p:nvSpPr>
          <p:spPr bwMode="auto">
            <a:xfrm>
              <a:off x="1785938" y="2546748"/>
              <a:ext cx="1556147" cy="1626394"/>
            </a:xfrm>
            <a:custGeom>
              <a:avLst/>
              <a:gdLst>
                <a:gd name="T0" fmla="*/ 2147483647 w 1206"/>
                <a:gd name="T1" fmla="*/ 2147483647 h 1366"/>
                <a:gd name="T2" fmla="*/ 2147483647 w 1206"/>
                <a:gd name="T3" fmla="*/ 2147483647 h 1366"/>
                <a:gd name="T4" fmla="*/ 0 w 1206"/>
                <a:gd name="T5" fmla="*/ 2147483647 h 1366"/>
                <a:gd name="T6" fmla="*/ 0 w 1206"/>
                <a:gd name="T7" fmla="*/ 0 h 1366"/>
                <a:gd name="T8" fmla="*/ 2147483647 w 1206"/>
                <a:gd name="T9" fmla="*/ 0 h 1366"/>
                <a:gd name="T10" fmla="*/ 2147483647 w 1206"/>
                <a:gd name="T11" fmla="*/ 2147483647 h 1366"/>
                <a:gd name="T12" fmla="*/ 0 60000 65536"/>
                <a:gd name="T13" fmla="*/ 0 60000 65536"/>
                <a:gd name="T14" fmla="*/ 0 60000 65536"/>
                <a:gd name="T15" fmla="*/ 0 60000 65536"/>
                <a:gd name="T16" fmla="*/ 0 60000 65536"/>
                <a:gd name="T17" fmla="*/ 0 60000 65536"/>
                <a:gd name="T18" fmla="*/ 0 w 1206"/>
                <a:gd name="T19" fmla="*/ 0 h 1366"/>
                <a:gd name="T20" fmla="*/ 1206 w 1206"/>
                <a:gd name="T21" fmla="*/ 1366 h 1366"/>
              </a:gdLst>
              <a:ahLst/>
              <a:cxnLst>
                <a:cxn ang="T12">
                  <a:pos x="T0" y="T1"/>
                </a:cxn>
                <a:cxn ang="T13">
                  <a:pos x="T2" y="T3"/>
                </a:cxn>
                <a:cxn ang="T14">
                  <a:pos x="T4" y="T5"/>
                </a:cxn>
                <a:cxn ang="T15">
                  <a:pos x="T6" y="T7"/>
                </a:cxn>
                <a:cxn ang="T16">
                  <a:pos x="T8" y="T9"/>
                </a:cxn>
                <a:cxn ang="T17">
                  <a:pos x="T10" y="T11"/>
                </a:cxn>
              </a:cxnLst>
              <a:rect l="T18" t="T19" r="T20" b="T21"/>
              <a:pathLst>
                <a:path w="1206" h="1366">
                  <a:moveTo>
                    <a:pt x="1205" y="1114"/>
                  </a:moveTo>
                  <a:lnTo>
                    <a:pt x="1205" y="1365"/>
                  </a:lnTo>
                  <a:lnTo>
                    <a:pt x="0" y="1365"/>
                  </a:lnTo>
                  <a:lnTo>
                    <a:pt x="0" y="0"/>
                  </a:lnTo>
                  <a:lnTo>
                    <a:pt x="779" y="0"/>
                  </a:lnTo>
                  <a:lnTo>
                    <a:pt x="779" y="24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81939" name="Freeform 19"/>
            <p:cNvSpPr/>
            <p:nvPr/>
          </p:nvSpPr>
          <p:spPr bwMode="auto">
            <a:xfrm>
              <a:off x="3656410" y="2406253"/>
              <a:ext cx="1190" cy="433388"/>
            </a:xfrm>
            <a:custGeom>
              <a:avLst/>
              <a:gdLst>
                <a:gd name="T0" fmla="*/ 0 w 1"/>
                <a:gd name="T1" fmla="*/ 0 h 364"/>
                <a:gd name="T2" fmla="*/ 0 w 1"/>
                <a:gd name="T3" fmla="*/ 2147483647 h 364"/>
                <a:gd name="T4" fmla="*/ 0 60000 65536"/>
                <a:gd name="T5" fmla="*/ 0 60000 65536"/>
                <a:gd name="T6" fmla="*/ 0 w 1"/>
                <a:gd name="T7" fmla="*/ 0 h 364"/>
                <a:gd name="T8" fmla="*/ 1 w 1"/>
                <a:gd name="T9" fmla="*/ 364 h 364"/>
              </a:gdLst>
              <a:ahLst/>
              <a:cxnLst>
                <a:cxn ang="T4">
                  <a:pos x="T0" y="T1"/>
                </a:cxn>
                <a:cxn ang="T5">
                  <a:pos x="T2" y="T3"/>
                </a:cxn>
              </a:cxnLst>
              <a:rect l="T6" t="T7" r="T8" b="T9"/>
              <a:pathLst>
                <a:path w="1" h="364">
                  <a:moveTo>
                    <a:pt x="0" y="0"/>
                  </a:moveTo>
                  <a:lnTo>
                    <a:pt x="0" y="36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81940" name="Line 20"/>
            <p:cNvSpPr>
              <a:spLocks noChangeShapeType="1"/>
            </p:cNvSpPr>
            <p:nvPr/>
          </p:nvSpPr>
          <p:spPr bwMode="auto">
            <a:xfrm>
              <a:off x="3794522" y="3575447"/>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81941" name="Line 21"/>
            <p:cNvSpPr>
              <a:spLocks noChangeShapeType="1"/>
            </p:cNvSpPr>
            <p:nvPr/>
          </p:nvSpPr>
          <p:spPr bwMode="auto">
            <a:xfrm>
              <a:off x="3630216" y="3444479"/>
              <a:ext cx="576263" cy="0"/>
            </a:xfrm>
            <a:prstGeom prst="line">
              <a:avLst/>
            </a:prstGeom>
            <a:noFill/>
            <a:ln w="25400">
              <a:solidFill>
                <a:schemeClr val="accent1"/>
              </a:solidFill>
              <a:round/>
              <a:headEnd type="stealth" w="med" len="lg"/>
              <a:tailEnd type="none"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81943" name="Rectangle 23"/>
            <p:cNvSpPr>
              <a:spLocks noChangeArrowheads="1"/>
            </p:cNvSpPr>
            <p:nvPr/>
          </p:nvSpPr>
          <p:spPr bwMode="auto">
            <a:xfrm>
              <a:off x="5039475" y="3390811"/>
              <a:ext cx="802539" cy="23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solidFill>
                    <a:srgbClr val="000099"/>
                  </a:solidFill>
                  <a:latin typeface="Arial" panose="020B0604020202020204" pitchFamily="34" charset="0"/>
                </a:rPr>
                <a:t>Shift</a:t>
              </a:r>
              <a:r>
                <a:rPr kumimoji="1" lang="en-US" altLang="zh-TW" b="1" dirty="0">
                  <a:solidFill>
                    <a:srgbClr val="000099"/>
                  </a:solidFill>
                  <a:latin typeface="Arial" panose="020B0604020202020204" pitchFamily="34" charset="0"/>
                </a:rPr>
                <a:t> Left</a:t>
              </a:r>
              <a:endParaRPr kumimoji="1" lang="en-US" altLang="zh-TW" b="1" dirty="0">
                <a:latin typeface="Arial" panose="020B0604020202020204" pitchFamily="34" charset="0"/>
              </a:endParaRPr>
            </a:p>
          </p:txBody>
        </p:sp>
        <p:sp>
          <p:nvSpPr>
            <p:cNvPr id="81944" name="Freeform 24"/>
            <p:cNvSpPr/>
            <p:nvPr/>
          </p:nvSpPr>
          <p:spPr bwMode="auto">
            <a:xfrm>
              <a:off x="3333750" y="4029075"/>
              <a:ext cx="3282554" cy="144066"/>
            </a:xfrm>
            <a:custGeom>
              <a:avLst/>
              <a:gdLst>
                <a:gd name="T0" fmla="*/ 0 w 2545"/>
                <a:gd name="T1" fmla="*/ 2147483647 h 121"/>
                <a:gd name="T2" fmla="*/ 2147483647 w 2545"/>
                <a:gd name="T3" fmla="*/ 2147483647 h 121"/>
                <a:gd name="T4" fmla="*/ 2147483647 w 2545"/>
                <a:gd name="T5" fmla="*/ 0 h 121"/>
                <a:gd name="T6" fmla="*/ 0 60000 65536"/>
                <a:gd name="T7" fmla="*/ 0 60000 65536"/>
                <a:gd name="T8" fmla="*/ 0 60000 65536"/>
                <a:gd name="T9" fmla="*/ 0 w 2545"/>
                <a:gd name="T10" fmla="*/ 0 h 121"/>
                <a:gd name="T11" fmla="*/ 2545 w 2545"/>
                <a:gd name="T12" fmla="*/ 121 h 121"/>
              </a:gdLst>
              <a:ahLst/>
              <a:cxnLst>
                <a:cxn ang="T6">
                  <a:pos x="T0" y="T1"/>
                </a:cxn>
                <a:cxn ang="T7">
                  <a:pos x="T2" y="T3"/>
                </a:cxn>
                <a:cxn ang="T8">
                  <a:pos x="T4" y="T5"/>
                </a:cxn>
              </a:cxnLst>
              <a:rect l="T9" t="T10" r="T11" b="T12"/>
              <a:pathLst>
                <a:path w="2545" h="121">
                  <a:moveTo>
                    <a:pt x="0" y="120"/>
                  </a:moveTo>
                  <a:lnTo>
                    <a:pt x="2544" y="120"/>
                  </a:lnTo>
                  <a:lnTo>
                    <a:pt x="2544"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81945" name="Freeform 26"/>
            <p:cNvSpPr/>
            <p:nvPr/>
          </p:nvSpPr>
          <p:spPr bwMode="auto">
            <a:xfrm>
              <a:off x="4943475" y="3786474"/>
              <a:ext cx="896541" cy="1191"/>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grpSp>
      <p:sp>
        <p:nvSpPr>
          <p:cNvPr id="81946" name="Rectangle 28"/>
          <p:cNvSpPr>
            <a:spLocks noGrp="1" noChangeArrowheads="1"/>
          </p:cNvSpPr>
          <p:nvPr>
            <p:ph type="title"/>
          </p:nvPr>
        </p:nvSpPr>
        <p:spPr>
          <a:xfrm>
            <a:off x="1375796" y="212522"/>
            <a:ext cx="8930256" cy="592821"/>
          </a:xfrm>
        </p:spPr>
        <p:txBody>
          <a:bodyPr/>
          <a:lstStyle/>
          <a:p>
            <a:r>
              <a:rPr lang="en-US" altLang="zh-TW" dirty="0"/>
              <a:t>Divide Hardware - Version 2 (1)</a:t>
            </a:r>
          </a:p>
        </p:txBody>
      </p:sp>
      <p:sp>
        <p:nvSpPr>
          <p:cNvPr id="81947" name="Rectangle 29"/>
          <p:cNvSpPr>
            <a:spLocks noGrp="1" noChangeArrowheads="1"/>
          </p:cNvSpPr>
          <p:nvPr>
            <p:ph type="body" idx="1"/>
          </p:nvPr>
        </p:nvSpPr>
        <p:spPr>
          <a:xfrm>
            <a:off x="1375795" y="1125537"/>
            <a:ext cx="10206605" cy="1145083"/>
          </a:xfrm>
        </p:spPr>
        <p:txBody>
          <a:bodyPr/>
          <a:lstStyle/>
          <a:p>
            <a:r>
              <a:rPr lang="zh-TW" altLang="en-US" dirty="0"/>
              <a:t>32-</a:t>
            </a:r>
            <a:r>
              <a:rPr lang="en-US" altLang="zh-TW" dirty="0"/>
              <a:t>bit Divisor register, 32 -bit ALU, 64-bit Remainder register, (</a:t>
            </a:r>
            <a:r>
              <a:rPr lang="en-US" altLang="zh-TW" u="sng" dirty="0">
                <a:solidFill>
                  <a:srgbClr val="FF0000"/>
                </a:solidFill>
              </a:rPr>
              <a:t>0</a:t>
            </a:r>
            <a:r>
              <a:rPr lang="en-US" altLang="zh-TW" dirty="0"/>
              <a:t>-bit Quotient register)</a:t>
            </a:r>
          </a:p>
        </p:txBody>
      </p:sp>
      <p:sp>
        <p:nvSpPr>
          <p:cNvPr id="29"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5443" name="Rectangle 3"/>
          <p:cNvSpPr>
            <a:spLocks noGrp="1" noChangeArrowheads="1"/>
          </p:cNvSpPr>
          <p:nvPr>
            <p:ph type="body" idx="1"/>
          </p:nvPr>
        </p:nvSpPr>
        <p:spPr>
          <a:xfrm>
            <a:off x="951976" y="1317335"/>
            <a:ext cx="4014307" cy="4652963"/>
          </a:xfrm>
          <a:noFill/>
        </p:spPr>
        <p:txBody>
          <a:bodyPr vert="horz" wrap="square" lIns="92075" tIns="46039" rIns="92075" bIns="46039" numCol="1" anchor="t" anchorCtr="0" compatLnSpc="1">
            <a:prstTxWarp prst="textNoShape">
              <a:avLst/>
            </a:prstTxWarp>
          </a:bodyPr>
          <a:lstStyle/>
          <a:p>
            <a:pPr marL="0" indent="0">
              <a:buNone/>
              <a:tabLst>
                <a:tab pos="1085400" algn="l"/>
                <a:tab pos="2057349" algn="l"/>
              </a:tabLst>
            </a:pPr>
            <a:r>
              <a:rPr lang="en-US" altLang="zh-TW" sz="2400" b="1" dirty="0"/>
              <a:t>0111 /  0010</a:t>
            </a:r>
          </a:p>
          <a:p>
            <a:pPr marL="0" indent="0">
              <a:lnSpc>
                <a:spcPct val="70000"/>
              </a:lnSpc>
              <a:buNone/>
              <a:tabLst>
                <a:tab pos="1085400" algn="l"/>
                <a:tab pos="2057349" algn="l"/>
              </a:tabLst>
            </a:pPr>
            <a:endParaRPr lang="en-US" altLang="zh-TW" sz="2400" b="1" dirty="0"/>
          </a:p>
          <a:p>
            <a:pPr marL="0" indent="0">
              <a:lnSpc>
                <a:spcPct val="70000"/>
              </a:lnSpc>
              <a:buNone/>
              <a:tabLst>
                <a:tab pos="1085400" algn="l"/>
                <a:tab pos="2057349" algn="l"/>
              </a:tabLst>
            </a:pPr>
            <a:r>
              <a:rPr lang="en-US" altLang="zh-TW" sz="2400" b="1" dirty="0"/>
              <a:t>Step     Remainder  	    Div.</a:t>
            </a:r>
            <a:br>
              <a:rPr lang="en-US" altLang="zh-TW" sz="2400" b="1" dirty="0"/>
            </a:br>
            <a:r>
              <a:rPr lang="en-US" altLang="zh-TW" sz="2400" b="1" dirty="0">
                <a:latin typeface="Courier New" panose="02070309020205020404" pitchFamily="49" charset="0"/>
              </a:rPr>
              <a:t>0</a:t>
            </a:r>
            <a:r>
              <a:rPr lang="en-US" altLang="zh-TW" sz="2400" b="1" dirty="0"/>
              <a:t>          </a:t>
            </a:r>
            <a:r>
              <a:rPr lang="en-US" altLang="zh-TW" sz="2400" b="1" dirty="0">
                <a:latin typeface="Courier New" panose="02070309020205020404" pitchFamily="49" charset="0"/>
              </a:rPr>
              <a:t>0000 0111 0010</a:t>
            </a:r>
          </a:p>
          <a:p>
            <a:pPr marL="0" indent="0">
              <a:lnSpc>
                <a:spcPct val="70000"/>
              </a:lnSpc>
              <a:buNone/>
              <a:tabLst>
                <a:tab pos="1085400" algn="l"/>
                <a:tab pos="2057349" algn="l"/>
              </a:tabLst>
            </a:pPr>
            <a:r>
              <a:rPr lang="en-US" altLang="zh-TW" sz="2400" b="1" dirty="0">
                <a:latin typeface="Courier New" panose="02070309020205020404" pitchFamily="49" charset="0"/>
              </a:rPr>
              <a:t>1.1  </a:t>
            </a:r>
            <a:r>
              <a:rPr lang="en-US" altLang="zh-TW" sz="2400" b="1" dirty="0">
                <a:solidFill>
                  <a:srgbClr val="FF0000"/>
                </a:solidFill>
                <a:latin typeface="Courier New" panose="02070309020205020404" pitchFamily="49" charset="0"/>
              </a:rPr>
              <a:t>0000 111</a:t>
            </a:r>
            <a:r>
              <a:rPr lang="en-US" altLang="zh-TW" sz="2400" b="1" dirty="0">
                <a:latin typeface="Courier New" panose="02070309020205020404" pitchFamily="49" charset="0"/>
              </a:rPr>
              <a:t>0</a:t>
            </a:r>
          </a:p>
          <a:p>
            <a:pPr marL="0" indent="0">
              <a:lnSpc>
                <a:spcPct val="70000"/>
              </a:lnSpc>
              <a:buNone/>
              <a:tabLst>
                <a:tab pos="1085400" algn="l"/>
                <a:tab pos="2057349" algn="l"/>
              </a:tabLst>
            </a:pPr>
            <a:r>
              <a:rPr lang="en-US" altLang="zh-TW" sz="2400" b="1" dirty="0">
                <a:latin typeface="Courier New" panose="02070309020205020404" pitchFamily="49" charset="0"/>
              </a:rPr>
              <a:t>1.2  </a:t>
            </a:r>
            <a:r>
              <a:rPr lang="en-US" altLang="zh-TW" sz="2400" b="1" u="sng" dirty="0">
                <a:solidFill>
                  <a:srgbClr val="FF0000"/>
                </a:solidFill>
                <a:latin typeface="Courier New" panose="02070309020205020404" pitchFamily="49" charset="0"/>
              </a:rPr>
              <a:t>1</a:t>
            </a:r>
            <a:r>
              <a:rPr lang="en-US" altLang="zh-TW" sz="2400" b="1" dirty="0">
                <a:solidFill>
                  <a:srgbClr val="FF0000"/>
                </a:solidFill>
                <a:latin typeface="Courier New" panose="02070309020205020404" pitchFamily="49" charset="0"/>
              </a:rPr>
              <a:t>110 111</a:t>
            </a:r>
            <a:r>
              <a:rPr lang="en-US" altLang="zh-TW" sz="2400" b="1" dirty="0">
                <a:latin typeface="Courier New" panose="02070309020205020404" pitchFamily="49" charset="0"/>
              </a:rPr>
              <a:t>0</a:t>
            </a:r>
          </a:p>
          <a:p>
            <a:pPr marL="0" indent="0">
              <a:lnSpc>
                <a:spcPct val="70000"/>
              </a:lnSpc>
              <a:buNone/>
              <a:tabLst>
                <a:tab pos="1085400" algn="l"/>
                <a:tab pos="2057349" algn="l"/>
              </a:tabLst>
            </a:pPr>
            <a:r>
              <a:rPr lang="en-US" altLang="zh-TW" sz="2400" b="1" dirty="0">
                <a:latin typeface="Courier New" panose="02070309020205020404" pitchFamily="49" charset="0"/>
              </a:rPr>
              <a:t>1.3b </a:t>
            </a:r>
            <a:r>
              <a:rPr lang="en-US" altLang="zh-TW" sz="2400" b="1" dirty="0">
                <a:solidFill>
                  <a:srgbClr val="FF0000"/>
                </a:solidFill>
                <a:latin typeface="Courier New" panose="02070309020205020404" pitchFamily="49" charset="0"/>
              </a:rPr>
              <a:t>0001 11</a:t>
            </a:r>
            <a:r>
              <a:rPr lang="en-US" altLang="zh-TW" sz="2400" b="1" dirty="0">
                <a:latin typeface="Courier New" panose="02070309020205020404" pitchFamily="49" charset="0"/>
              </a:rPr>
              <a:t>0</a:t>
            </a:r>
            <a:r>
              <a:rPr lang="en-US" altLang="zh-TW" sz="2400" b="1" dirty="0">
                <a:solidFill>
                  <a:srgbClr val="0000FF"/>
                </a:solidFill>
                <a:latin typeface="Courier New" panose="02070309020205020404" pitchFamily="49" charset="0"/>
              </a:rPr>
              <a:t>0</a:t>
            </a:r>
          </a:p>
          <a:p>
            <a:pPr marL="0" indent="0">
              <a:lnSpc>
                <a:spcPct val="70000"/>
              </a:lnSpc>
              <a:buNone/>
              <a:tabLst>
                <a:tab pos="1085400" algn="l"/>
                <a:tab pos="2057349" algn="l"/>
              </a:tabLst>
            </a:pPr>
            <a:r>
              <a:rPr lang="en-US" altLang="zh-TW" sz="2400" b="1" dirty="0">
                <a:latin typeface="Courier New" panose="02070309020205020404" pitchFamily="49" charset="0"/>
              </a:rPr>
              <a:t>2.2  </a:t>
            </a:r>
            <a:r>
              <a:rPr lang="en-US" altLang="zh-TW" sz="2400" b="1" u="sng" dirty="0">
                <a:solidFill>
                  <a:srgbClr val="FF0000"/>
                </a:solidFill>
                <a:latin typeface="Courier New" panose="02070309020205020404" pitchFamily="49" charset="0"/>
              </a:rPr>
              <a:t>1</a:t>
            </a:r>
            <a:r>
              <a:rPr lang="en-US" altLang="zh-TW" sz="2400" b="1" dirty="0">
                <a:solidFill>
                  <a:srgbClr val="FF0000"/>
                </a:solidFill>
                <a:latin typeface="Courier New" panose="02070309020205020404" pitchFamily="49" charset="0"/>
              </a:rPr>
              <a:t>111 11</a:t>
            </a:r>
            <a:r>
              <a:rPr lang="en-US" altLang="zh-TW" sz="2400" b="1" dirty="0">
                <a:latin typeface="Courier New" panose="02070309020205020404" pitchFamily="49" charset="0"/>
              </a:rPr>
              <a:t>0</a:t>
            </a:r>
            <a:r>
              <a:rPr lang="en-US" altLang="zh-TW" sz="2400" b="1" dirty="0">
                <a:solidFill>
                  <a:srgbClr val="0000FF"/>
                </a:solidFill>
                <a:latin typeface="Courier New" panose="02070309020205020404" pitchFamily="49" charset="0"/>
              </a:rPr>
              <a:t>0</a:t>
            </a:r>
          </a:p>
          <a:p>
            <a:pPr marL="0" indent="0">
              <a:lnSpc>
                <a:spcPct val="70000"/>
              </a:lnSpc>
              <a:buNone/>
              <a:tabLst>
                <a:tab pos="1085400" algn="l"/>
                <a:tab pos="2057349" algn="l"/>
              </a:tabLst>
            </a:pPr>
            <a:r>
              <a:rPr lang="en-US" altLang="zh-TW" sz="2400" b="1" dirty="0">
                <a:latin typeface="Courier New" panose="02070309020205020404" pitchFamily="49" charset="0"/>
              </a:rPr>
              <a:t>2.3b </a:t>
            </a:r>
            <a:r>
              <a:rPr lang="en-US" altLang="zh-TW" sz="2400" b="1" dirty="0">
                <a:solidFill>
                  <a:srgbClr val="FF0000"/>
                </a:solidFill>
                <a:latin typeface="Courier New" panose="02070309020205020404" pitchFamily="49" charset="0"/>
              </a:rPr>
              <a:t>0011 1</a:t>
            </a:r>
            <a:r>
              <a:rPr lang="en-US" altLang="zh-TW" sz="2400" b="1" dirty="0">
                <a:latin typeface="Courier New" panose="02070309020205020404" pitchFamily="49" charset="0"/>
              </a:rPr>
              <a:t>0</a:t>
            </a:r>
            <a:r>
              <a:rPr lang="en-US" altLang="zh-TW" sz="2400" b="1" dirty="0">
                <a:solidFill>
                  <a:srgbClr val="0000FF"/>
                </a:solidFill>
                <a:latin typeface="Courier New" panose="02070309020205020404" pitchFamily="49" charset="0"/>
              </a:rPr>
              <a:t>00</a:t>
            </a:r>
            <a:br>
              <a:rPr lang="en-US" altLang="zh-TW" sz="2400" b="1" dirty="0">
                <a:solidFill>
                  <a:schemeClr val="accent1"/>
                </a:solidFill>
                <a:latin typeface="Courier New" panose="02070309020205020404" pitchFamily="49" charset="0"/>
              </a:rPr>
            </a:br>
            <a:r>
              <a:rPr lang="en-US" altLang="zh-TW" sz="2400" b="1" dirty="0">
                <a:latin typeface="Courier New" panose="02070309020205020404" pitchFamily="49" charset="0"/>
              </a:rPr>
              <a:t>3.2  </a:t>
            </a:r>
            <a:r>
              <a:rPr lang="en-US" altLang="zh-TW" sz="2400" b="1" u="sng" dirty="0">
                <a:solidFill>
                  <a:srgbClr val="FF0000"/>
                </a:solidFill>
                <a:latin typeface="Courier New" panose="02070309020205020404" pitchFamily="49" charset="0"/>
              </a:rPr>
              <a:t>0</a:t>
            </a:r>
            <a:r>
              <a:rPr lang="en-US" altLang="zh-TW" sz="2400" b="1" dirty="0">
                <a:solidFill>
                  <a:srgbClr val="FF0000"/>
                </a:solidFill>
                <a:latin typeface="Courier New" panose="02070309020205020404" pitchFamily="49" charset="0"/>
              </a:rPr>
              <a:t>001 1</a:t>
            </a:r>
            <a:r>
              <a:rPr lang="en-US" altLang="zh-TW" sz="2400" b="1" dirty="0">
                <a:latin typeface="Courier New" panose="02070309020205020404" pitchFamily="49" charset="0"/>
              </a:rPr>
              <a:t>0</a:t>
            </a:r>
            <a:r>
              <a:rPr lang="en-US" altLang="zh-TW" sz="2400" b="1" dirty="0">
                <a:solidFill>
                  <a:srgbClr val="0000FF"/>
                </a:solidFill>
                <a:latin typeface="Courier New" panose="02070309020205020404" pitchFamily="49" charset="0"/>
              </a:rPr>
              <a:t>00</a:t>
            </a:r>
          </a:p>
          <a:p>
            <a:pPr marL="0" indent="0">
              <a:lnSpc>
                <a:spcPct val="70000"/>
              </a:lnSpc>
              <a:buNone/>
              <a:tabLst>
                <a:tab pos="1085400" algn="l"/>
                <a:tab pos="2057349" algn="l"/>
              </a:tabLst>
            </a:pPr>
            <a:r>
              <a:rPr lang="en-US" altLang="zh-TW" sz="2400" b="1" dirty="0">
                <a:latin typeface="Courier New" panose="02070309020205020404" pitchFamily="49" charset="0"/>
              </a:rPr>
              <a:t>3.3a </a:t>
            </a:r>
            <a:r>
              <a:rPr lang="en-US" altLang="zh-TW" sz="2400" b="1" dirty="0">
                <a:solidFill>
                  <a:srgbClr val="FF0000"/>
                </a:solidFill>
                <a:latin typeface="Courier New" panose="02070309020205020404" pitchFamily="49" charset="0"/>
              </a:rPr>
              <a:t>0011</a:t>
            </a:r>
            <a:r>
              <a:rPr lang="en-US" altLang="zh-TW" sz="2400" b="1" dirty="0">
                <a:solidFill>
                  <a:schemeClr val="accent1"/>
                </a:solidFill>
                <a:latin typeface="Courier New" panose="02070309020205020404" pitchFamily="49" charset="0"/>
              </a:rPr>
              <a:t> </a:t>
            </a:r>
            <a:r>
              <a:rPr lang="en-US" altLang="zh-TW" sz="2400" b="1" dirty="0">
                <a:latin typeface="Courier New" panose="02070309020205020404" pitchFamily="49" charset="0"/>
              </a:rPr>
              <a:t>0</a:t>
            </a:r>
            <a:r>
              <a:rPr lang="en-US" altLang="zh-TW" sz="2400" b="1" dirty="0">
                <a:solidFill>
                  <a:srgbClr val="0000FF"/>
                </a:solidFill>
                <a:latin typeface="Courier New" panose="02070309020205020404" pitchFamily="49" charset="0"/>
              </a:rPr>
              <a:t>001</a:t>
            </a:r>
          </a:p>
          <a:p>
            <a:pPr marL="0" indent="0">
              <a:lnSpc>
                <a:spcPct val="70000"/>
              </a:lnSpc>
              <a:buNone/>
              <a:tabLst>
                <a:tab pos="1085400" algn="l"/>
                <a:tab pos="2057349" algn="l"/>
              </a:tabLst>
            </a:pPr>
            <a:r>
              <a:rPr lang="en-US" altLang="zh-TW" sz="2400" b="1" dirty="0">
                <a:latin typeface="Courier New" panose="02070309020205020404" pitchFamily="49" charset="0"/>
              </a:rPr>
              <a:t>4.2  </a:t>
            </a:r>
            <a:r>
              <a:rPr lang="en-US" altLang="zh-TW" sz="2400" b="1" u="sng" dirty="0">
                <a:solidFill>
                  <a:srgbClr val="FF0000"/>
                </a:solidFill>
                <a:latin typeface="Courier New" panose="02070309020205020404" pitchFamily="49" charset="0"/>
              </a:rPr>
              <a:t>0</a:t>
            </a:r>
            <a:r>
              <a:rPr lang="en-US" altLang="zh-TW" sz="2400" b="1" dirty="0">
                <a:solidFill>
                  <a:srgbClr val="FF0000"/>
                </a:solidFill>
                <a:latin typeface="Courier New" panose="02070309020205020404" pitchFamily="49" charset="0"/>
              </a:rPr>
              <a:t>001</a:t>
            </a:r>
            <a:r>
              <a:rPr lang="en-US" altLang="zh-TW" sz="2400" b="1" dirty="0">
                <a:latin typeface="Courier New" panose="02070309020205020404" pitchFamily="49" charset="0"/>
              </a:rPr>
              <a:t> 0</a:t>
            </a:r>
            <a:r>
              <a:rPr lang="en-US" altLang="zh-TW" sz="2400" b="1" dirty="0">
                <a:solidFill>
                  <a:srgbClr val="0000FF"/>
                </a:solidFill>
                <a:latin typeface="Courier New" panose="02070309020205020404" pitchFamily="49" charset="0"/>
              </a:rPr>
              <a:t>001</a:t>
            </a:r>
          </a:p>
          <a:p>
            <a:pPr marL="0" indent="0">
              <a:lnSpc>
                <a:spcPct val="70000"/>
              </a:lnSpc>
              <a:buNone/>
              <a:tabLst>
                <a:tab pos="1085400" algn="l"/>
                <a:tab pos="2057349" algn="l"/>
              </a:tabLst>
            </a:pPr>
            <a:r>
              <a:rPr lang="en-US" altLang="zh-TW" sz="2400" b="1" dirty="0">
                <a:latin typeface="Courier New" panose="02070309020205020404" pitchFamily="49" charset="0"/>
              </a:rPr>
              <a:t>4.3a </a:t>
            </a:r>
            <a:r>
              <a:rPr lang="en-US" altLang="zh-TW" sz="2400" b="1" dirty="0">
                <a:solidFill>
                  <a:srgbClr val="FF0000"/>
                </a:solidFill>
                <a:latin typeface="Courier New" panose="02070309020205020404" pitchFamily="49" charset="0"/>
              </a:rPr>
              <a:t>001</a:t>
            </a:r>
            <a:r>
              <a:rPr lang="en-US" altLang="zh-TW" sz="2400" b="1" dirty="0">
                <a:latin typeface="Courier New" panose="02070309020205020404" pitchFamily="49" charset="0"/>
              </a:rPr>
              <a:t>0</a:t>
            </a:r>
            <a:r>
              <a:rPr lang="en-US" altLang="zh-TW" sz="2400" b="1" dirty="0">
                <a:solidFill>
                  <a:schemeClr val="accent1"/>
                </a:solidFill>
                <a:latin typeface="Courier New" panose="02070309020205020404" pitchFamily="49" charset="0"/>
              </a:rPr>
              <a:t> </a:t>
            </a:r>
            <a:r>
              <a:rPr lang="en-US" altLang="zh-TW" sz="2400" b="1" dirty="0">
                <a:solidFill>
                  <a:srgbClr val="0000FF"/>
                </a:solidFill>
                <a:latin typeface="Courier New" panose="02070309020205020404" pitchFamily="49" charset="0"/>
              </a:rPr>
              <a:t>0011</a:t>
            </a:r>
          </a:p>
          <a:p>
            <a:pPr marL="0" indent="0">
              <a:lnSpc>
                <a:spcPct val="70000"/>
              </a:lnSpc>
              <a:buNone/>
              <a:tabLst>
                <a:tab pos="1085400" algn="l"/>
                <a:tab pos="2057349" algn="l"/>
              </a:tabLst>
            </a:pPr>
            <a:r>
              <a:rPr lang="en-US" altLang="zh-TW" sz="2400" b="1" dirty="0">
                <a:latin typeface="Courier New" panose="02070309020205020404" pitchFamily="49" charset="0"/>
              </a:rPr>
              <a:t>     </a:t>
            </a:r>
            <a:r>
              <a:rPr lang="en-US" altLang="zh-TW" sz="2400" b="1" dirty="0">
                <a:solidFill>
                  <a:srgbClr val="FF0000"/>
                </a:solidFill>
                <a:latin typeface="Courier New" panose="02070309020205020404" pitchFamily="49" charset="0"/>
              </a:rPr>
              <a:t>0001</a:t>
            </a:r>
            <a:r>
              <a:rPr lang="en-US" altLang="zh-TW" sz="2400" b="1" dirty="0">
                <a:latin typeface="Courier New" panose="02070309020205020404" pitchFamily="49" charset="0"/>
              </a:rPr>
              <a:t> </a:t>
            </a:r>
            <a:r>
              <a:rPr lang="en-US" altLang="zh-TW" sz="2400" b="1" dirty="0">
                <a:solidFill>
                  <a:srgbClr val="0000FF"/>
                </a:solidFill>
                <a:latin typeface="Courier New" panose="02070309020205020404" pitchFamily="49" charset="0"/>
              </a:rPr>
              <a:t>0011</a:t>
            </a:r>
          </a:p>
        </p:txBody>
      </p:sp>
      <p:grpSp>
        <p:nvGrpSpPr>
          <p:cNvPr id="2" name="组合 1"/>
          <p:cNvGrpSpPr/>
          <p:nvPr/>
        </p:nvGrpSpPr>
        <p:grpSpPr>
          <a:xfrm>
            <a:off x="5402510" y="1142922"/>
            <a:ext cx="6203528" cy="4930708"/>
            <a:chOff x="2676525" y="86158"/>
            <a:chExt cx="5499497" cy="4890655"/>
          </a:xfrm>
        </p:grpSpPr>
        <p:sp>
          <p:nvSpPr>
            <p:cNvPr id="82946" name="Rectangle 9"/>
            <p:cNvSpPr>
              <a:spLocks noChangeArrowheads="1"/>
            </p:cNvSpPr>
            <p:nvPr/>
          </p:nvSpPr>
          <p:spPr bwMode="auto">
            <a:xfrm>
              <a:off x="5517295" y="1881187"/>
              <a:ext cx="947859" cy="499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en-US" altLang="zh-TW" sz="1333" b="1">
                  <a:latin typeface="Arial" panose="020B0604020202020204" pitchFamily="34" charset="0"/>
                </a:rPr>
                <a:t>Test </a:t>
              </a:r>
              <a:br>
                <a:rPr kumimoji="1" lang="en-US" altLang="zh-TW" sz="1333" b="1">
                  <a:latin typeface="Arial" panose="020B0604020202020204" pitchFamily="34" charset="0"/>
                </a:rPr>
              </a:br>
              <a:r>
                <a:rPr kumimoji="1" lang="en-US" altLang="zh-TW" sz="1333" b="1">
                  <a:latin typeface="Arial" panose="020B0604020202020204" pitchFamily="34" charset="0"/>
                </a:rPr>
                <a:t>Remainder</a:t>
              </a:r>
            </a:p>
          </p:txBody>
        </p:sp>
        <p:sp>
          <p:nvSpPr>
            <p:cNvPr id="82947" name="Rectangle 35"/>
            <p:cNvSpPr>
              <a:spLocks noChangeArrowheads="1"/>
            </p:cNvSpPr>
            <p:nvPr/>
          </p:nvSpPr>
          <p:spPr bwMode="auto">
            <a:xfrm>
              <a:off x="5354242" y="3996929"/>
              <a:ext cx="1620031" cy="295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333" b="1">
                  <a:latin typeface="Arial" panose="020B0604020202020204" pitchFamily="34" charset="0"/>
                </a:rPr>
                <a:t> </a:t>
              </a:r>
              <a:r>
                <a:rPr kumimoji="1" lang="en-US" altLang="zh-TW" sz="1333" b="1">
                  <a:latin typeface="Arial" panose="020B0604020202020204" pitchFamily="34" charset="0"/>
                </a:rPr>
                <a:t>No: &lt; 32 repetitions</a:t>
              </a:r>
            </a:p>
          </p:txBody>
        </p:sp>
        <p:sp>
          <p:nvSpPr>
            <p:cNvPr id="82950" name="Rectangle 5"/>
            <p:cNvSpPr>
              <a:spLocks noChangeArrowheads="1"/>
            </p:cNvSpPr>
            <p:nvPr/>
          </p:nvSpPr>
          <p:spPr bwMode="auto">
            <a:xfrm>
              <a:off x="4852988" y="2514410"/>
              <a:ext cx="3151585" cy="1108854"/>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r>
                <a:rPr kumimoji="1" lang="zh-TW" altLang="en-US" sz="1333" b="1" dirty="0">
                  <a:latin typeface="Arial" panose="020B0604020202020204" pitchFamily="34" charset="0"/>
                </a:rPr>
                <a:t>3</a:t>
              </a:r>
              <a:r>
                <a:rPr kumimoji="1" lang="en-US" altLang="zh-TW" sz="1333" b="1" dirty="0">
                  <a:latin typeface="Arial" panose="020B0604020202020204" pitchFamily="34" charset="0"/>
                </a:rPr>
                <a:t>b. Restore original value by adding Divisor to left half of Remainder, and place sum in left half of Remainder. Also shift </a:t>
              </a:r>
              <a:r>
                <a:rPr kumimoji="1" lang="en-US" altLang="zh-TW" sz="1333" b="1" u="sng" dirty="0">
                  <a:solidFill>
                    <a:schemeClr val="accent1"/>
                  </a:solidFill>
                  <a:latin typeface="Arial" panose="020B0604020202020204" pitchFamily="34" charset="0"/>
                </a:rPr>
                <a:t>Remainder</a:t>
              </a:r>
              <a:r>
                <a:rPr kumimoji="1" lang="en-US" altLang="zh-TW" sz="1333" b="1" dirty="0">
                  <a:latin typeface="Arial" panose="020B0604020202020204" pitchFamily="34" charset="0"/>
                </a:rPr>
                <a:t> to left, setting the new least significant bit to 0</a:t>
              </a:r>
              <a:endParaRPr lang="zh-TW" altLang="en-US" sz="1333" dirty="0"/>
            </a:p>
          </p:txBody>
        </p:sp>
        <p:sp>
          <p:nvSpPr>
            <p:cNvPr id="82951" name="Rectangle 7"/>
            <p:cNvSpPr>
              <a:spLocks noChangeArrowheads="1"/>
            </p:cNvSpPr>
            <p:nvPr/>
          </p:nvSpPr>
          <p:spPr bwMode="auto">
            <a:xfrm>
              <a:off x="5442347" y="1276350"/>
              <a:ext cx="2733675" cy="27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33"/>
            </a:p>
          </p:txBody>
        </p:sp>
        <p:sp>
          <p:nvSpPr>
            <p:cNvPr id="82952" name="Rectangle 10"/>
            <p:cNvSpPr>
              <a:spLocks noChangeArrowheads="1"/>
            </p:cNvSpPr>
            <p:nvPr/>
          </p:nvSpPr>
          <p:spPr bwMode="auto">
            <a:xfrm>
              <a:off x="6667500" y="1888331"/>
              <a:ext cx="1205075" cy="295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333" b="1">
                  <a:latin typeface="Arial" panose="020B0604020202020204" pitchFamily="34" charset="0"/>
                </a:rPr>
                <a:t>Remainder &lt; 0</a:t>
              </a:r>
            </a:p>
          </p:txBody>
        </p:sp>
        <p:sp>
          <p:nvSpPr>
            <p:cNvPr id="82953" name="Rectangle 11"/>
            <p:cNvSpPr>
              <a:spLocks noChangeArrowheads="1"/>
            </p:cNvSpPr>
            <p:nvPr/>
          </p:nvSpPr>
          <p:spPr bwMode="auto">
            <a:xfrm>
              <a:off x="3877866" y="1890713"/>
              <a:ext cx="1200813" cy="295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333" b="1">
                  <a:latin typeface="Arial" panose="020B0604020202020204" pitchFamily="34" charset="0"/>
                </a:rPr>
                <a:t>Remainder </a:t>
              </a:r>
              <a:r>
                <a:rPr kumimoji="1" lang="en-US" altLang="zh-TW" sz="1333" b="1">
                  <a:latin typeface="Arial" panose="020B0604020202020204" pitchFamily="34" charset="0"/>
                  <a:sym typeface="Symbol" panose="05050102010706020507" pitchFamily="18" charset="2"/>
                </a:rPr>
                <a:t> </a:t>
              </a:r>
              <a:r>
                <a:rPr kumimoji="1" lang="en-US" altLang="zh-TW" sz="1333" b="1">
                  <a:latin typeface="Arial" panose="020B0604020202020204" pitchFamily="34" charset="0"/>
                </a:rPr>
                <a:t>0</a:t>
              </a:r>
            </a:p>
          </p:txBody>
        </p:sp>
        <p:sp>
          <p:nvSpPr>
            <p:cNvPr id="82954" name="Rectangle 14"/>
            <p:cNvSpPr>
              <a:spLocks noChangeArrowheads="1"/>
            </p:cNvSpPr>
            <p:nvPr/>
          </p:nvSpPr>
          <p:spPr bwMode="auto">
            <a:xfrm>
              <a:off x="3980260" y="1021224"/>
              <a:ext cx="3832622" cy="701945"/>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r>
                <a:rPr kumimoji="1" lang="zh-TW" altLang="en-US" sz="1333" b="1">
                  <a:latin typeface="Arial" panose="020B0604020202020204" pitchFamily="34" charset="0"/>
                </a:rPr>
                <a:t>2. </a:t>
              </a:r>
              <a:r>
                <a:rPr kumimoji="1" lang="en-US" altLang="zh-TW" sz="1333" b="1">
                  <a:latin typeface="Arial" panose="020B0604020202020204" pitchFamily="34" charset="0"/>
                </a:rPr>
                <a:t>Subtract Divisor register from the </a:t>
              </a:r>
              <a:br>
                <a:rPr kumimoji="1" lang="en-US" altLang="zh-TW" sz="1333" b="1">
                  <a:latin typeface="Arial" panose="020B0604020202020204" pitchFamily="34" charset="0"/>
                </a:rPr>
              </a:br>
              <a:r>
                <a:rPr kumimoji="1" lang="en-US" altLang="zh-TW" sz="1333" b="1">
                  <a:latin typeface="Arial" panose="020B0604020202020204" pitchFamily="34" charset="0"/>
                </a:rPr>
                <a:t>left half of Remainder register, and place the </a:t>
              </a:r>
            </a:p>
            <a:p>
              <a:r>
                <a:rPr kumimoji="1" lang="en-US" altLang="zh-TW" sz="1333" b="1">
                  <a:latin typeface="Arial" panose="020B0604020202020204" pitchFamily="34" charset="0"/>
                </a:rPr>
                <a:t>result in the left half of Remainder register</a:t>
              </a:r>
              <a:endParaRPr lang="zh-TW" altLang="en-US" sz="1333"/>
            </a:p>
          </p:txBody>
        </p:sp>
        <p:sp>
          <p:nvSpPr>
            <p:cNvPr id="82955" name="Rectangle 16"/>
            <p:cNvSpPr>
              <a:spLocks noChangeArrowheads="1"/>
            </p:cNvSpPr>
            <p:nvPr/>
          </p:nvSpPr>
          <p:spPr bwMode="auto">
            <a:xfrm>
              <a:off x="3069431" y="2687505"/>
              <a:ext cx="1681163" cy="701945"/>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r>
                <a:rPr kumimoji="1" lang="zh-TW" altLang="en-US" sz="1333" b="1">
                  <a:latin typeface="Arial" panose="020B0604020202020204" pitchFamily="34" charset="0"/>
                </a:rPr>
                <a:t>3</a:t>
              </a:r>
              <a:r>
                <a:rPr kumimoji="1" lang="en-US" altLang="zh-TW" sz="1333" b="1">
                  <a:latin typeface="Arial" panose="020B0604020202020204" pitchFamily="34" charset="0"/>
                </a:rPr>
                <a:t>a. Shift </a:t>
              </a:r>
              <a:r>
                <a:rPr kumimoji="1" lang="en-US" altLang="zh-TW" sz="1333" b="1" u="sng">
                  <a:solidFill>
                    <a:schemeClr val="accent1"/>
                  </a:solidFill>
                  <a:latin typeface="Arial" panose="020B0604020202020204" pitchFamily="34" charset="0"/>
                </a:rPr>
                <a:t>Remainder</a:t>
              </a:r>
              <a:r>
                <a:rPr kumimoji="1" lang="en-US" altLang="zh-TW" sz="1333" b="1">
                  <a:latin typeface="Arial" panose="020B0604020202020204" pitchFamily="34" charset="0"/>
                </a:rPr>
                <a:t> to left, setting new rightmost bit to 1</a:t>
              </a:r>
              <a:endParaRPr lang="zh-TW" altLang="en-US" sz="1333"/>
            </a:p>
          </p:txBody>
        </p:sp>
        <p:sp>
          <p:nvSpPr>
            <p:cNvPr id="82956" name="Rectangle 19"/>
            <p:cNvSpPr>
              <a:spLocks noChangeArrowheads="1"/>
            </p:cNvSpPr>
            <p:nvPr/>
          </p:nvSpPr>
          <p:spPr bwMode="auto">
            <a:xfrm>
              <a:off x="4475560" y="607219"/>
              <a:ext cx="3295650" cy="226219"/>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r>
                <a:rPr kumimoji="1" lang="zh-TW" altLang="en-US" sz="1333" b="1">
                  <a:latin typeface="Arial" panose="020B0604020202020204" pitchFamily="34" charset="0"/>
                </a:rPr>
                <a:t>1. </a:t>
              </a:r>
              <a:r>
                <a:rPr kumimoji="1" lang="en-US" altLang="zh-TW" sz="1333" b="1">
                  <a:latin typeface="Arial" panose="020B0604020202020204" pitchFamily="34" charset="0"/>
                </a:rPr>
                <a:t>Shift Remainder register left 1 bit</a:t>
              </a:r>
              <a:endParaRPr lang="zh-TW" altLang="en-US" sz="1333"/>
            </a:p>
          </p:txBody>
        </p:sp>
        <p:sp>
          <p:nvSpPr>
            <p:cNvPr id="82957" name="AutoShape 22"/>
            <p:cNvSpPr>
              <a:spLocks noChangeArrowheads="1"/>
            </p:cNvSpPr>
            <p:nvPr/>
          </p:nvSpPr>
          <p:spPr bwMode="auto">
            <a:xfrm>
              <a:off x="2676525" y="4710113"/>
              <a:ext cx="4096941" cy="266700"/>
            </a:xfrm>
            <a:prstGeom prst="roundRect">
              <a:avLst>
                <a:gd name="adj" fmla="val 46292"/>
              </a:avLst>
            </a:pr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TW" sz="1333" b="1">
                  <a:latin typeface="Arial" panose="020B0604020202020204" pitchFamily="34" charset="0"/>
                </a:rPr>
                <a:t>Done. </a:t>
              </a:r>
              <a:r>
                <a:rPr kumimoji="1" lang="en-US" altLang="zh-TW" sz="1333" b="1" u="sng">
                  <a:solidFill>
                    <a:schemeClr val="accent1"/>
                  </a:solidFill>
                  <a:latin typeface="Arial" panose="020B0604020202020204" pitchFamily="34" charset="0"/>
                </a:rPr>
                <a:t>Shift left half of Remainder right 1 bit</a:t>
              </a:r>
              <a:endParaRPr lang="zh-TW" altLang="en-US" sz="1333"/>
            </a:p>
          </p:txBody>
        </p:sp>
        <p:sp>
          <p:nvSpPr>
            <p:cNvPr id="82958" name="Rectangle 24"/>
            <p:cNvSpPr>
              <a:spLocks noChangeArrowheads="1"/>
            </p:cNvSpPr>
            <p:nvPr/>
          </p:nvSpPr>
          <p:spPr bwMode="auto">
            <a:xfrm>
              <a:off x="5753101" y="4200525"/>
              <a:ext cx="640556" cy="27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33"/>
            </a:p>
          </p:txBody>
        </p:sp>
        <p:sp>
          <p:nvSpPr>
            <p:cNvPr id="82959" name="Rectangle 25"/>
            <p:cNvSpPr>
              <a:spLocks noChangeArrowheads="1"/>
            </p:cNvSpPr>
            <p:nvPr/>
          </p:nvSpPr>
          <p:spPr bwMode="auto">
            <a:xfrm>
              <a:off x="4827985" y="4424040"/>
              <a:ext cx="1544998" cy="295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333" b="1" dirty="0">
                  <a:latin typeface="Arial" panose="020B0604020202020204" pitchFamily="34" charset="0"/>
                </a:rPr>
                <a:t> </a:t>
              </a:r>
              <a:r>
                <a:rPr kumimoji="1" lang="en-US" altLang="zh-TW" sz="1333" b="1" dirty="0">
                  <a:latin typeface="Arial" panose="020B0604020202020204" pitchFamily="34" charset="0"/>
                </a:rPr>
                <a:t>Yes: 32 repetitions</a:t>
              </a:r>
              <a:endParaRPr kumimoji="1" lang="en-US" altLang="zh-TW" sz="1333" b="1" dirty="0">
                <a:solidFill>
                  <a:srgbClr val="000000"/>
                </a:solidFill>
                <a:latin typeface="Arial" panose="020B0604020202020204" pitchFamily="34" charset="0"/>
              </a:endParaRPr>
            </a:p>
          </p:txBody>
        </p:sp>
        <p:sp>
          <p:nvSpPr>
            <p:cNvPr id="82960" name="AutoShape 26"/>
            <p:cNvSpPr>
              <a:spLocks noChangeArrowheads="1"/>
            </p:cNvSpPr>
            <p:nvPr/>
          </p:nvSpPr>
          <p:spPr bwMode="auto">
            <a:xfrm>
              <a:off x="5232797" y="1895475"/>
              <a:ext cx="1433513" cy="566738"/>
            </a:xfrm>
            <a:prstGeom prst="diamond">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TW" altLang="en-US" sz="1333"/>
            </a:p>
          </p:txBody>
        </p:sp>
        <p:sp>
          <p:nvSpPr>
            <p:cNvPr id="82961" name="Line 27"/>
            <p:cNvSpPr>
              <a:spLocks noChangeShapeType="1"/>
            </p:cNvSpPr>
            <p:nvPr/>
          </p:nvSpPr>
          <p:spPr bwMode="auto">
            <a:xfrm>
              <a:off x="5965031" y="1728788"/>
              <a:ext cx="0" cy="1714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33"/>
            </a:p>
          </p:txBody>
        </p:sp>
        <p:sp>
          <p:nvSpPr>
            <p:cNvPr id="82962" name="Freeform 28"/>
            <p:cNvSpPr/>
            <p:nvPr/>
          </p:nvSpPr>
          <p:spPr bwMode="auto">
            <a:xfrm>
              <a:off x="6661548" y="2171700"/>
              <a:ext cx="573881" cy="344091"/>
            </a:xfrm>
            <a:custGeom>
              <a:avLst/>
              <a:gdLst>
                <a:gd name="T0" fmla="*/ 0 w 445"/>
                <a:gd name="T1" fmla="*/ 0 h 289"/>
                <a:gd name="T2" fmla="*/ 2147483647 w 445"/>
                <a:gd name="T3" fmla="*/ 0 h 289"/>
                <a:gd name="T4" fmla="*/ 2147483647 w 445"/>
                <a:gd name="T5" fmla="*/ 2147483647 h 289"/>
                <a:gd name="T6" fmla="*/ 0 60000 65536"/>
                <a:gd name="T7" fmla="*/ 0 60000 65536"/>
                <a:gd name="T8" fmla="*/ 0 60000 65536"/>
                <a:gd name="T9" fmla="*/ 0 w 445"/>
                <a:gd name="T10" fmla="*/ 0 h 289"/>
                <a:gd name="T11" fmla="*/ 445 w 445"/>
                <a:gd name="T12" fmla="*/ 289 h 289"/>
              </a:gdLst>
              <a:ahLst/>
              <a:cxnLst>
                <a:cxn ang="T6">
                  <a:pos x="T0" y="T1"/>
                </a:cxn>
                <a:cxn ang="T7">
                  <a:pos x="T2" y="T3"/>
                </a:cxn>
                <a:cxn ang="T8">
                  <a:pos x="T4" y="T5"/>
                </a:cxn>
              </a:cxnLst>
              <a:rect l="T9" t="T10" r="T11" b="T12"/>
              <a:pathLst>
                <a:path w="445" h="289">
                  <a:moveTo>
                    <a:pt x="0" y="0"/>
                  </a:moveTo>
                  <a:lnTo>
                    <a:pt x="444" y="0"/>
                  </a:lnTo>
                  <a:lnTo>
                    <a:pt x="444" y="288"/>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33"/>
            </a:p>
          </p:txBody>
        </p:sp>
        <p:sp>
          <p:nvSpPr>
            <p:cNvPr id="82963" name="Freeform 29"/>
            <p:cNvSpPr/>
            <p:nvPr/>
          </p:nvSpPr>
          <p:spPr bwMode="auto">
            <a:xfrm>
              <a:off x="3675460" y="2171701"/>
              <a:ext cx="1578769" cy="497465"/>
            </a:xfrm>
            <a:custGeom>
              <a:avLst/>
              <a:gdLst>
                <a:gd name="T0" fmla="*/ 2147483647 w 1861"/>
                <a:gd name="T1" fmla="*/ 0 h 301"/>
                <a:gd name="T2" fmla="*/ 0 w 1861"/>
                <a:gd name="T3" fmla="*/ 0 h 301"/>
                <a:gd name="T4" fmla="*/ 0 w 1861"/>
                <a:gd name="T5" fmla="*/ 2147483647 h 301"/>
                <a:gd name="T6" fmla="*/ 0 60000 65536"/>
                <a:gd name="T7" fmla="*/ 0 60000 65536"/>
                <a:gd name="T8" fmla="*/ 0 60000 65536"/>
                <a:gd name="T9" fmla="*/ 0 w 1861"/>
                <a:gd name="T10" fmla="*/ 0 h 301"/>
                <a:gd name="T11" fmla="*/ 1861 w 1861"/>
                <a:gd name="T12" fmla="*/ 301 h 301"/>
              </a:gdLst>
              <a:ahLst/>
              <a:cxnLst>
                <a:cxn ang="T6">
                  <a:pos x="T0" y="T1"/>
                </a:cxn>
                <a:cxn ang="T7">
                  <a:pos x="T2" y="T3"/>
                </a:cxn>
                <a:cxn ang="T8">
                  <a:pos x="T4" y="T5"/>
                </a:cxn>
              </a:cxnLst>
              <a:rect l="T9" t="T10" r="T11" b="T12"/>
              <a:pathLst>
                <a:path w="1861" h="301">
                  <a:moveTo>
                    <a:pt x="1860" y="0"/>
                  </a:moveTo>
                  <a:lnTo>
                    <a:pt x="0" y="0"/>
                  </a:lnTo>
                  <a:lnTo>
                    <a:pt x="0" y="30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33"/>
            </a:p>
          </p:txBody>
        </p:sp>
        <p:grpSp>
          <p:nvGrpSpPr>
            <p:cNvPr id="82964" name="Group 30"/>
            <p:cNvGrpSpPr/>
            <p:nvPr/>
          </p:nvGrpSpPr>
          <p:grpSpPr bwMode="auto">
            <a:xfrm>
              <a:off x="3824287" y="3967162"/>
              <a:ext cx="1433513" cy="566738"/>
              <a:chOff x="2300" y="3332"/>
              <a:chExt cx="1112" cy="476"/>
            </a:xfrm>
          </p:grpSpPr>
          <p:sp>
            <p:nvSpPr>
              <p:cNvPr id="82975" name="Rectangle 31"/>
              <p:cNvSpPr>
                <a:spLocks noChangeArrowheads="1"/>
              </p:cNvSpPr>
              <p:nvPr/>
            </p:nvSpPr>
            <p:spPr bwMode="auto">
              <a:xfrm>
                <a:off x="2532" y="3355"/>
                <a:ext cx="736"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333" b="1">
                    <a:latin typeface="Arial" panose="020B0604020202020204" pitchFamily="34" charset="0"/>
                  </a:rPr>
                  <a:t> 32</a:t>
                </a:r>
                <a:r>
                  <a:rPr kumimoji="1" lang="en-US" altLang="zh-TW" sz="1333" b="1">
                    <a:latin typeface="Arial" panose="020B0604020202020204" pitchFamily="34" charset="0"/>
                  </a:rPr>
                  <a:t>nd</a:t>
                </a:r>
              </a:p>
              <a:p>
                <a:pPr algn="ctr"/>
                <a:r>
                  <a:rPr kumimoji="1" lang="en-US" altLang="zh-TW" sz="1333" b="1">
                    <a:latin typeface="Arial" panose="020B0604020202020204" pitchFamily="34" charset="0"/>
                  </a:rPr>
                  <a:t>repetition?</a:t>
                </a:r>
              </a:p>
            </p:txBody>
          </p:sp>
          <p:sp>
            <p:nvSpPr>
              <p:cNvPr id="82976" name="AutoShape 32"/>
              <p:cNvSpPr>
                <a:spLocks noChangeArrowheads="1"/>
              </p:cNvSpPr>
              <p:nvPr/>
            </p:nvSpPr>
            <p:spPr bwMode="auto">
              <a:xfrm>
                <a:off x="2300" y="3332"/>
                <a:ext cx="1112" cy="476"/>
              </a:xfrm>
              <a:prstGeom prst="diamond">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33"/>
              </a:p>
            </p:txBody>
          </p:sp>
        </p:grpSp>
        <p:sp>
          <p:nvSpPr>
            <p:cNvPr id="82965" name="Line 33"/>
            <p:cNvSpPr>
              <a:spLocks noChangeShapeType="1"/>
            </p:cNvSpPr>
            <p:nvPr/>
          </p:nvSpPr>
          <p:spPr bwMode="auto">
            <a:xfrm>
              <a:off x="5012531" y="3640931"/>
              <a:ext cx="0" cy="509588"/>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33"/>
            </a:p>
          </p:txBody>
        </p:sp>
        <p:sp>
          <p:nvSpPr>
            <p:cNvPr id="82966" name="Line 34"/>
            <p:cNvSpPr>
              <a:spLocks noChangeShapeType="1"/>
            </p:cNvSpPr>
            <p:nvPr/>
          </p:nvSpPr>
          <p:spPr bwMode="auto">
            <a:xfrm>
              <a:off x="4556522" y="4557713"/>
              <a:ext cx="0" cy="1714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33"/>
            </a:p>
          </p:txBody>
        </p:sp>
        <p:sp>
          <p:nvSpPr>
            <p:cNvPr id="82967" name="Line 36"/>
            <p:cNvSpPr>
              <a:spLocks noChangeShapeType="1"/>
            </p:cNvSpPr>
            <p:nvPr/>
          </p:nvSpPr>
          <p:spPr bwMode="auto">
            <a:xfrm>
              <a:off x="5934075" y="357188"/>
              <a:ext cx="0" cy="257175"/>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33"/>
            </a:p>
          </p:txBody>
        </p:sp>
        <p:sp>
          <p:nvSpPr>
            <p:cNvPr id="82968" name="Freeform 37"/>
            <p:cNvSpPr/>
            <p:nvPr/>
          </p:nvSpPr>
          <p:spPr bwMode="auto">
            <a:xfrm>
              <a:off x="5299472" y="908448"/>
              <a:ext cx="2819400" cy="3350419"/>
            </a:xfrm>
            <a:custGeom>
              <a:avLst/>
              <a:gdLst>
                <a:gd name="T0" fmla="*/ 0 w 2269"/>
                <a:gd name="T1" fmla="*/ 2147483647 h 3241"/>
                <a:gd name="T2" fmla="*/ 2147483647 w 2269"/>
                <a:gd name="T3" fmla="*/ 2147483647 h 3241"/>
                <a:gd name="T4" fmla="*/ 2147483647 w 2269"/>
                <a:gd name="T5" fmla="*/ 0 h 3241"/>
                <a:gd name="T6" fmla="*/ 2147483647 w 2269"/>
                <a:gd name="T7" fmla="*/ 0 h 3241"/>
                <a:gd name="T8" fmla="*/ 0 60000 65536"/>
                <a:gd name="T9" fmla="*/ 0 60000 65536"/>
                <a:gd name="T10" fmla="*/ 0 60000 65536"/>
                <a:gd name="T11" fmla="*/ 0 60000 65536"/>
                <a:gd name="T12" fmla="*/ 0 w 2269"/>
                <a:gd name="T13" fmla="*/ 0 h 3241"/>
                <a:gd name="T14" fmla="*/ 2269 w 2269"/>
                <a:gd name="T15" fmla="*/ 3241 h 3241"/>
              </a:gdLst>
              <a:ahLst/>
              <a:cxnLst>
                <a:cxn ang="T8">
                  <a:pos x="T0" y="T1"/>
                </a:cxn>
                <a:cxn ang="T9">
                  <a:pos x="T2" y="T3"/>
                </a:cxn>
                <a:cxn ang="T10">
                  <a:pos x="T4" y="T5"/>
                </a:cxn>
                <a:cxn ang="T11">
                  <a:pos x="T6" y="T7"/>
                </a:cxn>
              </a:cxnLst>
              <a:rect l="T12" t="T13" r="T14" b="T15"/>
              <a:pathLst>
                <a:path w="2269" h="3241">
                  <a:moveTo>
                    <a:pt x="0" y="3240"/>
                  </a:moveTo>
                  <a:lnTo>
                    <a:pt x="2268" y="3240"/>
                  </a:lnTo>
                  <a:lnTo>
                    <a:pt x="2268" y="0"/>
                  </a:lnTo>
                  <a:lnTo>
                    <a:pt x="492" y="0"/>
                  </a:lnTo>
                </a:path>
              </a:pathLst>
            </a:custGeom>
            <a:noFill/>
            <a:ln w="25400" cap="rnd">
              <a:solidFill>
                <a:schemeClr val="accent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33"/>
            </a:p>
          </p:txBody>
        </p:sp>
        <p:sp>
          <p:nvSpPr>
            <p:cNvPr id="82969" name="Line 38"/>
            <p:cNvSpPr>
              <a:spLocks noChangeShapeType="1"/>
            </p:cNvSpPr>
            <p:nvPr/>
          </p:nvSpPr>
          <p:spPr bwMode="auto">
            <a:xfrm flipH="1">
              <a:off x="5943600" y="831057"/>
              <a:ext cx="1191" cy="211931"/>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333"/>
            </a:p>
          </p:txBody>
        </p:sp>
        <p:sp>
          <p:nvSpPr>
            <p:cNvPr id="82970" name="Freeform 39"/>
            <p:cNvSpPr/>
            <p:nvPr/>
          </p:nvSpPr>
          <p:spPr bwMode="auto">
            <a:xfrm>
              <a:off x="3621880" y="3423588"/>
              <a:ext cx="781049" cy="606680"/>
            </a:xfrm>
            <a:custGeom>
              <a:avLst/>
              <a:gdLst>
                <a:gd name="T0" fmla="*/ 0 w 1153"/>
                <a:gd name="T1" fmla="*/ 0 h 325"/>
                <a:gd name="T2" fmla="*/ 0 w 1153"/>
                <a:gd name="T3" fmla="*/ 2147483647 h 325"/>
                <a:gd name="T4" fmla="*/ 2147483647 w 1153"/>
                <a:gd name="T5" fmla="*/ 2147483647 h 325"/>
                <a:gd name="T6" fmla="*/ 2147483647 w 1153"/>
                <a:gd name="T7" fmla="*/ 2147483647 h 325"/>
                <a:gd name="T8" fmla="*/ 2147483647 w 1153"/>
                <a:gd name="T9" fmla="*/ 2147483647 h 325"/>
                <a:gd name="T10" fmla="*/ 0 60000 65536"/>
                <a:gd name="T11" fmla="*/ 0 60000 65536"/>
                <a:gd name="T12" fmla="*/ 0 60000 65536"/>
                <a:gd name="T13" fmla="*/ 0 60000 65536"/>
                <a:gd name="T14" fmla="*/ 0 60000 65536"/>
                <a:gd name="T15" fmla="*/ 0 w 1153"/>
                <a:gd name="T16" fmla="*/ 0 h 325"/>
                <a:gd name="T17" fmla="*/ 1153 w 1153"/>
                <a:gd name="T18" fmla="*/ 325 h 325"/>
              </a:gdLst>
              <a:ahLst/>
              <a:cxnLst>
                <a:cxn ang="T10">
                  <a:pos x="T0" y="T1"/>
                </a:cxn>
                <a:cxn ang="T11">
                  <a:pos x="T2" y="T3"/>
                </a:cxn>
                <a:cxn ang="T12">
                  <a:pos x="T4" y="T5"/>
                </a:cxn>
                <a:cxn ang="T13">
                  <a:pos x="T6" y="T7"/>
                </a:cxn>
                <a:cxn ang="T14">
                  <a:pos x="T8" y="T9"/>
                </a:cxn>
              </a:cxnLst>
              <a:rect l="T15" t="T16" r="T17" b="T18"/>
              <a:pathLst>
                <a:path w="1153" h="325">
                  <a:moveTo>
                    <a:pt x="0" y="0"/>
                  </a:moveTo>
                  <a:lnTo>
                    <a:pt x="0" y="84"/>
                  </a:lnTo>
                  <a:lnTo>
                    <a:pt x="1152" y="84"/>
                  </a:lnTo>
                  <a:lnTo>
                    <a:pt x="1152" y="324"/>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33"/>
            </a:p>
          </p:txBody>
        </p:sp>
        <p:sp>
          <p:nvSpPr>
            <p:cNvPr id="82971" name="AutoShape 40"/>
            <p:cNvSpPr>
              <a:spLocks noChangeArrowheads="1"/>
            </p:cNvSpPr>
            <p:nvPr/>
          </p:nvSpPr>
          <p:spPr bwMode="auto">
            <a:xfrm>
              <a:off x="4757738" y="95250"/>
              <a:ext cx="3144441" cy="252413"/>
            </a:xfrm>
            <a:prstGeom prst="roundRect">
              <a:avLst>
                <a:gd name="adj" fmla="val 43597"/>
              </a:avLst>
            </a:pr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33"/>
            </a:p>
          </p:txBody>
        </p:sp>
        <p:sp>
          <p:nvSpPr>
            <p:cNvPr id="82972" name="Rectangle 41"/>
            <p:cNvSpPr>
              <a:spLocks noChangeArrowheads="1"/>
            </p:cNvSpPr>
            <p:nvPr/>
          </p:nvSpPr>
          <p:spPr bwMode="auto">
            <a:xfrm>
              <a:off x="4757738" y="86158"/>
              <a:ext cx="2685842" cy="295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333" b="1" dirty="0">
                  <a:solidFill>
                    <a:srgbClr val="000000"/>
                  </a:solidFill>
                  <a:latin typeface="Arial" panose="020B0604020202020204" pitchFamily="34" charset="0"/>
                </a:rPr>
                <a:t>Start: Place Dividend in Remainder</a:t>
              </a:r>
            </a:p>
          </p:txBody>
        </p:sp>
      </p:grpSp>
      <p:sp>
        <p:nvSpPr>
          <p:cNvPr id="33"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32</a:t>
            </a:fld>
            <a:endParaRPr lang="zh-TW" altLang="en-US"/>
          </a:p>
        </p:txBody>
      </p:sp>
      <p:sp>
        <p:nvSpPr>
          <p:cNvPr id="39" name="Rectangle 28"/>
          <p:cNvSpPr>
            <a:spLocks noGrp="1" noChangeArrowheads="1"/>
          </p:cNvSpPr>
          <p:nvPr>
            <p:ph type="title"/>
          </p:nvPr>
        </p:nvSpPr>
        <p:spPr>
          <a:xfrm>
            <a:off x="1375796" y="212522"/>
            <a:ext cx="8930256" cy="592821"/>
          </a:xfrm>
        </p:spPr>
        <p:txBody>
          <a:bodyPr/>
          <a:lstStyle/>
          <a:p>
            <a:r>
              <a:rPr lang="en-US" altLang="zh-TW" dirty="0"/>
              <a:t>Divide Hardware - Version 2 (2)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type="body" idx="1"/>
          </p:nvPr>
        </p:nvSpPr>
        <p:spPr>
          <a:xfrm>
            <a:off x="1442907" y="1073791"/>
            <a:ext cx="9686488" cy="5055764"/>
          </a:xfrm>
        </p:spPr>
        <p:txBody>
          <a:bodyPr/>
          <a:lstStyle/>
          <a:p>
            <a:r>
              <a:rPr lang="en-US" altLang="zh-CN" sz="2400" dirty="0"/>
              <a:t>Instruction</a:t>
            </a:r>
          </a:p>
          <a:p>
            <a:pPr marL="0" indent="0">
              <a:buNone/>
            </a:pPr>
            <a:r>
              <a:rPr lang="en-US" altLang="zh-TW" sz="2400" dirty="0">
                <a:cs typeface="Calibri" panose="020F0502020204030204" pitchFamily="34" charset="0"/>
              </a:rPr>
              <a:t>    	div  	$t1,  $t2, $t3     # t1 = t2/ t3</a:t>
            </a:r>
          </a:p>
          <a:p>
            <a:pPr marL="0" indent="0">
              <a:buNone/>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anose="020F0502020204030204" pitchFamily="34" charset="0"/>
              </a:rPr>
              <a:t>	</a:t>
            </a:r>
            <a:r>
              <a:rPr kumimoji="1" lang="en-US" altLang="zh-TW" sz="24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Calibri" panose="020F0502020204030204" pitchFamily="34" charset="0"/>
              </a:rPr>
              <a:t>divu</a:t>
            </a: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anose="020F0502020204030204" pitchFamily="34" charset="0"/>
              </a:rPr>
              <a:t>  	$t1,  $t2 </a:t>
            </a:r>
          </a:p>
          <a:p>
            <a:pPr marL="0" indent="0">
              <a:buNone/>
            </a:pPr>
            <a:r>
              <a:rPr lang="en-US" altLang="zh-TW" sz="2400" dirty="0">
                <a:solidFill>
                  <a:prstClr val="black"/>
                </a:solidFill>
                <a:cs typeface="Calibri" panose="020F0502020204030204" pitchFamily="34" charset="0"/>
              </a:rPr>
              <a:t>	rem	$t1, $t2, $t3	# t1 = t2 % t3</a:t>
            </a:r>
          </a:p>
          <a:p>
            <a:pPr marL="0" indent="0">
              <a:buNone/>
            </a:pPr>
            <a:r>
              <a:rPr lang="en-US" altLang="zh-TW" sz="2400" dirty="0">
                <a:solidFill>
                  <a:prstClr val="black"/>
                </a:solidFill>
                <a:cs typeface="Calibri" panose="020F0502020204030204" pitchFamily="34" charset="0"/>
              </a:rPr>
              <a:t>	</a:t>
            </a:r>
            <a:r>
              <a:rPr kumimoji="1" lang="en-US" altLang="zh-TW" sz="24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Calibri" panose="020F0502020204030204" pitchFamily="34" charset="0"/>
              </a:rPr>
              <a:t>remu</a:t>
            </a: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anose="020F0502020204030204" pitchFamily="34" charset="0"/>
              </a:rPr>
              <a:t>	$t1, $t2, $t3	</a:t>
            </a:r>
            <a:r>
              <a:rPr lang="en-US" altLang="zh-CN" sz="2400" dirty="0"/>
              <a:t>	</a:t>
            </a:r>
          </a:p>
          <a:p>
            <a:pPr marL="286166" indent="-286166"/>
            <a:r>
              <a:rPr lang="en-US" altLang="zh-TW" sz="2400" dirty="0">
                <a:cs typeface="Calibri" panose="020F0502020204030204" pitchFamily="34" charset="0"/>
              </a:rPr>
              <a:t>RISC-V handle quotient and remainder with different instructions:</a:t>
            </a:r>
          </a:p>
          <a:p>
            <a:pPr marL="686197" lvl="1" indent="-286166"/>
            <a:r>
              <a:rPr lang="en-US" altLang="zh-TW" sz="1867" dirty="0">
                <a:cs typeface="Calibri" panose="020F0502020204030204" pitchFamily="34" charset="0"/>
              </a:rPr>
              <a:t>DIV and DIVU instructions: Return the quotient of the division.</a:t>
            </a:r>
          </a:p>
          <a:p>
            <a:pPr marL="686197" lvl="1" indent="-286166"/>
            <a:r>
              <a:rPr lang="en-US" altLang="zh-TW" sz="1867" dirty="0">
                <a:cs typeface="Calibri" panose="020F0502020204030204" pitchFamily="34" charset="0"/>
              </a:rPr>
              <a:t>REM and REMU instructions: Return the remainder of the division.</a:t>
            </a:r>
          </a:p>
          <a:p>
            <a:pPr marL="286166" indent="-286166"/>
            <a:r>
              <a:rPr lang="en-US" altLang="zh-TW" sz="2400" dirty="0">
                <a:cs typeface="Calibri" panose="020F0502020204030204" pitchFamily="34" charset="0"/>
              </a:rPr>
              <a:t>No overflow or divide-by-0 checking</a:t>
            </a:r>
          </a:p>
          <a:p>
            <a:pPr marL="685783" lvl="1" indent="-228594"/>
            <a:r>
              <a:rPr lang="en-US" altLang="zh-TW" sz="1867" dirty="0">
                <a:cs typeface="Calibri" panose="020F0502020204030204" pitchFamily="34" charset="0"/>
              </a:rPr>
              <a:t>Software must perform checks if required</a:t>
            </a:r>
          </a:p>
        </p:txBody>
      </p:sp>
      <p:sp>
        <p:nvSpPr>
          <p:cNvPr id="5"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33</a:t>
            </a:fld>
            <a:endParaRPr lang="zh-TW" altLang="en-US"/>
          </a:p>
        </p:txBody>
      </p:sp>
      <p:sp>
        <p:nvSpPr>
          <p:cNvPr id="8" name="Title 1"/>
          <p:cNvSpPr>
            <a:spLocks noGrp="1"/>
          </p:cNvSpPr>
          <p:nvPr>
            <p:ph type="title"/>
          </p:nvPr>
        </p:nvSpPr>
        <p:spPr>
          <a:xfrm>
            <a:off x="1296786" y="144466"/>
            <a:ext cx="10270801" cy="692151"/>
          </a:xfrm>
        </p:spPr>
        <p:txBody>
          <a:bodyPr/>
          <a:lstStyle/>
          <a:p>
            <a:r>
              <a:rPr lang="en-US" dirty="0"/>
              <a:t>RV Division Instruction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342239" y="212521"/>
            <a:ext cx="8963812" cy="548080"/>
          </a:xfrm>
        </p:spPr>
        <p:txBody>
          <a:bodyPr/>
          <a:lstStyle/>
          <a:p>
            <a:r>
              <a:rPr lang="en-US" altLang="zh-TW" dirty="0"/>
              <a:t>Signed Division </a:t>
            </a:r>
          </a:p>
        </p:txBody>
      </p:sp>
      <p:sp>
        <p:nvSpPr>
          <p:cNvPr id="83971" name="Rectangle 3"/>
          <p:cNvSpPr>
            <a:spLocks noGrp="1" noChangeArrowheads="1"/>
          </p:cNvSpPr>
          <p:nvPr>
            <p:ph type="body" idx="1"/>
          </p:nvPr>
        </p:nvSpPr>
        <p:spPr>
          <a:xfrm>
            <a:off x="291831" y="1047717"/>
            <a:ext cx="11660986" cy="4265788"/>
          </a:xfrm>
        </p:spPr>
        <p:txBody>
          <a:bodyPr/>
          <a:lstStyle/>
          <a:p>
            <a:pPr marL="0" indent="0">
              <a:buNone/>
            </a:pPr>
            <a:r>
              <a:rPr lang="en-US" sz="2800" dirty="0"/>
              <a:t>Dividend = Quotient X Divisor + Remainder</a:t>
            </a:r>
          </a:p>
          <a:p>
            <a:pPr marL="0" indent="0">
              <a:buNone/>
            </a:pPr>
            <a:r>
              <a:rPr lang="en-US" sz="2800" dirty="0"/>
              <a:t>+7 div +2 = +3 , remainder +1</a:t>
            </a:r>
          </a:p>
          <a:p>
            <a:pPr marL="0" indent="0">
              <a:buNone/>
            </a:pPr>
            <a:r>
              <a:rPr lang="en-US" sz="2800" dirty="0"/>
              <a:t>-7 div +2 = -3, remainder -1 </a:t>
            </a:r>
            <a:r>
              <a:rPr lang="en-US" sz="2800" dirty="0">
                <a:sym typeface="Wingdings" panose="05000000000000000000" pitchFamily="2" charset="2"/>
              </a:rPr>
              <a:t> </a:t>
            </a:r>
            <a:r>
              <a:rPr lang="en-US" sz="2800" dirty="0">
                <a:solidFill>
                  <a:srgbClr val="FF0000"/>
                </a:solidFill>
                <a:sym typeface="Wingdings" panose="05000000000000000000" pitchFamily="2" charset="2"/>
              </a:rPr>
              <a:t>why not quotient -4, remainder +1</a:t>
            </a:r>
          </a:p>
          <a:p>
            <a:pPr marL="0" indent="0">
              <a:buNone/>
            </a:pPr>
            <a:r>
              <a:rPr lang="en-US" sz="2800" b="1" dirty="0">
                <a:solidFill>
                  <a:srgbClr val="0070C0"/>
                </a:solidFill>
                <a:sym typeface="Wingdings" panose="05000000000000000000" pitchFamily="2" charset="2"/>
              </a:rPr>
              <a:t>Rule: the dividend and the remainder must have the same sign</a:t>
            </a:r>
          </a:p>
          <a:p>
            <a:r>
              <a:rPr lang="en-US" altLang="zh-TW" sz="2800" dirty="0"/>
              <a:t>Division steps: </a:t>
            </a:r>
          </a:p>
          <a:p>
            <a:pPr lvl="1"/>
            <a:r>
              <a:rPr lang="en-US" altLang="zh-TW" sz="2400" dirty="0"/>
              <a:t>Remember signs, make positive, complement quotient and remainder if necessary</a:t>
            </a:r>
          </a:p>
          <a:p>
            <a:pPr lvl="1"/>
            <a:r>
              <a:rPr lang="en-US" altLang="zh-TW" sz="2400" dirty="0"/>
              <a:t>Let Dividend and Remainder have same sign and negate Quotient if Divisor sign &amp; Dividend sign disagree.</a:t>
            </a:r>
          </a:p>
        </p:txBody>
      </p:sp>
      <p:sp>
        <p:nvSpPr>
          <p:cNvPr id="5"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1219201" y="178965"/>
            <a:ext cx="9829799" cy="659935"/>
          </a:xfrm>
        </p:spPr>
        <p:txBody>
          <a:bodyPr/>
          <a:lstStyle/>
          <a:p>
            <a:r>
              <a:rPr lang="en-US" altLang="zh-TW" dirty="0"/>
              <a:t>Observations: Multiply and Divide </a:t>
            </a:r>
          </a:p>
        </p:txBody>
      </p:sp>
      <p:sp>
        <p:nvSpPr>
          <p:cNvPr id="84995" name="Rectangle 3"/>
          <p:cNvSpPr>
            <a:spLocks noGrp="1" noChangeArrowheads="1"/>
          </p:cNvSpPr>
          <p:nvPr>
            <p:ph type="body" idx="1"/>
          </p:nvPr>
        </p:nvSpPr>
        <p:spPr>
          <a:xfrm>
            <a:off x="423973" y="1227496"/>
            <a:ext cx="11123800" cy="1450916"/>
          </a:xfrm>
        </p:spPr>
        <p:txBody>
          <a:bodyPr/>
          <a:lstStyle/>
          <a:p>
            <a:r>
              <a:rPr lang="en-US" altLang="zh-TW" sz="2667" dirty="0"/>
              <a:t>Same hardware as multiply: Just need ALU to add or subtract, and 64-bit register to shift left (multiply: shift right)</a:t>
            </a:r>
          </a:p>
        </p:txBody>
      </p:sp>
      <p:sp>
        <p:nvSpPr>
          <p:cNvPr id="5"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35</a:t>
            </a:fld>
            <a:endParaRPr lang="zh-TW" altLang="en-US"/>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970" y="3006295"/>
            <a:ext cx="5413695" cy="2990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grpSp>
        <p:nvGrpSpPr>
          <p:cNvPr id="7" name="组合 6"/>
          <p:cNvGrpSpPr/>
          <p:nvPr/>
        </p:nvGrpSpPr>
        <p:grpSpPr>
          <a:xfrm>
            <a:off x="6062444" y="3071452"/>
            <a:ext cx="5793995" cy="2812029"/>
            <a:chOff x="1785938" y="2097882"/>
            <a:chExt cx="5505450" cy="2075260"/>
          </a:xfrm>
        </p:grpSpPr>
        <p:sp>
          <p:nvSpPr>
            <p:cNvPr id="8" name="Rectangle 2"/>
            <p:cNvSpPr>
              <a:spLocks noChangeArrowheads="1"/>
            </p:cNvSpPr>
            <p:nvPr/>
          </p:nvSpPr>
          <p:spPr bwMode="auto">
            <a:xfrm>
              <a:off x="2616994" y="3534966"/>
              <a:ext cx="2299097" cy="2940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333"/>
            </a:p>
          </p:txBody>
        </p:sp>
        <p:sp>
          <p:nvSpPr>
            <p:cNvPr id="9" name="Rectangle 3"/>
            <p:cNvSpPr>
              <a:spLocks noChangeArrowheads="1"/>
            </p:cNvSpPr>
            <p:nvPr/>
          </p:nvSpPr>
          <p:spPr bwMode="auto">
            <a:xfrm>
              <a:off x="2626519" y="3544491"/>
              <a:ext cx="2299097" cy="292894"/>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33"/>
            </a:p>
          </p:txBody>
        </p:sp>
        <p:sp>
          <p:nvSpPr>
            <p:cNvPr id="10" name="Rectangle 4"/>
            <p:cNvSpPr>
              <a:spLocks noChangeArrowheads="1"/>
            </p:cNvSpPr>
            <p:nvPr/>
          </p:nvSpPr>
          <p:spPr bwMode="auto">
            <a:xfrm>
              <a:off x="2712244" y="3577829"/>
              <a:ext cx="1015956" cy="21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333" b="1">
                  <a:solidFill>
                    <a:srgbClr val="000000"/>
                  </a:solidFill>
                  <a:latin typeface="Arial" panose="020B0604020202020204" pitchFamily="34" charset="0"/>
                </a:rPr>
                <a:t>Remainder</a:t>
              </a:r>
            </a:p>
          </p:txBody>
        </p:sp>
        <p:sp>
          <p:nvSpPr>
            <p:cNvPr id="11" name="Rectangle 5"/>
            <p:cNvSpPr>
              <a:spLocks noChangeArrowheads="1"/>
            </p:cNvSpPr>
            <p:nvPr/>
          </p:nvSpPr>
          <p:spPr bwMode="auto">
            <a:xfrm>
              <a:off x="3903752" y="3586067"/>
              <a:ext cx="955029" cy="21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333" b="1" dirty="0">
                  <a:solidFill>
                    <a:schemeClr val="accent1"/>
                  </a:solidFill>
                  <a:latin typeface="Arial" panose="020B0604020202020204" pitchFamily="34" charset="0"/>
                </a:rPr>
                <a:t>(</a:t>
              </a:r>
              <a:r>
                <a:rPr kumimoji="1" lang="en-US" altLang="zh-TW" sz="1333" b="1" dirty="0">
                  <a:solidFill>
                    <a:schemeClr val="accent1"/>
                  </a:solidFill>
                  <a:latin typeface="Arial" panose="020B0604020202020204" pitchFamily="34" charset="0"/>
                </a:rPr>
                <a:t>Quotient)</a:t>
              </a:r>
            </a:p>
          </p:txBody>
        </p:sp>
        <p:sp>
          <p:nvSpPr>
            <p:cNvPr id="12" name="Rectangle 6"/>
            <p:cNvSpPr>
              <a:spLocks noChangeArrowheads="1"/>
            </p:cNvSpPr>
            <p:nvPr/>
          </p:nvSpPr>
          <p:spPr bwMode="auto">
            <a:xfrm>
              <a:off x="3190876" y="2097882"/>
              <a:ext cx="1088231" cy="29289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33"/>
            </a:p>
          </p:txBody>
        </p:sp>
        <p:sp>
          <p:nvSpPr>
            <p:cNvPr id="13" name="Rectangle 7"/>
            <p:cNvSpPr>
              <a:spLocks noChangeArrowheads="1"/>
            </p:cNvSpPr>
            <p:nvPr/>
          </p:nvSpPr>
          <p:spPr bwMode="auto">
            <a:xfrm>
              <a:off x="3157537" y="2158998"/>
              <a:ext cx="1181100" cy="21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p>
              <a:pPr algn="ctr"/>
              <a:r>
                <a:rPr kumimoji="1" lang="en-US" altLang="zh-TW" sz="1333" b="1" dirty="0">
                  <a:solidFill>
                    <a:srgbClr val="000000"/>
                  </a:solidFill>
                  <a:latin typeface="Arial" panose="020B0604020202020204" pitchFamily="34" charset="0"/>
                </a:rPr>
                <a:t>Divisor</a:t>
              </a:r>
            </a:p>
          </p:txBody>
        </p:sp>
        <p:sp>
          <p:nvSpPr>
            <p:cNvPr id="14" name="Rectangle 8"/>
            <p:cNvSpPr>
              <a:spLocks noChangeArrowheads="1"/>
            </p:cNvSpPr>
            <p:nvPr/>
          </p:nvSpPr>
          <p:spPr bwMode="auto">
            <a:xfrm>
              <a:off x="2857238" y="2965449"/>
              <a:ext cx="984031" cy="21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333" b="1" dirty="0">
                  <a:solidFill>
                    <a:srgbClr val="000000"/>
                  </a:solidFill>
                  <a:latin typeface="Arial" panose="020B0604020202020204" pitchFamily="34" charset="0"/>
                </a:rPr>
                <a:t>32-</a:t>
              </a:r>
              <a:r>
                <a:rPr kumimoji="1" lang="en-US" altLang="zh-TW" sz="1333" b="1" dirty="0">
                  <a:solidFill>
                    <a:srgbClr val="000000"/>
                  </a:solidFill>
                  <a:latin typeface="Arial" panose="020B0604020202020204" pitchFamily="34" charset="0"/>
                </a:rPr>
                <a:t>bit ALU</a:t>
              </a:r>
            </a:p>
          </p:txBody>
        </p:sp>
        <p:sp>
          <p:nvSpPr>
            <p:cNvPr id="15" name="Rectangle 9"/>
            <p:cNvSpPr>
              <a:spLocks noChangeArrowheads="1"/>
            </p:cNvSpPr>
            <p:nvPr/>
          </p:nvSpPr>
          <p:spPr bwMode="auto">
            <a:xfrm>
              <a:off x="5066110" y="3842147"/>
              <a:ext cx="581973" cy="21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333" b="1">
                  <a:solidFill>
                    <a:srgbClr val="000000"/>
                  </a:solidFill>
                  <a:latin typeface="Arial" panose="020B0604020202020204" pitchFamily="34" charset="0"/>
                </a:rPr>
                <a:t>Write</a:t>
              </a:r>
            </a:p>
          </p:txBody>
        </p:sp>
        <p:sp>
          <p:nvSpPr>
            <p:cNvPr id="16" name="AutoShape 10"/>
            <p:cNvSpPr>
              <a:spLocks noChangeArrowheads="1"/>
            </p:cNvSpPr>
            <p:nvPr/>
          </p:nvSpPr>
          <p:spPr bwMode="auto">
            <a:xfrm>
              <a:off x="5836444" y="3443287"/>
              <a:ext cx="1454944" cy="596504"/>
            </a:xfrm>
            <a:prstGeom prst="roundRect">
              <a:avLst>
                <a:gd name="adj" fmla="val 48565"/>
              </a:avLst>
            </a:prstGeom>
            <a:noFill/>
            <a:ln w="254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333"/>
            </a:p>
          </p:txBody>
        </p:sp>
        <p:sp>
          <p:nvSpPr>
            <p:cNvPr id="17" name="Rectangle 11"/>
            <p:cNvSpPr>
              <a:spLocks noChangeArrowheads="1"/>
            </p:cNvSpPr>
            <p:nvPr/>
          </p:nvSpPr>
          <p:spPr bwMode="auto">
            <a:xfrm>
              <a:off x="6119812" y="3600450"/>
              <a:ext cx="755493" cy="21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333" b="1">
                  <a:solidFill>
                    <a:schemeClr val="accent1"/>
                  </a:solidFill>
                  <a:latin typeface="Arial" panose="020B0604020202020204" pitchFamily="34" charset="0"/>
                </a:rPr>
                <a:t>Control</a:t>
              </a:r>
            </a:p>
          </p:txBody>
        </p:sp>
        <p:sp>
          <p:nvSpPr>
            <p:cNvPr id="18" name="Rectangle 12"/>
            <p:cNvSpPr>
              <a:spLocks noChangeArrowheads="1"/>
            </p:cNvSpPr>
            <p:nvPr/>
          </p:nvSpPr>
          <p:spPr bwMode="auto">
            <a:xfrm>
              <a:off x="3662363" y="2421731"/>
              <a:ext cx="691520" cy="21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333" b="1">
                  <a:solidFill>
                    <a:srgbClr val="000000"/>
                  </a:solidFill>
                  <a:latin typeface="Arial" panose="020B0604020202020204" pitchFamily="34" charset="0"/>
                </a:rPr>
                <a:t>32 </a:t>
              </a:r>
              <a:r>
                <a:rPr kumimoji="1" lang="en-US" altLang="zh-TW" sz="1333" b="1">
                  <a:solidFill>
                    <a:srgbClr val="000000"/>
                  </a:solidFill>
                  <a:latin typeface="Arial" panose="020B0604020202020204" pitchFamily="34" charset="0"/>
                </a:rPr>
                <a:t>bits</a:t>
              </a:r>
            </a:p>
          </p:txBody>
        </p:sp>
        <p:sp>
          <p:nvSpPr>
            <p:cNvPr id="19" name="Rectangle 13"/>
            <p:cNvSpPr>
              <a:spLocks noChangeArrowheads="1"/>
            </p:cNvSpPr>
            <p:nvPr/>
          </p:nvSpPr>
          <p:spPr bwMode="auto">
            <a:xfrm>
              <a:off x="3499248" y="3858816"/>
              <a:ext cx="691520" cy="21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333" b="1">
                  <a:solidFill>
                    <a:srgbClr val="000000"/>
                  </a:solidFill>
                  <a:latin typeface="Arial" panose="020B0604020202020204" pitchFamily="34" charset="0"/>
                </a:rPr>
                <a:t>64 </a:t>
              </a:r>
              <a:r>
                <a:rPr kumimoji="1" lang="en-US" altLang="zh-TW" sz="1333" b="1">
                  <a:solidFill>
                    <a:srgbClr val="000000"/>
                  </a:solidFill>
                  <a:latin typeface="Arial" panose="020B0604020202020204" pitchFamily="34" charset="0"/>
                </a:rPr>
                <a:t>bits</a:t>
              </a:r>
            </a:p>
          </p:txBody>
        </p:sp>
        <p:sp>
          <p:nvSpPr>
            <p:cNvPr id="20" name="Freeform 14"/>
            <p:cNvSpPr/>
            <p:nvPr/>
          </p:nvSpPr>
          <p:spPr bwMode="auto">
            <a:xfrm>
              <a:off x="3863579" y="3015854"/>
              <a:ext cx="2078831" cy="484584"/>
            </a:xfrm>
            <a:custGeom>
              <a:avLst/>
              <a:gdLst>
                <a:gd name="T0" fmla="*/ 2147483647 w 1611"/>
                <a:gd name="T1" fmla="*/ 2147483647 h 407"/>
                <a:gd name="T2" fmla="*/ 2147483647 w 1611"/>
                <a:gd name="T3" fmla="*/ 0 h 407"/>
                <a:gd name="T4" fmla="*/ 0 w 1611"/>
                <a:gd name="T5" fmla="*/ 0 h 407"/>
                <a:gd name="T6" fmla="*/ 0 60000 65536"/>
                <a:gd name="T7" fmla="*/ 0 60000 65536"/>
                <a:gd name="T8" fmla="*/ 0 60000 65536"/>
                <a:gd name="T9" fmla="*/ 0 w 1611"/>
                <a:gd name="T10" fmla="*/ 0 h 407"/>
                <a:gd name="T11" fmla="*/ 1611 w 1611"/>
                <a:gd name="T12" fmla="*/ 407 h 407"/>
              </a:gdLst>
              <a:ahLst/>
              <a:cxnLst>
                <a:cxn ang="T6">
                  <a:pos x="T0" y="T1"/>
                </a:cxn>
                <a:cxn ang="T7">
                  <a:pos x="T2" y="T3"/>
                </a:cxn>
                <a:cxn ang="T8">
                  <a:pos x="T4" y="T5"/>
                </a:cxn>
              </a:cxnLst>
              <a:rect l="T9" t="T10" r="T11" b="T12"/>
              <a:pathLst>
                <a:path w="1611" h="407">
                  <a:moveTo>
                    <a:pt x="1610" y="406"/>
                  </a:moveTo>
                  <a:lnTo>
                    <a:pt x="1610"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33"/>
            </a:p>
          </p:txBody>
        </p:sp>
        <p:sp>
          <p:nvSpPr>
            <p:cNvPr id="22" name="Freeform 16"/>
            <p:cNvSpPr/>
            <p:nvPr/>
          </p:nvSpPr>
          <p:spPr bwMode="auto">
            <a:xfrm>
              <a:off x="2671762" y="2831306"/>
              <a:ext cx="1309688" cy="434579"/>
            </a:xfrm>
            <a:custGeom>
              <a:avLst/>
              <a:gdLst>
                <a:gd name="T0" fmla="*/ 0 w 1015"/>
                <a:gd name="T1" fmla="*/ 2147483647 h 365"/>
                <a:gd name="T2" fmla="*/ 2147483647 w 1015"/>
                <a:gd name="T3" fmla="*/ 2147483647 h 365"/>
                <a:gd name="T4" fmla="*/ 2147483647 w 1015"/>
                <a:gd name="T5" fmla="*/ 2147483647 h 365"/>
                <a:gd name="T6" fmla="*/ 2147483647 w 1015"/>
                <a:gd name="T7" fmla="*/ 2147483647 h 365"/>
                <a:gd name="T8" fmla="*/ 2147483647 w 1015"/>
                <a:gd name="T9" fmla="*/ 2147483647 h 365"/>
                <a:gd name="T10" fmla="*/ 2147483647 w 1015"/>
                <a:gd name="T11" fmla="*/ 2147483647 h 365"/>
                <a:gd name="T12" fmla="*/ 2147483647 w 1015"/>
                <a:gd name="T13" fmla="*/ 0 h 365"/>
                <a:gd name="T14" fmla="*/ 0 w 1015"/>
                <a:gd name="T15" fmla="*/ 2147483647 h 365"/>
                <a:gd name="T16" fmla="*/ 0 60000 65536"/>
                <a:gd name="T17" fmla="*/ 0 60000 65536"/>
                <a:gd name="T18" fmla="*/ 0 60000 65536"/>
                <a:gd name="T19" fmla="*/ 0 60000 65536"/>
                <a:gd name="T20" fmla="*/ 0 60000 65536"/>
                <a:gd name="T21" fmla="*/ 0 60000 65536"/>
                <a:gd name="T22" fmla="*/ 0 60000 65536"/>
                <a:gd name="T23" fmla="*/ 0 60000 65536"/>
                <a:gd name="T24" fmla="*/ 0 w 1015"/>
                <a:gd name="T25" fmla="*/ 0 h 365"/>
                <a:gd name="T26" fmla="*/ 1015 w 1015"/>
                <a:gd name="T27" fmla="*/ 365 h 3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5" h="365">
                  <a:moveTo>
                    <a:pt x="0" y="7"/>
                  </a:moveTo>
                  <a:lnTo>
                    <a:pt x="264" y="364"/>
                  </a:lnTo>
                  <a:lnTo>
                    <a:pt x="757" y="364"/>
                  </a:lnTo>
                  <a:lnTo>
                    <a:pt x="1014" y="14"/>
                  </a:lnTo>
                  <a:lnTo>
                    <a:pt x="607" y="14"/>
                  </a:lnTo>
                  <a:lnTo>
                    <a:pt x="514" y="135"/>
                  </a:lnTo>
                  <a:lnTo>
                    <a:pt x="407" y="0"/>
                  </a:lnTo>
                  <a:lnTo>
                    <a:pt x="0" y="7"/>
                  </a:lnTo>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TW" altLang="en-US" sz="1333"/>
            </a:p>
          </p:txBody>
        </p:sp>
        <p:sp>
          <p:nvSpPr>
            <p:cNvPr id="23" name="Freeform 17"/>
            <p:cNvSpPr/>
            <p:nvPr/>
          </p:nvSpPr>
          <p:spPr bwMode="auto">
            <a:xfrm>
              <a:off x="3313510" y="3282553"/>
              <a:ext cx="1190" cy="280988"/>
            </a:xfrm>
            <a:custGeom>
              <a:avLst/>
              <a:gdLst>
                <a:gd name="T0" fmla="*/ 0 w 1"/>
                <a:gd name="T1" fmla="*/ 0 h 236"/>
                <a:gd name="T2" fmla="*/ 0 w 1"/>
                <a:gd name="T3" fmla="*/ 2147483647 h 236"/>
                <a:gd name="T4" fmla="*/ 0 60000 65536"/>
                <a:gd name="T5" fmla="*/ 0 60000 65536"/>
                <a:gd name="T6" fmla="*/ 0 w 1"/>
                <a:gd name="T7" fmla="*/ 0 h 236"/>
                <a:gd name="T8" fmla="*/ 1 w 1"/>
                <a:gd name="T9" fmla="*/ 236 h 236"/>
              </a:gdLst>
              <a:ahLst/>
              <a:cxnLst>
                <a:cxn ang="T4">
                  <a:pos x="T0" y="T1"/>
                </a:cxn>
                <a:cxn ang="T5">
                  <a:pos x="T2" y="T3"/>
                </a:cxn>
              </a:cxnLst>
              <a:rect l="T6" t="T7" r="T8" b="T9"/>
              <a:pathLst>
                <a:path w="1" h="236">
                  <a:moveTo>
                    <a:pt x="0" y="0"/>
                  </a:moveTo>
                  <a:lnTo>
                    <a:pt x="0" y="235"/>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33"/>
            </a:p>
          </p:txBody>
        </p:sp>
        <p:sp>
          <p:nvSpPr>
            <p:cNvPr id="24" name="Freeform 18"/>
            <p:cNvSpPr/>
            <p:nvPr/>
          </p:nvSpPr>
          <p:spPr bwMode="auto">
            <a:xfrm>
              <a:off x="1785938" y="2546748"/>
              <a:ext cx="1556147" cy="1626394"/>
            </a:xfrm>
            <a:custGeom>
              <a:avLst/>
              <a:gdLst>
                <a:gd name="T0" fmla="*/ 2147483647 w 1206"/>
                <a:gd name="T1" fmla="*/ 2147483647 h 1366"/>
                <a:gd name="T2" fmla="*/ 2147483647 w 1206"/>
                <a:gd name="T3" fmla="*/ 2147483647 h 1366"/>
                <a:gd name="T4" fmla="*/ 0 w 1206"/>
                <a:gd name="T5" fmla="*/ 2147483647 h 1366"/>
                <a:gd name="T6" fmla="*/ 0 w 1206"/>
                <a:gd name="T7" fmla="*/ 0 h 1366"/>
                <a:gd name="T8" fmla="*/ 2147483647 w 1206"/>
                <a:gd name="T9" fmla="*/ 0 h 1366"/>
                <a:gd name="T10" fmla="*/ 2147483647 w 1206"/>
                <a:gd name="T11" fmla="*/ 2147483647 h 1366"/>
                <a:gd name="T12" fmla="*/ 0 60000 65536"/>
                <a:gd name="T13" fmla="*/ 0 60000 65536"/>
                <a:gd name="T14" fmla="*/ 0 60000 65536"/>
                <a:gd name="T15" fmla="*/ 0 60000 65536"/>
                <a:gd name="T16" fmla="*/ 0 60000 65536"/>
                <a:gd name="T17" fmla="*/ 0 60000 65536"/>
                <a:gd name="T18" fmla="*/ 0 w 1206"/>
                <a:gd name="T19" fmla="*/ 0 h 1366"/>
                <a:gd name="T20" fmla="*/ 1206 w 1206"/>
                <a:gd name="T21" fmla="*/ 1366 h 1366"/>
              </a:gdLst>
              <a:ahLst/>
              <a:cxnLst>
                <a:cxn ang="T12">
                  <a:pos x="T0" y="T1"/>
                </a:cxn>
                <a:cxn ang="T13">
                  <a:pos x="T2" y="T3"/>
                </a:cxn>
                <a:cxn ang="T14">
                  <a:pos x="T4" y="T5"/>
                </a:cxn>
                <a:cxn ang="T15">
                  <a:pos x="T6" y="T7"/>
                </a:cxn>
                <a:cxn ang="T16">
                  <a:pos x="T8" y="T9"/>
                </a:cxn>
                <a:cxn ang="T17">
                  <a:pos x="T10" y="T11"/>
                </a:cxn>
              </a:cxnLst>
              <a:rect l="T18" t="T19" r="T20" b="T21"/>
              <a:pathLst>
                <a:path w="1206" h="1366">
                  <a:moveTo>
                    <a:pt x="1205" y="1114"/>
                  </a:moveTo>
                  <a:lnTo>
                    <a:pt x="1205" y="1365"/>
                  </a:lnTo>
                  <a:lnTo>
                    <a:pt x="0" y="1365"/>
                  </a:lnTo>
                  <a:lnTo>
                    <a:pt x="0" y="0"/>
                  </a:lnTo>
                  <a:lnTo>
                    <a:pt x="779" y="0"/>
                  </a:lnTo>
                  <a:lnTo>
                    <a:pt x="779" y="243"/>
                  </a:lnTo>
                </a:path>
              </a:pathLst>
            </a:custGeom>
            <a:ln>
              <a:headEnd type="none" w="sm" len="sm"/>
              <a:tailEnd type="stealth" w="med" len="lg"/>
            </a:ln>
            <a:extLst>
              <a:ext uri="{909E8E84-426E-40DD-AFC4-6F175D3DCCD1}">
                <a14:hiddenFill xmlns:a14="http://schemas.microsoft.com/office/drawing/2010/main">
                  <a:solidFill>
                    <a:srgbClr val="FFFFFF"/>
                  </a:solidFill>
                </a14:hiddenFill>
              </a:ext>
            </a:extLst>
          </p:spPr>
          <p:style>
            <a:lnRef idx="2">
              <a:schemeClr val="dk1"/>
            </a:lnRef>
            <a:fillRef idx="0">
              <a:schemeClr val="dk1"/>
            </a:fillRef>
            <a:effectRef idx="1">
              <a:schemeClr val="dk1"/>
            </a:effectRef>
            <a:fontRef idx="minor">
              <a:schemeClr val="tx1"/>
            </a:fontRef>
          </p:style>
          <p:txBody>
            <a:bodyPr/>
            <a:lstStyle/>
            <a:p>
              <a:endParaRPr lang="zh-TW" altLang="en-US" sz="1333"/>
            </a:p>
          </p:txBody>
        </p:sp>
        <p:sp>
          <p:nvSpPr>
            <p:cNvPr id="25" name="Freeform 19"/>
            <p:cNvSpPr/>
            <p:nvPr/>
          </p:nvSpPr>
          <p:spPr bwMode="auto">
            <a:xfrm>
              <a:off x="3656410" y="2406253"/>
              <a:ext cx="1190" cy="433388"/>
            </a:xfrm>
            <a:custGeom>
              <a:avLst/>
              <a:gdLst>
                <a:gd name="T0" fmla="*/ 0 w 1"/>
                <a:gd name="T1" fmla="*/ 0 h 364"/>
                <a:gd name="T2" fmla="*/ 0 w 1"/>
                <a:gd name="T3" fmla="*/ 2147483647 h 364"/>
                <a:gd name="T4" fmla="*/ 0 60000 65536"/>
                <a:gd name="T5" fmla="*/ 0 60000 65536"/>
                <a:gd name="T6" fmla="*/ 0 w 1"/>
                <a:gd name="T7" fmla="*/ 0 h 364"/>
                <a:gd name="T8" fmla="*/ 1 w 1"/>
                <a:gd name="T9" fmla="*/ 364 h 364"/>
              </a:gdLst>
              <a:ahLst/>
              <a:cxnLst>
                <a:cxn ang="T4">
                  <a:pos x="T0" y="T1"/>
                </a:cxn>
                <a:cxn ang="T5">
                  <a:pos x="T2" y="T3"/>
                </a:cxn>
              </a:cxnLst>
              <a:rect l="T6" t="T7" r="T8" b="T9"/>
              <a:pathLst>
                <a:path w="1" h="364">
                  <a:moveTo>
                    <a:pt x="0" y="0"/>
                  </a:moveTo>
                  <a:lnTo>
                    <a:pt x="0" y="36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33"/>
            </a:p>
          </p:txBody>
        </p:sp>
        <p:sp>
          <p:nvSpPr>
            <p:cNvPr id="26" name="Line 20"/>
            <p:cNvSpPr>
              <a:spLocks noChangeShapeType="1"/>
            </p:cNvSpPr>
            <p:nvPr/>
          </p:nvSpPr>
          <p:spPr bwMode="auto">
            <a:xfrm>
              <a:off x="3794522" y="3575447"/>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33"/>
            </a:p>
          </p:txBody>
        </p:sp>
        <p:sp>
          <p:nvSpPr>
            <p:cNvPr id="27" name="Line 21"/>
            <p:cNvSpPr>
              <a:spLocks noChangeShapeType="1"/>
            </p:cNvSpPr>
            <p:nvPr/>
          </p:nvSpPr>
          <p:spPr bwMode="auto">
            <a:xfrm>
              <a:off x="3630216" y="3444479"/>
              <a:ext cx="576263" cy="0"/>
            </a:xfrm>
            <a:prstGeom prst="line">
              <a:avLst/>
            </a:prstGeom>
            <a:noFill/>
            <a:ln w="25400">
              <a:solidFill>
                <a:schemeClr val="accent1"/>
              </a:solidFill>
              <a:round/>
              <a:headEnd type="stealth" w="med" len="lg"/>
              <a:tailEnd type="none" w="med" len="lg"/>
            </a:ln>
            <a:extLst>
              <a:ext uri="{909E8E84-426E-40DD-AFC4-6F175D3DCCD1}">
                <a14:hiddenFill xmlns:a14="http://schemas.microsoft.com/office/drawing/2010/main">
                  <a:noFill/>
                </a14:hiddenFill>
              </a:ext>
            </a:extLst>
          </p:spPr>
          <p:txBody>
            <a:bodyPr wrap="none" anchor="ctr"/>
            <a:lstStyle/>
            <a:p>
              <a:endParaRPr lang="zh-TW" altLang="en-US" sz="1333"/>
            </a:p>
          </p:txBody>
        </p:sp>
        <p:sp>
          <p:nvSpPr>
            <p:cNvPr id="28" name="Freeform 22"/>
            <p:cNvSpPr/>
            <p:nvPr/>
          </p:nvSpPr>
          <p:spPr bwMode="auto">
            <a:xfrm>
              <a:off x="4920012" y="3625454"/>
              <a:ext cx="896541" cy="1190"/>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33"/>
            </a:p>
          </p:txBody>
        </p:sp>
        <p:sp>
          <p:nvSpPr>
            <p:cNvPr id="29" name="Rectangle 23"/>
            <p:cNvSpPr>
              <a:spLocks noChangeArrowheads="1"/>
            </p:cNvSpPr>
            <p:nvPr/>
          </p:nvSpPr>
          <p:spPr bwMode="auto">
            <a:xfrm>
              <a:off x="5017993" y="3405431"/>
              <a:ext cx="883440" cy="21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333" b="1" dirty="0">
                  <a:solidFill>
                    <a:srgbClr val="000099"/>
                  </a:solidFill>
                  <a:latin typeface="Arial" panose="020B0604020202020204" pitchFamily="34" charset="0"/>
                </a:rPr>
                <a:t>Shift Left</a:t>
              </a:r>
              <a:endParaRPr kumimoji="1" lang="en-US" altLang="zh-TW" sz="1333" b="1" dirty="0">
                <a:latin typeface="Arial" panose="020B0604020202020204" pitchFamily="34" charset="0"/>
              </a:endParaRPr>
            </a:p>
          </p:txBody>
        </p:sp>
        <p:sp>
          <p:nvSpPr>
            <p:cNvPr id="30" name="Freeform 24"/>
            <p:cNvSpPr/>
            <p:nvPr/>
          </p:nvSpPr>
          <p:spPr bwMode="auto">
            <a:xfrm>
              <a:off x="3333750" y="4029075"/>
              <a:ext cx="3282554" cy="144066"/>
            </a:xfrm>
            <a:custGeom>
              <a:avLst/>
              <a:gdLst>
                <a:gd name="T0" fmla="*/ 0 w 2545"/>
                <a:gd name="T1" fmla="*/ 2147483647 h 121"/>
                <a:gd name="T2" fmla="*/ 2147483647 w 2545"/>
                <a:gd name="T3" fmla="*/ 2147483647 h 121"/>
                <a:gd name="T4" fmla="*/ 2147483647 w 2545"/>
                <a:gd name="T5" fmla="*/ 0 h 121"/>
                <a:gd name="T6" fmla="*/ 0 60000 65536"/>
                <a:gd name="T7" fmla="*/ 0 60000 65536"/>
                <a:gd name="T8" fmla="*/ 0 60000 65536"/>
                <a:gd name="T9" fmla="*/ 0 w 2545"/>
                <a:gd name="T10" fmla="*/ 0 h 121"/>
                <a:gd name="T11" fmla="*/ 2545 w 2545"/>
                <a:gd name="T12" fmla="*/ 121 h 121"/>
              </a:gdLst>
              <a:ahLst/>
              <a:cxnLst>
                <a:cxn ang="T6">
                  <a:pos x="T0" y="T1"/>
                </a:cxn>
                <a:cxn ang="T7">
                  <a:pos x="T2" y="T3"/>
                </a:cxn>
                <a:cxn ang="T8">
                  <a:pos x="T4" y="T5"/>
                </a:cxn>
              </a:cxnLst>
              <a:rect l="T9" t="T10" r="T11" b="T12"/>
              <a:pathLst>
                <a:path w="2545" h="121">
                  <a:moveTo>
                    <a:pt x="0" y="120"/>
                  </a:moveTo>
                  <a:lnTo>
                    <a:pt x="2544" y="120"/>
                  </a:lnTo>
                  <a:lnTo>
                    <a:pt x="2544"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33"/>
            </a:p>
          </p:txBody>
        </p:sp>
        <p:sp>
          <p:nvSpPr>
            <p:cNvPr id="31" name="Freeform 26"/>
            <p:cNvSpPr/>
            <p:nvPr/>
          </p:nvSpPr>
          <p:spPr bwMode="auto">
            <a:xfrm>
              <a:off x="4943475" y="3779522"/>
              <a:ext cx="896541" cy="1191"/>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333"/>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45322" y="2319390"/>
            <a:ext cx="8569569" cy="3717996"/>
            <a:chOff x="1785938" y="1946673"/>
            <a:chExt cx="5505450" cy="2226469"/>
          </a:xfrm>
        </p:grpSpPr>
        <p:sp>
          <p:nvSpPr>
            <p:cNvPr id="86018" name="Rectangle 2"/>
            <p:cNvSpPr>
              <a:spLocks noChangeArrowheads="1"/>
            </p:cNvSpPr>
            <p:nvPr/>
          </p:nvSpPr>
          <p:spPr bwMode="auto">
            <a:xfrm>
              <a:off x="2616994" y="3534966"/>
              <a:ext cx="2299097" cy="2940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600"/>
            </a:p>
          </p:txBody>
        </p:sp>
        <p:sp>
          <p:nvSpPr>
            <p:cNvPr id="86019" name="Rectangle 3"/>
            <p:cNvSpPr>
              <a:spLocks noChangeArrowheads="1"/>
            </p:cNvSpPr>
            <p:nvPr/>
          </p:nvSpPr>
          <p:spPr bwMode="auto">
            <a:xfrm>
              <a:off x="2626519" y="3544491"/>
              <a:ext cx="2299097" cy="351234"/>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86020" name="Rectangle 4"/>
            <p:cNvSpPr>
              <a:spLocks noChangeArrowheads="1"/>
            </p:cNvSpPr>
            <p:nvPr/>
          </p:nvSpPr>
          <p:spPr bwMode="auto">
            <a:xfrm>
              <a:off x="2793544" y="3543935"/>
              <a:ext cx="799153" cy="350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p>
              <a:pPr algn="ctr"/>
              <a:r>
                <a:rPr kumimoji="1" lang="en-US" altLang="zh-TW" sz="1600" b="1" dirty="0">
                  <a:solidFill>
                    <a:srgbClr val="000000"/>
                  </a:solidFill>
                  <a:latin typeface="Arial" panose="020B0604020202020204" pitchFamily="34" charset="0"/>
                </a:rPr>
                <a:t>Product/</a:t>
              </a:r>
            </a:p>
            <a:p>
              <a:pPr algn="ctr"/>
              <a:r>
                <a:rPr kumimoji="1" lang="en-US" altLang="zh-TW" sz="1600" b="1" dirty="0">
                  <a:solidFill>
                    <a:srgbClr val="000000"/>
                  </a:solidFill>
                  <a:latin typeface="Arial" panose="020B0604020202020204" pitchFamily="34" charset="0"/>
                </a:rPr>
                <a:t>Remainder</a:t>
              </a:r>
            </a:p>
          </p:txBody>
        </p:sp>
        <p:sp>
          <p:nvSpPr>
            <p:cNvPr id="86021" name="Rectangle 5"/>
            <p:cNvSpPr>
              <a:spLocks noChangeArrowheads="1"/>
            </p:cNvSpPr>
            <p:nvPr/>
          </p:nvSpPr>
          <p:spPr bwMode="auto">
            <a:xfrm>
              <a:off x="3943982" y="3551381"/>
              <a:ext cx="833632" cy="350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solidFill>
                    <a:srgbClr val="FF0000"/>
                  </a:solidFill>
                  <a:latin typeface="Arial" panose="020B0604020202020204" pitchFamily="34" charset="0"/>
                </a:rPr>
                <a:t>Multiplier/</a:t>
              </a:r>
            </a:p>
            <a:p>
              <a:pPr algn="ctr"/>
              <a:r>
                <a:rPr kumimoji="1" lang="en-US" altLang="zh-TW" sz="1600" b="1" dirty="0">
                  <a:solidFill>
                    <a:srgbClr val="FF0000"/>
                  </a:solidFill>
                  <a:latin typeface="Arial" panose="020B0604020202020204" pitchFamily="34" charset="0"/>
                </a:rPr>
                <a:t>Quotient</a:t>
              </a:r>
            </a:p>
          </p:txBody>
        </p:sp>
        <p:sp>
          <p:nvSpPr>
            <p:cNvPr id="86022" name="Rectangle 6"/>
            <p:cNvSpPr>
              <a:spLocks noChangeArrowheads="1"/>
            </p:cNvSpPr>
            <p:nvPr/>
          </p:nvSpPr>
          <p:spPr bwMode="auto">
            <a:xfrm>
              <a:off x="3190876" y="1946673"/>
              <a:ext cx="1088231" cy="444103"/>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86023" name="Rectangle 7"/>
            <p:cNvSpPr>
              <a:spLocks noChangeArrowheads="1"/>
            </p:cNvSpPr>
            <p:nvPr/>
          </p:nvSpPr>
          <p:spPr bwMode="auto">
            <a:xfrm>
              <a:off x="3238945" y="1980908"/>
              <a:ext cx="1006029" cy="350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p>
              <a:pPr algn="ctr"/>
              <a:r>
                <a:rPr kumimoji="1" lang="en-US" altLang="zh-TW" sz="1600" b="1" dirty="0">
                  <a:solidFill>
                    <a:srgbClr val="000000"/>
                  </a:solidFill>
                  <a:latin typeface="Arial" panose="020B0604020202020204" pitchFamily="34" charset="0"/>
                </a:rPr>
                <a:t>Multiplicand/</a:t>
              </a:r>
            </a:p>
            <a:p>
              <a:pPr algn="ctr"/>
              <a:r>
                <a:rPr kumimoji="1" lang="en-US" altLang="zh-TW" sz="1600" b="1" dirty="0">
                  <a:solidFill>
                    <a:srgbClr val="000000"/>
                  </a:solidFill>
                  <a:latin typeface="Arial" panose="020B0604020202020204" pitchFamily="34" charset="0"/>
                </a:rPr>
                <a:t>Divisor</a:t>
              </a:r>
            </a:p>
          </p:txBody>
        </p:sp>
        <p:sp>
          <p:nvSpPr>
            <p:cNvPr id="86024" name="Rectangle 8"/>
            <p:cNvSpPr>
              <a:spLocks noChangeArrowheads="1"/>
            </p:cNvSpPr>
            <p:nvPr/>
          </p:nvSpPr>
          <p:spPr bwMode="auto">
            <a:xfrm>
              <a:off x="2935593" y="3011251"/>
              <a:ext cx="773654" cy="20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600" b="1" dirty="0">
                  <a:solidFill>
                    <a:srgbClr val="000000"/>
                  </a:solidFill>
                  <a:latin typeface="Arial" panose="020B0604020202020204" pitchFamily="34" charset="0"/>
                </a:rPr>
                <a:t>32-</a:t>
              </a:r>
              <a:r>
                <a:rPr kumimoji="1" lang="en-US" altLang="zh-TW" sz="1600" b="1" dirty="0">
                  <a:solidFill>
                    <a:srgbClr val="000000"/>
                  </a:solidFill>
                  <a:latin typeface="Arial" panose="020B0604020202020204" pitchFamily="34" charset="0"/>
                </a:rPr>
                <a:t>bit ALU</a:t>
              </a:r>
            </a:p>
          </p:txBody>
        </p:sp>
        <p:sp>
          <p:nvSpPr>
            <p:cNvPr id="86025" name="Rectangle 9"/>
            <p:cNvSpPr>
              <a:spLocks noChangeArrowheads="1"/>
            </p:cNvSpPr>
            <p:nvPr/>
          </p:nvSpPr>
          <p:spPr bwMode="auto">
            <a:xfrm>
              <a:off x="5162997" y="3789043"/>
              <a:ext cx="447650" cy="20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solidFill>
                    <a:srgbClr val="000000"/>
                  </a:solidFill>
                  <a:latin typeface="Arial" panose="020B0604020202020204" pitchFamily="34" charset="0"/>
                </a:rPr>
                <a:t>Write</a:t>
              </a:r>
            </a:p>
          </p:txBody>
        </p:sp>
        <p:sp>
          <p:nvSpPr>
            <p:cNvPr id="86026" name="AutoShape 10"/>
            <p:cNvSpPr>
              <a:spLocks noChangeArrowheads="1"/>
            </p:cNvSpPr>
            <p:nvPr/>
          </p:nvSpPr>
          <p:spPr bwMode="auto">
            <a:xfrm>
              <a:off x="5836444" y="3443287"/>
              <a:ext cx="1454944" cy="596504"/>
            </a:xfrm>
            <a:prstGeom prst="roundRect">
              <a:avLst>
                <a:gd name="adj" fmla="val 48565"/>
              </a:avLst>
            </a:prstGeom>
            <a:noFill/>
            <a:ln w="254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86027" name="Rectangle 11"/>
            <p:cNvSpPr>
              <a:spLocks noChangeArrowheads="1"/>
            </p:cNvSpPr>
            <p:nvPr/>
          </p:nvSpPr>
          <p:spPr bwMode="auto">
            <a:xfrm>
              <a:off x="6241974" y="3640638"/>
              <a:ext cx="588037" cy="20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solidFill>
                    <a:srgbClr val="FF0000"/>
                  </a:solidFill>
                  <a:latin typeface="Arial" panose="020B0604020202020204" pitchFamily="34" charset="0"/>
                </a:rPr>
                <a:t>Control</a:t>
              </a:r>
            </a:p>
          </p:txBody>
        </p:sp>
        <p:sp>
          <p:nvSpPr>
            <p:cNvPr id="86028" name="Rectangle 12"/>
            <p:cNvSpPr>
              <a:spLocks noChangeArrowheads="1"/>
            </p:cNvSpPr>
            <p:nvPr/>
          </p:nvSpPr>
          <p:spPr bwMode="auto">
            <a:xfrm>
              <a:off x="3662363" y="2421731"/>
              <a:ext cx="537575" cy="20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600" b="1">
                  <a:solidFill>
                    <a:srgbClr val="000000"/>
                  </a:solidFill>
                  <a:latin typeface="Arial" panose="020B0604020202020204" pitchFamily="34" charset="0"/>
                </a:rPr>
                <a:t>32 </a:t>
              </a:r>
              <a:r>
                <a:rPr kumimoji="1" lang="en-US" altLang="zh-TW" sz="1600" b="1">
                  <a:solidFill>
                    <a:srgbClr val="000000"/>
                  </a:solidFill>
                  <a:latin typeface="Arial" panose="020B0604020202020204" pitchFamily="34" charset="0"/>
                </a:rPr>
                <a:t>bits</a:t>
              </a:r>
            </a:p>
          </p:txBody>
        </p:sp>
        <p:sp>
          <p:nvSpPr>
            <p:cNvPr id="86029" name="Rectangle 13"/>
            <p:cNvSpPr>
              <a:spLocks noChangeArrowheads="1"/>
            </p:cNvSpPr>
            <p:nvPr/>
          </p:nvSpPr>
          <p:spPr bwMode="auto">
            <a:xfrm>
              <a:off x="3499248" y="3892306"/>
              <a:ext cx="537575" cy="20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600" b="1" dirty="0">
                  <a:solidFill>
                    <a:srgbClr val="000000"/>
                  </a:solidFill>
                  <a:latin typeface="Arial" panose="020B0604020202020204" pitchFamily="34" charset="0"/>
                </a:rPr>
                <a:t>64 </a:t>
              </a:r>
              <a:r>
                <a:rPr kumimoji="1" lang="en-US" altLang="zh-TW" sz="1600" b="1" dirty="0">
                  <a:solidFill>
                    <a:srgbClr val="000000"/>
                  </a:solidFill>
                  <a:latin typeface="Arial" panose="020B0604020202020204" pitchFamily="34" charset="0"/>
                </a:rPr>
                <a:t>bits</a:t>
              </a:r>
            </a:p>
          </p:txBody>
        </p:sp>
        <p:sp>
          <p:nvSpPr>
            <p:cNvPr id="86030" name="Freeform 14"/>
            <p:cNvSpPr/>
            <p:nvPr/>
          </p:nvSpPr>
          <p:spPr bwMode="auto">
            <a:xfrm>
              <a:off x="3863579" y="3015854"/>
              <a:ext cx="2078831" cy="484584"/>
            </a:xfrm>
            <a:custGeom>
              <a:avLst/>
              <a:gdLst>
                <a:gd name="T0" fmla="*/ 2147483647 w 1611"/>
                <a:gd name="T1" fmla="*/ 2147483647 h 407"/>
                <a:gd name="T2" fmla="*/ 2147483647 w 1611"/>
                <a:gd name="T3" fmla="*/ 0 h 407"/>
                <a:gd name="T4" fmla="*/ 0 w 1611"/>
                <a:gd name="T5" fmla="*/ 0 h 407"/>
                <a:gd name="T6" fmla="*/ 0 60000 65536"/>
                <a:gd name="T7" fmla="*/ 0 60000 65536"/>
                <a:gd name="T8" fmla="*/ 0 60000 65536"/>
                <a:gd name="T9" fmla="*/ 0 w 1611"/>
                <a:gd name="T10" fmla="*/ 0 h 407"/>
                <a:gd name="T11" fmla="*/ 1611 w 1611"/>
                <a:gd name="T12" fmla="*/ 407 h 407"/>
              </a:gdLst>
              <a:ahLst/>
              <a:cxnLst>
                <a:cxn ang="T6">
                  <a:pos x="T0" y="T1"/>
                </a:cxn>
                <a:cxn ang="T7">
                  <a:pos x="T2" y="T3"/>
                </a:cxn>
                <a:cxn ang="T8">
                  <a:pos x="T4" y="T5"/>
                </a:cxn>
              </a:cxnLst>
              <a:rect l="T9" t="T10" r="T11" b="T12"/>
              <a:pathLst>
                <a:path w="1611" h="407">
                  <a:moveTo>
                    <a:pt x="1610" y="406"/>
                  </a:moveTo>
                  <a:lnTo>
                    <a:pt x="1610"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600"/>
            </a:p>
          </p:txBody>
        </p:sp>
        <p:sp>
          <p:nvSpPr>
            <p:cNvPr id="86031" name="Freeform 15"/>
            <p:cNvSpPr/>
            <p:nvPr/>
          </p:nvSpPr>
          <p:spPr bwMode="auto">
            <a:xfrm>
              <a:off x="4931844" y="3713377"/>
              <a:ext cx="896540" cy="1190"/>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600"/>
            </a:p>
          </p:txBody>
        </p:sp>
        <p:sp>
          <p:nvSpPr>
            <p:cNvPr id="86032" name="Freeform 16"/>
            <p:cNvSpPr/>
            <p:nvPr/>
          </p:nvSpPr>
          <p:spPr bwMode="auto">
            <a:xfrm>
              <a:off x="2671762" y="2831306"/>
              <a:ext cx="1309688" cy="434579"/>
            </a:xfrm>
            <a:custGeom>
              <a:avLst/>
              <a:gdLst>
                <a:gd name="T0" fmla="*/ 0 w 1015"/>
                <a:gd name="T1" fmla="*/ 2147483647 h 365"/>
                <a:gd name="T2" fmla="*/ 2147483647 w 1015"/>
                <a:gd name="T3" fmla="*/ 2147483647 h 365"/>
                <a:gd name="T4" fmla="*/ 2147483647 w 1015"/>
                <a:gd name="T5" fmla="*/ 2147483647 h 365"/>
                <a:gd name="T6" fmla="*/ 2147483647 w 1015"/>
                <a:gd name="T7" fmla="*/ 2147483647 h 365"/>
                <a:gd name="T8" fmla="*/ 2147483647 w 1015"/>
                <a:gd name="T9" fmla="*/ 2147483647 h 365"/>
                <a:gd name="T10" fmla="*/ 2147483647 w 1015"/>
                <a:gd name="T11" fmla="*/ 2147483647 h 365"/>
                <a:gd name="T12" fmla="*/ 2147483647 w 1015"/>
                <a:gd name="T13" fmla="*/ 0 h 365"/>
                <a:gd name="T14" fmla="*/ 0 w 1015"/>
                <a:gd name="T15" fmla="*/ 2147483647 h 365"/>
                <a:gd name="T16" fmla="*/ 0 60000 65536"/>
                <a:gd name="T17" fmla="*/ 0 60000 65536"/>
                <a:gd name="T18" fmla="*/ 0 60000 65536"/>
                <a:gd name="T19" fmla="*/ 0 60000 65536"/>
                <a:gd name="T20" fmla="*/ 0 60000 65536"/>
                <a:gd name="T21" fmla="*/ 0 60000 65536"/>
                <a:gd name="T22" fmla="*/ 0 60000 65536"/>
                <a:gd name="T23" fmla="*/ 0 60000 65536"/>
                <a:gd name="T24" fmla="*/ 0 w 1015"/>
                <a:gd name="T25" fmla="*/ 0 h 365"/>
                <a:gd name="T26" fmla="*/ 1015 w 1015"/>
                <a:gd name="T27" fmla="*/ 365 h 3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5" h="365">
                  <a:moveTo>
                    <a:pt x="0" y="7"/>
                  </a:moveTo>
                  <a:lnTo>
                    <a:pt x="264" y="364"/>
                  </a:lnTo>
                  <a:lnTo>
                    <a:pt x="757" y="364"/>
                  </a:lnTo>
                  <a:lnTo>
                    <a:pt x="1014" y="14"/>
                  </a:lnTo>
                  <a:lnTo>
                    <a:pt x="607" y="14"/>
                  </a:lnTo>
                  <a:lnTo>
                    <a:pt x="514" y="135"/>
                  </a:lnTo>
                  <a:lnTo>
                    <a:pt x="407" y="0"/>
                  </a:lnTo>
                  <a:lnTo>
                    <a:pt x="0" y="7"/>
                  </a:lnTo>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TW" altLang="en-US" sz="1600"/>
            </a:p>
          </p:txBody>
        </p:sp>
        <p:sp>
          <p:nvSpPr>
            <p:cNvPr id="86033" name="Freeform 17"/>
            <p:cNvSpPr/>
            <p:nvPr/>
          </p:nvSpPr>
          <p:spPr bwMode="auto">
            <a:xfrm>
              <a:off x="3313510" y="3282553"/>
              <a:ext cx="1190" cy="280988"/>
            </a:xfrm>
            <a:custGeom>
              <a:avLst/>
              <a:gdLst>
                <a:gd name="T0" fmla="*/ 0 w 1"/>
                <a:gd name="T1" fmla="*/ 0 h 236"/>
                <a:gd name="T2" fmla="*/ 0 w 1"/>
                <a:gd name="T3" fmla="*/ 2147483647 h 236"/>
                <a:gd name="T4" fmla="*/ 0 60000 65536"/>
                <a:gd name="T5" fmla="*/ 0 60000 65536"/>
                <a:gd name="T6" fmla="*/ 0 w 1"/>
                <a:gd name="T7" fmla="*/ 0 h 236"/>
                <a:gd name="T8" fmla="*/ 1 w 1"/>
                <a:gd name="T9" fmla="*/ 236 h 236"/>
              </a:gdLst>
              <a:ahLst/>
              <a:cxnLst>
                <a:cxn ang="T4">
                  <a:pos x="T0" y="T1"/>
                </a:cxn>
                <a:cxn ang="T5">
                  <a:pos x="T2" y="T3"/>
                </a:cxn>
              </a:cxnLst>
              <a:rect l="T6" t="T7" r="T8" b="T9"/>
              <a:pathLst>
                <a:path w="1" h="236">
                  <a:moveTo>
                    <a:pt x="0" y="0"/>
                  </a:moveTo>
                  <a:lnTo>
                    <a:pt x="0" y="235"/>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600"/>
            </a:p>
          </p:txBody>
        </p:sp>
        <p:sp>
          <p:nvSpPr>
            <p:cNvPr id="86034" name="Freeform 18"/>
            <p:cNvSpPr/>
            <p:nvPr/>
          </p:nvSpPr>
          <p:spPr bwMode="auto">
            <a:xfrm>
              <a:off x="1785938" y="2546748"/>
              <a:ext cx="1556147" cy="1626394"/>
            </a:xfrm>
            <a:custGeom>
              <a:avLst/>
              <a:gdLst>
                <a:gd name="T0" fmla="*/ 2147483647 w 1206"/>
                <a:gd name="T1" fmla="*/ 2147483647 h 1366"/>
                <a:gd name="T2" fmla="*/ 2147483647 w 1206"/>
                <a:gd name="T3" fmla="*/ 2147483647 h 1366"/>
                <a:gd name="T4" fmla="*/ 0 w 1206"/>
                <a:gd name="T5" fmla="*/ 2147483647 h 1366"/>
                <a:gd name="T6" fmla="*/ 0 w 1206"/>
                <a:gd name="T7" fmla="*/ 0 h 1366"/>
                <a:gd name="T8" fmla="*/ 2147483647 w 1206"/>
                <a:gd name="T9" fmla="*/ 0 h 1366"/>
                <a:gd name="T10" fmla="*/ 2147483647 w 1206"/>
                <a:gd name="T11" fmla="*/ 2147483647 h 1366"/>
                <a:gd name="T12" fmla="*/ 0 60000 65536"/>
                <a:gd name="T13" fmla="*/ 0 60000 65536"/>
                <a:gd name="T14" fmla="*/ 0 60000 65536"/>
                <a:gd name="T15" fmla="*/ 0 60000 65536"/>
                <a:gd name="T16" fmla="*/ 0 60000 65536"/>
                <a:gd name="T17" fmla="*/ 0 60000 65536"/>
                <a:gd name="T18" fmla="*/ 0 w 1206"/>
                <a:gd name="T19" fmla="*/ 0 h 1366"/>
                <a:gd name="T20" fmla="*/ 1206 w 1206"/>
                <a:gd name="T21" fmla="*/ 1366 h 1366"/>
              </a:gdLst>
              <a:ahLst/>
              <a:cxnLst>
                <a:cxn ang="T12">
                  <a:pos x="T0" y="T1"/>
                </a:cxn>
                <a:cxn ang="T13">
                  <a:pos x="T2" y="T3"/>
                </a:cxn>
                <a:cxn ang="T14">
                  <a:pos x="T4" y="T5"/>
                </a:cxn>
                <a:cxn ang="T15">
                  <a:pos x="T6" y="T7"/>
                </a:cxn>
                <a:cxn ang="T16">
                  <a:pos x="T8" y="T9"/>
                </a:cxn>
                <a:cxn ang="T17">
                  <a:pos x="T10" y="T11"/>
                </a:cxn>
              </a:cxnLst>
              <a:rect l="T18" t="T19" r="T20" b="T21"/>
              <a:pathLst>
                <a:path w="1206" h="1366">
                  <a:moveTo>
                    <a:pt x="1205" y="1114"/>
                  </a:moveTo>
                  <a:lnTo>
                    <a:pt x="1205" y="1365"/>
                  </a:lnTo>
                  <a:lnTo>
                    <a:pt x="0" y="1365"/>
                  </a:lnTo>
                  <a:lnTo>
                    <a:pt x="0" y="0"/>
                  </a:lnTo>
                  <a:lnTo>
                    <a:pt x="779" y="0"/>
                  </a:lnTo>
                  <a:lnTo>
                    <a:pt x="779" y="24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600"/>
            </a:p>
          </p:txBody>
        </p:sp>
        <p:sp>
          <p:nvSpPr>
            <p:cNvPr id="86035" name="Freeform 19"/>
            <p:cNvSpPr/>
            <p:nvPr/>
          </p:nvSpPr>
          <p:spPr bwMode="auto">
            <a:xfrm>
              <a:off x="3656410" y="2406253"/>
              <a:ext cx="1190" cy="433388"/>
            </a:xfrm>
            <a:custGeom>
              <a:avLst/>
              <a:gdLst>
                <a:gd name="T0" fmla="*/ 0 w 1"/>
                <a:gd name="T1" fmla="*/ 0 h 364"/>
                <a:gd name="T2" fmla="*/ 0 w 1"/>
                <a:gd name="T3" fmla="*/ 2147483647 h 364"/>
                <a:gd name="T4" fmla="*/ 0 60000 65536"/>
                <a:gd name="T5" fmla="*/ 0 60000 65536"/>
                <a:gd name="T6" fmla="*/ 0 w 1"/>
                <a:gd name="T7" fmla="*/ 0 h 364"/>
                <a:gd name="T8" fmla="*/ 1 w 1"/>
                <a:gd name="T9" fmla="*/ 364 h 364"/>
              </a:gdLst>
              <a:ahLst/>
              <a:cxnLst>
                <a:cxn ang="T4">
                  <a:pos x="T0" y="T1"/>
                </a:cxn>
                <a:cxn ang="T5">
                  <a:pos x="T2" y="T3"/>
                </a:cxn>
              </a:cxnLst>
              <a:rect l="T6" t="T7" r="T8" b="T9"/>
              <a:pathLst>
                <a:path w="1" h="364">
                  <a:moveTo>
                    <a:pt x="0" y="0"/>
                  </a:moveTo>
                  <a:lnTo>
                    <a:pt x="0" y="36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600"/>
            </a:p>
          </p:txBody>
        </p:sp>
        <p:sp>
          <p:nvSpPr>
            <p:cNvPr id="86036" name="Line 20"/>
            <p:cNvSpPr>
              <a:spLocks noChangeShapeType="1"/>
            </p:cNvSpPr>
            <p:nvPr/>
          </p:nvSpPr>
          <p:spPr bwMode="auto">
            <a:xfrm>
              <a:off x="3794522" y="3529013"/>
              <a:ext cx="0" cy="32146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86037" name="Line 21"/>
            <p:cNvSpPr>
              <a:spLocks noChangeShapeType="1"/>
            </p:cNvSpPr>
            <p:nvPr/>
          </p:nvSpPr>
          <p:spPr bwMode="auto">
            <a:xfrm>
              <a:off x="3630216" y="3444479"/>
              <a:ext cx="576263" cy="0"/>
            </a:xfrm>
            <a:prstGeom prst="line">
              <a:avLst/>
            </a:prstGeom>
            <a:noFill/>
            <a:ln w="25400">
              <a:solidFill>
                <a:srgbClr val="FF0000"/>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solidFill>
                  <a:srgbClr val="FF0000"/>
                </a:solidFill>
              </a:endParaRPr>
            </a:p>
          </p:txBody>
        </p:sp>
        <p:sp>
          <p:nvSpPr>
            <p:cNvPr id="86038" name="Freeform 22"/>
            <p:cNvSpPr/>
            <p:nvPr/>
          </p:nvSpPr>
          <p:spPr bwMode="auto">
            <a:xfrm>
              <a:off x="4918563" y="3563908"/>
              <a:ext cx="1000247" cy="39448"/>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600"/>
            </a:p>
          </p:txBody>
        </p:sp>
        <p:sp>
          <p:nvSpPr>
            <p:cNvPr id="86039" name="Rectangle 23"/>
            <p:cNvSpPr>
              <a:spLocks noChangeArrowheads="1"/>
            </p:cNvSpPr>
            <p:nvPr/>
          </p:nvSpPr>
          <p:spPr bwMode="auto">
            <a:xfrm>
              <a:off x="5017251" y="3550047"/>
              <a:ext cx="692050" cy="20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solidFill>
                    <a:srgbClr val="000099"/>
                  </a:solidFill>
                  <a:latin typeface="Arial" panose="020B0604020202020204" pitchFamily="34" charset="0"/>
                </a:rPr>
                <a:t>Shift Left</a:t>
              </a:r>
              <a:endParaRPr kumimoji="1" lang="en-US" altLang="zh-TW" sz="1600" b="1" dirty="0">
                <a:latin typeface="Arial" panose="020B0604020202020204" pitchFamily="34" charset="0"/>
              </a:endParaRPr>
            </a:p>
          </p:txBody>
        </p:sp>
        <p:sp>
          <p:nvSpPr>
            <p:cNvPr id="86040" name="Freeform 24"/>
            <p:cNvSpPr/>
            <p:nvPr/>
          </p:nvSpPr>
          <p:spPr bwMode="auto">
            <a:xfrm>
              <a:off x="3333750" y="4029075"/>
              <a:ext cx="3282554" cy="144066"/>
            </a:xfrm>
            <a:custGeom>
              <a:avLst/>
              <a:gdLst>
                <a:gd name="T0" fmla="*/ 0 w 2545"/>
                <a:gd name="T1" fmla="*/ 2147483647 h 121"/>
                <a:gd name="T2" fmla="*/ 2147483647 w 2545"/>
                <a:gd name="T3" fmla="*/ 2147483647 h 121"/>
                <a:gd name="T4" fmla="*/ 2147483647 w 2545"/>
                <a:gd name="T5" fmla="*/ 0 h 121"/>
                <a:gd name="T6" fmla="*/ 0 60000 65536"/>
                <a:gd name="T7" fmla="*/ 0 60000 65536"/>
                <a:gd name="T8" fmla="*/ 0 60000 65536"/>
                <a:gd name="T9" fmla="*/ 0 w 2545"/>
                <a:gd name="T10" fmla="*/ 0 h 121"/>
                <a:gd name="T11" fmla="*/ 2545 w 2545"/>
                <a:gd name="T12" fmla="*/ 121 h 121"/>
              </a:gdLst>
              <a:ahLst/>
              <a:cxnLst>
                <a:cxn ang="T6">
                  <a:pos x="T0" y="T1"/>
                </a:cxn>
                <a:cxn ang="T7">
                  <a:pos x="T2" y="T3"/>
                </a:cxn>
                <a:cxn ang="T8">
                  <a:pos x="T4" y="T5"/>
                </a:cxn>
              </a:cxnLst>
              <a:rect l="T9" t="T10" r="T11" b="T12"/>
              <a:pathLst>
                <a:path w="2545" h="121">
                  <a:moveTo>
                    <a:pt x="0" y="120"/>
                  </a:moveTo>
                  <a:lnTo>
                    <a:pt x="2544" y="120"/>
                  </a:lnTo>
                  <a:lnTo>
                    <a:pt x="2544"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600"/>
            </a:p>
          </p:txBody>
        </p:sp>
        <p:sp>
          <p:nvSpPr>
            <p:cNvPr id="86041" name="Freeform 25"/>
            <p:cNvSpPr/>
            <p:nvPr/>
          </p:nvSpPr>
          <p:spPr bwMode="auto">
            <a:xfrm>
              <a:off x="4943475" y="3829050"/>
              <a:ext cx="896541" cy="1191"/>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600"/>
            </a:p>
          </p:txBody>
        </p:sp>
        <p:sp>
          <p:nvSpPr>
            <p:cNvPr id="86042" name="Rectangle 26"/>
            <p:cNvSpPr>
              <a:spLocks noChangeArrowheads="1"/>
            </p:cNvSpPr>
            <p:nvPr/>
          </p:nvSpPr>
          <p:spPr bwMode="auto">
            <a:xfrm>
              <a:off x="4968925" y="3361286"/>
              <a:ext cx="786795" cy="203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latin typeface="Arial" panose="020B0604020202020204" pitchFamily="34" charset="0"/>
                </a:rPr>
                <a:t>Shift Right</a:t>
              </a:r>
            </a:p>
          </p:txBody>
        </p:sp>
      </p:grpSp>
      <p:sp>
        <p:nvSpPr>
          <p:cNvPr id="86043" name="Rectangle 27"/>
          <p:cNvSpPr>
            <a:spLocks noGrp="1" noChangeArrowheads="1"/>
          </p:cNvSpPr>
          <p:nvPr>
            <p:ph type="title"/>
          </p:nvPr>
        </p:nvSpPr>
        <p:spPr>
          <a:xfrm>
            <a:off x="1364609" y="190151"/>
            <a:ext cx="8941443" cy="637563"/>
          </a:xfrm>
        </p:spPr>
        <p:txBody>
          <a:bodyPr/>
          <a:lstStyle/>
          <a:p>
            <a:r>
              <a:rPr lang="en-US" altLang="zh-TW" dirty="0"/>
              <a:t>Multiply/Divide Hardware </a:t>
            </a:r>
          </a:p>
        </p:txBody>
      </p:sp>
      <p:sp>
        <p:nvSpPr>
          <p:cNvPr id="86044" name="Rectangle 28"/>
          <p:cNvSpPr>
            <a:spLocks noGrp="1" noChangeArrowheads="1"/>
          </p:cNvSpPr>
          <p:nvPr>
            <p:ph type="body" idx="1"/>
          </p:nvPr>
        </p:nvSpPr>
        <p:spPr>
          <a:xfrm>
            <a:off x="1297497" y="1125538"/>
            <a:ext cx="10284903" cy="996340"/>
          </a:xfrm>
        </p:spPr>
        <p:txBody>
          <a:bodyPr/>
          <a:lstStyle/>
          <a:p>
            <a:r>
              <a:rPr lang="zh-TW" altLang="en-US" sz="2667" dirty="0"/>
              <a:t>32-</a:t>
            </a:r>
            <a:r>
              <a:rPr lang="en-US" altLang="zh-TW" sz="2667" dirty="0"/>
              <a:t>bit Multiplicand/Divisor register, 32 -bit ALU, 64-bit Product/Remainder register, (</a:t>
            </a:r>
            <a:r>
              <a:rPr lang="en-US" altLang="zh-TW" sz="2667" u="sng" dirty="0">
                <a:solidFill>
                  <a:srgbClr val="FF0000"/>
                </a:solidFill>
              </a:rPr>
              <a:t>0</a:t>
            </a:r>
            <a:r>
              <a:rPr lang="en-US" altLang="zh-TW" sz="2667" dirty="0"/>
              <a:t>-bit Multiplier/Quotient register)</a:t>
            </a:r>
          </a:p>
        </p:txBody>
      </p:sp>
      <p:sp>
        <p:nvSpPr>
          <p:cNvPr id="30"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36</a:t>
            </a:fld>
            <a:endParaRPr lang="zh-TW"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Multiply/Divide by Power of 2</a:t>
            </a:r>
          </a:p>
        </p:txBody>
      </p:sp>
      <p:sp>
        <p:nvSpPr>
          <p:cNvPr id="3" name="Content Placeholder 2"/>
          <p:cNvSpPr>
            <a:spLocks noGrp="1"/>
          </p:cNvSpPr>
          <p:nvPr>
            <p:ph idx="1"/>
          </p:nvPr>
        </p:nvSpPr>
        <p:spPr>
          <a:xfrm>
            <a:off x="0" y="1206231"/>
            <a:ext cx="12192000" cy="4679003"/>
          </a:xfrm>
        </p:spPr>
        <p:txBody>
          <a:bodyPr>
            <a:normAutofit fontScale="85000" lnSpcReduction="20000"/>
          </a:bodyPr>
          <a:lstStyle/>
          <a:p>
            <a:pPr marL="0" indent="0">
              <a:buNone/>
            </a:pPr>
            <a:r>
              <a:rPr lang="en-US" sz="2800" dirty="0"/>
              <a:t>Multiply by power of 2 can use shift left</a:t>
            </a:r>
          </a:p>
          <a:p>
            <a:pPr marL="0" indent="0">
              <a:buNone/>
            </a:pPr>
            <a:r>
              <a:rPr lang="en-US" sz="2400" dirty="0"/>
              <a:t>X * 2 = X &lt;&lt; 1, 	X * 4 = X &lt;&lt; 2, …</a:t>
            </a:r>
          </a:p>
          <a:p>
            <a:pPr marL="0" indent="0">
              <a:buNone/>
            </a:pPr>
            <a:r>
              <a:rPr lang="en-US" sz="2400" dirty="0"/>
              <a:t>-X *2 = (-X) &lt;&lt; 1, -X *4 = (-X) &lt;&lt; 2</a:t>
            </a:r>
          </a:p>
          <a:p>
            <a:pPr marL="0" indent="0">
              <a:buNone/>
            </a:pPr>
            <a:endParaRPr lang="en-US" sz="2800" dirty="0"/>
          </a:p>
          <a:p>
            <a:pPr marL="0" indent="0">
              <a:buNone/>
            </a:pPr>
            <a:r>
              <a:rPr lang="en-US" sz="2800" dirty="0"/>
              <a:t>How about division?</a:t>
            </a:r>
          </a:p>
          <a:p>
            <a:pPr marL="0" indent="0">
              <a:buNone/>
            </a:pPr>
            <a:r>
              <a:rPr lang="en-US" sz="2800" dirty="0"/>
              <a:t>X div 2 = X &gt;&gt; 1. </a:t>
            </a:r>
            <a:r>
              <a:rPr lang="en-US" sz="2600" dirty="0"/>
              <a:t>This works for positive numbers</a:t>
            </a:r>
          </a:p>
          <a:p>
            <a:pPr marL="0" indent="0">
              <a:buNone/>
            </a:pPr>
            <a:r>
              <a:rPr lang="en-US" sz="2800" dirty="0"/>
              <a:t>How about negative number such as -7/2?</a:t>
            </a:r>
          </a:p>
          <a:p>
            <a:pPr marL="0" indent="0">
              <a:buNone/>
            </a:pPr>
            <a:r>
              <a:rPr lang="en-US" sz="2800" dirty="0"/>
              <a:t>Assume 8bit integer, 7 is 00000111 and -7 is 11111001</a:t>
            </a:r>
          </a:p>
          <a:p>
            <a:pPr marL="0" indent="0">
              <a:buNone/>
            </a:pPr>
            <a:r>
              <a:rPr lang="en-US" sz="2800" dirty="0"/>
              <a:t>11111001 &gt;&gt; (SRA) 1 = 1111100         -4, this quotient is wrong, it should be -3</a:t>
            </a:r>
          </a:p>
          <a:p>
            <a:pPr marL="0" indent="0">
              <a:buNone/>
            </a:pPr>
            <a:r>
              <a:rPr lang="en-US" sz="2800" dirty="0"/>
              <a:t>The correct way to use &gt;&gt; for X div N, where X is a negative number, and N is a power of 2, is as follows:</a:t>
            </a:r>
          </a:p>
          <a:p>
            <a:pPr marL="0" indent="0">
              <a:buNone/>
            </a:pPr>
            <a:r>
              <a:rPr lang="en-US" sz="2800" b="0" i="0" dirty="0">
                <a:solidFill>
                  <a:srgbClr val="0D0D0D"/>
                </a:solidFill>
                <a:effectLst/>
                <a:latin typeface="KaTeX_Main"/>
              </a:rPr>
              <a:t>				</a:t>
            </a:r>
            <a:r>
              <a:rPr lang="en-US" sz="3000" b="0" i="0" dirty="0">
                <a:solidFill>
                  <a:srgbClr val="FF0000"/>
                </a:solidFill>
                <a:effectLst/>
                <a:latin typeface="KaTeX_Main"/>
              </a:rPr>
              <a:t>(</a:t>
            </a:r>
            <a:r>
              <a:rPr lang="en-US" sz="3000" b="0" i="1" dirty="0">
                <a:solidFill>
                  <a:srgbClr val="FF0000"/>
                </a:solidFill>
                <a:effectLst/>
                <a:latin typeface="KaTeX_Math"/>
              </a:rPr>
              <a:t>X</a:t>
            </a:r>
            <a:r>
              <a:rPr lang="en-US" sz="3000" b="0" i="0" dirty="0">
                <a:solidFill>
                  <a:srgbClr val="FF0000"/>
                </a:solidFill>
                <a:effectLst/>
                <a:latin typeface="KaTeX_Main"/>
              </a:rPr>
              <a:t>+(</a:t>
            </a:r>
            <a:r>
              <a:rPr lang="en-US" sz="3000" b="0" i="1" dirty="0">
                <a:solidFill>
                  <a:srgbClr val="FF0000"/>
                </a:solidFill>
                <a:effectLst/>
                <a:latin typeface="KaTeX_Math"/>
              </a:rPr>
              <a:t>N</a:t>
            </a:r>
            <a:r>
              <a:rPr lang="en-US" sz="3000" b="0" i="0" dirty="0">
                <a:solidFill>
                  <a:srgbClr val="FF0000"/>
                </a:solidFill>
                <a:effectLst/>
                <a:latin typeface="KaTeX_Main"/>
              </a:rPr>
              <a:t>−1)) ≫ log2​(</a:t>
            </a:r>
            <a:r>
              <a:rPr lang="en-US" sz="3000" b="0" i="1" dirty="0">
                <a:solidFill>
                  <a:srgbClr val="FF0000"/>
                </a:solidFill>
                <a:effectLst/>
                <a:latin typeface="KaTeX_Math"/>
              </a:rPr>
              <a:t>N</a:t>
            </a:r>
            <a:r>
              <a:rPr lang="en-US" sz="3000" b="0" i="0" dirty="0">
                <a:solidFill>
                  <a:srgbClr val="FF0000"/>
                </a:solidFill>
                <a:effectLst/>
                <a:latin typeface="KaTeX_Main"/>
              </a:rPr>
              <a:t>)</a:t>
            </a:r>
          </a:p>
          <a:p>
            <a:pPr marL="0" indent="0">
              <a:buNone/>
            </a:pPr>
            <a:r>
              <a:rPr lang="en-US" sz="3000" dirty="0">
                <a:latin typeface="KaTeX_Main"/>
              </a:rPr>
              <a:t>For example, -7/2, should use (-7+1) &gt;&gt; 1 </a:t>
            </a:r>
            <a:endParaRPr lang="en-US" sz="3000" dirty="0"/>
          </a:p>
        </p:txBody>
      </p:sp>
      <p:sp>
        <p:nvSpPr>
          <p:cNvPr id="8" name="灯片编号占位符 7"/>
          <p:cNvSpPr>
            <a:spLocks noGrp="1"/>
          </p:cNvSpPr>
          <p:nvPr>
            <p:ph type="sldNum" sz="quarter" idx="10"/>
          </p:nvPr>
        </p:nvSpPr>
        <p:spPr/>
        <p:txBody>
          <a:bodyPr/>
          <a:lstStyle/>
          <a:p>
            <a:fld id="{D9B6BDF2-6896-4B98-8776-C18582F63BA5}" type="slidenum">
              <a:rPr lang="zh-TW" altLang="en-US" smtClean="0"/>
              <a:t>37</a:t>
            </a:fld>
            <a:endParaRPr lang="zh-TW" altLang="en-US"/>
          </a:p>
        </p:txBody>
      </p:sp>
      <p:sp>
        <p:nvSpPr>
          <p:cNvPr id="4" name="Arrow: Right 3">
            <a:extLst>
              <a:ext uri="{FF2B5EF4-FFF2-40B4-BE49-F238E27FC236}">
                <a16:creationId xmlns:a16="http://schemas.microsoft.com/office/drawing/2014/main" id="{AA2AE70D-B3C8-4CB8-873E-FD246E72957E}"/>
              </a:ext>
            </a:extLst>
          </p:cNvPr>
          <p:cNvSpPr/>
          <p:nvPr/>
        </p:nvSpPr>
        <p:spPr bwMode="auto">
          <a:xfrm>
            <a:off x="4075888" y="4114800"/>
            <a:ext cx="544749" cy="175099"/>
          </a:xfrm>
          <a:prstGeom prst="rightArrow">
            <a:avLst/>
          </a:prstGeom>
          <a:solidFill>
            <a:srgbClr val="FF00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TextBox 4">
            <a:extLst>
              <a:ext uri="{FF2B5EF4-FFF2-40B4-BE49-F238E27FC236}">
                <a16:creationId xmlns:a16="http://schemas.microsoft.com/office/drawing/2014/main" id="{5E010421-FA59-478B-B94F-885B2DA1F035}"/>
              </a:ext>
            </a:extLst>
          </p:cNvPr>
          <p:cNvSpPr txBox="1"/>
          <p:nvPr/>
        </p:nvSpPr>
        <p:spPr>
          <a:xfrm>
            <a:off x="7934325" y="5205493"/>
            <a:ext cx="1204176"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-9/4 ? </a:t>
            </a:r>
          </a:p>
        </p:txBody>
      </p:sp>
      <p:sp>
        <p:nvSpPr>
          <p:cNvPr id="7" name="TextBox 6">
            <a:extLst>
              <a:ext uri="{FF2B5EF4-FFF2-40B4-BE49-F238E27FC236}">
                <a16:creationId xmlns:a16="http://schemas.microsoft.com/office/drawing/2014/main" id="{E0803C33-94A1-45DA-9A2F-8CECEAF495C7}"/>
              </a:ext>
            </a:extLst>
          </p:cNvPr>
          <p:cNvSpPr txBox="1"/>
          <p:nvPr/>
        </p:nvSpPr>
        <p:spPr>
          <a:xfrm>
            <a:off x="9686925" y="5205493"/>
            <a:ext cx="1975221"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(-9+3)&gt;&gt; 2 </a:t>
            </a:r>
          </a:p>
        </p:txBody>
      </p:sp>
      <p:sp>
        <p:nvSpPr>
          <p:cNvPr id="9" name="TextBox 8">
            <a:extLst>
              <a:ext uri="{FF2B5EF4-FFF2-40B4-BE49-F238E27FC236}">
                <a16:creationId xmlns:a16="http://schemas.microsoft.com/office/drawing/2014/main" id="{2972487B-E550-4DE3-99ED-8968737DA537}"/>
              </a:ext>
            </a:extLst>
          </p:cNvPr>
          <p:cNvSpPr txBox="1"/>
          <p:nvPr/>
        </p:nvSpPr>
        <p:spPr>
          <a:xfrm>
            <a:off x="9820275" y="5681711"/>
            <a:ext cx="982961"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Is -2 </a:t>
            </a:r>
          </a:p>
        </p:txBody>
      </p:sp>
    </p:spTree>
    <p:extLst>
      <p:ext uri="{BB962C8B-B14F-4D97-AF65-F5344CB8AC3E}">
        <p14:creationId xmlns:p14="http://schemas.microsoft.com/office/powerpoint/2010/main" val="272944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23852</TotalTime>
  <Words>4211</Words>
  <Application>Microsoft Office PowerPoint</Application>
  <PresentationFormat>Widescreen</PresentationFormat>
  <Paragraphs>615</Paragraphs>
  <Slides>37</Slides>
  <Notes>30</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37</vt:i4>
      </vt:variant>
    </vt:vector>
  </HeadingPairs>
  <TitlesOfParts>
    <vt:vector size="52" baseType="lpstr">
      <vt:lpstr>Arial Unicode MS</vt:lpstr>
      <vt:lpstr>KaTeX_Main</vt:lpstr>
      <vt:lpstr>KaTeX_Math</vt:lpstr>
      <vt:lpstr>MS Sans Serif</vt:lpstr>
      <vt:lpstr>华文楷体</vt:lpstr>
      <vt:lpstr>Arial</vt:lpstr>
      <vt:lpstr>Calibri</vt:lpstr>
      <vt:lpstr>Calibri Light</vt:lpstr>
      <vt:lpstr>Cambria Math</vt:lpstr>
      <vt:lpstr>Century Gothic</vt:lpstr>
      <vt:lpstr>Courier New</vt:lpstr>
      <vt:lpstr>Times New Roman</vt:lpstr>
      <vt:lpstr>Wingdings</vt:lpstr>
      <vt:lpstr>NTHU UniCloud</vt:lpstr>
      <vt:lpstr>自訂設計</vt:lpstr>
      <vt:lpstr>CSC3050 – Computer Architecture ALU Operations</vt:lpstr>
      <vt:lpstr>Arithmetic for Computers</vt:lpstr>
      <vt:lpstr>Addition and Subtraction</vt:lpstr>
      <vt:lpstr>Addition and Subtraction</vt:lpstr>
      <vt:lpstr>Overflow Detections</vt:lpstr>
      <vt:lpstr>Overflow Detections</vt:lpstr>
      <vt:lpstr>Dealing with Overflow</vt:lpstr>
      <vt:lpstr>Why not HW traps on Overflow</vt:lpstr>
      <vt:lpstr>Overflow Handling in RISC-V</vt:lpstr>
      <vt:lpstr>Overflow Handling in RISC-V</vt:lpstr>
      <vt:lpstr>Instruction Execution Orders</vt:lpstr>
      <vt:lpstr>Precise Exception</vt:lpstr>
      <vt:lpstr>RV Arithmetic and Logic Unit (ALU)</vt:lpstr>
      <vt:lpstr>A 1-bit ALU – And, Or, and Add Operations</vt:lpstr>
      <vt:lpstr>A 4-bit ALU – And, Or, and Add Operations</vt:lpstr>
      <vt:lpstr>Subtraction Operation</vt:lpstr>
      <vt:lpstr>(Simplified) 1-bit RV ALU </vt:lpstr>
      <vt:lpstr>(Simplified) 32-bit ALU</vt:lpstr>
      <vt:lpstr>Multiplication</vt:lpstr>
      <vt:lpstr>Multiplication Hardware (1st Version)</vt:lpstr>
      <vt:lpstr>Multiplication Hardware (2nd Version)</vt:lpstr>
      <vt:lpstr>Multiplication Hardware (2nd Version)</vt:lpstr>
      <vt:lpstr>Signed Multiplication</vt:lpstr>
      <vt:lpstr>RISC-V Multiply Instructions</vt:lpstr>
      <vt:lpstr>Shift and Add to replace Multiply</vt:lpstr>
      <vt:lpstr>Faster Multiplication</vt:lpstr>
      <vt:lpstr>Divide: Paper &amp; Pencil</vt:lpstr>
      <vt:lpstr>Divide Hardware - Version 1 (1)</vt:lpstr>
      <vt:lpstr>PowerPoint Presentation</vt:lpstr>
      <vt:lpstr>Observations - Version 1</vt:lpstr>
      <vt:lpstr>Divide Hardware - Version 2 (1)</vt:lpstr>
      <vt:lpstr>Divide Hardware - Version 2 (2)</vt:lpstr>
      <vt:lpstr>RV Division Instruction</vt:lpstr>
      <vt:lpstr>Signed Division </vt:lpstr>
      <vt:lpstr>Observations: Multiply and Divide </vt:lpstr>
      <vt:lpstr>Multiply/Divide Hardware </vt:lpstr>
      <vt:lpstr>Multiply/Divide by Power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HSU Wei-Chung (SDS)</cp:lastModifiedBy>
  <cp:revision>288</cp:revision>
  <dcterms:created xsi:type="dcterms:W3CDTF">2020-07-15T11:13:39Z</dcterms:created>
  <dcterms:modified xsi:type="dcterms:W3CDTF">2025-03-03T07:05:45Z</dcterms:modified>
</cp:coreProperties>
</file>