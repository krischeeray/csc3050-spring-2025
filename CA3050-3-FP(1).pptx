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 id="2147483686" r:id="rId3"/>
  </p:sldMasterIdLst>
  <p:notesMasterIdLst>
    <p:notesMasterId r:id="rId49"/>
  </p:notesMasterIdLst>
  <p:handoutMasterIdLst>
    <p:handoutMasterId r:id="rId50"/>
  </p:handoutMasterIdLst>
  <p:sldIdLst>
    <p:sldId id="256" r:id="rId4"/>
    <p:sldId id="581" r:id="rId5"/>
    <p:sldId id="597" r:id="rId6"/>
    <p:sldId id="471" r:id="rId7"/>
    <p:sldId id="475" r:id="rId8"/>
    <p:sldId id="583" r:id="rId9"/>
    <p:sldId id="598" r:id="rId10"/>
    <p:sldId id="601" r:id="rId11"/>
    <p:sldId id="599" r:id="rId12"/>
    <p:sldId id="600" r:id="rId13"/>
    <p:sldId id="473" r:id="rId14"/>
    <p:sldId id="602" r:id="rId15"/>
    <p:sldId id="474" r:id="rId16"/>
    <p:sldId id="525" r:id="rId17"/>
    <p:sldId id="572" r:id="rId18"/>
    <p:sldId id="573" r:id="rId19"/>
    <p:sldId id="588" r:id="rId20"/>
    <p:sldId id="589" r:id="rId21"/>
    <p:sldId id="476" r:id="rId22"/>
    <p:sldId id="477" r:id="rId23"/>
    <p:sldId id="478" r:id="rId24"/>
    <p:sldId id="479" r:id="rId25"/>
    <p:sldId id="480" r:id="rId26"/>
    <p:sldId id="584" r:id="rId27"/>
    <p:sldId id="590" r:id="rId28"/>
    <p:sldId id="591" r:id="rId29"/>
    <p:sldId id="593" r:id="rId30"/>
    <p:sldId id="594" r:id="rId31"/>
    <p:sldId id="595" r:id="rId32"/>
    <p:sldId id="592" r:id="rId33"/>
    <p:sldId id="268" r:id="rId34"/>
    <p:sldId id="279" r:id="rId35"/>
    <p:sldId id="286" r:id="rId36"/>
    <p:sldId id="261" r:id="rId37"/>
    <p:sldId id="596" r:id="rId38"/>
    <p:sldId id="603" r:id="rId39"/>
    <p:sldId id="605" r:id="rId40"/>
    <p:sldId id="270" r:id="rId41"/>
    <p:sldId id="263" r:id="rId42"/>
    <p:sldId id="604" r:id="rId43"/>
    <p:sldId id="273" r:id="rId44"/>
    <p:sldId id="274" r:id="rId45"/>
    <p:sldId id="342" r:id="rId46"/>
    <p:sldId id="275" r:id="rId47"/>
    <p:sldId id="337" r:id="rId4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94660"/>
  </p:normalViewPr>
  <p:slideViewPr>
    <p:cSldViewPr snapToGrid="0">
      <p:cViewPr varScale="1">
        <p:scale>
          <a:sx n="72" d="100"/>
          <a:sy n="72" d="100"/>
        </p:scale>
        <p:origin x="90" y="552"/>
      </p:cViewPr>
      <p:guideLst/>
    </p:cSldViewPr>
  </p:slideViewPr>
  <p:notesTextViewPr>
    <p:cViewPr>
      <p:scale>
        <a:sx n="1" d="1"/>
        <a:sy n="1" d="1"/>
      </p:scale>
      <p:origin x="0" y="0"/>
    </p:cViewPr>
  </p:notesTextViewPr>
  <p:sorterViewPr>
    <p:cViewPr varScale="1">
      <p:scale>
        <a:sx n="100" d="100"/>
        <a:sy n="100" d="100"/>
      </p:scale>
      <p:origin x="0" y="-19146"/>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handoutMaster" Target="handoutMasters/handout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3/10/2025</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2025/3/10</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of bits (byte, word, double word) can encode char, numbers, color/audio, logic, instructions…..</a:t>
            </a:r>
          </a:p>
          <a:p>
            <a:r>
              <a:rPr lang="en-US" dirty="0"/>
              <a:t>This chapter will look at a more complex encoding: FP numbers.</a:t>
            </a:r>
          </a:p>
          <a:p>
            <a:r>
              <a:rPr lang="en-US" dirty="0"/>
              <a:t>How does HW do */div complex arithmetic?</a:t>
            </a:r>
          </a:p>
          <a:p>
            <a:r>
              <a:rPr lang="en-US" dirty="0"/>
              <a:t>How does HW handle overflows/underflows?</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a:t>
            </a:fld>
            <a:endParaRPr lang="zh-TW" altLang="en-US"/>
          </a:p>
        </p:txBody>
      </p:sp>
    </p:spTree>
    <p:extLst>
      <p:ext uri="{BB962C8B-B14F-4D97-AF65-F5344CB8AC3E}">
        <p14:creationId xmlns:p14="http://schemas.microsoft.com/office/powerpoint/2010/main" val="2485215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Real numbers as opposed to “imaginary numbers” </a:t>
            </a:r>
          </a:p>
          <a:p>
            <a:r>
              <a:rPr lang="zh-CN" altLang="en-US" dirty="0"/>
              <a:t>小数点左边只有一位非</a:t>
            </a:r>
            <a:r>
              <a:rPr lang="en-US" altLang="zh-CN" dirty="0"/>
              <a:t>0</a:t>
            </a:r>
            <a:r>
              <a:rPr lang="zh-CN" altLang="en-US" dirty="0"/>
              <a:t>数字的，叫做</a:t>
            </a:r>
            <a:r>
              <a:rPr lang="en-US" altLang="zh-CN" dirty="0"/>
              <a:t>normalized number.  2.0</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a:t>
            </a:r>
            <a:r>
              <a:rPr lang="en-US" altLang="zh-CN" dirty="0"/>
              <a:t>   = 0.002x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–4       </a:t>
            </a:r>
          </a:p>
          <a:p>
            <a:endPar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a:p>
            <a:r>
              <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Scientific notation allows the decimal point to float. The Exponent value determines the decimal point.</a:t>
            </a:r>
          </a:p>
        </p:txBody>
      </p:sp>
    </p:spTree>
    <p:extLst>
      <p:ext uri="{BB962C8B-B14F-4D97-AF65-F5344CB8AC3E}">
        <p14:creationId xmlns:p14="http://schemas.microsoft.com/office/powerpoint/2010/main" val="1241486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sz="4000" dirty="0"/>
          </a:p>
        </p:txBody>
      </p:sp>
    </p:spTree>
    <p:extLst>
      <p:ext uri="{BB962C8B-B14F-4D97-AF65-F5344CB8AC3E}">
        <p14:creationId xmlns:p14="http://schemas.microsoft.com/office/powerpoint/2010/main" val="2862718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t>IEEE 754 uses a bias of 127 for single precision,</a:t>
            </a:r>
            <a:r>
              <a:rPr lang="zh-CN" altLang="en-US"/>
              <a:t> </a:t>
            </a:r>
            <a:r>
              <a:rPr lang="en-US" altLang="zh-CN"/>
              <a:t>double precision</a:t>
            </a:r>
            <a:r>
              <a:rPr lang="zh-CN" altLang="en-US"/>
              <a:t>的</a:t>
            </a:r>
            <a:r>
              <a:rPr lang="en-US" altLang="zh-CN"/>
              <a:t>bias</a:t>
            </a:r>
            <a:r>
              <a:rPr lang="zh-CN" altLang="en-US"/>
              <a:t>是</a:t>
            </a:r>
            <a:r>
              <a:rPr lang="en-US" altLang="zh-CN"/>
              <a:t>1023</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t>IEEE 754 uses a bias of 127 for single precision,</a:t>
            </a:r>
            <a:r>
              <a:rPr lang="zh-CN" altLang="en-US"/>
              <a:t> </a:t>
            </a:r>
            <a:r>
              <a:rPr lang="en-US" altLang="zh-CN"/>
              <a:t>double precision</a:t>
            </a:r>
            <a:r>
              <a:rPr lang="zh-CN" altLang="en-US"/>
              <a:t>的</a:t>
            </a:r>
            <a:r>
              <a:rPr lang="en-US" altLang="zh-CN"/>
              <a:t>bias</a:t>
            </a:r>
            <a:r>
              <a:rPr lang="zh-CN" altLang="en-US"/>
              <a:t>是</a:t>
            </a:r>
            <a:r>
              <a:rPr lang="en-US" altLang="zh-CN"/>
              <a:t>1023</a:t>
            </a:r>
          </a:p>
        </p:txBody>
      </p:sp>
    </p:spTree>
    <p:extLst>
      <p:ext uri="{BB962C8B-B14F-4D97-AF65-F5344CB8AC3E}">
        <p14:creationId xmlns:p14="http://schemas.microsoft.com/office/powerpoint/2010/main" val="1497937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Real numbers as opposed to “imaginary numbers” </a:t>
            </a:r>
          </a:p>
          <a:p>
            <a:r>
              <a:rPr lang="zh-CN" altLang="en-US" dirty="0"/>
              <a:t>小数点左边只有一位非</a:t>
            </a:r>
            <a:r>
              <a:rPr lang="en-US" altLang="zh-CN" dirty="0"/>
              <a:t>0</a:t>
            </a:r>
            <a:r>
              <a:rPr lang="zh-CN" altLang="en-US" dirty="0"/>
              <a:t>数字的，叫做</a:t>
            </a:r>
            <a:r>
              <a:rPr lang="en-US" altLang="zh-CN" dirty="0"/>
              <a:t>normalized number.  2.0</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a:t>
            </a:r>
            <a:r>
              <a:rPr lang="en-US" altLang="zh-CN" dirty="0"/>
              <a:t>   = 0.002x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–4       </a:t>
            </a:r>
          </a:p>
          <a:p>
            <a:endPar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a:p>
            <a:r>
              <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Scientific notation allows the decimal point to float. The Exponent value determines the decimal point.</a:t>
            </a:r>
          </a:p>
        </p:txBody>
      </p:sp>
    </p:spTree>
    <p:extLst>
      <p:ext uri="{BB962C8B-B14F-4D97-AF65-F5344CB8AC3E}">
        <p14:creationId xmlns:p14="http://schemas.microsoft.com/office/powerpoint/2010/main" val="1058538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Real numbers as opposed to “imaginary numbers” </a:t>
            </a:r>
          </a:p>
          <a:p>
            <a:r>
              <a:rPr lang="zh-CN" altLang="en-US" dirty="0"/>
              <a:t>小数点左边只有一位非</a:t>
            </a:r>
            <a:r>
              <a:rPr lang="en-US" altLang="zh-CN" dirty="0"/>
              <a:t>0</a:t>
            </a:r>
            <a:r>
              <a:rPr lang="zh-CN" altLang="en-US" dirty="0"/>
              <a:t>数字的，叫做</a:t>
            </a:r>
            <a:r>
              <a:rPr lang="en-US" altLang="zh-CN" dirty="0"/>
              <a:t>normalized number.  2.0</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a:t>
            </a:r>
            <a:r>
              <a:rPr lang="en-US" altLang="zh-CN" dirty="0"/>
              <a:t>   = 0.002x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–4       </a:t>
            </a:r>
          </a:p>
          <a:p>
            <a:endPar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a:p>
            <a:r>
              <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Scientific notation allows the decimal point to float. The Exponent value determines the decimal point.</a:t>
            </a:r>
          </a:p>
        </p:txBody>
      </p:sp>
    </p:spTree>
    <p:extLst>
      <p:ext uri="{BB962C8B-B14F-4D97-AF65-F5344CB8AC3E}">
        <p14:creationId xmlns:p14="http://schemas.microsoft.com/office/powerpoint/2010/main" val="194604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Real numbers as opposed to “imaginary numbers” </a:t>
            </a:r>
          </a:p>
          <a:p>
            <a:r>
              <a:rPr lang="zh-CN" altLang="en-US" dirty="0"/>
              <a:t>小数点左边只有一位非</a:t>
            </a:r>
            <a:r>
              <a:rPr lang="en-US" altLang="zh-CN" dirty="0"/>
              <a:t>0</a:t>
            </a:r>
            <a:r>
              <a:rPr lang="zh-CN" altLang="en-US" dirty="0"/>
              <a:t>数字的，叫做</a:t>
            </a:r>
            <a:r>
              <a:rPr lang="en-US" altLang="zh-CN" dirty="0"/>
              <a:t>normalized number.  2.0</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a:t>
            </a:r>
            <a:r>
              <a:rPr lang="en-US" altLang="zh-CN" dirty="0"/>
              <a:t>   = 0.002x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–4       </a:t>
            </a:r>
          </a:p>
          <a:p>
            <a:endPar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a:p>
            <a:r>
              <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Scientific notation allows the decimal point to float. The Exponent value determines the decimal point.</a:t>
            </a:r>
          </a:p>
        </p:txBody>
      </p:sp>
    </p:spTree>
    <p:extLst>
      <p:ext uri="{BB962C8B-B14F-4D97-AF65-F5344CB8AC3E}">
        <p14:creationId xmlns:p14="http://schemas.microsoft.com/office/powerpoint/2010/main" val="1204543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Real numbers as opposed to “imaginary numbers” </a:t>
            </a:r>
          </a:p>
          <a:p>
            <a:r>
              <a:rPr lang="zh-CN" altLang="en-US" dirty="0"/>
              <a:t>小数点左边只有一位非</a:t>
            </a:r>
            <a:r>
              <a:rPr lang="en-US" altLang="zh-CN" dirty="0"/>
              <a:t>0</a:t>
            </a:r>
            <a:r>
              <a:rPr lang="zh-CN" altLang="en-US" dirty="0"/>
              <a:t>数字的，叫做</a:t>
            </a:r>
            <a:r>
              <a:rPr lang="en-US" altLang="zh-CN" dirty="0"/>
              <a:t>normalized number.  2.0</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a:t>
            </a:r>
            <a:r>
              <a:rPr lang="en-US" altLang="zh-CN" dirty="0"/>
              <a:t>   = 0.002x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–4       </a:t>
            </a:r>
          </a:p>
          <a:p>
            <a:endPar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a:p>
            <a:r>
              <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Scientific notation allows the decimal point to float. The Exponent value determines the decimal point.</a:t>
            </a:r>
          </a:p>
        </p:txBody>
      </p:sp>
    </p:spTree>
    <p:extLst>
      <p:ext uri="{BB962C8B-B14F-4D97-AF65-F5344CB8AC3E}">
        <p14:creationId xmlns:p14="http://schemas.microsoft.com/office/powerpoint/2010/main" val="1034630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Binary: [0][100 0000 1][100 0000 0000 0000 0000 0000]</a:t>
            </a:r>
          </a:p>
          <a:p>
            <a:r>
              <a:rPr lang="en-US" sz="1200" b="0" i="0" u="none" strike="noStrike" kern="1200" baseline="0" dirty="0">
                <a:solidFill>
                  <a:schemeClr val="tx1"/>
                </a:solidFill>
                <a:latin typeface="+mn-lt"/>
                <a:ea typeface="+mn-ea"/>
                <a:cs typeface="+mn-cs"/>
              </a:rPr>
              <a:t>Sign: +</a:t>
            </a:r>
          </a:p>
          <a:p>
            <a:r>
              <a:rPr lang="en-US" sz="1200" b="0" i="0" u="none" strike="noStrike" kern="1200" baseline="0" dirty="0">
                <a:solidFill>
                  <a:schemeClr val="tx1"/>
                </a:solidFill>
                <a:latin typeface="+mn-lt"/>
                <a:ea typeface="+mn-ea"/>
                <a:cs typeface="+mn-cs"/>
              </a:rPr>
              <a:t>Exponent: 129 – 127 = +2</a:t>
            </a:r>
          </a:p>
          <a:p>
            <a:r>
              <a:rPr lang="fr-FR" sz="1200" b="0" i="0" u="none" strike="noStrike" kern="1200" baseline="0" dirty="0" err="1">
                <a:solidFill>
                  <a:schemeClr val="tx1"/>
                </a:solidFill>
                <a:latin typeface="+mn-lt"/>
                <a:ea typeface="+mn-ea"/>
                <a:cs typeface="+mn-cs"/>
              </a:rPr>
              <a:t>Mantissa</a:t>
            </a:r>
            <a:r>
              <a:rPr lang="fr-FR" sz="1200" b="0" i="0" u="none" strike="noStrike" kern="1200" baseline="0" dirty="0">
                <a:solidFill>
                  <a:schemeClr val="tx1"/>
                </a:solidFill>
                <a:latin typeface="+mn-lt"/>
                <a:ea typeface="+mn-ea"/>
                <a:cs typeface="+mn-cs"/>
              </a:rPr>
              <a:t>: 0b1.1</a:t>
            </a:r>
          </a:p>
          <a:p>
            <a:endParaRPr lang="fr-FR" sz="1200" b="0" i="0" u="none" strike="noStrike" kern="1200" baseline="0" dirty="0">
              <a:solidFill>
                <a:schemeClr val="tx1"/>
              </a:solidFill>
              <a:latin typeface="+mn-lt"/>
              <a:ea typeface="+mn-ea"/>
              <a:cs typeface="+mn-cs"/>
            </a:endParaRPr>
          </a:p>
          <a:p>
            <a:r>
              <a:rPr lang="fr-FR" sz="1200" b="0" i="0" u="none" strike="noStrike" kern="1200" baseline="0" dirty="0">
                <a:solidFill>
                  <a:schemeClr val="tx1"/>
                </a:solidFill>
                <a:latin typeface="+mn-lt"/>
                <a:ea typeface="+mn-ea"/>
                <a:cs typeface="+mn-cs"/>
              </a:rPr>
              <a:t>x = +0b1.1 x 2^(2) = +0b110 = +6</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Binary: [0][100 0000 1][100 0000 0000 0000 0000 0000]</a:t>
            </a:r>
          </a:p>
          <a:p>
            <a:r>
              <a:rPr lang="en-US" sz="1200" b="0" i="0" u="none" strike="noStrike" kern="1200" baseline="0" dirty="0">
                <a:solidFill>
                  <a:schemeClr val="tx1"/>
                </a:solidFill>
                <a:latin typeface="+mn-lt"/>
                <a:ea typeface="+mn-ea"/>
                <a:cs typeface="+mn-cs"/>
              </a:rPr>
              <a:t>Sign: +</a:t>
            </a:r>
          </a:p>
          <a:p>
            <a:r>
              <a:rPr lang="en-US" sz="1200" b="0" i="0" u="none" strike="noStrike" kern="1200" baseline="0" dirty="0">
                <a:solidFill>
                  <a:schemeClr val="tx1"/>
                </a:solidFill>
                <a:latin typeface="+mn-lt"/>
                <a:ea typeface="+mn-ea"/>
                <a:cs typeface="+mn-cs"/>
              </a:rPr>
              <a:t>Exponent: 129 – 127 = +2</a:t>
            </a:r>
          </a:p>
          <a:p>
            <a:r>
              <a:rPr lang="fr-FR" sz="1200" b="0" i="0" u="none" strike="noStrike" kern="1200" baseline="0" dirty="0" err="1">
                <a:solidFill>
                  <a:schemeClr val="tx1"/>
                </a:solidFill>
                <a:latin typeface="+mn-lt"/>
                <a:ea typeface="+mn-ea"/>
                <a:cs typeface="+mn-cs"/>
              </a:rPr>
              <a:t>Mantissa</a:t>
            </a:r>
            <a:r>
              <a:rPr lang="fr-FR" sz="1200" b="0" i="0" u="none" strike="noStrike" kern="1200" baseline="0" dirty="0">
                <a:solidFill>
                  <a:schemeClr val="tx1"/>
                </a:solidFill>
                <a:latin typeface="+mn-lt"/>
                <a:ea typeface="+mn-ea"/>
                <a:cs typeface="+mn-cs"/>
              </a:rPr>
              <a:t>: 0b1.1</a:t>
            </a:r>
          </a:p>
          <a:p>
            <a:endParaRPr lang="fr-FR" sz="1200" b="0" i="0" u="none" strike="noStrike" kern="1200" baseline="0" dirty="0">
              <a:solidFill>
                <a:schemeClr val="tx1"/>
              </a:solidFill>
              <a:latin typeface="+mn-lt"/>
              <a:ea typeface="+mn-ea"/>
              <a:cs typeface="+mn-cs"/>
            </a:endParaRPr>
          </a:p>
          <a:p>
            <a:r>
              <a:rPr lang="fr-FR" sz="1200" b="0" i="0" u="none" strike="noStrike" kern="1200" baseline="0" dirty="0">
                <a:solidFill>
                  <a:schemeClr val="tx1"/>
                </a:solidFill>
                <a:latin typeface="+mn-lt"/>
                <a:ea typeface="+mn-ea"/>
                <a:cs typeface="+mn-cs"/>
              </a:rPr>
              <a:t>x = +0b1.1 x 2^(2) = +0b110 = +6</a:t>
            </a:r>
          </a:p>
        </p:txBody>
      </p:sp>
    </p:spTree>
    <p:extLst>
      <p:ext uri="{BB962C8B-B14F-4D97-AF65-F5344CB8AC3E}">
        <p14:creationId xmlns:p14="http://schemas.microsoft.com/office/powerpoint/2010/main" val="2706858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0b0.1 = 0b1 x 2^(-1)</a:t>
            </a:r>
          </a:p>
          <a:p>
            <a:endParaRPr lang="en-US" dirty="0"/>
          </a:p>
          <a:p>
            <a:r>
              <a:rPr lang="en-US" dirty="0"/>
              <a:t>Exponent: (-1)+127 = 126 = 0b01111110</a:t>
            </a:r>
          </a:p>
          <a:p>
            <a:r>
              <a:rPr lang="en-US" dirty="0"/>
              <a:t>Sign = 1</a:t>
            </a:r>
          </a:p>
          <a:p>
            <a:r>
              <a:rPr lang="en-US" dirty="0"/>
              <a:t>Mantissa</a:t>
            </a:r>
            <a:r>
              <a:rPr lang="en-US" baseline="0" dirty="0"/>
              <a:t>: 0000 … 0000</a:t>
            </a:r>
          </a:p>
          <a:p>
            <a:endParaRPr lang="en-US" baseline="0" dirty="0"/>
          </a:p>
          <a:p>
            <a:r>
              <a:rPr lang="en-US" baseline="0" dirty="0"/>
              <a:t>Answer: </a:t>
            </a:r>
          </a:p>
          <a:p>
            <a:r>
              <a:rPr lang="en-US" sz="1200" b="0" i="0" u="none" strike="noStrike" kern="1200" baseline="0" dirty="0">
                <a:solidFill>
                  <a:schemeClr val="tx1"/>
                </a:solidFill>
                <a:latin typeface="+mn-lt"/>
                <a:ea typeface="+mn-ea"/>
                <a:cs typeface="+mn-cs"/>
              </a:rPr>
              <a:t>1 01111110 000 0000 0000 0000 0000 0000</a:t>
            </a: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0b0.1 = 0b1 x 2^(-1)</a:t>
            </a:r>
          </a:p>
          <a:p>
            <a:endParaRPr lang="en-US" dirty="0"/>
          </a:p>
          <a:p>
            <a:r>
              <a:rPr lang="en-US" dirty="0"/>
              <a:t>Exponent: (-1)+127 = 126 = 0b01111110</a:t>
            </a:r>
          </a:p>
          <a:p>
            <a:r>
              <a:rPr lang="en-US" dirty="0"/>
              <a:t>Sign = 1</a:t>
            </a:r>
          </a:p>
          <a:p>
            <a:r>
              <a:rPr lang="en-US" dirty="0"/>
              <a:t>Mantissa</a:t>
            </a:r>
            <a:r>
              <a:rPr lang="en-US" baseline="0" dirty="0"/>
              <a:t>: 0000 … 0000</a:t>
            </a:r>
          </a:p>
          <a:p>
            <a:endParaRPr lang="en-US" baseline="0" dirty="0"/>
          </a:p>
          <a:p>
            <a:r>
              <a:rPr lang="en-US" baseline="0" dirty="0"/>
              <a:t>Answer: </a:t>
            </a:r>
          </a:p>
          <a:p>
            <a:r>
              <a:rPr lang="en-US" sz="1200" b="0" i="0" u="none" strike="noStrike" kern="1200" baseline="0" dirty="0">
                <a:solidFill>
                  <a:schemeClr val="tx1"/>
                </a:solidFill>
                <a:latin typeface="+mn-lt"/>
                <a:ea typeface="+mn-ea"/>
                <a:cs typeface="+mn-cs"/>
              </a:rPr>
              <a:t>1 01111110 000 0000 0000 0000 0000 0000</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0b0.1 = 0b1 x 2^(-1)</a:t>
            </a:r>
          </a:p>
          <a:p>
            <a:endParaRPr lang="en-US" dirty="0"/>
          </a:p>
          <a:p>
            <a:r>
              <a:rPr lang="en-US" dirty="0"/>
              <a:t>Exponent: (-1)+127 = 126 = 0b01111110</a:t>
            </a:r>
          </a:p>
          <a:p>
            <a:r>
              <a:rPr lang="en-US" dirty="0"/>
              <a:t>Sign = 1</a:t>
            </a:r>
          </a:p>
          <a:p>
            <a:r>
              <a:rPr lang="en-US" dirty="0"/>
              <a:t>Mantissa</a:t>
            </a:r>
            <a:r>
              <a:rPr lang="en-US" baseline="0" dirty="0"/>
              <a:t>: 0000 … 0000</a:t>
            </a:r>
          </a:p>
          <a:p>
            <a:endParaRPr lang="en-US" baseline="0" dirty="0"/>
          </a:p>
          <a:p>
            <a:r>
              <a:rPr lang="en-US" baseline="0" dirty="0"/>
              <a:t>Answer: </a:t>
            </a:r>
          </a:p>
          <a:p>
            <a:r>
              <a:rPr lang="en-US" sz="1200" b="0" i="0" u="none" strike="noStrike" kern="1200" baseline="0" dirty="0">
                <a:solidFill>
                  <a:schemeClr val="tx1"/>
                </a:solidFill>
                <a:latin typeface="+mn-lt"/>
                <a:ea typeface="+mn-ea"/>
                <a:cs typeface="+mn-cs"/>
              </a:rPr>
              <a:t>1 01111110 000 0000 0000 0000 0000 0000</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cannot represent 1/3 exactly, we only get an approximation</a:t>
            </a:r>
          </a:p>
          <a:p>
            <a:endParaRPr lang="en-US" dirty="0"/>
          </a:p>
          <a:p>
            <a:r>
              <a:rPr lang="en-US" dirty="0"/>
              <a:t>Exponent: (-1)+127 = 126 = 0b01111110</a:t>
            </a:r>
          </a:p>
          <a:p>
            <a:r>
              <a:rPr lang="en-US" dirty="0"/>
              <a:t>Sign = 1</a:t>
            </a:r>
          </a:p>
          <a:p>
            <a:r>
              <a:rPr lang="en-US" dirty="0"/>
              <a:t>Mantissa</a:t>
            </a:r>
            <a:r>
              <a:rPr lang="en-US" baseline="0" dirty="0"/>
              <a:t>: 0000 … 0000</a:t>
            </a:r>
          </a:p>
          <a:p>
            <a:endParaRPr lang="en-US" baseline="0" dirty="0"/>
          </a:p>
          <a:p>
            <a:r>
              <a:rPr lang="en-US" baseline="0" dirty="0"/>
              <a:t>Answer: </a:t>
            </a:r>
          </a:p>
          <a:p>
            <a:r>
              <a:rPr lang="en-US" sz="1200" b="0" i="0" u="none" strike="noStrike" kern="1200" baseline="0" dirty="0">
                <a:solidFill>
                  <a:schemeClr val="tx1"/>
                </a:solidFill>
                <a:latin typeface="+mn-lt"/>
                <a:ea typeface="+mn-ea"/>
                <a:cs typeface="+mn-cs"/>
              </a:rPr>
              <a:t>1 01111110 000 0000 0000 0000 0000 0000</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0b0.1 = 0b1 x 2^(-1)</a:t>
            </a:r>
          </a:p>
          <a:p>
            <a:endParaRPr lang="en-US" dirty="0"/>
          </a:p>
          <a:p>
            <a:r>
              <a:rPr lang="en-US" dirty="0"/>
              <a:t>Exponent: (-1)+127 = 126 = 0b01111110</a:t>
            </a:r>
          </a:p>
          <a:p>
            <a:r>
              <a:rPr lang="en-US" dirty="0"/>
              <a:t>Sign = 1</a:t>
            </a:r>
          </a:p>
          <a:p>
            <a:r>
              <a:rPr lang="en-US" dirty="0"/>
              <a:t>Mantissa</a:t>
            </a:r>
            <a:r>
              <a:rPr lang="en-US" baseline="0" dirty="0"/>
              <a:t>: 0000 … 0000</a:t>
            </a:r>
          </a:p>
          <a:p>
            <a:endParaRPr lang="en-US" baseline="0" dirty="0"/>
          </a:p>
          <a:p>
            <a:r>
              <a:rPr lang="en-US" baseline="0" dirty="0"/>
              <a:t>Answer: </a:t>
            </a:r>
          </a:p>
          <a:p>
            <a:r>
              <a:rPr lang="en-US" sz="1200" b="0" i="0" u="none" strike="noStrike" kern="1200" baseline="0" dirty="0">
                <a:solidFill>
                  <a:schemeClr val="tx1"/>
                </a:solidFill>
                <a:latin typeface="+mn-lt"/>
                <a:ea typeface="+mn-ea"/>
                <a:cs typeface="+mn-cs"/>
              </a:rPr>
              <a:t>1 01111110 000 0000 0000 0000 0000 0000</a:t>
            </a:r>
            <a:endParaRPr lang="en-US" dirty="0"/>
          </a:p>
        </p:txBody>
      </p:sp>
    </p:spTree>
    <p:extLst>
      <p:ext uri="{BB962C8B-B14F-4D97-AF65-F5344CB8AC3E}">
        <p14:creationId xmlns:p14="http://schemas.microsoft.com/office/powerpoint/2010/main" val="2109730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 is neither a normalized nor a denormalized number</a:t>
            </a:r>
          </a:p>
          <a:p>
            <a:endParaRPr lang="en-US" dirty="0"/>
          </a:p>
          <a:p>
            <a:r>
              <a:rPr lang="en-US" dirty="0"/>
              <a:t>Exponent: (-1)+127 = 126 = 0b01111110</a:t>
            </a:r>
          </a:p>
          <a:p>
            <a:r>
              <a:rPr lang="en-US" dirty="0"/>
              <a:t>Sign = 1</a:t>
            </a:r>
          </a:p>
          <a:p>
            <a:r>
              <a:rPr lang="en-US" dirty="0"/>
              <a:t>Mantissa</a:t>
            </a:r>
            <a:r>
              <a:rPr lang="en-US" baseline="0" dirty="0"/>
              <a:t>: 0000 … 0000</a:t>
            </a:r>
          </a:p>
          <a:p>
            <a:endParaRPr lang="en-US" baseline="0" dirty="0"/>
          </a:p>
          <a:p>
            <a:r>
              <a:rPr lang="en-US" baseline="0" dirty="0"/>
              <a:t>Answer: </a:t>
            </a:r>
          </a:p>
          <a:p>
            <a:r>
              <a:rPr lang="en-US" sz="1200" b="0" i="0" u="none" strike="noStrike" kern="1200" baseline="0" dirty="0">
                <a:solidFill>
                  <a:schemeClr val="tx1"/>
                </a:solidFill>
                <a:latin typeface="+mn-lt"/>
                <a:ea typeface="+mn-ea"/>
                <a:cs typeface="+mn-cs"/>
              </a:rPr>
              <a:t>1 01111110 000 0000 0000 0000 0000 0000</a:t>
            </a:r>
            <a:endParaRPr lang="en-US" dirty="0"/>
          </a:p>
        </p:txBody>
      </p:sp>
    </p:spTree>
    <p:extLst>
      <p:ext uri="{BB962C8B-B14F-4D97-AF65-F5344CB8AC3E}">
        <p14:creationId xmlns:p14="http://schemas.microsoft.com/office/powerpoint/2010/main" val="41854257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reciprocal</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reciprocal</a:t>
            </a:r>
          </a:p>
        </p:txBody>
      </p:sp>
    </p:spTree>
    <p:extLst>
      <p:ext uri="{BB962C8B-B14F-4D97-AF65-F5344CB8AC3E}">
        <p14:creationId xmlns:p14="http://schemas.microsoft.com/office/powerpoint/2010/main" val="2879751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t>IEEE 754 uses a bias of 127 for single precision,</a:t>
            </a:r>
            <a:r>
              <a:rPr lang="zh-CN" altLang="en-US"/>
              <a:t> </a:t>
            </a:r>
            <a:r>
              <a:rPr lang="en-US" altLang="zh-CN"/>
              <a:t>double precision</a:t>
            </a:r>
            <a:r>
              <a:rPr lang="zh-CN" altLang="en-US"/>
              <a:t>的</a:t>
            </a:r>
            <a:r>
              <a:rPr lang="en-US" altLang="zh-CN"/>
              <a:t>bias</a:t>
            </a:r>
            <a:r>
              <a:rPr lang="zh-CN" altLang="en-US"/>
              <a:t>是</a:t>
            </a:r>
            <a:r>
              <a:rPr lang="en-US" altLang="zh-CN"/>
              <a:t>1023</a:t>
            </a:r>
          </a:p>
        </p:txBody>
      </p:sp>
    </p:spTree>
    <p:extLst>
      <p:ext uri="{BB962C8B-B14F-4D97-AF65-F5344CB8AC3E}">
        <p14:creationId xmlns:p14="http://schemas.microsoft.com/office/powerpoint/2010/main" val="37827801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reciprocal</a:t>
            </a:r>
          </a:p>
        </p:txBody>
      </p:sp>
    </p:spTree>
    <p:extLst>
      <p:ext uri="{BB962C8B-B14F-4D97-AF65-F5344CB8AC3E}">
        <p14:creationId xmlns:p14="http://schemas.microsoft.com/office/powerpoint/2010/main" val="17197792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reciprocal</a:t>
            </a:r>
          </a:p>
        </p:txBody>
      </p:sp>
    </p:spTree>
    <p:extLst>
      <p:ext uri="{BB962C8B-B14F-4D97-AF65-F5344CB8AC3E}">
        <p14:creationId xmlns:p14="http://schemas.microsoft.com/office/powerpoint/2010/main" val="32338595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reciprocal</a:t>
            </a:r>
          </a:p>
        </p:txBody>
      </p:sp>
    </p:spTree>
    <p:extLst>
      <p:ext uri="{BB962C8B-B14F-4D97-AF65-F5344CB8AC3E}">
        <p14:creationId xmlns:p14="http://schemas.microsoft.com/office/powerpoint/2010/main" val="1725545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reciprocal</a:t>
            </a:r>
          </a:p>
        </p:txBody>
      </p:sp>
    </p:spTree>
    <p:extLst>
      <p:ext uri="{BB962C8B-B14F-4D97-AF65-F5344CB8AC3E}">
        <p14:creationId xmlns:p14="http://schemas.microsoft.com/office/powerpoint/2010/main" val="32103922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reciprocal</a:t>
            </a:r>
          </a:p>
        </p:txBody>
      </p:sp>
    </p:spTree>
    <p:extLst>
      <p:ext uri="{BB962C8B-B14F-4D97-AF65-F5344CB8AC3E}">
        <p14:creationId xmlns:p14="http://schemas.microsoft.com/office/powerpoint/2010/main" val="27316005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31</a:t>
            </a:fld>
            <a:endParaRPr lang="zh-TW" altLang="en-US"/>
          </a:p>
        </p:txBody>
      </p:sp>
    </p:spTree>
    <p:extLst>
      <p:ext uri="{BB962C8B-B14F-4D97-AF65-F5344CB8AC3E}">
        <p14:creationId xmlns:p14="http://schemas.microsoft.com/office/powerpoint/2010/main" val="7426512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32</a:t>
            </a:fld>
            <a:endParaRPr lang="zh-TW" altLang="en-US"/>
          </a:p>
        </p:txBody>
      </p:sp>
    </p:spTree>
    <p:extLst>
      <p:ext uri="{BB962C8B-B14F-4D97-AF65-F5344CB8AC3E}">
        <p14:creationId xmlns:p14="http://schemas.microsoft.com/office/powerpoint/2010/main" val="41796250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33</a:t>
            </a:fld>
            <a:endParaRPr lang="zh-TW" altLang="en-US"/>
          </a:p>
        </p:txBody>
      </p:sp>
    </p:spTree>
    <p:extLst>
      <p:ext uri="{BB962C8B-B14F-4D97-AF65-F5344CB8AC3E}">
        <p14:creationId xmlns:p14="http://schemas.microsoft.com/office/powerpoint/2010/main" val="11973691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34</a:t>
            </a:fld>
            <a:endParaRPr lang="zh-TW" altLang="en-US"/>
          </a:p>
        </p:txBody>
      </p:sp>
    </p:spTree>
    <p:extLst>
      <p:ext uri="{BB962C8B-B14F-4D97-AF65-F5344CB8AC3E}">
        <p14:creationId xmlns:p14="http://schemas.microsoft.com/office/powerpoint/2010/main" val="39387480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reciprocal</a:t>
            </a:r>
          </a:p>
        </p:txBody>
      </p:sp>
    </p:spTree>
    <p:extLst>
      <p:ext uri="{BB962C8B-B14F-4D97-AF65-F5344CB8AC3E}">
        <p14:creationId xmlns:p14="http://schemas.microsoft.com/office/powerpoint/2010/main" val="743426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reciprocal</a:t>
            </a:r>
          </a:p>
        </p:txBody>
      </p:sp>
    </p:spTree>
    <p:extLst>
      <p:ext uri="{BB962C8B-B14F-4D97-AF65-F5344CB8AC3E}">
        <p14:creationId xmlns:p14="http://schemas.microsoft.com/office/powerpoint/2010/main" val="13076101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37</a:t>
            </a:fld>
            <a:endParaRPr lang="zh-TW" altLang="en-US"/>
          </a:p>
        </p:txBody>
      </p:sp>
    </p:spTree>
    <p:extLst>
      <p:ext uri="{BB962C8B-B14F-4D97-AF65-F5344CB8AC3E}">
        <p14:creationId xmlns:p14="http://schemas.microsoft.com/office/powerpoint/2010/main" val="18838399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39</a:t>
            </a:fld>
            <a:endParaRPr lang="zh-TW" altLang="en-US"/>
          </a:p>
        </p:txBody>
      </p:sp>
    </p:spTree>
    <p:extLst>
      <p:ext uri="{BB962C8B-B14F-4D97-AF65-F5344CB8AC3E}">
        <p14:creationId xmlns:p14="http://schemas.microsoft.com/office/powerpoint/2010/main" val="23602191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reciprocal</a:t>
            </a:r>
          </a:p>
        </p:txBody>
      </p:sp>
    </p:spTree>
    <p:extLst>
      <p:ext uri="{BB962C8B-B14F-4D97-AF65-F5344CB8AC3E}">
        <p14:creationId xmlns:p14="http://schemas.microsoft.com/office/powerpoint/2010/main" val="23000812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A07D206C-B901-428D-8AF6-CF275B553F7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r>
              <a:rPr kumimoji="0" lang="en-US" altLang="en-US" sz="1300">
                <a:solidFill>
                  <a:schemeClr val="tx1"/>
                </a:solidFill>
                <a:latin typeface="Arial" panose="020B0604020202020204" pitchFamily="34" charset="0"/>
              </a:rPr>
              <a:t>The University of Adelaide, School of Computer Science</a:t>
            </a:r>
          </a:p>
        </p:txBody>
      </p:sp>
      <p:sp>
        <p:nvSpPr>
          <p:cNvPr id="36866" name="Rectangle 3">
            <a:extLst>
              <a:ext uri="{FF2B5EF4-FFF2-40B4-BE49-F238E27FC236}">
                <a16:creationId xmlns:a16="http://schemas.microsoft.com/office/drawing/2014/main" id="{3B6B9F14-F8A7-4B2F-B434-E546FECADB0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CCC79AA0-B515-4C00-B6C9-33744156120C}" type="datetime3">
              <a:rPr kumimoji="0" lang="en-US" altLang="en-US" sz="1300">
                <a:solidFill>
                  <a:schemeClr val="tx1"/>
                </a:solidFill>
                <a:latin typeface="Arial" panose="020B0604020202020204" pitchFamily="34" charset="0"/>
              </a:rPr>
              <a:pPr/>
              <a:t>10 March 2025</a:t>
            </a:fld>
            <a:endParaRPr kumimoji="0" lang="en-US" altLang="en-US" sz="1300">
              <a:solidFill>
                <a:schemeClr val="tx1"/>
              </a:solidFill>
              <a:latin typeface="Arial" panose="020B0604020202020204" pitchFamily="34" charset="0"/>
            </a:endParaRPr>
          </a:p>
        </p:txBody>
      </p:sp>
      <p:sp>
        <p:nvSpPr>
          <p:cNvPr id="36867" name="Rectangle 6">
            <a:extLst>
              <a:ext uri="{FF2B5EF4-FFF2-40B4-BE49-F238E27FC236}">
                <a16:creationId xmlns:a16="http://schemas.microsoft.com/office/drawing/2014/main" id="{684BF6E4-6C8B-4B4E-B028-22930C9D0C4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r>
              <a:rPr kumimoji="0" lang="en-US" altLang="en-US" sz="1300">
                <a:solidFill>
                  <a:schemeClr val="tx1"/>
                </a:solidFill>
                <a:latin typeface="Arial" panose="020B0604020202020204" pitchFamily="34" charset="0"/>
              </a:rPr>
              <a:t>Chapter 2 — Instructions: Language of the Computer</a:t>
            </a:r>
          </a:p>
        </p:txBody>
      </p:sp>
      <p:sp>
        <p:nvSpPr>
          <p:cNvPr id="36868" name="Rectangle 7">
            <a:extLst>
              <a:ext uri="{FF2B5EF4-FFF2-40B4-BE49-F238E27FC236}">
                <a16:creationId xmlns:a16="http://schemas.microsoft.com/office/drawing/2014/main" id="{9A20C6C5-08B1-45F1-9233-1FCB1E5449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341EF0CC-A3C5-481E-922C-6299CDD27BF4}" type="slidenum">
              <a:rPr kumimoji="0" lang="en-US" altLang="en-US" sz="1300">
                <a:solidFill>
                  <a:schemeClr val="tx1"/>
                </a:solidFill>
                <a:latin typeface="Arial" panose="020B0604020202020204" pitchFamily="34" charset="0"/>
              </a:rPr>
              <a:pPr/>
              <a:t>41</a:t>
            </a:fld>
            <a:endParaRPr kumimoji="0" lang="en-US" altLang="en-US" sz="1300">
              <a:solidFill>
                <a:schemeClr val="tx1"/>
              </a:solidFill>
              <a:latin typeface="Arial" panose="020B0604020202020204" pitchFamily="34" charset="0"/>
            </a:endParaRPr>
          </a:p>
        </p:txBody>
      </p:sp>
      <p:sp>
        <p:nvSpPr>
          <p:cNvPr id="36869" name="Rectangle 2">
            <a:extLst>
              <a:ext uri="{FF2B5EF4-FFF2-40B4-BE49-F238E27FC236}">
                <a16:creationId xmlns:a16="http://schemas.microsoft.com/office/drawing/2014/main" id="{0A2B153F-9D94-4476-A7E5-512CEBD1BF76}"/>
              </a:ext>
            </a:extLst>
          </p:cNvPr>
          <p:cNvSpPr>
            <a:spLocks noGrp="1" noRot="1" noChangeAspect="1" noChangeArrowheads="1" noTextEdit="1"/>
          </p:cNvSpPr>
          <p:nvPr>
            <p:ph type="sldImg"/>
          </p:nvPr>
        </p:nvSpPr>
        <p:spPr>
          <a:ln/>
        </p:spPr>
      </p:sp>
      <p:sp>
        <p:nvSpPr>
          <p:cNvPr id="36870" name="Rectangle 3">
            <a:extLst>
              <a:ext uri="{FF2B5EF4-FFF2-40B4-BE49-F238E27FC236}">
                <a16:creationId xmlns:a16="http://schemas.microsoft.com/office/drawing/2014/main" id="{72A5B991-62F4-40E5-BCEA-E9E77D4254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DECB18EC-6B4F-4C58-8605-73B65B3DF0E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r>
              <a:rPr kumimoji="0" lang="en-US" altLang="en-US" sz="1300">
                <a:solidFill>
                  <a:schemeClr val="tx1"/>
                </a:solidFill>
                <a:latin typeface="Arial" panose="020B0604020202020204" pitchFamily="34" charset="0"/>
              </a:rPr>
              <a:t>The University of Adelaide, School of Computer Science</a:t>
            </a:r>
          </a:p>
        </p:txBody>
      </p:sp>
      <p:sp>
        <p:nvSpPr>
          <p:cNvPr id="38914" name="Rectangle 3">
            <a:extLst>
              <a:ext uri="{FF2B5EF4-FFF2-40B4-BE49-F238E27FC236}">
                <a16:creationId xmlns:a16="http://schemas.microsoft.com/office/drawing/2014/main" id="{C1AA938D-2275-424C-9DEB-CD9D077CC26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8E0E66A9-8FA0-4B6F-A07F-106405C5D400}" type="datetime3">
              <a:rPr kumimoji="0" lang="en-US" altLang="en-US" sz="1300">
                <a:solidFill>
                  <a:schemeClr val="tx1"/>
                </a:solidFill>
                <a:latin typeface="Arial" panose="020B0604020202020204" pitchFamily="34" charset="0"/>
              </a:rPr>
              <a:pPr/>
              <a:t>10 March 2025</a:t>
            </a:fld>
            <a:endParaRPr kumimoji="0" lang="en-US" altLang="en-US" sz="1300">
              <a:solidFill>
                <a:schemeClr val="tx1"/>
              </a:solidFill>
              <a:latin typeface="Arial" panose="020B0604020202020204" pitchFamily="34" charset="0"/>
            </a:endParaRPr>
          </a:p>
        </p:txBody>
      </p:sp>
      <p:sp>
        <p:nvSpPr>
          <p:cNvPr id="38915" name="Rectangle 6">
            <a:extLst>
              <a:ext uri="{FF2B5EF4-FFF2-40B4-BE49-F238E27FC236}">
                <a16:creationId xmlns:a16="http://schemas.microsoft.com/office/drawing/2014/main" id="{5C17FC20-72AD-4595-B4CA-1DF280D7920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r>
              <a:rPr kumimoji="0" lang="en-US" altLang="en-US" sz="1300">
                <a:solidFill>
                  <a:schemeClr val="tx1"/>
                </a:solidFill>
                <a:latin typeface="Arial" panose="020B0604020202020204" pitchFamily="34" charset="0"/>
              </a:rPr>
              <a:t>Chapter 2 — Instructions: Language of the Computer</a:t>
            </a:r>
          </a:p>
        </p:txBody>
      </p:sp>
      <p:sp>
        <p:nvSpPr>
          <p:cNvPr id="38916" name="Rectangle 7">
            <a:extLst>
              <a:ext uri="{FF2B5EF4-FFF2-40B4-BE49-F238E27FC236}">
                <a16:creationId xmlns:a16="http://schemas.microsoft.com/office/drawing/2014/main" id="{06501FEC-FE04-4260-ADE4-8A01327BE4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20894A7A-CFEF-4F4A-99C1-E4D8C9A592A5}" type="slidenum">
              <a:rPr kumimoji="0" lang="en-US" altLang="en-US" sz="1300">
                <a:solidFill>
                  <a:schemeClr val="tx1"/>
                </a:solidFill>
                <a:latin typeface="Arial" panose="020B0604020202020204" pitchFamily="34" charset="0"/>
              </a:rPr>
              <a:pPr/>
              <a:t>42</a:t>
            </a:fld>
            <a:endParaRPr kumimoji="0" lang="en-US" altLang="en-US" sz="1300">
              <a:solidFill>
                <a:schemeClr val="tx1"/>
              </a:solidFill>
              <a:latin typeface="Arial" panose="020B0604020202020204" pitchFamily="34" charset="0"/>
            </a:endParaRPr>
          </a:p>
        </p:txBody>
      </p:sp>
      <p:sp>
        <p:nvSpPr>
          <p:cNvPr id="38917" name="Rectangle 2">
            <a:extLst>
              <a:ext uri="{FF2B5EF4-FFF2-40B4-BE49-F238E27FC236}">
                <a16:creationId xmlns:a16="http://schemas.microsoft.com/office/drawing/2014/main" id="{D70039D7-7301-4082-8B5C-D91DBA256DA6}"/>
              </a:ext>
            </a:extLst>
          </p:cNvPr>
          <p:cNvSpPr>
            <a:spLocks noGrp="1" noRot="1" noChangeAspect="1" noChangeArrowheads="1" noTextEdit="1"/>
          </p:cNvSpPr>
          <p:nvPr>
            <p:ph type="sldImg"/>
          </p:nvPr>
        </p:nvSpPr>
        <p:spPr>
          <a:ln/>
        </p:spPr>
      </p:sp>
      <p:sp>
        <p:nvSpPr>
          <p:cNvPr id="38918" name="Rectangle 3">
            <a:extLst>
              <a:ext uri="{FF2B5EF4-FFF2-40B4-BE49-F238E27FC236}">
                <a16:creationId xmlns:a16="http://schemas.microsoft.com/office/drawing/2014/main" id="{9055EC1C-BBEB-4519-9F67-3503EAEF98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5101F31D-4F27-4A7E-8E4D-CD48851AAE3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r>
              <a:rPr kumimoji="0" lang="en-US" altLang="en-US" sz="1300">
                <a:solidFill>
                  <a:schemeClr val="tx1"/>
                </a:solidFill>
                <a:latin typeface="Arial" panose="020B0604020202020204" pitchFamily="34" charset="0"/>
              </a:rPr>
              <a:t>The University of Adelaide, School of Computer Science</a:t>
            </a:r>
          </a:p>
        </p:txBody>
      </p:sp>
      <p:sp>
        <p:nvSpPr>
          <p:cNvPr id="40962" name="Rectangle 3">
            <a:extLst>
              <a:ext uri="{FF2B5EF4-FFF2-40B4-BE49-F238E27FC236}">
                <a16:creationId xmlns:a16="http://schemas.microsoft.com/office/drawing/2014/main" id="{201CECF7-D045-4F5A-A402-8C6E9E03387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B1E08F2C-F21A-4FB9-B4A7-E4A2CBBF425F}" type="datetime3">
              <a:rPr kumimoji="0" lang="en-US" altLang="en-US" sz="1300">
                <a:solidFill>
                  <a:schemeClr val="tx1"/>
                </a:solidFill>
                <a:latin typeface="Arial" panose="020B0604020202020204" pitchFamily="34" charset="0"/>
              </a:rPr>
              <a:pPr/>
              <a:t>10 March 2025</a:t>
            </a:fld>
            <a:endParaRPr kumimoji="0" lang="en-US" altLang="en-US" sz="1300">
              <a:solidFill>
                <a:schemeClr val="tx1"/>
              </a:solidFill>
              <a:latin typeface="Arial" panose="020B0604020202020204" pitchFamily="34" charset="0"/>
            </a:endParaRPr>
          </a:p>
        </p:txBody>
      </p:sp>
      <p:sp>
        <p:nvSpPr>
          <p:cNvPr id="40963" name="Rectangle 6">
            <a:extLst>
              <a:ext uri="{FF2B5EF4-FFF2-40B4-BE49-F238E27FC236}">
                <a16:creationId xmlns:a16="http://schemas.microsoft.com/office/drawing/2014/main" id="{FD0FF8A8-730C-45AC-8328-D3A0B108616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r>
              <a:rPr kumimoji="0" lang="en-US" altLang="en-US" sz="1300">
                <a:solidFill>
                  <a:schemeClr val="tx1"/>
                </a:solidFill>
                <a:latin typeface="Arial" panose="020B0604020202020204" pitchFamily="34" charset="0"/>
              </a:rPr>
              <a:t>Chapter 2 — Instructions: Language of the Computer</a:t>
            </a:r>
          </a:p>
        </p:txBody>
      </p:sp>
      <p:sp>
        <p:nvSpPr>
          <p:cNvPr id="40964" name="Rectangle 7">
            <a:extLst>
              <a:ext uri="{FF2B5EF4-FFF2-40B4-BE49-F238E27FC236}">
                <a16:creationId xmlns:a16="http://schemas.microsoft.com/office/drawing/2014/main" id="{232A4CF1-4C2B-46EC-B7E0-0CA8FCEAF4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B75043D4-AF01-4976-A7F2-FD198DA67BB9}" type="slidenum">
              <a:rPr kumimoji="0" lang="en-US" altLang="en-US" sz="1300">
                <a:solidFill>
                  <a:schemeClr val="tx1"/>
                </a:solidFill>
                <a:latin typeface="Arial" panose="020B0604020202020204" pitchFamily="34" charset="0"/>
              </a:rPr>
              <a:pPr/>
              <a:t>44</a:t>
            </a:fld>
            <a:endParaRPr kumimoji="0" lang="en-US" altLang="en-US" sz="1300">
              <a:solidFill>
                <a:schemeClr val="tx1"/>
              </a:solidFill>
              <a:latin typeface="Arial" panose="020B0604020202020204" pitchFamily="34" charset="0"/>
            </a:endParaRPr>
          </a:p>
        </p:txBody>
      </p:sp>
      <p:sp>
        <p:nvSpPr>
          <p:cNvPr id="40965" name="Rectangle 2">
            <a:extLst>
              <a:ext uri="{FF2B5EF4-FFF2-40B4-BE49-F238E27FC236}">
                <a16:creationId xmlns:a16="http://schemas.microsoft.com/office/drawing/2014/main" id="{34FD3180-DD86-4B61-8A57-38CD790E6FBA}"/>
              </a:ext>
            </a:extLst>
          </p:cNvPr>
          <p:cNvSpPr>
            <a:spLocks noGrp="1" noRot="1" noChangeAspect="1" noChangeArrowheads="1" noTextEdit="1"/>
          </p:cNvSpPr>
          <p:nvPr>
            <p:ph type="sldImg"/>
          </p:nvPr>
        </p:nvSpPr>
        <p:spPr>
          <a:ln/>
        </p:spPr>
      </p:sp>
      <p:sp>
        <p:nvSpPr>
          <p:cNvPr id="40966" name="Rectangle 3">
            <a:extLst>
              <a:ext uri="{FF2B5EF4-FFF2-40B4-BE49-F238E27FC236}">
                <a16:creationId xmlns:a16="http://schemas.microsoft.com/office/drawing/2014/main" id="{2EFF6C41-AE96-45C5-9CD0-19FEBFD3BA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A6C617F1-2318-496D-A080-4BE4F11E50A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r>
              <a:rPr kumimoji="0" lang="en-US" altLang="en-US" sz="1300">
                <a:solidFill>
                  <a:schemeClr val="tx1"/>
                </a:solidFill>
                <a:latin typeface="Arial" panose="020B0604020202020204" pitchFamily="34" charset="0"/>
              </a:rPr>
              <a:t>The University of Adelaide, School of Computer Science</a:t>
            </a:r>
          </a:p>
        </p:txBody>
      </p:sp>
      <p:sp>
        <p:nvSpPr>
          <p:cNvPr id="43010" name="Rectangle 3">
            <a:extLst>
              <a:ext uri="{FF2B5EF4-FFF2-40B4-BE49-F238E27FC236}">
                <a16:creationId xmlns:a16="http://schemas.microsoft.com/office/drawing/2014/main" id="{5FB7D209-1C1E-46C8-9DF0-1A7002000AB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BA1BF95E-EDEA-4D26-B333-8D0A776ECE01}" type="datetime3">
              <a:rPr kumimoji="0" lang="en-US" altLang="en-US" sz="1300">
                <a:solidFill>
                  <a:schemeClr val="tx1"/>
                </a:solidFill>
                <a:latin typeface="Arial" panose="020B0604020202020204" pitchFamily="34" charset="0"/>
              </a:rPr>
              <a:pPr/>
              <a:t>10 March 2025</a:t>
            </a:fld>
            <a:endParaRPr kumimoji="0" lang="en-US" altLang="en-US" sz="1300">
              <a:solidFill>
                <a:schemeClr val="tx1"/>
              </a:solidFill>
              <a:latin typeface="Arial" panose="020B0604020202020204" pitchFamily="34" charset="0"/>
            </a:endParaRPr>
          </a:p>
        </p:txBody>
      </p:sp>
      <p:sp>
        <p:nvSpPr>
          <p:cNvPr id="43011" name="Rectangle 6">
            <a:extLst>
              <a:ext uri="{FF2B5EF4-FFF2-40B4-BE49-F238E27FC236}">
                <a16:creationId xmlns:a16="http://schemas.microsoft.com/office/drawing/2014/main" id="{A661AB6C-2F0D-43D4-9A24-E14CBEC63FC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r>
              <a:rPr kumimoji="0" lang="en-US" altLang="en-US" sz="1300">
                <a:solidFill>
                  <a:schemeClr val="tx1"/>
                </a:solidFill>
                <a:latin typeface="Arial" panose="020B0604020202020204" pitchFamily="34" charset="0"/>
              </a:rPr>
              <a:t>Chapter 2 — Instructions: Language of the Computer</a:t>
            </a:r>
          </a:p>
        </p:txBody>
      </p:sp>
      <p:sp>
        <p:nvSpPr>
          <p:cNvPr id="43012" name="Rectangle 7">
            <a:extLst>
              <a:ext uri="{FF2B5EF4-FFF2-40B4-BE49-F238E27FC236}">
                <a16:creationId xmlns:a16="http://schemas.microsoft.com/office/drawing/2014/main" id="{EAA18AC3-9705-4227-94C0-24AEAD8B58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79D729CA-63F5-4D2D-A5F8-05FAD3B2CE23}" type="slidenum">
              <a:rPr kumimoji="0" lang="en-US" altLang="en-US" sz="1300">
                <a:solidFill>
                  <a:schemeClr val="tx1"/>
                </a:solidFill>
                <a:latin typeface="Arial" panose="020B0604020202020204" pitchFamily="34" charset="0"/>
              </a:rPr>
              <a:pPr/>
              <a:t>45</a:t>
            </a:fld>
            <a:endParaRPr kumimoji="0" lang="en-US" altLang="en-US" sz="1300">
              <a:solidFill>
                <a:schemeClr val="tx1"/>
              </a:solidFill>
              <a:latin typeface="Arial" panose="020B0604020202020204" pitchFamily="34" charset="0"/>
            </a:endParaRPr>
          </a:p>
        </p:txBody>
      </p:sp>
      <p:sp>
        <p:nvSpPr>
          <p:cNvPr id="43013" name="Rectangle 2">
            <a:extLst>
              <a:ext uri="{FF2B5EF4-FFF2-40B4-BE49-F238E27FC236}">
                <a16:creationId xmlns:a16="http://schemas.microsoft.com/office/drawing/2014/main" id="{2F446074-F369-4073-BE00-BF21D1691F1D}"/>
              </a:ext>
            </a:extLst>
          </p:cNvPr>
          <p:cNvSpPr>
            <a:spLocks noGrp="1" noRot="1" noChangeAspect="1" noChangeArrowheads="1" noTextEdit="1"/>
          </p:cNvSpPr>
          <p:nvPr>
            <p:ph type="sldImg"/>
          </p:nvPr>
        </p:nvSpPr>
        <p:spPr>
          <a:ln/>
        </p:spPr>
      </p:sp>
      <p:sp>
        <p:nvSpPr>
          <p:cNvPr id="43014" name="Rectangle 3">
            <a:extLst>
              <a:ext uri="{FF2B5EF4-FFF2-40B4-BE49-F238E27FC236}">
                <a16:creationId xmlns:a16="http://schemas.microsoft.com/office/drawing/2014/main" id="{C973CDD4-29B5-4C2C-801D-3486347729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latin typeface="Arial" panose="020B0604020202020204" pitchFamily="34" charset="0"/>
            </a:endParaRPr>
          </a:p>
        </p:txBody>
      </p:sp>
    </p:spTree>
    <p:extLst>
      <p:ext uri="{BB962C8B-B14F-4D97-AF65-F5344CB8AC3E}">
        <p14:creationId xmlns:p14="http://schemas.microsoft.com/office/powerpoint/2010/main" val="1965255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0680647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7597868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946922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1723100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9621783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2513122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638316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835805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8959437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1983024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96312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4125893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08210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image" Target="../media/image3.png"/><Relationship Id="rId2" Type="http://schemas.openxmlformats.org/officeDocument/2006/relationships/slideLayout" Target="../slideLayouts/slideLayout26.xml"/><Relationship Id="rId16" Type="http://schemas.openxmlformats.org/officeDocument/2006/relationships/image" Target="../media/image2.jp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414977" cy="569415"/>
            <a:chOff x="86980" y="6239920"/>
            <a:chExt cx="3414977"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672120"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4201752098"/>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818968" y="1021404"/>
            <a:ext cx="8160657" cy="2683883"/>
          </a:xfrm>
        </p:spPr>
        <p:txBody>
          <a:bodyPr/>
          <a:lstStyle/>
          <a:p>
            <a:pPr algn="ctr"/>
            <a:r>
              <a:rPr lang="en-US" altLang="zh-TW" sz="4000" dirty="0">
                <a:effectLst>
                  <a:outerShdw blurRad="38100" dist="38100" dir="2700000" algn="tl">
                    <a:srgbClr val="000000">
                      <a:alpha val="43137"/>
                    </a:srgbClr>
                  </a:outerShdw>
                </a:effectLst>
              </a:rPr>
              <a:t>CSC3050 – Computer Architecture</a:t>
            </a:r>
            <a:br>
              <a:rPr lang="en-US" altLang="zh-TW" sz="4000" dirty="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FP Numbers and Computation</a:t>
            </a:r>
            <a:endParaRPr lang="zh-TW" altLang="en-US" sz="40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1818968" y="3429000"/>
            <a:ext cx="7908692" cy="2339502"/>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7693601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Floating-Point Numbers</a:t>
            </a:r>
          </a:p>
        </p:txBody>
      </p:sp>
      <p:sp>
        <p:nvSpPr>
          <p:cNvPr id="3" name="Content Placeholder 2"/>
          <p:cNvSpPr>
            <a:spLocks noGrp="1"/>
          </p:cNvSpPr>
          <p:nvPr>
            <p:ph idx="1"/>
          </p:nvPr>
        </p:nvSpPr>
        <p:spPr>
          <a:xfrm>
            <a:off x="612844" y="1125537"/>
            <a:ext cx="10969556" cy="4895851"/>
          </a:xfrm>
        </p:spPr>
        <p:txBody>
          <a:bodyPr>
            <a:normAutofit fontScale="92500"/>
          </a:bodyPr>
          <a:lstStyle/>
          <a:p>
            <a:r>
              <a:rPr lang="en-US" dirty="0"/>
              <a:t>Representation for non-integral (real) numbers</a:t>
            </a:r>
          </a:p>
          <a:p>
            <a:pPr lvl="1">
              <a:buFont typeface="Wingdings" panose="05000000000000000000" pitchFamily="2" charset="2"/>
              <a:buChar char="§"/>
            </a:pPr>
            <a:r>
              <a:rPr lang="en-US" dirty="0"/>
              <a:t>Include very small and very large numbers</a:t>
            </a:r>
          </a:p>
          <a:p>
            <a:r>
              <a:rPr lang="en-US" dirty="0"/>
              <a:t>Like scientific notation </a:t>
            </a:r>
            <a:r>
              <a:rPr lang="en-US" sz="2600" dirty="0"/>
              <a:t>(i.e. single digit to the left of the decimal point)</a:t>
            </a:r>
          </a:p>
          <a:p>
            <a:pPr lvl="1">
              <a:buFont typeface="Wingdings" panose="05000000000000000000" pitchFamily="2" charset="2"/>
              <a:buChar char="§"/>
            </a:pPr>
            <a:r>
              <a:rPr lang="en-US" dirty="0"/>
              <a:t>–2.34 × 10</a:t>
            </a:r>
            <a:r>
              <a:rPr lang="en-US" baseline="30000" dirty="0"/>
              <a:t>56</a:t>
            </a:r>
          </a:p>
          <a:p>
            <a:pPr lvl="1">
              <a:buFont typeface="Wingdings" panose="05000000000000000000" pitchFamily="2" charset="2"/>
              <a:buChar char="§"/>
            </a:pPr>
            <a:r>
              <a:rPr lang="en-US" dirty="0"/>
              <a:t>+0.002 × 10</a:t>
            </a:r>
            <a:r>
              <a:rPr lang="en-US" baseline="30000" dirty="0"/>
              <a:t>–4</a:t>
            </a:r>
          </a:p>
          <a:p>
            <a:r>
              <a:rPr lang="en-US" dirty="0"/>
              <a:t>In binary, normalized numbers are represented as </a:t>
            </a:r>
          </a:p>
          <a:p>
            <a:pPr lvl="1"/>
            <a:r>
              <a:rPr lang="en-US" dirty="0"/>
              <a:t>±1.xxxxxxx</a:t>
            </a:r>
            <a:r>
              <a:rPr lang="en-US" baseline="-25000" dirty="0"/>
              <a:t>2</a:t>
            </a:r>
            <a:r>
              <a:rPr lang="en-US" dirty="0"/>
              <a:t> × 2</a:t>
            </a:r>
            <a:r>
              <a:rPr lang="en-US" baseline="30000" dirty="0"/>
              <a:t>yyyy</a:t>
            </a:r>
          </a:p>
          <a:p>
            <a:r>
              <a:rPr lang="en-US" dirty="0"/>
              <a:t>Types </a:t>
            </a:r>
            <a:r>
              <a:rPr lang="en-US" dirty="0">
                <a:latin typeface="Courier New" panose="02070309020205020404" pitchFamily="49" charset="0"/>
                <a:cs typeface="Courier New" panose="02070309020205020404" pitchFamily="49" charset="0"/>
              </a:rPr>
              <a:t>float</a:t>
            </a:r>
            <a:r>
              <a:rPr lang="en-US" dirty="0"/>
              <a:t> and </a:t>
            </a:r>
            <a:r>
              <a:rPr lang="en-US" dirty="0">
                <a:latin typeface="Courier New" panose="02070309020205020404" pitchFamily="49" charset="0"/>
                <a:cs typeface="Courier New" panose="02070309020205020404" pitchFamily="49" charset="0"/>
              </a:rPr>
              <a:t>double</a:t>
            </a:r>
            <a:r>
              <a:rPr lang="en-US" dirty="0"/>
              <a:t> in C</a:t>
            </a:r>
          </a:p>
        </p:txBody>
      </p:sp>
      <p:sp>
        <p:nvSpPr>
          <p:cNvPr id="6" name="TextBox 5"/>
          <p:cNvSpPr txBox="1"/>
          <p:nvPr/>
        </p:nvSpPr>
        <p:spPr>
          <a:xfrm>
            <a:off x="4669635" y="2984827"/>
            <a:ext cx="5190845" cy="461665"/>
          </a:xfrm>
          <a:prstGeom prst="rect">
            <a:avLst/>
          </a:prstGeom>
          <a:noFill/>
        </p:spPr>
        <p:txBody>
          <a:bodyPr wrap="none" rtlCol="0">
            <a:spAutoFit/>
          </a:bodyPr>
          <a:lstStyle/>
          <a:p>
            <a:r>
              <a:rPr lang="en-US" dirty="0"/>
              <a:t>(</a:t>
            </a:r>
            <a:r>
              <a:rPr lang="en-US" sz="2400" b="1" dirty="0">
                <a:solidFill>
                  <a:schemeClr val="accent1"/>
                </a:solidFill>
              </a:rPr>
              <a:t>normalized: has no leading zeros</a:t>
            </a:r>
            <a:r>
              <a:rPr lang="en-US" dirty="0"/>
              <a:t>)</a:t>
            </a:r>
          </a:p>
        </p:txBody>
      </p:sp>
      <p:sp>
        <p:nvSpPr>
          <p:cNvPr id="7" name="TextBox 6"/>
          <p:cNvSpPr txBox="1"/>
          <p:nvPr/>
        </p:nvSpPr>
        <p:spPr>
          <a:xfrm>
            <a:off x="4714359" y="3557418"/>
            <a:ext cx="6521337" cy="461665"/>
          </a:xfrm>
          <a:prstGeom prst="rect">
            <a:avLst/>
          </a:prstGeom>
          <a:noFill/>
        </p:spPr>
        <p:txBody>
          <a:bodyPr wrap="none" rtlCol="0">
            <a:spAutoFit/>
          </a:bodyPr>
          <a:lstStyle/>
          <a:p>
            <a:r>
              <a:rPr lang="en-US" dirty="0"/>
              <a:t>(</a:t>
            </a:r>
            <a:r>
              <a:rPr lang="en-US" sz="2400" b="1" dirty="0">
                <a:solidFill>
                  <a:schemeClr val="accent1"/>
                </a:solidFill>
              </a:rPr>
              <a:t>not normalized</a:t>
            </a:r>
            <a:r>
              <a:rPr lang="en-US" sz="2400" dirty="0"/>
              <a:t>) </a:t>
            </a:r>
            <a:r>
              <a:rPr lang="en-US" sz="2400" dirty="0">
                <a:sym typeface="Wingdings" panose="05000000000000000000" pitchFamily="2" charset="2"/>
              </a:rPr>
              <a:t> normalized to </a:t>
            </a:r>
            <a:r>
              <a:rPr lang="en-US" sz="2400" dirty="0"/>
              <a:t>2.0 X </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24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 </a:t>
            </a:r>
            <a:r>
              <a:rPr lang="en-US" sz="2400" dirty="0"/>
              <a:t>  </a:t>
            </a:r>
          </a:p>
        </p:txBody>
      </p:sp>
      <p:sp>
        <p:nvSpPr>
          <p:cNvPr id="8" name="灯片编号占位符 7"/>
          <p:cNvSpPr>
            <a:spLocks noGrp="1"/>
          </p:cNvSpPr>
          <p:nvPr>
            <p:ph type="sldNum" sz="quarter" idx="10"/>
          </p:nvPr>
        </p:nvSpPr>
        <p:spPr/>
        <p:txBody>
          <a:bodyPr/>
          <a:lstStyle/>
          <a:p>
            <a:fld id="{D9B6BDF2-6896-4B98-8776-C18582F63BA5}" type="slidenum">
              <a:rPr lang="zh-TW" altLang="en-US" smtClean="0"/>
              <a:t>2</a:t>
            </a:fld>
            <a:endParaRPr lang="zh-TW" altLang="en-US"/>
          </a:p>
        </p:txBody>
      </p:sp>
      <p:sp>
        <p:nvSpPr>
          <p:cNvPr id="4" name="TextBox 3">
            <a:extLst>
              <a:ext uri="{FF2B5EF4-FFF2-40B4-BE49-F238E27FC236}">
                <a16:creationId xmlns:a16="http://schemas.microsoft.com/office/drawing/2014/main" id="{01D3D5D2-55C5-410F-B57E-A41821534CB2}"/>
              </a:ext>
            </a:extLst>
          </p:cNvPr>
          <p:cNvSpPr txBox="1"/>
          <p:nvPr/>
        </p:nvSpPr>
        <p:spPr>
          <a:xfrm>
            <a:off x="9391233" y="1292192"/>
            <a:ext cx="2800767" cy="1200329"/>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Why normalization?</a:t>
            </a:r>
          </a:p>
          <a:p>
            <a:pPr marL="342900" indent="-342900">
              <a:buAutoNum type="alphaLcParenR"/>
            </a:pPr>
            <a:r>
              <a:rPr lang="en-US" dirty="0">
                <a:ea typeface="標楷體" pitchFamily="65" charset="-120"/>
                <a:cs typeface="Calibri" pitchFamily="34" charset="0"/>
              </a:rPr>
              <a:t>Unique representation</a:t>
            </a:r>
          </a:p>
          <a:p>
            <a:pPr marL="342900" indent="-342900">
              <a:buAutoNum type="alphaLcParenR"/>
            </a:pPr>
            <a:r>
              <a:rPr lang="en-US" dirty="0">
                <a:ea typeface="標楷體" pitchFamily="65" charset="-120"/>
                <a:cs typeface="Calibri" pitchFamily="34" charset="0"/>
              </a:rPr>
              <a:t>Maximize precision</a:t>
            </a:r>
          </a:p>
          <a:p>
            <a:pPr marL="342900" indent="-342900">
              <a:buAutoNum type="alphaLcParenR"/>
            </a:pPr>
            <a:r>
              <a:rPr lang="en-US" dirty="0">
                <a:ea typeface="標楷體" pitchFamily="65" charset="-120"/>
                <a:cs typeface="Calibri" pitchFamily="34" charset="0"/>
              </a:rPr>
              <a:t>Standards </a:t>
            </a:r>
          </a:p>
        </p:txBody>
      </p:sp>
      <p:sp>
        <p:nvSpPr>
          <p:cNvPr id="9" name="TextBox 8">
            <a:extLst>
              <a:ext uri="{FF2B5EF4-FFF2-40B4-BE49-F238E27FC236}">
                <a16:creationId xmlns:a16="http://schemas.microsoft.com/office/drawing/2014/main" id="{0EF3CBA8-59F6-40A2-9987-49200DDF92EC}"/>
              </a:ext>
            </a:extLst>
          </p:cNvPr>
          <p:cNvSpPr txBox="1"/>
          <p:nvPr/>
        </p:nvSpPr>
        <p:spPr>
          <a:xfrm>
            <a:off x="8766821" y="5044171"/>
            <a:ext cx="2097049" cy="523220"/>
          </a:xfrm>
          <a:prstGeom prst="rect">
            <a:avLst/>
          </a:prstGeom>
          <a:solidFill>
            <a:srgbClr val="FFFF00"/>
          </a:solidFill>
          <a:ln>
            <a:solidFill>
              <a:srgbClr val="FF0000"/>
            </a:solidFill>
          </a:ln>
        </p:spPr>
        <p:txBody>
          <a:bodyPr wrap="none" rtlCol="0" anchor="ctr" anchorCtr="1">
            <a:spAutoFit/>
          </a:bodyPr>
          <a:lstStyle/>
          <a:p>
            <a:r>
              <a:rPr kumimoji="1" lang="en-US" sz="2800" kern="0" dirty="0">
                <a:solidFill>
                  <a:prstClr val="black"/>
                </a:solidFill>
                <a:latin typeface="Calibri" pitchFamily="34" charset="0"/>
                <a:ea typeface="標楷體" pitchFamily="65" charset="-120"/>
              </a:rPr>
              <a:t>0.0001</a:t>
            </a:r>
            <a:r>
              <a:rPr kumimoji="1" lang="en-US" sz="2800" kern="0" baseline="-25000" dirty="0">
                <a:solidFill>
                  <a:prstClr val="black"/>
                </a:solidFill>
                <a:latin typeface="Calibri" pitchFamily="34" charset="0"/>
                <a:ea typeface="標楷體" pitchFamily="65" charset="-120"/>
              </a:rPr>
              <a:t>2</a:t>
            </a:r>
            <a:r>
              <a:rPr kumimoji="1" lang="en-US" sz="2800" kern="0" dirty="0">
                <a:solidFill>
                  <a:prstClr val="black"/>
                </a:solidFill>
                <a:latin typeface="Calibri" pitchFamily="34" charset="0"/>
                <a:ea typeface="標楷體" pitchFamily="65" charset="-120"/>
              </a:rPr>
              <a:t> x </a:t>
            </a:r>
            <a:r>
              <a:rPr lang="en-US" sz="2800" dirty="0"/>
              <a:t>2</a:t>
            </a:r>
            <a:r>
              <a:rPr lang="en-US" sz="2800" baseline="30000" dirty="0"/>
              <a:t>10</a:t>
            </a:r>
            <a:endParaRPr lang="en-US" sz="2800" dirty="0">
              <a:ea typeface="標楷體" pitchFamily="65" charset="-120"/>
              <a:cs typeface="Calibri" pitchFamily="34" charset="0"/>
            </a:endParaRPr>
          </a:p>
        </p:txBody>
      </p:sp>
      <p:sp>
        <p:nvSpPr>
          <p:cNvPr id="10" name="TextBox 9">
            <a:extLst>
              <a:ext uri="{FF2B5EF4-FFF2-40B4-BE49-F238E27FC236}">
                <a16:creationId xmlns:a16="http://schemas.microsoft.com/office/drawing/2014/main" id="{67BBAE94-07E2-4B11-B5FE-E45D2C2D6749}"/>
              </a:ext>
            </a:extLst>
          </p:cNvPr>
          <p:cNvSpPr txBox="1"/>
          <p:nvPr/>
        </p:nvSpPr>
        <p:spPr>
          <a:xfrm>
            <a:off x="9604070" y="5712282"/>
            <a:ext cx="1415772" cy="523220"/>
          </a:xfrm>
          <a:prstGeom prst="rect">
            <a:avLst/>
          </a:prstGeom>
          <a:solidFill>
            <a:srgbClr val="FFFF00"/>
          </a:solidFill>
          <a:ln>
            <a:solidFill>
              <a:srgbClr val="FF0000"/>
            </a:solidFill>
          </a:ln>
        </p:spPr>
        <p:txBody>
          <a:bodyPr wrap="none" rtlCol="0" anchor="ctr" anchorCtr="1">
            <a:spAutoFit/>
          </a:bodyPr>
          <a:lstStyle/>
          <a:p>
            <a:r>
              <a:rPr kumimoji="1" lang="en-US" sz="2800" kern="0" dirty="0">
                <a:solidFill>
                  <a:prstClr val="black"/>
                </a:solidFill>
                <a:latin typeface="Calibri" pitchFamily="34" charset="0"/>
                <a:ea typeface="標楷體" pitchFamily="65" charset="-120"/>
              </a:rPr>
              <a:t>1.0</a:t>
            </a:r>
            <a:r>
              <a:rPr kumimoji="1" lang="en-US" sz="2800" kern="0" baseline="-25000" dirty="0">
                <a:solidFill>
                  <a:prstClr val="black"/>
                </a:solidFill>
                <a:latin typeface="Calibri" pitchFamily="34" charset="0"/>
                <a:ea typeface="標楷體" pitchFamily="65" charset="-120"/>
              </a:rPr>
              <a:t>2</a:t>
            </a:r>
            <a:r>
              <a:rPr kumimoji="1" lang="en-US" sz="2800" kern="0" dirty="0">
                <a:solidFill>
                  <a:prstClr val="black"/>
                </a:solidFill>
                <a:latin typeface="Calibri" pitchFamily="34" charset="0"/>
                <a:ea typeface="標楷體" pitchFamily="65" charset="-120"/>
              </a:rPr>
              <a:t> x </a:t>
            </a:r>
            <a:r>
              <a:rPr lang="en-US" sz="2800" dirty="0"/>
              <a:t>2</a:t>
            </a:r>
            <a:r>
              <a:rPr lang="en-US" sz="2800" baseline="30000" dirty="0"/>
              <a:t>6</a:t>
            </a:r>
            <a:endParaRPr lang="en-US" sz="2800" dirty="0">
              <a:ea typeface="標楷體" pitchFamily="65" charset="-120"/>
              <a:cs typeface="Calibri" pitchFamily="34" charset="0"/>
            </a:endParaRPr>
          </a:p>
        </p:txBody>
      </p:sp>
      <p:sp>
        <p:nvSpPr>
          <p:cNvPr id="5" name="Arrow: Right 4">
            <a:extLst>
              <a:ext uri="{FF2B5EF4-FFF2-40B4-BE49-F238E27FC236}">
                <a16:creationId xmlns:a16="http://schemas.microsoft.com/office/drawing/2014/main" id="{CD9D7094-9B17-47B6-A916-86DEA1EB8DF6}"/>
              </a:ext>
            </a:extLst>
          </p:cNvPr>
          <p:cNvSpPr/>
          <p:nvPr/>
        </p:nvSpPr>
        <p:spPr bwMode="auto">
          <a:xfrm>
            <a:off x="9178395" y="5797558"/>
            <a:ext cx="425675" cy="244682"/>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885801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4679" y="0"/>
            <a:ext cx="10517721" cy="692151"/>
          </a:xfrm>
        </p:spPr>
        <p:txBody>
          <a:bodyPr/>
          <a:lstStyle/>
          <a:p>
            <a:r>
              <a:rPr lang="en-US" dirty="0"/>
              <a:t>FP to Decimal conversion</a:t>
            </a:r>
          </a:p>
        </p:txBody>
      </p:sp>
      <p:sp>
        <p:nvSpPr>
          <p:cNvPr id="3" name="Content Placeholder 2"/>
          <p:cNvSpPr>
            <a:spLocks noGrp="1"/>
          </p:cNvSpPr>
          <p:nvPr>
            <p:ph idx="1"/>
          </p:nvPr>
        </p:nvSpPr>
        <p:spPr>
          <a:xfrm>
            <a:off x="612844" y="1125537"/>
            <a:ext cx="10969556" cy="4895851"/>
          </a:xfrm>
        </p:spPr>
        <p:txBody>
          <a:bodyPr>
            <a:normAutofit fontScale="92500" lnSpcReduction="20000"/>
          </a:bodyPr>
          <a:lstStyle/>
          <a:p>
            <a:r>
              <a:rPr lang="en-US" dirty="0"/>
              <a:t>Convert 1.1011 to decimal</a:t>
            </a:r>
          </a:p>
          <a:p>
            <a:pPr lvl="1">
              <a:buFont typeface="Wingdings" panose="05000000000000000000" pitchFamily="2" charset="2"/>
              <a:buChar char="§"/>
            </a:pPr>
            <a:r>
              <a:rPr lang="en-US" dirty="0"/>
              <a:t>1 x </a:t>
            </a:r>
            <a:r>
              <a:rPr lang="en-US" sz="3500" dirty="0">
                <a:solidFill>
                  <a:prstClr val="black"/>
                </a:solidFill>
                <a:cs typeface="+mn-cs"/>
              </a:rPr>
              <a:t>2</a:t>
            </a:r>
            <a:r>
              <a:rPr lang="en-US" sz="3500" baseline="30000" dirty="0">
                <a:solidFill>
                  <a:prstClr val="black"/>
                </a:solidFill>
                <a:cs typeface="+mn-cs"/>
              </a:rPr>
              <a:t>0 </a:t>
            </a:r>
            <a:r>
              <a:rPr lang="en-US" sz="3733" dirty="0">
                <a:solidFill>
                  <a:prstClr val="black"/>
                </a:solidFill>
                <a:cs typeface="+mn-cs"/>
              </a:rPr>
              <a:t>+</a:t>
            </a:r>
            <a:r>
              <a:rPr kumimoji="1" lang="en-US" sz="3733"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1 x </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2</a:t>
            </a:r>
            <a:r>
              <a:rPr lang="en-US" sz="3500" baseline="30000" dirty="0">
                <a:solidFill>
                  <a:prstClr val="black"/>
                </a:solidFill>
                <a:cs typeface="+mn-cs"/>
              </a:rPr>
              <a:t>-1 </a:t>
            </a:r>
            <a:r>
              <a:rPr kumimoji="1" lang="en-US" sz="3733"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+ 0 x </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2</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-2 </a:t>
            </a:r>
            <a:r>
              <a:rPr kumimoji="1" lang="en-US" sz="3733"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+ 1 x </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2</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-3 </a:t>
            </a:r>
            <a:r>
              <a:rPr kumimoji="1" lang="en-US" sz="3733"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+ 1 x </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2</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-4</a:t>
            </a:r>
          </a:p>
          <a:p>
            <a:pPr marL="457176" lvl="1" indent="0">
              <a:buNone/>
            </a:pPr>
            <a:r>
              <a:rPr lang="en-US" sz="3500" baseline="30000" dirty="0">
                <a:solidFill>
                  <a:prstClr val="black"/>
                </a:solidFill>
                <a:cs typeface="+mn-cs"/>
              </a:rPr>
              <a:t>= </a:t>
            </a:r>
            <a:r>
              <a:rPr lang="en-US" sz="4000" baseline="30000" dirty="0">
                <a:solidFill>
                  <a:prstClr val="black"/>
                </a:solidFill>
                <a:cs typeface="+mn-cs"/>
              </a:rPr>
              <a:t>1.6875</a:t>
            </a:r>
            <a:r>
              <a:rPr kumimoji="1" lang="en-US" sz="40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 </a:t>
            </a:r>
          </a:p>
          <a:p>
            <a:pPr lvl="0"/>
            <a:r>
              <a:rPr lang="en-US" dirty="0">
                <a:solidFill>
                  <a:prstClr val="black"/>
                </a:solidFill>
              </a:rPr>
              <a:t>Convert 0.5 to binary</a:t>
            </a:r>
          </a:p>
          <a:p>
            <a:pPr lvl="1">
              <a:buFont typeface="Wingdings" panose="05000000000000000000" pitchFamily="2" charset="2"/>
              <a:buChar char="§"/>
            </a:pPr>
            <a:r>
              <a:rPr lang="en-US" sz="3733" dirty="0">
                <a:solidFill>
                  <a:prstClr val="black"/>
                </a:solidFill>
                <a:cs typeface="+mn-cs"/>
              </a:rPr>
              <a:t> 0.1</a:t>
            </a:r>
          </a:p>
          <a:p>
            <a:pPr marL="457176" lvl="1" indent="0">
              <a:buNone/>
            </a:pPr>
            <a:r>
              <a:rPr lang="en-US" sz="3733" dirty="0">
                <a:solidFill>
                  <a:prstClr val="black"/>
                </a:solidFill>
                <a:cs typeface="+mn-cs"/>
              </a:rPr>
              <a:t>= 1.0 x </a:t>
            </a:r>
            <a:r>
              <a:rPr lang="en-US" sz="3500" dirty="0">
                <a:solidFill>
                  <a:prstClr val="black"/>
                </a:solidFill>
                <a:cs typeface="+mn-cs"/>
              </a:rPr>
              <a:t>2</a:t>
            </a:r>
            <a:r>
              <a:rPr lang="en-US" sz="3500" baseline="30000" dirty="0">
                <a:solidFill>
                  <a:prstClr val="black"/>
                </a:solidFill>
                <a:cs typeface="+mn-cs"/>
              </a:rPr>
              <a:t>-1    (</a:t>
            </a:r>
            <a:r>
              <a:rPr lang="en-US" sz="4200" baseline="30000" dirty="0">
                <a:solidFill>
                  <a:prstClr val="black"/>
                </a:solidFill>
                <a:cs typeface="+mn-cs"/>
              </a:rPr>
              <a:t>normalized</a:t>
            </a:r>
            <a:r>
              <a:rPr lang="en-US" sz="3500" baseline="30000" dirty="0">
                <a:solidFill>
                  <a:prstClr val="black"/>
                </a:solidFill>
                <a:cs typeface="+mn-cs"/>
              </a:rPr>
              <a:t>)</a:t>
            </a:r>
            <a:endParaRPr lang="en-US" sz="3500" dirty="0">
              <a:solidFill>
                <a:prstClr val="black"/>
              </a:solidFill>
              <a:cs typeface="+mn-cs"/>
            </a:endParaRPr>
          </a:p>
          <a:p>
            <a:pPr lvl="0"/>
            <a:r>
              <a:rPr lang="en-US" dirty="0">
                <a:solidFill>
                  <a:prstClr val="black"/>
                </a:solidFill>
              </a:rPr>
              <a:t>Convert 0.7 to binary		</a:t>
            </a:r>
            <a:r>
              <a:rPr lang="en-US" sz="3500" baseline="30000" dirty="0">
                <a:solidFill>
                  <a:prstClr val="black"/>
                </a:solidFill>
                <a:cs typeface="+mn-cs"/>
              </a:rPr>
              <a:t> </a:t>
            </a:r>
          </a:p>
          <a:p>
            <a:pPr lvl="1">
              <a:buFont typeface="Wingdings" panose="05000000000000000000" pitchFamily="2" charset="2"/>
              <a:buChar char="§"/>
            </a:pPr>
            <a:r>
              <a:rPr lang="en-US" sz="3500" dirty="0">
                <a:solidFill>
                  <a:prstClr val="black"/>
                </a:solidFill>
                <a:cs typeface="+mn-cs"/>
              </a:rPr>
              <a:t>0.1011001…. </a:t>
            </a:r>
          </a:p>
          <a:p>
            <a:pPr marL="457176" lvl="1" indent="0">
              <a:buNone/>
            </a:pPr>
            <a:r>
              <a:rPr lang="en-US" sz="3500" dirty="0">
                <a:solidFill>
                  <a:prstClr val="black"/>
                </a:solidFill>
                <a:cs typeface="+mn-cs"/>
              </a:rPr>
              <a:t>Getting close to 0.7 (0.6953125..)</a:t>
            </a:r>
          </a:p>
          <a:p>
            <a:pPr marL="457176" lvl="1" indent="0">
              <a:buNone/>
            </a:pPr>
            <a:endParaRPr lang="en-US" dirty="0">
              <a:solidFill>
                <a:prstClr val="black"/>
              </a:solidFill>
            </a:endParaRPr>
          </a:p>
          <a:p>
            <a:pPr marL="457176" lvl="1" indent="0">
              <a:buNone/>
            </a:pPr>
            <a:endParaRPr lang="en-US" sz="4000" dirty="0"/>
          </a:p>
          <a:p>
            <a:pPr marL="0" indent="0">
              <a:buNone/>
            </a:pPr>
            <a:endParaRPr lang="en-US" dirty="0"/>
          </a:p>
        </p:txBody>
      </p:sp>
      <p:sp>
        <p:nvSpPr>
          <p:cNvPr id="8" name="灯片编号占位符 7"/>
          <p:cNvSpPr>
            <a:spLocks noGrp="1"/>
          </p:cNvSpPr>
          <p:nvPr>
            <p:ph type="sldNum" sz="quarter" idx="10"/>
          </p:nvPr>
        </p:nvSpPr>
        <p:spPr/>
        <p:txBody>
          <a:bodyPr/>
          <a:lstStyle/>
          <a:p>
            <a:fld id="{D9B6BDF2-6896-4B98-8776-C18582F63BA5}" type="slidenum">
              <a:rPr lang="zh-TW" altLang="en-US" smtClean="0"/>
              <a:t>3</a:t>
            </a:fld>
            <a:endParaRPr lang="zh-TW" altLang="en-US"/>
          </a:p>
        </p:txBody>
      </p:sp>
      <p:graphicFrame>
        <p:nvGraphicFramePr>
          <p:cNvPr id="4" name="Table 4">
            <a:extLst>
              <a:ext uri="{FF2B5EF4-FFF2-40B4-BE49-F238E27FC236}">
                <a16:creationId xmlns:a16="http://schemas.microsoft.com/office/drawing/2014/main" id="{2894C8FF-3828-4F6E-8F11-7A5797BF0673}"/>
              </a:ext>
            </a:extLst>
          </p:cNvPr>
          <p:cNvGraphicFramePr>
            <a:graphicFrameLocks noGrp="1"/>
          </p:cNvGraphicFramePr>
          <p:nvPr>
            <p:extLst>
              <p:ext uri="{D42A27DB-BD31-4B8C-83A1-F6EECF244321}">
                <p14:modId xmlns:p14="http://schemas.microsoft.com/office/powerpoint/2010/main" val="2624274009"/>
              </p:ext>
            </p:extLst>
          </p:nvPr>
        </p:nvGraphicFramePr>
        <p:xfrm>
          <a:off x="6936629" y="3117334"/>
          <a:ext cx="4642527" cy="2961767"/>
        </p:xfrm>
        <a:graphic>
          <a:graphicData uri="http://schemas.openxmlformats.org/drawingml/2006/table">
            <a:tbl>
              <a:tblPr firstRow="1" bandRow="1">
                <a:tableStyleId>{5C22544A-7EE6-4342-B048-85BDC9FD1C3A}</a:tableStyleId>
              </a:tblPr>
              <a:tblGrid>
                <a:gridCol w="1547509">
                  <a:extLst>
                    <a:ext uri="{9D8B030D-6E8A-4147-A177-3AD203B41FA5}">
                      <a16:colId xmlns:a16="http://schemas.microsoft.com/office/drawing/2014/main" val="1609312311"/>
                    </a:ext>
                  </a:extLst>
                </a:gridCol>
                <a:gridCol w="1547509">
                  <a:extLst>
                    <a:ext uri="{9D8B030D-6E8A-4147-A177-3AD203B41FA5}">
                      <a16:colId xmlns:a16="http://schemas.microsoft.com/office/drawing/2014/main" val="4118043607"/>
                    </a:ext>
                  </a:extLst>
                </a:gridCol>
                <a:gridCol w="1547509">
                  <a:extLst>
                    <a:ext uri="{9D8B030D-6E8A-4147-A177-3AD203B41FA5}">
                      <a16:colId xmlns:a16="http://schemas.microsoft.com/office/drawing/2014/main" val="1789565925"/>
                    </a:ext>
                  </a:extLst>
                </a:gridCol>
              </a:tblGrid>
              <a:tr h="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34885874"/>
                  </a:ext>
                </a:extLst>
              </a:tr>
              <a:tr h="370840">
                <a:tc>
                  <a:txBody>
                    <a:bodyPr/>
                    <a:lstStyle/>
                    <a:p>
                      <a:r>
                        <a:rPr lang="en-US" dirty="0"/>
                        <a:t>0.7 x 2</a:t>
                      </a:r>
                    </a:p>
                  </a:txBody>
                  <a:tcPr/>
                </a:tc>
                <a:tc>
                  <a:txBody>
                    <a:bodyPr/>
                    <a:lstStyle/>
                    <a:p>
                      <a:r>
                        <a:rPr lang="en-US" dirty="0"/>
                        <a:t>1.4</a:t>
                      </a:r>
                    </a:p>
                  </a:txBody>
                  <a:tcPr/>
                </a:tc>
                <a:tc>
                  <a:txBody>
                    <a:bodyPr/>
                    <a:lstStyle/>
                    <a:p>
                      <a:r>
                        <a:rPr lang="en-US" dirty="0"/>
                        <a:t>1</a:t>
                      </a:r>
                    </a:p>
                  </a:txBody>
                  <a:tcPr/>
                </a:tc>
                <a:extLst>
                  <a:ext uri="{0D108BD9-81ED-4DB2-BD59-A6C34878D82A}">
                    <a16:rowId xmlns:a16="http://schemas.microsoft.com/office/drawing/2014/main" val="600615200"/>
                  </a:ext>
                </a:extLst>
              </a:tr>
              <a:tr h="370840">
                <a:tc>
                  <a:txBody>
                    <a:bodyPr/>
                    <a:lstStyle/>
                    <a:p>
                      <a:r>
                        <a:rPr lang="en-US" dirty="0"/>
                        <a:t>0.4 x 2</a:t>
                      </a:r>
                    </a:p>
                  </a:txBody>
                  <a:tcPr/>
                </a:tc>
                <a:tc>
                  <a:txBody>
                    <a:bodyPr/>
                    <a:lstStyle/>
                    <a:p>
                      <a:r>
                        <a:rPr lang="en-US" dirty="0"/>
                        <a:t>0.8</a:t>
                      </a:r>
                    </a:p>
                  </a:txBody>
                  <a:tcPr/>
                </a:tc>
                <a:tc>
                  <a:txBody>
                    <a:bodyPr/>
                    <a:lstStyle/>
                    <a:p>
                      <a:r>
                        <a:rPr lang="en-US" dirty="0"/>
                        <a:t>0</a:t>
                      </a:r>
                    </a:p>
                  </a:txBody>
                  <a:tcPr/>
                </a:tc>
                <a:extLst>
                  <a:ext uri="{0D108BD9-81ED-4DB2-BD59-A6C34878D82A}">
                    <a16:rowId xmlns:a16="http://schemas.microsoft.com/office/drawing/2014/main" val="3793426829"/>
                  </a:ext>
                </a:extLst>
              </a:tr>
              <a:tr h="370840">
                <a:tc>
                  <a:txBody>
                    <a:bodyPr/>
                    <a:lstStyle/>
                    <a:p>
                      <a:r>
                        <a:rPr lang="en-US" dirty="0"/>
                        <a:t>0.8 x 2 </a:t>
                      </a:r>
                    </a:p>
                  </a:txBody>
                  <a:tcPr/>
                </a:tc>
                <a:tc>
                  <a:txBody>
                    <a:bodyPr/>
                    <a:lstStyle/>
                    <a:p>
                      <a:r>
                        <a:rPr lang="en-US" dirty="0"/>
                        <a:t>1.6</a:t>
                      </a:r>
                    </a:p>
                  </a:txBody>
                  <a:tcPr/>
                </a:tc>
                <a:tc>
                  <a:txBody>
                    <a:bodyPr/>
                    <a:lstStyle/>
                    <a:p>
                      <a:r>
                        <a:rPr lang="en-US" dirty="0"/>
                        <a:t>1</a:t>
                      </a:r>
                    </a:p>
                  </a:txBody>
                  <a:tcPr/>
                </a:tc>
                <a:extLst>
                  <a:ext uri="{0D108BD9-81ED-4DB2-BD59-A6C34878D82A}">
                    <a16:rowId xmlns:a16="http://schemas.microsoft.com/office/drawing/2014/main" val="587073187"/>
                  </a:ext>
                </a:extLst>
              </a:tr>
              <a:tr h="370840">
                <a:tc>
                  <a:txBody>
                    <a:bodyPr/>
                    <a:lstStyle/>
                    <a:p>
                      <a:r>
                        <a:rPr lang="en-US" dirty="0"/>
                        <a:t>0.6 x 2</a:t>
                      </a:r>
                    </a:p>
                  </a:txBody>
                  <a:tcPr/>
                </a:tc>
                <a:tc>
                  <a:txBody>
                    <a:bodyPr/>
                    <a:lstStyle/>
                    <a:p>
                      <a:r>
                        <a:rPr lang="en-US" dirty="0"/>
                        <a:t>1.2 </a:t>
                      </a:r>
                    </a:p>
                  </a:txBody>
                  <a:tcPr/>
                </a:tc>
                <a:tc>
                  <a:txBody>
                    <a:bodyPr/>
                    <a:lstStyle/>
                    <a:p>
                      <a:r>
                        <a:rPr lang="en-US" dirty="0"/>
                        <a:t>1</a:t>
                      </a:r>
                    </a:p>
                  </a:txBody>
                  <a:tcPr/>
                </a:tc>
                <a:extLst>
                  <a:ext uri="{0D108BD9-81ED-4DB2-BD59-A6C34878D82A}">
                    <a16:rowId xmlns:a16="http://schemas.microsoft.com/office/drawing/2014/main" val="583427263"/>
                  </a:ext>
                </a:extLst>
              </a:tr>
              <a:tr h="370840">
                <a:tc>
                  <a:txBody>
                    <a:bodyPr/>
                    <a:lstStyle/>
                    <a:p>
                      <a:r>
                        <a:rPr lang="en-US" dirty="0"/>
                        <a:t>0.2 x 2 </a:t>
                      </a:r>
                    </a:p>
                  </a:txBody>
                  <a:tcPr/>
                </a:tc>
                <a:tc>
                  <a:txBody>
                    <a:bodyPr/>
                    <a:lstStyle/>
                    <a:p>
                      <a:r>
                        <a:rPr lang="en-US" dirty="0"/>
                        <a:t>0.4</a:t>
                      </a:r>
                    </a:p>
                  </a:txBody>
                  <a:tcPr/>
                </a:tc>
                <a:tc>
                  <a:txBody>
                    <a:bodyPr/>
                    <a:lstStyle/>
                    <a:p>
                      <a:r>
                        <a:rPr lang="en-US" dirty="0"/>
                        <a:t>0</a:t>
                      </a:r>
                    </a:p>
                  </a:txBody>
                  <a:tcPr/>
                </a:tc>
                <a:extLst>
                  <a:ext uri="{0D108BD9-81ED-4DB2-BD59-A6C34878D82A}">
                    <a16:rowId xmlns:a16="http://schemas.microsoft.com/office/drawing/2014/main" val="2823992346"/>
                  </a:ext>
                </a:extLst>
              </a:tr>
              <a:tr h="370840">
                <a:tc>
                  <a:txBody>
                    <a:bodyPr/>
                    <a:lstStyle/>
                    <a:p>
                      <a:r>
                        <a:rPr lang="en-US" dirty="0"/>
                        <a:t>0.4 x 2 </a:t>
                      </a:r>
                    </a:p>
                  </a:txBody>
                  <a:tcPr/>
                </a:tc>
                <a:tc>
                  <a:txBody>
                    <a:bodyPr/>
                    <a:lstStyle/>
                    <a:p>
                      <a:r>
                        <a:rPr lang="en-US" dirty="0"/>
                        <a:t>0.8</a:t>
                      </a:r>
                    </a:p>
                  </a:txBody>
                  <a:tcPr/>
                </a:tc>
                <a:tc>
                  <a:txBody>
                    <a:bodyPr/>
                    <a:lstStyle/>
                    <a:p>
                      <a:r>
                        <a:rPr lang="en-US" dirty="0"/>
                        <a:t>0</a:t>
                      </a:r>
                    </a:p>
                  </a:txBody>
                  <a:tcPr/>
                </a:tc>
                <a:extLst>
                  <a:ext uri="{0D108BD9-81ED-4DB2-BD59-A6C34878D82A}">
                    <a16:rowId xmlns:a16="http://schemas.microsoft.com/office/drawing/2014/main" val="1669305056"/>
                  </a:ext>
                </a:extLst>
              </a:tr>
              <a:tr h="370840">
                <a:tc>
                  <a:txBody>
                    <a:bodyPr/>
                    <a:lstStyle/>
                    <a:p>
                      <a:r>
                        <a:rPr lang="en-US" dirty="0"/>
                        <a:t>0.8 x 2</a:t>
                      </a:r>
                    </a:p>
                  </a:txBody>
                  <a:tcPr/>
                </a:tc>
                <a:tc>
                  <a:txBody>
                    <a:bodyPr/>
                    <a:lstStyle/>
                    <a:p>
                      <a:r>
                        <a:rPr lang="en-US" dirty="0"/>
                        <a:t>1.6</a:t>
                      </a:r>
                    </a:p>
                  </a:txBody>
                  <a:tcPr/>
                </a:tc>
                <a:tc>
                  <a:txBody>
                    <a:bodyPr/>
                    <a:lstStyle/>
                    <a:p>
                      <a:r>
                        <a:rPr lang="en-US" dirty="0"/>
                        <a:t>1</a:t>
                      </a:r>
                    </a:p>
                  </a:txBody>
                  <a:tcPr/>
                </a:tc>
                <a:extLst>
                  <a:ext uri="{0D108BD9-81ED-4DB2-BD59-A6C34878D82A}">
                    <a16:rowId xmlns:a16="http://schemas.microsoft.com/office/drawing/2014/main" val="2336115214"/>
                  </a:ext>
                </a:extLst>
              </a:tr>
            </a:tbl>
          </a:graphicData>
        </a:graphic>
      </p:graphicFrame>
      <p:sp>
        <p:nvSpPr>
          <p:cNvPr id="5" name="TextBox 4">
            <a:extLst>
              <a:ext uri="{FF2B5EF4-FFF2-40B4-BE49-F238E27FC236}">
                <a16:creationId xmlns:a16="http://schemas.microsoft.com/office/drawing/2014/main" id="{4A97766C-9C79-4909-9FB9-F100979335E1}"/>
              </a:ext>
            </a:extLst>
          </p:cNvPr>
          <p:cNvSpPr txBox="1"/>
          <p:nvPr/>
        </p:nvSpPr>
        <p:spPr>
          <a:xfrm>
            <a:off x="8982075" y="1137678"/>
            <a:ext cx="1351652" cy="1200329"/>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How about </a:t>
            </a:r>
          </a:p>
          <a:p>
            <a:r>
              <a:rPr lang="en-US" dirty="0">
                <a:ea typeface="標楷體" pitchFamily="65" charset="-120"/>
                <a:cs typeface="Calibri" pitchFamily="34" charset="0"/>
              </a:rPr>
              <a:t>0.11111</a:t>
            </a:r>
          </a:p>
          <a:p>
            <a:r>
              <a:rPr lang="en-US" dirty="0">
                <a:ea typeface="標楷體" pitchFamily="65" charset="-120"/>
                <a:cs typeface="Calibri" pitchFamily="34" charset="0"/>
              </a:rPr>
              <a:t>1.000001</a:t>
            </a:r>
          </a:p>
          <a:p>
            <a:endParaRPr lang="en-US" dirty="0">
              <a:ea typeface="標楷體" pitchFamily="65" charset="-120"/>
              <a:cs typeface="Calibri" pitchFamily="34" charset="0"/>
            </a:endParaRPr>
          </a:p>
        </p:txBody>
      </p:sp>
      <p:sp>
        <p:nvSpPr>
          <p:cNvPr id="7" name="TextBox 6">
            <a:extLst>
              <a:ext uri="{FF2B5EF4-FFF2-40B4-BE49-F238E27FC236}">
                <a16:creationId xmlns:a16="http://schemas.microsoft.com/office/drawing/2014/main" id="{57960DA6-1EA2-4DDD-97E7-DD69F33FA5D0}"/>
              </a:ext>
            </a:extLst>
          </p:cNvPr>
          <p:cNvSpPr txBox="1"/>
          <p:nvPr/>
        </p:nvSpPr>
        <p:spPr>
          <a:xfrm>
            <a:off x="10530417" y="1137678"/>
            <a:ext cx="1146468" cy="1477328"/>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0.11111</a:t>
            </a:r>
          </a:p>
          <a:p>
            <a:r>
              <a:rPr lang="en-US" dirty="0">
                <a:ea typeface="標楷體" pitchFamily="65" charset="-120"/>
                <a:cs typeface="Calibri" pitchFamily="34" charset="0"/>
              </a:rPr>
              <a:t>= 31/32</a:t>
            </a:r>
          </a:p>
          <a:p>
            <a:r>
              <a:rPr lang="en-US" dirty="0">
                <a:ea typeface="標楷體" pitchFamily="65" charset="-120"/>
                <a:cs typeface="Calibri" pitchFamily="34" charset="0"/>
              </a:rPr>
              <a:t>1.000001</a:t>
            </a:r>
          </a:p>
          <a:p>
            <a:r>
              <a:rPr lang="en-US" dirty="0">
                <a:ea typeface="標楷體" pitchFamily="65" charset="-120"/>
                <a:cs typeface="Calibri" pitchFamily="34" charset="0"/>
              </a:rPr>
              <a:t>= 1+1/64</a:t>
            </a:r>
          </a:p>
          <a:p>
            <a:endParaRPr lang="en-US" dirty="0">
              <a:ea typeface="標楷體" pitchFamily="65" charset="-120"/>
              <a:cs typeface="Calibri" pitchFamily="34" charset="0"/>
            </a:endParaRPr>
          </a:p>
        </p:txBody>
      </p:sp>
    </p:spTree>
    <p:extLst>
      <p:ext uri="{BB962C8B-B14F-4D97-AF65-F5344CB8AC3E}">
        <p14:creationId xmlns:p14="http://schemas.microsoft.com/office/powerpoint/2010/main" val="371913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10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Floating-Point Standard </a:t>
            </a:r>
          </a:p>
        </p:txBody>
      </p:sp>
      <p:sp>
        <p:nvSpPr>
          <p:cNvPr id="3" name="Content Placeholder 2"/>
          <p:cNvSpPr>
            <a:spLocks noGrp="1"/>
          </p:cNvSpPr>
          <p:nvPr>
            <p:ph idx="1"/>
          </p:nvPr>
        </p:nvSpPr>
        <p:spPr>
          <a:xfrm>
            <a:off x="1319867" y="1125537"/>
            <a:ext cx="10262532" cy="4895851"/>
          </a:xfrm>
        </p:spPr>
        <p:txBody>
          <a:bodyPr>
            <a:normAutofit lnSpcReduction="10000"/>
          </a:bodyPr>
          <a:lstStyle/>
          <a:p>
            <a:r>
              <a:rPr lang="en-US" dirty="0"/>
              <a:t>Defined by IEEE 754-1985 standard</a:t>
            </a:r>
          </a:p>
          <a:p>
            <a:r>
              <a:rPr lang="en-US" dirty="0"/>
              <a:t>Developed in response to divergence of representations</a:t>
            </a:r>
          </a:p>
          <a:p>
            <a:pPr lvl="1"/>
            <a:r>
              <a:rPr lang="en-US" dirty="0"/>
              <a:t>Portability issues for scientific code and data</a:t>
            </a:r>
          </a:p>
          <a:p>
            <a:r>
              <a:rPr lang="en-US" dirty="0"/>
              <a:t>Now almost universally adopted</a:t>
            </a:r>
          </a:p>
          <a:p>
            <a:r>
              <a:rPr lang="en-US" dirty="0"/>
              <a:t>Two representations</a:t>
            </a:r>
          </a:p>
          <a:p>
            <a:pPr lvl="1"/>
            <a:r>
              <a:rPr lang="en-US" dirty="0"/>
              <a:t>Single precision (32-bit)</a:t>
            </a:r>
          </a:p>
          <a:p>
            <a:pPr lvl="1"/>
            <a:r>
              <a:rPr lang="en-US" dirty="0"/>
              <a:t>Double precision (64-bit)</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IEEE Floating-Point Format</a:t>
            </a:r>
          </a:p>
        </p:txBody>
      </p:sp>
      <p:grpSp>
        <p:nvGrpSpPr>
          <p:cNvPr id="6" name="Group 5"/>
          <p:cNvGrpSpPr/>
          <p:nvPr/>
        </p:nvGrpSpPr>
        <p:grpSpPr>
          <a:xfrm>
            <a:off x="1703371" y="5191133"/>
            <a:ext cx="8785259" cy="655163"/>
            <a:chOff x="1749390" y="1291236"/>
            <a:chExt cx="8785259" cy="655162"/>
          </a:xfrm>
        </p:grpSpPr>
        <p:grpSp>
          <p:nvGrpSpPr>
            <p:cNvPr id="7" name="Group 6"/>
            <p:cNvGrpSpPr/>
            <p:nvPr/>
          </p:nvGrpSpPr>
          <p:grpSpPr>
            <a:xfrm>
              <a:off x="1879601" y="1599014"/>
              <a:ext cx="8655048" cy="347384"/>
              <a:chOff x="2969147" y="5536856"/>
              <a:chExt cx="8655048" cy="347384"/>
            </a:xfrm>
          </p:grpSpPr>
          <p:sp>
            <p:nvSpPr>
              <p:cNvPr id="11" name="Rectangle 10"/>
              <p:cNvSpPr/>
              <p:nvPr/>
            </p:nvSpPr>
            <p:spPr>
              <a:xfrm>
                <a:off x="2969147" y="5536856"/>
                <a:ext cx="262478"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s</a:t>
                </a:r>
              </a:p>
            </p:txBody>
          </p:sp>
          <p:sp>
            <p:nvSpPr>
              <p:cNvPr id="12" name="Rectangle 11"/>
              <p:cNvSpPr/>
              <p:nvPr/>
            </p:nvSpPr>
            <p:spPr>
              <a:xfrm>
                <a:off x="3231624" y="5536856"/>
                <a:ext cx="1655187"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exponent</a:t>
                </a:r>
              </a:p>
            </p:txBody>
          </p:sp>
          <p:sp>
            <p:nvSpPr>
              <p:cNvPr id="13" name="Rectangle 12"/>
              <p:cNvSpPr/>
              <p:nvPr/>
            </p:nvSpPr>
            <p:spPr>
              <a:xfrm>
                <a:off x="4886811" y="5536856"/>
                <a:ext cx="6737384"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fraction</a:t>
                </a:r>
                <a:r>
                  <a:rPr lang="en-US" dirty="0">
                    <a:solidFill>
                      <a:schemeClr val="tx1"/>
                    </a:solidFill>
                  </a:rPr>
                  <a:t>/</a:t>
                </a:r>
                <a:r>
                  <a:rPr lang="en-US" b="1" dirty="0">
                    <a:solidFill>
                      <a:schemeClr val="accent1"/>
                    </a:solidFill>
                  </a:rPr>
                  <a:t>mantissa</a:t>
                </a:r>
              </a:p>
            </p:txBody>
          </p:sp>
        </p:grpSp>
        <p:sp>
          <p:nvSpPr>
            <p:cNvPr id="8" name="TextBox 7"/>
            <p:cNvSpPr txBox="1"/>
            <p:nvPr/>
          </p:nvSpPr>
          <p:spPr>
            <a:xfrm>
              <a:off x="1749390" y="1291237"/>
              <a:ext cx="522900" cy="307777"/>
            </a:xfrm>
            <a:prstGeom prst="rect">
              <a:avLst/>
            </a:prstGeom>
            <a:noFill/>
          </p:spPr>
          <p:txBody>
            <a:bodyPr wrap="none" rtlCol="0">
              <a:spAutoFit/>
            </a:bodyPr>
            <a:lstStyle/>
            <a:p>
              <a:r>
                <a:rPr lang="en-US" sz="1400" dirty="0"/>
                <a:t>1 bit</a:t>
              </a:r>
            </a:p>
          </p:txBody>
        </p:sp>
        <p:sp>
          <p:nvSpPr>
            <p:cNvPr id="9" name="TextBox 8"/>
            <p:cNvSpPr txBox="1"/>
            <p:nvPr/>
          </p:nvSpPr>
          <p:spPr>
            <a:xfrm>
              <a:off x="2530815" y="1291236"/>
              <a:ext cx="698717" cy="307777"/>
            </a:xfrm>
            <a:prstGeom prst="rect">
              <a:avLst/>
            </a:prstGeom>
            <a:noFill/>
          </p:spPr>
          <p:txBody>
            <a:bodyPr wrap="none" rtlCol="0">
              <a:spAutoFit/>
            </a:bodyPr>
            <a:lstStyle/>
            <a:p>
              <a:r>
                <a:rPr lang="en-US" sz="1400" dirty="0"/>
                <a:t>11 bits</a:t>
              </a:r>
            </a:p>
          </p:txBody>
        </p:sp>
        <p:sp>
          <p:nvSpPr>
            <p:cNvPr id="10" name="TextBox 9"/>
            <p:cNvSpPr txBox="1"/>
            <p:nvPr/>
          </p:nvSpPr>
          <p:spPr>
            <a:xfrm>
              <a:off x="6809930" y="1291236"/>
              <a:ext cx="712054" cy="307777"/>
            </a:xfrm>
            <a:prstGeom prst="rect">
              <a:avLst/>
            </a:prstGeom>
            <a:noFill/>
          </p:spPr>
          <p:txBody>
            <a:bodyPr wrap="none" rtlCol="0">
              <a:spAutoFit/>
            </a:bodyPr>
            <a:lstStyle/>
            <a:p>
              <a:r>
                <a:rPr lang="en-US" sz="1400" dirty="0"/>
                <a:t>52 bits</a:t>
              </a:r>
            </a:p>
          </p:txBody>
        </p:sp>
      </p:grpSp>
      <p:sp>
        <p:nvSpPr>
          <p:cNvPr id="14" name="TextBox 13"/>
          <p:cNvSpPr txBox="1"/>
          <p:nvPr/>
        </p:nvSpPr>
        <p:spPr>
          <a:xfrm>
            <a:off x="4207742" y="5767798"/>
            <a:ext cx="5288627" cy="461665"/>
          </a:xfrm>
          <a:prstGeom prst="rect">
            <a:avLst/>
          </a:prstGeom>
          <a:noFill/>
          <a:ln w="19050">
            <a:solidFill>
              <a:srgbClr val="FF0000"/>
            </a:solidFill>
          </a:ln>
        </p:spPr>
        <p:txBody>
          <a:bodyPr wrap="none" rtlCol="0">
            <a:spAutoFit/>
          </a:bodyPr>
          <a:lstStyle/>
          <a:p>
            <a:r>
              <a:rPr lang="en-US" sz="2400" dirty="0"/>
              <a:t>x = (−1)</a:t>
            </a:r>
            <a:r>
              <a:rPr lang="en-US" sz="2400" baseline="30000" dirty="0"/>
              <a:t>s</a:t>
            </a:r>
            <a:r>
              <a:rPr lang="en-US" sz="2400" dirty="0"/>
              <a:t> × (1+fraction) × 2</a:t>
            </a:r>
            <a:r>
              <a:rPr lang="en-US" sz="2400" baseline="30000" dirty="0"/>
              <a:t>(exponent−1023)</a:t>
            </a:r>
          </a:p>
        </p:txBody>
      </p:sp>
      <p:grpSp>
        <p:nvGrpSpPr>
          <p:cNvPr id="15" name="Group 14"/>
          <p:cNvGrpSpPr/>
          <p:nvPr/>
        </p:nvGrpSpPr>
        <p:grpSpPr>
          <a:xfrm>
            <a:off x="3495642" y="1214347"/>
            <a:ext cx="5515009" cy="655163"/>
            <a:chOff x="1749390" y="1291236"/>
            <a:chExt cx="5515009" cy="655162"/>
          </a:xfrm>
        </p:grpSpPr>
        <p:grpSp>
          <p:nvGrpSpPr>
            <p:cNvPr id="16" name="Group 15"/>
            <p:cNvGrpSpPr/>
            <p:nvPr/>
          </p:nvGrpSpPr>
          <p:grpSpPr>
            <a:xfrm>
              <a:off x="1879601" y="1599014"/>
              <a:ext cx="5384798" cy="347384"/>
              <a:chOff x="2969147" y="5536856"/>
              <a:chExt cx="5384798" cy="347384"/>
            </a:xfrm>
          </p:grpSpPr>
          <p:sp>
            <p:nvSpPr>
              <p:cNvPr id="20" name="Rectangle 19"/>
              <p:cNvSpPr/>
              <p:nvPr/>
            </p:nvSpPr>
            <p:spPr>
              <a:xfrm>
                <a:off x="2969147" y="5536856"/>
                <a:ext cx="262478"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s</a:t>
                </a:r>
              </a:p>
            </p:txBody>
          </p:sp>
          <p:sp>
            <p:nvSpPr>
              <p:cNvPr id="21" name="Rectangle 20"/>
              <p:cNvSpPr/>
              <p:nvPr/>
            </p:nvSpPr>
            <p:spPr>
              <a:xfrm>
                <a:off x="3231625" y="5536856"/>
                <a:ext cx="1213896"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exponent</a:t>
                </a:r>
              </a:p>
            </p:txBody>
          </p:sp>
          <p:sp>
            <p:nvSpPr>
              <p:cNvPr id="22" name="Rectangle 21"/>
              <p:cNvSpPr/>
              <p:nvPr/>
            </p:nvSpPr>
            <p:spPr>
              <a:xfrm>
                <a:off x="4445520" y="5536856"/>
                <a:ext cx="3908425"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fraction</a:t>
                </a:r>
                <a:r>
                  <a:rPr lang="en-US" dirty="0">
                    <a:solidFill>
                      <a:schemeClr val="tx1"/>
                    </a:solidFill>
                  </a:rPr>
                  <a:t>/</a:t>
                </a:r>
                <a:r>
                  <a:rPr lang="en-US" b="1" dirty="0">
                    <a:solidFill>
                      <a:schemeClr val="accent1"/>
                    </a:solidFill>
                  </a:rPr>
                  <a:t>mantissa</a:t>
                </a:r>
              </a:p>
            </p:txBody>
          </p:sp>
        </p:grpSp>
        <p:sp>
          <p:nvSpPr>
            <p:cNvPr id="17" name="TextBox 16"/>
            <p:cNvSpPr txBox="1"/>
            <p:nvPr/>
          </p:nvSpPr>
          <p:spPr>
            <a:xfrm>
              <a:off x="1749390" y="1291237"/>
              <a:ext cx="522900" cy="307777"/>
            </a:xfrm>
            <a:prstGeom prst="rect">
              <a:avLst/>
            </a:prstGeom>
            <a:noFill/>
          </p:spPr>
          <p:txBody>
            <a:bodyPr wrap="none" rtlCol="0">
              <a:spAutoFit/>
            </a:bodyPr>
            <a:lstStyle/>
            <a:p>
              <a:r>
                <a:rPr lang="en-US" sz="1400" dirty="0"/>
                <a:t>1 bit</a:t>
              </a:r>
            </a:p>
          </p:txBody>
        </p:sp>
        <p:sp>
          <p:nvSpPr>
            <p:cNvPr id="18" name="TextBox 17"/>
            <p:cNvSpPr txBox="1"/>
            <p:nvPr/>
          </p:nvSpPr>
          <p:spPr>
            <a:xfrm>
              <a:off x="2461490" y="1291236"/>
              <a:ext cx="612668" cy="307777"/>
            </a:xfrm>
            <a:prstGeom prst="rect">
              <a:avLst/>
            </a:prstGeom>
            <a:noFill/>
          </p:spPr>
          <p:txBody>
            <a:bodyPr wrap="none" rtlCol="0">
              <a:spAutoFit/>
            </a:bodyPr>
            <a:lstStyle/>
            <a:p>
              <a:r>
                <a:rPr lang="en-US" sz="1400" dirty="0"/>
                <a:t>8 bits</a:t>
              </a:r>
            </a:p>
          </p:txBody>
        </p:sp>
        <p:sp>
          <p:nvSpPr>
            <p:cNvPr id="19" name="TextBox 18"/>
            <p:cNvSpPr txBox="1"/>
            <p:nvPr/>
          </p:nvSpPr>
          <p:spPr>
            <a:xfrm>
              <a:off x="4937864" y="1291236"/>
              <a:ext cx="712054" cy="307777"/>
            </a:xfrm>
            <a:prstGeom prst="rect">
              <a:avLst/>
            </a:prstGeom>
            <a:noFill/>
          </p:spPr>
          <p:txBody>
            <a:bodyPr wrap="none" rtlCol="0">
              <a:spAutoFit/>
            </a:bodyPr>
            <a:lstStyle/>
            <a:p>
              <a:r>
                <a:rPr lang="en-US" sz="1400" dirty="0"/>
                <a:t>23 bits</a:t>
              </a:r>
            </a:p>
          </p:txBody>
        </p:sp>
      </p:grpSp>
      <p:sp>
        <p:nvSpPr>
          <p:cNvPr id="23" name="TextBox 22"/>
          <p:cNvSpPr txBox="1"/>
          <p:nvPr/>
        </p:nvSpPr>
        <p:spPr>
          <a:xfrm>
            <a:off x="4150856" y="1965686"/>
            <a:ext cx="5174815" cy="461665"/>
          </a:xfrm>
          <a:prstGeom prst="rect">
            <a:avLst/>
          </a:prstGeom>
          <a:noFill/>
          <a:ln w="19050">
            <a:solidFill>
              <a:srgbClr val="FF0000"/>
            </a:solidFill>
          </a:ln>
        </p:spPr>
        <p:txBody>
          <a:bodyPr wrap="none" rtlCol="0">
            <a:spAutoFit/>
          </a:bodyPr>
          <a:lstStyle/>
          <a:p>
            <a:r>
              <a:rPr lang="en-US" sz="2400" dirty="0"/>
              <a:t>x = (−1)</a:t>
            </a:r>
            <a:r>
              <a:rPr lang="en-US" sz="2400" baseline="30000" dirty="0"/>
              <a:t>s</a:t>
            </a:r>
            <a:r>
              <a:rPr lang="en-US" sz="2400" dirty="0"/>
              <a:t> × (1+fraction) × 2</a:t>
            </a:r>
            <a:r>
              <a:rPr lang="en-US" sz="2400" baseline="30000" dirty="0"/>
              <a:t>(exponent−127)</a:t>
            </a:r>
          </a:p>
        </p:txBody>
      </p:sp>
      <p:sp>
        <p:nvSpPr>
          <p:cNvPr id="24" name="TextBox 23"/>
          <p:cNvSpPr txBox="1"/>
          <p:nvPr/>
        </p:nvSpPr>
        <p:spPr>
          <a:xfrm>
            <a:off x="1990020" y="2021611"/>
            <a:ext cx="1992853" cy="369332"/>
          </a:xfrm>
          <a:prstGeom prst="rect">
            <a:avLst/>
          </a:prstGeom>
          <a:noFill/>
        </p:spPr>
        <p:txBody>
          <a:bodyPr wrap="none" rtlCol="0">
            <a:spAutoFit/>
          </a:bodyPr>
          <a:lstStyle/>
          <a:p>
            <a:r>
              <a:rPr lang="en-US" b="1" u="sng" dirty="0"/>
              <a:t>Single-Precision</a:t>
            </a:r>
          </a:p>
        </p:txBody>
      </p:sp>
      <p:sp>
        <p:nvSpPr>
          <p:cNvPr id="25" name="TextBox 24"/>
          <p:cNvSpPr txBox="1"/>
          <p:nvPr/>
        </p:nvSpPr>
        <p:spPr>
          <a:xfrm>
            <a:off x="1954758" y="5791983"/>
            <a:ext cx="2082621" cy="369332"/>
          </a:xfrm>
          <a:prstGeom prst="rect">
            <a:avLst/>
          </a:prstGeom>
          <a:noFill/>
        </p:spPr>
        <p:txBody>
          <a:bodyPr wrap="none" rtlCol="0">
            <a:spAutoFit/>
          </a:bodyPr>
          <a:lstStyle/>
          <a:p>
            <a:r>
              <a:rPr lang="en-US" b="1" u="sng" dirty="0"/>
              <a:t>Double-Precision</a:t>
            </a:r>
          </a:p>
        </p:txBody>
      </p:sp>
      <p:graphicFrame>
        <p:nvGraphicFramePr>
          <p:cNvPr id="26" name="Table 25"/>
          <p:cNvGraphicFramePr>
            <a:graphicFrameLocks noGrp="1"/>
          </p:cNvGraphicFramePr>
          <p:nvPr>
            <p:extLst>
              <p:ext uri="{D42A27DB-BD31-4B8C-83A1-F6EECF244321}">
                <p14:modId xmlns:p14="http://schemas.microsoft.com/office/powerpoint/2010/main" val="3587665691"/>
              </p:ext>
            </p:extLst>
          </p:nvPr>
        </p:nvGraphicFramePr>
        <p:xfrm>
          <a:off x="3625852" y="2707013"/>
          <a:ext cx="4965923" cy="1905000"/>
        </p:xfrm>
        <a:graphic>
          <a:graphicData uri="http://schemas.openxmlformats.org/drawingml/2006/table">
            <a:tbl>
              <a:tblPr firstRow="1" bandRow="1">
                <a:tableStyleId>{5940675A-B579-460E-94D1-54222C63F5DA}</a:tableStyleId>
              </a:tblPr>
              <a:tblGrid>
                <a:gridCol w="1325880">
                  <a:extLst>
                    <a:ext uri="{9D8B030D-6E8A-4147-A177-3AD203B41FA5}">
                      <a16:colId xmlns:a16="http://schemas.microsoft.com/office/drawing/2014/main" val="20000"/>
                    </a:ext>
                  </a:extLst>
                </a:gridCol>
                <a:gridCol w="1148080">
                  <a:extLst>
                    <a:ext uri="{9D8B030D-6E8A-4147-A177-3AD203B41FA5}">
                      <a16:colId xmlns:a16="http://schemas.microsoft.com/office/drawing/2014/main" val="20001"/>
                    </a:ext>
                  </a:extLst>
                </a:gridCol>
                <a:gridCol w="2491963">
                  <a:extLst>
                    <a:ext uri="{9D8B030D-6E8A-4147-A177-3AD203B41FA5}">
                      <a16:colId xmlns:a16="http://schemas.microsoft.com/office/drawing/2014/main" val="20002"/>
                    </a:ext>
                  </a:extLst>
                </a:gridCol>
              </a:tblGrid>
              <a:tr h="375920">
                <a:tc>
                  <a:txBody>
                    <a:bodyPr/>
                    <a:lstStyle/>
                    <a:p>
                      <a:pPr algn="ctr"/>
                      <a:r>
                        <a:rPr lang="en-US" sz="1900" b="1" dirty="0">
                          <a:solidFill>
                            <a:schemeClr val="accent1"/>
                          </a:solidFill>
                        </a:rPr>
                        <a:t>exponent</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1900" b="1" dirty="0">
                          <a:solidFill>
                            <a:schemeClr val="accent1"/>
                          </a:solidFill>
                        </a:rPr>
                        <a:t>fraction</a:t>
                      </a:r>
                    </a:p>
                  </a:txBody>
                  <a:tcPr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1900" b="1" dirty="0"/>
                        <a:t>Value represented</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920">
                <a:tc>
                  <a:txBody>
                    <a:bodyPr/>
                    <a:lstStyle/>
                    <a:p>
                      <a:pPr algn="ctr"/>
                      <a:r>
                        <a:rPr lang="en-US" sz="1900" dirty="0">
                          <a:latin typeface="Arial Unicode MS" panose="020B0604020202020204" pitchFamily="34" charset="-128"/>
                          <a:ea typeface="Arial Unicode MS" panose="020B0604020202020204" pitchFamily="34" charset="-128"/>
                          <a:cs typeface="Arial Unicode MS" panose="020B0604020202020204" pitchFamily="34" charset="-128"/>
                        </a:rPr>
                        <a:t>00000000</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US" sz="1900" dirty="0"/>
                        <a:t>0</a:t>
                      </a:r>
                    </a:p>
                  </a:txBody>
                  <a:tcPr anchor="ctr">
                    <a:lnT w="28575" cap="flat" cmpd="sng" algn="ctr">
                      <a:solidFill>
                        <a:schemeClr val="tx1"/>
                      </a:solidFill>
                      <a:prstDash val="solid"/>
                      <a:round/>
                      <a:headEnd type="none" w="med" len="med"/>
                      <a:tailEnd type="none" w="med" len="med"/>
                    </a:lnT>
                  </a:tcPr>
                </a:tc>
                <a:tc>
                  <a:txBody>
                    <a:bodyPr/>
                    <a:lstStyle/>
                    <a:p>
                      <a:pPr algn="ctr"/>
                      <a:r>
                        <a:rPr lang="en-US" sz="1900" dirty="0"/>
                        <a:t>0</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5920">
                <a:tc>
                  <a:txBody>
                    <a:bodyPr/>
                    <a:lstStyle/>
                    <a:p>
                      <a:pPr algn="ctr"/>
                      <a:r>
                        <a:rPr lang="en-US" sz="1900" dirty="0">
                          <a:latin typeface="Arial Unicode MS" panose="020B0604020202020204" pitchFamily="34" charset="-128"/>
                          <a:ea typeface="Arial Unicode MS" panose="020B0604020202020204" pitchFamily="34" charset="-128"/>
                          <a:cs typeface="Arial Unicode MS" panose="020B0604020202020204" pitchFamily="34" charset="-128"/>
                        </a:rPr>
                        <a:t>00000000</a:t>
                      </a:r>
                    </a:p>
                  </a:txBody>
                  <a:tcPr anchor="ctr">
                    <a:lnL w="28575" cap="flat" cmpd="sng" algn="ctr">
                      <a:solidFill>
                        <a:schemeClr val="tx1"/>
                      </a:solidFill>
                      <a:prstDash val="solid"/>
                      <a:round/>
                      <a:headEnd type="none" w="med" len="med"/>
                      <a:tailEnd type="none" w="med" len="med"/>
                    </a:lnL>
                  </a:tcPr>
                </a:tc>
                <a:tc>
                  <a:txBody>
                    <a:bodyPr/>
                    <a:lstStyle/>
                    <a:p>
                      <a:pPr algn="ctr"/>
                      <a:r>
                        <a:rPr lang="en-US" sz="1900" dirty="0"/>
                        <a:t>nonzero</a:t>
                      </a:r>
                    </a:p>
                  </a:txBody>
                  <a:tcPr anchor="ctr"/>
                </a:tc>
                <a:tc>
                  <a:txBody>
                    <a:bodyPr/>
                    <a:lstStyle/>
                    <a:p>
                      <a:pPr algn="ctr"/>
                      <a:r>
                        <a:rPr lang="en-US" sz="1900" dirty="0"/>
                        <a:t>denormalized</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20941409"/>
                  </a:ext>
                </a:extLst>
              </a:tr>
              <a:tr h="375920">
                <a:tc>
                  <a:txBody>
                    <a:bodyPr/>
                    <a:lstStyle/>
                    <a:p>
                      <a:pPr algn="ctr"/>
                      <a:r>
                        <a:rPr lang="en-US" sz="1900" dirty="0">
                          <a:latin typeface="Arial Unicode MS" panose="020B0604020202020204" pitchFamily="34" charset="-128"/>
                          <a:ea typeface="Arial Unicode MS" panose="020B0604020202020204" pitchFamily="34" charset="-128"/>
                          <a:cs typeface="Arial Unicode MS" panose="020B0604020202020204" pitchFamily="34" charset="-128"/>
                        </a:rPr>
                        <a:t>1111 1111</a:t>
                      </a:r>
                    </a:p>
                  </a:txBody>
                  <a:tcPr anchor="ctr">
                    <a:lnL w="28575" cap="flat" cmpd="sng" algn="ctr">
                      <a:solidFill>
                        <a:schemeClr val="tx1"/>
                      </a:solidFill>
                      <a:prstDash val="solid"/>
                      <a:round/>
                      <a:headEnd type="none" w="med" len="med"/>
                      <a:tailEnd type="none" w="med" len="med"/>
                    </a:lnL>
                  </a:tcPr>
                </a:tc>
                <a:tc>
                  <a:txBody>
                    <a:bodyPr/>
                    <a:lstStyle/>
                    <a:p>
                      <a:pPr algn="ctr"/>
                      <a:r>
                        <a:rPr lang="en-US" sz="1900" dirty="0"/>
                        <a:t>0</a:t>
                      </a:r>
                    </a:p>
                  </a:txBody>
                  <a:tcPr anchor="ctr"/>
                </a:tc>
                <a:tc>
                  <a:txBody>
                    <a:bodyPr/>
                    <a:lstStyle/>
                    <a:p>
                      <a:pPr algn="ctr"/>
                      <a:r>
                        <a:rPr lang="en-US" sz="1900" dirty="0"/>
                        <a:t>±∞</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5920">
                <a:tc>
                  <a:txBody>
                    <a:bodyPr/>
                    <a:lstStyle/>
                    <a:p>
                      <a:pPr algn="ctr"/>
                      <a:r>
                        <a:rPr lang="en-US" sz="1900" dirty="0">
                          <a:latin typeface="Arial Unicode MS" panose="020B0604020202020204" pitchFamily="34" charset="-128"/>
                          <a:ea typeface="Arial Unicode MS" panose="020B0604020202020204" pitchFamily="34" charset="-128"/>
                          <a:cs typeface="Arial Unicode MS" panose="020B0604020202020204" pitchFamily="34" charset="-128"/>
                        </a:rPr>
                        <a:t>1111 1111</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sz="1900" dirty="0"/>
                        <a:t>non-zero</a:t>
                      </a:r>
                    </a:p>
                  </a:txBody>
                  <a:tcPr anchor="ctr">
                    <a:lnB w="28575" cap="flat" cmpd="sng" algn="ctr">
                      <a:solidFill>
                        <a:schemeClr val="tx1"/>
                      </a:solidFill>
                      <a:prstDash val="solid"/>
                      <a:round/>
                      <a:headEnd type="none" w="med" len="med"/>
                      <a:tailEnd type="none" w="med" len="med"/>
                    </a:lnB>
                  </a:tcPr>
                </a:tc>
                <a:tc>
                  <a:txBody>
                    <a:bodyPr/>
                    <a:lstStyle/>
                    <a:p>
                      <a:pPr algn="ctr"/>
                      <a:r>
                        <a:rPr lang="en-US" sz="1900" dirty="0" err="1"/>
                        <a:t>NaN</a:t>
                      </a:r>
                      <a:endParaRPr lang="en-US" sz="1900" dirty="0"/>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29" name="Straight Connector 28"/>
          <p:cNvCxnSpPr/>
          <p:nvPr/>
        </p:nvCxnSpPr>
        <p:spPr>
          <a:xfrm>
            <a:off x="1703371" y="4591620"/>
            <a:ext cx="8785259" cy="0"/>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灯片编号占位符 2"/>
          <p:cNvSpPr>
            <a:spLocks noGrp="1"/>
          </p:cNvSpPr>
          <p:nvPr>
            <p:ph type="sldNum" sz="quarter" idx="10"/>
          </p:nvPr>
        </p:nvSpPr>
        <p:spPr/>
        <p:txBody>
          <a:bodyPr/>
          <a:lstStyle/>
          <a:p>
            <a:fld id="{D9B6BDF2-6896-4B98-8776-C18582F63BA5}" type="slidenum">
              <a:rPr lang="zh-TW" altLang="en-US" smtClean="0"/>
              <a:t>5</a:t>
            </a:fld>
            <a:endParaRPr lang="zh-TW" altLang="en-US"/>
          </a:p>
        </p:txBody>
      </p:sp>
      <p:sp>
        <p:nvSpPr>
          <p:cNvPr id="4" name="TextBox 3">
            <a:extLst>
              <a:ext uri="{FF2B5EF4-FFF2-40B4-BE49-F238E27FC236}">
                <a16:creationId xmlns:a16="http://schemas.microsoft.com/office/drawing/2014/main" id="{1F2B608E-65BA-4A1E-B995-9095E9511292}"/>
              </a:ext>
            </a:extLst>
          </p:cNvPr>
          <p:cNvSpPr txBox="1"/>
          <p:nvPr/>
        </p:nvSpPr>
        <p:spPr>
          <a:xfrm>
            <a:off x="1395834" y="3575937"/>
            <a:ext cx="2172390" cy="461665"/>
          </a:xfrm>
          <a:prstGeom prst="rect">
            <a:avLst/>
          </a:prstGeom>
          <a:solidFill>
            <a:srgbClr val="FFFF00"/>
          </a:solidFill>
          <a:ln>
            <a:solidFill>
              <a:srgbClr val="FF0000"/>
            </a:solidFill>
          </a:ln>
        </p:spPr>
        <p:txBody>
          <a:bodyPr wrap="none" rtlCol="0" anchor="ctr" anchorCtr="1">
            <a:spAutoFit/>
          </a:bodyPr>
          <a:lstStyle/>
          <a:p>
            <a:r>
              <a:rPr lang="en-US" sz="2400" dirty="0">
                <a:solidFill>
                  <a:srgbClr val="FF0000"/>
                </a:solidFill>
                <a:ea typeface="標楷體" pitchFamily="65" charset="-120"/>
                <a:cs typeface="Calibri" pitchFamily="34" charset="0"/>
              </a:rPr>
              <a:t>Special values</a:t>
            </a:r>
          </a:p>
        </p:txBody>
      </p:sp>
      <p:sp>
        <p:nvSpPr>
          <p:cNvPr id="5" name="TextBox 4">
            <a:extLst>
              <a:ext uri="{FF2B5EF4-FFF2-40B4-BE49-F238E27FC236}">
                <a16:creationId xmlns:a16="http://schemas.microsoft.com/office/drawing/2014/main" id="{B8CAE43D-6A22-48B7-B041-1CACBEA5A9E0}"/>
              </a:ext>
            </a:extLst>
          </p:cNvPr>
          <p:cNvSpPr txBox="1"/>
          <p:nvPr/>
        </p:nvSpPr>
        <p:spPr>
          <a:xfrm>
            <a:off x="8856557" y="2822477"/>
            <a:ext cx="3070071"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For denormalized numbers, </a:t>
            </a:r>
          </a:p>
          <a:p>
            <a:r>
              <a:rPr lang="en-US" dirty="0">
                <a:ea typeface="標楷體" pitchFamily="65" charset="-120"/>
                <a:cs typeface="Calibri" pitchFamily="34" charset="0"/>
              </a:rPr>
              <a:t>there is no hidden 1.</a:t>
            </a:r>
          </a:p>
        </p:txBody>
      </p:sp>
      <p:cxnSp>
        <p:nvCxnSpPr>
          <p:cNvPr id="28" name="Straight Arrow Connector 27">
            <a:extLst>
              <a:ext uri="{FF2B5EF4-FFF2-40B4-BE49-F238E27FC236}">
                <a16:creationId xmlns:a16="http://schemas.microsoft.com/office/drawing/2014/main" id="{BC5E25FA-A21A-414B-8085-525591CBF69A}"/>
              </a:ext>
            </a:extLst>
          </p:cNvPr>
          <p:cNvCxnSpPr>
            <a:cxnSpLocks/>
          </p:cNvCxnSpPr>
          <p:nvPr/>
        </p:nvCxnSpPr>
        <p:spPr bwMode="auto">
          <a:xfrm flipH="1">
            <a:off x="5977890" y="1214347"/>
            <a:ext cx="4224090" cy="807264"/>
          </a:xfrm>
          <a:prstGeom prst="straightConnector1">
            <a:avLst/>
          </a:prstGeom>
          <a:noFill/>
          <a:ln w="15875" cap="flat" cmpd="sng" algn="ctr">
            <a:solidFill>
              <a:srgbClr val="FF0000"/>
            </a:solidFill>
            <a:prstDash val="solid"/>
            <a:round/>
            <a:headEnd type="none" w="med" len="med"/>
            <a:tailEnd type="triangle"/>
          </a:ln>
          <a:effectLst/>
        </p:spPr>
      </p:cxnSp>
      <p:sp>
        <p:nvSpPr>
          <p:cNvPr id="31" name="TextBox 30">
            <a:extLst>
              <a:ext uri="{FF2B5EF4-FFF2-40B4-BE49-F238E27FC236}">
                <a16:creationId xmlns:a16="http://schemas.microsoft.com/office/drawing/2014/main" id="{C604EE99-E97C-4CF3-9D35-8AA2D479BDE8}"/>
              </a:ext>
            </a:extLst>
          </p:cNvPr>
          <p:cNvSpPr txBox="1"/>
          <p:nvPr/>
        </p:nvSpPr>
        <p:spPr>
          <a:xfrm>
            <a:off x="10201980" y="1064975"/>
            <a:ext cx="1107996"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Hidden 1</a:t>
            </a:r>
          </a:p>
        </p:txBody>
      </p:sp>
      <p:sp>
        <p:nvSpPr>
          <p:cNvPr id="27" name="TextBox 26">
            <a:extLst>
              <a:ext uri="{FF2B5EF4-FFF2-40B4-BE49-F238E27FC236}">
                <a16:creationId xmlns:a16="http://schemas.microsoft.com/office/drawing/2014/main" id="{E4430074-5698-4FF6-BFAD-C11FE0477D91}"/>
              </a:ext>
            </a:extLst>
          </p:cNvPr>
          <p:cNvSpPr txBox="1"/>
          <p:nvPr/>
        </p:nvSpPr>
        <p:spPr>
          <a:xfrm>
            <a:off x="10156" y="1175225"/>
            <a:ext cx="2937022" cy="461665"/>
          </a:xfrm>
          <a:prstGeom prst="rect">
            <a:avLst/>
          </a:prstGeom>
          <a:solidFill>
            <a:srgbClr val="FFFF00"/>
          </a:solidFill>
          <a:ln>
            <a:solidFill>
              <a:srgbClr val="00B050"/>
            </a:solidFill>
          </a:ln>
        </p:spPr>
        <p:txBody>
          <a:bodyPr wrap="none" rtlCol="0" anchor="ctr" anchorCtr="1">
            <a:spAutoFit/>
          </a:bodyPr>
          <a:lstStyle/>
          <a:p>
            <a:r>
              <a:rPr lang="en-US" sz="2400" dirty="0">
                <a:ea typeface="標楷體" pitchFamily="65" charset="-120"/>
                <a:cs typeface="Calibri" pitchFamily="34" charset="0"/>
              </a:rPr>
              <a:t> </a:t>
            </a:r>
            <a:r>
              <a:rPr lang="en-US" sz="2400" dirty="0"/>
              <a:t>±1.xxxxxxx</a:t>
            </a:r>
            <a:r>
              <a:rPr lang="en-US" sz="2400" baseline="-25000" dirty="0"/>
              <a:t>2</a:t>
            </a:r>
            <a:r>
              <a:rPr lang="en-US" sz="2400" dirty="0"/>
              <a:t> </a:t>
            </a:r>
            <a:r>
              <a:rPr lang="en-US" sz="2400" dirty="0">
                <a:ea typeface="標楷體" pitchFamily="65" charset="-120"/>
                <a:cs typeface="Calibri" pitchFamily="34" charset="0"/>
              </a:rPr>
              <a:t>×</a:t>
            </a:r>
            <a:r>
              <a:rPr lang="en-US" sz="2400" dirty="0"/>
              <a:t> 2</a:t>
            </a:r>
            <a:r>
              <a:rPr lang="en-US" sz="2400" baseline="30000" dirty="0"/>
              <a:t>yyyy</a:t>
            </a:r>
            <a:r>
              <a:rPr lang="en-US" sz="2400" dirty="0">
                <a:ea typeface="標楷體" pitchFamily="65" charset="-120"/>
                <a:cs typeface="Calibri"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1"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IEEE Single Precision Floating-Point Numbers</a:t>
            </a:r>
          </a:p>
        </p:txBody>
      </p:sp>
      <p:grpSp>
        <p:nvGrpSpPr>
          <p:cNvPr id="15" name="Group 14"/>
          <p:cNvGrpSpPr/>
          <p:nvPr/>
        </p:nvGrpSpPr>
        <p:grpSpPr>
          <a:xfrm>
            <a:off x="3495642" y="1073570"/>
            <a:ext cx="5515009" cy="655163"/>
            <a:chOff x="1749390" y="1291236"/>
            <a:chExt cx="5515009" cy="655162"/>
          </a:xfrm>
        </p:grpSpPr>
        <p:grpSp>
          <p:nvGrpSpPr>
            <p:cNvPr id="16" name="Group 15"/>
            <p:cNvGrpSpPr/>
            <p:nvPr/>
          </p:nvGrpSpPr>
          <p:grpSpPr>
            <a:xfrm>
              <a:off x="1879601" y="1599014"/>
              <a:ext cx="5384798" cy="347384"/>
              <a:chOff x="2969147" y="5536856"/>
              <a:chExt cx="5384798" cy="347384"/>
            </a:xfrm>
          </p:grpSpPr>
          <p:sp>
            <p:nvSpPr>
              <p:cNvPr id="20" name="Rectangle 19"/>
              <p:cNvSpPr/>
              <p:nvPr/>
            </p:nvSpPr>
            <p:spPr>
              <a:xfrm>
                <a:off x="2969147" y="5536856"/>
                <a:ext cx="262478" cy="347384"/>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s</a:t>
                </a:r>
              </a:p>
            </p:txBody>
          </p:sp>
          <p:sp>
            <p:nvSpPr>
              <p:cNvPr id="21" name="Rectangle 20"/>
              <p:cNvSpPr/>
              <p:nvPr/>
            </p:nvSpPr>
            <p:spPr>
              <a:xfrm>
                <a:off x="3231625" y="5536856"/>
                <a:ext cx="1213896" cy="347384"/>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exponent</a:t>
                </a:r>
              </a:p>
            </p:txBody>
          </p:sp>
          <p:sp>
            <p:nvSpPr>
              <p:cNvPr id="22" name="Rectangle 21"/>
              <p:cNvSpPr/>
              <p:nvPr/>
            </p:nvSpPr>
            <p:spPr>
              <a:xfrm>
                <a:off x="4445520" y="5536856"/>
                <a:ext cx="3908425" cy="347384"/>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fraction</a:t>
                </a:r>
                <a:r>
                  <a:rPr lang="en-US" dirty="0">
                    <a:solidFill>
                      <a:schemeClr val="tx1"/>
                    </a:solidFill>
                  </a:rPr>
                  <a:t>/</a:t>
                </a:r>
                <a:r>
                  <a:rPr lang="en-US" b="1" dirty="0">
                    <a:solidFill>
                      <a:schemeClr val="accent1"/>
                    </a:solidFill>
                  </a:rPr>
                  <a:t>mantissa</a:t>
                </a:r>
              </a:p>
            </p:txBody>
          </p:sp>
        </p:grpSp>
        <p:sp>
          <p:nvSpPr>
            <p:cNvPr id="17" name="TextBox 16"/>
            <p:cNvSpPr txBox="1"/>
            <p:nvPr/>
          </p:nvSpPr>
          <p:spPr>
            <a:xfrm>
              <a:off x="1749390" y="1291237"/>
              <a:ext cx="522900" cy="307777"/>
            </a:xfrm>
            <a:prstGeom prst="rect">
              <a:avLst/>
            </a:prstGeom>
            <a:noFill/>
          </p:spPr>
          <p:txBody>
            <a:bodyPr wrap="none" rtlCol="0">
              <a:spAutoFit/>
            </a:bodyPr>
            <a:lstStyle/>
            <a:p>
              <a:r>
                <a:rPr lang="en-US" sz="1400" dirty="0"/>
                <a:t>1 bit</a:t>
              </a:r>
            </a:p>
          </p:txBody>
        </p:sp>
        <p:sp>
          <p:nvSpPr>
            <p:cNvPr id="18" name="TextBox 17"/>
            <p:cNvSpPr txBox="1"/>
            <p:nvPr/>
          </p:nvSpPr>
          <p:spPr>
            <a:xfrm>
              <a:off x="2461490" y="1291236"/>
              <a:ext cx="612668" cy="307777"/>
            </a:xfrm>
            <a:prstGeom prst="rect">
              <a:avLst/>
            </a:prstGeom>
            <a:noFill/>
          </p:spPr>
          <p:txBody>
            <a:bodyPr wrap="none" rtlCol="0">
              <a:spAutoFit/>
            </a:bodyPr>
            <a:lstStyle/>
            <a:p>
              <a:r>
                <a:rPr lang="en-US" sz="1400" dirty="0"/>
                <a:t>8 bits</a:t>
              </a:r>
            </a:p>
          </p:txBody>
        </p:sp>
        <p:sp>
          <p:nvSpPr>
            <p:cNvPr id="19" name="TextBox 18"/>
            <p:cNvSpPr txBox="1"/>
            <p:nvPr/>
          </p:nvSpPr>
          <p:spPr>
            <a:xfrm>
              <a:off x="4937864" y="1291236"/>
              <a:ext cx="712054" cy="307777"/>
            </a:xfrm>
            <a:prstGeom prst="rect">
              <a:avLst/>
            </a:prstGeom>
            <a:noFill/>
          </p:spPr>
          <p:txBody>
            <a:bodyPr wrap="none" rtlCol="0">
              <a:spAutoFit/>
            </a:bodyPr>
            <a:lstStyle/>
            <a:p>
              <a:r>
                <a:rPr lang="en-US" sz="1400" dirty="0"/>
                <a:t>23 bits</a:t>
              </a:r>
            </a:p>
          </p:txBody>
        </p:sp>
      </p:grpSp>
      <p:sp>
        <p:nvSpPr>
          <p:cNvPr id="23" name="TextBox 22"/>
          <p:cNvSpPr txBox="1"/>
          <p:nvPr/>
        </p:nvSpPr>
        <p:spPr>
          <a:xfrm>
            <a:off x="4150856" y="1824909"/>
            <a:ext cx="5174815" cy="461665"/>
          </a:xfrm>
          <a:prstGeom prst="rect">
            <a:avLst/>
          </a:prstGeom>
          <a:noFill/>
          <a:ln w="19050">
            <a:solidFill>
              <a:srgbClr val="FF0000"/>
            </a:solidFill>
          </a:ln>
        </p:spPr>
        <p:txBody>
          <a:bodyPr wrap="none" rtlCol="0">
            <a:spAutoFit/>
          </a:bodyPr>
          <a:lstStyle/>
          <a:p>
            <a:r>
              <a:rPr lang="en-US" sz="2400" dirty="0"/>
              <a:t>x = (−1)</a:t>
            </a:r>
            <a:r>
              <a:rPr lang="en-US" sz="2400" baseline="30000" dirty="0"/>
              <a:t>s</a:t>
            </a:r>
            <a:r>
              <a:rPr lang="en-US" sz="2400" dirty="0"/>
              <a:t> × (1+fraction) × 2</a:t>
            </a:r>
            <a:r>
              <a:rPr lang="en-US" sz="2400" baseline="30000" dirty="0"/>
              <a:t>(exponent−127)</a:t>
            </a:r>
          </a:p>
        </p:txBody>
      </p:sp>
      <p:sp>
        <p:nvSpPr>
          <p:cNvPr id="24" name="TextBox 23"/>
          <p:cNvSpPr txBox="1"/>
          <p:nvPr/>
        </p:nvSpPr>
        <p:spPr>
          <a:xfrm>
            <a:off x="1990020" y="1880834"/>
            <a:ext cx="1992853" cy="369332"/>
          </a:xfrm>
          <a:prstGeom prst="rect">
            <a:avLst/>
          </a:prstGeom>
          <a:noFill/>
        </p:spPr>
        <p:txBody>
          <a:bodyPr wrap="none" rtlCol="0">
            <a:spAutoFit/>
          </a:bodyPr>
          <a:lstStyle/>
          <a:p>
            <a:r>
              <a:rPr lang="en-US" b="1" u="sng" dirty="0"/>
              <a:t>Single-Precision</a:t>
            </a:r>
          </a:p>
        </p:txBody>
      </p:sp>
      <p:sp>
        <p:nvSpPr>
          <p:cNvPr id="3" name="灯片编号占位符 2"/>
          <p:cNvSpPr>
            <a:spLocks noGrp="1"/>
          </p:cNvSpPr>
          <p:nvPr>
            <p:ph type="sldNum" sz="quarter" idx="10"/>
          </p:nvPr>
        </p:nvSpPr>
        <p:spPr/>
        <p:txBody>
          <a:bodyPr/>
          <a:lstStyle/>
          <a:p>
            <a:fld id="{D9B6BDF2-6896-4B98-8776-C18582F63BA5}" type="slidenum">
              <a:rPr lang="zh-TW" altLang="en-US" smtClean="0"/>
              <a:t>6</a:t>
            </a:fld>
            <a:endParaRPr lang="zh-TW" altLang="en-US"/>
          </a:p>
        </p:txBody>
      </p:sp>
      <p:sp>
        <p:nvSpPr>
          <p:cNvPr id="27" name="TextBox 26">
            <a:extLst>
              <a:ext uri="{FF2B5EF4-FFF2-40B4-BE49-F238E27FC236}">
                <a16:creationId xmlns:a16="http://schemas.microsoft.com/office/drawing/2014/main" id="{12AE6109-038E-478B-8624-BD4810E96565}"/>
              </a:ext>
            </a:extLst>
          </p:cNvPr>
          <p:cNvSpPr txBox="1"/>
          <p:nvPr/>
        </p:nvSpPr>
        <p:spPr>
          <a:xfrm>
            <a:off x="622570" y="2523527"/>
            <a:ext cx="11245173" cy="4062651"/>
          </a:xfrm>
          <a:prstGeom prst="rect">
            <a:avLst/>
          </a:prstGeom>
          <a:noFill/>
        </p:spPr>
        <p:txBody>
          <a:bodyPr wrap="square">
            <a:spAutoFit/>
          </a:bodyPr>
          <a:lstStyle/>
          <a:p>
            <a:r>
              <a:rPr kumimoji="0" lang="en-US" sz="2400" b="0" i="0" u="none" strike="noStrike" kern="1200" cap="none" spc="0" normalizeH="0" baseline="0" noProof="0" dirty="0">
                <a:ln>
                  <a:noFill/>
                </a:ln>
                <a:solidFill>
                  <a:prstClr val="black"/>
                </a:solidFill>
                <a:effectLst/>
                <a:uLnTx/>
                <a:uFillTx/>
                <a:latin typeface="Arial"/>
                <a:ea typeface="新細明體"/>
                <a:cs typeface="+mn-cs"/>
              </a:rPr>
              <a:t>(1+fraction) is called the </a:t>
            </a:r>
            <a:r>
              <a:rPr kumimoji="0" lang="en-US" sz="2400" b="0" i="1" u="none" strike="noStrike" kern="1200" cap="none" spc="0" normalizeH="0" baseline="0" noProof="0" dirty="0">
                <a:ln>
                  <a:noFill/>
                </a:ln>
                <a:solidFill>
                  <a:prstClr val="black"/>
                </a:solidFill>
                <a:effectLst/>
                <a:uLnTx/>
                <a:uFillTx/>
                <a:latin typeface="Arial"/>
                <a:ea typeface="新細明體"/>
                <a:cs typeface="+mn-cs"/>
              </a:rPr>
              <a:t>significand</a:t>
            </a:r>
          </a:p>
          <a:p>
            <a:r>
              <a:rPr lang="en-US" sz="2400" i="1" dirty="0">
                <a:solidFill>
                  <a:prstClr val="black"/>
                </a:solidFill>
                <a:latin typeface="Arial"/>
                <a:ea typeface="新細明體"/>
              </a:rPr>
              <a:t>The largest </a:t>
            </a:r>
            <a:r>
              <a:rPr kumimoji="0" lang="en-US" sz="2400" b="0" i="1" u="none" strike="noStrike" kern="1200" cap="none" spc="0" normalizeH="0" baseline="0" noProof="0" dirty="0">
                <a:ln>
                  <a:noFill/>
                </a:ln>
                <a:solidFill>
                  <a:prstClr val="black"/>
                </a:solidFill>
                <a:effectLst/>
                <a:uLnTx/>
                <a:uFillTx/>
                <a:latin typeface="Arial"/>
                <a:ea typeface="新細明體"/>
                <a:cs typeface="+mn-cs"/>
              </a:rPr>
              <a:t> SP number is (1+0.111111…) x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(254−127)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aseline="30000" dirty="0">
                <a:solidFill>
                  <a:prstClr val="black"/>
                </a:solidFill>
                <a:latin typeface="Arial"/>
                <a:ea typeface="新細明體"/>
              </a:rPr>
              <a:t> </a:t>
            </a:r>
            <a:r>
              <a:rPr lang="en-US" sz="2400" dirty="0">
                <a:solidFill>
                  <a:prstClr val="black"/>
                </a:solidFill>
                <a:latin typeface="Arial"/>
                <a:ea typeface="新細明體"/>
              </a:rPr>
              <a:t>which is</a:t>
            </a:r>
            <a:r>
              <a:rPr lang="en-US" sz="2400" baseline="30000" dirty="0">
                <a:solidFill>
                  <a:prstClr val="black"/>
                </a:solidFill>
                <a:latin typeface="Arial"/>
                <a:ea typeface="新細明體"/>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127</a:t>
            </a:r>
            <a:r>
              <a:rPr lang="el-GR" sz="2400" b="0" i="0" dirty="0">
                <a:solidFill>
                  <a:srgbClr val="0D0D0D"/>
                </a:solidFill>
                <a:effectLst/>
                <a:latin typeface="KaTeX_Main"/>
              </a:rPr>
              <a:t>×(2−</a:t>
            </a:r>
            <a:r>
              <a:rPr lang="el-GR" sz="2400" b="0" i="1" dirty="0">
                <a:solidFill>
                  <a:srgbClr val="0D0D0D"/>
                </a:solidFill>
                <a:effectLst/>
                <a:latin typeface="KaTeX_Math"/>
              </a:rPr>
              <a:t>ϵ</a:t>
            </a:r>
            <a:r>
              <a:rPr lang="el-GR" sz="2400" b="0" i="0" dirty="0">
                <a:solidFill>
                  <a:srgbClr val="0D0D0D"/>
                </a:solidFill>
                <a:effectLst/>
                <a:latin typeface="KaTeX_Main"/>
              </a:rPr>
              <a:t>)</a:t>
            </a:r>
            <a:r>
              <a:rPr lang="en-US" sz="2400" dirty="0">
                <a:solidFill>
                  <a:srgbClr val="0D0D0D"/>
                </a:solidFill>
                <a:latin typeface="Söhne"/>
              </a:rPr>
              <a:t>  </a:t>
            </a:r>
            <a:r>
              <a:rPr lang="en-US" sz="2400" dirty="0">
                <a:solidFill>
                  <a:srgbClr val="0D0D0D"/>
                </a:solidFill>
              </a:rPr>
              <a:t>~ </a:t>
            </a:r>
            <a:r>
              <a:rPr lang="en-US" sz="2400" b="0" i="0" dirty="0">
                <a:solidFill>
                  <a:srgbClr val="0D0D0D"/>
                </a:solidFill>
                <a:effectLst/>
              </a:rPr>
              <a:t>3.4028235 </a:t>
            </a:r>
            <a:r>
              <a:rPr lang="en-US" b="0" i="0" dirty="0">
                <a:solidFill>
                  <a:srgbClr val="0D0D0D"/>
                </a:solidFill>
                <a:effectLst/>
                <a:latin typeface="KaTeX_Main"/>
              </a:rPr>
              <a:t>× </a:t>
            </a:r>
            <a:r>
              <a:rPr lang="en-US" sz="2400" dirty="0">
                <a:solidFill>
                  <a:prstClr val="black"/>
                </a:solidFill>
                <a:latin typeface="Arial"/>
                <a:ea typeface="新細明體"/>
              </a:rPr>
              <a:t>10</a:t>
            </a:r>
            <a:r>
              <a:rPr lang="en-US" sz="2400" baseline="30000" dirty="0">
                <a:solidFill>
                  <a:prstClr val="black"/>
                </a:solidFill>
                <a:latin typeface="Arial"/>
                <a:ea typeface="新細明體"/>
              </a:rPr>
              <a:t>38  </a:t>
            </a:r>
            <a:br>
              <a:rPr lang="en-US" dirty="0"/>
            </a:br>
            <a:r>
              <a:rPr lang="en-US" dirty="0"/>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rgbClr val="92D050"/>
                </a:solidFill>
                <a:effectLst/>
                <a:uLnTx/>
                <a:uFillTx/>
                <a:latin typeface="Arial"/>
                <a:ea typeface="新細明體"/>
                <a:cs typeface="+mn-cs"/>
              </a:rPr>
              <a:t>11111110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chemeClr val="accent6"/>
                </a:solidFill>
                <a:effectLst/>
                <a:uLnTx/>
                <a:uFillTx/>
                <a:latin typeface="Arial"/>
                <a:ea typeface="新細明體"/>
                <a:cs typeface="+mn-cs"/>
              </a:rPr>
              <a:t>11111111111111111111111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Arial"/>
                <a:ea typeface="新細明體"/>
                <a:cs typeface="+mn-cs"/>
              </a:rPr>
              <a:t>The smallest SP number (normalized) is (1+0.00000…) x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(1−127)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which is</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-126</a:t>
            </a:r>
            <a:r>
              <a:rPr lang="en-US" sz="2400" dirty="0">
                <a:solidFill>
                  <a:srgbClr val="0D0D0D"/>
                </a:solidFill>
                <a:latin typeface="KaTeX_Main"/>
                <a:ea typeface="新細明體"/>
              </a:rPr>
              <a:t> </a:t>
            </a:r>
            <a:r>
              <a:rPr kumimoji="0" lang="en-US" sz="2400" b="0" i="0" u="none" strike="noStrike" kern="1200" cap="none" spc="0" normalizeH="0" baseline="0" noProof="0" dirty="0">
                <a:ln>
                  <a:noFill/>
                </a:ln>
                <a:solidFill>
                  <a:srgbClr val="0D0D0D"/>
                </a:solidFill>
                <a:effectLst/>
                <a:uLnTx/>
                <a:uFillTx/>
                <a:latin typeface="Söhne"/>
                <a:ea typeface="新細明體"/>
                <a:cs typeface="+mn-cs"/>
              </a:rPr>
              <a:t>  </a:t>
            </a:r>
            <a:br>
              <a:rPr kumimoji="0" lang="en-US" sz="1800" b="0" i="0" u="none" strike="noStrike" kern="1200" cap="none" spc="0" normalizeH="0" baseline="0" noProof="0" dirty="0">
                <a:ln>
                  <a:noFill/>
                </a:ln>
                <a:solidFill>
                  <a:prstClr val="black"/>
                </a:solidFill>
                <a:effectLst/>
                <a:uLnTx/>
                <a:uFillTx/>
                <a:latin typeface="Arial"/>
                <a:ea typeface="新細明體"/>
                <a:cs typeface="+mn-cs"/>
              </a:rPr>
            </a:br>
            <a:r>
              <a:rPr kumimoji="0" lang="en-US" sz="18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92D050"/>
                </a:solidFill>
                <a:latin typeface="Arial"/>
                <a:ea typeface="新細明體"/>
              </a:rPr>
              <a:t>00000001</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F79646"/>
                </a:solidFill>
                <a:latin typeface="Arial"/>
                <a:ea typeface="新細明體"/>
              </a:rPr>
              <a:t>00000000000000000000000</a:t>
            </a:r>
            <a:endParaRPr kumimoji="0" lang="en-US" sz="2400" b="0" i="0" u="none" strike="noStrike" kern="1200" cap="none" spc="0" normalizeH="0" baseline="0" noProof="0" dirty="0">
              <a:ln>
                <a:noFill/>
              </a:ln>
              <a:solidFill>
                <a:srgbClr val="F7964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i="0" dirty="0">
                <a:solidFill>
                  <a:srgbClr val="0D0D0D"/>
                </a:solidFill>
                <a:effectLst/>
                <a:latin typeface="Söhne"/>
              </a:rPr>
              <a:t>However, smaller values can be represented using </a:t>
            </a:r>
            <a:r>
              <a:rPr lang="en-US" sz="2400" b="1" i="1" dirty="0">
                <a:solidFill>
                  <a:srgbClr val="FF0000"/>
                </a:solidFill>
                <a:latin typeface="Söhne"/>
              </a:rPr>
              <a:t>denormalized</a:t>
            </a:r>
            <a:r>
              <a:rPr lang="en-US" sz="2400" dirty="0">
                <a:solidFill>
                  <a:srgbClr val="0D0D0D"/>
                </a:solidFill>
                <a:latin typeface="Söhne"/>
              </a:rPr>
              <a:t> </a:t>
            </a:r>
            <a:r>
              <a:rPr lang="en-US" sz="2400" b="0" i="0" dirty="0">
                <a:solidFill>
                  <a:srgbClr val="0D0D0D"/>
                </a:solidFill>
                <a:effectLst/>
                <a:latin typeface="Söhne"/>
              </a:rPr>
              <a:t>numbers, where the exponent is 0, </a:t>
            </a:r>
            <a:r>
              <a:rPr lang="en-US" sz="2400" dirty="0">
                <a:solidFill>
                  <a:srgbClr val="0D0D0D"/>
                </a:solidFill>
                <a:latin typeface="Söhne"/>
              </a:rPr>
              <a:t>and</a:t>
            </a:r>
            <a:r>
              <a:rPr lang="en-US" sz="2400" b="0" i="0" dirty="0">
                <a:solidFill>
                  <a:srgbClr val="0D0D0D"/>
                </a:solidFill>
                <a:effectLst/>
                <a:latin typeface="Söhne"/>
              </a:rPr>
              <a:t> the leading bit of the mantissa is no longer assumed to be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prstClr val="black"/>
                </a:solidFill>
                <a:latin typeface="Arial"/>
                <a:ea typeface="新細明體"/>
              </a:rPr>
              <a:t>so the smallest number would</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be 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-149</a:t>
            </a:r>
            <a:endParaRPr kumimoji="0" lang="en-US" sz="2400" b="0" i="1" u="none" strike="noStrike" kern="1200" cap="none" spc="0" normalizeH="0" baseline="0" noProof="0" dirty="0">
              <a:ln>
                <a:noFill/>
              </a:ln>
              <a:solidFill>
                <a:srgbClr val="F7964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solidFill>
                <a:schemeClr val="accent6"/>
              </a:solidFill>
            </a:endParaRPr>
          </a:p>
        </p:txBody>
      </p:sp>
    </p:spTree>
    <p:extLst>
      <p:ext uri="{BB962C8B-B14F-4D97-AF65-F5344CB8AC3E}">
        <p14:creationId xmlns:p14="http://schemas.microsoft.com/office/powerpoint/2010/main" val="2176325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Exponents in Biased Form</a:t>
            </a:r>
          </a:p>
        </p:txBody>
      </p:sp>
      <p:sp>
        <p:nvSpPr>
          <p:cNvPr id="8" name="灯片编号占位符 7"/>
          <p:cNvSpPr>
            <a:spLocks noGrp="1"/>
          </p:cNvSpPr>
          <p:nvPr>
            <p:ph type="sldNum" sz="quarter" idx="10"/>
          </p:nvPr>
        </p:nvSpPr>
        <p:spPr/>
        <p:txBody>
          <a:bodyPr/>
          <a:lstStyle/>
          <a:p>
            <a:fld id="{D9B6BDF2-6896-4B98-8776-C18582F63BA5}" type="slidenum">
              <a:rPr lang="zh-TW" altLang="en-US" smtClean="0"/>
              <a:t>7</a:t>
            </a:fld>
            <a:endParaRPr lang="zh-TW" altLang="en-US"/>
          </a:p>
        </p:txBody>
      </p:sp>
      <p:sp>
        <p:nvSpPr>
          <p:cNvPr id="9" name="TextBox 8">
            <a:extLst>
              <a:ext uri="{FF2B5EF4-FFF2-40B4-BE49-F238E27FC236}">
                <a16:creationId xmlns:a16="http://schemas.microsoft.com/office/drawing/2014/main" id="{04D27AB1-5739-4270-BFD3-271B6E1E8C4C}"/>
              </a:ext>
            </a:extLst>
          </p:cNvPr>
          <p:cNvSpPr txBox="1"/>
          <p:nvPr/>
        </p:nvSpPr>
        <p:spPr>
          <a:xfrm>
            <a:off x="612844" y="1443593"/>
            <a:ext cx="11245173"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The biased representation simplifies comparisons. We can sort floating-point numbers like integers. A number with a larger exponent will be greater than a number with a smaller exponent (i.e. just call an integer sort routine to sort a group of floating point numbers)</a:t>
            </a:r>
          </a:p>
        </p:txBody>
      </p:sp>
      <p:sp>
        <p:nvSpPr>
          <p:cNvPr id="6" name="TextBox 5">
            <a:extLst>
              <a:ext uri="{FF2B5EF4-FFF2-40B4-BE49-F238E27FC236}">
                <a16:creationId xmlns:a16="http://schemas.microsoft.com/office/drawing/2014/main" id="{E18900C1-AAD0-482F-A31D-D463B766C708}"/>
              </a:ext>
            </a:extLst>
          </p:cNvPr>
          <p:cNvSpPr txBox="1"/>
          <p:nvPr/>
        </p:nvSpPr>
        <p:spPr>
          <a:xfrm>
            <a:off x="612843" y="3727148"/>
            <a:ext cx="11245173"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If the exponent is represented in 2’s complement numbers, then a comparison of the exponents must be separated out, not as part of an integer number. Since if treated as part of an integer number, the exponents will be compared like unsigned numbers. </a:t>
            </a:r>
          </a:p>
        </p:txBody>
      </p:sp>
    </p:spTree>
    <p:extLst>
      <p:ext uri="{BB962C8B-B14F-4D97-AF65-F5344CB8AC3E}">
        <p14:creationId xmlns:p14="http://schemas.microsoft.com/office/powerpoint/2010/main" val="4261969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not Fixed-Point Numbers</a:t>
            </a:r>
          </a:p>
        </p:txBody>
      </p:sp>
      <p:sp>
        <p:nvSpPr>
          <p:cNvPr id="3" name="Content Placeholder 2"/>
          <p:cNvSpPr>
            <a:spLocks noGrp="1"/>
          </p:cNvSpPr>
          <p:nvPr>
            <p:ph idx="1"/>
          </p:nvPr>
        </p:nvSpPr>
        <p:spPr>
          <a:xfrm>
            <a:off x="612844" y="4114800"/>
            <a:ext cx="10969556" cy="1906588"/>
          </a:xfrm>
        </p:spPr>
        <p:txBody>
          <a:bodyPr>
            <a:normAutofit/>
          </a:bodyPr>
          <a:lstStyle/>
          <a:p>
            <a:endParaRPr lang="en-US" dirty="0"/>
          </a:p>
        </p:txBody>
      </p:sp>
      <p:sp>
        <p:nvSpPr>
          <p:cNvPr id="8" name="灯片编号占位符 7"/>
          <p:cNvSpPr>
            <a:spLocks noGrp="1"/>
          </p:cNvSpPr>
          <p:nvPr>
            <p:ph type="sldNum" sz="quarter" idx="10"/>
          </p:nvPr>
        </p:nvSpPr>
        <p:spPr/>
        <p:txBody>
          <a:bodyPr/>
          <a:lstStyle/>
          <a:p>
            <a:fld id="{D9B6BDF2-6896-4B98-8776-C18582F63BA5}" type="slidenum">
              <a:rPr lang="zh-TW" altLang="en-US" smtClean="0"/>
              <a:t>8</a:t>
            </a:fld>
            <a:endParaRPr lang="zh-TW" altLang="en-US"/>
          </a:p>
        </p:txBody>
      </p:sp>
      <p:sp>
        <p:nvSpPr>
          <p:cNvPr id="9" name="TextBox 8">
            <a:extLst>
              <a:ext uri="{FF2B5EF4-FFF2-40B4-BE49-F238E27FC236}">
                <a16:creationId xmlns:a16="http://schemas.microsoft.com/office/drawing/2014/main" id="{04D27AB1-5739-4270-BFD3-271B6E1E8C4C}"/>
              </a:ext>
            </a:extLst>
          </p:cNvPr>
          <p:cNvSpPr txBox="1"/>
          <p:nvPr/>
        </p:nvSpPr>
        <p:spPr>
          <a:xfrm>
            <a:off x="322415" y="1005443"/>
            <a:ext cx="11245173" cy="2585323"/>
          </a:xfrm>
          <a:prstGeom prst="rect">
            <a:avLst/>
          </a:prstGeom>
          <a:noFill/>
        </p:spPr>
        <p:txBody>
          <a:bodyPr wrap="square">
            <a:spAutoFit/>
          </a:bodyPr>
          <a:lstStyle/>
          <a:p>
            <a:r>
              <a:rPr lang="en-US" sz="2400" i="1" dirty="0">
                <a:solidFill>
                  <a:prstClr val="black"/>
                </a:solidFill>
                <a:latin typeface="Arial"/>
                <a:ea typeface="新細明體"/>
              </a:rPr>
              <a:t>The largest </a:t>
            </a:r>
            <a:r>
              <a:rPr kumimoji="0" lang="en-US" sz="2400" b="0" i="1" u="none" strike="noStrike" kern="1200" cap="none" spc="0" normalizeH="0" baseline="0" noProof="0" dirty="0">
                <a:ln>
                  <a:noFill/>
                </a:ln>
                <a:solidFill>
                  <a:prstClr val="black"/>
                </a:solidFill>
                <a:effectLst/>
                <a:uLnTx/>
                <a:uFillTx/>
                <a:latin typeface="Arial"/>
                <a:ea typeface="新細明體"/>
                <a:cs typeface="+mn-cs"/>
              </a:rPr>
              <a:t> SP number is </a:t>
            </a:r>
            <a:r>
              <a:rPr lang="en-US" sz="2400" dirty="0">
                <a:solidFill>
                  <a:srgbClr val="0D0D0D"/>
                </a:solidFill>
              </a:rPr>
              <a:t>~ </a:t>
            </a:r>
            <a:r>
              <a:rPr lang="en-US" sz="2400" b="0" i="0" dirty="0">
                <a:solidFill>
                  <a:srgbClr val="0D0D0D"/>
                </a:solidFill>
                <a:effectLst/>
              </a:rPr>
              <a:t>3.4028235 </a:t>
            </a:r>
            <a:r>
              <a:rPr lang="en-US" b="0" i="0" dirty="0">
                <a:solidFill>
                  <a:srgbClr val="0D0D0D"/>
                </a:solidFill>
                <a:effectLst/>
                <a:latin typeface="KaTeX_Main"/>
              </a:rPr>
              <a:t>× </a:t>
            </a:r>
            <a:r>
              <a:rPr lang="en-US" sz="2400" dirty="0">
                <a:solidFill>
                  <a:prstClr val="black"/>
                </a:solidFill>
                <a:latin typeface="Arial"/>
                <a:ea typeface="新細明體"/>
              </a:rPr>
              <a:t>10</a:t>
            </a:r>
            <a:r>
              <a:rPr lang="en-US" sz="2400" baseline="30000" dirty="0">
                <a:solidFill>
                  <a:prstClr val="black"/>
                </a:solidFill>
                <a:latin typeface="Arial"/>
                <a:ea typeface="新細明體"/>
              </a:rPr>
              <a:t>38  </a:t>
            </a:r>
            <a:br>
              <a:rPr lang="en-US" dirty="0"/>
            </a:br>
            <a:r>
              <a:rPr lang="en-US" dirty="0"/>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rgbClr val="92D050"/>
                </a:solidFill>
                <a:effectLst/>
                <a:uLnTx/>
                <a:uFillTx/>
                <a:latin typeface="Arial"/>
                <a:ea typeface="新細明體"/>
                <a:cs typeface="+mn-cs"/>
              </a:rPr>
              <a:t>11111110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chemeClr val="accent6"/>
                </a:solidFill>
                <a:effectLst/>
                <a:uLnTx/>
                <a:uFillTx/>
                <a:latin typeface="Arial"/>
                <a:ea typeface="新細明體"/>
                <a:cs typeface="+mn-cs"/>
              </a:rPr>
              <a:t>11111111111111111111111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Arial"/>
                <a:ea typeface="新細明體"/>
                <a:cs typeface="+mn-cs"/>
              </a:rPr>
              <a:t>The smallest SP number (normalized) is</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-126</a:t>
            </a:r>
            <a:r>
              <a:rPr lang="en-US" sz="2400" dirty="0">
                <a:solidFill>
                  <a:srgbClr val="0D0D0D"/>
                </a:solidFill>
                <a:latin typeface="KaTeX_Main"/>
                <a:ea typeface="新細明體"/>
              </a:rPr>
              <a:t> </a:t>
            </a:r>
            <a:r>
              <a:rPr kumimoji="0" lang="en-US" sz="2400" b="0" i="0" u="none" strike="noStrike" kern="1200" cap="none" spc="0" normalizeH="0" baseline="0" noProof="0" dirty="0">
                <a:ln>
                  <a:noFill/>
                </a:ln>
                <a:solidFill>
                  <a:srgbClr val="0D0D0D"/>
                </a:solidFill>
                <a:effectLst/>
                <a:uLnTx/>
                <a:uFillTx/>
                <a:latin typeface="Söhne"/>
                <a:ea typeface="新細明體"/>
                <a:cs typeface="+mn-cs"/>
              </a:rPr>
              <a:t>  </a:t>
            </a:r>
            <a:br>
              <a:rPr kumimoji="0" lang="en-US" sz="1800" b="0" i="0" u="none" strike="noStrike" kern="1200" cap="none" spc="0" normalizeH="0" baseline="0" noProof="0" dirty="0">
                <a:ln>
                  <a:noFill/>
                </a:ln>
                <a:solidFill>
                  <a:prstClr val="black"/>
                </a:solidFill>
                <a:effectLst/>
                <a:uLnTx/>
                <a:uFillTx/>
                <a:latin typeface="Arial"/>
                <a:ea typeface="新細明體"/>
                <a:cs typeface="+mn-cs"/>
              </a:rPr>
            </a:br>
            <a:r>
              <a:rPr kumimoji="0" lang="en-US" sz="18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92D050"/>
                </a:solidFill>
                <a:latin typeface="Arial"/>
                <a:ea typeface="新細明體"/>
              </a:rPr>
              <a:t>00000001</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F79646"/>
                </a:solidFill>
                <a:latin typeface="Arial"/>
                <a:ea typeface="新細明體"/>
              </a:rPr>
              <a:t>00000000000000000000000</a:t>
            </a:r>
            <a:endParaRPr kumimoji="0" lang="en-US" sz="2400" b="0" i="0" u="none" strike="noStrike" kern="1200" cap="none" spc="0" normalizeH="0" baseline="0" noProof="0" dirty="0">
              <a:ln>
                <a:noFill/>
              </a:ln>
              <a:solidFill>
                <a:srgbClr val="F7964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1" dirty="0">
                <a:solidFill>
                  <a:srgbClr val="FF0000"/>
                </a:solidFill>
                <a:latin typeface="Söhne"/>
              </a:rPr>
              <a:t>denormalized</a:t>
            </a:r>
            <a:r>
              <a:rPr lang="en-US" sz="2400" dirty="0">
                <a:solidFill>
                  <a:srgbClr val="0D0D0D"/>
                </a:solidFill>
                <a:latin typeface="Söhne"/>
              </a:rPr>
              <a:t> </a:t>
            </a:r>
            <a:r>
              <a:rPr lang="en-US" sz="2400" b="0" i="0" dirty="0">
                <a:solidFill>
                  <a:srgbClr val="0D0D0D"/>
                </a:solidFill>
                <a:effectLst/>
                <a:latin typeface="Söhne"/>
              </a:rPr>
              <a:t>numbers, where the exponent is 0, </a:t>
            </a:r>
            <a:r>
              <a:rPr lang="en-US" sz="2400" dirty="0">
                <a:solidFill>
                  <a:srgbClr val="0D0D0D"/>
                </a:solidFill>
                <a:latin typeface="Söhne"/>
              </a:rPr>
              <a:t>and</a:t>
            </a:r>
            <a:r>
              <a:rPr lang="en-US" sz="2400" b="0" i="0" dirty="0">
                <a:solidFill>
                  <a:srgbClr val="0D0D0D"/>
                </a:solidFill>
                <a:effectLst/>
                <a:latin typeface="Söhne"/>
              </a:rPr>
              <a:t> the leading bit of the mantissa is no longer assumed to be 1,</a:t>
            </a:r>
            <a:r>
              <a:rPr lang="en-US" sz="2400" b="0" i="0" dirty="0">
                <a:solidFill>
                  <a:prstClr val="black"/>
                </a:solidFill>
                <a:effectLst/>
                <a:latin typeface="Arial"/>
                <a:ea typeface="新細明體"/>
              </a:rPr>
              <a:t> </a:t>
            </a:r>
            <a:r>
              <a:rPr lang="en-US" sz="2400" dirty="0">
                <a:solidFill>
                  <a:prstClr val="black"/>
                </a:solidFill>
                <a:latin typeface="Arial"/>
                <a:ea typeface="新細明體"/>
              </a:rPr>
              <a:t>the smallest </a:t>
            </a:r>
            <a:r>
              <a:rPr lang="en-US" sz="2400" dirty="0" err="1">
                <a:solidFill>
                  <a:prstClr val="black"/>
                </a:solidFill>
                <a:latin typeface="Arial"/>
                <a:ea typeface="新細明體"/>
              </a:rPr>
              <a:t>denorm</a:t>
            </a:r>
            <a:r>
              <a:rPr lang="en-US" sz="2400" dirty="0">
                <a:solidFill>
                  <a:prstClr val="black"/>
                </a:solidFill>
                <a:latin typeface="Arial"/>
                <a:ea typeface="新細明體"/>
              </a:rPr>
              <a:t> would</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be 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-149</a:t>
            </a:r>
            <a:endParaRPr kumimoji="0" lang="en-US" sz="2400" b="0" i="1" u="none" strike="noStrike" kern="1200" cap="none" spc="0" normalizeH="0" baseline="0" noProof="0" dirty="0">
              <a:ln>
                <a:noFill/>
              </a:ln>
              <a:solidFill>
                <a:srgbClr val="F7964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solidFill>
                <a:schemeClr val="accent6"/>
              </a:solidFill>
            </a:endParaRPr>
          </a:p>
        </p:txBody>
      </p:sp>
    </p:spTree>
    <p:extLst>
      <p:ext uri="{BB962C8B-B14F-4D97-AF65-F5344CB8AC3E}">
        <p14:creationId xmlns:p14="http://schemas.microsoft.com/office/powerpoint/2010/main" val="542675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not Fixed-Point Numbers</a:t>
            </a:r>
          </a:p>
        </p:txBody>
      </p:sp>
      <p:sp>
        <p:nvSpPr>
          <p:cNvPr id="3" name="Content Placeholder 2"/>
          <p:cNvSpPr>
            <a:spLocks noGrp="1"/>
          </p:cNvSpPr>
          <p:nvPr>
            <p:ph idx="1"/>
          </p:nvPr>
        </p:nvSpPr>
        <p:spPr>
          <a:xfrm>
            <a:off x="322415" y="3343274"/>
            <a:ext cx="10969556" cy="2585323"/>
          </a:xfrm>
        </p:spPr>
        <p:txBody>
          <a:bodyPr>
            <a:normAutofit fontScale="92500"/>
          </a:bodyPr>
          <a:lstStyle/>
          <a:p>
            <a:pPr marL="0" indent="0">
              <a:buNone/>
            </a:pPr>
            <a:r>
              <a:rPr lang="en-US" sz="2800" dirty="0"/>
              <a:t>The range of real numbers we can represent in floating point numbers is</a:t>
            </a:r>
          </a:p>
          <a:p>
            <a:pPr marL="0" indent="0">
              <a:buNone/>
            </a:pPr>
            <a:r>
              <a:rPr lang="en-US" sz="2800" dirty="0"/>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10</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38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to </a:t>
            </a:r>
            <a:r>
              <a:rPr kumimoji="1" lang="en-US"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10</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-38  </a:t>
            </a:r>
          </a:p>
          <a:p>
            <a:pPr marL="0" indent="0">
              <a:buNone/>
            </a:pPr>
            <a:r>
              <a:rPr kumimoji="0" lang="en-US" sz="2400" b="0" i="0" u="none" strike="noStrike" kern="1200" cap="none" spc="0" normalizeH="0" baseline="0" noProof="0" dirty="0">
                <a:ln>
                  <a:noFill/>
                </a:ln>
                <a:solidFill>
                  <a:prstClr val="black"/>
                </a:solidFill>
                <a:effectLst/>
                <a:uLnTx/>
                <a:uFillTx/>
                <a:latin typeface="Arial"/>
                <a:ea typeface="新細明體"/>
                <a:cs typeface="+mn-cs"/>
              </a:rPr>
              <a:t> What if we use a </a:t>
            </a:r>
            <a:r>
              <a:rPr kumimoji="0" lang="en-US" sz="2600" b="0" i="0" u="none" strike="noStrike" kern="1200" cap="none" spc="0" normalizeH="0" baseline="0" noProof="0" dirty="0">
                <a:ln>
                  <a:noFill/>
                </a:ln>
                <a:solidFill>
                  <a:srgbClr val="FF0000"/>
                </a:solidFill>
                <a:effectLst/>
                <a:uLnTx/>
                <a:uFillTx/>
                <a:latin typeface="Arial"/>
                <a:ea typeface="新細明體"/>
                <a:cs typeface="+mn-cs"/>
              </a:rPr>
              <a:t>fixed point representation</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a:t>
            </a:r>
          </a:p>
          <a:p>
            <a:pPr marL="0" indent="0">
              <a:buNone/>
            </a:pPr>
            <a:r>
              <a:rPr kumimoji="0" lang="en-US" sz="2400" kern="1200" dirty="0">
                <a:solidFill>
                  <a:prstClr val="black"/>
                </a:solidFill>
                <a:latin typeface="Arial"/>
                <a:ea typeface="新細明體"/>
              </a:rPr>
              <a:t>	</a:t>
            </a:r>
            <a:r>
              <a:rPr kumimoji="0" lang="en-US" sz="2400" kern="1200" dirty="0" err="1">
                <a:solidFill>
                  <a:srgbClr val="FF0000"/>
                </a:solidFill>
                <a:latin typeface="Arial"/>
                <a:ea typeface="新細明體"/>
              </a:rPr>
              <a:t>xxxxx.yyyyy</a:t>
            </a:r>
            <a:r>
              <a:rPr kumimoji="0" lang="en-US" sz="2400" kern="1200" dirty="0">
                <a:solidFill>
                  <a:srgbClr val="FF0000"/>
                </a:solidFill>
                <a:latin typeface="Arial"/>
                <a:ea typeface="新細明體"/>
              </a:rPr>
              <a:t> </a:t>
            </a:r>
            <a:r>
              <a:rPr kumimoji="0" lang="en-US" sz="2400" kern="1200" dirty="0">
                <a:solidFill>
                  <a:prstClr val="black"/>
                </a:solidFill>
                <a:latin typeface="Arial"/>
                <a:ea typeface="新細明體"/>
              </a:rPr>
              <a:t>where the binary point is fixed. </a:t>
            </a:r>
          </a:p>
          <a:p>
            <a:pPr marL="0" indent="0">
              <a:buNone/>
            </a:pPr>
            <a:r>
              <a:rPr kumimoji="0" lang="en-US" sz="2400" kern="1200" dirty="0">
                <a:solidFill>
                  <a:prstClr val="black"/>
                </a:solidFill>
                <a:latin typeface="Arial"/>
                <a:ea typeface="新細明體"/>
              </a:rPr>
              <a:t>Assume 32 bit are divided into two parts: the integer part (</a:t>
            </a:r>
            <a:r>
              <a:rPr kumimoji="0" lang="en-US" sz="2400" kern="1200" dirty="0" err="1">
                <a:solidFill>
                  <a:prstClr val="black"/>
                </a:solidFill>
                <a:latin typeface="Arial"/>
                <a:ea typeface="新細明體"/>
              </a:rPr>
              <a:t>xxxxx</a:t>
            </a:r>
            <a:r>
              <a:rPr kumimoji="0" lang="en-US" sz="2400" kern="1200" dirty="0">
                <a:solidFill>
                  <a:prstClr val="black"/>
                </a:solidFill>
                <a:latin typeface="Arial"/>
                <a:ea typeface="新細明體"/>
              </a:rPr>
              <a:t>) and the fraction part </a:t>
            </a:r>
            <a:r>
              <a:rPr kumimoji="0" lang="en-US" sz="2400" kern="1200" dirty="0" err="1">
                <a:solidFill>
                  <a:prstClr val="black"/>
                </a:solidFill>
                <a:latin typeface="Arial"/>
                <a:ea typeface="新細明體"/>
              </a:rPr>
              <a:t>yyyyy</a:t>
            </a:r>
            <a:r>
              <a:rPr kumimoji="0" lang="en-US" sz="2400" kern="1200" dirty="0">
                <a:solidFill>
                  <a:prstClr val="black"/>
                </a:solidFill>
                <a:latin typeface="Arial"/>
                <a:ea typeface="新細明體"/>
              </a:rPr>
              <a:t>. Each takes 16 bits. What range can this number system cover?</a:t>
            </a:r>
          </a:p>
          <a:p>
            <a:pPr marL="0" indent="0">
              <a:buNone/>
            </a:pPr>
            <a:endParaRPr kumimoji="0" lang="en-US" sz="2400" kern="1200" dirty="0">
              <a:solidFill>
                <a:prstClr val="black"/>
              </a:solidFill>
              <a:latin typeface="Arial"/>
              <a:ea typeface="新細明體"/>
            </a:endParaRPr>
          </a:p>
        </p:txBody>
      </p:sp>
      <p:sp>
        <p:nvSpPr>
          <p:cNvPr id="8" name="灯片编号占位符 7"/>
          <p:cNvSpPr>
            <a:spLocks noGrp="1"/>
          </p:cNvSpPr>
          <p:nvPr>
            <p:ph type="sldNum" sz="quarter" idx="10"/>
          </p:nvPr>
        </p:nvSpPr>
        <p:spPr/>
        <p:txBody>
          <a:bodyPr/>
          <a:lstStyle/>
          <a:p>
            <a:fld id="{D9B6BDF2-6896-4B98-8776-C18582F63BA5}" type="slidenum">
              <a:rPr lang="zh-TW" altLang="en-US" smtClean="0"/>
              <a:t>9</a:t>
            </a:fld>
            <a:endParaRPr lang="zh-TW" altLang="en-US"/>
          </a:p>
        </p:txBody>
      </p:sp>
      <p:sp>
        <p:nvSpPr>
          <p:cNvPr id="9" name="TextBox 8">
            <a:extLst>
              <a:ext uri="{FF2B5EF4-FFF2-40B4-BE49-F238E27FC236}">
                <a16:creationId xmlns:a16="http://schemas.microsoft.com/office/drawing/2014/main" id="{04D27AB1-5739-4270-BFD3-271B6E1E8C4C}"/>
              </a:ext>
            </a:extLst>
          </p:cNvPr>
          <p:cNvSpPr txBox="1"/>
          <p:nvPr/>
        </p:nvSpPr>
        <p:spPr>
          <a:xfrm>
            <a:off x="322415" y="1005443"/>
            <a:ext cx="11245173" cy="2585323"/>
          </a:xfrm>
          <a:prstGeom prst="rect">
            <a:avLst/>
          </a:prstGeom>
          <a:noFill/>
        </p:spPr>
        <p:txBody>
          <a:bodyPr wrap="square">
            <a:spAutoFit/>
          </a:bodyPr>
          <a:lstStyle/>
          <a:p>
            <a:r>
              <a:rPr lang="en-US" sz="2400" i="1" dirty="0">
                <a:solidFill>
                  <a:prstClr val="black"/>
                </a:solidFill>
                <a:latin typeface="Arial"/>
                <a:ea typeface="新細明體"/>
              </a:rPr>
              <a:t>The largest </a:t>
            </a:r>
            <a:r>
              <a:rPr kumimoji="0" lang="en-US" sz="2400" b="0" i="1" u="none" strike="noStrike" kern="1200" cap="none" spc="0" normalizeH="0" baseline="0" noProof="0" dirty="0">
                <a:ln>
                  <a:noFill/>
                </a:ln>
                <a:solidFill>
                  <a:prstClr val="black"/>
                </a:solidFill>
                <a:effectLst/>
                <a:uLnTx/>
                <a:uFillTx/>
                <a:latin typeface="Arial"/>
                <a:ea typeface="新細明體"/>
                <a:cs typeface="+mn-cs"/>
              </a:rPr>
              <a:t> SP number is </a:t>
            </a:r>
            <a:r>
              <a:rPr lang="en-US" sz="2400" dirty="0">
                <a:solidFill>
                  <a:srgbClr val="0D0D0D"/>
                </a:solidFill>
              </a:rPr>
              <a:t>~ </a:t>
            </a:r>
            <a:r>
              <a:rPr lang="en-US" sz="2400" b="0" i="0" dirty="0">
                <a:solidFill>
                  <a:srgbClr val="0D0D0D"/>
                </a:solidFill>
                <a:effectLst/>
              </a:rPr>
              <a:t>3.4028235 </a:t>
            </a:r>
            <a:r>
              <a:rPr lang="en-US" b="0" i="0" dirty="0">
                <a:solidFill>
                  <a:srgbClr val="0D0D0D"/>
                </a:solidFill>
                <a:effectLst/>
                <a:latin typeface="KaTeX_Main"/>
              </a:rPr>
              <a:t>× </a:t>
            </a:r>
            <a:r>
              <a:rPr lang="en-US" sz="2400" dirty="0">
                <a:solidFill>
                  <a:prstClr val="black"/>
                </a:solidFill>
                <a:latin typeface="Arial"/>
                <a:ea typeface="新細明體"/>
              </a:rPr>
              <a:t>10</a:t>
            </a:r>
            <a:r>
              <a:rPr lang="en-US" sz="2400" baseline="30000" dirty="0">
                <a:solidFill>
                  <a:prstClr val="black"/>
                </a:solidFill>
                <a:latin typeface="Arial"/>
                <a:ea typeface="新細明體"/>
              </a:rPr>
              <a:t>38  </a:t>
            </a:r>
            <a:br>
              <a:rPr lang="en-US" dirty="0"/>
            </a:br>
            <a:r>
              <a:rPr lang="en-US" dirty="0"/>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rgbClr val="92D050"/>
                </a:solidFill>
                <a:effectLst/>
                <a:uLnTx/>
                <a:uFillTx/>
                <a:latin typeface="Arial"/>
                <a:ea typeface="新細明體"/>
                <a:cs typeface="+mn-cs"/>
              </a:rPr>
              <a:t>11111110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chemeClr val="accent6"/>
                </a:solidFill>
                <a:effectLst/>
                <a:uLnTx/>
                <a:uFillTx/>
                <a:latin typeface="Arial"/>
                <a:ea typeface="新細明體"/>
                <a:cs typeface="+mn-cs"/>
              </a:rPr>
              <a:t>11111111111111111111111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Arial"/>
                <a:ea typeface="新細明體"/>
                <a:cs typeface="+mn-cs"/>
              </a:rPr>
              <a:t>The smallest SP number (normalized) is</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-126</a:t>
            </a:r>
            <a:r>
              <a:rPr lang="en-US" sz="2400" dirty="0">
                <a:solidFill>
                  <a:srgbClr val="0D0D0D"/>
                </a:solidFill>
                <a:latin typeface="KaTeX_Main"/>
                <a:ea typeface="新細明體"/>
              </a:rPr>
              <a:t> </a:t>
            </a:r>
            <a:r>
              <a:rPr kumimoji="0" lang="en-US" sz="2400" b="0" i="0" u="none" strike="noStrike" kern="1200" cap="none" spc="0" normalizeH="0" baseline="0" noProof="0" dirty="0">
                <a:ln>
                  <a:noFill/>
                </a:ln>
                <a:solidFill>
                  <a:srgbClr val="0D0D0D"/>
                </a:solidFill>
                <a:effectLst/>
                <a:uLnTx/>
                <a:uFillTx/>
                <a:latin typeface="Söhne"/>
                <a:ea typeface="新細明體"/>
                <a:cs typeface="+mn-cs"/>
              </a:rPr>
              <a:t>  </a:t>
            </a:r>
            <a:br>
              <a:rPr kumimoji="0" lang="en-US" sz="1800" b="0" i="0" u="none" strike="noStrike" kern="1200" cap="none" spc="0" normalizeH="0" baseline="0" noProof="0" dirty="0">
                <a:ln>
                  <a:noFill/>
                </a:ln>
                <a:solidFill>
                  <a:prstClr val="black"/>
                </a:solidFill>
                <a:effectLst/>
                <a:uLnTx/>
                <a:uFillTx/>
                <a:latin typeface="Arial"/>
                <a:ea typeface="新細明體"/>
                <a:cs typeface="+mn-cs"/>
              </a:rPr>
            </a:br>
            <a:r>
              <a:rPr kumimoji="0" lang="en-US" sz="18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92D050"/>
                </a:solidFill>
                <a:latin typeface="Arial"/>
                <a:ea typeface="新細明體"/>
              </a:rPr>
              <a:t>00000001</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F79646"/>
                </a:solidFill>
                <a:latin typeface="Arial"/>
                <a:ea typeface="新細明體"/>
              </a:rPr>
              <a:t>00000000000000000000000</a:t>
            </a:r>
            <a:endParaRPr kumimoji="0" lang="en-US" sz="2400" b="0" i="0" u="none" strike="noStrike" kern="1200" cap="none" spc="0" normalizeH="0" baseline="0" noProof="0" dirty="0">
              <a:ln>
                <a:noFill/>
              </a:ln>
              <a:solidFill>
                <a:srgbClr val="F7964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1" dirty="0">
                <a:solidFill>
                  <a:srgbClr val="FF0000"/>
                </a:solidFill>
                <a:latin typeface="Söhne"/>
              </a:rPr>
              <a:t>denormalized</a:t>
            </a:r>
            <a:r>
              <a:rPr lang="en-US" sz="2400" dirty="0">
                <a:solidFill>
                  <a:srgbClr val="0D0D0D"/>
                </a:solidFill>
                <a:latin typeface="Söhne"/>
              </a:rPr>
              <a:t> </a:t>
            </a:r>
            <a:r>
              <a:rPr lang="en-US" sz="2400" b="0" i="0" dirty="0">
                <a:solidFill>
                  <a:srgbClr val="0D0D0D"/>
                </a:solidFill>
                <a:effectLst/>
                <a:latin typeface="Söhne"/>
              </a:rPr>
              <a:t>numbers, where the exponent is 0, </a:t>
            </a:r>
            <a:r>
              <a:rPr lang="en-US" sz="2400" dirty="0">
                <a:solidFill>
                  <a:srgbClr val="0D0D0D"/>
                </a:solidFill>
                <a:latin typeface="Söhne"/>
              </a:rPr>
              <a:t>and</a:t>
            </a:r>
            <a:r>
              <a:rPr lang="en-US" sz="2400" b="0" i="0" dirty="0">
                <a:solidFill>
                  <a:srgbClr val="0D0D0D"/>
                </a:solidFill>
                <a:effectLst/>
                <a:latin typeface="Söhne"/>
              </a:rPr>
              <a:t> the leading bit of the mantissa is no longer assumed to be 1,</a:t>
            </a:r>
            <a:r>
              <a:rPr lang="en-US" sz="2400" b="0" i="0" dirty="0">
                <a:solidFill>
                  <a:prstClr val="black"/>
                </a:solidFill>
                <a:effectLst/>
                <a:latin typeface="Arial"/>
                <a:ea typeface="新細明體"/>
              </a:rPr>
              <a:t> </a:t>
            </a:r>
            <a:r>
              <a:rPr lang="en-US" sz="2400" dirty="0">
                <a:solidFill>
                  <a:prstClr val="black"/>
                </a:solidFill>
                <a:latin typeface="Arial"/>
                <a:ea typeface="新細明體"/>
              </a:rPr>
              <a:t>the smallest </a:t>
            </a:r>
            <a:r>
              <a:rPr lang="en-US" sz="2400" dirty="0" err="1">
                <a:solidFill>
                  <a:prstClr val="black"/>
                </a:solidFill>
                <a:latin typeface="Arial"/>
                <a:ea typeface="新細明體"/>
              </a:rPr>
              <a:t>denorm</a:t>
            </a:r>
            <a:r>
              <a:rPr lang="en-US" sz="2400" dirty="0">
                <a:solidFill>
                  <a:prstClr val="black"/>
                </a:solidFill>
                <a:latin typeface="Arial"/>
                <a:ea typeface="新細明體"/>
              </a:rPr>
              <a:t> would</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be 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-149</a:t>
            </a:r>
            <a:endParaRPr kumimoji="0" lang="en-US" sz="2400" b="0" i="1" u="none" strike="noStrike" kern="1200" cap="none" spc="0" normalizeH="0" baseline="0" noProof="0" dirty="0">
              <a:ln>
                <a:noFill/>
              </a:ln>
              <a:solidFill>
                <a:srgbClr val="F7964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solidFill>
                <a:schemeClr val="accent6"/>
              </a:solidFill>
            </a:endParaRPr>
          </a:p>
        </p:txBody>
      </p:sp>
    </p:spTree>
    <p:extLst>
      <p:ext uri="{BB962C8B-B14F-4D97-AF65-F5344CB8AC3E}">
        <p14:creationId xmlns:p14="http://schemas.microsoft.com/office/powerpoint/2010/main" val="803970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not Fixed-Point Numbers</a:t>
            </a:r>
          </a:p>
        </p:txBody>
      </p:sp>
      <p:sp>
        <p:nvSpPr>
          <p:cNvPr id="3" name="Content Placeholder 2"/>
          <p:cNvSpPr>
            <a:spLocks noGrp="1"/>
          </p:cNvSpPr>
          <p:nvPr>
            <p:ph idx="1"/>
          </p:nvPr>
        </p:nvSpPr>
        <p:spPr>
          <a:xfrm>
            <a:off x="322415" y="3343274"/>
            <a:ext cx="10969556" cy="2585323"/>
          </a:xfrm>
        </p:spPr>
        <p:txBody>
          <a:bodyPr>
            <a:normAutofit fontScale="92500"/>
          </a:bodyPr>
          <a:lstStyle/>
          <a:p>
            <a:pPr marL="0" indent="0">
              <a:buNone/>
            </a:pPr>
            <a:r>
              <a:rPr lang="en-US" sz="2800" dirty="0"/>
              <a:t>The range of real numbers we can represent in floating point numbers is</a:t>
            </a:r>
          </a:p>
          <a:p>
            <a:pPr marL="0" indent="0">
              <a:buNone/>
            </a:pPr>
            <a:r>
              <a:rPr lang="en-US" sz="2800" dirty="0"/>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10</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38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to </a:t>
            </a:r>
            <a:r>
              <a:rPr kumimoji="1" lang="en-US"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10</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-38  </a:t>
            </a:r>
          </a:p>
          <a:p>
            <a:pPr marL="0" indent="0">
              <a:buNone/>
            </a:pPr>
            <a:r>
              <a:rPr kumimoji="0" lang="en-US" sz="2400" b="0" i="0" u="none" strike="noStrike" kern="1200" cap="none" spc="0" normalizeH="0" baseline="0" noProof="0" dirty="0">
                <a:ln>
                  <a:noFill/>
                </a:ln>
                <a:solidFill>
                  <a:prstClr val="black"/>
                </a:solidFill>
                <a:effectLst/>
                <a:uLnTx/>
                <a:uFillTx/>
                <a:latin typeface="Arial"/>
                <a:ea typeface="新細明體"/>
                <a:cs typeface="+mn-cs"/>
              </a:rPr>
              <a:t> What if we use a fixed point representation:</a:t>
            </a:r>
          </a:p>
          <a:p>
            <a:pPr marL="0" indent="0">
              <a:buNone/>
            </a:pPr>
            <a:r>
              <a:rPr kumimoji="0" lang="en-US" sz="2400" kern="1200" dirty="0">
                <a:solidFill>
                  <a:prstClr val="black"/>
                </a:solidFill>
                <a:latin typeface="Arial"/>
                <a:ea typeface="新細明體"/>
              </a:rPr>
              <a:t>	</a:t>
            </a:r>
            <a:r>
              <a:rPr kumimoji="0" lang="en-US" sz="2400" kern="1200" dirty="0" err="1">
                <a:solidFill>
                  <a:prstClr val="black"/>
                </a:solidFill>
                <a:latin typeface="Arial"/>
                <a:ea typeface="新細明體"/>
              </a:rPr>
              <a:t>xxxxx.yyyyy</a:t>
            </a:r>
            <a:r>
              <a:rPr kumimoji="0" lang="en-US" sz="2400" kern="1200" dirty="0">
                <a:solidFill>
                  <a:prstClr val="black"/>
                </a:solidFill>
                <a:latin typeface="Arial"/>
                <a:ea typeface="新細明體"/>
              </a:rPr>
              <a:t> where the binary point is fixed. </a:t>
            </a:r>
          </a:p>
          <a:p>
            <a:pPr marL="0" indent="0">
              <a:buNone/>
            </a:pPr>
            <a:r>
              <a:rPr kumimoji="0" lang="en-US" sz="2400" kern="1200" dirty="0">
                <a:solidFill>
                  <a:prstClr val="black"/>
                </a:solidFill>
                <a:latin typeface="Arial"/>
                <a:ea typeface="新細明體"/>
              </a:rPr>
              <a:t>Assume 32 bit are divided into two parts: the integer part (</a:t>
            </a:r>
            <a:r>
              <a:rPr kumimoji="0" lang="en-US" sz="2400" kern="1200" dirty="0" err="1">
                <a:solidFill>
                  <a:prstClr val="black"/>
                </a:solidFill>
                <a:latin typeface="Arial"/>
                <a:ea typeface="新細明體"/>
              </a:rPr>
              <a:t>xxxxx</a:t>
            </a:r>
            <a:r>
              <a:rPr kumimoji="0" lang="en-US" sz="2400" kern="1200" dirty="0">
                <a:solidFill>
                  <a:prstClr val="black"/>
                </a:solidFill>
                <a:latin typeface="Arial"/>
                <a:ea typeface="新細明體"/>
              </a:rPr>
              <a:t>) and the fraction part </a:t>
            </a:r>
            <a:r>
              <a:rPr kumimoji="0" lang="en-US" sz="2400" kern="1200" dirty="0" err="1">
                <a:solidFill>
                  <a:prstClr val="black"/>
                </a:solidFill>
                <a:latin typeface="Arial"/>
                <a:ea typeface="新細明體"/>
              </a:rPr>
              <a:t>yyyyy</a:t>
            </a:r>
            <a:r>
              <a:rPr kumimoji="0" lang="en-US" sz="2400" kern="1200" dirty="0">
                <a:solidFill>
                  <a:prstClr val="black"/>
                </a:solidFill>
                <a:latin typeface="Arial"/>
                <a:ea typeface="新細明體"/>
              </a:rPr>
              <a:t>. Each takes 16 bits. What range can this number system cover?</a:t>
            </a:r>
          </a:p>
          <a:p>
            <a:pPr marL="0" indent="0">
              <a:buNone/>
            </a:pPr>
            <a:endParaRPr kumimoji="0" lang="en-US" sz="2400" kern="1200" dirty="0">
              <a:solidFill>
                <a:prstClr val="black"/>
              </a:solidFill>
              <a:latin typeface="Arial"/>
              <a:ea typeface="新細明體"/>
            </a:endParaRPr>
          </a:p>
        </p:txBody>
      </p:sp>
      <p:sp>
        <p:nvSpPr>
          <p:cNvPr id="8" name="灯片编号占位符 7"/>
          <p:cNvSpPr>
            <a:spLocks noGrp="1"/>
          </p:cNvSpPr>
          <p:nvPr>
            <p:ph type="sldNum" sz="quarter" idx="10"/>
          </p:nvPr>
        </p:nvSpPr>
        <p:spPr/>
        <p:txBody>
          <a:bodyPr/>
          <a:lstStyle/>
          <a:p>
            <a:fld id="{D9B6BDF2-6896-4B98-8776-C18582F63BA5}" type="slidenum">
              <a:rPr lang="zh-TW" altLang="en-US" smtClean="0"/>
              <a:t>10</a:t>
            </a:fld>
            <a:endParaRPr lang="zh-TW" altLang="en-US"/>
          </a:p>
        </p:txBody>
      </p:sp>
      <p:sp>
        <p:nvSpPr>
          <p:cNvPr id="9" name="TextBox 8">
            <a:extLst>
              <a:ext uri="{FF2B5EF4-FFF2-40B4-BE49-F238E27FC236}">
                <a16:creationId xmlns:a16="http://schemas.microsoft.com/office/drawing/2014/main" id="{04D27AB1-5739-4270-BFD3-271B6E1E8C4C}"/>
              </a:ext>
            </a:extLst>
          </p:cNvPr>
          <p:cNvSpPr txBox="1"/>
          <p:nvPr/>
        </p:nvSpPr>
        <p:spPr>
          <a:xfrm>
            <a:off x="322415" y="1005443"/>
            <a:ext cx="11245173" cy="2585323"/>
          </a:xfrm>
          <a:prstGeom prst="rect">
            <a:avLst/>
          </a:prstGeom>
          <a:noFill/>
        </p:spPr>
        <p:txBody>
          <a:bodyPr wrap="square">
            <a:spAutoFit/>
          </a:bodyPr>
          <a:lstStyle/>
          <a:p>
            <a:r>
              <a:rPr lang="en-US" sz="2400" i="1" dirty="0">
                <a:solidFill>
                  <a:prstClr val="black"/>
                </a:solidFill>
                <a:latin typeface="Arial"/>
                <a:ea typeface="新細明體"/>
              </a:rPr>
              <a:t>The largest </a:t>
            </a:r>
            <a:r>
              <a:rPr kumimoji="0" lang="en-US" sz="2400" b="0" i="1" u="none" strike="noStrike" kern="1200" cap="none" spc="0" normalizeH="0" baseline="0" noProof="0" dirty="0">
                <a:ln>
                  <a:noFill/>
                </a:ln>
                <a:solidFill>
                  <a:prstClr val="black"/>
                </a:solidFill>
                <a:effectLst/>
                <a:uLnTx/>
                <a:uFillTx/>
                <a:latin typeface="Arial"/>
                <a:ea typeface="新細明體"/>
                <a:cs typeface="+mn-cs"/>
              </a:rPr>
              <a:t> SP number is </a:t>
            </a:r>
            <a:r>
              <a:rPr lang="en-US" sz="2400" dirty="0">
                <a:solidFill>
                  <a:srgbClr val="0D0D0D"/>
                </a:solidFill>
              </a:rPr>
              <a:t>~ </a:t>
            </a:r>
            <a:r>
              <a:rPr lang="en-US" sz="2400" b="0" i="0" dirty="0">
                <a:solidFill>
                  <a:srgbClr val="0D0D0D"/>
                </a:solidFill>
                <a:effectLst/>
              </a:rPr>
              <a:t>3.4028235 </a:t>
            </a:r>
            <a:r>
              <a:rPr lang="en-US" b="0" i="0" dirty="0">
                <a:solidFill>
                  <a:srgbClr val="0D0D0D"/>
                </a:solidFill>
                <a:effectLst/>
                <a:latin typeface="KaTeX_Main"/>
              </a:rPr>
              <a:t>× </a:t>
            </a:r>
            <a:r>
              <a:rPr lang="en-US" sz="2400" dirty="0">
                <a:solidFill>
                  <a:prstClr val="black"/>
                </a:solidFill>
                <a:latin typeface="Arial"/>
                <a:ea typeface="新細明體"/>
              </a:rPr>
              <a:t>10</a:t>
            </a:r>
            <a:r>
              <a:rPr lang="en-US" sz="2400" baseline="30000" dirty="0">
                <a:solidFill>
                  <a:prstClr val="black"/>
                </a:solidFill>
                <a:latin typeface="Arial"/>
                <a:ea typeface="新細明體"/>
              </a:rPr>
              <a:t>38  </a:t>
            </a:r>
            <a:br>
              <a:rPr lang="en-US" dirty="0"/>
            </a:br>
            <a:r>
              <a:rPr lang="en-US" dirty="0"/>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rgbClr val="92D050"/>
                </a:solidFill>
                <a:effectLst/>
                <a:uLnTx/>
                <a:uFillTx/>
                <a:latin typeface="Arial"/>
                <a:ea typeface="新細明體"/>
                <a:cs typeface="+mn-cs"/>
              </a:rPr>
              <a:t>11111110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chemeClr val="accent6"/>
                </a:solidFill>
                <a:effectLst/>
                <a:uLnTx/>
                <a:uFillTx/>
                <a:latin typeface="Arial"/>
                <a:ea typeface="新細明體"/>
                <a:cs typeface="+mn-cs"/>
              </a:rPr>
              <a:t>11111111111111111111111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Arial"/>
                <a:ea typeface="新細明體"/>
                <a:cs typeface="+mn-cs"/>
              </a:rPr>
              <a:t>The smallest SP number (normalized) is</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-126</a:t>
            </a:r>
            <a:r>
              <a:rPr lang="en-US" sz="2400" dirty="0">
                <a:solidFill>
                  <a:srgbClr val="0D0D0D"/>
                </a:solidFill>
                <a:latin typeface="KaTeX_Main"/>
                <a:ea typeface="新細明體"/>
              </a:rPr>
              <a:t> </a:t>
            </a:r>
            <a:r>
              <a:rPr kumimoji="0" lang="en-US" sz="2400" b="0" i="0" u="none" strike="noStrike" kern="1200" cap="none" spc="0" normalizeH="0" baseline="0" noProof="0" dirty="0">
                <a:ln>
                  <a:noFill/>
                </a:ln>
                <a:solidFill>
                  <a:srgbClr val="0D0D0D"/>
                </a:solidFill>
                <a:effectLst/>
                <a:uLnTx/>
                <a:uFillTx/>
                <a:latin typeface="Söhne"/>
                <a:ea typeface="新細明體"/>
                <a:cs typeface="+mn-cs"/>
              </a:rPr>
              <a:t>  </a:t>
            </a:r>
            <a:br>
              <a:rPr kumimoji="0" lang="en-US" sz="1800" b="0" i="0" u="none" strike="noStrike" kern="1200" cap="none" spc="0" normalizeH="0" baseline="0" noProof="0" dirty="0">
                <a:ln>
                  <a:noFill/>
                </a:ln>
                <a:solidFill>
                  <a:prstClr val="black"/>
                </a:solidFill>
                <a:effectLst/>
                <a:uLnTx/>
                <a:uFillTx/>
                <a:latin typeface="Arial"/>
                <a:ea typeface="新細明體"/>
                <a:cs typeface="+mn-cs"/>
              </a:rPr>
            </a:br>
            <a:r>
              <a:rPr kumimoji="0" lang="en-US" sz="18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92D050"/>
                </a:solidFill>
                <a:latin typeface="Arial"/>
                <a:ea typeface="新細明體"/>
              </a:rPr>
              <a:t>00000001</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F79646"/>
                </a:solidFill>
                <a:latin typeface="Arial"/>
                <a:ea typeface="新細明體"/>
              </a:rPr>
              <a:t>00000000000000000000000</a:t>
            </a:r>
            <a:endParaRPr kumimoji="0" lang="en-US" sz="2400" b="0" i="0" u="none" strike="noStrike" kern="1200" cap="none" spc="0" normalizeH="0" baseline="0" noProof="0" dirty="0">
              <a:ln>
                <a:noFill/>
              </a:ln>
              <a:solidFill>
                <a:srgbClr val="F7964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1" dirty="0">
                <a:solidFill>
                  <a:srgbClr val="FF0000"/>
                </a:solidFill>
                <a:latin typeface="Söhne"/>
              </a:rPr>
              <a:t>denormalized</a:t>
            </a:r>
            <a:r>
              <a:rPr lang="en-US" sz="2400" dirty="0">
                <a:solidFill>
                  <a:srgbClr val="0D0D0D"/>
                </a:solidFill>
                <a:latin typeface="Söhne"/>
              </a:rPr>
              <a:t> </a:t>
            </a:r>
            <a:r>
              <a:rPr lang="en-US" sz="2400" b="0" i="0" dirty="0">
                <a:solidFill>
                  <a:srgbClr val="0D0D0D"/>
                </a:solidFill>
                <a:effectLst/>
                <a:latin typeface="Söhne"/>
              </a:rPr>
              <a:t>numbers, where the exponent is 0, </a:t>
            </a:r>
            <a:r>
              <a:rPr lang="en-US" sz="2400" dirty="0">
                <a:solidFill>
                  <a:srgbClr val="0D0D0D"/>
                </a:solidFill>
                <a:latin typeface="Söhne"/>
              </a:rPr>
              <a:t>and</a:t>
            </a:r>
            <a:r>
              <a:rPr lang="en-US" sz="2400" b="0" i="0" dirty="0">
                <a:solidFill>
                  <a:srgbClr val="0D0D0D"/>
                </a:solidFill>
                <a:effectLst/>
                <a:latin typeface="Söhne"/>
              </a:rPr>
              <a:t> the leading bit of the mantissa is no longer assumed to be 1,</a:t>
            </a:r>
            <a:r>
              <a:rPr lang="en-US" sz="2400" b="0" i="0" dirty="0">
                <a:solidFill>
                  <a:prstClr val="black"/>
                </a:solidFill>
                <a:effectLst/>
                <a:latin typeface="Arial"/>
                <a:ea typeface="新細明體"/>
              </a:rPr>
              <a:t> </a:t>
            </a:r>
            <a:r>
              <a:rPr lang="en-US" sz="2400" dirty="0">
                <a:solidFill>
                  <a:prstClr val="black"/>
                </a:solidFill>
                <a:latin typeface="Arial"/>
                <a:ea typeface="新細明體"/>
              </a:rPr>
              <a:t>the smallest </a:t>
            </a:r>
            <a:r>
              <a:rPr lang="en-US" sz="2400" dirty="0" err="1">
                <a:solidFill>
                  <a:prstClr val="black"/>
                </a:solidFill>
                <a:latin typeface="Arial"/>
                <a:ea typeface="新細明體"/>
              </a:rPr>
              <a:t>denorm</a:t>
            </a:r>
            <a:r>
              <a:rPr lang="en-US" sz="2400" dirty="0">
                <a:solidFill>
                  <a:prstClr val="black"/>
                </a:solidFill>
                <a:latin typeface="Arial"/>
                <a:ea typeface="新細明體"/>
              </a:rPr>
              <a:t> would</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be 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-149</a:t>
            </a:r>
            <a:endParaRPr kumimoji="0" lang="en-US" sz="2400" b="0" i="1" u="none" strike="noStrike" kern="1200" cap="none" spc="0" normalizeH="0" baseline="0" noProof="0" dirty="0">
              <a:ln>
                <a:noFill/>
              </a:ln>
              <a:solidFill>
                <a:srgbClr val="F7964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solidFill>
                <a:schemeClr val="accent6"/>
              </a:solidFill>
            </a:endParaRPr>
          </a:p>
        </p:txBody>
      </p:sp>
      <p:sp>
        <p:nvSpPr>
          <p:cNvPr id="6" name="TextBox 5">
            <a:extLst>
              <a:ext uri="{FF2B5EF4-FFF2-40B4-BE49-F238E27FC236}">
                <a16:creationId xmlns:a16="http://schemas.microsoft.com/office/drawing/2014/main" id="{4FA831D5-A5A2-4201-81FF-4068B6384EDE}"/>
              </a:ext>
            </a:extLst>
          </p:cNvPr>
          <p:cNvSpPr txBox="1"/>
          <p:nvPr/>
        </p:nvSpPr>
        <p:spPr>
          <a:xfrm>
            <a:off x="7056332" y="4236461"/>
            <a:ext cx="2315057" cy="523220"/>
          </a:xfrm>
          <a:prstGeom prst="rect">
            <a:avLst/>
          </a:prstGeom>
          <a:solidFill>
            <a:srgbClr val="FFFF00"/>
          </a:solidFill>
          <a:ln>
            <a:solidFill>
              <a:srgbClr val="FF0000"/>
            </a:solidFill>
          </a:ln>
        </p:spPr>
        <p:txBody>
          <a:bodyPr wrap="none" rtlCol="0" anchor="ctr" anchorCtr="1">
            <a:spAutoFit/>
          </a:bodyPr>
          <a:lstStyle/>
          <a:p>
            <a:r>
              <a:rPr lang="en-US" sz="2800" dirty="0">
                <a:solidFill>
                  <a:prstClr val="black"/>
                </a:solidFill>
              </a:rPr>
              <a:t>~2</a:t>
            </a:r>
            <a:r>
              <a:rPr lang="en-US" sz="2800" baseline="30000" dirty="0">
                <a:solidFill>
                  <a:prstClr val="black"/>
                </a:solidFill>
              </a:rPr>
              <a:t>15</a:t>
            </a:r>
            <a:r>
              <a:rPr lang="en-US" sz="2800" dirty="0">
                <a:solidFill>
                  <a:prstClr val="black"/>
                </a:solidFill>
              </a:rPr>
              <a:t>  to ~2</a:t>
            </a:r>
            <a:r>
              <a:rPr lang="en-US" sz="2800" baseline="30000" dirty="0">
                <a:solidFill>
                  <a:prstClr val="black"/>
                </a:solidFill>
              </a:rPr>
              <a:t>-16</a:t>
            </a:r>
            <a:r>
              <a:rPr lang="en-US" sz="2800" dirty="0">
                <a:solidFill>
                  <a:prstClr val="black"/>
                </a:solidFill>
              </a:rPr>
              <a:t> </a:t>
            </a:r>
            <a:endParaRPr lang="en-US" sz="2800" dirty="0">
              <a:ea typeface="標楷體" pitchFamily="65" charset="-120"/>
              <a:cs typeface="Calibri" pitchFamily="34" charset="0"/>
            </a:endParaRPr>
          </a:p>
        </p:txBody>
      </p:sp>
      <p:sp>
        <p:nvSpPr>
          <p:cNvPr id="7" name="TextBox 6">
            <a:extLst>
              <a:ext uri="{FF2B5EF4-FFF2-40B4-BE49-F238E27FC236}">
                <a16:creationId xmlns:a16="http://schemas.microsoft.com/office/drawing/2014/main" id="{34B43A77-F2E7-4FC7-9AB3-BE37E65EB5BD}"/>
              </a:ext>
            </a:extLst>
          </p:cNvPr>
          <p:cNvSpPr txBox="1"/>
          <p:nvPr/>
        </p:nvSpPr>
        <p:spPr>
          <a:xfrm>
            <a:off x="9554528" y="4759681"/>
            <a:ext cx="2518638" cy="523220"/>
          </a:xfrm>
          <a:prstGeom prst="rect">
            <a:avLst/>
          </a:prstGeom>
          <a:solidFill>
            <a:srgbClr val="FFFF00"/>
          </a:solidFill>
          <a:ln>
            <a:solidFill>
              <a:srgbClr val="FF0000"/>
            </a:solidFill>
          </a:ln>
        </p:spPr>
        <p:txBody>
          <a:bodyPr wrap="none" rtlCol="0" anchor="ctr" anchorCtr="1">
            <a:spAutoFit/>
          </a:bodyPr>
          <a:lstStyle/>
          <a:p>
            <a:r>
              <a:rPr lang="en-US" sz="2800" dirty="0">
                <a:solidFill>
                  <a:prstClr val="black"/>
                </a:solidFill>
              </a:rPr>
              <a:t>~10</a:t>
            </a:r>
            <a:r>
              <a:rPr lang="en-US" sz="2800" baseline="30000" dirty="0">
                <a:solidFill>
                  <a:prstClr val="black"/>
                </a:solidFill>
              </a:rPr>
              <a:t>5   </a:t>
            </a:r>
            <a:r>
              <a:rPr lang="en-US" sz="2800" dirty="0">
                <a:solidFill>
                  <a:prstClr val="black"/>
                </a:solidFill>
              </a:rPr>
              <a:t>to </a:t>
            </a:r>
            <a:r>
              <a:rPr kumimoji="1" lang="en-US" sz="2800" kern="0" dirty="0">
                <a:solidFill>
                  <a:prstClr val="black"/>
                </a:solidFill>
                <a:latin typeface="Calibri" pitchFamily="34" charset="0"/>
                <a:ea typeface="標楷體" pitchFamily="65" charset="-120"/>
              </a:rPr>
              <a:t> </a:t>
            </a:r>
            <a:r>
              <a:rPr lang="en-US" sz="2800" dirty="0">
                <a:solidFill>
                  <a:prstClr val="black"/>
                </a:solidFill>
              </a:rPr>
              <a:t>10</a:t>
            </a:r>
            <a:r>
              <a:rPr lang="en-US" sz="2800" baseline="30000" dirty="0">
                <a:solidFill>
                  <a:prstClr val="black"/>
                </a:solidFill>
              </a:rPr>
              <a:t>-5</a:t>
            </a:r>
            <a:r>
              <a:rPr lang="en-US" sz="2800" dirty="0">
                <a:solidFill>
                  <a:prstClr val="black"/>
                </a:solidFill>
              </a:rPr>
              <a:t>   </a:t>
            </a:r>
            <a:endParaRPr lang="en-US" sz="2800" dirty="0">
              <a:ea typeface="標楷體" pitchFamily="65" charset="-120"/>
              <a:cs typeface="Calibri" pitchFamily="34" charset="0"/>
            </a:endParaRPr>
          </a:p>
        </p:txBody>
      </p:sp>
      <p:sp>
        <p:nvSpPr>
          <p:cNvPr id="10" name="TextBox 9">
            <a:extLst>
              <a:ext uri="{FF2B5EF4-FFF2-40B4-BE49-F238E27FC236}">
                <a16:creationId xmlns:a16="http://schemas.microsoft.com/office/drawing/2014/main" id="{4E39AEDF-3109-41E6-A296-580B7DAAE703}"/>
              </a:ext>
            </a:extLst>
          </p:cNvPr>
          <p:cNvSpPr txBox="1"/>
          <p:nvPr/>
        </p:nvSpPr>
        <p:spPr>
          <a:xfrm>
            <a:off x="322415" y="5466615"/>
            <a:ext cx="11800025" cy="523220"/>
          </a:xfrm>
          <a:prstGeom prst="rect">
            <a:avLst/>
          </a:prstGeom>
          <a:solidFill>
            <a:srgbClr val="FFFF00"/>
          </a:solidFill>
          <a:ln>
            <a:solidFill>
              <a:srgbClr val="FF0000"/>
            </a:solidFill>
          </a:ln>
        </p:spPr>
        <p:txBody>
          <a:bodyPr wrap="none" rtlCol="0" anchor="ctr" anchorCtr="1">
            <a:spAutoFit/>
          </a:bodyPr>
          <a:lstStyle/>
          <a:p>
            <a:r>
              <a:rPr lang="en-US" sz="2800" dirty="0">
                <a:solidFill>
                  <a:prstClr val="black"/>
                </a:solidFill>
              </a:rPr>
              <a:t>Floating point number system can cover a much more extensive range!!  </a:t>
            </a:r>
            <a:endParaRPr lang="en-US" sz="2800" dirty="0">
              <a:ea typeface="標楷體" pitchFamily="65" charset="-120"/>
              <a:cs typeface="Calibri" pitchFamily="34" charset="0"/>
            </a:endParaRPr>
          </a:p>
        </p:txBody>
      </p:sp>
    </p:spTree>
    <p:extLst>
      <p:ext uri="{BB962C8B-B14F-4D97-AF65-F5344CB8AC3E}">
        <p14:creationId xmlns:p14="http://schemas.microsoft.com/office/powerpoint/2010/main" val="159379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Traditional Supercomputers Are FP Machines </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11</a:t>
            </a:fld>
            <a:endParaRPr lang="zh-TW" altLang="en-US"/>
          </a:p>
        </p:txBody>
      </p:sp>
      <p:pic>
        <p:nvPicPr>
          <p:cNvPr id="2050" name="Picture 2">
            <a:extLst>
              <a:ext uri="{FF2B5EF4-FFF2-40B4-BE49-F238E27FC236}">
                <a16:creationId xmlns:a16="http://schemas.microsoft.com/office/drawing/2014/main" id="{55857505-539C-4F3D-BDEE-6D3BD5A58C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867" y="1142999"/>
            <a:ext cx="7094008" cy="4943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3" name="Content Placeholder 2"/>
          <p:cNvSpPr>
            <a:spLocks noGrp="1"/>
          </p:cNvSpPr>
          <p:nvPr>
            <p:ph idx="1"/>
          </p:nvPr>
        </p:nvSpPr>
        <p:spPr>
          <a:xfrm>
            <a:off x="1331053" y="1125538"/>
            <a:ext cx="10251347" cy="1089156"/>
          </a:xfrm>
        </p:spPr>
        <p:txBody>
          <a:bodyPr/>
          <a:lstStyle/>
          <a:p>
            <a:r>
              <a:rPr lang="en-US" dirty="0"/>
              <a:t>What is the IEEE single precision number 0x40C00000 representing in decimal?</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12</a:t>
            </a:fld>
            <a:endParaRPr lang="zh-TW" altLang="en-US"/>
          </a:p>
        </p:txBody>
      </p:sp>
      <p:sp>
        <p:nvSpPr>
          <p:cNvPr id="5" name="Content Placeholder 2"/>
          <p:cNvSpPr txBox="1"/>
          <p:nvPr/>
        </p:nvSpPr>
        <p:spPr bwMode="auto">
          <a:xfrm>
            <a:off x="1323646" y="3586690"/>
            <a:ext cx="10217079" cy="2385737"/>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sz="3200" kern="0" dirty="0"/>
              <a:t>0x40C00000 = </a:t>
            </a:r>
            <a:r>
              <a:rPr lang="en-US" sz="3200" kern="0" dirty="0">
                <a:solidFill>
                  <a:srgbClr val="FF0000"/>
                </a:solidFill>
              </a:rPr>
              <a:t>0 </a:t>
            </a:r>
            <a:r>
              <a:rPr lang="en-US" sz="3200" kern="0" dirty="0">
                <a:solidFill>
                  <a:srgbClr val="0000FF"/>
                </a:solidFill>
              </a:rPr>
              <a:t>100 0000 1 </a:t>
            </a:r>
            <a:r>
              <a:rPr lang="en-US" sz="3200" kern="0" dirty="0">
                <a:solidFill>
                  <a:schemeClr val="accent6"/>
                </a:solidFill>
              </a:rPr>
              <a:t>100 0000 0000 0000 0000 0000</a:t>
            </a:r>
          </a:p>
          <a:p>
            <a:pPr marL="0" indent="0">
              <a:buNone/>
            </a:pPr>
            <a:r>
              <a:rPr lang="en-US" sz="3200" kern="0" dirty="0"/>
              <a:t>                       = </a:t>
            </a:r>
            <a:r>
              <a:rPr lang="en-US" altLang="zh-CN" sz="3200" dirty="0"/>
              <a:t>(−1)</a:t>
            </a:r>
            <a:r>
              <a:rPr lang="en-US" altLang="zh-CN" sz="3200" baseline="30000" dirty="0"/>
              <a:t>0</a:t>
            </a:r>
            <a:r>
              <a:rPr lang="en-US" altLang="zh-CN" sz="3200" dirty="0"/>
              <a:t> × (1+0.100…000) × 2</a:t>
            </a:r>
            <a:r>
              <a:rPr lang="en-US" altLang="zh-CN" sz="3200" baseline="30000" dirty="0"/>
              <a:t>(129−127)</a:t>
            </a:r>
          </a:p>
          <a:p>
            <a:pPr marL="0" indent="0">
              <a:buNone/>
            </a:pPr>
            <a:r>
              <a:rPr lang="en-US" altLang="zh-CN" sz="3200" kern="0" dirty="0"/>
              <a:t>                       = </a:t>
            </a:r>
            <a:r>
              <a:rPr lang="en-US" altLang="zh-CN" sz="3200" dirty="0"/>
              <a:t>1.100…000 × 2</a:t>
            </a:r>
            <a:r>
              <a:rPr lang="en-US" altLang="zh-CN" sz="3200" baseline="30000" dirty="0"/>
              <a:t>2</a:t>
            </a:r>
          </a:p>
          <a:p>
            <a:pPr marL="0" indent="0">
              <a:buNone/>
            </a:pPr>
            <a:r>
              <a:rPr lang="en-US" altLang="zh-CN" sz="3200" kern="0" dirty="0"/>
              <a:t>                       = 110</a:t>
            </a:r>
            <a:r>
              <a:rPr lang="en-US" altLang="zh-CN" sz="1600" kern="0" dirty="0"/>
              <a:t>2</a:t>
            </a:r>
            <a:endParaRPr lang="en-US" altLang="zh-CN" sz="3200" baseline="30000" dirty="0"/>
          </a:p>
        </p:txBody>
      </p:sp>
      <p:sp>
        <p:nvSpPr>
          <p:cNvPr id="7" name="TextBox 22"/>
          <p:cNvSpPr txBox="1"/>
          <p:nvPr/>
        </p:nvSpPr>
        <p:spPr>
          <a:xfrm>
            <a:off x="3205341" y="3094248"/>
            <a:ext cx="5174815" cy="461665"/>
          </a:xfrm>
          <a:prstGeom prst="rect">
            <a:avLst/>
          </a:prstGeom>
          <a:noFill/>
          <a:ln w="19050">
            <a:solidFill>
              <a:srgbClr val="FF0000"/>
            </a:solidFill>
          </a:ln>
        </p:spPr>
        <p:txBody>
          <a:bodyPr wrap="none" rtlCol="0">
            <a:spAutoFit/>
          </a:bodyPr>
          <a:lstStyle/>
          <a:p>
            <a:r>
              <a:rPr lang="en-US" sz="2400" dirty="0"/>
              <a:t>x = (−1)</a:t>
            </a:r>
            <a:r>
              <a:rPr lang="en-US" sz="2400" baseline="30000" dirty="0">
                <a:solidFill>
                  <a:srgbClr val="FF0000"/>
                </a:solidFill>
              </a:rPr>
              <a:t>s</a:t>
            </a:r>
            <a:r>
              <a:rPr lang="en-US" sz="2400" dirty="0"/>
              <a:t> × (1+</a:t>
            </a:r>
            <a:r>
              <a:rPr lang="en-US" sz="2400" dirty="0">
                <a:solidFill>
                  <a:schemeClr val="accent6"/>
                </a:solidFill>
              </a:rPr>
              <a:t>fraction</a:t>
            </a:r>
            <a:r>
              <a:rPr lang="en-US" sz="2400" dirty="0"/>
              <a:t>) × 2</a:t>
            </a:r>
            <a:r>
              <a:rPr lang="en-US" sz="2400" baseline="30000" dirty="0"/>
              <a:t>(</a:t>
            </a:r>
            <a:r>
              <a:rPr lang="en-US" sz="2400" baseline="30000" dirty="0">
                <a:solidFill>
                  <a:srgbClr val="0000FF"/>
                </a:solidFill>
              </a:rPr>
              <a:t>exponent</a:t>
            </a:r>
            <a:r>
              <a:rPr lang="en-US" sz="2400" baseline="30000" dirty="0"/>
              <a:t>−127)</a:t>
            </a:r>
          </a:p>
        </p:txBody>
      </p:sp>
      <p:sp>
        <p:nvSpPr>
          <p:cNvPr id="8" name="Content Placeholder 2"/>
          <p:cNvSpPr txBox="1"/>
          <p:nvPr/>
        </p:nvSpPr>
        <p:spPr bwMode="auto">
          <a:xfrm>
            <a:off x="1365322" y="2372327"/>
            <a:ext cx="10217079" cy="576436"/>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sz="3200" kern="0" dirty="0"/>
              <a:t>0x40C00000 = 0100 0000 1100 0000 0000 0000 0000 0000</a:t>
            </a:r>
          </a:p>
        </p:txBody>
      </p:sp>
    </p:spTree>
    <p:extLst>
      <p:ext uri="{BB962C8B-B14F-4D97-AF65-F5344CB8AC3E}">
        <p14:creationId xmlns:p14="http://schemas.microsoft.com/office/powerpoint/2010/main" val="354085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p>
        </p:txBody>
      </p:sp>
      <p:sp>
        <p:nvSpPr>
          <p:cNvPr id="3" name="Content Placeholder 2"/>
          <p:cNvSpPr>
            <a:spLocks noGrp="1"/>
          </p:cNvSpPr>
          <p:nvPr>
            <p:ph idx="1"/>
          </p:nvPr>
        </p:nvSpPr>
        <p:spPr>
          <a:xfrm>
            <a:off x="1409350" y="1125538"/>
            <a:ext cx="10173049" cy="1231519"/>
          </a:xfrm>
        </p:spPr>
        <p:txBody>
          <a:bodyPr/>
          <a:lstStyle/>
          <a:p>
            <a:r>
              <a:rPr lang="en-US" dirty="0"/>
              <a:t>How to represent –0.5 in IEEE single precision binary floating-point format?</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13</a:t>
            </a:fld>
            <a:endParaRPr lang="zh-TW" altLang="en-US"/>
          </a:p>
        </p:txBody>
      </p:sp>
      <p:sp>
        <p:nvSpPr>
          <p:cNvPr id="7" name="Content Placeholder 2"/>
          <p:cNvSpPr txBox="1"/>
          <p:nvPr/>
        </p:nvSpPr>
        <p:spPr bwMode="auto">
          <a:xfrm>
            <a:off x="3262047" y="2433654"/>
            <a:ext cx="8364381" cy="1828821"/>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altLang="zh-CN" sz="3200" dirty="0"/>
              <a:t>–0.5</a:t>
            </a:r>
            <a:r>
              <a:rPr lang="en-US" sz="3200" kern="0" dirty="0"/>
              <a:t> = </a:t>
            </a:r>
            <a:r>
              <a:rPr lang="en-US" altLang="zh-CN" sz="3200" dirty="0"/>
              <a:t>(−1)</a:t>
            </a:r>
            <a:r>
              <a:rPr lang="en-US" altLang="zh-CN" sz="3200" baseline="30000" dirty="0"/>
              <a:t>1</a:t>
            </a:r>
            <a:r>
              <a:rPr lang="en-US" altLang="zh-CN" sz="3200" dirty="0"/>
              <a:t> × </a:t>
            </a:r>
            <a:r>
              <a:rPr lang="en-US" altLang="zh-CN" sz="3200" kern="0" dirty="0"/>
              <a:t>0.5 (decimal)</a:t>
            </a:r>
          </a:p>
          <a:p>
            <a:pPr marL="0" indent="0">
              <a:buNone/>
            </a:pPr>
            <a:r>
              <a:rPr lang="en-US" altLang="zh-CN" sz="3200" kern="0" dirty="0"/>
              <a:t>         = </a:t>
            </a:r>
            <a:r>
              <a:rPr lang="en-US" altLang="zh-CN" sz="3200" dirty="0"/>
              <a:t>(−1)</a:t>
            </a:r>
            <a:r>
              <a:rPr lang="en-US" altLang="zh-CN" sz="3200" baseline="30000" dirty="0"/>
              <a:t>1</a:t>
            </a:r>
            <a:r>
              <a:rPr lang="en-US" altLang="zh-CN" sz="3200" dirty="0"/>
              <a:t> × </a:t>
            </a:r>
            <a:r>
              <a:rPr lang="en-US" altLang="zh-CN" sz="3200" kern="0" dirty="0"/>
              <a:t>1/2 (decimal)</a:t>
            </a:r>
          </a:p>
          <a:p>
            <a:pPr marL="0" indent="0">
              <a:buNone/>
            </a:pPr>
            <a:r>
              <a:rPr lang="en-US" altLang="zh-CN" sz="3200" dirty="0">
                <a:sym typeface="Symbol" panose="05050102010706020507" pitchFamily="18" charset="2"/>
              </a:rPr>
              <a:t>         = </a:t>
            </a:r>
            <a:r>
              <a:rPr lang="en-US" altLang="zh-CN" sz="3200" dirty="0"/>
              <a:t>(−1)</a:t>
            </a:r>
            <a:r>
              <a:rPr lang="en-US" altLang="zh-CN" sz="3200" baseline="30000" dirty="0"/>
              <a:t>1</a:t>
            </a:r>
            <a:r>
              <a:rPr lang="en-US" altLang="zh-CN" sz="3200" dirty="0"/>
              <a:t> × 1.0 × 2</a:t>
            </a:r>
            <a:r>
              <a:rPr lang="en-US" altLang="zh-CN" sz="3200" baseline="30000" dirty="0"/>
              <a:t>−1 </a:t>
            </a:r>
            <a:r>
              <a:rPr lang="en-US" altLang="zh-CN" sz="3200" kern="0" dirty="0"/>
              <a:t>(binary)</a:t>
            </a:r>
          </a:p>
          <a:p>
            <a:pPr marL="0" indent="0">
              <a:buNone/>
            </a:pPr>
            <a:endParaRPr lang="en-US" altLang="zh-CN" sz="3200" kern="0" dirty="0"/>
          </a:p>
        </p:txBody>
      </p:sp>
      <p:sp>
        <p:nvSpPr>
          <p:cNvPr id="5" name="TextBox 22"/>
          <p:cNvSpPr txBox="1"/>
          <p:nvPr/>
        </p:nvSpPr>
        <p:spPr>
          <a:xfrm>
            <a:off x="3935304" y="4440889"/>
            <a:ext cx="5944781" cy="461665"/>
          </a:xfrm>
          <a:prstGeom prst="rect">
            <a:avLst/>
          </a:prstGeom>
          <a:noFill/>
          <a:ln w="19050">
            <a:solidFill>
              <a:srgbClr val="FF0000"/>
            </a:solidFill>
          </a:ln>
        </p:spPr>
        <p:txBody>
          <a:bodyPr wrap="square" rtlCol="0">
            <a:spAutoFit/>
          </a:bodyPr>
          <a:lstStyle/>
          <a:p>
            <a:r>
              <a:rPr lang="en-US" sz="2400" dirty="0"/>
              <a:t>x = (−1)</a:t>
            </a:r>
            <a:r>
              <a:rPr lang="en-US" sz="2400" baseline="30000" dirty="0">
                <a:solidFill>
                  <a:srgbClr val="FF0000"/>
                </a:solidFill>
              </a:rPr>
              <a:t>s</a:t>
            </a:r>
            <a:r>
              <a:rPr lang="en-US" sz="2400" dirty="0"/>
              <a:t> × (1+</a:t>
            </a:r>
            <a:r>
              <a:rPr lang="en-US" sz="2400" dirty="0">
                <a:solidFill>
                  <a:schemeClr val="accent6"/>
                </a:solidFill>
              </a:rPr>
              <a:t>fraction</a:t>
            </a:r>
            <a:r>
              <a:rPr lang="en-US" sz="2400" dirty="0"/>
              <a:t>) × 2</a:t>
            </a:r>
            <a:r>
              <a:rPr lang="en-US" sz="2400" baseline="30000" dirty="0"/>
              <a:t>(</a:t>
            </a:r>
            <a:r>
              <a:rPr lang="en-US" sz="2400" baseline="30000" dirty="0">
                <a:solidFill>
                  <a:srgbClr val="0000FF"/>
                </a:solidFill>
              </a:rPr>
              <a:t>exponent</a:t>
            </a:r>
            <a:r>
              <a:rPr lang="en-US" sz="2400" baseline="30000" dirty="0"/>
              <a:t>−127)</a:t>
            </a:r>
          </a:p>
        </p:txBody>
      </p:sp>
      <p:sp>
        <p:nvSpPr>
          <p:cNvPr id="8" name="Content Placeholder 2"/>
          <p:cNvSpPr txBox="1"/>
          <p:nvPr/>
        </p:nvSpPr>
        <p:spPr bwMode="auto">
          <a:xfrm>
            <a:off x="2937098" y="5040311"/>
            <a:ext cx="8364381" cy="692152"/>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altLang="zh-CN" sz="3200" kern="0" dirty="0">
                <a:solidFill>
                  <a:srgbClr val="FF0000"/>
                </a:solidFill>
              </a:rPr>
              <a:t>1</a:t>
            </a:r>
            <a:r>
              <a:rPr lang="en-US" sz="3200" kern="0" dirty="0">
                <a:solidFill>
                  <a:srgbClr val="FF0000"/>
                </a:solidFill>
              </a:rPr>
              <a:t> </a:t>
            </a:r>
            <a:r>
              <a:rPr lang="en-US" altLang="zh-CN" sz="3200" kern="0" dirty="0">
                <a:solidFill>
                  <a:srgbClr val="0000FF"/>
                </a:solidFill>
              </a:rPr>
              <a:t>011</a:t>
            </a:r>
            <a:r>
              <a:rPr lang="en-US" sz="3200" kern="0" dirty="0">
                <a:solidFill>
                  <a:srgbClr val="0000FF"/>
                </a:solidFill>
              </a:rPr>
              <a:t> </a:t>
            </a:r>
            <a:r>
              <a:rPr lang="en-US" altLang="zh-CN" sz="3200" kern="0" dirty="0">
                <a:solidFill>
                  <a:srgbClr val="0000FF"/>
                </a:solidFill>
              </a:rPr>
              <a:t>1111</a:t>
            </a:r>
            <a:r>
              <a:rPr lang="en-US" sz="3200" kern="0" dirty="0">
                <a:solidFill>
                  <a:srgbClr val="0000FF"/>
                </a:solidFill>
              </a:rPr>
              <a:t> </a:t>
            </a:r>
            <a:r>
              <a:rPr lang="en-US" altLang="zh-CN" sz="3200" kern="0" dirty="0">
                <a:solidFill>
                  <a:srgbClr val="0000FF"/>
                </a:solidFill>
              </a:rPr>
              <a:t>0</a:t>
            </a:r>
            <a:r>
              <a:rPr lang="en-US" sz="3200" kern="0" dirty="0">
                <a:solidFill>
                  <a:srgbClr val="0000FF"/>
                </a:solidFill>
              </a:rPr>
              <a:t> </a:t>
            </a:r>
            <a:r>
              <a:rPr lang="en-US" altLang="zh-CN" sz="3200" kern="0" dirty="0">
                <a:solidFill>
                  <a:schemeClr val="accent6"/>
                </a:solidFill>
              </a:rPr>
              <a:t>0</a:t>
            </a:r>
            <a:r>
              <a:rPr lang="en-US" sz="3200" kern="0" dirty="0">
                <a:solidFill>
                  <a:schemeClr val="accent6"/>
                </a:solidFill>
              </a:rPr>
              <a:t>00 0000 0000 0000 0000 0000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3</a:t>
            </a:r>
          </a:p>
        </p:txBody>
      </p:sp>
      <p:sp>
        <p:nvSpPr>
          <p:cNvPr id="3" name="Content Placeholder 2"/>
          <p:cNvSpPr>
            <a:spLocks noGrp="1"/>
          </p:cNvSpPr>
          <p:nvPr>
            <p:ph idx="1"/>
          </p:nvPr>
        </p:nvSpPr>
        <p:spPr>
          <a:xfrm>
            <a:off x="1409350" y="1125538"/>
            <a:ext cx="10173049" cy="1231519"/>
          </a:xfrm>
        </p:spPr>
        <p:txBody>
          <a:bodyPr/>
          <a:lstStyle/>
          <a:p>
            <a:r>
              <a:rPr lang="en-US" dirty="0"/>
              <a:t>How to represent –0.</a:t>
            </a:r>
            <a:r>
              <a:rPr lang="en-US" altLang="zh-CN" dirty="0"/>
              <a:t>7</a:t>
            </a:r>
            <a:r>
              <a:rPr lang="en-US" dirty="0"/>
              <a:t>5 in IEEE single precision binary floating-point format?</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14</a:t>
            </a:fld>
            <a:endParaRPr lang="zh-TW" altLang="en-US"/>
          </a:p>
        </p:txBody>
      </p:sp>
      <p:sp>
        <p:nvSpPr>
          <p:cNvPr id="7" name="Content Placeholder 2"/>
          <p:cNvSpPr txBox="1"/>
          <p:nvPr/>
        </p:nvSpPr>
        <p:spPr bwMode="auto">
          <a:xfrm>
            <a:off x="3262047" y="2433654"/>
            <a:ext cx="8364381" cy="1828821"/>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altLang="zh-CN" sz="3200" dirty="0"/>
              <a:t>–0.75</a:t>
            </a:r>
            <a:r>
              <a:rPr lang="en-US" sz="3200" kern="0" dirty="0"/>
              <a:t> = </a:t>
            </a:r>
            <a:r>
              <a:rPr lang="en-US" altLang="zh-CN" sz="3200" dirty="0"/>
              <a:t>(−1)</a:t>
            </a:r>
            <a:r>
              <a:rPr lang="en-US" altLang="zh-CN" sz="3200" baseline="30000" dirty="0"/>
              <a:t>1</a:t>
            </a:r>
            <a:r>
              <a:rPr lang="en-US" altLang="zh-CN" sz="3200" dirty="0"/>
              <a:t> × </a:t>
            </a:r>
            <a:r>
              <a:rPr lang="en-US" altLang="zh-CN" sz="3200" kern="0" dirty="0"/>
              <a:t>0.75 (decimal)</a:t>
            </a:r>
          </a:p>
          <a:p>
            <a:pPr marL="0" indent="0">
              <a:buNone/>
            </a:pPr>
            <a:r>
              <a:rPr lang="en-US" altLang="zh-CN" sz="3200" kern="0" dirty="0"/>
              <a:t>         = </a:t>
            </a:r>
            <a:r>
              <a:rPr lang="en-US" altLang="zh-CN" sz="3200" dirty="0"/>
              <a:t>(−1)</a:t>
            </a:r>
            <a:r>
              <a:rPr lang="en-US" altLang="zh-CN" sz="3200" baseline="30000" dirty="0"/>
              <a:t>1</a:t>
            </a:r>
            <a:r>
              <a:rPr lang="en-US" altLang="zh-CN" sz="3200" dirty="0"/>
              <a:t> × </a:t>
            </a:r>
            <a:r>
              <a:rPr lang="en-US" altLang="zh-CN" sz="3200" kern="0" dirty="0"/>
              <a:t>3/4 (decimal)</a:t>
            </a:r>
          </a:p>
          <a:p>
            <a:pPr marL="0" indent="0">
              <a:buNone/>
            </a:pPr>
            <a:r>
              <a:rPr lang="en-US" altLang="zh-CN" sz="3200" dirty="0">
                <a:sym typeface="Symbol" panose="05050102010706020507" pitchFamily="18" charset="2"/>
              </a:rPr>
              <a:t>         = </a:t>
            </a:r>
            <a:r>
              <a:rPr lang="en-US" altLang="zh-CN" sz="3200" dirty="0"/>
              <a:t>(−1)</a:t>
            </a:r>
            <a:r>
              <a:rPr lang="en-US" altLang="zh-CN" sz="3200" baseline="30000" dirty="0"/>
              <a:t>1</a:t>
            </a:r>
            <a:r>
              <a:rPr lang="en-US" altLang="zh-CN" sz="3200" dirty="0"/>
              <a:t> × 1.1 × 2</a:t>
            </a:r>
            <a:r>
              <a:rPr lang="en-US" altLang="zh-CN" sz="3200" baseline="30000" dirty="0"/>
              <a:t>−1 </a:t>
            </a:r>
            <a:r>
              <a:rPr lang="en-US" altLang="zh-CN" sz="3200" kern="0" dirty="0"/>
              <a:t>(binary)</a:t>
            </a:r>
          </a:p>
          <a:p>
            <a:pPr marL="0" indent="0">
              <a:buNone/>
            </a:pPr>
            <a:endParaRPr lang="en-US" altLang="zh-CN" sz="3200" kern="0" dirty="0"/>
          </a:p>
        </p:txBody>
      </p:sp>
      <p:sp>
        <p:nvSpPr>
          <p:cNvPr id="5" name="TextBox 22"/>
          <p:cNvSpPr txBox="1"/>
          <p:nvPr/>
        </p:nvSpPr>
        <p:spPr>
          <a:xfrm>
            <a:off x="3935304" y="4440889"/>
            <a:ext cx="5944781" cy="461665"/>
          </a:xfrm>
          <a:prstGeom prst="rect">
            <a:avLst/>
          </a:prstGeom>
          <a:noFill/>
          <a:ln w="19050">
            <a:solidFill>
              <a:srgbClr val="FF0000"/>
            </a:solidFill>
          </a:ln>
        </p:spPr>
        <p:txBody>
          <a:bodyPr wrap="square" rtlCol="0">
            <a:spAutoFit/>
          </a:bodyPr>
          <a:lstStyle/>
          <a:p>
            <a:r>
              <a:rPr lang="en-US" sz="2400" dirty="0"/>
              <a:t>x = (−1)</a:t>
            </a:r>
            <a:r>
              <a:rPr lang="en-US" sz="2400" baseline="30000" dirty="0">
                <a:solidFill>
                  <a:srgbClr val="FF0000"/>
                </a:solidFill>
              </a:rPr>
              <a:t>s</a:t>
            </a:r>
            <a:r>
              <a:rPr lang="en-US" sz="2400" dirty="0"/>
              <a:t> × (1+</a:t>
            </a:r>
            <a:r>
              <a:rPr lang="en-US" sz="2400" dirty="0">
                <a:solidFill>
                  <a:schemeClr val="accent6"/>
                </a:solidFill>
              </a:rPr>
              <a:t>fraction</a:t>
            </a:r>
            <a:r>
              <a:rPr lang="en-US" sz="2400" dirty="0"/>
              <a:t>) × 2</a:t>
            </a:r>
            <a:r>
              <a:rPr lang="en-US" sz="2400" baseline="30000" dirty="0"/>
              <a:t>(</a:t>
            </a:r>
            <a:r>
              <a:rPr lang="en-US" sz="2400" baseline="30000" dirty="0">
                <a:solidFill>
                  <a:srgbClr val="0000FF"/>
                </a:solidFill>
              </a:rPr>
              <a:t>exponent</a:t>
            </a:r>
            <a:r>
              <a:rPr lang="en-US" sz="2400" baseline="30000" dirty="0"/>
              <a:t>−127)</a:t>
            </a:r>
          </a:p>
        </p:txBody>
      </p:sp>
      <p:sp>
        <p:nvSpPr>
          <p:cNvPr id="8" name="Content Placeholder 2"/>
          <p:cNvSpPr txBox="1"/>
          <p:nvPr/>
        </p:nvSpPr>
        <p:spPr bwMode="auto">
          <a:xfrm>
            <a:off x="2937098" y="5040311"/>
            <a:ext cx="8364381" cy="692152"/>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altLang="zh-CN" sz="3200" kern="0" dirty="0">
                <a:solidFill>
                  <a:srgbClr val="FF0000"/>
                </a:solidFill>
              </a:rPr>
              <a:t>1</a:t>
            </a:r>
            <a:r>
              <a:rPr lang="en-US" sz="3200" kern="0" dirty="0">
                <a:solidFill>
                  <a:srgbClr val="FF0000"/>
                </a:solidFill>
              </a:rPr>
              <a:t> </a:t>
            </a:r>
            <a:r>
              <a:rPr lang="en-US" altLang="zh-CN" sz="3200" kern="0" dirty="0">
                <a:solidFill>
                  <a:srgbClr val="0000FF"/>
                </a:solidFill>
              </a:rPr>
              <a:t>011</a:t>
            </a:r>
            <a:r>
              <a:rPr lang="en-US" sz="3200" kern="0" dirty="0">
                <a:solidFill>
                  <a:srgbClr val="0000FF"/>
                </a:solidFill>
              </a:rPr>
              <a:t> </a:t>
            </a:r>
            <a:r>
              <a:rPr lang="en-US" altLang="zh-CN" sz="3200" kern="0" dirty="0">
                <a:solidFill>
                  <a:srgbClr val="0000FF"/>
                </a:solidFill>
              </a:rPr>
              <a:t>1111</a:t>
            </a:r>
            <a:r>
              <a:rPr lang="en-US" sz="3200" kern="0" dirty="0">
                <a:solidFill>
                  <a:srgbClr val="0000FF"/>
                </a:solidFill>
              </a:rPr>
              <a:t> </a:t>
            </a:r>
            <a:r>
              <a:rPr lang="en-US" altLang="zh-CN" sz="3200" kern="0" dirty="0">
                <a:solidFill>
                  <a:srgbClr val="0000FF"/>
                </a:solidFill>
              </a:rPr>
              <a:t>0</a:t>
            </a:r>
            <a:r>
              <a:rPr lang="en-US" sz="3200" kern="0" dirty="0">
                <a:solidFill>
                  <a:srgbClr val="0000FF"/>
                </a:solidFill>
              </a:rPr>
              <a:t> </a:t>
            </a:r>
            <a:r>
              <a:rPr lang="en-US" altLang="zh-CN" sz="3200" kern="0" dirty="0">
                <a:solidFill>
                  <a:schemeClr val="accent6"/>
                </a:solidFill>
              </a:rPr>
              <a:t>1</a:t>
            </a:r>
            <a:r>
              <a:rPr lang="en-US" sz="3200" kern="0" dirty="0">
                <a:solidFill>
                  <a:schemeClr val="accent6"/>
                </a:solidFill>
              </a:rPr>
              <a:t>00 0000 0000 0000 0000 0000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4 </a:t>
            </a:r>
          </a:p>
        </p:txBody>
      </p:sp>
      <p:sp>
        <p:nvSpPr>
          <p:cNvPr id="3" name="Content Placeholder 2"/>
          <p:cNvSpPr>
            <a:spLocks noGrp="1"/>
          </p:cNvSpPr>
          <p:nvPr>
            <p:ph idx="1"/>
          </p:nvPr>
        </p:nvSpPr>
        <p:spPr>
          <a:xfrm>
            <a:off x="1409350" y="1125538"/>
            <a:ext cx="10173049" cy="1231519"/>
          </a:xfrm>
        </p:spPr>
        <p:txBody>
          <a:bodyPr/>
          <a:lstStyle/>
          <a:p>
            <a:r>
              <a:rPr lang="en-US" dirty="0"/>
              <a:t>How to represent 1/3 in IEEE single precision binary floating-point format?</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4 </a:t>
            </a:r>
          </a:p>
        </p:txBody>
      </p:sp>
      <p:sp>
        <p:nvSpPr>
          <p:cNvPr id="3" name="Content Placeholder 2"/>
          <p:cNvSpPr>
            <a:spLocks noGrp="1"/>
          </p:cNvSpPr>
          <p:nvPr>
            <p:ph idx="1"/>
          </p:nvPr>
        </p:nvSpPr>
        <p:spPr>
          <a:xfrm>
            <a:off x="671209" y="1008806"/>
            <a:ext cx="10896379" cy="1034003"/>
          </a:xfrm>
        </p:spPr>
        <p:txBody>
          <a:bodyPr/>
          <a:lstStyle/>
          <a:p>
            <a:r>
              <a:rPr lang="en-US" sz="3200" dirty="0"/>
              <a:t>How to represent 1/3 in IEEE single precision binary floating-point format?</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16</a:t>
            </a:fld>
            <a:endParaRPr lang="zh-TW" altLang="en-US"/>
          </a:p>
        </p:txBody>
      </p:sp>
      <p:sp>
        <p:nvSpPr>
          <p:cNvPr id="4" name="文本框 3"/>
          <p:cNvSpPr txBox="1"/>
          <p:nvPr/>
        </p:nvSpPr>
        <p:spPr>
          <a:xfrm>
            <a:off x="3686782" y="1525807"/>
            <a:ext cx="7227651" cy="4524315"/>
          </a:xfrm>
          <a:prstGeom prst="rect">
            <a:avLst/>
          </a:prstGeom>
          <a:noFill/>
        </p:spPr>
        <p:txBody>
          <a:bodyPr wrap="square" rtlCol="0" anchor="ctr" anchorCtr="1">
            <a:spAutoFit/>
          </a:bodyPr>
          <a:lstStyle/>
          <a:p>
            <a:r>
              <a:rPr lang="en-US" altLang="zh-CN" sz="2400" dirty="0">
                <a:solidFill>
                  <a:srgbClr val="C00000"/>
                </a:solidFill>
                <a:ea typeface="標楷體" panose="02010601000101010101" pitchFamily="65" charset="-120"/>
                <a:cs typeface="Calibri" panose="020F0502020204030204" pitchFamily="34" charset="0"/>
              </a:rPr>
              <a:t>Multiply by 2, then fetch the integral part</a:t>
            </a:r>
          </a:p>
          <a:p>
            <a:r>
              <a:rPr lang="en-US" altLang="zh-CN" sz="2400" dirty="0">
                <a:solidFill>
                  <a:srgbClr val="C00000"/>
                </a:solidFill>
                <a:ea typeface="標楷體" panose="02010601000101010101" pitchFamily="65" charset="-120"/>
                <a:cs typeface="Calibri" panose="020F0502020204030204" pitchFamily="34" charset="0"/>
              </a:rPr>
              <a:t>0.3333 x 2 = 0.6666		0</a:t>
            </a:r>
          </a:p>
          <a:p>
            <a:r>
              <a:rPr lang="en-US" altLang="zh-CN" sz="2400" dirty="0">
                <a:solidFill>
                  <a:srgbClr val="C00000"/>
                </a:solidFill>
                <a:ea typeface="標楷體" panose="02010601000101010101" pitchFamily="65" charset="-120"/>
                <a:cs typeface="Calibri" panose="020F0502020204030204" pitchFamily="34" charset="0"/>
              </a:rPr>
              <a:t>0.6666 x 2 = 1.3332		1</a:t>
            </a:r>
          </a:p>
          <a:p>
            <a:r>
              <a:rPr lang="en-US" altLang="zh-CN" sz="2400" dirty="0">
                <a:solidFill>
                  <a:srgbClr val="C00000"/>
                </a:solidFill>
                <a:ea typeface="標楷體" panose="02010601000101010101" pitchFamily="65" charset="-120"/>
                <a:cs typeface="Calibri" panose="020F0502020204030204" pitchFamily="34" charset="0"/>
              </a:rPr>
              <a:t>0.3332 x 2 = 0.6664		0</a:t>
            </a:r>
          </a:p>
          <a:p>
            <a:r>
              <a:rPr lang="en-US" altLang="zh-CN" sz="2400" dirty="0">
                <a:solidFill>
                  <a:srgbClr val="C00000"/>
                </a:solidFill>
                <a:ea typeface="標楷體" panose="02010601000101010101" pitchFamily="65" charset="-120"/>
                <a:cs typeface="Calibri" panose="020F0502020204030204" pitchFamily="34" charset="0"/>
              </a:rPr>
              <a:t>0.6664 x 2 = 1.3328		1</a:t>
            </a:r>
          </a:p>
          <a:p>
            <a:r>
              <a:rPr lang="en-US" altLang="zh-CN" sz="2400" dirty="0">
                <a:solidFill>
                  <a:srgbClr val="C00000"/>
                </a:solidFill>
                <a:ea typeface="標楷體" panose="02010601000101010101" pitchFamily="65" charset="-120"/>
                <a:cs typeface="Calibri" panose="020F0502020204030204" pitchFamily="34" charset="0"/>
              </a:rPr>
              <a:t>0.3328 x 2 = 0.6656		0</a:t>
            </a:r>
          </a:p>
          <a:p>
            <a:r>
              <a:rPr lang="en-US" altLang="zh-CN" sz="2400" dirty="0">
                <a:solidFill>
                  <a:srgbClr val="C00000"/>
                </a:solidFill>
                <a:ea typeface="標楷體" panose="02010601000101010101" pitchFamily="65" charset="-120"/>
                <a:cs typeface="Calibri" panose="020F0502020204030204" pitchFamily="34" charset="0"/>
              </a:rPr>
              <a:t>0.6656 x 2 = 1.3312		1</a:t>
            </a:r>
          </a:p>
          <a:p>
            <a:r>
              <a:rPr lang="en-US" altLang="zh-CN" sz="2400" dirty="0">
                <a:solidFill>
                  <a:srgbClr val="C00000"/>
                </a:solidFill>
                <a:ea typeface="標楷體" panose="02010601000101010101" pitchFamily="65" charset="-120"/>
                <a:cs typeface="Calibri" panose="020F0502020204030204" pitchFamily="34" charset="0"/>
              </a:rPr>
              <a:t>0.010101…. Normalize to 1.0101… x </a:t>
            </a:r>
            <a:r>
              <a:rPr kumimoji="0" lang="en-US" altLang="zh-CN" sz="2400" b="0" i="0" u="none" strike="noStrike" kern="1200" cap="none" spc="0" normalizeH="0" baseline="0" noProof="0" dirty="0">
                <a:ln>
                  <a:noFill/>
                </a:ln>
                <a:solidFill>
                  <a:prstClr val="black"/>
                </a:solidFill>
                <a:effectLst/>
                <a:uLnTx/>
                <a:uFillTx/>
                <a:latin typeface="Arial"/>
                <a:ea typeface="新細明體"/>
                <a:cs typeface="+mn-cs"/>
                <a:sym typeface="+mn-ea"/>
              </a:rPr>
              <a:t> </a:t>
            </a:r>
            <a:r>
              <a:rPr kumimoji="0" lang="en-US" altLang="zh-CN" sz="2400" b="0" i="0" u="none" strike="noStrike" kern="1200" cap="none" spc="0" normalizeH="0" baseline="0" noProof="0" dirty="0">
                <a:ln>
                  <a:noFill/>
                </a:ln>
                <a:solidFill>
                  <a:srgbClr val="FF0000"/>
                </a:solidFill>
                <a:effectLst/>
                <a:uLnTx/>
                <a:uFillTx/>
                <a:latin typeface="Arial"/>
                <a:ea typeface="新細明體"/>
                <a:cs typeface="+mn-cs"/>
                <a:sym typeface="+mn-ea"/>
              </a:rPr>
              <a:t>2</a:t>
            </a:r>
            <a:r>
              <a:rPr kumimoji="0" lang="en-US" altLang="zh-CN" sz="2400" b="0" i="0" u="none" strike="noStrike" kern="1200" cap="none" spc="0" normalizeH="0" baseline="30000" noProof="0" dirty="0">
                <a:ln>
                  <a:noFill/>
                </a:ln>
                <a:solidFill>
                  <a:srgbClr val="FF0000"/>
                </a:solidFill>
                <a:effectLst/>
                <a:uLnTx/>
                <a:uFillTx/>
                <a:latin typeface="Arial"/>
                <a:ea typeface="新細明體"/>
                <a:cs typeface="+mn-cs"/>
                <a:sym typeface="+mn-ea"/>
              </a:rPr>
              <a:t>−2</a:t>
            </a:r>
            <a:endParaRPr lang="en-US" altLang="zh-CN" sz="2400" dirty="0">
              <a:solidFill>
                <a:srgbClr val="FF0000"/>
              </a:solidFill>
              <a:ea typeface="標楷體" panose="02010601000101010101" pitchFamily="65" charset="-120"/>
              <a:cs typeface="Calibri" panose="020F0502020204030204" pitchFamily="34" charset="0"/>
            </a:endParaRPr>
          </a:p>
          <a:p>
            <a:endParaRPr lang="en-US" altLang="zh-CN" sz="2400" dirty="0">
              <a:solidFill>
                <a:srgbClr val="C00000"/>
              </a:solidFill>
              <a:ea typeface="標楷體" panose="02010601000101010101" pitchFamily="65" charset="-120"/>
              <a:cs typeface="Calibri" panose="020F0502020204030204" pitchFamily="34" charset="0"/>
            </a:endParaRPr>
          </a:p>
          <a:p>
            <a:endParaRPr lang="en-US" altLang="zh-CN" sz="2400" dirty="0">
              <a:solidFill>
                <a:srgbClr val="C00000"/>
              </a:solidFill>
              <a:ea typeface="標楷體" panose="02010601000101010101" pitchFamily="65" charset="-120"/>
              <a:cs typeface="Calibri" panose="020F0502020204030204" pitchFamily="34" charset="0"/>
            </a:endParaRPr>
          </a:p>
          <a:p>
            <a:r>
              <a:rPr lang="en-US" altLang="zh-CN" sz="2400" dirty="0">
                <a:solidFill>
                  <a:srgbClr val="C00000"/>
                </a:solidFill>
                <a:ea typeface="標楷體" panose="02010601000101010101" pitchFamily="65" charset="-120"/>
                <a:cs typeface="Calibri" panose="020F0502020204030204" pitchFamily="34" charset="0"/>
              </a:rPr>
              <a:t>Final bit pattern is </a:t>
            </a:r>
          </a:p>
          <a:p>
            <a:r>
              <a:rPr lang="en-US" sz="2400" b="1" i="0" dirty="0">
                <a:solidFill>
                  <a:srgbClr val="0D0D0D"/>
                </a:solidFill>
                <a:effectLst/>
                <a:latin typeface="Söhne Mono"/>
              </a:rPr>
              <a:t>0 01111101 01010101010101010101010</a:t>
            </a:r>
            <a:endParaRPr lang="en-US" altLang="zh-CN" sz="2400" dirty="0">
              <a:solidFill>
                <a:srgbClr val="C00000"/>
              </a:solidFill>
              <a:ea typeface="標楷體" panose="02010601000101010101" pitchFamily="65" charset="-120"/>
              <a:cs typeface="Calibri" panose="020F0502020204030204" pitchFamily="34" charset="0"/>
            </a:endParaRPr>
          </a:p>
        </p:txBody>
      </p:sp>
      <p:sp>
        <p:nvSpPr>
          <p:cNvPr id="7" name="TextBox 22">
            <a:extLst>
              <a:ext uri="{FF2B5EF4-FFF2-40B4-BE49-F238E27FC236}">
                <a16:creationId xmlns:a16="http://schemas.microsoft.com/office/drawing/2014/main" id="{5B1ED934-18B5-4012-8F13-2AE4F95DC97D}"/>
              </a:ext>
            </a:extLst>
          </p:cNvPr>
          <p:cNvSpPr txBox="1"/>
          <p:nvPr/>
        </p:nvSpPr>
        <p:spPr>
          <a:xfrm>
            <a:off x="3996887" y="4652693"/>
            <a:ext cx="5312484" cy="461665"/>
          </a:xfrm>
          <a:prstGeom prst="rect">
            <a:avLst/>
          </a:prstGeom>
          <a:noFill/>
          <a:ln w="19050">
            <a:solidFill>
              <a:srgbClr val="FF0000"/>
            </a:solidFill>
          </a:ln>
        </p:spPr>
        <p:txBody>
          <a:bodyPr wrap="square" rtlCol="0">
            <a:spAutoFit/>
          </a:bodyPr>
          <a:lstStyle/>
          <a:p>
            <a:r>
              <a:rPr lang="en-US" sz="2400" dirty="0"/>
              <a:t>x = (−1)</a:t>
            </a:r>
            <a:r>
              <a:rPr lang="en-US" sz="2400" baseline="30000" dirty="0">
                <a:solidFill>
                  <a:srgbClr val="FF0000"/>
                </a:solidFill>
              </a:rPr>
              <a:t>s</a:t>
            </a:r>
            <a:r>
              <a:rPr lang="en-US" sz="2400" dirty="0"/>
              <a:t> × (1+</a:t>
            </a:r>
            <a:r>
              <a:rPr lang="en-US" sz="2400" dirty="0">
                <a:solidFill>
                  <a:schemeClr val="accent6"/>
                </a:solidFill>
              </a:rPr>
              <a:t>fraction</a:t>
            </a:r>
            <a:r>
              <a:rPr lang="en-US" sz="2400" dirty="0"/>
              <a:t>) × 2</a:t>
            </a:r>
            <a:r>
              <a:rPr lang="en-US" sz="2400" baseline="30000" dirty="0"/>
              <a:t>(</a:t>
            </a:r>
            <a:r>
              <a:rPr lang="en-US" sz="2400" baseline="30000" dirty="0">
                <a:solidFill>
                  <a:srgbClr val="0000FF"/>
                </a:solidFill>
              </a:rPr>
              <a:t>125</a:t>
            </a:r>
            <a:r>
              <a:rPr lang="en-US" sz="2400" baseline="30000" dirty="0"/>
              <a:t>−127)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5 </a:t>
            </a:r>
          </a:p>
        </p:txBody>
      </p:sp>
      <p:sp>
        <p:nvSpPr>
          <p:cNvPr id="3" name="Content Placeholder 2"/>
          <p:cNvSpPr>
            <a:spLocks noGrp="1"/>
          </p:cNvSpPr>
          <p:nvPr>
            <p:ph idx="1"/>
          </p:nvPr>
        </p:nvSpPr>
        <p:spPr>
          <a:xfrm>
            <a:off x="160020" y="911384"/>
            <a:ext cx="11792797" cy="5215096"/>
          </a:xfrm>
        </p:spPr>
        <p:txBody>
          <a:bodyPr/>
          <a:lstStyle/>
          <a:p>
            <a:r>
              <a:rPr lang="en-US" dirty="0"/>
              <a:t> </a:t>
            </a:r>
            <a:r>
              <a:rPr lang="en-US" sz="3200" dirty="0"/>
              <a:t>What are the SP FP values of the following binary numbers</a:t>
            </a:r>
          </a:p>
          <a:p>
            <a:pPr marL="0" indent="0">
              <a:buNone/>
            </a:pPr>
            <a:r>
              <a:rPr lang="en-US" sz="3200" dirty="0"/>
              <a:t>	0 00000000 00000000000000000000000</a:t>
            </a:r>
          </a:p>
          <a:p>
            <a:pPr marL="0" indent="0">
              <a:buNone/>
            </a:pPr>
            <a:r>
              <a:rPr lang="en-US" sz="3200" dirty="0"/>
              <a:t>	0 00000000 00000000000000000000001</a:t>
            </a:r>
          </a:p>
          <a:p>
            <a:pPr marL="0" indent="0">
              <a:buNone/>
            </a:pPr>
            <a:r>
              <a:rPr lang="en-US" sz="3200" dirty="0"/>
              <a:t>	0 00000000 10000000000000000000000 </a:t>
            </a:r>
          </a:p>
          <a:p>
            <a:pPr marL="0" indent="0">
              <a:buNone/>
            </a:pPr>
            <a:r>
              <a:rPr lang="en-US" sz="3200" dirty="0"/>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0 00000001 00000000000000000000000</a:t>
            </a: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0 10000000 00000000000000000000000</a:t>
            </a: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0 01111111 00000000000000000000000</a:t>
            </a: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0 11111111 10000000000000000000000 </a:t>
            </a: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1 11111111 00000000000000000000000</a:t>
            </a:r>
            <a:endParaRPr lang="en-US" sz="3200" dirty="0"/>
          </a:p>
        </p:txBody>
      </p:sp>
      <p:sp>
        <p:nvSpPr>
          <p:cNvPr id="6" name="灯片编号占位符 5"/>
          <p:cNvSpPr>
            <a:spLocks noGrp="1"/>
          </p:cNvSpPr>
          <p:nvPr>
            <p:ph type="sldNum" sz="quarter" idx="10"/>
          </p:nvPr>
        </p:nvSpPr>
        <p:spPr/>
        <p:txBody>
          <a:bodyPr/>
          <a:lstStyle/>
          <a:p>
            <a:fld id="{D9B6BDF2-6896-4B98-8776-C18582F63BA5}" type="slidenum">
              <a:rPr lang="zh-TW" altLang="en-US" smtClean="0"/>
              <a:t>17</a:t>
            </a:fld>
            <a:endParaRPr lang="zh-TW" altLang="en-US"/>
          </a:p>
        </p:txBody>
      </p:sp>
    </p:spTree>
    <p:extLst>
      <p:ext uri="{BB962C8B-B14F-4D97-AF65-F5344CB8AC3E}">
        <p14:creationId xmlns:p14="http://schemas.microsoft.com/office/powerpoint/2010/main" val="856494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5 </a:t>
            </a:r>
          </a:p>
        </p:txBody>
      </p:sp>
      <p:sp>
        <p:nvSpPr>
          <p:cNvPr id="3" name="Content Placeholder 2"/>
          <p:cNvSpPr>
            <a:spLocks noGrp="1"/>
          </p:cNvSpPr>
          <p:nvPr>
            <p:ph idx="1"/>
          </p:nvPr>
        </p:nvSpPr>
        <p:spPr>
          <a:xfrm>
            <a:off x="160020" y="836617"/>
            <a:ext cx="12031980" cy="5215096"/>
          </a:xfrm>
        </p:spPr>
        <p:txBody>
          <a:bodyPr/>
          <a:lstStyle/>
          <a:p>
            <a:r>
              <a:rPr lang="en-US" dirty="0"/>
              <a:t> </a:t>
            </a:r>
            <a:r>
              <a:rPr lang="en-US" sz="3200" dirty="0"/>
              <a:t>What are the SP FP values of the following binary numbers</a:t>
            </a:r>
          </a:p>
          <a:p>
            <a:pPr marL="0" indent="0">
              <a:buNone/>
            </a:pPr>
            <a:r>
              <a:rPr lang="en-US" sz="3200" dirty="0"/>
              <a:t>	0 00000000 00000000000000000000000		</a:t>
            </a:r>
          </a:p>
          <a:p>
            <a:pPr marL="0" indent="0">
              <a:buNone/>
            </a:pPr>
            <a:r>
              <a:rPr lang="en-US" sz="3200" dirty="0"/>
              <a:t>	0 00000000 00000000000000000000001		</a:t>
            </a:r>
          </a:p>
          <a:p>
            <a:pPr marL="0" indent="0">
              <a:buNone/>
            </a:pPr>
            <a:r>
              <a:rPr lang="en-US" sz="3200" dirty="0"/>
              <a:t>	0 00000000 10000000000000000000000 		</a:t>
            </a:r>
          </a:p>
          <a:p>
            <a:pPr marL="0" indent="0">
              <a:buNone/>
            </a:pPr>
            <a:r>
              <a:rPr lang="en-US" sz="3200" dirty="0"/>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0 00000001 00000000000000000000000		</a:t>
            </a:r>
            <a:endPar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endParaRP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0 10000000 00000000000000000000000		</a:t>
            </a:r>
            <a:endPar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endParaRP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0 01111111 00000000000000000000000		</a:t>
            </a: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0 11111111 10000000000000000000000 		</a:t>
            </a:r>
            <a:endParaRPr lang="en-US" sz="3200" dirty="0">
              <a:solidFill>
                <a:prstClr val="black"/>
              </a:solidFill>
            </a:endParaRPr>
          </a:p>
          <a:p>
            <a:pPr marL="0" indent="0">
              <a:buNone/>
            </a:pPr>
            <a:r>
              <a:rPr lang="en-US" sz="3200" dirty="0">
                <a:solidFill>
                  <a:prstClr val="black"/>
                </a:solidFill>
              </a:rPr>
              <a:t>	1 11111111</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lang="en-US" sz="3200" dirty="0">
                <a:solidFill>
                  <a:prstClr val="black"/>
                </a:solidFill>
              </a:rPr>
              <a:t>0</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0000000000000000000000 	</a:t>
            </a:r>
            <a:endParaRPr lang="en-US" sz="3200" dirty="0"/>
          </a:p>
        </p:txBody>
      </p:sp>
      <p:sp>
        <p:nvSpPr>
          <p:cNvPr id="6" name="灯片编号占位符 5"/>
          <p:cNvSpPr>
            <a:spLocks noGrp="1"/>
          </p:cNvSpPr>
          <p:nvPr>
            <p:ph type="sldNum" sz="quarter" idx="10"/>
          </p:nvPr>
        </p:nvSpPr>
        <p:spPr/>
        <p:txBody>
          <a:bodyPr/>
          <a:lstStyle/>
          <a:p>
            <a:fld id="{D9B6BDF2-6896-4B98-8776-C18582F63BA5}" type="slidenum">
              <a:rPr lang="zh-TW" altLang="en-US" smtClean="0"/>
              <a:t>18</a:t>
            </a:fld>
            <a:endParaRPr lang="zh-TW" altLang="en-US"/>
          </a:p>
        </p:txBody>
      </p:sp>
      <p:sp>
        <p:nvSpPr>
          <p:cNvPr id="4" name="TextBox 3">
            <a:extLst>
              <a:ext uri="{FF2B5EF4-FFF2-40B4-BE49-F238E27FC236}">
                <a16:creationId xmlns:a16="http://schemas.microsoft.com/office/drawing/2014/main" id="{A09D8918-FEF8-426B-A0A8-30D26AE36D5A}"/>
              </a:ext>
            </a:extLst>
          </p:cNvPr>
          <p:cNvSpPr txBox="1"/>
          <p:nvPr/>
        </p:nvSpPr>
        <p:spPr>
          <a:xfrm>
            <a:off x="8040849" y="1412036"/>
            <a:ext cx="684803" cy="523220"/>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itchFamily="34" charset="0"/>
              </a:rPr>
              <a:t>0.0</a:t>
            </a:r>
          </a:p>
        </p:txBody>
      </p:sp>
      <p:sp>
        <p:nvSpPr>
          <p:cNvPr id="7" name="TextBox 6">
            <a:extLst>
              <a:ext uri="{FF2B5EF4-FFF2-40B4-BE49-F238E27FC236}">
                <a16:creationId xmlns:a16="http://schemas.microsoft.com/office/drawing/2014/main" id="{F15B3A9F-30C6-4B6F-8D8F-694FD8EA12B4}"/>
              </a:ext>
            </a:extLst>
          </p:cNvPr>
          <p:cNvSpPr txBox="1"/>
          <p:nvPr/>
        </p:nvSpPr>
        <p:spPr>
          <a:xfrm>
            <a:off x="7970098" y="1941087"/>
            <a:ext cx="864339" cy="523220"/>
          </a:xfrm>
          <a:prstGeom prst="rect">
            <a:avLst/>
          </a:prstGeom>
          <a:solidFill>
            <a:srgbClr val="FFFF00"/>
          </a:solidFill>
          <a:ln>
            <a:solidFill>
              <a:srgbClr val="FF0000"/>
            </a:solidFill>
          </a:ln>
        </p:spPr>
        <p:txBody>
          <a:bodyPr wrap="none" rtlCol="0" anchor="ctr" anchorCtr="1">
            <a:spAutoFit/>
          </a:bodyPr>
          <a:lstStyle/>
          <a:p>
            <a:r>
              <a:rPr lang="en-US" sz="2800">
                <a:solidFill>
                  <a:prstClr val="black"/>
                </a:solidFill>
              </a:rPr>
              <a:t>2</a:t>
            </a:r>
            <a:r>
              <a:rPr lang="en-US" sz="2800" baseline="30000">
                <a:solidFill>
                  <a:prstClr val="black"/>
                </a:solidFill>
              </a:rPr>
              <a:t>-149</a:t>
            </a:r>
            <a:endParaRPr lang="en-US" sz="2800" dirty="0">
              <a:ea typeface="標楷體" pitchFamily="65" charset="-120"/>
              <a:cs typeface="Calibri" pitchFamily="34" charset="0"/>
            </a:endParaRPr>
          </a:p>
        </p:txBody>
      </p:sp>
      <p:sp>
        <p:nvSpPr>
          <p:cNvPr id="8" name="TextBox 7">
            <a:extLst>
              <a:ext uri="{FF2B5EF4-FFF2-40B4-BE49-F238E27FC236}">
                <a16:creationId xmlns:a16="http://schemas.microsoft.com/office/drawing/2014/main" id="{269BB48A-769A-4C92-A217-8B749A3FDEF3}"/>
              </a:ext>
            </a:extLst>
          </p:cNvPr>
          <p:cNvSpPr txBox="1"/>
          <p:nvPr/>
        </p:nvSpPr>
        <p:spPr>
          <a:xfrm>
            <a:off x="7976729" y="2497917"/>
            <a:ext cx="864339" cy="523220"/>
          </a:xfrm>
          <a:prstGeom prst="rect">
            <a:avLst/>
          </a:prstGeom>
          <a:solidFill>
            <a:srgbClr val="FFFF00"/>
          </a:solidFill>
          <a:ln>
            <a:solidFill>
              <a:srgbClr val="FF0000"/>
            </a:solidFill>
          </a:ln>
        </p:spPr>
        <p:txBody>
          <a:bodyPr wrap="none" rtlCol="0" anchor="ctr" anchorCtr="1">
            <a:spAutoFit/>
          </a:bodyPr>
          <a:lstStyle/>
          <a:p>
            <a:r>
              <a:rPr lang="en-US" sz="2800" dirty="0">
                <a:solidFill>
                  <a:prstClr val="black"/>
                </a:solidFill>
              </a:rPr>
              <a:t>2</a:t>
            </a:r>
            <a:r>
              <a:rPr lang="en-US" sz="2800" baseline="30000" dirty="0">
                <a:solidFill>
                  <a:prstClr val="black"/>
                </a:solidFill>
              </a:rPr>
              <a:t>-127</a:t>
            </a:r>
            <a:endParaRPr lang="en-US" sz="2800" dirty="0">
              <a:ea typeface="標楷體" pitchFamily="65" charset="-120"/>
              <a:cs typeface="Calibri" pitchFamily="34" charset="0"/>
            </a:endParaRPr>
          </a:p>
        </p:txBody>
      </p:sp>
      <p:sp>
        <p:nvSpPr>
          <p:cNvPr id="9" name="TextBox 8">
            <a:extLst>
              <a:ext uri="{FF2B5EF4-FFF2-40B4-BE49-F238E27FC236}">
                <a16:creationId xmlns:a16="http://schemas.microsoft.com/office/drawing/2014/main" id="{157E3D69-9EC7-4FC3-9F35-8DEC47160568}"/>
              </a:ext>
            </a:extLst>
          </p:cNvPr>
          <p:cNvSpPr txBox="1"/>
          <p:nvPr/>
        </p:nvSpPr>
        <p:spPr>
          <a:xfrm>
            <a:off x="7970098" y="3065823"/>
            <a:ext cx="864339" cy="523220"/>
          </a:xfrm>
          <a:prstGeom prst="rect">
            <a:avLst/>
          </a:prstGeom>
          <a:solidFill>
            <a:srgbClr val="FFFF00"/>
          </a:solidFill>
          <a:ln>
            <a:solidFill>
              <a:srgbClr val="FF0000"/>
            </a:solidFill>
          </a:ln>
        </p:spPr>
        <p:txBody>
          <a:bodyPr wrap="none" rtlCol="0" anchor="ctr" anchorCtr="1">
            <a:spAutoFit/>
          </a:bodyPr>
          <a:lstStyle/>
          <a:p>
            <a:r>
              <a:rPr lang="en-US" sz="2800" dirty="0">
                <a:solidFill>
                  <a:prstClr val="black"/>
                </a:solidFill>
              </a:rPr>
              <a:t>2</a:t>
            </a:r>
            <a:r>
              <a:rPr lang="en-US" sz="2800" baseline="30000" dirty="0">
                <a:solidFill>
                  <a:prstClr val="black"/>
                </a:solidFill>
              </a:rPr>
              <a:t>-126</a:t>
            </a:r>
            <a:endParaRPr lang="en-US" sz="2800" dirty="0">
              <a:ea typeface="標楷體" pitchFamily="65" charset="-120"/>
              <a:cs typeface="Calibri" pitchFamily="34" charset="0"/>
            </a:endParaRPr>
          </a:p>
        </p:txBody>
      </p:sp>
      <p:sp>
        <p:nvSpPr>
          <p:cNvPr id="10" name="TextBox 9">
            <a:extLst>
              <a:ext uri="{FF2B5EF4-FFF2-40B4-BE49-F238E27FC236}">
                <a16:creationId xmlns:a16="http://schemas.microsoft.com/office/drawing/2014/main" id="{7560625D-3766-41E9-9E23-E7C3F8E4D962}"/>
              </a:ext>
            </a:extLst>
          </p:cNvPr>
          <p:cNvSpPr txBox="1"/>
          <p:nvPr/>
        </p:nvSpPr>
        <p:spPr>
          <a:xfrm>
            <a:off x="8013325" y="3674839"/>
            <a:ext cx="684803" cy="523220"/>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itchFamily="34" charset="0"/>
              </a:rPr>
              <a:t>2.0</a:t>
            </a:r>
          </a:p>
        </p:txBody>
      </p:sp>
      <p:sp>
        <p:nvSpPr>
          <p:cNvPr id="11" name="TextBox 10">
            <a:extLst>
              <a:ext uri="{FF2B5EF4-FFF2-40B4-BE49-F238E27FC236}">
                <a16:creationId xmlns:a16="http://schemas.microsoft.com/office/drawing/2014/main" id="{64B3F919-D40F-4D97-80CD-AA0225C49FCA}"/>
              </a:ext>
            </a:extLst>
          </p:cNvPr>
          <p:cNvSpPr txBox="1"/>
          <p:nvPr/>
        </p:nvSpPr>
        <p:spPr>
          <a:xfrm>
            <a:off x="8020736" y="4347292"/>
            <a:ext cx="684803" cy="523220"/>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itchFamily="34" charset="0"/>
              </a:rPr>
              <a:t>1.0</a:t>
            </a:r>
          </a:p>
        </p:txBody>
      </p:sp>
      <p:sp>
        <p:nvSpPr>
          <p:cNvPr id="12" name="TextBox 11">
            <a:extLst>
              <a:ext uri="{FF2B5EF4-FFF2-40B4-BE49-F238E27FC236}">
                <a16:creationId xmlns:a16="http://schemas.microsoft.com/office/drawing/2014/main" id="{950B83DF-BF5A-43E3-8C85-89E6BE771506}"/>
              </a:ext>
            </a:extLst>
          </p:cNvPr>
          <p:cNvSpPr txBox="1"/>
          <p:nvPr/>
        </p:nvSpPr>
        <p:spPr>
          <a:xfrm>
            <a:off x="8040849" y="4959819"/>
            <a:ext cx="904415" cy="523220"/>
          </a:xfrm>
          <a:prstGeom prst="rect">
            <a:avLst/>
          </a:prstGeom>
          <a:solidFill>
            <a:srgbClr val="FFFF00"/>
          </a:solidFill>
          <a:ln>
            <a:solidFill>
              <a:srgbClr val="FF0000"/>
            </a:solidFill>
          </a:ln>
        </p:spPr>
        <p:txBody>
          <a:bodyPr wrap="none" rtlCol="0" anchor="ctr" anchorCtr="1">
            <a:spAutoFit/>
          </a:bodyPr>
          <a:lstStyle/>
          <a:p>
            <a:r>
              <a:rPr lang="en-US" sz="2800" dirty="0" err="1">
                <a:ea typeface="標楷體" pitchFamily="65" charset="-120"/>
                <a:cs typeface="Calibri" pitchFamily="34" charset="0"/>
              </a:rPr>
              <a:t>NaN</a:t>
            </a:r>
            <a:endParaRPr lang="en-US" sz="2800" dirty="0">
              <a:ea typeface="標楷體" pitchFamily="65" charset="-120"/>
              <a:cs typeface="Calibri" pitchFamily="34" charset="0"/>
            </a:endParaRPr>
          </a:p>
        </p:txBody>
      </p:sp>
      <p:sp>
        <p:nvSpPr>
          <p:cNvPr id="13" name="TextBox 12">
            <a:extLst>
              <a:ext uri="{FF2B5EF4-FFF2-40B4-BE49-F238E27FC236}">
                <a16:creationId xmlns:a16="http://schemas.microsoft.com/office/drawing/2014/main" id="{71DBA0E3-3444-433E-B667-DC530CB9DAF2}"/>
              </a:ext>
            </a:extLst>
          </p:cNvPr>
          <p:cNvSpPr txBox="1"/>
          <p:nvPr/>
        </p:nvSpPr>
        <p:spPr>
          <a:xfrm>
            <a:off x="8040849" y="5550260"/>
            <a:ext cx="923986" cy="646331"/>
          </a:xfrm>
          <a:prstGeom prst="rect">
            <a:avLst/>
          </a:prstGeom>
          <a:solidFill>
            <a:srgbClr val="FFFF00"/>
          </a:solidFill>
          <a:ln>
            <a:solidFill>
              <a:srgbClr val="FF0000"/>
            </a:solidFill>
          </a:ln>
        </p:spPr>
        <p:txBody>
          <a:bodyPr wrap="square" rtlCol="0" anchor="ctr" anchorCtr="1">
            <a:spAutoFit/>
          </a:bodyPr>
          <a:lstStyle/>
          <a:p>
            <a:r>
              <a:rPr lang="en-US" sz="1900" dirty="0">
                <a:solidFill>
                  <a:prstClr val="black"/>
                </a:solidFill>
              </a:rPr>
              <a:t> </a:t>
            </a:r>
            <a:r>
              <a:rPr lang="en-US" sz="2800" dirty="0">
                <a:solidFill>
                  <a:prstClr val="black"/>
                </a:solidFill>
              </a:rPr>
              <a:t>-</a:t>
            </a:r>
            <a:r>
              <a:rPr lang="en-US" sz="3600" dirty="0">
                <a:solidFill>
                  <a:prstClr val="black"/>
                </a:solidFill>
              </a:rPr>
              <a:t>∞</a:t>
            </a:r>
            <a:endParaRPr lang="en-US" sz="2800" dirty="0">
              <a:ea typeface="標楷體" pitchFamily="65" charset="-120"/>
              <a:cs typeface="Calibri" pitchFamily="34" charset="0"/>
            </a:endParaRPr>
          </a:p>
        </p:txBody>
      </p:sp>
      <p:sp>
        <p:nvSpPr>
          <p:cNvPr id="5" name="TextBox 4">
            <a:extLst>
              <a:ext uri="{FF2B5EF4-FFF2-40B4-BE49-F238E27FC236}">
                <a16:creationId xmlns:a16="http://schemas.microsoft.com/office/drawing/2014/main" id="{9610CDD7-23D5-41DB-BBF8-BAC162B85D7C}"/>
              </a:ext>
            </a:extLst>
          </p:cNvPr>
          <p:cNvSpPr txBox="1"/>
          <p:nvPr/>
        </p:nvSpPr>
        <p:spPr>
          <a:xfrm>
            <a:off x="8964835" y="1935256"/>
            <a:ext cx="3227165" cy="1200329"/>
          </a:xfrm>
          <a:prstGeom prst="rect">
            <a:avLst/>
          </a:prstGeom>
          <a:solidFill>
            <a:schemeClr val="accent5">
              <a:lumMod val="20000"/>
              <a:lumOff val="80000"/>
            </a:schemeClr>
          </a:solidFill>
          <a:ln>
            <a:solidFill>
              <a:srgbClr val="FF0000"/>
            </a:solidFill>
          </a:ln>
        </p:spPr>
        <p:txBody>
          <a:bodyPr wrap="none" rtlCol="0" anchor="ctr" anchorCtr="1">
            <a:spAutoFit/>
          </a:bodyPr>
          <a:lstStyle/>
          <a:p>
            <a:r>
              <a:rPr lang="en-US" sz="2400" b="1" dirty="0">
                <a:solidFill>
                  <a:srgbClr val="FF0000"/>
                </a:solidFill>
                <a:ea typeface="標楷體" pitchFamily="65" charset="-120"/>
                <a:cs typeface="Calibri" pitchFamily="34" charset="0"/>
              </a:rPr>
              <a:t>For denormalized</a:t>
            </a:r>
          </a:p>
          <a:p>
            <a:r>
              <a:rPr lang="en-US" sz="2400" b="1" dirty="0">
                <a:solidFill>
                  <a:srgbClr val="FF0000"/>
                </a:solidFill>
                <a:ea typeface="標楷體" pitchFamily="65" charset="-120"/>
                <a:cs typeface="Calibri" pitchFamily="34" charset="0"/>
              </a:rPr>
              <a:t>values, the exponent</a:t>
            </a:r>
          </a:p>
          <a:p>
            <a:r>
              <a:rPr lang="en-US" sz="2400" b="1" dirty="0">
                <a:solidFill>
                  <a:srgbClr val="FF0000"/>
                </a:solidFill>
                <a:ea typeface="標楷體" pitchFamily="65" charset="-120"/>
                <a:cs typeface="Calibri" pitchFamily="34" charset="0"/>
              </a:rPr>
              <a:t>is always set to -126</a:t>
            </a:r>
          </a:p>
        </p:txBody>
      </p:sp>
      <p:cxnSp>
        <p:nvCxnSpPr>
          <p:cNvPr id="15" name="Straight Arrow Connector 14">
            <a:extLst>
              <a:ext uri="{FF2B5EF4-FFF2-40B4-BE49-F238E27FC236}">
                <a16:creationId xmlns:a16="http://schemas.microsoft.com/office/drawing/2014/main" id="{862F770D-AB27-4714-A89F-AF98D3FF8848}"/>
              </a:ext>
            </a:extLst>
          </p:cNvPr>
          <p:cNvCxnSpPr/>
          <p:nvPr/>
        </p:nvCxnSpPr>
        <p:spPr bwMode="auto">
          <a:xfrm flipH="1">
            <a:off x="7694579" y="2535420"/>
            <a:ext cx="1250685" cy="224107"/>
          </a:xfrm>
          <a:prstGeom prst="straightConnector1">
            <a:avLst/>
          </a:prstGeom>
          <a:noFill/>
          <a:ln w="15875" cap="flat" cmpd="sng" algn="ctr">
            <a:solidFill>
              <a:srgbClr val="FF0000"/>
            </a:solidFill>
            <a:prstDash val="solid"/>
            <a:round/>
            <a:headEnd type="none" w="med" len="med"/>
            <a:tailEnd type="triangle"/>
          </a:ln>
          <a:effectLst/>
        </p:spPr>
      </p:cxnSp>
      <p:sp>
        <p:nvSpPr>
          <p:cNvPr id="14" name="Left Brace 13">
            <a:extLst>
              <a:ext uri="{FF2B5EF4-FFF2-40B4-BE49-F238E27FC236}">
                <a16:creationId xmlns:a16="http://schemas.microsoft.com/office/drawing/2014/main" id="{25A8752C-BEBE-48E4-AC82-EAA861839C00}"/>
              </a:ext>
            </a:extLst>
          </p:cNvPr>
          <p:cNvSpPr/>
          <p:nvPr/>
        </p:nvSpPr>
        <p:spPr bwMode="auto">
          <a:xfrm>
            <a:off x="388620" y="2308860"/>
            <a:ext cx="661248" cy="731520"/>
          </a:xfrm>
          <a:prstGeom prst="leftBrac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6" name="TextBox 15">
            <a:extLst>
              <a:ext uri="{FF2B5EF4-FFF2-40B4-BE49-F238E27FC236}">
                <a16:creationId xmlns:a16="http://schemas.microsoft.com/office/drawing/2014/main" id="{6697D19C-6B2F-4BD9-BE3D-C9C7A06D049B}"/>
              </a:ext>
            </a:extLst>
          </p:cNvPr>
          <p:cNvSpPr txBox="1"/>
          <p:nvPr/>
        </p:nvSpPr>
        <p:spPr>
          <a:xfrm>
            <a:off x="125589" y="2305288"/>
            <a:ext cx="889987" cy="369332"/>
          </a:xfrm>
          <a:prstGeom prst="rect">
            <a:avLst/>
          </a:prstGeom>
          <a:noFill/>
        </p:spPr>
        <p:txBody>
          <a:bodyPr wrap="none" rtlCol="0" anchor="ctr" anchorCtr="1">
            <a:spAutoFit/>
          </a:bodyPr>
          <a:lstStyle/>
          <a:p>
            <a:r>
              <a:rPr lang="en-US" dirty="0" err="1">
                <a:solidFill>
                  <a:srgbClr val="FF0000"/>
                </a:solidFill>
                <a:ea typeface="標楷體" pitchFamily="65" charset="-120"/>
                <a:cs typeface="Calibri" pitchFamily="34" charset="0"/>
              </a:rPr>
              <a:t>denom</a:t>
            </a:r>
            <a:endParaRPr lang="en-US" dirty="0">
              <a:solidFill>
                <a:srgbClr val="FF0000"/>
              </a:solidFill>
              <a:ea typeface="標楷體" pitchFamily="65" charset="-120"/>
              <a:cs typeface="Calibri" pitchFamily="34" charset="0"/>
            </a:endParaRPr>
          </a:p>
        </p:txBody>
      </p:sp>
    </p:spTree>
    <p:extLst>
      <p:ext uri="{BB962C8B-B14F-4D97-AF65-F5344CB8AC3E}">
        <p14:creationId xmlns:p14="http://schemas.microsoft.com/office/powerpoint/2010/main" val="2200826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P spid="13" grpId="0" animBg="1"/>
      <p:bldP spid="14" grpId="0" animBg="1"/>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Floating-Point Addition</a:t>
            </a:r>
            <a:r>
              <a:rPr lang="zh-CN" altLang="en-US" dirty="0">
                <a:cs typeface="Calibri" panose="020F0502020204030204" pitchFamily="34" charset="0"/>
              </a:rPr>
              <a:t> </a:t>
            </a:r>
            <a:r>
              <a:rPr lang="en-US" altLang="zh-CN" dirty="0">
                <a:cs typeface="Calibri" panose="020F0502020204030204" pitchFamily="34" charset="0"/>
              </a:rPr>
              <a:t>(1)</a:t>
            </a:r>
            <a:endParaRPr lang="en-US" dirty="0">
              <a:cs typeface="Calibri" panose="020F0502020204030204" pitchFamily="34" charset="0"/>
            </a:endParaRPr>
          </a:p>
        </p:txBody>
      </p:sp>
      <p:sp>
        <p:nvSpPr>
          <p:cNvPr id="3" name="Content Placeholder 2"/>
          <p:cNvSpPr>
            <a:spLocks noGrp="1"/>
          </p:cNvSpPr>
          <p:nvPr>
            <p:ph idx="1"/>
          </p:nvPr>
        </p:nvSpPr>
        <p:spPr>
          <a:xfrm>
            <a:off x="1331053" y="1080796"/>
            <a:ext cx="10251347" cy="5071131"/>
          </a:xfrm>
        </p:spPr>
        <p:txBody>
          <a:bodyPr>
            <a:noAutofit/>
          </a:bodyPr>
          <a:lstStyle/>
          <a:p>
            <a:r>
              <a:rPr lang="en-US" sz="2667" dirty="0"/>
              <a:t>Consider a 4-digit </a:t>
            </a:r>
            <a:r>
              <a:rPr lang="en-US" sz="2667" b="1" dirty="0">
                <a:solidFill>
                  <a:schemeClr val="accent1"/>
                </a:solidFill>
              </a:rPr>
              <a:t>decimal</a:t>
            </a:r>
            <a:r>
              <a:rPr lang="en-US" sz="2667" dirty="0">
                <a:solidFill>
                  <a:schemeClr val="accent1"/>
                </a:solidFill>
              </a:rPr>
              <a:t> </a:t>
            </a:r>
            <a:r>
              <a:rPr lang="en-US" sz="2667" dirty="0"/>
              <a:t>example</a:t>
            </a:r>
          </a:p>
          <a:p>
            <a:pPr lvl="1"/>
            <a:r>
              <a:rPr lang="en-US" sz="2400" dirty="0"/>
              <a:t>9.999 × 10</a:t>
            </a:r>
            <a:r>
              <a:rPr lang="en-US" sz="2400" baseline="30000" dirty="0"/>
              <a:t>1</a:t>
            </a:r>
            <a:r>
              <a:rPr lang="en-US" sz="2400" dirty="0"/>
              <a:t> + 1.610 × 10</a:t>
            </a:r>
            <a:r>
              <a:rPr lang="en-US" sz="2400" baseline="30000" dirty="0"/>
              <a:t>–1</a:t>
            </a:r>
          </a:p>
          <a:p>
            <a:r>
              <a:rPr lang="en-US" sz="2667" b="1" dirty="0">
                <a:solidFill>
                  <a:schemeClr val="accent1"/>
                </a:solidFill>
              </a:rPr>
              <a:t>1.</a:t>
            </a:r>
            <a:r>
              <a:rPr lang="en-US" sz="2667" dirty="0"/>
              <a:t> Align decimal points</a:t>
            </a:r>
          </a:p>
          <a:p>
            <a:pPr lvl="1"/>
            <a:r>
              <a:rPr lang="en-US" sz="2400" dirty="0"/>
              <a:t>Shift number with smaller exponent</a:t>
            </a:r>
          </a:p>
          <a:p>
            <a:pPr lvl="1"/>
            <a:r>
              <a:rPr lang="en-US" sz="2400" dirty="0"/>
              <a:t>9.999 × 10</a:t>
            </a:r>
            <a:r>
              <a:rPr lang="en-US" sz="2400" baseline="30000" dirty="0"/>
              <a:t>1 </a:t>
            </a:r>
            <a:r>
              <a:rPr lang="en-US" sz="2400" dirty="0"/>
              <a:t>+ 0.016 × 10</a:t>
            </a:r>
            <a:r>
              <a:rPr lang="en-US" sz="2400" baseline="30000" dirty="0"/>
              <a:t>1</a:t>
            </a:r>
          </a:p>
          <a:p>
            <a:r>
              <a:rPr lang="en-US" sz="2667" b="1" dirty="0">
                <a:solidFill>
                  <a:schemeClr val="accent1"/>
                </a:solidFill>
              </a:rPr>
              <a:t>2. </a:t>
            </a:r>
            <a:r>
              <a:rPr lang="en-US" sz="2667" dirty="0"/>
              <a:t>Add significands</a:t>
            </a:r>
          </a:p>
          <a:p>
            <a:pPr lvl="1"/>
            <a:r>
              <a:rPr lang="en-US" sz="2400" dirty="0"/>
              <a:t>9.999 × 10</a:t>
            </a:r>
            <a:r>
              <a:rPr lang="en-US" sz="2400" baseline="30000" dirty="0"/>
              <a:t>1 </a:t>
            </a:r>
            <a:r>
              <a:rPr lang="en-US" sz="2400" dirty="0"/>
              <a:t>+ 0.016 × 10</a:t>
            </a:r>
            <a:r>
              <a:rPr lang="en-US" sz="2400" baseline="30000" dirty="0"/>
              <a:t>1 </a:t>
            </a:r>
            <a:r>
              <a:rPr lang="en-US" sz="2400" dirty="0"/>
              <a:t>= 10.015 × 10</a:t>
            </a:r>
            <a:r>
              <a:rPr lang="en-US" sz="2400" baseline="30000" dirty="0"/>
              <a:t>1</a:t>
            </a:r>
          </a:p>
          <a:p>
            <a:r>
              <a:rPr lang="en-US" sz="2667" b="1" dirty="0">
                <a:solidFill>
                  <a:schemeClr val="accent1"/>
                </a:solidFill>
              </a:rPr>
              <a:t>3.</a:t>
            </a:r>
            <a:r>
              <a:rPr lang="en-US" sz="2667" dirty="0"/>
              <a:t> Normalize result &amp; check for over/underflow</a:t>
            </a:r>
          </a:p>
          <a:p>
            <a:pPr lvl="1"/>
            <a:r>
              <a:rPr lang="en-US" sz="2400" dirty="0"/>
              <a:t>1.0015 × 10</a:t>
            </a:r>
            <a:r>
              <a:rPr lang="en-US" sz="2400" baseline="30000" dirty="0"/>
              <a:t>2</a:t>
            </a:r>
          </a:p>
          <a:p>
            <a:r>
              <a:rPr lang="en-US" sz="2667" b="1" dirty="0">
                <a:solidFill>
                  <a:schemeClr val="accent1"/>
                </a:solidFill>
              </a:rPr>
              <a:t>4. </a:t>
            </a:r>
            <a:r>
              <a:rPr lang="en-US" sz="2667" dirty="0"/>
              <a:t>Round and renormalize if necessary</a:t>
            </a:r>
          </a:p>
          <a:p>
            <a:pPr lvl="1"/>
            <a:r>
              <a:rPr lang="en-US" sz="2400" dirty="0"/>
              <a:t>1.002 × 10</a:t>
            </a:r>
            <a:r>
              <a:rPr lang="en-US" sz="2400" baseline="30000" dirty="0"/>
              <a:t>2</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19</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Floating-Point Addition (2)</a:t>
            </a:r>
          </a:p>
        </p:txBody>
      </p:sp>
      <p:sp>
        <p:nvSpPr>
          <p:cNvPr id="3" name="Content Placeholder 2"/>
          <p:cNvSpPr>
            <a:spLocks noGrp="1"/>
          </p:cNvSpPr>
          <p:nvPr>
            <p:ph idx="1"/>
          </p:nvPr>
        </p:nvSpPr>
        <p:spPr>
          <a:xfrm>
            <a:off x="1409350" y="1047240"/>
            <a:ext cx="10173049" cy="5093501"/>
          </a:xfrm>
        </p:spPr>
        <p:txBody>
          <a:bodyPr>
            <a:noAutofit/>
          </a:bodyPr>
          <a:lstStyle/>
          <a:p>
            <a:r>
              <a:rPr lang="en-US" sz="2667" dirty="0"/>
              <a:t>Now consider a 4-digit </a:t>
            </a:r>
            <a:r>
              <a:rPr lang="en-US" sz="2667" b="1" dirty="0">
                <a:solidFill>
                  <a:schemeClr val="accent1"/>
                </a:solidFill>
              </a:rPr>
              <a:t>binary</a:t>
            </a:r>
            <a:r>
              <a:rPr lang="en-US" sz="2667" dirty="0">
                <a:solidFill>
                  <a:schemeClr val="accent1"/>
                </a:solidFill>
              </a:rPr>
              <a:t> </a:t>
            </a:r>
            <a:r>
              <a:rPr lang="en-US" sz="2667" dirty="0"/>
              <a:t>example</a:t>
            </a:r>
          </a:p>
          <a:p>
            <a:pPr lvl="1"/>
            <a:r>
              <a:rPr lang="en-US" sz="2400" dirty="0"/>
              <a:t>1.000</a:t>
            </a:r>
            <a:r>
              <a:rPr lang="en-US" sz="2400" baseline="-25000" dirty="0"/>
              <a:t>2</a:t>
            </a:r>
            <a:r>
              <a:rPr lang="en-US" sz="2400" dirty="0"/>
              <a:t> × 2</a:t>
            </a:r>
            <a:r>
              <a:rPr lang="en-US" sz="2400" baseline="30000" dirty="0"/>
              <a:t>–1</a:t>
            </a:r>
            <a:r>
              <a:rPr lang="en-US" sz="2400" dirty="0"/>
              <a:t> + –1.110</a:t>
            </a:r>
            <a:r>
              <a:rPr lang="en-US" sz="2400" baseline="-25000" dirty="0"/>
              <a:t>2</a:t>
            </a:r>
            <a:r>
              <a:rPr lang="en-US" sz="2400" dirty="0"/>
              <a:t> × 2</a:t>
            </a:r>
            <a:r>
              <a:rPr lang="en-US" sz="2400" baseline="30000" dirty="0"/>
              <a:t>–2</a:t>
            </a:r>
            <a:r>
              <a:rPr lang="en-US" sz="2400" dirty="0"/>
              <a:t>   (0.5 + –0.4375)</a:t>
            </a:r>
          </a:p>
          <a:p>
            <a:r>
              <a:rPr lang="en-US" sz="2667" b="1" dirty="0">
                <a:solidFill>
                  <a:schemeClr val="accent1"/>
                </a:solidFill>
              </a:rPr>
              <a:t>1. </a:t>
            </a:r>
            <a:r>
              <a:rPr lang="en-US" sz="2667" dirty="0"/>
              <a:t>Align binary points</a:t>
            </a:r>
          </a:p>
          <a:p>
            <a:pPr lvl="1"/>
            <a:r>
              <a:rPr lang="en-US" sz="2400" dirty="0"/>
              <a:t>Shift number with smaller exponent</a:t>
            </a:r>
          </a:p>
          <a:p>
            <a:pPr lvl="1"/>
            <a:r>
              <a:rPr lang="en-US" sz="2400" dirty="0"/>
              <a:t>1.000</a:t>
            </a:r>
            <a:r>
              <a:rPr lang="en-US" sz="2400" baseline="-25000" dirty="0"/>
              <a:t>2</a:t>
            </a:r>
            <a:r>
              <a:rPr lang="en-US" sz="2400" dirty="0"/>
              <a:t> × 2</a:t>
            </a:r>
            <a:r>
              <a:rPr lang="en-US" sz="2400" baseline="30000" dirty="0"/>
              <a:t>–1</a:t>
            </a:r>
            <a:r>
              <a:rPr lang="en-US" sz="2400" dirty="0"/>
              <a:t> + –0.111</a:t>
            </a:r>
            <a:r>
              <a:rPr lang="en-US" sz="2400" baseline="-25000" dirty="0"/>
              <a:t>2</a:t>
            </a:r>
            <a:r>
              <a:rPr lang="en-US" sz="2400" dirty="0"/>
              <a:t> × 2</a:t>
            </a:r>
            <a:r>
              <a:rPr lang="en-US" sz="2400" baseline="30000" dirty="0"/>
              <a:t>–1</a:t>
            </a:r>
          </a:p>
          <a:p>
            <a:r>
              <a:rPr lang="en-US" sz="2667" b="1" dirty="0">
                <a:solidFill>
                  <a:schemeClr val="accent1"/>
                </a:solidFill>
              </a:rPr>
              <a:t>2. </a:t>
            </a:r>
            <a:r>
              <a:rPr lang="en-US" sz="2667" dirty="0"/>
              <a:t>Add significands</a:t>
            </a:r>
          </a:p>
          <a:p>
            <a:pPr lvl="1"/>
            <a:r>
              <a:rPr lang="en-US" sz="2400" dirty="0"/>
              <a:t>1.000</a:t>
            </a:r>
            <a:r>
              <a:rPr lang="en-US" sz="2400" baseline="-25000" dirty="0"/>
              <a:t>2</a:t>
            </a:r>
            <a:r>
              <a:rPr lang="en-US" sz="2400" dirty="0"/>
              <a:t> × 2</a:t>
            </a:r>
            <a:r>
              <a:rPr lang="en-US" sz="2400" baseline="30000" dirty="0"/>
              <a:t>–1</a:t>
            </a:r>
            <a:r>
              <a:rPr lang="en-US" sz="2400" dirty="0"/>
              <a:t> + –0.111</a:t>
            </a:r>
            <a:r>
              <a:rPr lang="en-US" sz="2400" baseline="-25000" dirty="0"/>
              <a:t>2</a:t>
            </a:r>
            <a:r>
              <a:rPr lang="en-US" sz="2400" dirty="0"/>
              <a:t> × 2</a:t>
            </a:r>
            <a:r>
              <a:rPr lang="en-US" sz="2400" baseline="30000" dirty="0"/>
              <a:t>–1</a:t>
            </a:r>
            <a:r>
              <a:rPr lang="en-US" sz="2400" dirty="0"/>
              <a:t> = 0.001</a:t>
            </a:r>
            <a:r>
              <a:rPr lang="en-US" sz="2400" baseline="-25000" dirty="0"/>
              <a:t>2</a:t>
            </a:r>
            <a:r>
              <a:rPr lang="en-US" sz="2400" dirty="0"/>
              <a:t> × 2</a:t>
            </a:r>
            <a:r>
              <a:rPr lang="en-US" sz="2400" baseline="30000" dirty="0"/>
              <a:t>–1</a:t>
            </a:r>
          </a:p>
          <a:p>
            <a:r>
              <a:rPr lang="en-US" sz="2667" b="1" dirty="0">
                <a:solidFill>
                  <a:schemeClr val="accent1"/>
                </a:solidFill>
              </a:rPr>
              <a:t>3. </a:t>
            </a:r>
            <a:r>
              <a:rPr lang="en-US" sz="2667" dirty="0"/>
              <a:t>Normalize result &amp; check for over/underflow</a:t>
            </a:r>
          </a:p>
          <a:p>
            <a:pPr lvl="1"/>
            <a:r>
              <a:rPr lang="en-US" sz="2400" dirty="0"/>
              <a:t>1.000</a:t>
            </a:r>
            <a:r>
              <a:rPr lang="en-US" sz="2400" baseline="-25000" dirty="0"/>
              <a:t>2</a:t>
            </a:r>
            <a:r>
              <a:rPr lang="en-US" sz="2400" dirty="0"/>
              <a:t> × 2</a:t>
            </a:r>
            <a:r>
              <a:rPr lang="en-US" sz="2400" baseline="30000" dirty="0"/>
              <a:t>–4</a:t>
            </a:r>
            <a:r>
              <a:rPr lang="en-US" sz="2400" dirty="0"/>
              <a:t>, with no over/underflow</a:t>
            </a:r>
          </a:p>
          <a:p>
            <a:r>
              <a:rPr lang="en-US" sz="2667" b="1" dirty="0">
                <a:solidFill>
                  <a:schemeClr val="accent1"/>
                </a:solidFill>
              </a:rPr>
              <a:t>4. </a:t>
            </a:r>
            <a:r>
              <a:rPr lang="en-US" sz="2667" dirty="0"/>
              <a:t>Round and renormalize if necessary</a:t>
            </a:r>
          </a:p>
          <a:p>
            <a:pPr lvl="1"/>
            <a:r>
              <a:rPr lang="en-US" sz="2400" dirty="0"/>
              <a:t>1.000</a:t>
            </a:r>
            <a:r>
              <a:rPr lang="en-US" sz="2400" baseline="-25000" dirty="0"/>
              <a:t>2</a:t>
            </a:r>
            <a:r>
              <a:rPr lang="en-US" sz="2400" dirty="0"/>
              <a:t> × 2</a:t>
            </a:r>
            <a:r>
              <a:rPr lang="en-US" sz="2400" baseline="30000" dirty="0"/>
              <a:t>–4</a:t>
            </a:r>
            <a:r>
              <a:rPr lang="en-US" sz="2400" dirty="0"/>
              <a:t> (no change) = 0.0625</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FP Adder Hardware (1)</a:t>
            </a:r>
          </a:p>
        </p:txBody>
      </p:sp>
      <p:sp>
        <p:nvSpPr>
          <p:cNvPr id="3" name="Content Placeholder 2"/>
          <p:cNvSpPr>
            <a:spLocks noGrp="1"/>
          </p:cNvSpPr>
          <p:nvPr>
            <p:ph idx="1"/>
          </p:nvPr>
        </p:nvSpPr>
        <p:spPr>
          <a:xfrm>
            <a:off x="1297497" y="1125538"/>
            <a:ext cx="10284903" cy="3471629"/>
          </a:xfrm>
        </p:spPr>
        <p:txBody>
          <a:bodyPr>
            <a:normAutofit lnSpcReduction="10000"/>
          </a:bodyPr>
          <a:lstStyle/>
          <a:p>
            <a:r>
              <a:rPr lang="en-US" dirty="0"/>
              <a:t>Much more complex than integer adder</a:t>
            </a:r>
          </a:p>
          <a:p>
            <a:r>
              <a:rPr lang="en-US" dirty="0"/>
              <a:t>Doing it in one clock cycle would take too long</a:t>
            </a:r>
          </a:p>
          <a:p>
            <a:pPr lvl="1"/>
            <a:r>
              <a:rPr lang="en-US" dirty="0"/>
              <a:t>Much longer than integer operations</a:t>
            </a:r>
          </a:p>
          <a:p>
            <a:pPr lvl="1"/>
            <a:r>
              <a:rPr lang="en-US" dirty="0"/>
              <a:t>Slower clock would penalize all instructions</a:t>
            </a:r>
          </a:p>
          <a:p>
            <a:r>
              <a:rPr lang="en-US" dirty="0"/>
              <a:t>FP adder usually takes several cycles</a:t>
            </a:r>
          </a:p>
          <a:p>
            <a:pPr lvl="1"/>
            <a:r>
              <a:rPr lang="en-US" dirty="0"/>
              <a:t>Can be pipelined</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FP Adder Hardware (2)</a:t>
            </a:r>
          </a:p>
        </p:txBody>
      </p:sp>
      <p:grpSp>
        <p:nvGrpSpPr>
          <p:cNvPr id="4" name="组合 3"/>
          <p:cNvGrpSpPr/>
          <p:nvPr/>
        </p:nvGrpSpPr>
        <p:grpSpPr>
          <a:xfrm>
            <a:off x="1296786" y="1144377"/>
            <a:ext cx="9842268" cy="4918067"/>
            <a:chOff x="2267216" y="875061"/>
            <a:chExt cx="4835743" cy="3624131"/>
          </a:xfrm>
        </p:grpSpPr>
        <p:pic>
          <p:nvPicPr>
            <p:cNvPr id="8" name="Picture 7"/>
            <p:cNvPicPr>
              <a:picLocks noChangeAspect="1"/>
            </p:cNvPicPr>
            <p:nvPr/>
          </p:nvPicPr>
          <p:blipFill>
            <a:blip r:embed="rId2"/>
            <a:stretch>
              <a:fillRect/>
            </a:stretch>
          </p:blipFill>
          <p:spPr>
            <a:xfrm>
              <a:off x="2267216" y="875061"/>
              <a:ext cx="3839969" cy="3624131"/>
            </a:xfrm>
            <a:prstGeom prst="rect">
              <a:avLst/>
            </a:prstGeom>
          </p:spPr>
        </p:pic>
        <p:sp>
          <p:nvSpPr>
            <p:cNvPr id="9" name="TextBox 8"/>
            <p:cNvSpPr txBox="1"/>
            <p:nvPr/>
          </p:nvSpPr>
          <p:spPr>
            <a:xfrm>
              <a:off x="6336382" y="1823953"/>
              <a:ext cx="430971" cy="272161"/>
            </a:xfrm>
            <a:prstGeom prst="rect">
              <a:avLst/>
            </a:prstGeom>
            <a:noFill/>
          </p:spPr>
          <p:txBody>
            <a:bodyPr wrap="none" rtlCol="0">
              <a:spAutoFit/>
            </a:bodyPr>
            <a:lstStyle/>
            <a:p>
              <a:r>
                <a:rPr lang="en-US" b="1" dirty="0">
                  <a:solidFill>
                    <a:schemeClr val="accent1"/>
                  </a:solidFill>
                </a:rPr>
                <a:t>Step 1</a:t>
              </a:r>
            </a:p>
          </p:txBody>
        </p:sp>
        <p:sp>
          <p:nvSpPr>
            <p:cNvPr id="10" name="TextBox 9"/>
            <p:cNvSpPr txBox="1"/>
            <p:nvPr/>
          </p:nvSpPr>
          <p:spPr>
            <a:xfrm>
              <a:off x="6311215" y="2788975"/>
              <a:ext cx="430971" cy="272161"/>
            </a:xfrm>
            <a:prstGeom prst="rect">
              <a:avLst/>
            </a:prstGeom>
            <a:noFill/>
          </p:spPr>
          <p:txBody>
            <a:bodyPr wrap="none" rtlCol="0">
              <a:spAutoFit/>
            </a:bodyPr>
            <a:lstStyle/>
            <a:p>
              <a:r>
                <a:rPr lang="en-US" b="1" dirty="0">
                  <a:solidFill>
                    <a:schemeClr val="accent1"/>
                  </a:solidFill>
                </a:rPr>
                <a:t>Step 2</a:t>
              </a:r>
            </a:p>
          </p:txBody>
        </p:sp>
        <p:sp>
          <p:nvSpPr>
            <p:cNvPr id="11" name="TextBox 10"/>
            <p:cNvSpPr txBox="1"/>
            <p:nvPr/>
          </p:nvSpPr>
          <p:spPr>
            <a:xfrm>
              <a:off x="6294437" y="3497017"/>
              <a:ext cx="430971" cy="272161"/>
            </a:xfrm>
            <a:prstGeom prst="rect">
              <a:avLst/>
            </a:prstGeom>
            <a:noFill/>
          </p:spPr>
          <p:txBody>
            <a:bodyPr wrap="none" rtlCol="0">
              <a:spAutoFit/>
            </a:bodyPr>
            <a:lstStyle/>
            <a:p>
              <a:r>
                <a:rPr lang="en-US" b="1" dirty="0">
                  <a:solidFill>
                    <a:schemeClr val="accent1"/>
                  </a:solidFill>
                </a:rPr>
                <a:t>Step 3</a:t>
              </a:r>
            </a:p>
          </p:txBody>
        </p:sp>
        <p:sp>
          <p:nvSpPr>
            <p:cNvPr id="12" name="TextBox 11"/>
            <p:cNvSpPr txBox="1"/>
            <p:nvPr/>
          </p:nvSpPr>
          <p:spPr>
            <a:xfrm>
              <a:off x="6294437" y="3926042"/>
              <a:ext cx="430971" cy="272161"/>
            </a:xfrm>
            <a:prstGeom prst="rect">
              <a:avLst/>
            </a:prstGeom>
            <a:noFill/>
          </p:spPr>
          <p:txBody>
            <a:bodyPr wrap="none" rtlCol="0">
              <a:spAutoFit/>
            </a:bodyPr>
            <a:lstStyle/>
            <a:p>
              <a:r>
                <a:rPr lang="en-US" b="1">
                  <a:solidFill>
                    <a:schemeClr val="accent1"/>
                  </a:solidFill>
                </a:rPr>
                <a:t>Step 4</a:t>
              </a:r>
              <a:endParaRPr lang="en-US" b="1" dirty="0">
                <a:solidFill>
                  <a:schemeClr val="accent1"/>
                </a:solidFill>
              </a:endParaRPr>
            </a:p>
          </p:txBody>
        </p:sp>
        <p:sp>
          <p:nvSpPr>
            <p:cNvPr id="13" name="Curved Left Arrow 12"/>
            <p:cNvSpPr/>
            <p:nvPr/>
          </p:nvSpPr>
          <p:spPr>
            <a:xfrm flipV="1">
              <a:off x="6933073" y="3635516"/>
              <a:ext cx="169886" cy="488467"/>
            </a:xfrm>
            <a:prstGeom prst="curved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sp>
          <p:nvSpPr>
            <p:cNvPr id="14" name="Right Brace 13"/>
            <p:cNvSpPr/>
            <p:nvPr/>
          </p:nvSpPr>
          <p:spPr>
            <a:xfrm>
              <a:off x="6137184" y="1258054"/>
              <a:ext cx="148665" cy="1407319"/>
            </a:xfrm>
            <a:prstGeom prst="rightBrace">
              <a:avLst>
                <a:gd name="adj1" fmla="val 12125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p:cNvSpPr/>
            <p:nvPr/>
          </p:nvSpPr>
          <p:spPr>
            <a:xfrm>
              <a:off x="6112017" y="2745236"/>
              <a:ext cx="148665" cy="406994"/>
            </a:xfrm>
            <a:prstGeom prst="rightBrace">
              <a:avLst>
                <a:gd name="adj1" fmla="val 12125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ight Brace 15"/>
            <p:cNvSpPr/>
            <p:nvPr/>
          </p:nvSpPr>
          <p:spPr>
            <a:xfrm>
              <a:off x="6095239" y="3443222"/>
              <a:ext cx="148665" cy="400250"/>
            </a:xfrm>
            <a:prstGeom prst="rightBrace">
              <a:avLst>
                <a:gd name="adj1" fmla="val 12125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ight Brace 16"/>
            <p:cNvSpPr/>
            <p:nvPr/>
          </p:nvSpPr>
          <p:spPr>
            <a:xfrm>
              <a:off x="6095239" y="3926042"/>
              <a:ext cx="148665" cy="317480"/>
            </a:xfrm>
            <a:prstGeom prst="rightBrace">
              <a:avLst>
                <a:gd name="adj1" fmla="val 12125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 name="灯片编号占位符 2"/>
          <p:cNvSpPr>
            <a:spLocks noGrp="1"/>
          </p:cNvSpPr>
          <p:nvPr>
            <p:ph type="sldNum" sz="quarter" idx="10"/>
          </p:nvPr>
        </p:nvSpPr>
        <p:spPr/>
        <p:txBody>
          <a:bodyPr/>
          <a:lstStyle/>
          <a:p>
            <a:fld id="{D9B6BDF2-6896-4B98-8776-C18582F63BA5}" type="slidenum">
              <a:rPr lang="zh-TW" altLang="en-US" smtClean="0"/>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FP Arithmetic Hardware</a:t>
            </a:r>
          </a:p>
        </p:txBody>
      </p:sp>
      <p:sp>
        <p:nvSpPr>
          <p:cNvPr id="3" name="Content Placeholder 2"/>
          <p:cNvSpPr>
            <a:spLocks noGrp="1"/>
          </p:cNvSpPr>
          <p:nvPr>
            <p:ph idx="1"/>
          </p:nvPr>
        </p:nvSpPr>
        <p:spPr>
          <a:xfrm>
            <a:off x="445771" y="1125538"/>
            <a:ext cx="11590020" cy="4806632"/>
          </a:xfrm>
        </p:spPr>
        <p:txBody>
          <a:bodyPr>
            <a:normAutofit fontScale="92500" lnSpcReduction="20000"/>
          </a:bodyPr>
          <a:lstStyle/>
          <a:p>
            <a:r>
              <a:rPr lang="en-US" dirty="0"/>
              <a:t>FP multiplier is of similar complexity to FP adder</a:t>
            </a:r>
          </a:p>
          <a:p>
            <a:pPr lvl="1"/>
            <a:r>
              <a:rPr lang="en-US" dirty="0"/>
              <a:t>But uses a multiplier for significands instead of an adder</a:t>
            </a:r>
          </a:p>
          <a:p>
            <a:r>
              <a:rPr lang="en-US" dirty="0"/>
              <a:t>FP arithmetic hardware usually does</a:t>
            </a:r>
          </a:p>
          <a:p>
            <a:pPr lvl="1"/>
            <a:r>
              <a:rPr lang="en-US" dirty="0"/>
              <a:t>Addition, subtraction, multiplication, division, reciprocal, square-root</a:t>
            </a:r>
          </a:p>
          <a:p>
            <a:pPr lvl="1"/>
            <a:r>
              <a:rPr lang="en-US" dirty="0"/>
              <a:t>FP ↔ integer conversion</a:t>
            </a:r>
          </a:p>
          <a:p>
            <a:pPr marL="457176" lvl="1" indent="0">
              <a:buNone/>
            </a:pPr>
            <a:r>
              <a:rPr lang="en-US" dirty="0"/>
              <a:t>(conversion is a relatively expensive operation partly due to the separate FP and Int register files)</a:t>
            </a:r>
          </a:p>
          <a:p>
            <a:r>
              <a:rPr lang="en-US" dirty="0"/>
              <a:t>Operations usually takes several cycles</a:t>
            </a:r>
          </a:p>
          <a:p>
            <a:pPr lvl="1"/>
            <a:r>
              <a:rPr lang="en-US" dirty="0"/>
              <a:t>Can be pipelined (the conversion unit may be not)</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Quadruple Precision, Half-float and </a:t>
            </a:r>
            <a:r>
              <a:rPr lang="en-US" sz="4000" dirty="0" err="1"/>
              <a:t>minifloat</a:t>
            </a:r>
            <a:endParaRPr lang="en-US" sz="4000" dirty="0"/>
          </a:p>
        </p:txBody>
      </p:sp>
      <p:sp>
        <p:nvSpPr>
          <p:cNvPr id="3" name="Content Placeholder 2"/>
          <p:cNvSpPr>
            <a:spLocks noGrp="1"/>
          </p:cNvSpPr>
          <p:nvPr>
            <p:ph idx="1"/>
          </p:nvPr>
        </p:nvSpPr>
        <p:spPr>
          <a:xfrm>
            <a:off x="160020" y="1125538"/>
            <a:ext cx="11819961" cy="4954249"/>
          </a:xfrm>
        </p:spPr>
        <p:txBody>
          <a:bodyPr>
            <a:normAutofit fontScale="92500" lnSpcReduction="10000"/>
          </a:bodyPr>
          <a:lstStyle/>
          <a:p>
            <a:r>
              <a:rPr lang="en-US" dirty="0"/>
              <a:t>Quad-precision float and half float format were defined in IEEE 754-2008.</a:t>
            </a:r>
          </a:p>
          <a:p>
            <a:pPr lvl="1"/>
            <a:r>
              <a:rPr lang="en-US" dirty="0"/>
              <a:t>Quad precision: 1, 15, 112</a:t>
            </a:r>
          </a:p>
          <a:p>
            <a:pPr lvl="1"/>
            <a:r>
              <a:rPr lang="en-US" dirty="0"/>
              <a:t>Double precision: 1, 11, 52</a:t>
            </a:r>
          </a:p>
          <a:p>
            <a:pPr lvl="1"/>
            <a:r>
              <a:rPr lang="en-US" dirty="0"/>
              <a:t>Single precision: 1, 8, 23</a:t>
            </a:r>
          </a:p>
          <a:p>
            <a:pPr lvl="1"/>
            <a:r>
              <a:rPr lang="en-US" dirty="0"/>
              <a:t>Half precision: 1, 5, 10 (fp16), </a:t>
            </a:r>
          </a:p>
          <a:p>
            <a:pPr marL="914354" lvl="2" indent="0">
              <a:buNone/>
            </a:pPr>
            <a:r>
              <a:rPr lang="en-US" sz="2400" dirty="0">
                <a:solidFill>
                  <a:srgbClr val="FF0000"/>
                </a:solidFill>
              </a:rPr>
              <a:t>bfloat16</a:t>
            </a:r>
            <a:r>
              <a:rPr lang="en-US" sz="2400" dirty="0"/>
              <a:t> (1,8,7) has the same range as fp32</a:t>
            </a:r>
          </a:p>
          <a:p>
            <a:pPr lvl="1"/>
            <a:r>
              <a:rPr lang="en-US" dirty="0"/>
              <a:t>Mini-float:	1, 4, 3  (fp8)</a:t>
            </a:r>
          </a:p>
          <a:p>
            <a:pPr lvl="1"/>
            <a:r>
              <a:rPr lang="en-US" dirty="0"/>
              <a:t>FP4: 1,2,1 </a:t>
            </a:r>
          </a:p>
          <a:p>
            <a:pPr marL="457176" lvl="1" indent="0">
              <a:buNone/>
            </a:pPr>
            <a:r>
              <a:rPr lang="en-US" dirty="0"/>
              <a:t>Half-float, mini-float, and fp4, are defined to support AI applications. </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24</a:t>
            </a:fld>
            <a:endParaRPr lang="zh-TW" altLang="en-US"/>
          </a:p>
        </p:txBody>
      </p:sp>
      <p:sp>
        <p:nvSpPr>
          <p:cNvPr id="4" name="Right Brace 3">
            <a:extLst>
              <a:ext uri="{FF2B5EF4-FFF2-40B4-BE49-F238E27FC236}">
                <a16:creationId xmlns:a16="http://schemas.microsoft.com/office/drawing/2014/main" id="{093CE5EB-30CD-483E-956D-95F0AD58FF3B}"/>
              </a:ext>
            </a:extLst>
          </p:cNvPr>
          <p:cNvSpPr/>
          <p:nvPr/>
        </p:nvSpPr>
        <p:spPr bwMode="auto">
          <a:xfrm>
            <a:off x="6652260" y="2461098"/>
            <a:ext cx="721306" cy="1790862"/>
          </a:xfrm>
          <a:prstGeom prst="rightBrac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TextBox 4">
            <a:extLst>
              <a:ext uri="{FF2B5EF4-FFF2-40B4-BE49-F238E27FC236}">
                <a16:creationId xmlns:a16="http://schemas.microsoft.com/office/drawing/2014/main" id="{94C30256-7BC7-4B08-BB4B-BBD0A6D4B49E}"/>
              </a:ext>
            </a:extLst>
          </p:cNvPr>
          <p:cNvSpPr txBox="1"/>
          <p:nvPr/>
        </p:nvSpPr>
        <p:spPr>
          <a:xfrm>
            <a:off x="7441660" y="3171376"/>
            <a:ext cx="3288080"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Defined by IEEE </a:t>
            </a:r>
            <a:r>
              <a:rPr lang="en-US">
                <a:ea typeface="標楷體" pitchFamily="65" charset="-120"/>
                <a:cs typeface="Calibri" pitchFamily="34" charset="0"/>
              </a:rPr>
              <a:t>754 standard</a:t>
            </a:r>
            <a:endParaRPr lang="en-US" dirty="0">
              <a:ea typeface="標楷體" pitchFamily="65" charset="-120"/>
              <a:cs typeface="Calibri" pitchFamily="34" charset="0"/>
            </a:endParaRPr>
          </a:p>
        </p:txBody>
      </p:sp>
    </p:spTree>
    <p:extLst>
      <p:ext uri="{BB962C8B-B14F-4D97-AF65-F5344CB8AC3E}">
        <p14:creationId xmlns:p14="http://schemas.microsoft.com/office/powerpoint/2010/main" val="2251862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of FP8 (</a:t>
            </a:r>
            <a:r>
              <a:rPr lang="en-US" dirty="0" err="1"/>
              <a:t>minifloat</a:t>
            </a:r>
            <a:r>
              <a:rPr lang="en-US" dirty="0"/>
              <a:t>) numbers</a:t>
            </a:r>
          </a:p>
        </p:txBody>
      </p:sp>
      <p:grpSp>
        <p:nvGrpSpPr>
          <p:cNvPr id="15" name="Group 14"/>
          <p:cNvGrpSpPr/>
          <p:nvPr/>
        </p:nvGrpSpPr>
        <p:grpSpPr>
          <a:xfrm>
            <a:off x="3532152" y="1247171"/>
            <a:ext cx="3017073" cy="664678"/>
            <a:chOff x="1749390" y="1291236"/>
            <a:chExt cx="3017073" cy="664677"/>
          </a:xfrm>
        </p:grpSpPr>
        <p:grpSp>
          <p:nvGrpSpPr>
            <p:cNvPr id="16" name="Group 15"/>
            <p:cNvGrpSpPr/>
            <p:nvPr/>
          </p:nvGrpSpPr>
          <p:grpSpPr>
            <a:xfrm>
              <a:off x="1879601" y="1599013"/>
              <a:ext cx="2886862" cy="356900"/>
              <a:chOff x="2969147" y="5536855"/>
              <a:chExt cx="2886862" cy="356900"/>
            </a:xfrm>
          </p:grpSpPr>
          <p:sp>
            <p:nvSpPr>
              <p:cNvPr id="20" name="Rectangle 19"/>
              <p:cNvSpPr/>
              <p:nvPr/>
            </p:nvSpPr>
            <p:spPr>
              <a:xfrm>
                <a:off x="2969147" y="5536856"/>
                <a:ext cx="387764"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s</a:t>
                </a:r>
              </a:p>
            </p:txBody>
          </p:sp>
          <p:sp>
            <p:nvSpPr>
              <p:cNvPr id="21" name="Rectangle 20"/>
              <p:cNvSpPr/>
              <p:nvPr/>
            </p:nvSpPr>
            <p:spPr>
              <a:xfrm>
                <a:off x="3505216" y="5546371"/>
                <a:ext cx="1290358"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exponent</a:t>
                </a:r>
              </a:p>
            </p:txBody>
          </p:sp>
          <p:sp>
            <p:nvSpPr>
              <p:cNvPr id="22" name="Rectangle 21"/>
              <p:cNvSpPr/>
              <p:nvPr/>
            </p:nvSpPr>
            <p:spPr>
              <a:xfrm>
                <a:off x="4943879" y="5536855"/>
                <a:ext cx="912130"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fraction</a:t>
                </a:r>
                <a:endParaRPr lang="en-US" dirty="0">
                  <a:solidFill>
                    <a:schemeClr val="tx1"/>
                  </a:solidFill>
                </a:endParaRPr>
              </a:p>
            </p:txBody>
          </p:sp>
        </p:grpSp>
        <p:sp>
          <p:nvSpPr>
            <p:cNvPr id="17" name="TextBox 16"/>
            <p:cNvSpPr txBox="1"/>
            <p:nvPr/>
          </p:nvSpPr>
          <p:spPr>
            <a:xfrm>
              <a:off x="1749390" y="1291237"/>
              <a:ext cx="522900" cy="307777"/>
            </a:xfrm>
            <a:prstGeom prst="rect">
              <a:avLst/>
            </a:prstGeom>
            <a:noFill/>
          </p:spPr>
          <p:txBody>
            <a:bodyPr wrap="none" rtlCol="0">
              <a:spAutoFit/>
            </a:bodyPr>
            <a:lstStyle/>
            <a:p>
              <a:r>
                <a:rPr lang="en-US" sz="1400" dirty="0"/>
                <a:t>1 bit</a:t>
              </a:r>
            </a:p>
          </p:txBody>
        </p:sp>
        <p:sp>
          <p:nvSpPr>
            <p:cNvPr id="18" name="TextBox 17"/>
            <p:cNvSpPr txBox="1"/>
            <p:nvPr/>
          </p:nvSpPr>
          <p:spPr>
            <a:xfrm>
              <a:off x="2461490" y="1291236"/>
              <a:ext cx="612668" cy="307777"/>
            </a:xfrm>
            <a:prstGeom prst="rect">
              <a:avLst/>
            </a:prstGeom>
            <a:noFill/>
          </p:spPr>
          <p:txBody>
            <a:bodyPr wrap="none" rtlCol="0">
              <a:spAutoFit/>
            </a:bodyPr>
            <a:lstStyle/>
            <a:p>
              <a:r>
                <a:rPr lang="en-US" sz="1400" dirty="0"/>
                <a:t>4 bits</a:t>
              </a:r>
            </a:p>
          </p:txBody>
        </p:sp>
        <p:sp>
          <p:nvSpPr>
            <p:cNvPr id="19" name="TextBox 18"/>
            <p:cNvSpPr txBox="1"/>
            <p:nvPr/>
          </p:nvSpPr>
          <p:spPr>
            <a:xfrm>
              <a:off x="3952846" y="1300752"/>
              <a:ext cx="612668" cy="307777"/>
            </a:xfrm>
            <a:prstGeom prst="rect">
              <a:avLst/>
            </a:prstGeom>
            <a:noFill/>
          </p:spPr>
          <p:txBody>
            <a:bodyPr wrap="none" rtlCol="0">
              <a:spAutoFit/>
            </a:bodyPr>
            <a:lstStyle/>
            <a:p>
              <a:r>
                <a:rPr lang="en-US" sz="1400" dirty="0"/>
                <a:t>3 bits</a:t>
              </a:r>
            </a:p>
          </p:txBody>
        </p:sp>
      </p:grpSp>
      <p:sp>
        <p:nvSpPr>
          <p:cNvPr id="23" name="TextBox 22"/>
          <p:cNvSpPr txBox="1"/>
          <p:nvPr/>
        </p:nvSpPr>
        <p:spPr>
          <a:xfrm>
            <a:off x="3625852" y="2033803"/>
            <a:ext cx="4947188" cy="461665"/>
          </a:xfrm>
          <a:prstGeom prst="rect">
            <a:avLst/>
          </a:prstGeom>
          <a:noFill/>
          <a:ln w="19050">
            <a:solidFill>
              <a:srgbClr val="FF0000"/>
            </a:solidFill>
          </a:ln>
        </p:spPr>
        <p:txBody>
          <a:bodyPr wrap="none" rtlCol="0">
            <a:spAutoFit/>
          </a:bodyPr>
          <a:lstStyle/>
          <a:p>
            <a:r>
              <a:rPr lang="en-US" sz="2400" dirty="0"/>
              <a:t>x = (−1)</a:t>
            </a:r>
            <a:r>
              <a:rPr lang="en-US" sz="2400" baseline="30000" dirty="0"/>
              <a:t>s</a:t>
            </a:r>
            <a:r>
              <a:rPr lang="en-US" sz="2400" dirty="0"/>
              <a:t> × (1+fraction) × 2</a:t>
            </a:r>
            <a:r>
              <a:rPr lang="en-US" sz="2400" baseline="30000" dirty="0"/>
              <a:t>(exponent−7)</a:t>
            </a:r>
          </a:p>
        </p:txBody>
      </p:sp>
      <p:sp>
        <p:nvSpPr>
          <p:cNvPr id="24" name="TextBox 23"/>
          <p:cNvSpPr txBox="1"/>
          <p:nvPr/>
        </p:nvSpPr>
        <p:spPr>
          <a:xfrm>
            <a:off x="1990020" y="2021611"/>
            <a:ext cx="607859" cy="369332"/>
          </a:xfrm>
          <a:prstGeom prst="rect">
            <a:avLst/>
          </a:prstGeom>
          <a:noFill/>
        </p:spPr>
        <p:txBody>
          <a:bodyPr wrap="none" rtlCol="0">
            <a:spAutoFit/>
          </a:bodyPr>
          <a:lstStyle/>
          <a:p>
            <a:r>
              <a:rPr lang="en-US" b="1" u="sng" dirty="0"/>
              <a:t>FP8</a:t>
            </a:r>
          </a:p>
        </p:txBody>
      </p:sp>
      <p:sp>
        <p:nvSpPr>
          <p:cNvPr id="3" name="灯片编号占位符 2"/>
          <p:cNvSpPr>
            <a:spLocks noGrp="1"/>
          </p:cNvSpPr>
          <p:nvPr>
            <p:ph type="sldNum" sz="quarter" idx="10"/>
          </p:nvPr>
        </p:nvSpPr>
        <p:spPr/>
        <p:txBody>
          <a:bodyPr/>
          <a:lstStyle/>
          <a:p>
            <a:fld id="{D9B6BDF2-6896-4B98-8776-C18582F63BA5}" type="slidenum">
              <a:rPr lang="zh-TW" altLang="en-US" smtClean="0"/>
              <a:t>25</a:t>
            </a:fld>
            <a:endParaRPr lang="zh-TW" altLang="en-US"/>
          </a:p>
        </p:txBody>
      </p:sp>
      <p:graphicFrame>
        <p:nvGraphicFramePr>
          <p:cNvPr id="28" name="Table 29">
            <a:extLst>
              <a:ext uri="{FF2B5EF4-FFF2-40B4-BE49-F238E27FC236}">
                <a16:creationId xmlns:a16="http://schemas.microsoft.com/office/drawing/2014/main" id="{FCF16D2D-4AAB-4257-A0D9-FA161C7CA881}"/>
              </a:ext>
            </a:extLst>
          </p:cNvPr>
          <p:cNvGraphicFramePr>
            <a:graphicFrameLocks noGrp="1"/>
          </p:cNvGraphicFramePr>
          <p:nvPr>
            <p:extLst>
              <p:ext uri="{D42A27DB-BD31-4B8C-83A1-F6EECF244321}">
                <p14:modId xmlns:p14="http://schemas.microsoft.com/office/powerpoint/2010/main" val="2534954801"/>
              </p:ext>
            </p:extLst>
          </p:nvPr>
        </p:nvGraphicFramePr>
        <p:xfrm>
          <a:off x="758345" y="2749458"/>
          <a:ext cx="10669630" cy="2966720"/>
        </p:xfrm>
        <a:graphic>
          <a:graphicData uri="http://schemas.openxmlformats.org/drawingml/2006/table">
            <a:tbl>
              <a:tblPr firstRow="1" bandRow="1">
                <a:tableStyleId>{5C22544A-7EE6-4342-B048-85BDC9FD1C3A}</a:tableStyleId>
              </a:tblPr>
              <a:tblGrid>
                <a:gridCol w="1929336">
                  <a:extLst>
                    <a:ext uri="{9D8B030D-6E8A-4147-A177-3AD203B41FA5}">
                      <a16:colId xmlns:a16="http://schemas.microsoft.com/office/drawing/2014/main" val="2976236495"/>
                    </a:ext>
                  </a:extLst>
                </a:gridCol>
                <a:gridCol w="1929336">
                  <a:extLst>
                    <a:ext uri="{9D8B030D-6E8A-4147-A177-3AD203B41FA5}">
                      <a16:colId xmlns:a16="http://schemas.microsoft.com/office/drawing/2014/main" val="1310496342"/>
                    </a:ext>
                  </a:extLst>
                </a:gridCol>
                <a:gridCol w="1929336">
                  <a:extLst>
                    <a:ext uri="{9D8B030D-6E8A-4147-A177-3AD203B41FA5}">
                      <a16:colId xmlns:a16="http://schemas.microsoft.com/office/drawing/2014/main" val="2177593296"/>
                    </a:ext>
                  </a:extLst>
                </a:gridCol>
                <a:gridCol w="1929336">
                  <a:extLst>
                    <a:ext uri="{9D8B030D-6E8A-4147-A177-3AD203B41FA5}">
                      <a16:colId xmlns:a16="http://schemas.microsoft.com/office/drawing/2014/main" val="466001111"/>
                    </a:ext>
                  </a:extLst>
                </a:gridCol>
                <a:gridCol w="2952286">
                  <a:extLst>
                    <a:ext uri="{9D8B030D-6E8A-4147-A177-3AD203B41FA5}">
                      <a16:colId xmlns:a16="http://schemas.microsoft.com/office/drawing/2014/main" val="2759853603"/>
                    </a:ext>
                  </a:extLst>
                </a:gridCol>
              </a:tblGrid>
              <a:tr h="370840">
                <a:tc>
                  <a:txBody>
                    <a:bodyPr/>
                    <a:lstStyle/>
                    <a:p>
                      <a:endParaRPr lang="en-US" dirty="0"/>
                    </a:p>
                  </a:txBody>
                  <a:tcPr/>
                </a:tc>
                <a:tc>
                  <a:txBody>
                    <a:bodyPr/>
                    <a:lstStyle/>
                    <a:p>
                      <a:r>
                        <a:rPr lang="en-US" dirty="0"/>
                        <a:t>Exponent</a:t>
                      </a:r>
                    </a:p>
                  </a:txBody>
                  <a:tcPr/>
                </a:tc>
                <a:tc>
                  <a:txBody>
                    <a:bodyPr/>
                    <a:lstStyle/>
                    <a:p>
                      <a:r>
                        <a:rPr lang="en-US" dirty="0"/>
                        <a:t>Fraction </a:t>
                      </a:r>
                    </a:p>
                  </a:txBody>
                  <a:tcPr/>
                </a:tc>
                <a:tc>
                  <a:txBody>
                    <a:bodyPr/>
                    <a:lstStyle/>
                    <a:p>
                      <a:r>
                        <a:rPr lang="en-US" dirty="0"/>
                        <a:t>Number </a:t>
                      </a:r>
                    </a:p>
                  </a:txBody>
                  <a:tcPr/>
                </a:tc>
                <a:tc>
                  <a:txBody>
                    <a:bodyPr/>
                    <a:lstStyle/>
                    <a:p>
                      <a:r>
                        <a:rPr lang="en-US" dirty="0"/>
                        <a:t>Decimal number</a:t>
                      </a:r>
                    </a:p>
                  </a:txBody>
                  <a:tcPr/>
                </a:tc>
                <a:extLst>
                  <a:ext uri="{0D108BD9-81ED-4DB2-BD59-A6C34878D82A}">
                    <a16:rowId xmlns:a16="http://schemas.microsoft.com/office/drawing/2014/main" val="1738176348"/>
                  </a:ext>
                </a:extLst>
              </a:tr>
              <a:tr h="370840">
                <a:tc>
                  <a:txBody>
                    <a:bodyPr/>
                    <a:lstStyle/>
                    <a:p>
                      <a:r>
                        <a:rPr lang="en-US" dirty="0"/>
                        <a:t>Largest number </a:t>
                      </a:r>
                    </a:p>
                  </a:txBody>
                  <a:tcPr/>
                </a:tc>
                <a:tc>
                  <a:txBody>
                    <a:bodyPr/>
                    <a:lstStyle/>
                    <a:p>
                      <a:r>
                        <a:rPr lang="en-US" dirty="0"/>
                        <a:t>1110</a:t>
                      </a:r>
                    </a:p>
                  </a:txBody>
                  <a:tcPr/>
                </a:tc>
                <a:tc>
                  <a:txBody>
                    <a:bodyPr/>
                    <a:lstStyle/>
                    <a:p>
                      <a:r>
                        <a:rPr lang="en-US" dirty="0"/>
                        <a:t>111</a:t>
                      </a:r>
                    </a:p>
                  </a:txBody>
                  <a:tcPr/>
                </a:tc>
                <a:tc>
                  <a:txBody>
                    <a:bodyPr/>
                    <a:lstStyle/>
                    <a:p>
                      <a:r>
                        <a:rPr lang="en-US" sz="1800" dirty="0"/>
                        <a:t>1.111 x </a:t>
                      </a:r>
                      <a:r>
                        <a:rPr kumimoji="0" lang="en-US" sz="1800" b="0" i="0" u="none" strike="noStrike" kern="1200" cap="none" spc="0" normalizeH="0" baseline="0" noProof="0" dirty="0">
                          <a:ln>
                            <a:noFill/>
                          </a:ln>
                          <a:solidFill>
                            <a:prstClr val="black"/>
                          </a:solidFill>
                          <a:effectLst/>
                          <a:uLnTx/>
                          <a:uFillTx/>
                          <a:latin typeface="+mn-lt"/>
                          <a:ea typeface="+mn-ea"/>
                          <a:cs typeface="+mn-cs"/>
                        </a:rPr>
                        <a:t>2</a:t>
                      </a:r>
                      <a:r>
                        <a:rPr kumimoji="0" lang="en-US" sz="1800" b="0" i="0" u="none" strike="noStrike" kern="1200" cap="none" spc="0" normalizeH="0" baseline="30000" noProof="0" dirty="0">
                          <a:ln>
                            <a:noFill/>
                          </a:ln>
                          <a:solidFill>
                            <a:prstClr val="black"/>
                          </a:solidFill>
                          <a:effectLst/>
                          <a:uLnTx/>
                          <a:uFillTx/>
                          <a:latin typeface="+mn-lt"/>
                          <a:ea typeface="+mn-ea"/>
                          <a:cs typeface="+mn-cs"/>
                        </a:rPr>
                        <a:t>(14-7)</a:t>
                      </a:r>
                      <a:endParaRPr lang="en-US" sz="1800" dirty="0"/>
                    </a:p>
                  </a:txBody>
                  <a:tcPr/>
                </a:tc>
                <a:tc>
                  <a:txBody>
                    <a:bodyPr/>
                    <a:lstStyle/>
                    <a:p>
                      <a:r>
                        <a:rPr lang="en-US" sz="1800" dirty="0"/>
                        <a:t>240</a:t>
                      </a:r>
                    </a:p>
                  </a:txBody>
                  <a:tcPr/>
                </a:tc>
                <a:extLst>
                  <a:ext uri="{0D108BD9-81ED-4DB2-BD59-A6C34878D82A}">
                    <a16:rowId xmlns:a16="http://schemas.microsoft.com/office/drawing/2014/main" val="2810439560"/>
                  </a:ext>
                </a:extLst>
              </a:tr>
              <a:tr h="370840">
                <a:tc>
                  <a:txBody>
                    <a:bodyPr/>
                    <a:lstStyle/>
                    <a:p>
                      <a:r>
                        <a:rPr lang="en-US" dirty="0"/>
                        <a:t>Smallest number</a:t>
                      </a:r>
                    </a:p>
                  </a:txBody>
                  <a:tcPr/>
                </a:tc>
                <a:tc>
                  <a:txBody>
                    <a:bodyPr/>
                    <a:lstStyle/>
                    <a:p>
                      <a:r>
                        <a:rPr lang="en-US" dirty="0"/>
                        <a:t>0000</a:t>
                      </a:r>
                    </a:p>
                  </a:txBody>
                  <a:tcPr/>
                </a:tc>
                <a:tc>
                  <a:txBody>
                    <a:bodyPr/>
                    <a:lstStyle/>
                    <a:p>
                      <a:r>
                        <a:rPr lang="en-US" dirty="0"/>
                        <a:t>001</a:t>
                      </a:r>
                    </a:p>
                  </a:txBody>
                  <a:tcPr/>
                </a:tc>
                <a:tc>
                  <a:txBody>
                    <a:bodyPr/>
                    <a:lstStyle/>
                    <a:p>
                      <a:r>
                        <a:rPr lang="en-US" dirty="0"/>
                        <a:t>0.001 </a:t>
                      </a:r>
                      <a:r>
                        <a:rPr lang="en-US" sz="1800" dirty="0"/>
                        <a:t>x </a:t>
                      </a:r>
                      <a:r>
                        <a:rPr kumimoji="0" lang="en-US" sz="1800" b="0" i="0" u="none" strike="noStrike" kern="1200" cap="none" spc="0" normalizeH="0" baseline="0" noProof="0" dirty="0">
                          <a:ln>
                            <a:noFill/>
                          </a:ln>
                          <a:solidFill>
                            <a:prstClr val="black"/>
                          </a:solidFill>
                          <a:effectLst/>
                          <a:uLnTx/>
                          <a:uFillTx/>
                          <a:latin typeface="+mn-lt"/>
                          <a:ea typeface="+mn-ea"/>
                          <a:cs typeface="+mn-cs"/>
                        </a:rPr>
                        <a:t>2</a:t>
                      </a:r>
                      <a:r>
                        <a:rPr kumimoji="0" lang="en-US" sz="1800" b="0" i="0" u="none" strike="noStrike" kern="1200" cap="none" spc="0" normalizeH="0" baseline="30000" noProof="0" dirty="0">
                          <a:ln>
                            <a:noFill/>
                          </a:ln>
                          <a:solidFill>
                            <a:prstClr val="black"/>
                          </a:solidFill>
                          <a:effectLst/>
                          <a:uLnTx/>
                          <a:uFillTx/>
                          <a:latin typeface="+mn-lt"/>
                          <a:ea typeface="+mn-ea"/>
                          <a:cs typeface="+mn-cs"/>
                        </a:rPr>
                        <a:t>-7</a:t>
                      </a:r>
                      <a:endParaRPr lang="en-US" dirty="0"/>
                    </a:p>
                  </a:txBody>
                  <a:tcPr/>
                </a:tc>
                <a:tc>
                  <a:txBody>
                    <a:bodyPr/>
                    <a:lstStyle/>
                    <a:p>
                      <a:r>
                        <a:rPr lang="en-US" dirty="0"/>
                        <a:t>0.00097656</a:t>
                      </a:r>
                    </a:p>
                  </a:txBody>
                  <a:tcPr/>
                </a:tc>
                <a:extLst>
                  <a:ext uri="{0D108BD9-81ED-4DB2-BD59-A6C34878D82A}">
                    <a16:rowId xmlns:a16="http://schemas.microsoft.com/office/drawing/2014/main" val="3762321509"/>
                  </a:ext>
                </a:extLst>
              </a:tr>
              <a:tr h="370840">
                <a:tc>
                  <a:txBody>
                    <a:bodyPr/>
                    <a:lstStyle/>
                    <a:p>
                      <a:r>
                        <a:rPr lang="en-US" dirty="0"/>
                        <a:t>Next to largest</a:t>
                      </a:r>
                    </a:p>
                  </a:txBody>
                  <a:tcPr/>
                </a:tc>
                <a:tc>
                  <a:txBody>
                    <a:bodyPr/>
                    <a:lstStyle/>
                    <a:p>
                      <a:r>
                        <a:rPr lang="en-US" dirty="0"/>
                        <a:t>1110</a:t>
                      </a:r>
                    </a:p>
                  </a:txBody>
                  <a:tcPr/>
                </a:tc>
                <a:tc>
                  <a:txBody>
                    <a:bodyPr/>
                    <a:lstStyle/>
                    <a:p>
                      <a:r>
                        <a:rPr lang="en-US" dirty="0"/>
                        <a:t>110</a:t>
                      </a:r>
                    </a:p>
                  </a:txBody>
                  <a:tcPr/>
                </a:tc>
                <a:tc>
                  <a:txBody>
                    <a:bodyPr/>
                    <a:lstStyle/>
                    <a:p>
                      <a:r>
                        <a:rPr lang="en-US" dirty="0"/>
                        <a:t>1.11 </a:t>
                      </a:r>
                      <a:r>
                        <a:rPr kumimoji="0" lang="en-US" sz="1800" b="0" i="0" u="none" strike="noStrike" kern="1200" cap="none" spc="0" normalizeH="0" baseline="0" noProof="0" dirty="0">
                          <a:ln>
                            <a:noFill/>
                          </a:ln>
                          <a:solidFill>
                            <a:prstClr val="black"/>
                          </a:solidFill>
                          <a:effectLst/>
                          <a:uLnTx/>
                          <a:uFillTx/>
                          <a:latin typeface="+mn-lt"/>
                          <a:ea typeface="+mn-ea"/>
                          <a:cs typeface="+mn-cs"/>
                        </a:rPr>
                        <a:t>x 2</a:t>
                      </a:r>
                      <a:r>
                        <a:rPr kumimoji="0" lang="en-US" sz="1800" b="0" i="0" u="none" strike="noStrike" kern="1200" cap="none" spc="0" normalizeH="0" baseline="30000" noProof="0" dirty="0">
                          <a:ln>
                            <a:noFill/>
                          </a:ln>
                          <a:solidFill>
                            <a:prstClr val="black"/>
                          </a:solidFill>
                          <a:effectLst/>
                          <a:uLnTx/>
                          <a:uFillTx/>
                          <a:latin typeface="+mn-lt"/>
                          <a:ea typeface="+mn-ea"/>
                          <a:cs typeface="+mn-cs"/>
                        </a:rPr>
                        <a:t>7</a:t>
                      </a:r>
                      <a:endParaRPr lang="en-US" dirty="0"/>
                    </a:p>
                  </a:txBody>
                  <a:tcPr/>
                </a:tc>
                <a:tc>
                  <a:txBody>
                    <a:bodyPr/>
                    <a:lstStyle/>
                    <a:p>
                      <a:r>
                        <a:rPr lang="en-US" dirty="0"/>
                        <a:t>224</a:t>
                      </a:r>
                    </a:p>
                  </a:txBody>
                  <a:tcPr/>
                </a:tc>
                <a:extLst>
                  <a:ext uri="{0D108BD9-81ED-4DB2-BD59-A6C34878D82A}">
                    <a16:rowId xmlns:a16="http://schemas.microsoft.com/office/drawing/2014/main" val="3732069677"/>
                  </a:ext>
                </a:extLst>
              </a:tr>
              <a:tr h="370840">
                <a:tc>
                  <a:txBody>
                    <a:bodyPr/>
                    <a:lstStyle/>
                    <a:p>
                      <a:r>
                        <a:rPr lang="en-US" dirty="0"/>
                        <a:t>Next </a:t>
                      </a:r>
                    </a:p>
                  </a:txBody>
                  <a:tcPr/>
                </a:tc>
                <a:tc>
                  <a:txBody>
                    <a:bodyPr/>
                    <a:lstStyle/>
                    <a:p>
                      <a:r>
                        <a:rPr lang="en-US" dirty="0"/>
                        <a:t>1110</a:t>
                      </a:r>
                    </a:p>
                  </a:txBody>
                  <a:tcPr/>
                </a:tc>
                <a:tc>
                  <a:txBody>
                    <a:bodyPr/>
                    <a:lstStyle/>
                    <a:p>
                      <a:r>
                        <a:rPr lang="en-US" dirty="0"/>
                        <a:t>101</a:t>
                      </a:r>
                    </a:p>
                  </a:txBody>
                  <a:tcPr/>
                </a:tc>
                <a:tc>
                  <a:txBody>
                    <a:bodyPr/>
                    <a:lstStyle/>
                    <a:p>
                      <a:r>
                        <a:rPr lang="en-US" dirty="0"/>
                        <a:t>1.101 </a:t>
                      </a:r>
                      <a:r>
                        <a:rPr kumimoji="0" lang="en-US" sz="1800" b="0" i="0" u="none" strike="noStrike" kern="1200" cap="none" spc="0" normalizeH="0" baseline="0" noProof="0" dirty="0">
                          <a:ln>
                            <a:noFill/>
                          </a:ln>
                          <a:solidFill>
                            <a:prstClr val="black"/>
                          </a:solidFill>
                          <a:effectLst/>
                          <a:uLnTx/>
                          <a:uFillTx/>
                          <a:latin typeface="+mn-lt"/>
                          <a:ea typeface="+mn-ea"/>
                          <a:cs typeface="+mn-cs"/>
                        </a:rPr>
                        <a:t>x 2</a:t>
                      </a:r>
                      <a:r>
                        <a:rPr kumimoji="0" lang="en-US" sz="1800" b="0" i="0" u="none" strike="noStrike" kern="1200" cap="none" spc="0" normalizeH="0" baseline="30000" noProof="0" dirty="0">
                          <a:ln>
                            <a:noFill/>
                          </a:ln>
                          <a:solidFill>
                            <a:prstClr val="black"/>
                          </a:solidFill>
                          <a:effectLst/>
                          <a:uLnTx/>
                          <a:uFillTx/>
                          <a:latin typeface="+mn-lt"/>
                          <a:ea typeface="+mn-ea"/>
                          <a:cs typeface="+mn-cs"/>
                        </a:rPr>
                        <a:t>7</a:t>
                      </a:r>
                      <a:endParaRPr lang="en-US" dirty="0"/>
                    </a:p>
                  </a:txBody>
                  <a:tcPr/>
                </a:tc>
                <a:tc>
                  <a:txBody>
                    <a:bodyPr/>
                    <a:lstStyle/>
                    <a:p>
                      <a:r>
                        <a:rPr lang="en-US" dirty="0"/>
                        <a:t>208</a:t>
                      </a:r>
                    </a:p>
                  </a:txBody>
                  <a:tcPr/>
                </a:tc>
                <a:extLst>
                  <a:ext uri="{0D108BD9-81ED-4DB2-BD59-A6C34878D82A}">
                    <a16:rowId xmlns:a16="http://schemas.microsoft.com/office/drawing/2014/main" val="3563594299"/>
                  </a:ext>
                </a:extLst>
              </a:tr>
              <a:tr h="370840">
                <a:tc>
                  <a:txBody>
                    <a:bodyPr/>
                    <a:lstStyle/>
                    <a:p>
                      <a:r>
                        <a:rPr lang="en-US" dirty="0"/>
                        <a:t>Next to smallest</a:t>
                      </a:r>
                    </a:p>
                  </a:txBody>
                  <a:tcPr/>
                </a:tc>
                <a:tc>
                  <a:txBody>
                    <a:bodyPr/>
                    <a:lstStyle/>
                    <a:p>
                      <a:r>
                        <a:rPr lang="en-US" dirty="0"/>
                        <a:t>0000 </a:t>
                      </a:r>
                    </a:p>
                  </a:txBody>
                  <a:tcPr/>
                </a:tc>
                <a:tc>
                  <a:txBody>
                    <a:bodyPr/>
                    <a:lstStyle/>
                    <a:p>
                      <a:r>
                        <a:rPr lang="en-US" dirty="0"/>
                        <a:t>010</a:t>
                      </a:r>
                    </a:p>
                  </a:txBody>
                  <a:tcPr/>
                </a:tc>
                <a:tc>
                  <a:txBody>
                    <a:bodyPr/>
                    <a:lstStyle/>
                    <a:p>
                      <a:r>
                        <a:rPr lang="en-US" dirty="0"/>
                        <a:t>0.01 </a:t>
                      </a:r>
                      <a:r>
                        <a:rPr lang="en-US" sz="1800" dirty="0"/>
                        <a:t>x </a:t>
                      </a:r>
                      <a:r>
                        <a:rPr kumimoji="0" lang="en-US" sz="1800" b="0" i="0" u="none" strike="noStrike" kern="1200" cap="none" spc="0" normalizeH="0" baseline="0" noProof="0" dirty="0">
                          <a:ln>
                            <a:noFill/>
                          </a:ln>
                          <a:solidFill>
                            <a:prstClr val="black"/>
                          </a:solidFill>
                          <a:effectLst/>
                          <a:uLnTx/>
                          <a:uFillTx/>
                          <a:latin typeface="+mn-lt"/>
                          <a:ea typeface="+mn-ea"/>
                          <a:cs typeface="+mn-cs"/>
                        </a:rPr>
                        <a:t>2</a:t>
                      </a:r>
                      <a:r>
                        <a:rPr kumimoji="0" lang="en-US" sz="1800" b="0" i="0" u="none" strike="noStrike" kern="1200" cap="none" spc="0" normalizeH="0" baseline="30000" noProof="0" dirty="0">
                          <a:ln>
                            <a:noFill/>
                          </a:ln>
                          <a:solidFill>
                            <a:prstClr val="black"/>
                          </a:solidFill>
                          <a:effectLst/>
                          <a:uLnTx/>
                          <a:uFillTx/>
                          <a:latin typeface="+mn-lt"/>
                          <a:ea typeface="+mn-ea"/>
                          <a:cs typeface="+mn-cs"/>
                        </a:rPr>
                        <a:t>-7</a:t>
                      </a:r>
                      <a:endParaRPr lang="en-US" dirty="0"/>
                    </a:p>
                  </a:txBody>
                  <a:tcPr/>
                </a:tc>
                <a:tc>
                  <a:txBody>
                    <a:bodyPr/>
                    <a:lstStyle/>
                    <a:p>
                      <a:r>
                        <a:rPr lang="en-US" dirty="0"/>
                        <a:t>0.00195312</a:t>
                      </a:r>
                    </a:p>
                  </a:txBody>
                  <a:tcPr/>
                </a:tc>
                <a:extLst>
                  <a:ext uri="{0D108BD9-81ED-4DB2-BD59-A6C34878D82A}">
                    <a16:rowId xmlns:a16="http://schemas.microsoft.com/office/drawing/2014/main" val="934347737"/>
                  </a:ext>
                </a:extLst>
              </a:tr>
              <a:tr h="370840">
                <a:tc>
                  <a:txBody>
                    <a:bodyPr/>
                    <a:lstStyle/>
                    <a:p>
                      <a:r>
                        <a:rPr lang="en-US" dirty="0"/>
                        <a:t>Overflow</a:t>
                      </a:r>
                    </a:p>
                  </a:txBody>
                  <a:tcPr/>
                </a:tc>
                <a:tc>
                  <a:txBody>
                    <a:bodyPr/>
                    <a:lstStyle/>
                    <a:p>
                      <a:r>
                        <a:rPr lang="en-US" dirty="0"/>
                        <a:t>1111</a:t>
                      </a:r>
                    </a:p>
                  </a:txBody>
                  <a:tcPr/>
                </a:tc>
                <a:tc>
                  <a:txBody>
                    <a:bodyPr/>
                    <a:lstStyle/>
                    <a:p>
                      <a:r>
                        <a:rPr lang="en-US" dirty="0"/>
                        <a:t>000</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287516638"/>
                  </a:ext>
                </a:extLst>
              </a:tr>
              <a:tr h="370840">
                <a:tc>
                  <a:txBody>
                    <a:bodyPr/>
                    <a:lstStyle/>
                    <a:p>
                      <a:r>
                        <a:rPr lang="en-US" dirty="0" err="1"/>
                        <a:t>NaN</a:t>
                      </a:r>
                      <a:endParaRPr lang="en-US" dirty="0"/>
                    </a:p>
                  </a:txBody>
                  <a:tcPr/>
                </a:tc>
                <a:tc>
                  <a:txBody>
                    <a:bodyPr/>
                    <a:lstStyle/>
                    <a:p>
                      <a:r>
                        <a:rPr lang="en-US" dirty="0"/>
                        <a:t>1111</a:t>
                      </a:r>
                    </a:p>
                  </a:txBody>
                  <a:tcPr/>
                </a:tc>
                <a:tc>
                  <a:txBody>
                    <a:bodyPr/>
                    <a:lstStyle/>
                    <a:p>
                      <a:r>
                        <a:rPr lang="en-US" dirty="0"/>
                        <a:t>Non-zero</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81099510"/>
                  </a:ext>
                </a:extLst>
              </a:tr>
            </a:tbl>
          </a:graphicData>
        </a:graphic>
      </p:graphicFrame>
    </p:spTree>
    <p:extLst>
      <p:ext uri="{BB962C8B-B14F-4D97-AF65-F5344CB8AC3E}">
        <p14:creationId xmlns:p14="http://schemas.microsoft.com/office/powerpoint/2010/main" val="3057239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Sub-word Parallelism</a:t>
            </a:r>
          </a:p>
        </p:txBody>
      </p:sp>
      <p:sp>
        <p:nvSpPr>
          <p:cNvPr id="3" name="Content Placeholder 2"/>
          <p:cNvSpPr>
            <a:spLocks noGrp="1"/>
          </p:cNvSpPr>
          <p:nvPr>
            <p:ph idx="1"/>
          </p:nvPr>
        </p:nvSpPr>
        <p:spPr>
          <a:xfrm>
            <a:off x="311285" y="1159828"/>
            <a:ext cx="11641532" cy="4837517"/>
          </a:xfrm>
        </p:spPr>
        <p:txBody>
          <a:bodyPr>
            <a:normAutofit lnSpcReduction="10000"/>
          </a:bodyPr>
          <a:lstStyle/>
          <a:p>
            <a:r>
              <a:rPr lang="en-US" sz="2400" dirty="0"/>
              <a:t>In the 1990s, advancements in PC (Personal Computing) increased the demand for handling multi-media applications, including audio, video, and graphics content. </a:t>
            </a:r>
          </a:p>
          <a:p>
            <a:r>
              <a:rPr lang="en-US" sz="2400" dirty="0"/>
              <a:t>Media data are usually 8 or 16 bits. This means one word can store multiple such data. It is not hard to partition the carry chain to allow integer ALU to carry out multiple sub-word computations in parallel. So MMX (Multi-media) extensions in Intel x86 started. Many companies are doing this support at the same time; for example, SUN’s VIS ISA, HP’s MAX-2, and IBM’s </a:t>
            </a:r>
            <a:r>
              <a:rPr lang="en-US" sz="2400" dirty="0" err="1"/>
              <a:t>AltiVec</a:t>
            </a:r>
            <a:r>
              <a:rPr lang="en-US" sz="2400" dirty="0"/>
              <a:t> are doing the same. </a:t>
            </a:r>
          </a:p>
          <a:p>
            <a:r>
              <a:rPr lang="en-US" sz="2400" dirty="0"/>
              <a:t>Hardware accelerators such as </a:t>
            </a:r>
            <a:r>
              <a:rPr lang="en-US" sz="2400" i="1" dirty="0"/>
              <a:t>sound cards, graphics cards</a:t>
            </a:r>
            <a:r>
              <a:rPr lang="en-US" sz="2400" dirty="0"/>
              <a:t>, </a:t>
            </a:r>
            <a:r>
              <a:rPr lang="en-US" sz="2400" i="1" dirty="0"/>
              <a:t>and MPEG-2 decoders </a:t>
            </a:r>
            <a:r>
              <a:rPr lang="en-US" sz="2400" dirty="0"/>
              <a:t>initially took over the market. After software developers started to catch up with MMX, media acceleration using sub-word parallelism eventually became more cost-effective. </a:t>
            </a:r>
          </a:p>
          <a:p>
            <a:r>
              <a:rPr lang="en-US" sz="2400" dirty="0"/>
              <a:t>Intel started extending parallel processing to floating point computation, called SSE (Streaming SIMD Extension), and introduced the 128-bit SIMD registers (XMM). SIMD registers have been kept expanding; now, the ZMM registers are 512 bits wide.</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26</a:t>
            </a:fld>
            <a:endParaRPr lang="zh-TW" altLang="en-US"/>
          </a:p>
        </p:txBody>
      </p:sp>
    </p:spTree>
    <p:extLst>
      <p:ext uri="{BB962C8B-B14F-4D97-AF65-F5344CB8AC3E}">
        <p14:creationId xmlns:p14="http://schemas.microsoft.com/office/powerpoint/2010/main" val="1423434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MMX in Intel Pentium II</a:t>
            </a:r>
          </a:p>
        </p:txBody>
      </p:sp>
      <p:sp>
        <p:nvSpPr>
          <p:cNvPr id="3" name="Content Placeholder 2"/>
          <p:cNvSpPr>
            <a:spLocks noGrp="1"/>
          </p:cNvSpPr>
          <p:nvPr>
            <p:ph idx="1"/>
          </p:nvPr>
        </p:nvSpPr>
        <p:spPr>
          <a:xfrm>
            <a:off x="311285" y="1125538"/>
            <a:ext cx="11641532" cy="4837517"/>
          </a:xfrm>
        </p:spPr>
        <p:txBody>
          <a:bodyPr>
            <a:normAutofit/>
          </a:bodyPr>
          <a:lstStyle/>
          <a:p>
            <a:r>
              <a:rPr lang="en-US" sz="2400" dirty="0"/>
              <a:t>MMX data types</a:t>
            </a:r>
          </a:p>
          <a:p>
            <a:pPr marL="0" indent="0">
              <a:buNone/>
            </a:pPr>
            <a:endParaRPr lang="en-US" sz="2400" dirty="0"/>
          </a:p>
        </p:txBody>
      </p:sp>
      <p:sp>
        <p:nvSpPr>
          <p:cNvPr id="6" name="灯片编号占位符 5"/>
          <p:cNvSpPr>
            <a:spLocks noGrp="1"/>
          </p:cNvSpPr>
          <p:nvPr>
            <p:ph type="sldNum" sz="quarter" idx="10"/>
          </p:nvPr>
        </p:nvSpPr>
        <p:spPr/>
        <p:txBody>
          <a:bodyPr/>
          <a:lstStyle/>
          <a:p>
            <a:fld id="{D9B6BDF2-6896-4B98-8776-C18582F63BA5}" type="slidenum">
              <a:rPr lang="zh-TW" altLang="en-US" smtClean="0"/>
              <a:t>27</a:t>
            </a:fld>
            <a:endParaRPr lang="zh-TW" altLang="en-US"/>
          </a:p>
        </p:txBody>
      </p:sp>
      <p:pic>
        <p:nvPicPr>
          <p:cNvPr id="5" name="Picture 4">
            <a:extLst>
              <a:ext uri="{FF2B5EF4-FFF2-40B4-BE49-F238E27FC236}">
                <a16:creationId xmlns:a16="http://schemas.microsoft.com/office/drawing/2014/main" id="{26F9B634-BAB5-4E89-A41A-C73382F5983F}"/>
              </a:ext>
            </a:extLst>
          </p:cNvPr>
          <p:cNvPicPr>
            <a:picLocks noChangeAspect="1"/>
          </p:cNvPicPr>
          <p:nvPr/>
        </p:nvPicPr>
        <p:blipFill>
          <a:blip r:embed="rId3"/>
          <a:stretch>
            <a:fillRect/>
          </a:stretch>
        </p:blipFill>
        <p:spPr>
          <a:xfrm>
            <a:off x="3331749" y="1253214"/>
            <a:ext cx="5953956" cy="4582164"/>
          </a:xfrm>
          <a:prstGeom prst="rect">
            <a:avLst/>
          </a:prstGeom>
        </p:spPr>
      </p:pic>
    </p:spTree>
    <p:extLst>
      <p:ext uri="{BB962C8B-B14F-4D97-AF65-F5344CB8AC3E}">
        <p14:creationId xmlns:p14="http://schemas.microsoft.com/office/powerpoint/2010/main" val="2473536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6599" y="152600"/>
            <a:ext cx="10517721" cy="692151"/>
          </a:xfrm>
        </p:spPr>
        <p:txBody>
          <a:bodyPr/>
          <a:lstStyle/>
          <a:p>
            <a:r>
              <a:rPr lang="en-US" dirty="0"/>
              <a:t>Example: PADDB</a:t>
            </a:r>
          </a:p>
        </p:txBody>
      </p:sp>
      <p:sp>
        <p:nvSpPr>
          <p:cNvPr id="3" name="Content Placeholder 2"/>
          <p:cNvSpPr>
            <a:spLocks noGrp="1"/>
          </p:cNvSpPr>
          <p:nvPr>
            <p:ph idx="1"/>
          </p:nvPr>
        </p:nvSpPr>
        <p:spPr>
          <a:xfrm>
            <a:off x="275234" y="1193631"/>
            <a:ext cx="11641532" cy="4837517"/>
          </a:xfrm>
        </p:spPr>
        <p:txBody>
          <a:bodyPr>
            <a:normAutofit lnSpcReduction="10000"/>
          </a:bodyPr>
          <a:lstStyle/>
          <a:p>
            <a:pPr>
              <a:buFont typeface="Wingdings" panose="05000000000000000000" pitchFamily="2" charset="2"/>
              <a:buChar char="§"/>
            </a:pPr>
            <a:r>
              <a:rPr lang="en-US" sz="2400" dirty="0"/>
              <a:t>PADDB </a:t>
            </a:r>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marL="0" indent="0">
              <a:buNone/>
            </a:pPr>
            <a:endParaRPr lang="en-US" sz="2400" dirty="0"/>
          </a:p>
          <a:p>
            <a:pPr>
              <a:buFont typeface="Wingdings" panose="05000000000000000000" pitchFamily="2" charset="2"/>
              <a:buChar char="§"/>
            </a:pPr>
            <a:r>
              <a:rPr lang="en-US" sz="2400" dirty="0"/>
              <a:t>PADDW: parallel add 4 16bit words.</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28</a:t>
            </a:fld>
            <a:endParaRPr lang="zh-TW" altLang="en-US"/>
          </a:p>
        </p:txBody>
      </p:sp>
      <p:sp>
        <p:nvSpPr>
          <p:cNvPr id="11" name="TextBox 10">
            <a:extLst>
              <a:ext uri="{FF2B5EF4-FFF2-40B4-BE49-F238E27FC236}">
                <a16:creationId xmlns:a16="http://schemas.microsoft.com/office/drawing/2014/main" id="{CC2A0EF6-C368-4023-B488-B012F117E7D1}"/>
              </a:ext>
            </a:extLst>
          </p:cNvPr>
          <p:cNvSpPr txBox="1"/>
          <p:nvPr/>
        </p:nvSpPr>
        <p:spPr>
          <a:xfrm>
            <a:off x="3015574" y="1327985"/>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7</a:t>
            </a:r>
          </a:p>
        </p:txBody>
      </p:sp>
      <p:sp>
        <p:nvSpPr>
          <p:cNvPr id="12" name="TextBox 11">
            <a:extLst>
              <a:ext uri="{FF2B5EF4-FFF2-40B4-BE49-F238E27FC236}">
                <a16:creationId xmlns:a16="http://schemas.microsoft.com/office/drawing/2014/main" id="{7772F5C8-4E58-4521-935B-7AC24BE9C991}"/>
              </a:ext>
            </a:extLst>
          </p:cNvPr>
          <p:cNvSpPr txBox="1"/>
          <p:nvPr/>
        </p:nvSpPr>
        <p:spPr>
          <a:xfrm>
            <a:off x="3968885" y="1327985"/>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6</a:t>
            </a:r>
          </a:p>
        </p:txBody>
      </p:sp>
      <p:sp>
        <p:nvSpPr>
          <p:cNvPr id="13" name="TextBox 12">
            <a:extLst>
              <a:ext uri="{FF2B5EF4-FFF2-40B4-BE49-F238E27FC236}">
                <a16:creationId xmlns:a16="http://schemas.microsoft.com/office/drawing/2014/main" id="{45250167-348F-4EF3-8590-3EA5BD0C710A}"/>
              </a:ext>
            </a:extLst>
          </p:cNvPr>
          <p:cNvSpPr txBox="1"/>
          <p:nvPr/>
        </p:nvSpPr>
        <p:spPr>
          <a:xfrm>
            <a:off x="4922196" y="1327985"/>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5</a:t>
            </a:r>
          </a:p>
        </p:txBody>
      </p:sp>
      <p:sp>
        <p:nvSpPr>
          <p:cNvPr id="14" name="TextBox 13">
            <a:extLst>
              <a:ext uri="{FF2B5EF4-FFF2-40B4-BE49-F238E27FC236}">
                <a16:creationId xmlns:a16="http://schemas.microsoft.com/office/drawing/2014/main" id="{8C34CAF7-4F03-49A1-B4F4-5C8A15788DEC}"/>
              </a:ext>
            </a:extLst>
          </p:cNvPr>
          <p:cNvSpPr txBox="1"/>
          <p:nvPr/>
        </p:nvSpPr>
        <p:spPr>
          <a:xfrm>
            <a:off x="5875507" y="1327985"/>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4</a:t>
            </a:r>
          </a:p>
        </p:txBody>
      </p:sp>
      <p:sp>
        <p:nvSpPr>
          <p:cNvPr id="15" name="TextBox 14">
            <a:extLst>
              <a:ext uri="{FF2B5EF4-FFF2-40B4-BE49-F238E27FC236}">
                <a16:creationId xmlns:a16="http://schemas.microsoft.com/office/drawing/2014/main" id="{26E8357B-92E2-4973-93AA-73BC19FCB2A6}"/>
              </a:ext>
            </a:extLst>
          </p:cNvPr>
          <p:cNvSpPr txBox="1"/>
          <p:nvPr/>
        </p:nvSpPr>
        <p:spPr>
          <a:xfrm>
            <a:off x="6828818" y="1327985"/>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3</a:t>
            </a:r>
          </a:p>
        </p:txBody>
      </p:sp>
      <p:sp>
        <p:nvSpPr>
          <p:cNvPr id="16" name="TextBox 15">
            <a:extLst>
              <a:ext uri="{FF2B5EF4-FFF2-40B4-BE49-F238E27FC236}">
                <a16:creationId xmlns:a16="http://schemas.microsoft.com/office/drawing/2014/main" id="{624706C3-0AD2-4E20-9B4C-DA86702C01A7}"/>
              </a:ext>
            </a:extLst>
          </p:cNvPr>
          <p:cNvSpPr txBox="1"/>
          <p:nvPr/>
        </p:nvSpPr>
        <p:spPr>
          <a:xfrm>
            <a:off x="7782129" y="1327985"/>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2</a:t>
            </a:r>
          </a:p>
        </p:txBody>
      </p:sp>
      <p:sp>
        <p:nvSpPr>
          <p:cNvPr id="17" name="TextBox 16">
            <a:extLst>
              <a:ext uri="{FF2B5EF4-FFF2-40B4-BE49-F238E27FC236}">
                <a16:creationId xmlns:a16="http://schemas.microsoft.com/office/drawing/2014/main" id="{B757883C-439D-4ABB-8944-E81A3D77A7D5}"/>
              </a:ext>
            </a:extLst>
          </p:cNvPr>
          <p:cNvSpPr txBox="1"/>
          <p:nvPr/>
        </p:nvSpPr>
        <p:spPr>
          <a:xfrm>
            <a:off x="8735440" y="1327985"/>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1</a:t>
            </a:r>
          </a:p>
        </p:txBody>
      </p:sp>
      <p:sp>
        <p:nvSpPr>
          <p:cNvPr id="18" name="TextBox 17">
            <a:extLst>
              <a:ext uri="{FF2B5EF4-FFF2-40B4-BE49-F238E27FC236}">
                <a16:creationId xmlns:a16="http://schemas.microsoft.com/office/drawing/2014/main" id="{B2733615-8592-4181-A1F4-92E813DBD0C6}"/>
              </a:ext>
            </a:extLst>
          </p:cNvPr>
          <p:cNvSpPr txBox="1"/>
          <p:nvPr/>
        </p:nvSpPr>
        <p:spPr>
          <a:xfrm>
            <a:off x="9688751" y="1327985"/>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0</a:t>
            </a:r>
          </a:p>
        </p:txBody>
      </p:sp>
      <p:sp>
        <p:nvSpPr>
          <p:cNvPr id="19" name="TextBox 18">
            <a:extLst>
              <a:ext uri="{FF2B5EF4-FFF2-40B4-BE49-F238E27FC236}">
                <a16:creationId xmlns:a16="http://schemas.microsoft.com/office/drawing/2014/main" id="{EC3948FD-FF72-434C-96DC-4255DA7472F0}"/>
              </a:ext>
            </a:extLst>
          </p:cNvPr>
          <p:cNvSpPr txBox="1"/>
          <p:nvPr/>
        </p:nvSpPr>
        <p:spPr>
          <a:xfrm>
            <a:off x="3025303" y="2024429"/>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7</a:t>
            </a:r>
          </a:p>
        </p:txBody>
      </p:sp>
      <p:sp>
        <p:nvSpPr>
          <p:cNvPr id="20" name="TextBox 19">
            <a:extLst>
              <a:ext uri="{FF2B5EF4-FFF2-40B4-BE49-F238E27FC236}">
                <a16:creationId xmlns:a16="http://schemas.microsoft.com/office/drawing/2014/main" id="{F421A687-7EFF-4C79-B714-58F689197BA7}"/>
              </a:ext>
            </a:extLst>
          </p:cNvPr>
          <p:cNvSpPr txBox="1"/>
          <p:nvPr/>
        </p:nvSpPr>
        <p:spPr>
          <a:xfrm>
            <a:off x="3978614" y="2024429"/>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6</a:t>
            </a:r>
          </a:p>
        </p:txBody>
      </p:sp>
      <p:sp>
        <p:nvSpPr>
          <p:cNvPr id="21" name="TextBox 20">
            <a:extLst>
              <a:ext uri="{FF2B5EF4-FFF2-40B4-BE49-F238E27FC236}">
                <a16:creationId xmlns:a16="http://schemas.microsoft.com/office/drawing/2014/main" id="{AD079BB3-3352-45AB-AAEA-B3F937BA0911}"/>
              </a:ext>
            </a:extLst>
          </p:cNvPr>
          <p:cNvSpPr txBox="1"/>
          <p:nvPr/>
        </p:nvSpPr>
        <p:spPr>
          <a:xfrm>
            <a:off x="4931925" y="2024429"/>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5</a:t>
            </a:r>
          </a:p>
        </p:txBody>
      </p:sp>
      <p:sp>
        <p:nvSpPr>
          <p:cNvPr id="22" name="TextBox 21">
            <a:extLst>
              <a:ext uri="{FF2B5EF4-FFF2-40B4-BE49-F238E27FC236}">
                <a16:creationId xmlns:a16="http://schemas.microsoft.com/office/drawing/2014/main" id="{BC8B7F0F-D9BD-4F37-81A1-97C462E8DD18}"/>
              </a:ext>
            </a:extLst>
          </p:cNvPr>
          <p:cNvSpPr txBox="1"/>
          <p:nvPr/>
        </p:nvSpPr>
        <p:spPr>
          <a:xfrm>
            <a:off x="5885236" y="2024429"/>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4</a:t>
            </a:r>
          </a:p>
        </p:txBody>
      </p:sp>
      <p:sp>
        <p:nvSpPr>
          <p:cNvPr id="23" name="TextBox 22">
            <a:extLst>
              <a:ext uri="{FF2B5EF4-FFF2-40B4-BE49-F238E27FC236}">
                <a16:creationId xmlns:a16="http://schemas.microsoft.com/office/drawing/2014/main" id="{7A6542C0-420B-42E4-ABA0-8020B95102DE}"/>
              </a:ext>
            </a:extLst>
          </p:cNvPr>
          <p:cNvSpPr txBox="1"/>
          <p:nvPr/>
        </p:nvSpPr>
        <p:spPr>
          <a:xfrm>
            <a:off x="6838547" y="2024429"/>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3</a:t>
            </a:r>
          </a:p>
        </p:txBody>
      </p:sp>
      <p:sp>
        <p:nvSpPr>
          <p:cNvPr id="24" name="TextBox 23">
            <a:extLst>
              <a:ext uri="{FF2B5EF4-FFF2-40B4-BE49-F238E27FC236}">
                <a16:creationId xmlns:a16="http://schemas.microsoft.com/office/drawing/2014/main" id="{AFE642F5-DC83-433B-A4A9-2377FB8BF5DC}"/>
              </a:ext>
            </a:extLst>
          </p:cNvPr>
          <p:cNvSpPr txBox="1"/>
          <p:nvPr/>
        </p:nvSpPr>
        <p:spPr>
          <a:xfrm>
            <a:off x="7791858" y="2024429"/>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2</a:t>
            </a:r>
          </a:p>
        </p:txBody>
      </p:sp>
      <p:sp>
        <p:nvSpPr>
          <p:cNvPr id="25" name="TextBox 24">
            <a:extLst>
              <a:ext uri="{FF2B5EF4-FFF2-40B4-BE49-F238E27FC236}">
                <a16:creationId xmlns:a16="http://schemas.microsoft.com/office/drawing/2014/main" id="{9D78D708-81EC-479E-BAC3-3DE320321221}"/>
              </a:ext>
            </a:extLst>
          </p:cNvPr>
          <p:cNvSpPr txBox="1"/>
          <p:nvPr/>
        </p:nvSpPr>
        <p:spPr>
          <a:xfrm>
            <a:off x="8745169" y="2024429"/>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1</a:t>
            </a:r>
          </a:p>
        </p:txBody>
      </p:sp>
      <p:sp>
        <p:nvSpPr>
          <p:cNvPr id="26" name="TextBox 25">
            <a:extLst>
              <a:ext uri="{FF2B5EF4-FFF2-40B4-BE49-F238E27FC236}">
                <a16:creationId xmlns:a16="http://schemas.microsoft.com/office/drawing/2014/main" id="{31C7D321-2598-42EC-A23E-89DD7BE89F92}"/>
              </a:ext>
            </a:extLst>
          </p:cNvPr>
          <p:cNvSpPr txBox="1"/>
          <p:nvPr/>
        </p:nvSpPr>
        <p:spPr>
          <a:xfrm>
            <a:off x="9698480" y="2024429"/>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0</a:t>
            </a:r>
          </a:p>
        </p:txBody>
      </p:sp>
      <p:sp>
        <p:nvSpPr>
          <p:cNvPr id="27" name="TextBox 26">
            <a:extLst>
              <a:ext uri="{FF2B5EF4-FFF2-40B4-BE49-F238E27FC236}">
                <a16:creationId xmlns:a16="http://schemas.microsoft.com/office/drawing/2014/main" id="{FDEBAFD8-1DE5-462C-B1A8-B0CF2004A929}"/>
              </a:ext>
            </a:extLst>
          </p:cNvPr>
          <p:cNvSpPr txBox="1"/>
          <p:nvPr/>
        </p:nvSpPr>
        <p:spPr>
          <a:xfrm>
            <a:off x="3025303" y="3437970"/>
            <a:ext cx="953311" cy="369332"/>
          </a:xfrm>
          <a:prstGeom prst="rect">
            <a:avLst/>
          </a:prstGeom>
          <a:solidFill>
            <a:schemeClr val="tx2">
              <a:lumMod val="20000"/>
              <a:lumOff val="8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7</a:t>
            </a:r>
          </a:p>
        </p:txBody>
      </p:sp>
      <p:sp>
        <p:nvSpPr>
          <p:cNvPr id="28" name="TextBox 27">
            <a:extLst>
              <a:ext uri="{FF2B5EF4-FFF2-40B4-BE49-F238E27FC236}">
                <a16:creationId xmlns:a16="http://schemas.microsoft.com/office/drawing/2014/main" id="{DC173A8E-B61B-4C25-BA5D-F75F1ECC7C06}"/>
              </a:ext>
            </a:extLst>
          </p:cNvPr>
          <p:cNvSpPr txBox="1"/>
          <p:nvPr/>
        </p:nvSpPr>
        <p:spPr>
          <a:xfrm>
            <a:off x="3978614" y="3437970"/>
            <a:ext cx="953311" cy="369332"/>
          </a:xfrm>
          <a:prstGeom prst="rect">
            <a:avLst/>
          </a:prstGeom>
          <a:solidFill>
            <a:schemeClr val="tx2">
              <a:lumMod val="20000"/>
              <a:lumOff val="8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6</a:t>
            </a:r>
          </a:p>
        </p:txBody>
      </p:sp>
      <p:sp>
        <p:nvSpPr>
          <p:cNvPr id="29" name="TextBox 28">
            <a:extLst>
              <a:ext uri="{FF2B5EF4-FFF2-40B4-BE49-F238E27FC236}">
                <a16:creationId xmlns:a16="http://schemas.microsoft.com/office/drawing/2014/main" id="{AE4F439F-6C62-4ED9-992F-EC2EB7CA8C8B}"/>
              </a:ext>
            </a:extLst>
          </p:cNvPr>
          <p:cNvSpPr txBox="1"/>
          <p:nvPr/>
        </p:nvSpPr>
        <p:spPr>
          <a:xfrm>
            <a:off x="4931925" y="3437970"/>
            <a:ext cx="953311" cy="369332"/>
          </a:xfrm>
          <a:prstGeom prst="rect">
            <a:avLst/>
          </a:prstGeom>
          <a:solidFill>
            <a:schemeClr val="tx2">
              <a:lumMod val="20000"/>
              <a:lumOff val="8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5</a:t>
            </a:r>
          </a:p>
        </p:txBody>
      </p:sp>
      <p:sp>
        <p:nvSpPr>
          <p:cNvPr id="30" name="TextBox 29">
            <a:extLst>
              <a:ext uri="{FF2B5EF4-FFF2-40B4-BE49-F238E27FC236}">
                <a16:creationId xmlns:a16="http://schemas.microsoft.com/office/drawing/2014/main" id="{DE0A72A2-06CF-4324-8625-68E5E902BA04}"/>
              </a:ext>
            </a:extLst>
          </p:cNvPr>
          <p:cNvSpPr txBox="1"/>
          <p:nvPr/>
        </p:nvSpPr>
        <p:spPr>
          <a:xfrm>
            <a:off x="5885236" y="3437970"/>
            <a:ext cx="953311" cy="369332"/>
          </a:xfrm>
          <a:prstGeom prst="rect">
            <a:avLst/>
          </a:prstGeom>
          <a:solidFill>
            <a:schemeClr val="tx2">
              <a:lumMod val="20000"/>
              <a:lumOff val="8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4</a:t>
            </a:r>
          </a:p>
        </p:txBody>
      </p:sp>
      <p:sp>
        <p:nvSpPr>
          <p:cNvPr id="31" name="TextBox 30">
            <a:extLst>
              <a:ext uri="{FF2B5EF4-FFF2-40B4-BE49-F238E27FC236}">
                <a16:creationId xmlns:a16="http://schemas.microsoft.com/office/drawing/2014/main" id="{9F0795B1-E543-42FF-A136-9C97C3671A12}"/>
              </a:ext>
            </a:extLst>
          </p:cNvPr>
          <p:cNvSpPr txBox="1"/>
          <p:nvPr/>
        </p:nvSpPr>
        <p:spPr>
          <a:xfrm>
            <a:off x="6838547" y="3437970"/>
            <a:ext cx="953311" cy="369332"/>
          </a:xfrm>
          <a:prstGeom prst="rect">
            <a:avLst/>
          </a:prstGeom>
          <a:solidFill>
            <a:schemeClr val="tx2">
              <a:lumMod val="20000"/>
              <a:lumOff val="8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3</a:t>
            </a:r>
          </a:p>
        </p:txBody>
      </p:sp>
      <p:sp>
        <p:nvSpPr>
          <p:cNvPr id="32" name="TextBox 31">
            <a:extLst>
              <a:ext uri="{FF2B5EF4-FFF2-40B4-BE49-F238E27FC236}">
                <a16:creationId xmlns:a16="http://schemas.microsoft.com/office/drawing/2014/main" id="{47741160-75AC-4660-B022-D885ED1A3C4A}"/>
              </a:ext>
            </a:extLst>
          </p:cNvPr>
          <p:cNvSpPr txBox="1"/>
          <p:nvPr/>
        </p:nvSpPr>
        <p:spPr>
          <a:xfrm>
            <a:off x="7791858" y="3437970"/>
            <a:ext cx="953311" cy="369332"/>
          </a:xfrm>
          <a:prstGeom prst="rect">
            <a:avLst/>
          </a:prstGeom>
          <a:solidFill>
            <a:schemeClr val="tx2">
              <a:lumMod val="20000"/>
              <a:lumOff val="8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2</a:t>
            </a:r>
          </a:p>
        </p:txBody>
      </p:sp>
      <p:sp>
        <p:nvSpPr>
          <p:cNvPr id="33" name="TextBox 32">
            <a:extLst>
              <a:ext uri="{FF2B5EF4-FFF2-40B4-BE49-F238E27FC236}">
                <a16:creationId xmlns:a16="http://schemas.microsoft.com/office/drawing/2014/main" id="{BD4E3E3E-2606-4E9E-A95A-4CCB5BED7F76}"/>
              </a:ext>
            </a:extLst>
          </p:cNvPr>
          <p:cNvSpPr txBox="1"/>
          <p:nvPr/>
        </p:nvSpPr>
        <p:spPr>
          <a:xfrm>
            <a:off x="8745169" y="3437970"/>
            <a:ext cx="953311" cy="369332"/>
          </a:xfrm>
          <a:prstGeom prst="rect">
            <a:avLst/>
          </a:prstGeom>
          <a:solidFill>
            <a:schemeClr val="tx2">
              <a:lumMod val="20000"/>
              <a:lumOff val="8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1</a:t>
            </a:r>
          </a:p>
        </p:txBody>
      </p:sp>
      <p:sp>
        <p:nvSpPr>
          <p:cNvPr id="34" name="TextBox 33">
            <a:extLst>
              <a:ext uri="{FF2B5EF4-FFF2-40B4-BE49-F238E27FC236}">
                <a16:creationId xmlns:a16="http://schemas.microsoft.com/office/drawing/2014/main" id="{B61B7C26-FC22-4400-8E9B-E7E551C2D63B}"/>
              </a:ext>
            </a:extLst>
          </p:cNvPr>
          <p:cNvSpPr txBox="1"/>
          <p:nvPr/>
        </p:nvSpPr>
        <p:spPr>
          <a:xfrm>
            <a:off x="9698480" y="3437970"/>
            <a:ext cx="953311" cy="369332"/>
          </a:xfrm>
          <a:prstGeom prst="rect">
            <a:avLst/>
          </a:prstGeom>
          <a:solidFill>
            <a:schemeClr val="tx2">
              <a:lumMod val="20000"/>
              <a:lumOff val="8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0</a:t>
            </a:r>
          </a:p>
        </p:txBody>
      </p:sp>
      <p:cxnSp>
        <p:nvCxnSpPr>
          <p:cNvPr id="48" name="Straight Arrow Connector 47">
            <a:extLst>
              <a:ext uri="{FF2B5EF4-FFF2-40B4-BE49-F238E27FC236}">
                <a16:creationId xmlns:a16="http://schemas.microsoft.com/office/drawing/2014/main" id="{E8178EE5-1773-4C31-A0BD-5434D2461CF0}"/>
              </a:ext>
            </a:extLst>
          </p:cNvPr>
          <p:cNvCxnSpPr>
            <a:cxnSpLocks/>
          </p:cNvCxnSpPr>
          <p:nvPr/>
        </p:nvCxnSpPr>
        <p:spPr bwMode="auto">
          <a:xfrm>
            <a:off x="3492230" y="239376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49" name="Straight Arrow Connector 48">
            <a:extLst>
              <a:ext uri="{FF2B5EF4-FFF2-40B4-BE49-F238E27FC236}">
                <a16:creationId xmlns:a16="http://schemas.microsoft.com/office/drawing/2014/main" id="{9F0FC716-12F1-4551-B924-882C59B42553}"/>
              </a:ext>
            </a:extLst>
          </p:cNvPr>
          <p:cNvCxnSpPr>
            <a:cxnSpLocks/>
          </p:cNvCxnSpPr>
          <p:nvPr/>
        </p:nvCxnSpPr>
        <p:spPr bwMode="auto">
          <a:xfrm>
            <a:off x="3644630" y="1697317"/>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50" name="Oval 49">
            <a:extLst>
              <a:ext uri="{FF2B5EF4-FFF2-40B4-BE49-F238E27FC236}">
                <a16:creationId xmlns:a16="http://schemas.microsoft.com/office/drawing/2014/main" id="{7CC4D723-C422-4949-B202-D5C8404F2EA5}"/>
              </a:ext>
            </a:extLst>
          </p:cNvPr>
          <p:cNvSpPr/>
          <p:nvPr/>
        </p:nvSpPr>
        <p:spPr bwMode="auto">
          <a:xfrm>
            <a:off x="3394952" y="2801565"/>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51" name="Straight Arrow Connector 50">
            <a:extLst>
              <a:ext uri="{FF2B5EF4-FFF2-40B4-BE49-F238E27FC236}">
                <a16:creationId xmlns:a16="http://schemas.microsoft.com/office/drawing/2014/main" id="{2160F81D-3891-46F5-8DAD-6CFBE6F909F6}"/>
              </a:ext>
            </a:extLst>
          </p:cNvPr>
          <p:cNvCxnSpPr>
            <a:cxnSpLocks/>
          </p:cNvCxnSpPr>
          <p:nvPr/>
        </p:nvCxnSpPr>
        <p:spPr bwMode="auto">
          <a:xfrm>
            <a:off x="3575816" y="298639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52" name="Straight Arrow Connector 51">
            <a:extLst>
              <a:ext uri="{FF2B5EF4-FFF2-40B4-BE49-F238E27FC236}">
                <a16:creationId xmlns:a16="http://schemas.microsoft.com/office/drawing/2014/main" id="{B04DB26F-DB11-447D-A156-510D6111D69C}"/>
              </a:ext>
            </a:extLst>
          </p:cNvPr>
          <p:cNvCxnSpPr>
            <a:cxnSpLocks/>
          </p:cNvCxnSpPr>
          <p:nvPr/>
        </p:nvCxnSpPr>
        <p:spPr bwMode="auto">
          <a:xfrm>
            <a:off x="4435813" y="239376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7A4993A2-96C2-4DE1-BFFC-6BDB42DF4A6B}"/>
              </a:ext>
            </a:extLst>
          </p:cNvPr>
          <p:cNvCxnSpPr>
            <a:cxnSpLocks/>
          </p:cNvCxnSpPr>
          <p:nvPr/>
        </p:nvCxnSpPr>
        <p:spPr bwMode="auto">
          <a:xfrm>
            <a:off x="4588213" y="1697317"/>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54" name="Oval 53">
            <a:extLst>
              <a:ext uri="{FF2B5EF4-FFF2-40B4-BE49-F238E27FC236}">
                <a16:creationId xmlns:a16="http://schemas.microsoft.com/office/drawing/2014/main" id="{FF99562A-DC13-4951-8C52-363C694FC395}"/>
              </a:ext>
            </a:extLst>
          </p:cNvPr>
          <p:cNvSpPr/>
          <p:nvPr/>
        </p:nvSpPr>
        <p:spPr bwMode="auto">
          <a:xfrm>
            <a:off x="4338535" y="2801565"/>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55" name="Straight Arrow Connector 54">
            <a:extLst>
              <a:ext uri="{FF2B5EF4-FFF2-40B4-BE49-F238E27FC236}">
                <a16:creationId xmlns:a16="http://schemas.microsoft.com/office/drawing/2014/main" id="{45E32CC5-4593-44FA-B463-2A2F3BBC030A}"/>
              </a:ext>
            </a:extLst>
          </p:cNvPr>
          <p:cNvCxnSpPr>
            <a:cxnSpLocks/>
          </p:cNvCxnSpPr>
          <p:nvPr/>
        </p:nvCxnSpPr>
        <p:spPr bwMode="auto">
          <a:xfrm>
            <a:off x="4519399" y="298639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D6E88454-2025-4FF4-B9E3-C32F5EBD0859}"/>
              </a:ext>
            </a:extLst>
          </p:cNvPr>
          <p:cNvCxnSpPr>
            <a:cxnSpLocks/>
          </p:cNvCxnSpPr>
          <p:nvPr/>
        </p:nvCxnSpPr>
        <p:spPr bwMode="auto">
          <a:xfrm>
            <a:off x="5324270" y="239376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D7A2D853-2949-49FC-ACB2-11705EEEA404}"/>
              </a:ext>
            </a:extLst>
          </p:cNvPr>
          <p:cNvCxnSpPr>
            <a:cxnSpLocks/>
          </p:cNvCxnSpPr>
          <p:nvPr/>
        </p:nvCxnSpPr>
        <p:spPr bwMode="auto">
          <a:xfrm>
            <a:off x="5476670" y="1697317"/>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58" name="Oval 57">
            <a:extLst>
              <a:ext uri="{FF2B5EF4-FFF2-40B4-BE49-F238E27FC236}">
                <a16:creationId xmlns:a16="http://schemas.microsoft.com/office/drawing/2014/main" id="{300532C3-FEDA-4E9D-BD27-BFB2137A9444}"/>
              </a:ext>
            </a:extLst>
          </p:cNvPr>
          <p:cNvSpPr/>
          <p:nvPr/>
        </p:nvSpPr>
        <p:spPr bwMode="auto">
          <a:xfrm>
            <a:off x="5226992" y="2801565"/>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59" name="Straight Arrow Connector 58">
            <a:extLst>
              <a:ext uri="{FF2B5EF4-FFF2-40B4-BE49-F238E27FC236}">
                <a16:creationId xmlns:a16="http://schemas.microsoft.com/office/drawing/2014/main" id="{00F95C5D-F093-425E-9A80-76D8DFABDC37}"/>
              </a:ext>
            </a:extLst>
          </p:cNvPr>
          <p:cNvCxnSpPr>
            <a:cxnSpLocks/>
          </p:cNvCxnSpPr>
          <p:nvPr/>
        </p:nvCxnSpPr>
        <p:spPr bwMode="auto">
          <a:xfrm>
            <a:off x="5407856" y="298639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60" name="Straight Arrow Connector 59">
            <a:extLst>
              <a:ext uri="{FF2B5EF4-FFF2-40B4-BE49-F238E27FC236}">
                <a16:creationId xmlns:a16="http://schemas.microsoft.com/office/drawing/2014/main" id="{B4F29E13-D04B-4D9A-B607-BB01EBA64B05}"/>
              </a:ext>
            </a:extLst>
          </p:cNvPr>
          <p:cNvCxnSpPr>
            <a:cxnSpLocks/>
          </p:cNvCxnSpPr>
          <p:nvPr/>
        </p:nvCxnSpPr>
        <p:spPr bwMode="auto">
          <a:xfrm>
            <a:off x="6357921" y="239376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61" name="Straight Arrow Connector 60">
            <a:extLst>
              <a:ext uri="{FF2B5EF4-FFF2-40B4-BE49-F238E27FC236}">
                <a16:creationId xmlns:a16="http://schemas.microsoft.com/office/drawing/2014/main" id="{0F772FC7-974A-4E54-896E-4C12E2D71FD4}"/>
              </a:ext>
            </a:extLst>
          </p:cNvPr>
          <p:cNvCxnSpPr>
            <a:cxnSpLocks/>
          </p:cNvCxnSpPr>
          <p:nvPr/>
        </p:nvCxnSpPr>
        <p:spPr bwMode="auto">
          <a:xfrm>
            <a:off x="6510321" y="1697317"/>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62" name="Oval 61">
            <a:extLst>
              <a:ext uri="{FF2B5EF4-FFF2-40B4-BE49-F238E27FC236}">
                <a16:creationId xmlns:a16="http://schemas.microsoft.com/office/drawing/2014/main" id="{C4883BD5-0BF1-46FA-8A66-065F17522D4C}"/>
              </a:ext>
            </a:extLst>
          </p:cNvPr>
          <p:cNvSpPr/>
          <p:nvPr/>
        </p:nvSpPr>
        <p:spPr bwMode="auto">
          <a:xfrm>
            <a:off x="6260643" y="2801565"/>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63" name="Straight Arrow Connector 62">
            <a:extLst>
              <a:ext uri="{FF2B5EF4-FFF2-40B4-BE49-F238E27FC236}">
                <a16:creationId xmlns:a16="http://schemas.microsoft.com/office/drawing/2014/main" id="{9CEA3B4F-A2AB-4265-B198-3BEE255BE86F}"/>
              </a:ext>
            </a:extLst>
          </p:cNvPr>
          <p:cNvCxnSpPr>
            <a:cxnSpLocks/>
          </p:cNvCxnSpPr>
          <p:nvPr/>
        </p:nvCxnSpPr>
        <p:spPr bwMode="auto">
          <a:xfrm>
            <a:off x="6441507" y="298639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64" name="Straight Arrow Connector 63">
            <a:extLst>
              <a:ext uri="{FF2B5EF4-FFF2-40B4-BE49-F238E27FC236}">
                <a16:creationId xmlns:a16="http://schemas.microsoft.com/office/drawing/2014/main" id="{883FF04A-C015-4A41-886A-413DC5151616}"/>
              </a:ext>
            </a:extLst>
          </p:cNvPr>
          <p:cNvCxnSpPr>
            <a:cxnSpLocks/>
          </p:cNvCxnSpPr>
          <p:nvPr/>
        </p:nvCxnSpPr>
        <p:spPr bwMode="auto">
          <a:xfrm>
            <a:off x="7283686" y="2409507"/>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5812C2CF-98EF-4B92-BB3D-5C4B33BD1CC4}"/>
              </a:ext>
            </a:extLst>
          </p:cNvPr>
          <p:cNvCxnSpPr>
            <a:cxnSpLocks/>
          </p:cNvCxnSpPr>
          <p:nvPr/>
        </p:nvCxnSpPr>
        <p:spPr bwMode="auto">
          <a:xfrm>
            <a:off x="7436086" y="1713063"/>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66" name="Oval 65">
            <a:extLst>
              <a:ext uri="{FF2B5EF4-FFF2-40B4-BE49-F238E27FC236}">
                <a16:creationId xmlns:a16="http://schemas.microsoft.com/office/drawing/2014/main" id="{2DC27A39-DDC8-452E-86FD-65026A602BE0}"/>
              </a:ext>
            </a:extLst>
          </p:cNvPr>
          <p:cNvSpPr/>
          <p:nvPr/>
        </p:nvSpPr>
        <p:spPr bwMode="auto">
          <a:xfrm>
            <a:off x="7186408" y="2817311"/>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67" name="Straight Arrow Connector 66">
            <a:extLst>
              <a:ext uri="{FF2B5EF4-FFF2-40B4-BE49-F238E27FC236}">
                <a16:creationId xmlns:a16="http://schemas.microsoft.com/office/drawing/2014/main" id="{A20C1A2C-2431-4344-82FE-37B0469BB7BE}"/>
              </a:ext>
            </a:extLst>
          </p:cNvPr>
          <p:cNvCxnSpPr>
            <a:cxnSpLocks/>
          </p:cNvCxnSpPr>
          <p:nvPr/>
        </p:nvCxnSpPr>
        <p:spPr bwMode="auto">
          <a:xfrm>
            <a:off x="7367272" y="3002137"/>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68" name="Straight Arrow Connector 67">
            <a:extLst>
              <a:ext uri="{FF2B5EF4-FFF2-40B4-BE49-F238E27FC236}">
                <a16:creationId xmlns:a16="http://schemas.microsoft.com/office/drawing/2014/main" id="{EFDC1734-30EE-42DF-A99F-70DE1885EF53}"/>
              </a:ext>
            </a:extLst>
          </p:cNvPr>
          <p:cNvCxnSpPr>
            <a:cxnSpLocks/>
          </p:cNvCxnSpPr>
          <p:nvPr/>
        </p:nvCxnSpPr>
        <p:spPr bwMode="auto">
          <a:xfrm>
            <a:off x="8252570" y="2419234"/>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69" name="Straight Arrow Connector 68">
            <a:extLst>
              <a:ext uri="{FF2B5EF4-FFF2-40B4-BE49-F238E27FC236}">
                <a16:creationId xmlns:a16="http://schemas.microsoft.com/office/drawing/2014/main" id="{D956FF7E-5238-4944-9F69-CDFF60EF0968}"/>
              </a:ext>
            </a:extLst>
          </p:cNvPr>
          <p:cNvCxnSpPr>
            <a:cxnSpLocks/>
          </p:cNvCxnSpPr>
          <p:nvPr/>
        </p:nvCxnSpPr>
        <p:spPr bwMode="auto">
          <a:xfrm>
            <a:off x="8404970" y="1722790"/>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70" name="Oval 69">
            <a:extLst>
              <a:ext uri="{FF2B5EF4-FFF2-40B4-BE49-F238E27FC236}">
                <a16:creationId xmlns:a16="http://schemas.microsoft.com/office/drawing/2014/main" id="{3CD810B5-EE82-437E-8512-1B4736722AD2}"/>
              </a:ext>
            </a:extLst>
          </p:cNvPr>
          <p:cNvSpPr/>
          <p:nvPr/>
        </p:nvSpPr>
        <p:spPr bwMode="auto">
          <a:xfrm>
            <a:off x="8155292" y="2827038"/>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71" name="Straight Arrow Connector 70">
            <a:extLst>
              <a:ext uri="{FF2B5EF4-FFF2-40B4-BE49-F238E27FC236}">
                <a16:creationId xmlns:a16="http://schemas.microsoft.com/office/drawing/2014/main" id="{2C79B3B7-B253-400F-8681-A1A139840C5F}"/>
              </a:ext>
            </a:extLst>
          </p:cNvPr>
          <p:cNvCxnSpPr>
            <a:cxnSpLocks/>
          </p:cNvCxnSpPr>
          <p:nvPr/>
        </p:nvCxnSpPr>
        <p:spPr bwMode="auto">
          <a:xfrm>
            <a:off x="8336156" y="3011864"/>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BFDA3235-EE76-4F6C-80A8-3343E0F3F279}"/>
              </a:ext>
            </a:extLst>
          </p:cNvPr>
          <p:cNvCxnSpPr>
            <a:cxnSpLocks/>
          </p:cNvCxnSpPr>
          <p:nvPr/>
        </p:nvCxnSpPr>
        <p:spPr bwMode="auto">
          <a:xfrm>
            <a:off x="9195512" y="2403488"/>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73" name="Straight Arrow Connector 72">
            <a:extLst>
              <a:ext uri="{FF2B5EF4-FFF2-40B4-BE49-F238E27FC236}">
                <a16:creationId xmlns:a16="http://schemas.microsoft.com/office/drawing/2014/main" id="{E262D775-7F8B-4E66-B9D1-239092E95109}"/>
              </a:ext>
            </a:extLst>
          </p:cNvPr>
          <p:cNvCxnSpPr>
            <a:cxnSpLocks/>
          </p:cNvCxnSpPr>
          <p:nvPr/>
        </p:nvCxnSpPr>
        <p:spPr bwMode="auto">
          <a:xfrm>
            <a:off x="9347912" y="1707044"/>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74" name="Oval 73">
            <a:extLst>
              <a:ext uri="{FF2B5EF4-FFF2-40B4-BE49-F238E27FC236}">
                <a16:creationId xmlns:a16="http://schemas.microsoft.com/office/drawing/2014/main" id="{B2EADC78-0EE0-4492-85A3-ECF15CCF0376}"/>
              </a:ext>
            </a:extLst>
          </p:cNvPr>
          <p:cNvSpPr/>
          <p:nvPr/>
        </p:nvSpPr>
        <p:spPr bwMode="auto">
          <a:xfrm>
            <a:off x="9098234" y="2811292"/>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75" name="Straight Arrow Connector 74">
            <a:extLst>
              <a:ext uri="{FF2B5EF4-FFF2-40B4-BE49-F238E27FC236}">
                <a16:creationId xmlns:a16="http://schemas.microsoft.com/office/drawing/2014/main" id="{DE75996E-4E47-43C4-9A51-E948A94D568A}"/>
              </a:ext>
            </a:extLst>
          </p:cNvPr>
          <p:cNvCxnSpPr>
            <a:cxnSpLocks/>
          </p:cNvCxnSpPr>
          <p:nvPr/>
        </p:nvCxnSpPr>
        <p:spPr bwMode="auto">
          <a:xfrm>
            <a:off x="9279098" y="2996118"/>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76" name="Straight Arrow Connector 75">
            <a:extLst>
              <a:ext uri="{FF2B5EF4-FFF2-40B4-BE49-F238E27FC236}">
                <a16:creationId xmlns:a16="http://schemas.microsoft.com/office/drawing/2014/main" id="{3DB24C1C-BD71-4E3E-85E9-139EAEE26E64}"/>
              </a:ext>
            </a:extLst>
          </p:cNvPr>
          <p:cNvCxnSpPr>
            <a:cxnSpLocks/>
          </p:cNvCxnSpPr>
          <p:nvPr/>
        </p:nvCxnSpPr>
        <p:spPr bwMode="auto">
          <a:xfrm>
            <a:off x="10066834" y="2384034"/>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77" name="Straight Arrow Connector 76">
            <a:extLst>
              <a:ext uri="{FF2B5EF4-FFF2-40B4-BE49-F238E27FC236}">
                <a16:creationId xmlns:a16="http://schemas.microsoft.com/office/drawing/2014/main" id="{04140614-9BA8-4F8D-BE0D-A50928FDAE81}"/>
              </a:ext>
            </a:extLst>
          </p:cNvPr>
          <p:cNvCxnSpPr>
            <a:cxnSpLocks/>
          </p:cNvCxnSpPr>
          <p:nvPr/>
        </p:nvCxnSpPr>
        <p:spPr bwMode="auto">
          <a:xfrm>
            <a:off x="10219234" y="1687590"/>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78" name="Oval 77">
            <a:extLst>
              <a:ext uri="{FF2B5EF4-FFF2-40B4-BE49-F238E27FC236}">
                <a16:creationId xmlns:a16="http://schemas.microsoft.com/office/drawing/2014/main" id="{04EA27DE-7354-4EA2-B535-310C31785B28}"/>
              </a:ext>
            </a:extLst>
          </p:cNvPr>
          <p:cNvSpPr/>
          <p:nvPr/>
        </p:nvSpPr>
        <p:spPr bwMode="auto">
          <a:xfrm>
            <a:off x="9969556" y="2791838"/>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79" name="Straight Arrow Connector 78">
            <a:extLst>
              <a:ext uri="{FF2B5EF4-FFF2-40B4-BE49-F238E27FC236}">
                <a16:creationId xmlns:a16="http://schemas.microsoft.com/office/drawing/2014/main" id="{2F98A41F-3EE3-4288-8AD4-39F6D09266AF}"/>
              </a:ext>
            </a:extLst>
          </p:cNvPr>
          <p:cNvCxnSpPr>
            <a:cxnSpLocks/>
          </p:cNvCxnSpPr>
          <p:nvPr/>
        </p:nvCxnSpPr>
        <p:spPr bwMode="auto">
          <a:xfrm>
            <a:off x="10150420" y="2976664"/>
            <a:ext cx="0" cy="398077"/>
          </a:xfrm>
          <a:prstGeom prst="straightConnector1">
            <a:avLst/>
          </a:prstGeom>
          <a:noFill/>
          <a:ln w="15875" cap="flat" cmpd="sng" algn="ctr">
            <a:solidFill>
              <a:srgbClr val="FF0000"/>
            </a:solidFill>
            <a:prstDash val="solid"/>
            <a:round/>
            <a:headEnd type="none" w="med" len="med"/>
            <a:tailEnd type="triangle"/>
          </a:ln>
          <a:effectLst/>
        </p:spPr>
      </p:cxnSp>
      <p:sp>
        <p:nvSpPr>
          <p:cNvPr id="80" name="TextBox 79">
            <a:extLst>
              <a:ext uri="{FF2B5EF4-FFF2-40B4-BE49-F238E27FC236}">
                <a16:creationId xmlns:a16="http://schemas.microsoft.com/office/drawing/2014/main" id="{A54D3CBF-B91C-4D60-9662-3CF52ACA34C4}"/>
              </a:ext>
            </a:extLst>
          </p:cNvPr>
          <p:cNvSpPr txBox="1"/>
          <p:nvPr/>
        </p:nvSpPr>
        <p:spPr>
          <a:xfrm>
            <a:off x="1601613" y="4464240"/>
            <a:ext cx="9520555" cy="646331"/>
          </a:xfrm>
          <a:prstGeom prst="rect">
            <a:avLst/>
          </a:prstGeom>
          <a:noFill/>
        </p:spPr>
        <p:txBody>
          <a:bodyPr wrap="none" rtlCol="0" anchor="ctr" anchorCtr="1">
            <a:spAutoFit/>
          </a:bodyPr>
          <a:lstStyle/>
          <a:p>
            <a:r>
              <a:rPr lang="en-US" dirty="0">
                <a:ea typeface="標楷體" pitchFamily="65" charset="-120"/>
                <a:cs typeface="Calibri" pitchFamily="34" charset="0"/>
              </a:rPr>
              <a:t>Carry chain needs to be partitioned so that the result of one byte add will not be propagated</a:t>
            </a:r>
          </a:p>
          <a:p>
            <a:r>
              <a:rPr lang="en-US" dirty="0">
                <a:ea typeface="標楷體" pitchFamily="65" charset="-120"/>
                <a:cs typeface="Calibri" pitchFamily="34" charset="0"/>
              </a:rPr>
              <a:t>to the next. This implements so called </a:t>
            </a:r>
            <a:r>
              <a:rPr lang="en-US" b="1" i="1" dirty="0">
                <a:ea typeface="標楷體" pitchFamily="65" charset="-120"/>
                <a:cs typeface="Calibri" pitchFamily="34" charset="0"/>
              </a:rPr>
              <a:t>saturation math </a:t>
            </a:r>
            <a:r>
              <a:rPr lang="en-US" dirty="0">
                <a:ea typeface="標楷體" pitchFamily="65" charset="-120"/>
                <a:cs typeface="Calibri" pitchFamily="34" charset="0"/>
              </a:rPr>
              <a:t>(overflows chopped at the bounds).</a:t>
            </a:r>
          </a:p>
        </p:txBody>
      </p:sp>
    </p:spTree>
    <p:extLst>
      <p:ext uri="{BB962C8B-B14F-4D97-AF65-F5344CB8AC3E}">
        <p14:creationId xmlns:p14="http://schemas.microsoft.com/office/powerpoint/2010/main" val="2046115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6599" y="152600"/>
            <a:ext cx="10786218" cy="692151"/>
          </a:xfrm>
        </p:spPr>
        <p:txBody>
          <a:bodyPr/>
          <a:lstStyle/>
          <a:p>
            <a:r>
              <a:rPr lang="en-US" dirty="0"/>
              <a:t>Extension to SSE/AVX (128/256 bit) SIMD</a:t>
            </a:r>
          </a:p>
        </p:txBody>
      </p:sp>
      <p:sp>
        <p:nvSpPr>
          <p:cNvPr id="3" name="Content Placeholder 2"/>
          <p:cNvSpPr>
            <a:spLocks noGrp="1"/>
          </p:cNvSpPr>
          <p:nvPr>
            <p:ph idx="1"/>
          </p:nvPr>
        </p:nvSpPr>
        <p:spPr>
          <a:xfrm>
            <a:off x="311285" y="1161284"/>
            <a:ext cx="11641532" cy="4837517"/>
          </a:xfrm>
        </p:spPr>
        <p:txBody>
          <a:bodyPr>
            <a:normAutofit/>
          </a:bodyPr>
          <a:lstStyle/>
          <a:p>
            <a:pPr>
              <a:buFont typeface="Wingdings" panose="05000000000000000000" pitchFamily="2" charset="2"/>
              <a:buChar char="§"/>
            </a:pPr>
            <a:r>
              <a:rPr lang="en-US" sz="2400" dirty="0"/>
              <a:t>ADDPS </a:t>
            </a:r>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marL="0" indent="0">
              <a:buNone/>
            </a:pPr>
            <a:endParaRPr lang="en-US" sz="2400" dirty="0"/>
          </a:p>
        </p:txBody>
      </p:sp>
      <p:sp>
        <p:nvSpPr>
          <p:cNvPr id="6" name="灯片编号占位符 5"/>
          <p:cNvSpPr>
            <a:spLocks noGrp="1"/>
          </p:cNvSpPr>
          <p:nvPr>
            <p:ph type="sldNum" sz="quarter" idx="10"/>
          </p:nvPr>
        </p:nvSpPr>
        <p:spPr/>
        <p:txBody>
          <a:bodyPr/>
          <a:lstStyle/>
          <a:p>
            <a:fld id="{D9B6BDF2-6896-4B98-8776-C18582F63BA5}" type="slidenum">
              <a:rPr lang="zh-TW" altLang="en-US" smtClean="0"/>
              <a:t>29</a:t>
            </a:fld>
            <a:endParaRPr lang="zh-TW" altLang="en-US"/>
          </a:p>
        </p:txBody>
      </p:sp>
      <p:cxnSp>
        <p:nvCxnSpPr>
          <p:cNvPr id="48" name="Straight Arrow Connector 47">
            <a:extLst>
              <a:ext uri="{FF2B5EF4-FFF2-40B4-BE49-F238E27FC236}">
                <a16:creationId xmlns:a16="http://schemas.microsoft.com/office/drawing/2014/main" id="{E8178EE5-1773-4C31-A0BD-5434D2461CF0}"/>
              </a:ext>
            </a:extLst>
          </p:cNvPr>
          <p:cNvCxnSpPr>
            <a:cxnSpLocks/>
          </p:cNvCxnSpPr>
          <p:nvPr/>
        </p:nvCxnSpPr>
        <p:spPr bwMode="auto">
          <a:xfrm>
            <a:off x="3492230" y="239376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49" name="Straight Arrow Connector 48">
            <a:extLst>
              <a:ext uri="{FF2B5EF4-FFF2-40B4-BE49-F238E27FC236}">
                <a16:creationId xmlns:a16="http://schemas.microsoft.com/office/drawing/2014/main" id="{9F0FC716-12F1-4551-B924-882C59B42553}"/>
              </a:ext>
            </a:extLst>
          </p:cNvPr>
          <p:cNvCxnSpPr>
            <a:cxnSpLocks/>
          </p:cNvCxnSpPr>
          <p:nvPr/>
        </p:nvCxnSpPr>
        <p:spPr bwMode="auto">
          <a:xfrm>
            <a:off x="3644630" y="1697317"/>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50" name="Oval 49">
            <a:extLst>
              <a:ext uri="{FF2B5EF4-FFF2-40B4-BE49-F238E27FC236}">
                <a16:creationId xmlns:a16="http://schemas.microsoft.com/office/drawing/2014/main" id="{7CC4D723-C422-4949-B202-D5C8404F2EA5}"/>
              </a:ext>
            </a:extLst>
          </p:cNvPr>
          <p:cNvSpPr/>
          <p:nvPr/>
        </p:nvSpPr>
        <p:spPr bwMode="auto">
          <a:xfrm>
            <a:off x="3394952" y="2801565"/>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51" name="Straight Arrow Connector 50">
            <a:extLst>
              <a:ext uri="{FF2B5EF4-FFF2-40B4-BE49-F238E27FC236}">
                <a16:creationId xmlns:a16="http://schemas.microsoft.com/office/drawing/2014/main" id="{2160F81D-3891-46F5-8DAD-6CFBE6F909F6}"/>
              </a:ext>
            </a:extLst>
          </p:cNvPr>
          <p:cNvCxnSpPr>
            <a:cxnSpLocks/>
          </p:cNvCxnSpPr>
          <p:nvPr/>
        </p:nvCxnSpPr>
        <p:spPr bwMode="auto">
          <a:xfrm>
            <a:off x="3575816" y="298639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52" name="Straight Arrow Connector 51">
            <a:extLst>
              <a:ext uri="{FF2B5EF4-FFF2-40B4-BE49-F238E27FC236}">
                <a16:creationId xmlns:a16="http://schemas.microsoft.com/office/drawing/2014/main" id="{B04DB26F-DB11-447D-A156-510D6111D69C}"/>
              </a:ext>
            </a:extLst>
          </p:cNvPr>
          <p:cNvCxnSpPr>
            <a:cxnSpLocks/>
          </p:cNvCxnSpPr>
          <p:nvPr/>
        </p:nvCxnSpPr>
        <p:spPr bwMode="auto">
          <a:xfrm>
            <a:off x="4435813" y="239376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7A4993A2-96C2-4DE1-BFFC-6BDB42DF4A6B}"/>
              </a:ext>
            </a:extLst>
          </p:cNvPr>
          <p:cNvCxnSpPr>
            <a:cxnSpLocks/>
          </p:cNvCxnSpPr>
          <p:nvPr/>
        </p:nvCxnSpPr>
        <p:spPr bwMode="auto">
          <a:xfrm>
            <a:off x="4588213" y="1697317"/>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54" name="Oval 53">
            <a:extLst>
              <a:ext uri="{FF2B5EF4-FFF2-40B4-BE49-F238E27FC236}">
                <a16:creationId xmlns:a16="http://schemas.microsoft.com/office/drawing/2014/main" id="{FF99562A-DC13-4951-8C52-363C694FC395}"/>
              </a:ext>
            </a:extLst>
          </p:cNvPr>
          <p:cNvSpPr/>
          <p:nvPr/>
        </p:nvSpPr>
        <p:spPr bwMode="auto">
          <a:xfrm>
            <a:off x="4338535" y="2801565"/>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55" name="Straight Arrow Connector 54">
            <a:extLst>
              <a:ext uri="{FF2B5EF4-FFF2-40B4-BE49-F238E27FC236}">
                <a16:creationId xmlns:a16="http://schemas.microsoft.com/office/drawing/2014/main" id="{45E32CC5-4593-44FA-B463-2A2F3BBC030A}"/>
              </a:ext>
            </a:extLst>
          </p:cNvPr>
          <p:cNvCxnSpPr>
            <a:cxnSpLocks/>
          </p:cNvCxnSpPr>
          <p:nvPr/>
        </p:nvCxnSpPr>
        <p:spPr bwMode="auto">
          <a:xfrm>
            <a:off x="4519399" y="298639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D6E88454-2025-4FF4-B9E3-C32F5EBD0859}"/>
              </a:ext>
            </a:extLst>
          </p:cNvPr>
          <p:cNvCxnSpPr>
            <a:cxnSpLocks/>
          </p:cNvCxnSpPr>
          <p:nvPr/>
        </p:nvCxnSpPr>
        <p:spPr bwMode="auto">
          <a:xfrm>
            <a:off x="5324270" y="239376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D7A2D853-2949-49FC-ACB2-11705EEEA404}"/>
              </a:ext>
            </a:extLst>
          </p:cNvPr>
          <p:cNvCxnSpPr>
            <a:cxnSpLocks/>
          </p:cNvCxnSpPr>
          <p:nvPr/>
        </p:nvCxnSpPr>
        <p:spPr bwMode="auto">
          <a:xfrm>
            <a:off x="5476670" y="1697317"/>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58" name="Oval 57">
            <a:extLst>
              <a:ext uri="{FF2B5EF4-FFF2-40B4-BE49-F238E27FC236}">
                <a16:creationId xmlns:a16="http://schemas.microsoft.com/office/drawing/2014/main" id="{300532C3-FEDA-4E9D-BD27-BFB2137A9444}"/>
              </a:ext>
            </a:extLst>
          </p:cNvPr>
          <p:cNvSpPr/>
          <p:nvPr/>
        </p:nvSpPr>
        <p:spPr bwMode="auto">
          <a:xfrm>
            <a:off x="5226992" y="2801565"/>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59" name="Straight Arrow Connector 58">
            <a:extLst>
              <a:ext uri="{FF2B5EF4-FFF2-40B4-BE49-F238E27FC236}">
                <a16:creationId xmlns:a16="http://schemas.microsoft.com/office/drawing/2014/main" id="{00F95C5D-F093-425E-9A80-76D8DFABDC37}"/>
              </a:ext>
            </a:extLst>
          </p:cNvPr>
          <p:cNvCxnSpPr>
            <a:cxnSpLocks/>
          </p:cNvCxnSpPr>
          <p:nvPr/>
        </p:nvCxnSpPr>
        <p:spPr bwMode="auto">
          <a:xfrm>
            <a:off x="5407856" y="298639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60" name="Straight Arrow Connector 59">
            <a:extLst>
              <a:ext uri="{FF2B5EF4-FFF2-40B4-BE49-F238E27FC236}">
                <a16:creationId xmlns:a16="http://schemas.microsoft.com/office/drawing/2014/main" id="{B4F29E13-D04B-4D9A-B607-BB01EBA64B05}"/>
              </a:ext>
            </a:extLst>
          </p:cNvPr>
          <p:cNvCxnSpPr>
            <a:cxnSpLocks/>
          </p:cNvCxnSpPr>
          <p:nvPr/>
        </p:nvCxnSpPr>
        <p:spPr bwMode="auto">
          <a:xfrm>
            <a:off x="6357921" y="239376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61" name="Straight Arrow Connector 60">
            <a:extLst>
              <a:ext uri="{FF2B5EF4-FFF2-40B4-BE49-F238E27FC236}">
                <a16:creationId xmlns:a16="http://schemas.microsoft.com/office/drawing/2014/main" id="{0F772FC7-974A-4E54-896E-4C12E2D71FD4}"/>
              </a:ext>
            </a:extLst>
          </p:cNvPr>
          <p:cNvCxnSpPr>
            <a:cxnSpLocks/>
          </p:cNvCxnSpPr>
          <p:nvPr/>
        </p:nvCxnSpPr>
        <p:spPr bwMode="auto">
          <a:xfrm>
            <a:off x="6510321" y="1697317"/>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62" name="Oval 61">
            <a:extLst>
              <a:ext uri="{FF2B5EF4-FFF2-40B4-BE49-F238E27FC236}">
                <a16:creationId xmlns:a16="http://schemas.microsoft.com/office/drawing/2014/main" id="{C4883BD5-0BF1-46FA-8A66-065F17522D4C}"/>
              </a:ext>
            </a:extLst>
          </p:cNvPr>
          <p:cNvSpPr/>
          <p:nvPr/>
        </p:nvSpPr>
        <p:spPr bwMode="auto">
          <a:xfrm>
            <a:off x="6260643" y="2801565"/>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63" name="Straight Arrow Connector 62">
            <a:extLst>
              <a:ext uri="{FF2B5EF4-FFF2-40B4-BE49-F238E27FC236}">
                <a16:creationId xmlns:a16="http://schemas.microsoft.com/office/drawing/2014/main" id="{9CEA3B4F-A2AB-4265-B198-3BEE255BE86F}"/>
              </a:ext>
            </a:extLst>
          </p:cNvPr>
          <p:cNvCxnSpPr>
            <a:cxnSpLocks/>
          </p:cNvCxnSpPr>
          <p:nvPr/>
        </p:nvCxnSpPr>
        <p:spPr bwMode="auto">
          <a:xfrm>
            <a:off x="6441507" y="2986391"/>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64" name="Straight Arrow Connector 63">
            <a:extLst>
              <a:ext uri="{FF2B5EF4-FFF2-40B4-BE49-F238E27FC236}">
                <a16:creationId xmlns:a16="http://schemas.microsoft.com/office/drawing/2014/main" id="{883FF04A-C015-4A41-886A-413DC5151616}"/>
              </a:ext>
            </a:extLst>
          </p:cNvPr>
          <p:cNvCxnSpPr>
            <a:cxnSpLocks/>
          </p:cNvCxnSpPr>
          <p:nvPr/>
        </p:nvCxnSpPr>
        <p:spPr bwMode="auto">
          <a:xfrm>
            <a:off x="7283686" y="2409507"/>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5812C2CF-98EF-4B92-BB3D-5C4B33BD1CC4}"/>
              </a:ext>
            </a:extLst>
          </p:cNvPr>
          <p:cNvCxnSpPr>
            <a:cxnSpLocks/>
          </p:cNvCxnSpPr>
          <p:nvPr/>
        </p:nvCxnSpPr>
        <p:spPr bwMode="auto">
          <a:xfrm>
            <a:off x="7436086" y="1713063"/>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66" name="Oval 65">
            <a:extLst>
              <a:ext uri="{FF2B5EF4-FFF2-40B4-BE49-F238E27FC236}">
                <a16:creationId xmlns:a16="http://schemas.microsoft.com/office/drawing/2014/main" id="{2DC27A39-DDC8-452E-86FD-65026A602BE0}"/>
              </a:ext>
            </a:extLst>
          </p:cNvPr>
          <p:cNvSpPr/>
          <p:nvPr/>
        </p:nvSpPr>
        <p:spPr bwMode="auto">
          <a:xfrm>
            <a:off x="7186408" y="2817311"/>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67" name="Straight Arrow Connector 66">
            <a:extLst>
              <a:ext uri="{FF2B5EF4-FFF2-40B4-BE49-F238E27FC236}">
                <a16:creationId xmlns:a16="http://schemas.microsoft.com/office/drawing/2014/main" id="{A20C1A2C-2431-4344-82FE-37B0469BB7BE}"/>
              </a:ext>
            </a:extLst>
          </p:cNvPr>
          <p:cNvCxnSpPr>
            <a:cxnSpLocks/>
          </p:cNvCxnSpPr>
          <p:nvPr/>
        </p:nvCxnSpPr>
        <p:spPr bwMode="auto">
          <a:xfrm>
            <a:off x="7367272" y="3002137"/>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68" name="Straight Arrow Connector 67">
            <a:extLst>
              <a:ext uri="{FF2B5EF4-FFF2-40B4-BE49-F238E27FC236}">
                <a16:creationId xmlns:a16="http://schemas.microsoft.com/office/drawing/2014/main" id="{EFDC1734-30EE-42DF-A99F-70DE1885EF53}"/>
              </a:ext>
            </a:extLst>
          </p:cNvPr>
          <p:cNvCxnSpPr>
            <a:cxnSpLocks/>
          </p:cNvCxnSpPr>
          <p:nvPr/>
        </p:nvCxnSpPr>
        <p:spPr bwMode="auto">
          <a:xfrm>
            <a:off x="8252570" y="2419234"/>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69" name="Straight Arrow Connector 68">
            <a:extLst>
              <a:ext uri="{FF2B5EF4-FFF2-40B4-BE49-F238E27FC236}">
                <a16:creationId xmlns:a16="http://schemas.microsoft.com/office/drawing/2014/main" id="{D956FF7E-5238-4944-9F69-CDFF60EF0968}"/>
              </a:ext>
            </a:extLst>
          </p:cNvPr>
          <p:cNvCxnSpPr>
            <a:cxnSpLocks/>
          </p:cNvCxnSpPr>
          <p:nvPr/>
        </p:nvCxnSpPr>
        <p:spPr bwMode="auto">
          <a:xfrm>
            <a:off x="8404970" y="1722790"/>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70" name="Oval 69">
            <a:extLst>
              <a:ext uri="{FF2B5EF4-FFF2-40B4-BE49-F238E27FC236}">
                <a16:creationId xmlns:a16="http://schemas.microsoft.com/office/drawing/2014/main" id="{3CD810B5-EE82-437E-8512-1B4736722AD2}"/>
              </a:ext>
            </a:extLst>
          </p:cNvPr>
          <p:cNvSpPr/>
          <p:nvPr/>
        </p:nvSpPr>
        <p:spPr bwMode="auto">
          <a:xfrm>
            <a:off x="8155292" y="2827038"/>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71" name="Straight Arrow Connector 70">
            <a:extLst>
              <a:ext uri="{FF2B5EF4-FFF2-40B4-BE49-F238E27FC236}">
                <a16:creationId xmlns:a16="http://schemas.microsoft.com/office/drawing/2014/main" id="{2C79B3B7-B253-400F-8681-A1A139840C5F}"/>
              </a:ext>
            </a:extLst>
          </p:cNvPr>
          <p:cNvCxnSpPr>
            <a:cxnSpLocks/>
          </p:cNvCxnSpPr>
          <p:nvPr/>
        </p:nvCxnSpPr>
        <p:spPr bwMode="auto">
          <a:xfrm>
            <a:off x="8336156" y="3011864"/>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BFDA3235-EE76-4F6C-80A8-3343E0F3F279}"/>
              </a:ext>
            </a:extLst>
          </p:cNvPr>
          <p:cNvCxnSpPr>
            <a:cxnSpLocks/>
          </p:cNvCxnSpPr>
          <p:nvPr/>
        </p:nvCxnSpPr>
        <p:spPr bwMode="auto">
          <a:xfrm>
            <a:off x="9195512" y="2403488"/>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73" name="Straight Arrow Connector 72">
            <a:extLst>
              <a:ext uri="{FF2B5EF4-FFF2-40B4-BE49-F238E27FC236}">
                <a16:creationId xmlns:a16="http://schemas.microsoft.com/office/drawing/2014/main" id="{E262D775-7F8B-4E66-B9D1-239092E95109}"/>
              </a:ext>
            </a:extLst>
          </p:cNvPr>
          <p:cNvCxnSpPr>
            <a:cxnSpLocks/>
          </p:cNvCxnSpPr>
          <p:nvPr/>
        </p:nvCxnSpPr>
        <p:spPr bwMode="auto">
          <a:xfrm>
            <a:off x="9347912" y="1707044"/>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74" name="Oval 73">
            <a:extLst>
              <a:ext uri="{FF2B5EF4-FFF2-40B4-BE49-F238E27FC236}">
                <a16:creationId xmlns:a16="http://schemas.microsoft.com/office/drawing/2014/main" id="{B2EADC78-0EE0-4492-85A3-ECF15CCF0376}"/>
              </a:ext>
            </a:extLst>
          </p:cNvPr>
          <p:cNvSpPr/>
          <p:nvPr/>
        </p:nvSpPr>
        <p:spPr bwMode="auto">
          <a:xfrm>
            <a:off x="9098234" y="2811292"/>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75" name="Straight Arrow Connector 74">
            <a:extLst>
              <a:ext uri="{FF2B5EF4-FFF2-40B4-BE49-F238E27FC236}">
                <a16:creationId xmlns:a16="http://schemas.microsoft.com/office/drawing/2014/main" id="{DE75996E-4E47-43C4-9A51-E948A94D568A}"/>
              </a:ext>
            </a:extLst>
          </p:cNvPr>
          <p:cNvCxnSpPr>
            <a:cxnSpLocks/>
          </p:cNvCxnSpPr>
          <p:nvPr/>
        </p:nvCxnSpPr>
        <p:spPr bwMode="auto">
          <a:xfrm>
            <a:off x="9279098" y="2996118"/>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76" name="Straight Arrow Connector 75">
            <a:extLst>
              <a:ext uri="{FF2B5EF4-FFF2-40B4-BE49-F238E27FC236}">
                <a16:creationId xmlns:a16="http://schemas.microsoft.com/office/drawing/2014/main" id="{3DB24C1C-BD71-4E3E-85E9-139EAEE26E64}"/>
              </a:ext>
            </a:extLst>
          </p:cNvPr>
          <p:cNvCxnSpPr>
            <a:cxnSpLocks/>
          </p:cNvCxnSpPr>
          <p:nvPr/>
        </p:nvCxnSpPr>
        <p:spPr bwMode="auto">
          <a:xfrm>
            <a:off x="10066834" y="2384034"/>
            <a:ext cx="0" cy="398077"/>
          </a:xfrm>
          <a:prstGeom prst="straightConnector1">
            <a:avLst/>
          </a:prstGeom>
          <a:noFill/>
          <a:ln w="15875" cap="flat" cmpd="sng" algn="ctr">
            <a:solidFill>
              <a:srgbClr val="FF0000"/>
            </a:solidFill>
            <a:prstDash val="solid"/>
            <a:round/>
            <a:headEnd type="none" w="med" len="med"/>
            <a:tailEnd type="triangle"/>
          </a:ln>
          <a:effectLst/>
        </p:spPr>
      </p:cxnSp>
      <p:cxnSp>
        <p:nvCxnSpPr>
          <p:cNvPr id="77" name="Straight Arrow Connector 76">
            <a:extLst>
              <a:ext uri="{FF2B5EF4-FFF2-40B4-BE49-F238E27FC236}">
                <a16:creationId xmlns:a16="http://schemas.microsoft.com/office/drawing/2014/main" id="{04140614-9BA8-4F8D-BE0D-A50928FDAE81}"/>
              </a:ext>
            </a:extLst>
          </p:cNvPr>
          <p:cNvCxnSpPr>
            <a:cxnSpLocks/>
          </p:cNvCxnSpPr>
          <p:nvPr/>
        </p:nvCxnSpPr>
        <p:spPr bwMode="auto">
          <a:xfrm>
            <a:off x="10219234" y="1687590"/>
            <a:ext cx="0" cy="1094521"/>
          </a:xfrm>
          <a:prstGeom prst="straightConnector1">
            <a:avLst/>
          </a:prstGeom>
          <a:noFill/>
          <a:ln w="15875" cap="flat" cmpd="sng" algn="ctr">
            <a:solidFill>
              <a:srgbClr val="FF0000"/>
            </a:solidFill>
            <a:prstDash val="solid"/>
            <a:round/>
            <a:headEnd type="none" w="med" len="med"/>
            <a:tailEnd type="triangle"/>
          </a:ln>
          <a:effectLst/>
        </p:spPr>
      </p:cxnSp>
      <p:sp>
        <p:nvSpPr>
          <p:cNvPr id="78" name="Oval 77">
            <a:extLst>
              <a:ext uri="{FF2B5EF4-FFF2-40B4-BE49-F238E27FC236}">
                <a16:creationId xmlns:a16="http://schemas.microsoft.com/office/drawing/2014/main" id="{04EA27DE-7354-4EA2-B535-310C31785B28}"/>
              </a:ext>
            </a:extLst>
          </p:cNvPr>
          <p:cNvSpPr/>
          <p:nvPr/>
        </p:nvSpPr>
        <p:spPr bwMode="auto">
          <a:xfrm>
            <a:off x="9969556" y="2791838"/>
            <a:ext cx="350195" cy="184826"/>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a:t>
            </a:r>
          </a:p>
        </p:txBody>
      </p:sp>
      <p:cxnSp>
        <p:nvCxnSpPr>
          <p:cNvPr id="79" name="Straight Arrow Connector 78">
            <a:extLst>
              <a:ext uri="{FF2B5EF4-FFF2-40B4-BE49-F238E27FC236}">
                <a16:creationId xmlns:a16="http://schemas.microsoft.com/office/drawing/2014/main" id="{2F98A41F-3EE3-4288-8AD4-39F6D09266AF}"/>
              </a:ext>
            </a:extLst>
          </p:cNvPr>
          <p:cNvCxnSpPr>
            <a:cxnSpLocks/>
          </p:cNvCxnSpPr>
          <p:nvPr/>
        </p:nvCxnSpPr>
        <p:spPr bwMode="auto">
          <a:xfrm>
            <a:off x="10150420" y="2976664"/>
            <a:ext cx="0" cy="398077"/>
          </a:xfrm>
          <a:prstGeom prst="straightConnector1">
            <a:avLst/>
          </a:prstGeom>
          <a:noFill/>
          <a:ln w="15875" cap="flat" cmpd="sng" algn="ctr">
            <a:solidFill>
              <a:srgbClr val="FF0000"/>
            </a:solidFill>
            <a:prstDash val="solid"/>
            <a:round/>
            <a:headEnd type="none" w="med" len="med"/>
            <a:tailEnd type="triangle"/>
          </a:ln>
          <a:effectLst/>
        </p:spPr>
      </p:cxnSp>
      <p:sp>
        <p:nvSpPr>
          <p:cNvPr id="80" name="TextBox 79">
            <a:extLst>
              <a:ext uri="{FF2B5EF4-FFF2-40B4-BE49-F238E27FC236}">
                <a16:creationId xmlns:a16="http://schemas.microsoft.com/office/drawing/2014/main" id="{A54D3CBF-B91C-4D60-9662-3CF52ACA34C4}"/>
              </a:ext>
            </a:extLst>
          </p:cNvPr>
          <p:cNvSpPr txBox="1"/>
          <p:nvPr/>
        </p:nvSpPr>
        <p:spPr>
          <a:xfrm>
            <a:off x="1143362" y="4408434"/>
            <a:ext cx="9905276" cy="1200329"/>
          </a:xfrm>
          <a:prstGeom prst="rect">
            <a:avLst/>
          </a:prstGeom>
          <a:noFill/>
        </p:spPr>
        <p:txBody>
          <a:bodyPr wrap="none" rtlCol="0" anchor="ctr" anchorCtr="1">
            <a:spAutoFit/>
          </a:bodyPr>
          <a:lstStyle/>
          <a:p>
            <a:r>
              <a:rPr lang="en-US" dirty="0">
                <a:ea typeface="標楷體" pitchFamily="65" charset="-120"/>
                <a:cs typeface="Calibri" pitchFamily="34" charset="0"/>
              </a:rPr>
              <a:t>ADDPS means parallel add packed (P) single precision floating point (S) data. With 256bit wide</a:t>
            </a:r>
          </a:p>
          <a:p>
            <a:r>
              <a:rPr lang="en-US" dirty="0">
                <a:ea typeface="標楷體" pitchFamily="65" charset="-120"/>
                <a:cs typeface="Calibri" pitchFamily="34" charset="0"/>
              </a:rPr>
              <a:t>SIMD registers, one instruction can compute 8 single precision floating point data.</a:t>
            </a:r>
          </a:p>
          <a:p>
            <a:r>
              <a:rPr lang="en-US" dirty="0">
                <a:ea typeface="標楷體" pitchFamily="65" charset="-120"/>
                <a:cs typeface="Calibri" pitchFamily="34" charset="0"/>
              </a:rPr>
              <a:t>With the newly introduced FP8 format, one instruction can </a:t>
            </a:r>
            <a:r>
              <a:rPr lang="en-US">
                <a:ea typeface="標楷體" pitchFamily="65" charset="-120"/>
                <a:cs typeface="Calibri" pitchFamily="34" charset="0"/>
              </a:rPr>
              <a:t>compute 32 </a:t>
            </a:r>
            <a:r>
              <a:rPr lang="en-US" dirty="0" err="1">
                <a:ea typeface="標楷體" pitchFamily="65" charset="-120"/>
                <a:cs typeface="Calibri" pitchFamily="34" charset="0"/>
              </a:rPr>
              <a:t>minifloat</a:t>
            </a:r>
            <a:r>
              <a:rPr lang="en-US" dirty="0">
                <a:ea typeface="標楷體" pitchFamily="65" charset="-120"/>
                <a:cs typeface="Calibri" pitchFamily="34" charset="0"/>
              </a:rPr>
              <a:t> results.</a:t>
            </a:r>
          </a:p>
          <a:p>
            <a:endParaRPr lang="en-US" dirty="0">
              <a:ea typeface="標楷體" pitchFamily="65" charset="-120"/>
              <a:cs typeface="Calibri" pitchFamily="34" charset="0"/>
            </a:endParaRPr>
          </a:p>
        </p:txBody>
      </p:sp>
      <p:sp>
        <p:nvSpPr>
          <p:cNvPr id="82" name="TextBox 81">
            <a:extLst>
              <a:ext uri="{FF2B5EF4-FFF2-40B4-BE49-F238E27FC236}">
                <a16:creationId xmlns:a16="http://schemas.microsoft.com/office/drawing/2014/main" id="{95ED4530-FEED-4F64-B5C6-266671346BB0}"/>
              </a:ext>
            </a:extLst>
          </p:cNvPr>
          <p:cNvSpPr txBox="1"/>
          <p:nvPr/>
        </p:nvSpPr>
        <p:spPr>
          <a:xfrm>
            <a:off x="3019619" y="1254646"/>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7</a:t>
            </a:r>
          </a:p>
        </p:txBody>
      </p:sp>
      <p:sp>
        <p:nvSpPr>
          <p:cNvPr id="83" name="TextBox 82">
            <a:extLst>
              <a:ext uri="{FF2B5EF4-FFF2-40B4-BE49-F238E27FC236}">
                <a16:creationId xmlns:a16="http://schemas.microsoft.com/office/drawing/2014/main" id="{22FA1853-B96F-4D2E-A813-353AF6FF499C}"/>
              </a:ext>
            </a:extLst>
          </p:cNvPr>
          <p:cNvSpPr txBox="1"/>
          <p:nvPr/>
        </p:nvSpPr>
        <p:spPr>
          <a:xfrm>
            <a:off x="3959157" y="1259989"/>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6</a:t>
            </a:r>
          </a:p>
        </p:txBody>
      </p:sp>
      <p:sp>
        <p:nvSpPr>
          <p:cNvPr id="84" name="TextBox 83">
            <a:extLst>
              <a:ext uri="{FF2B5EF4-FFF2-40B4-BE49-F238E27FC236}">
                <a16:creationId xmlns:a16="http://schemas.microsoft.com/office/drawing/2014/main" id="{0E745C47-36C3-4EFB-AACA-258691F1D6D3}"/>
              </a:ext>
            </a:extLst>
          </p:cNvPr>
          <p:cNvSpPr txBox="1"/>
          <p:nvPr/>
        </p:nvSpPr>
        <p:spPr>
          <a:xfrm>
            <a:off x="4918896" y="1256282"/>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5</a:t>
            </a:r>
          </a:p>
        </p:txBody>
      </p:sp>
      <p:sp>
        <p:nvSpPr>
          <p:cNvPr id="85" name="TextBox 84">
            <a:extLst>
              <a:ext uri="{FF2B5EF4-FFF2-40B4-BE49-F238E27FC236}">
                <a16:creationId xmlns:a16="http://schemas.microsoft.com/office/drawing/2014/main" id="{E9F24298-1320-49F5-BB07-E1A2F36D0F0B}"/>
              </a:ext>
            </a:extLst>
          </p:cNvPr>
          <p:cNvSpPr txBox="1"/>
          <p:nvPr/>
        </p:nvSpPr>
        <p:spPr>
          <a:xfrm>
            <a:off x="5858434" y="1261625"/>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4</a:t>
            </a:r>
          </a:p>
        </p:txBody>
      </p:sp>
      <p:sp>
        <p:nvSpPr>
          <p:cNvPr id="86" name="TextBox 85">
            <a:extLst>
              <a:ext uri="{FF2B5EF4-FFF2-40B4-BE49-F238E27FC236}">
                <a16:creationId xmlns:a16="http://schemas.microsoft.com/office/drawing/2014/main" id="{4DAD32D7-87C4-457B-AD32-CFC5046E7955}"/>
              </a:ext>
            </a:extLst>
          </p:cNvPr>
          <p:cNvSpPr txBox="1"/>
          <p:nvPr/>
        </p:nvSpPr>
        <p:spPr>
          <a:xfrm>
            <a:off x="6813027" y="1257254"/>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3</a:t>
            </a:r>
          </a:p>
        </p:txBody>
      </p:sp>
      <p:sp>
        <p:nvSpPr>
          <p:cNvPr id="87" name="TextBox 86">
            <a:extLst>
              <a:ext uri="{FF2B5EF4-FFF2-40B4-BE49-F238E27FC236}">
                <a16:creationId xmlns:a16="http://schemas.microsoft.com/office/drawing/2014/main" id="{4B6E573C-74F3-4F6D-AF2B-04FB451CDF6E}"/>
              </a:ext>
            </a:extLst>
          </p:cNvPr>
          <p:cNvSpPr txBox="1"/>
          <p:nvPr/>
        </p:nvSpPr>
        <p:spPr>
          <a:xfrm>
            <a:off x="7752565" y="1262597"/>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2</a:t>
            </a:r>
          </a:p>
        </p:txBody>
      </p:sp>
      <p:sp>
        <p:nvSpPr>
          <p:cNvPr id="88" name="TextBox 87">
            <a:extLst>
              <a:ext uri="{FF2B5EF4-FFF2-40B4-BE49-F238E27FC236}">
                <a16:creationId xmlns:a16="http://schemas.microsoft.com/office/drawing/2014/main" id="{0295C63F-3443-4260-986F-1F91B1DD36F3}"/>
              </a:ext>
            </a:extLst>
          </p:cNvPr>
          <p:cNvSpPr txBox="1"/>
          <p:nvPr/>
        </p:nvSpPr>
        <p:spPr>
          <a:xfrm>
            <a:off x="8704657" y="1268003"/>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1</a:t>
            </a:r>
          </a:p>
        </p:txBody>
      </p:sp>
      <p:sp>
        <p:nvSpPr>
          <p:cNvPr id="89" name="TextBox 88">
            <a:extLst>
              <a:ext uri="{FF2B5EF4-FFF2-40B4-BE49-F238E27FC236}">
                <a16:creationId xmlns:a16="http://schemas.microsoft.com/office/drawing/2014/main" id="{7CC2A505-6A8D-457E-B22B-9553D7AE1D1F}"/>
              </a:ext>
            </a:extLst>
          </p:cNvPr>
          <p:cNvSpPr txBox="1"/>
          <p:nvPr/>
        </p:nvSpPr>
        <p:spPr>
          <a:xfrm>
            <a:off x="9644195" y="1273346"/>
            <a:ext cx="95331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0</a:t>
            </a:r>
          </a:p>
        </p:txBody>
      </p:sp>
      <p:sp>
        <p:nvSpPr>
          <p:cNvPr id="90" name="TextBox 89">
            <a:extLst>
              <a:ext uri="{FF2B5EF4-FFF2-40B4-BE49-F238E27FC236}">
                <a16:creationId xmlns:a16="http://schemas.microsoft.com/office/drawing/2014/main" id="{F42D348C-8AAB-4FA0-89DF-6674E73B787A}"/>
              </a:ext>
            </a:extLst>
          </p:cNvPr>
          <p:cNvSpPr txBox="1"/>
          <p:nvPr/>
        </p:nvSpPr>
        <p:spPr>
          <a:xfrm>
            <a:off x="2995265" y="2029502"/>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7</a:t>
            </a:r>
          </a:p>
        </p:txBody>
      </p:sp>
      <p:sp>
        <p:nvSpPr>
          <p:cNvPr id="91" name="TextBox 90">
            <a:extLst>
              <a:ext uri="{FF2B5EF4-FFF2-40B4-BE49-F238E27FC236}">
                <a16:creationId xmlns:a16="http://schemas.microsoft.com/office/drawing/2014/main" id="{F3B94F2E-E0A6-421A-80CB-13910122EC3F}"/>
              </a:ext>
            </a:extLst>
          </p:cNvPr>
          <p:cNvSpPr txBox="1"/>
          <p:nvPr/>
        </p:nvSpPr>
        <p:spPr>
          <a:xfrm>
            <a:off x="3934803" y="2034845"/>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6</a:t>
            </a:r>
          </a:p>
        </p:txBody>
      </p:sp>
      <p:sp>
        <p:nvSpPr>
          <p:cNvPr id="92" name="TextBox 91">
            <a:extLst>
              <a:ext uri="{FF2B5EF4-FFF2-40B4-BE49-F238E27FC236}">
                <a16:creationId xmlns:a16="http://schemas.microsoft.com/office/drawing/2014/main" id="{B611658E-F572-45BA-8920-884487E66CEC}"/>
              </a:ext>
            </a:extLst>
          </p:cNvPr>
          <p:cNvSpPr txBox="1"/>
          <p:nvPr/>
        </p:nvSpPr>
        <p:spPr>
          <a:xfrm>
            <a:off x="4894542" y="2031138"/>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5</a:t>
            </a:r>
          </a:p>
        </p:txBody>
      </p:sp>
      <p:sp>
        <p:nvSpPr>
          <p:cNvPr id="93" name="TextBox 92">
            <a:extLst>
              <a:ext uri="{FF2B5EF4-FFF2-40B4-BE49-F238E27FC236}">
                <a16:creationId xmlns:a16="http://schemas.microsoft.com/office/drawing/2014/main" id="{B323DA63-BE0E-45F1-A888-E0A757AA1EE0}"/>
              </a:ext>
            </a:extLst>
          </p:cNvPr>
          <p:cNvSpPr txBox="1"/>
          <p:nvPr/>
        </p:nvSpPr>
        <p:spPr>
          <a:xfrm>
            <a:off x="5834080" y="2036481"/>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4</a:t>
            </a:r>
          </a:p>
        </p:txBody>
      </p:sp>
      <p:sp>
        <p:nvSpPr>
          <p:cNvPr id="94" name="TextBox 93">
            <a:extLst>
              <a:ext uri="{FF2B5EF4-FFF2-40B4-BE49-F238E27FC236}">
                <a16:creationId xmlns:a16="http://schemas.microsoft.com/office/drawing/2014/main" id="{DE29063E-D608-4598-835D-5E4E9EF96EDC}"/>
              </a:ext>
            </a:extLst>
          </p:cNvPr>
          <p:cNvSpPr txBox="1"/>
          <p:nvPr/>
        </p:nvSpPr>
        <p:spPr>
          <a:xfrm>
            <a:off x="6788673" y="2032110"/>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3</a:t>
            </a:r>
          </a:p>
        </p:txBody>
      </p:sp>
      <p:sp>
        <p:nvSpPr>
          <p:cNvPr id="95" name="TextBox 94">
            <a:extLst>
              <a:ext uri="{FF2B5EF4-FFF2-40B4-BE49-F238E27FC236}">
                <a16:creationId xmlns:a16="http://schemas.microsoft.com/office/drawing/2014/main" id="{EB66526D-999B-488A-AD9A-BCD3A1627520}"/>
              </a:ext>
            </a:extLst>
          </p:cNvPr>
          <p:cNvSpPr txBox="1"/>
          <p:nvPr/>
        </p:nvSpPr>
        <p:spPr>
          <a:xfrm>
            <a:off x="7728211" y="2037453"/>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2</a:t>
            </a:r>
          </a:p>
        </p:txBody>
      </p:sp>
      <p:sp>
        <p:nvSpPr>
          <p:cNvPr id="96" name="TextBox 95">
            <a:extLst>
              <a:ext uri="{FF2B5EF4-FFF2-40B4-BE49-F238E27FC236}">
                <a16:creationId xmlns:a16="http://schemas.microsoft.com/office/drawing/2014/main" id="{B8652680-A824-4083-B252-DB8FB98B3E76}"/>
              </a:ext>
            </a:extLst>
          </p:cNvPr>
          <p:cNvSpPr txBox="1"/>
          <p:nvPr/>
        </p:nvSpPr>
        <p:spPr>
          <a:xfrm>
            <a:off x="8680303" y="2042859"/>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1</a:t>
            </a:r>
          </a:p>
        </p:txBody>
      </p:sp>
      <p:sp>
        <p:nvSpPr>
          <p:cNvPr id="97" name="TextBox 96">
            <a:extLst>
              <a:ext uri="{FF2B5EF4-FFF2-40B4-BE49-F238E27FC236}">
                <a16:creationId xmlns:a16="http://schemas.microsoft.com/office/drawing/2014/main" id="{AB43E2DD-8ACB-4F49-A841-D7FDDF9ED0C0}"/>
              </a:ext>
            </a:extLst>
          </p:cNvPr>
          <p:cNvSpPr txBox="1"/>
          <p:nvPr/>
        </p:nvSpPr>
        <p:spPr>
          <a:xfrm>
            <a:off x="9619841" y="2048202"/>
            <a:ext cx="953311"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SP 0</a:t>
            </a:r>
          </a:p>
        </p:txBody>
      </p:sp>
      <p:sp>
        <p:nvSpPr>
          <p:cNvPr id="98" name="TextBox 97">
            <a:extLst>
              <a:ext uri="{FF2B5EF4-FFF2-40B4-BE49-F238E27FC236}">
                <a16:creationId xmlns:a16="http://schemas.microsoft.com/office/drawing/2014/main" id="{1499B5DD-6370-4255-B96C-07A6A6939547}"/>
              </a:ext>
            </a:extLst>
          </p:cNvPr>
          <p:cNvSpPr txBox="1"/>
          <p:nvPr/>
        </p:nvSpPr>
        <p:spPr>
          <a:xfrm>
            <a:off x="3019619" y="3382020"/>
            <a:ext cx="953311" cy="369332"/>
          </a:xfrm>
          <a:prstGeom prst="rect">
            <a:avLst/>
          </a:prstGeom>
          <a:solidFill>
            <a:schemeClr val="accent1">
              <a:lumMod val="40000"/>
              <a:lumOff val="6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SP 7</a:t>
            </a:r>
          </a:p>
        </p:txBody>
      </p:sp>
      <p:sp>
        <p:nvSpPr>
          <p:cNvPr id="99" name="TextBox 98">
            <a:extLst>
              <a:ext uri="{FF2B5EF4-FFF2-40B4-BE49-F238E27FC236}">
                <a16:creationId xmlns:a16="http://schemas.microsoft.com/office/drawing/2014/main" id="{FEA3ACAC-98DB-43CD-BF92-3EEF3F998730}"/>
              </a:ext>
            </a:extLst>
          </p:cNvPr>
          <p:cNvSpPr txBox="1"/>
          <p:nvPr/>
        </p:nvSpPr>
        <p:spPr>
          <a:xfrm>
            <a:off x="3959157" y="3387363"/>
            <a:ext cx="953311" cy="369332"/>
          </a:xfrm>
          <a:prstGeom prst="rect">
            <a:avLst/>
          </a:prstGeom>
          <a:solidFill>
            <a:schemeClr val="accent1">
              <a:lumMod val="40000"/>
              <a:lumOff val="6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SP 6</a:t>
            </a:r>
          </a:p>
        </p:txBody>
      </p:sp>
      <p:sp>
        <p:nvSpPr>
          <p:cNvPr id="100" name="TextBox 99">
            <a:extLst>
              <a:ext uri="{FF2B5EF4-FFF2-40B4-BE49-F238E27FC236}">
                <a16:creationId xmlns:a16="http://schemas.microsoft.com/office/drawing/2014/main" id="{3EBAE002-7F2C-498C-87C0-D7F232D5C57C}"/>
              </a:ext>
            </a:extLst>
          </p:cNvPr>
          <p:cNvSpPr txBox="1"/>
          <p:nvPr/>
        </p:nvSpPr>
        <p:spPr>
          <a:xfrm>
            <a:off x="4918896" y="3383656"/>
            <a:ext cx="953311" cy="369332"/>
          </a:xfrm>
          <a:prstGeom prst="rect">
            <a:avLst/>
          </a:prstGeom>
          <a:solidFill>
            <a:schemeClr val="accent1">
              <a:lumMod val="40000"/>
              <a:lumOff val="6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SP 5</a:t>
            </a:r>
          </a:p>
        </p:txBody>
      </p:sp>
      <p:sp>
        <p:nvSpPr>
          <p:cNvPr id="101" name="TextBox 100">
            <a:extLst>
              <a:ext uri="{FF2B5EF4-FFF2-40B4-BE49-F238E27FC236}">
                <a16:creationId xmlns:a16="http://schemas.microsoft.com/office/drawing/2014/main" id="{E78A86E7-D6A6-4BCC-AB0A-BCA7616C94A6}"/>
              </a:ext>
            </a:extLst>
          </p:cNvPr>
          <p:cNvSpPr txBox="1"/>
          <p:nvPr/>
        </p:nvSpPr>
        <p:spPr>
          <a:xfrm>
            <a:off x="5858434" y="3388999"/>
            <a:ext cx="953311" cy="369332"/>
          </a:xfrm>
          <a:prstGeom prst="rect">
            <a:avLst/>
          </a:prstGeom>
          <a:solidFill>
            <a:schemeClr val="accent1">
              <a:lumMod val="40000"/>
              <a:lumOff val="6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SP 4</a:t>
            </a:r>
          </a:p>
        </p:txBody>
      </p:sp>
      <p:sp>
        <p:nvSpPr>
          <p:cNvPr id="102" name="TextBox 101">
            <a:extLst>
              <a:ext uri="{FF2B5EF4-FFF2-40B4-BE49-F238E27FC236}">
                <a16:creationId xmlns:a16="http://schemas.microsoft.com/office/drawing/2014/main" id="{8632A4B3-B341-4D3B-9A2A-A4F6FE376BEC}"/>
              </a:ext>
            </a:extLst>
          </p:cNvPr>
          <p:cNvSpPr txBox="1"/>
          <p:nvPr/>
        </p:nvSpPr>
        <p:spPr>
          <a:xfrm>
            <a:off x="6813027" y="3384628"/>
            <a:ext cx="953311" cy="369332"/>
          </a:xfrm>
          <a:prstGeom prst="rect">
            <a:avLst/>
          </a:prstGeom>
          <a:solidFill>
            <a:schemeClr val="accent1">
              <a:lumMod val="40000"/>
              <a:lumOff val="6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SP 3</a:t>
            </a:r>
          </a:p>
        </p:txBody>
      </p:sp>
      <p:sp>
        <p:nvSpPr>
          <p:cNvPr id="103" name="TextBox 102">
            <a:extLst>
              <a:ext uri="{FF2B5EF4-FFF2-40B4-BE49-F238E27FC236}">
                <a16:creationId xmlns:a16="http://schemas.microsoft.com/office/drawing/2014/main" id="{EC1CA159-1B11-4687-BAA5-B18BFB3A0964}"/>
              </a:ext>
            </a:extLst>
          </p:cNvPr>
          <p:cNvSpPr txBox="1"/>
          <p:nvPr/>
        </p:nvSpPr>
        <p:spPr>
          <a:xfrm>
            <a:off x="7752565" y="3389971"/>
            <a:ext cx="953311" cy="369332"/>
          </a:xfrm>
          <a:prstGeom prst="rect">
            <a:avLst/>
          </a:prstGeom>
          <a:solidFill>
            <a:schemeClr val="accent1">
              <a:lumMod val="40000"/>
              <a:lumOff val="6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SP 2</a:t>
            </a:r>
          </a:p>
        </p:txBody>
      </p:sp>
      <p:sp>
        <p:nvSpPr>
          <p:cNvPr id="104" name="TextBox 103">
            <a:extLst>
              <a:ext uri="{FF2B5EF4-FFF2-40B4-BE49-F238E27FC236}">
                <a16:creationId xmlns:a16="http://schemas.microsoft.com/office/drawing/2014/main" id="{6C30B5F7-81DE-401F-BF82-1F224A754CC2}"/>
              </a:ext>
            </a:extLst>
          </p:cNvPr>
          <p:cNvSpPr txBox="1"/>
          <p:nvPr/>
        </p:nvSpPr>
        <p:spPr>
          <a:xfrm>
            <a:off x="8704657" y="3395377"/>
            <a:ext cx="953311" cy="369332"/>
          </a:xfrm>
          <a:prstGeom prst="rect">
            <a:avLst/>
          </a:prstGeom>
          <a:solidFill>
            <a:schemeClr val="accent1">
              <a:lumMod val="40000"/>
              <a:lumOff val="6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SP 1</a:t>
            </a:r>
          </a:p>
        </p:txBody>
      </p:sp>
      <p:sp>
        <p:nvSpPr>
          <p:cNvPr id="105" name="TextBox 104">
            <a:extLst>
              <a:ext uri="{FF2B5EF4-FFF2-40B4-BE49-F238E27FC236}">
                <a16:creationId xmlns:a16="http://schemas.microsoft.com/office/drawing/2014/main" id="{D45C7C4C-4EDF-4FCD-BC1C-DD1F448AEB6D}"/>
              </a:ext>
            </a:extLst>
          </p:cNvPr>
          <p:cNvSpPr txBox="1"/>
          <p:nvPr/>
        </p:nvSpPr>
        <p:spPr>
          <a:xfrm>
            <a:off x="9644195" y="3400720"/>
            <a:ext cx="953311" cy="369332"/>
          </a:xfrm>
          <a:prstGeom prst="rect">
            <a:avLst/>
          </a:prstGeom>
          <a:solidFill>
            <a:schemeClr val="accent1">
              <a:lumMod val="40000"/>
              <a:lumOff val="6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SP 0</a:t>
            </a:r>
          </a:p>
        </p:txBody>
      </p:sp>
      <p:sp>
        <p:nvSpPr>
          <p:cNvPr id="4" name="TextBox 3">
            <a:extLst>
              <a:ext uri="{FF2B5EF4-FFF2-40B4-BE49-F238E27FC236}">
                <a16:creationId xmlns:a16="http://schemas.microsoft.com/office/drawing/2014/main" id="{C0FC0BAC-DDE4-4663-AE37-29247E1EBDC7}"/>
              </a:ext>
            </a:extLst>
          </p:cNvPr>
          <p:cNvSpPr txBox="1"/>
          <p:nvPr/>
        </p:nvSpPr>
        <p:spPr>
          <a:xfrm>
            <a:off x="10492486" y="101294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106" name="TextBox 105">
            <a:extLst>
              <a:ext uri="{FF2B5EF4-FFF2-40B4-BE49-F238E27FC236}">
                <a16:creationId xmlns:a16="http://schemas.microsoft.com/office/drawing/2014/main" id="{C76F102B-1614-45EA-AD03-CAE356EEE74C}"/>
              </a:ext>
            </a:extLst>
          </p:cNvPr>
          <p:cNvSpPr txBox="1"/>
          <p:nvPr/>
        </p:nvSpPr>
        <p:spPr>
          <a:xfrm>
            <a:off x="2795844" y="992270"/>
            <a:ext cx="569387" cy="369332"/>
          </a:xfrm>
          <a:prstGeom prst="rect">
            <a:avLst/>
          </a:prstGeom>
          <a:noFill/>
        </p:spPr>
        <p:txBody>
          <a:bodyPr wrap="none" rtlCol="0" anchor="ctr" anchorCtr="1">
            <a:spAutoFit/>
          </a:bodyPr>
          <a:lstStyle/>
          <a:p>
            <a:r>
              <a:rPr lang="en-US" dirty="0">
                <a:ea typeface="標楷體" pitchFamily="65" charset="-120"/>
                <a:cs typeface="Calibri" pitchFamily="34" charset="0"/>
              </a:rPr>
              <a:t>255</a:t>
            </a:r>
          </a:p>
        </p:txBody>
      </p:sp>
    </p:spTree>
    <p:extLst>
      <p:ext uri="{BB962C8B-B14F-4D97-AF65-F5344CB8AC3E}">
        <p14:creationId xmlns:p14="http://schemas.microsoft.com/office/powerpoint/2010/main" val="1231725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Nvidia GPU Architecture</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30</a:t>
            </a:fld>
            <a:endParaRPr lang="zh-TW" altLang="en-US"/>
          </a:p>
        </p:txBody>
      </p:sp>
      <p:pic>
        <p:nvPicPr>
          <p:cNvPr id="5" name="Content Placeholder 4">
            <a:extLst>
              <a:ext uri="{FF2B5EF4-FFF2-40B4-BE49-F238E27FC236}">
                <a16:creationId xmlns:a16="http://schemas.microsoft.com/office/drawing/2014/main" id="{4320D1D7-5199-443F-8338-AD60468C1A09}"/>
              </a:ext>
            </a:extLst>
          </p:cNvPr>
          <p:cNvPicPr>
            <a:picLocks noGrp="1" noChangeAspect="1"/>
          </p:cNvPicPr>
          <p:nvPr>
            <p:ph idx="1"/>
          </p:nvPr>
        </p:nvPicPr>
        <p:blipFill>
          <a:blip r:embed="rId3"/>
          <a:stretch>
            <a:fillRect/>
          </a:stretch>
        </p:blipFill>
        <p:spPr>
          <a:xfrm>
            <a:off x="214009" y="1021404"/>
            <a:ext cx="11977991" cy="4795735"/>
          </a:xfrm>
          <a:prstGeom prst="rect">
            <a:avLst/>
          </a:prstGeom>
        </p:spPr>
      </p:pic>
    </p:spTree>
    <p:extLst>
      <p:ext uri="{BB962C8B-B14F-4D97-AF65-F5344CB8AC3E}">
        <p14:creationId xmlns:p14="http://schemas.microsoft.com/office/powerpoint/2010/main" val="42949197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
        <p:nvSpPr>
          <p:cNvPr id="10" name="Title 3">
            <a:extLst>
              <a:ext uri="{FF2B5EF4-FFF2-40B4-BE49-F238E27FC236}">
                <a16:creationId xmlns:a16="http://schemas.microsoft.com/office/drawing/2014/main" id="{7FA42CA0-C88E-4EDF-9859-3A0F65C1B7F3}"/>
              </a:ext>
            </a:extLst>
          </p:cNvPr>
          <p:cNvSpPr txBox="1">
            <a:spLocks/>
          </p:cNvSpPr>
          <p:nvPr/>
        </p:nvSpPr>
        <p:spPr bwMode="auto">
          <a:xfrm>
            <a:off x="1136441" y="116733"/>
            <a:ext cx="9125220" cy="59739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kumimoji="1" sz="5333"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a:lstStyle>
          <a:p>
            <a:r>
              <a:rPr lang="en-US" altLang="zh-TW" sz="4000" kern="0" dirty="0">
                <a:latin typeface="Times New Roman" panose="02020603050405020304" pitchFamily="18" charset="0"/>
                <a:cs typeface="Times New Roman" panose="02020603050405020304" pitchFamily="18" charset="0"/>
              </a:rPr>
              <a:t>A Sample CUDA Kernel</a:t>
            </a:r>
            <a:endParaRPr lang="zh-TW" altLang="en-US" sz="4000" kern="0" dirty="0">
              <a:latin typeface="Times New Roman" panose="02020603050405020304" pitchFamily="18" charset="0"/>
              <a:cs typeface="Times New Roman" panose="02020603050405020304" pitchFamily="18" charset="0"/>
            </a:endParaRPr>
          </a:p>
        </p:txBody>
      </p:sp>
      <p:cxnSp>
        <p:nvCxnSpPr>
          <p:cNvPr id="98" name="Straight Arrow Connector 97">
            <a:extLst>
              <a:ext uri="{FF2B5EF4-FFF2-40B4-BE49-F238E27FC236}">
                <a16:creationId xmlns:a16="http://schemas.microsoft.com/office/drawing/2014/main" id="{F50FF073-8DE7-4DA4-985F-F3594E8A7E88}"/>
              </a:ext>
            </a:extLst>
          </p:cNvPr>
          <p:cNvCxnSpPr/>
          <p:nvPr/>
        </p:nvCxnSpPr>
        <p:spPr bwMode="auto">
          <a:xfrm>
            <a:off x="3399514" y="3189767"/>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99" name="Straight Arrow Connector 98">
            <a:extLst>
              <a:ext uri="{FF2B5EF4-FFF2-40B4-BE49-F238E27FC236}">
                <a16:creationId xmlns:a16="http://schemas.microsoft.com/office/drawing/2014/main" id="{8767C6D8-380F-4D8E-9EF6-BA865BA63CA0}"/>
              </a:ext>
            </a:extLst>
          </p:cNvPr>
          <p:cNvCxnSpPr/>
          <p:nvPr/>
        </p:nvCxnSpPr>
        <p:spPr bwMode="auto">
          <a:xfrm>
            <a:off x="3477486" y="3189766"/>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00" name="Straight Arrow Connector 99">
            <a:extLst>
              <a:ext uri="{FF2B5EF4-FFF2-40B4-BE49-F238E27FC236}">
                <a16:creationId xmlns:a16="http://schemas.microsoft.com/office/drawing/2014/main" id="{061BE8AF-31AD-412B-8DB1-E4F57C989682}"/>
              </a:ext>
            </a:extLst>
          </p:cNvPr>
          <p:cNvCxnSpPr/>
          <p:nvPr/>
        </p:nvCxnSpPr>
        <p:spPr bwMode="auto">
          <a:xfrm>
            <a:off x="3583812" y="3189766"/>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01" name="Straight Arrow Connector 100">
            <a:extLst>
              <a:ext uri="{FF2B5EF4-FFF2-40B4-BE49-F238E27FC236}">
                <a16:creationId xmlns:a16="http://schemas.microsoft.com/office/drawing/2014/main" id="{DA88E89E-9F43-40A5-B2D0-459A0CE29E13}"/>
              </a:ext>
            </a:extLst>
          </p:cNvPr>
          <p:cNvCxnSpPr/>
          <p:nvPr/>
        </p:nvCxnSpPr>
        <p:spPr bwMode="auto">
          <a:xfrm>
            <a:off x="3661784" y="3189765"/>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02" name="Straight Arrow Connector 101">
            <a:extLst>
              <a:ext uri="{FF2B5EF4-FFF2-40B4-BE49-F238E27FC236}">
                <a16:creationId xmlns:a16="http://schemas.microsoft.com/office/drawing/2014/main" id="{0224A88E-3592-4E18-B87B-DBA5FAAD1FB7}"/>
              </a:ext>
            </a:extLst>
          </p:cNvPr>
          <p:cNvCxnSpPr/>
          <p:nvPr/>
        </p:nvCxnSpPr>
        <p:spPr bwMode="auto">
          <a:xfrm>
            <a:off x="3764565" y="3189766"/>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03" name="Straight Arrow Connector 102">
            <a:extLst>
              <a:ext uri="{FF2B5EF4-FFF2-40B4-BE49-F238E27FC236}">
                <a16:creationId xmlns:a16="http://schemas.microsoft.com/office/drawing/2014/main" id="{A6876460-3D5A-4145-8247-79AF9243D8B2}"/>
              </a:ext>
            </a:extLst>
          </p:cNvPr>
          <p:cNvCxnSpPr/>
          <p:nvPr/>
        </p:nvCxnSpPr>
        <p:spPr bwMode="auto">
          <a:xfrm>
            <a:off x="3842537" y="3189765"/>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04" name="Straight Arrow Connector 103">
            <a:extLst>
              <a:ext uri="{FF2B5EF4-FFF2-40B4-BE49-F238E27FC236}">
                <a16:creationId xmlns:a16="http://schemas.microsoft.com/office/drawing/2014/main" id="{25E1D0AA-FE4B-4135-92A9-7E55EB75E5A2}"/>
              </a:ext>
            </a:extLst>
          </p:cNvPr>
          <p:cNvCxnSpPr/>
          <p:nvPr/>
        </p:nvCxnSpPr>
        <p:spPr bwMode="auto">
          <a:xfrm>
            <a:off x="3948863" y="3189765"/>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05" name="Straight Arrow Connector 104">
            <a:extLst>
              <a:ext uri="{FF2B5EF4-FFF2-40B4-BE49-F238E27FC236}">
                <a16:creationId xmlns:a16="http://schemas.microsoft.com/office/drawing/2014/main" id="{30D3048A-C3FA-45CB-AC0B-74F6E0ABD3EC}"/>
              </a:ext>
            </a:extLst>
          </p:cNvPr>
          <p:cNvCxnSpPr/>
          <p:nvPr/>
        </p:nvCxnSpPr>
        <p:spPr bwMode="auto">
          <a:xfrm>
            <a:off x="4026835"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06" name="Straight Arrow Connector 105">
            <a:extLst>
              <a:ext uri="{FF2B5EF4-FFF2-40B4-BE49-F238E27FC236}">
                <a16:creationId xmlns:a16="http://schemas.microsoft.com/office/drawing/2014/main" id="{D272DD40-D768-4C9A-9D34-1135093176F1}"/>
              </a:ext>
            </a:extLst>
          </p:cNvPr>
          <p:cNvCxnSpPr/>
          <p:nvPr/>
        </p:nvCxnSpPr>
        <p:spPr bwMode="auto">
          <a:xfrm>
            <a:off x="4115440" y="3189766"/>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5FE748B8-C073-4693-A15D-50C9696729CD}"/>
              </a:ext>
            </a:extLst>
          </p:cNvPr>
          <p:cNvCxnSpPr/>
          <p:nvPr/>
        </p:nvCxnSpPr>
        <p:spPr bwMode="auto">
          <a:xfrm>
            <a:off x="4193412" y="3189765"/>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08" name="Straight Arrow Connector 107">
            <a:extLst>
              <a:ext uri="{FF2B5EF4-FFF2-40B4-BE49-F238E27FC236}">
                <a16:creationId xmlns:a16="http://schemas.microsoft.com/office/drawing/2014/main" id="{DD99A50B-CC7D-45BA-95AB-9BAAFBF4DFA2}"/>
              </a:ext>
            </a:extLst>
          </p:cNvPr>
          <p:cNvCxnSpPr/>
          <p:nvPr/>
        </p:nvCxnSpPr>
        <p:spPr bwMode="auto">
          <a:xfrm>
            <a:off x="4299738" y="3189765"/>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09" name="Straight Arrow Connector 108">
            <a:extLst>
              <a:ext uri="{FF2B5EF4-FFF2-40B4-BE49-F238E27FC236}">
                <a16:creationId xmlns:a16="http://schemas.microsoft.com/office/drawing/2014/main" id="{E16D020B-8EDC-4C44-B296-FD7DDB310B11}"/>
              </a:ext>
            </a:extLst>
          </p:cNvPr>
          <p:cNvCxnSpPr/>
          <p:nvPr/>
        </p:nvCxnSpPr>
        <p:spPr bwMode="auto">
          <a:xfrm>
            <a:off x="4377710"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10" name="Straight Arrow Connector 109">
            <a:extLst>
              <a:ext uri="{FF2B5EF4-FFF2-40B4-BE49-F238E27FC236}">
                <a16:creationId xmlns:a16="http://schemas.microsoft.com/office/drawing/2014/main" id="{A9809629-7F9B-4D33-BC67-B21F56A44EBA}"/>
              </a:ext>
            </a:extLst>
          </p:cNvPr>
          <p:cNvCxnSpPr/>
          <p:nvPr/>
        </p:nvCxnSpPr>
        <p:spPr bwMode="auto">
          <a:xfrm>
            <a:off x="4480491" y="3189765"/>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11" name="Straight Arrow Connector 110">
            <a:extLst>
              <a:ext uri="{FF2B5EF4-FFF2-40B4-BE49-F238E27FC236}">
                <a16:creationId xmlns:a16="http://schemas.microsoft.com/office/drawing/2014/main" id="{843D6CBD-8641-4D2F-9792-71209C9BE872}"/>
              </a:ext>
            </a:extLst>
          </p:cNvPr>
          <p:cNvCxnSpPr/>
          <p:nvPr/>
        </p:nvCxnSpPr>
        <p:spPr bwMode="auto">
          <a:xfrm>
            <a:off x="4558463"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12" name="Straight Arrow Connector 111">
            <a:extLst>
              <a:ext uri="{FF2B5EF4-FFF2-40B4-BE49-F238E27FC236}">
                <a16:creationId xmlns:a16="http://schemas.microsoft.com/office/drawing/2014/main" id="{02ECC5A8-EA5C-4C97-96C1-B0F20EB17BA3}"/>
              </a:ext>
            </a:extLst>
          </p:cNvPr>
          <p:cNvCxnSpPr/>
          <p:nvPr/>
        </p:nvCxnSpPr>
        <p:spPr bwMode="auto">
          <a:xfrm>
            <a:off x="4664789"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13" name="Straight Arrow Connector 112">
            <a:extLst>
              <a:ext uri="{FF2B5EF4-FFF2-40B4-BE49-F238E27FC236}">
                <a16:creationId xmlns:a16="http://schemas.microsoft.com/office/drawing/2014/main" id="{81E4F1AB-B10C-414F-9A4B-03D3A5DD8814}"/>
              </a:ext>
            </a:extLst>
          </p:cNvPr>
          <p:cNvCxnSpPr/>
          <p:nvPr/>
        </p:nvCxnSpPr>
        <p:spPr bwMode="auto">
          <a:xfrm>
            <a:off x="4742761"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14" name="Straight Arrow Connector 113">
            <a:extLst>
              <a:ext uri="{FF2B5EF4-FFF2-40B4-BE49-F238E27FC236}">
                <a16:creationId xmlns:a16="http://schemas.microsoft.com/office/drawing/2014/main" id="{397104DD-3DCF-4054-92F3-3F19990EFEA3}"/>
              </a:ext>
            </a:extLst>
          </p:cNvPr>
          <p:cNvCxnSpPr/>
          <p:nvPr/>
        </p:nvCxnSpPr>
        <p:spPr bwMode="auto">
          <a:xfrm>
            <a:off x="4817188" y="3189766"/>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15" name="Straight Arrow Connector 114">
            <a:extLst>
              <a:ext uri="{FF2B5EF4-FFF2-40B4-BE49-F238E27FC236}">
                <a16:creationId xmlns:a16="http://schemas.microsoft.com/office/drawing/2014/main" id="{0B09B471-9A78-4C56-9FE1-5F86DC281845}"/>
              </a:ext>
            </a:extLst>
          </p:cNvPr>
          <p:cNvCxnSpPr/>
          <p:nvPr/>
        </p:nvCxnSpPr>
        <p:spPr bwMode="auto">
          <a:xfrm>
            <a:off x="4895160" y="3189765"/>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16" name="Straight Arrow Connector 115">
            <a:extLst>
              <a:ext uri="{FF2B5EF4-FFF2-40B4-BE49-F238E27FC236}">
                <a16:creationId xmlns:a16="http://schemas.microsoft.com/office/drawing/2014/main" id="{CFB4C12B-0B83-46F3-BA9E-5BB30A49CBF8}"/>
              </a:ext>
            </a:extLst>
          </p:cNvPr>
          <p:cNvCxnSpPr/>
          <p:nvPr/>
        </p:nvCxnSpPr>
        <p:spPr bwMode="auto">
          <a:xfrm>
            <a:off x="5001486" y="3189765"/>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17" name="Straight Arrow Connector 116">
            <a:extLst>
              <a:ext uri="{FF2B5EF4-FFF2-40B4-BE49-F238E27FC236}">
                <a16:creationId xmlns:a16="http://schemas.microsoft.com/office/drawing/2014/main" id="{AE1773EA-8FE0-4DC3-926E-E6F205ACA707}"/>
              </a:ext>
            </a:extLst>
          </p:cNvPr>
          <p:cNvCxnSpPr/>
          <p:nvPr/>
        </p:nvCxnSpPr>
        <p:spPr bwMode="auto">
          <a:xfrm>
            <a:off x="5079458"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18" name="Straight Arrow Connector 117">
            <a:extLst>
              <a:ext uri="{FF2B5EF4-FFF2-40B4-BE49-F238E27FC236}">
                <a16:creationId xmlns:a16="http://schemas.microsoft.com/office/drawing/2014/main" id="{21C7DD32-031A-4560-B824-E8C6849878C9}"/>
              </a:ext>
            </a:extLst>
          </p:cNvPr>
          <p:cNvCxnSpPr/>
          <p:nvPr/>
        </p:nvCxnSpPr>
        <p:spPr bwMode="auto">
          <a:xfrm>
            <a:off x="5182239" y="3189765"/>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19" name="Straight Arrow Connector 118">
            <a:extLst>
              <a:ext uri="{FF2B5EF4-FFF2-40B4-BE49-F238E27FC236}">
                <a16:creationId xmlns:a16="http://schemas.microsoft.com/office/drawing/2014/main" id="{0C853570-7053-4C0C-B801-64A07354C4E1}"/>
              </a:ext>
            </a:extLst>
          </p:cNvPr>
          <p:cNvCxnSpPr/>
          <p:nvPr/>
        </p:nvCxnSpPr>
        <p:spPr bwMode="auto">
          <a:xfrm>
            <a:off x="5260211"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20" name="Straight Arrow Connector 119">
            <a:extLst>
              <a:ext uri="{FF2B5EF4-FFF2-40B4-BE49-F238E27FC236}">
                <a16:creationId xmlns:a16="http://schemas.microsoft.com/office/drawing/2014/main" id="{F8988626-7900-48CF-B0DD-F9123A576FE1}"/>
              </a:ext>
            </a:extLst>
          </p:cNvPr>
          <p:cNvCxnSpPr/>
          <p:nvPr/>
        </p:nvCxnSpPr>
        <p:spPr bwMode="auto">
          <a:xfrm>
            <a:off x="5366537"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21" name="Straight Arrow Connector 120">
            <a:extLst>
              <a:ext uri="{FF2B5EF4-FFF2-40B4-BE49-F238E27FC236}">
                <a16:creationId xmlns:a16="http://schemas.microsoft.com/office/drawing/2014/main" id="{36C5A4CB-0EBB-44FD-A783-C26A2A7060E2}"/>
              </a:ext>
            </a:extLst>
          </p:cNvPr>
          <p:cNvCxnSpPr/>
          <p:nvPr/>
        </p:nvCxnSpPr>
        <p:spPr bwMode="auto">
          <a:xfrm>
            <a:off x="5444509"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22" name="Straight Arrow Connector 121">
            <a:extLst>
              <a:ext uri="{FF2B5EF4-FFF2-40B4-BE49-F238E27FC236}">
                <a16:creationId xmlns:a16="http://schemas.microsoft.com/office/drawing/2014/main" id="{913FF233-6B41-406C-9BA2-B276596E1BCC}"/>
              </a:ext>
            </a:extLst>
          </p:cNvPr>
          <p:cNvCxnSpPr/>
          <p:nvPr/>
        </p:nvCxnSpPr>
        <p:spPr bwMode="auto">
          <a:xfrm>
            <a:off x="5533114" y="3189765"/>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23" name="Straight Arrow Connector 122">
            <a:extLst>
              <a:ext uri="{FF2B5EF4-FFF2-40B4-BE49-F238E27FC236}">
                <a16:creationId xmlns:a16="http://schemas.microsoft.com/office/drawing/2014/main" id="{665D8227-E11C-44F5-99FD-D11F39C5AC45}"/>
              </a:ext>
            </a:extLst>
          </p:cNvPr>
          <p:cNvCxnSpPr/>
          <p:nvPr/>
        </p:nvCxnSpPr>
        <p:spPr bwMode="auto">
          <a:xfrm>
            <a:off x="5611086"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24" name="Straight Arrow Connector 123">
            <a:extLst>
              <a:ext uri="{FF2B5EF4-FFF2-40B4-BE49-F238E27FC236}">
                <a16:creationId xmlns:a16="http://schemas.microsoft.com/office/drawing/2014/main" id="{7C52F17C-B0FF-4F6B-BF93-DFE02F3F9A65}"/>
              </a:ext>
            </a:extLst>
          </p:cNvPr>
          <p:cNvCxnSpPr/>
          <p:nvPr/>
        </p:nvCxnSpPr>
        <p:spPr bwMode="auto">
          <a:xfrm>
            <a:off x="5717412"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25" name="Straight Arrow Connector 124">
            <a:extLst>
              <a:ext uri="{FF2B5EF4-FFF2-40B4-BE49-F238E27FC236}">
                <a16:creationId xmlns:a16="http://schemas.microsoft.com/office/drawing/2014/main" id="{18297F8E-E7E8-42C0-981F-6AFF77623ADA}"/>
              </a:ext>
            </a:extLst>
          </p:cNvPr>
          <p:cNvCxnSpPr/>
          <p:nvPr/>
        </p:nvCxnSpPr>
        <p:spPr bwMode="auto">
          <a:xfrm>
            <a:off x="5795384"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26" name="Straight Arrow Connector 125">
            <a:extLst>
              <a:ext uri="{FF2B5EF4-FFF2-40B4-BE49-F238E27FC236}">
                <a16:creationId xmlns:a16="http://schemas.microsoft.com/office/drawing/2014/main" id="{7B67EBB1-DD18-46A7-A675-7292DFC32D0A}"/>
              </a:ext>
            </a:extLst>
          </p:cNvPr>
          <p:cNvCxnSpPr/>
          <p:nvPr/>
        </p:nvCxnSpPr>
        <p:spPr bwMode="auto">
          <a:xfrm>
            <a:off x="5898165"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27" name="Straight Arrow Connector 126">
            <a:extLst>
              <a:ext uri="{FF2B5EF4-FFF2-40B4-BE49-F238E27FC236}">
                <a16:creationId xmlns:a16="http://schemas.microsoft.com/office/drawing/2014/main" id="{BCEC4075-BA19-4BE4-B6D3-B1AFC317A430}"/>
              </a:ext>
            </a:extLst>
          </p:cNvPr>
          <p:cNvCxnSpPr/>
          <p:nvPr/>
        </p:nvCxnSpPr>
        <p:spPr bwMode="auto">
          <a:xfrm>
            <a:off x="5976137"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28" name="Straight Arrow Connector 127">
            <a:extLst>
              <a:ext uri="{FF2B5EF4-FFF2-40B4-BE49-F238E27FC236}">
                <a16:creationId xmlns:a16="http://schemas.microsoft.com/office/drawing/2014/main" id="{60A83274-35B3-4BCE-8749-3195B5BAADC2}"/>
              </a:ext>
            </a:extLst>
          </p:cNvPr>
          <p:cNvCxnSpPr/>
          <p:nvPr/>
        </p:nvCxnSpPr>
        <p:spPr bwMode="auto">
          <a:xfrm>
            <a:off x="6082463"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29" name="Straight Arrow Connector 128">
            <a:extLst>
              <a:ext uri="{FF2B5EF4-FFF2-40B4-BE49-F238E27FC236}">
                <a16:creationId xmlns:a16="http://schemas.microsoft.com/office/drawing/2014/main" id="{1E054B7C-0D64-448F-A30F-D90C69B669A5}"/>
              </a:ext>
            </a:extLst>
          </p:cNvPr>
          <p:cNvCxnSpPr/>
          <p:nvPr/>
        </p:nvCxnSpPr>
        <p:spPr bwMode="auto">
          <a:xfrm>
            <a:off x="6160435" y="3189762"/>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30" name="Straight Arrow Connector 129">
            <a:extLst>
              <a:ext uri="{FF2B5EF4-FFF2-40B4-BE49-F238E27FC236}">
                <a16:creationId xmlns:a16="http://schemas.microsoft.com/office/drawing/2014/main" id="{8E0C2096-0E3B-4139-BEE2-1C6D87D05C14}"/>
              </a:ext>
            </a:extLst>
          </p:cNvPr>
          <p:cNvCxnSpPr/>
          <p:nvPr/>
        </p:nvCxnSpPr>
        <p:spPr bwMode="auto">
          <a:xfrm>
            <a:off x="6231319" y="3189765"/>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31" name="Straight Arrow Connector 130">
            <a:extLst>
              <a:ext uri="{FF2B5EF4-FFF2-40B4-BE49-F238E27FC236}">
                <a16:creationId xmlns:a16="http://schemas.microsoft.com/office/drawing/2014/main" id="{1809EFBA-5A22-4ED8-9B68-D29B5C1EC56F}"/>
              </a:ext>
            </a:extLst>
          </p:cNvPr>
          <p:cNvCxnSpPr/>
          <p:nvPr/>
        </p:nvCxnSpPr>
        <p:spPr bwMode="auto">
          <a:xfrm>
            <a:off x="6309291"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32" name="Straight Arrow Connector 131">
            <a:extLst>
              <a:ext uri="{FF2B5EF4-FFF2-40B4-BE49-F238E27FC236}">
                <a16:creationId xmlns:a16="http://schemas.microsoft.com/office/drawing/2014/main" id="{0BA1064C-C80F-43AD-8E82-294AE91C2284}"/>
              </a:ext>
            </a:extLst>
          </p:cNvPr>
          <p:cNvCxnSpPr/>
          <p:nvPr/>
        </p:nvCxnSpPr>
        <p:spPr bwMode="auto">
          <a:xfrm>
            <a:off x="6415617"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33" name="Straight Arrow Connector 132">
            <a:extLst>
              <a:ext uri="{FF2B5EF4-FFF2-40B4-BE49-F238E27FC236}">
                <a16:creationId xmlns:a16="http://schemas.microsoft.com/office/drawing/2014/main" id="{4E4FD8A9-1A64-43E6-AC6F-9E4CA653B493}"/>
              </a:ext>
            </a:extLst>
          </p:cNvPr>
          <p:cNvCxnSpPr/>
          <p:nvPr/>
        </p:nvCxnSpPr>
        <p:spPr bwMode="auto">
          <a:xfrm>
            <a:off x="6493589"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34" name="Straight Arrow Connector 133">
            <a:extLst>
              <a:ext uri="{FF2B5EF4-FFF2-40B4-BE49-F238E27FC236}">
                <a16:creationId xmlns:a16="http://schemas.microsoft.com/office/drawing/2014/main" id="{8255E66F-E035-4D21-BD2E-3311D6436AE5}"/>
              </a:ext>
            </a:extLst>
          </p:cNvPr>
          <p:cNvCxnSpPr/>
          <p:nvPr/>
        </p:nvCxnSpPr>
        <p:spPr bwMode="auto">
          <a:xfrm>
            <a:off x="6596370"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35" name="Straight Arrow Connector 134">
            <a:extLst>
              <a:ext uri="{FF2B5EF4-FFF2-40B4-BE49-F238E27FC236}">
                <a16:creationId xmlns:a16="http://schemas.microsoft.com/office/drawing/2014/main" id="{E31D2085-85E6-4B39-B860-D2034622E426}"/>
              </a:ext>
            </a:extLst>
          </p:cNvPr>
          <p:cNvCxnSpPr/>
          <p:nvPr/>
        </p:nvCxnSpPr>
        <p:spPr bwMode="auto">
          <a:xfrm>
            <a:off x="6674342"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36" name="Straight Arrow Connector 135">
            <a:extLst>
              <a:ext uri="{FF2B5EF4-FFF2-40B4-BE49-F238E27FC236}">
                <a16:creationId xmlns:a16="http://schemas.microsoft.com/office/drawing/2014/main" id="{59701211-DF21-4D31-832F-2E3BDAB7FB12}"/>
              </a:ext>
            </a:extLst>
          </p:cNvPr>
          <p:cNvCxnSpPr/>
          <p:nvPr/>
        </p:nvCxnSpPr>
        <p:spPr bwMode="auto">
          <a:xfrm>
            <a:off x="6780668"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37" name="Straight Arrow Connector 136">
            <a:extLst>
              <a:ext uri="{FF2B5EF4-FFF2-40B4-BE49-F238E27FC236}">
                <a16:creationId xmlns:a16="http://schemas.microsoft.com/office/drawing/2014/main" id="{3B0ADA5C-9C28-4793-BD38-388859D25BAF}"/>
              </a:ext>
            </a:extLst>
          </p:cNvPr>
          <p:cNvCxnSpPr/>
          <p:nvPr/>
        </p:nvCxnSpPr>
        <p:spPr bwMode="auto">
          <a:xfrm>
            <a:off x="6858640" y="3189762"/>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38" name="Straight Arrow Connector 137">
            <a:extLst>
              <a:ext uri="{FF2B5EF4-FFF2-40B4-BE49-F238E27FC236}">
                <a16:creationId xmlns:a16="http://schemas.microsoft.com/office/drawing/2014/main" id="{DEBFD773-07B2-42D2-8B8F-40697A6B1662}"/>
              </a:ext>
            </a:extLst>
          </p:cNvPr>
          <p:cNvCxnSpPr/>
          <p:nvPr/>
        </p:nvCxnSpPr>
        <p:spPr bwMode="auto">
          <a:xfrm>
            <a:off x="6947245"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39" name="Straight Arrow Connector 138">
            <a:extLst>
              <a:ext uri="{FF2B5EF4-FFF2-40B4-BE49-F238E27FC236}">
                <a16:creationId xmlns:a16="http://schemas.microsoft.com/office/drawing/2014/main" id="{CD986338-94B8-49DC-AD16-B96294532E48}"/>
              </a:ext>
            </a:extLst>
          </p:cNvPr>
          <p:cNvCxnSpPr/>
          <p:nvPr/>
        </p:nvCxnSpPr>
        <p:spPr bwMode="auto">
          <a:xfrm>
            <a:off x="7025217"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40" name="Straight Arrow Connector 139">
            <a:extLst>
              <a:ext uri="{FF2B5EF4-FFF2-40B4-BE49-F238E27FC236}">
                <a16:creationId xmlns:a16="http://schemas.microsoft.com/office/drawing/2014/main" id="{96F5F825-D14B-448D-B5B0-1A2B1FCDCBD0}"/>
              </a:ext>
            </a:extLst>
          </p:cNvPr>
          <p:cNvCxnSpPr/>
          <p:nvPr/>
        </p:nvCxnSpPr>
        <p:spPr bwMode="auto">
          <a:xfrm>
            <a:off x="7131543"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41" name="Straight Arrow Connector 140">
            <a:extLst>
              <a:ext uri="{FF2B5EF4-FFF2-40B4-BE49-F238E27FC236}">
                <a16:creationId xmlns:a16="http://schemas.microsoft.com/office/drawing/2014/main" id="{3C3D9254-E07B-46F6-AB5A-33DCD075B547}"/>
              </a:ext>
            </a:extLst>
          </p:cNvPr>
          <p:cNvCxnSpPr/>
          <p:nvPr/>
        </p:nvCxnSpPr>
        <p:spPr bwMode="auto">
          <a:xfrm>
            <a:off x="7209515" y="3189762"/>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42" name="Straight Arrow Connector 141">
            <a:extLst>
              <a:ext uri="{FF2B5EF4-FFF2-40B4-BE49-F238E27FC236}">
                <a16:creationId xmlns:a16="http://schemas.microsoft.com/office/drawing/2014/main" id="{156248C0-656F-4DC1-8234-ECD72FFF7621}"/>
              </a:ext>
            </a:extLst>
          </p:cNvPr>
          <p:cNvCxnSpPr/>
          <p:nvPr/>
        </p:nvCxnSpPr>
        <p:spPr bwMode="auto">
          <a:xfrm>
            <a:off x="7312296"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43" name="Straight Arrow Connector 142">
            <a:extLst>
              <a:ext uri="{FF2B5EF4-FFF2-40B4-BE49-F238E27FC236}">
                <a16:creationId xmlns:a16="http://schemas.microsoft.com/office/drawing/2014/main" id="{818398F7-74EF-4161-AA49-195779D447A8}"/>
              </a:ext>
            </a:extLst>
          </p:cNvPr>
          <p:cNvCxnSpPr/>
          <p:nvPr/>
        </p:nvCxnSpPr>
        <p:spPr bwMode="auto">
          <a:xfrm>
            <a:off x="7390268" y="3189762"/>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44" name="Straight Arrow Connector 143">
            <a:extLst>
              <a:ext uri="{FF2B5EF4-FFF2-40B4-BE49-F238E27FC236}">
                <a16:creationId xmlns:a16="http://schemas.microsoft.com/office/drawing/2014/main" id="{44BA5072-568D-436E-983D-142C884865DF}"/>
              </a:ext>
            </a:extLst>
          </p:cNvPr>
          <p:cNvCxnSpPr/>
          <p:nvPr/>
        </p:nvCxnSpPr>
        <p:spPr bwMode="auto">
          <a:xfrm>
            <a:off x="7496594" y="3189762"/>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45" name="Straight Arrow Connector 144">
            <a:extLst>
              <a:ext uri="{FF2B5EF4-FFF2-40B4-BE49-F238E27FC236}">
                <a16:creationId xmlns:a16="http://schemas.microsoft.com/office/drawing/2014/main" id="{C941A8FC-2C05-4957-9DB9-C5BEC325DCB4}"/>
              </a:ext>
            </a:extLst>
          </p:cNvPr>
          <p:cNvCxnSpPr/>
          <p:nvPr/>
        </p:nvCxnSpPr>
        <p:spPr bwMode="auto">
          <a:xfrm>
            <a:off x="7574566" y="3189761"/>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46" name="Straight Arrow Connector 145">
            <a:extLst>
              <a:ext uri="{FF2B5EF4-FFF2-40B4-BE49-F238E27FC236}">
                <a16:creationId xmlns:a16="http://schemas.microsoft.com/office/drawing/2014/main" id="{5D605523-0526-42E0-8D81-593207FD9758}"/>
              </a:ext>
            </a:extLst>
          </p:cNvPr>
          <p:cNvCxnSpPr/>
          <p:nvPr/>
        </p:nvCxnSpPr>
        <p:spPr bwMode="auto">
          <a:xfrm>
            <a:off x="7648993" y="3189764"/>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47" name="Straight Arrow Connector 146">
            <a:extLst>
              <a:ext uri="{FF2B5EF4-FFF2-40B4-BE49-F238E27FC236}">
                <a16:creationId xmlns:a16="http://schemas.microsoft.com/office/drawing/2014/main" id="{C1EE1A5D-46A3-4E3C-90D8-ED993C18E75B}"/>
              </a:ext>
            </a:extLst>
          </p:cNvPr>
          <p:cNvCxnSpPr/>
          <p:nvPr/>
        </p:nvCxnSpPr>
        <p:spPr bwMode="auto">
          <a:xfrm>
            <a:off x="7726965"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48" name="Straight Arrow Connector 147">
            <a:extLst>
              <a:ext uri="{FF2B5EF4-FFF2-40B4-BE49-F238E27FC236}">
                <a16:creationId xmlns:a16="http://schemas.microsoft.com/office/drawing/2014/main" id="{234DD110-F444-408D-A079-DA8E223F0A39}"/>
              </a:ext>
            </a:extLst>
          </p:cNvPr>
          <p:cNvCxnSpPr/>
          <p:nvPr/>
        </p:nvCxnSpPr>
        <p:spPr bwMode="auto">
          <a:xfrm>
            <a:off x="7833291"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49" name="Straight Arrow Connector 148">
            <a:extLst>
              <a:ext uri="{FF2B5EF4-FFF2-40B4-BE49-F238E27FC236}">
                <a16:creationId xmlns:a16="http://schemas.microsoft.com/office/drawing/2014/main" id="{0E7A9D8D-614B-4FE0-9CA9-731ABF4FA005}"/>
              </a:ext>
            </a:extLst>
          </p:cNvPr>
          <p:cNvCxnSpPr/>
          <p:nvPr/>
        </p:nvCxnSpPr>
        <p:spPr bwMode="auto">
          <a:xfrm>
            <a:off x="7911263" y="3189762"/>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50" name="Straight Arrow Connector 149">
            <a:extLst>
              <a:ext uri="{FF2B5EF4-FFF2-40B4-BE49-F238E27FC236}">
                <a16:creationId xmlns:a16="http://schemas.microsoft.com/office/drawing/2014/main" id="{68004A9F-54BF-4270-85C7-7150A2580903}"/>
              </a:ext>
            </a:extLst>
          </p:cNvPr>
          <p:cNvCxnSpPr/>
          <p:nvPr/>
        </p:nvCxnSpPr>
        <p:spPr bwMode="auto">
          <a:xfrm>
            <a:off x="8014044"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51" name="Straight Arrow Connector 150">
            <a:extLst>
              <a:ext uri="{FF2B5EF4-FFF2-40B4-BE49-F238E27FC236}">
                <a16:creationId xmlns:a16="http://schemas.microsoft.com/office/drawing/2014/main" id="{0E97BE8E-0808-496F-B084-ABC12F370FAB}"/>
              </a:ext>
            </a:extLst>
          </p:cNvPr>
          <p:cNvCxnSpPr/>
          <p:nvPr/>
        </p:nvCxnSpPr>
        <p:spPr bwMode="auto">
          <a:xfrm>
            <a:off x="8092016" y="3189762"/>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52" name="Straight Arrow Connector 151">
            <a:extLst>
              <a:ext uri="{FF2B5EF4-FFF2-40B4-BE49-F238E27FC236}">
                <a16:creationId xmlns:a16="http://schemas.microsoft.com/office/drawing/2014/main" id="{6E7F2EFA-D300-4793-AB2D-AF939E6DF3DB}"/>
              </a:ext>
            </a:extLst>
          </p:cNvPr>
          <p:cNvCxnSpPr/>
          <p:nvPr/>
        </p:nvCxnSpPr>
        <p:spPr bwMode="auto">
          <a:xfrm>
            <a:off x="8198342" y="3189762"/>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53" name="Straight Arrow Connector 152">
            <a:extLst>
              <a:ext uri="{FF2B5EF4-FFF2-40B4-BE49-F238E27FC236}">
                <a16:creationId xmlns:a16="http://schemas.microsoft.com/office/drawing/2014/main" id="{96AB9E91-0321-4683-B334-034F08E131B7}"/>
              </a:ext>
            </a:extLst>
          </p:cNvPr>
          <p:cNvCxnSpPr/>
          <p:nvPr/>
        </p:nvCxnSpPr>
        <p:spPr bwMode="auto">
          <a:xfrm>
            <a:off x="8276314" y="3189761"/>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54" name="Straight Arrow Connector 153">
            <a:extLst>
              <a:ext uri="{FF2B5EF4-FFF2-40B4-BE49-F238E27FC236}">
                <a16:creationId xmlns:a16="http://schemas.microsoft.com/office/drawing/2014/main" id="{18DCAE33-7434-4E6F-B024-0912BDA1AE3B}"/>
              </a:ext>
            </a:extLst>
          </p:cNvPr>
          <p:cNvCxnSpPr/>
          <p:nvPr/>
        </p:nvCxnSpPr>
        <p:spPr bwMode="auto">
          <a:xfrm>
            <a:off x="8364919" y="3189763"/>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55" name="Straight Arrow Connector 154">
            <a:extLst>
              <a:ext uri="{FF2B5EF4-FFF2-40B4-BE49-F238E27FC236}">
                <a16:creationId xmlns:a16="http://schemas.microsoft.com/office/drawing/2014/main" id="{87449B7D-3D32-420F-A158-B963E9178BF6}"/>
              </a:ext>
            </a:extLst>
          </p:cNvPr>
          <p:cNvCxnSpPr/>
          <p:nvPr/>
        </p:nvCxnSpPr>
        <p:spPr bwMode="auto">
          <a:xfrm>
            <a:off x="8442891" y="3189762"/>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56" name="Straight Arrow Connector 155">
            <a:extLst>
              <a:ext uri="{FF2B5EF4-FFF2-40B4-BE49-F238E27FC236}">
                <a16:creationId xmlns:a16="http://schemas.microsoft.com/office/drawing/2014/main" id="{A33D4AF4-BBE3-4445-A748-3D182D57110F}"/>
              </a:ext>
            </a:extLst>
          </p:cNvPr>
          <p:cNvCxnSpPr/>
          <p:nvPr/>
        </p:nvCxnSpPr>
        <p:spPr bwMode="auto">
          <a:xfrm>
            <a:off x="8549217" y="3189762"/>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57" name="Straight Arrow Connector 156">
            <a:extLst>
              <a:ext uri="{FF2B5EF4-FFF2-40B4-BE49-F238E27FC236}">
                <a16:creationId xmlns:a16="http://schemas.microsoft.com/office/drawing/2014/main" id="{016DF5BF-58FA-4D29-854F-1AB75EE36813}"/>
              </a:ext>
            </a:extLst>
          </p:cNvPr>
          <p:cNvCxnSpPr/>
          <p:nvPr/>
        </p:nvCxnSpPr>
        <p:spPr bwMode="auto">
          <a:xfrm>
            <a:off x="8627189" y="3189761"/>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58" name="Straight Arrow Connector 157">
            <a:extLst>
              <a:ext uri="{FF2B5EF4-FFF2-40B4-BE49-F238E27FC236}">
                <a16:creationId xmlns:a16="http://schemas.microsoft.com/office/drawing/2014/main" id="{D39E562F-3A07-4EC8-92CF-8248A85E6925}"/>
              </a:ext>
            </a:extLst>
          </p:cNvPr>
          <p:cNvCxnSpPr/>
          <p:nvPr/>
        </p:nvCxnSpPr>
        <p:spPr bwMode="auto">
          <a:xfrm>
            <a:off x="8729970" y="3189762"/>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59" name="Straight Arrow Connector 158">
            <a:extLst>
              <a:ext uri="{FF2B5EF4-FFF2-40B4-BE49-F238E27FC236}">
                <a16:creationId xmlns:a16="http://schemas.microsoft.com/office/drawing/2014/main" id="{D585B89D-829C-4104-BA2C-7DF0811B5272}"/>
              </a:ext>
            </a:extLst>
          </p:cNvPr>
          <p:cNvCxnSpPr/>
          <p:nvPr/>
        </p:nvCxnSpPr>
        <p:spPr bwMode="auto">
          <a:xfrm>
            <a:off x="8807942" y="3189761"/>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60" name="Straight Arrow Connector 159">
            <a:extLst>
              <a:ext uri="{FF2B5EF4-FFF2-40B4-BE49-F238E27FC236}">
                <a16:creationId xmlns:a16="http://schemas.microsoft.com/office/drawing/2014/main" id="{EDDDFA8A-6ADF-4416-8E8B-0EFDE0C5FFEC}"/>
              </a:ext>
            </a:extLst>
          </p:cNvPr>
          <p:cNvCxnSpPr/>
          <p:nvPr/>
        </p:nvCxnSpPr>
        <p:spPr bwMode="auto">
          <a:xfrm>
            <a:off x="8914268" y="3189761"/>
            <a:ext cx="0" cy="925033"/>
          </a:xfrm>
          <a:prstGeom prst="straightConnector1">
            <a:avLst/>
          </a:prstGeom>
          <a:noFill/>
          <a:ln w="28575" cap="flat" cmpd="sng" algn="ctr">
            <a:solidFill>
              <a:srgbClr val="FF0000"/>
            </a:solidFill>
            <a:prstDash val="solid"/>
            <a:round/>
            <a:headEnd type="none" w="med" len="med"/>
            <a:tailEnd type="triangle"/>
          </a:ln>
          <a:effectLst/>
        </p:spPr>
      </p:cxnSp>
      <p:cxnSp>
        <p:nvCxnSpPr>
          <p:cNvPr id="161" name="Straight Arrow Connector 160">
            <a:extLst>
              <a:ext uri="{FF2B5EF4-FFF2-40B4-BE49-F238E27FC236}">
                <a16:creationId xmlns:a16="http://schemas.microsoft.com/office/drawing/2014/main" id="{B24AFE1D-68DD-4A9E-9C9D-A1C92C4EDC88}"/>
              </a:ext>
            </a:extLst>
          </p:cNvPr>
          <p:cNvCxnSpPr/>
          <p:nvPr/>
        </p:nvCxnSpPr>
        <p:spPr bwMode="auto">
          <a:xfrm>
            <a:off x="8992240" y="3189760"/>
            <a:ext cx="0" cy="925033"/>
          </a:xfrm>
          <a:prstGeom prst="straightConnector1">
            <a:avLst/>
          </a:prstGeom>
          <a:noFill/>
          <a:ln w="28575" cap="flat" cmpd="sng" algn="ctr">
            <a:solidFill>
              <a:srgbClr val="FF0000"/>
            </a:solidFill>
            <a:prstDash val="solid"/>
            <a:round/>
            <a:headEnd type="none" w="med" len="med"/>
            <a:tailEnd type="triangle"/>
          </a:ln>
          <a:effectLst/>
        </p:spPr>
      </p:cxnSp>
      <p:sp>
        <p:nvSpPr>
          <p:cNvPr id="2" name="TextBox 1">
            <a:extLst>
              <a:ext uri="{FF2B5EF4-FFF2-40B4-BE49-F238E27FC236}">
                <a16:creationId xmlns:a16="http://schemas.microsoft.com/office/drawing/2014/main" id="{1C6E68A0-D31F-48CF-B052-909D5D545AD7}"/>
              </a:ext>
            </a:extLst>
          </p:cNvPr>
          <p:cNvSpPr txBox="1"/>
          <p:nvPr/>
        </p:nvSpPr>
        <p:spPr>
          <a:xfrm>
            <a:off x="4151521" y="1541883"/>
            <a:ext cx="3201517" cy="1384995"/>
          </a:xfrm>
          <a:prstGeom prst="rect">
            <a:avLst/>
          </a:prstGeom>
          <a:noFill/>
          <a:ln w="28575">
            <a:solidFill>
              <a:schemeClr val="tx2"/>
            </a:solidFill>
          </a:ln>
        </p:spPr>
        <p:txBody>
          <a:bodyPr wrap="none" rtlCol="0" anchor="ctr" anchorCtr="1">
            <a:spAutoFit/>
          </a:bodyPr>
          <a:lstStyle/>
          <a:p>
            <a:r>
              <a:rPr lang="en-US" sz="2800" dirty="0">
                <a:ea typeface="標楷體" pitchFamily="65" charset="-120"/>
                <a:cs typeface="Calibri" pitchFamily="34" charset="0"/>
              </a:rPr>
              <a:t>for (</a:t>
            </a:r>
            <a:r>
              <a:rPr lang="en-US" sz="2800" dirty="0" err="1">
                <a:ea typeface="標楷體" pitchFamily="65" charset="-120"/>
                <a:cs typeface="Calibri" pitchFamily="34" charset="0"/>
              </a:rPr>
              <a:t>i</a:t>
            </a:r>
            <a:r>
              <a:rPr lang="en-US" sz="2800" dirty="0">
                <a:ea typeface="標楷體" pitchFamily="65" charset="-120"/>
                <a:cs typeface="Calibri" pitchFamily="34" charset="0"/>
              </a:rPr>
              <a:t>=0; </a:t>
            </a:r>
            <a:r>
              <a:rPr lang="en-US" sz="2800" dirty="0" err="1">
                <a:ea typeface="標楷體" pitchFamily="65" charset="-120"/>
                <a:cs typeface="Calibri" pitchFamily="34" charset="0"/>
              </a:rPr>
              <a:t>i</a:t>
            </a:r>
            <a:r>
              <a:rPr lang="en-US" sz="2800" dirty="0">
                <a:ea typeface="標楷體" pitchFamily="65" charset="-120"/>
                <a:cs typeface="Calibri" pitchFamily="34" charset="0"/>
              </a:rPr>
              <a:t>&lt; N; </a:t>
            </a:r>
            <a:r>
              <a:rPr lang="en-US" sz="2800" dirty="0" err="1">
                <a:ea typeface="標楷體" pitchFamily="65" charset="-120"/>
                <a:cs typeface="Calibri" pitchFamily="34" charset="0"/>
              </a:rPr>
              <a:t>i</a:t>
            </a:r>
            <a:r>
              <a:rPr lang="en-US" sz="2800" dirty="0">
                <a:ea typeface="標楷體" pitchFamily="65" charset="-120"/>
                <a:cs typeface="Calibri" pitchFamily="34" charset="0"/>
              </a:rPr>
              <a:t>++) {</a:t>
            </a:r>
          </a:p>
          <a:p>
            <a:r>
              <a:rPr lang="en-US" sz="2800" dirty="0">
                <a:ea typeface="標楷體" pitchFamily="65" charset="-120"/>
                <a:cs typeface="Calibri" pitchFamily="34" charset="0"/>
              </a:rPr>
              <a:t>a[</a:t>
            </a:r>
            <a:r>
              <a:rPr lang="en-US" sz="2800" dirty="0" err="1">
                <a:ea typeface="標楷體" pitchFamily="65" charset="-120"/>
                <a:cs typeface="Calibri" pitchFamily="34" charset="0"/>
              </a:rPr>
              <a:t>i</a:t>
            </a:r>
            <a:r>
              <a:rPr lang="en-US" sz="2800" dirty="0">
                <a:ea typeface="標楷體" pitchFamily="65" charset="-120"/>
                <a:cs typeface="Calibri" pitchFamily="34" charset="0"/>
              </a:rPr>
              <a:t>] = b[</a:t>
            </a:r>
            <a:r>
              <a:rPr lang="en-US" sz="2800" dirty="0" err="1">
                <a:ea typeface="標楷體" pitchFamily="65" charset="-120"/>
                <a:cs typeface="Calibri" pitchFamily="34" charset="0"/>
              </a:rPr>
              <a:t>i</a:t>
            </a:r>
            <a:r>
              <a:rPr lang="en-US" sz="2800" dirty="0">
                <a:ea typeface="標楷體" pitchFamily="65" charset="-120"/>
                <a:cs typeface="Calibri" pitchFamily="34" charset="0"/>
              </a:rPr>
              <a:t>]+c[</a:t>
            </a:r>
            <a:r>
              <a:rPr lang="en-US" sz="2800" dirty="0" err="1">
                <a:ea typeface="標楷體" pitchFamily="65" charset="-120"/>
                <a:cs typeface="Calibri" pitchFamily="34" charset="0"/>
              </a:rPr>
              <a:t>i</a:t>
            </a:r>
            <a:r>
              <a:rPr lang="en-US" sz="2800" dirty="0">
                <a:ea typeface="標楷體" pitchFamily="65" charset="-120"/>
                <a:cs typeface="Calibri" pitchFamily="34" charset="0"/>
              </a:rPr>
              <a:t>];</a:t>
            </a:r>
          </a:p>
          <a:p>
            <a:r>
              <a:rPr lang="en-US" sz="2800" dirty="0">
                <a:ea typeface="標楷體" pitchFamily="65" charset="-120"/>
                <a:cs typeface="Calibri" pitchFamily="34" charset="0"/>
              </a:rPr>
              <a:t>}</a:t>
            </a:r>
          </a:p>
        </p:txBody>
      </p:sp>
      <p:sp>
        <p:nvSpPr>
          <p:cNvPr id="5" name="TextBox 4">
            <a:extLst>
              <a:ext uri="{FF2B5EF4-FFF2-40B4-BE49-F238E27FC236}">
                <a16:creationId xmlns:a16="http://schemas.microsoft.com/office/drawing/2014/main" id="{ECD0EEF2-E772-4E17-BCCB-91D155ED956E}"/>
              </a:ext>
            </a:extLst>
          </p:cNvPr>
          <p:cNvSpPr txBox="1"/>
          <p:nvPr/>
        </p:nvSpPr>
        <p:spPr>
          <a:xfrm>
            <a:off x="4925632" y="1080218"/>
            <a:ext cx="1689886" cy="461665"/>
          </a:xfrm>
          <a:prstGeom prst="rect">
            <a:avLst/>
          </a:prstGeom>
          <a:noFill/>
        </p:spPr>
        <p:txBody>
          <a:bodyPr wrap="none" rtlCol="0" anchor="ctr" anchorCtr="1">
            <a:spAutoFit/>
          </a:bodyPr>
          <a:lstStyle/>
          <a:p>
            <a:r>
              <a:rPr lang="en-US" sz="2400" b="1" dirty="0">
                <a:ea typeface="標楷體" pitchFamily="65" charset="-120"/>
                <a:cs typeface="Calibri" pitchFamily="34" charset="0"/>
              </a:rPr>
              <a:t>CPU Code</a:t>
            </a:r>
          </a:p>
        </p:txBody>
      </p:sp>
      <p:sp>
        <p:nvSpPr>
          <p:cNvPr id="71" name="TextBox 70">
            <a:extLst>
              <a:ext uri="{FF2B5EF4-FFF2-40B4-BE49-F238E27FC236}">
                <a16:creationId xmlns:a16="http://schemas.microsoft.com/office/drawing/2014/main" id="{11D8BC97-A9B4-45B3-9C9D-43DEF3946533}"/>
              </a:ext>
            </a:extLst>
          </p:cNvPr>
          <p:cNvSpPr txBox="1"/>
          <p:nvPr/>
        </p:nvSpPr>
        <p:spPr>
          <a:xfrm>
            <a:off x="5177219" y="3523804"/>
            <a:ext cx="1705916" cy="461665"/>
          </a:xfrm>
          <a:prstGeom prst="rect">
            <a:avLst/>
          </a:prstGeom>
          <a:noFill/>
        </p:spPr>
        <p:txBody>
          <a:bodyPr wrap="none" rtlCol="0" anchor="ctr" anchorCtr="1">
            <a:spAutoFit/>
          </a:bodyPr>
          <a:lstStyle/>
          <a:p>
            <a:r>
              <a:rPr lang="en-US" sz="2400" b="1" dirty="0">
                <a:ea typeface="標楷體" pitchFamily="65" charset="-120"/>
                <a:cs typeface="Calibri" pitchFamily="34" charset="0"/>
              </a:rPr>
              <a:t>GPU Code</a:t>
            </a:r>
          </a:p>
        </p:txBody>
      </p:sp>
      <p:sp>
        <p:nvSpPr>
          <p:cNvPr id="72" name="TextBox 71">
            <a:extLst>
              <a:ext uri="{FF2B5EF4-FFF2-40B4-BE49-F238E27FC236}">
                <a16:creationId xmlns:a16="http://schemas.microsoft.com/office/drawing/2014/main" id="{5C2900F3-1B0D-4B8E-A76A-7F457D3E0B1C}"/>
              </a:ext>
            </a:extLst>
          </p:cNvPr>
          <p:cNvSpPr txBox="1"/>
          <p:nvPr/>
        </p:nvSpPr>
        <p:spPr>
          <a:xfrm>
            <a:off x="2499872" y="4074576"/>
            <a:ext cx="7192255" cy="1692771"/>
          </a:xfrm>
          <a:prstGeom prst="rect">
            <a:avLst/>
          </a:prstGeom>
          <a:noFill/>
          <a:ln w="28575">
            <a:solidFill>
              <a:schemeClr val="tx2"/>
            </a:solidFill>
          </a:ln>
        </p:spPr>
        <p:txBody>
          <a:bodyPr wrap="square" rtlCol="0" anchor="ctr" anchorCtr="1">
            <a:spAutoFit/>
          </a:bodyPr>
          <a:lstStyle/>
          <a:p>
            <a:r>
              <a:rPr lang="en-US" sz="2400" dirty="0">
                <a:ea typeface="標楷體" pitchFamily="65" charset="-120"/>
                <a:cs typeface="Calibri" pitchFamily="34" charset="0"/>
              </a:rPr>
              <a:t>__global__ void </a:t>
            </a:r>
            <a:r>
              <a:rPr lang="en-US" sz="2400" dirty="0" err="1">
                <a:ea typeface="標楷體" pitchFamily="65" charset="-120"/>
                <a:cs typeface="Calibri" pitchFamily="34" charset="0"/>
              </a:rPr>
              <a:t>kernelvadd</a:t>
            </a:r>
            <a:r>
              <a:rPr lang="en-US" sz="2400" dirty="0">
                <a:ea typeface="標楷體" pitchFamily="65" charset="-120"/>
                <a:cs typeface="Calibri" pitchFamily="34" charset="0"/>
              </a:rPr>
              <a:t>(…) </a:t>
            </a:r>
            <a:r>
              <a:rPr lang="en-US" sz="2800" dirty="0">
                <a:ea typeface="標楷體" pitchFamily="65" charset="-120"/>
                <a:cs typeface="Calibri" pitchFamily="34" charset="0"/>
              </a:rPr>
              <a:t>{</a:t>
            </a:r>
          </a:p>
          <a:p>
            <a:r>
              <a:rPr lang="en-US" sz="2400" dirty="0">
                <a:ea typeface="標楷體" pitchFamily="65" charset="-120"/>
                <a:cs typeface="Calibri" pitchFamily="34" charset="0"/>
              </a:rPr>
              <a:t>int </a:t>
            </a:r>
            <a:r>
              <a:rPr lang="en-US" sz="2400" dirty="0" err="1">
                <a:ea typeface="標楷體" pitchFamily="65" charset="-120"/>
                <a:cs typeface="Calibri" pitchFamily="34" charset="0"/>
              </a:rPr>
              <a:t>tid</a:t>
            </a:r>
            <a:r>
              <a:rPr lang="en-US" sz="2400" dirty="0">
                <a:ea typeface="標楷體" pitchFamily="65" charset="-120"/>
                <a:cs typeface="Calibri" pitchFamily="34" charset="0"/>
              </a:rPr>
              <a:t>= </a:t>
            </a:r>
            <a:r>
              <a:rPr lang="en-US" sz="2400" dirty="0" err="1">
                <a:ea typeface="標楷體" pitchFamily="65" charset="-120"/>
                <a:cs typeface="Calibri" pitchFamily="34" charset="0"/>
              </a:rPr>
              <a:t>blockDim.x</a:t>
            </a:r>
            <a:r>
              <a:rPr lang="en-US" sz="2400" dirty="0">
                <a:ea typeface="標楷體" pitchFamily="65" charset="-120"/>
                <a:cs typeface="Calibri" pitchFamily="34" charset="0"/>
              </a:rPr>
              <a:t> * </a:t>
            </a:r>
            <a:r>
              <a:rPr lang="en-US" sz="2400" dirty="0" err="1">
                <a:ea typeface="標楷體" pitchFamily="65" charset="-120"/>
                <a:cs typeface="Calibri" pitchFamily="34" charset="0"/>
              </a:rPr>
              <a:t>blockIdx.x</a:t>
            </a:r>
            <a:r>
              <a:rPr lang="en-US" sz="2400" dirty="0">
                <a:ea typeface="標楷體" pitchFamily="65" charset="-120"/>
                <a:cs typeface="Calibri" pitchFamily="34" charset="0"/>
              </a:rPr>
              <a:t> + </a:t>
            </a:r>
            <a:r>
              <a:rPr lang="en-US" sz="2400" dirty="0" err="1">
                <a:ea typeface="標楷體" pitchFamily="65" charset="-120"/>
                <a:cs typeface="Calibri" pitchFamily="34" charset="0"/>
              </a:rPr>
              <a:t>threadIdx.x</a:t>
            </a:r>
            <a:r>
              <a:rPr lang="en-US" sz="2400" dirty="0">
                <a:ea typeface="標楷體" pitchFamily="65" charset="-120"/>
                <a:cs typeface="Calibri" pitchFamily="34" charset="0"/>
              </a:rPr>
              <a:t>;</a:t>
            </a:r>
          </a:p>
          <a:p>
            <a:r>
              <a:rPr lang="en-US" sz="2400" dirty="0">
                <a:ea typeface="標楷體" pitchFamily="65" charset="-120"/>
                <a:cs typeface="Calibri" pitchFamily="34" charset="0"/>
              </a:rPr>
              <a:t>c[</a:t>
            </a:r>
            <a:r>
              <a:rPr lang="en-US" sz="2400" dirty="0" err="1">
                <a:ea typeface="標楷體" pitchFamily="65" charset="-120"/>
                <a:cs typeface="Calibri" pitchFamily="34" charset="0"/>
              </a:rPr>
              <a:t>tid</a:t>
            </a:r>
            <a:r>
              <a:rPr lang="en-US" sz="2400" dirty="0">
                <a:ea typeface="標楷體" pitchFamily="65" charset="-120"/>
                <a:cs typeface="Calibri" pitchFamily="34" charset="0"/>
              </a:rPr>
              <a:t>] = a[</a:t>
            </a:r>
            <a:r>
              <a:rPr lang="en-US" sz="2400" dirty="0" err="1">
                <a:ea typeface="標楷體" pitchFamily="65" charset="-120"/>
                <a:cs typeface="Calibri" pitchFamily="34" charset="0"/>
              </a:rPr>
              <a:t>tid</a:t>
            </a:r>
            <a:r>
              <a:rPr lang="en-US" sz="2400" dirty="0">
                <a:ea typeface="標楷體" pitchFamily="65" charset="-120"/>
                <a:cs typeface="Calibri" pitchFamily="34" charset="0"/>
              </a:rPr>
              <a:t>] + b[</a:t>
            </a:r>
            <a:r>
              <a:rPr lang="en-US" sz="2400" dirty="0" err="1">
                <a:ea typeface="標楷體" pitchFamily="65" charset="-120"/>
                <a:cs typeface="Calibri" pitchFamily="34" charset="0"/>
              </a:rPr>
              <a:t>tid</a:t>
            </a:r>
            <a:r>
              <a:rPr lang="en-US" sz="2400" dirty="0">
                <a:ea typeface="標楷體" pitchFamily="65" charset="-120"/>
                <a:cs typeface="Calibri" pitchFamily="34" charset="0"/>
              </a:rPr>
              <a:t>];</a:t>
            </a:r>
          </a:p>
          <a:p>
            <a:r>
              <a:rPr lang="en-US" sz="2800" dirty="0">
                <a:ea typeface="標楷體" pitchFamily="65" charset="-120"/>
                <a:cs typeface="Calibri" pitchFamily="34" charset="0"/>
              </a:rPr>
              <a:t>}</a:t>
            </a:r>
          </a:p>
        </p:txBody>
      </p:sp>
      <p:sp>
        <p:nvSpPr>
          <p:cNvPr id="6" name="Arrow: Down 5">
            <a:extLst>
              <a:ext uri="{FF2B5EF4-FFF2-40B4-BE49-F238E27FC236}">
                <a16:creationId xmlns:a16="http://schemas.microsoft.com/office/drawing/2014/main" id="{871EE3F9-2F2E-40DE-920E-F8219E217F8E}"/>
              </a:ext>
            </a:extLst>
          </p:cNvPr>
          <p:cNvSpPr/>
          <p:nvPr/>
        </p:nvSpPr>
        <p:spPr bwMode="auto">
          <a:xfrm>
            <a:off x="5545545" y="2899339"/>
            <a:ext cx="484632" cy="624465"/>
          </a:xfrm>
          <a:prstGeom prst="downArrow">
            <a:avLst/>
          </a:prstGeom>
          <a:solidFill>
            <a:schemeClr val="tx2"/>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 name="TextBox 2">
            <a:extLst>
              <a:ext uri="{FF2B5EF4-FFF2-40B4-BE49-F238E27FC236}">
                <a16:creationId xmlns:a16="http://schemas.microsoft.com/office/drawing/2014/main" id="{93CEEB0E-CCD5-4C9E-8D20-AFFB8BAA3925}"/>
              </a:ext>
            </a:extLst>
          </p:cNvPr>
          <p:cNvSpPr txBox="1"/>
          <p:nvPr/>
        </p:nvSpPr>
        <p:spPr>
          <a:xfrm>
            <a:off x="6810163" y="2775839"/>
            <a:ext cx="5182829" cy="523220"/>
          </a:xfrm>
          <a:prstGeom prst="rect">
            <a:avLst/>
          </a:prstGeom>
          <a:noFill/>
        </p:spPr>
        <p:txBody>
          <a:bodyPr wrap="none" rtlCol="0" anchor="ctr" anchorCtr="1">
            <a:spAutoFit/>
          </a:bodyPr>
          <a:lstStyle/>
          <a:p>
            <a:r>
              <a:rPr lang="en-US" sz="2800" dirty="0" err="1">
                <a:ea typeface="標楷體" pitchFamily="65" charset="-120"/>
                <a:cs typeface="Calibri" pitchFamily="34" charset="0"/>
              </a:rPr>
              <a:t>kernelvadd</a:t>
            </a:r>
            <a:r>
              <a:rPr lang="en-US" sz="2800" dirty="0">
                <a:ea typeface="標楷體" pitchFamily="65" charset="-120"/>
                <a:cs typeface="Calibri" pitchFamily="34" charset="0"/>
              </a:rPr>
              <a:t>&lt;&lt;&lt; 1, N &gt;&gt;&gt;(</a:t>
            </a:r>
            <a:r>
              <a:rPr lang="en-US" sz="2800" dirty="0" err="1">
                <a:ea typeface="標楷體" pitchFamily="65" charset="-120"/>
                <a:cs typeface="Calibri" pitchFamily="34" charset="0"/>
              </a:rPr>
              <a:t>a,b,c</a:t>
            </a:r>
            <a:r>
              <a:rPr lang="en-US" sz="2800" dirty="0">
                <a:ea typeface="標楷體" pitchFamily="65" charset="-120"/>
                <a:cs typeface="Calibri" pitchFamily="34" charset="0"/>
              </a:rPr>
              <a:t>) </a:t>
            </a:r>
          </a:p>
        </p:txBody>
      </p:sp>
      <p:sp>
        <p:nvSpPr>
          <p:cNvPr id="7" name="TextBox 6">
            <a:extLst>
              <a:ext uri="{FF2B5EF4-FFF2-40B4-BE49-F238E27FC236}">
                <a16:creationId xmlns:a16="http://schemas.microsoft.com/office/drawing/2014/main" id="{3D1C206E-2D30-4EBB-B557-6CD6B259BBB1}"/>
              </a:ext>
            </a:extLst>
          </p:cNvPr>
          <p:cNvSpPr txBox="1"/>
          <p:nvPr/>
        </p:nvSpPr>
        <p:spPr>
          <a:xfrm>
            <a:off x="8549217" y="1741749"/>
            <a:ext cx="2591415" cy="646331"/>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One Thread block (TB).</a:t>
            </a:r>
          </a:p>
          <a:p>
            <a:r>
              <a:rPr lang="en-US" dirty="0">
                <a:ea typeface="標楷體" pitchFamily="65" charset="-120"/>
                <a:cs typeface="Calibri" pitchFamily="34" charset="0"/>
              </a:rPr>
              <a:t>N threads in the TB</a:t>
            </a:r>
          </a:p>
        </p:txBody>
      </p:sp>
      <p:cxnSp>
        <p:nvCxnSpPr>
          <p:cNvPr id="9" name="Straight Arrow Connector 8">
            <a:extLst>
              <a:ext uri="{FF2B5EF4-FFF2-40B4-BE49-F238E27FC236}">
                <a16:creationId xmlns:a16="http://schemas.microsoft.com/office/drawing/2014/main" id="{735A2718-8C94-43C8-A1DC-00273B28CC10}"/>
              </a:ext>
            </a:extLst>
          </p:cNvPr>
          <p:cNvCxnSpPr>
            <a:cxnSpLocks/>
          </p:cNvCxnSpPr>
          <p:nvPr/>
        </p:nvCxnSpPr>
        <p:spPr bwMode="auto">
          <a:xfrm>
            <a:off x="9666782" y="2412369"/>
            <a:ext cx="4155" cy="433961"/>
          </a:xfrm>
          <a:prstGeom prst="straightConnector1">
            <a:avLst/>
          </a:prstGeom>
          <a:noFill/>
          <a:ln w="38100" cap="flat" cmpd="sng" algn="ctr">
            <a:solidFill>
              <a:srgbClr val="FF0000"/>
            </a:solidFill>
            <a:prstDash val="solid"/>
            <a:round/>
            <a:headEnd type="none" w="med" len="med"/>
            <a:tailEnd type="triangle"/>
          </a:ln>
          <a:effectLst/>
        </p:spPr>
      </p:cxnSp>
      <p:sp>
        <p:nvSpPr>
          <p:cNvPr id="77" name="TextBox 76">
            <a:extLst>
              <a:ext uri="{FF2B5EF4-FFF2-40B4-BE49-F238E27FC236}">
                <a16:creationId xmlns:a16="http://schemas.microsoft.com/office/drawing/2014/main" id="{B56EC4E4-2AA2-4B57-80B3-F36B337AFD45}"/>
              </a:ext>
            </a:extLst>
          </p:cNvPr>
          <p:cNvSpPr txBox="1"/>
          <p:nvPr/>
        </p:nvSpPr>
        <p:spPr>
          <a:xfrm>
            <a:off x="9008797" y="1306707"/>
            <a:ext cx="1838965" cy="400110"/>
          </a:xfrm>
          <a:prstGeom prst="rect">
            <a:avLst/>
          </a:prstGeom>
          <a:solidFill>
            <a:srgbClr val="FFFF00"/>
          </a:solidFill>
        </p:spPr>
        <p:txBody>
          <a:bodyPr wrap="none" rtlCol="0" anchor="ctr" anchorCtr="1">
            <a:spAutoFit/>
          </a:bodyPr>
          <a:lstStyle/>
          <a:p>
            <a:r>
              <a:rPr lang="en-US" sz="2000" dirty="0">
                <a:ea typeface="標楷體" pitchFamily="65" charset="-120"/>
                <a:cs typeface="Calibri" pitchFamily="34" charset="0"/>
              </a:rPr>
              <a:t>Kernel Launch</a:t>
            </a:r>
          </a:p>
        </p:txBody>
      </p:sp>
    </p:spTree>
    <p:extLst>
      <p:ext uri="{BB962C8B-B14F-4D97-AF65-F5344CB8AC3E}">
        <p14:creationId xmlns:p14="http://schemas.microsoft.com/office/powerpoint/2010/main" val="38280902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2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2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2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2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2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2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2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2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2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2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3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3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3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3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3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3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3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3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3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3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4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41"/>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42"/>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4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44"/>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45"/>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4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47"/>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48"/>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49"/>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50"/>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51"/>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152"/>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53"/>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154"/>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55"/>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56"/>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57"/>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58"/>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159"/>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60"/>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161"/>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7"/>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7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
        <p:nvSpPr>
          <p:cNvPr id="10" name="Title 3">
            <a:extLst>
              <a:ext uri="{FF2B5EF4-FFF2-40B4-BE49-F238E27FC236}">
                <a16:creationId xmlns:a16="http://schemas.microsoft.com/office/drawing/2014/main" id="{7FA42CA0-C88E-4EDF-9859-3A0F65C1B7F3}"/>
              </a:ext>
            </a:extLst>
          </p:cNvPr>
          <p:cNvSpPr txBox="1">
            <a:spLocks/>
          </p:cNvSpPr>
          <p:nvPr/>
        </p:nvSpPr>
        <p:spPr bwMode="auto">
          <a:xfrm>
            <a:off x="1189973" y="187890"/>
            <a:ext cx="9125220" cy="59739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kumimoji="1" sz="5333"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a:lstStyle>
          <a:p>
            <a:r>
              <a:rPr lang="en-US" altLang="zh-TW" sz="4000" kern="0" dirty="0">
                <a:latin typeface="Times New Roman" panose="02020603050405020304" pitchFamily="18" charset="0"/>
                <a:cs typeface="Times New Roman" panose="02020603050405020304" pitchFamily="18" charset="0"/>
              </a:rPr>
              <a:t>GPGPU Architecture (</a:t>
            </a:r>
            <a:r>
              <a:rPr lang="en-US" altLang="zh-TW" sz="3200" kern="0" dirty="0">
                <a:latin typeface="Times New Roman" panose="02020603050405020304" pitchFamily="18" charset="0"/>
                <a:cs typeface="Times New Roman" panose="02020603050405020304" pitchFamily="18" charset="0"/>
              </a:rPr>
              <a:t>with </a:t>
            </a:r>
            <a:r>
              <a:rPr lang="en-US" altLang="zh-TW" sz="4000" kern="0" dirty="0">
                <a:latin typeface="Times New Roman" panose="02020603050405020304" pitchFamily="18" charset="0"/>
                <a:cs typeface="Times New Roman" panose="02020603050405020304" pitchFamily="18" charset="0"/>
              </a:rPr>
              <a:t>caches)</a:t>
            </a:r>
            <a:endParaRPr lang="zh-TW" altLang="en-US" sz="4000" kern="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F759E6F-AC0C-4044-A9EB-5DC11C37CC13}"/>
              </a:ext>
            </a:extLst>
          </p:cNvPr>
          <p:cNvPicPr>
            <a:picLocks noChangeAspect="1"/>
          </p:cNvPicPr>
          <p:nvPr/>
        </p:nvPicPr>
        <p:blipFill>
          <a:blip r:embed="rId3"/>
          <a:stretch>
            <a:fillRect/>
          </a:stretch>
        </p:blipFill>
        <p:spPr>
          <a:xfrm>
            <a:off x="737347" y="1166346"/>
            <a:ext cx="10717306" cy="4101353"/>
          </a:xfrm>
          <a:prstGeom prst="rect">
            <a:avLst/>
          </a:prstGeom>
        </p:spPr>
      </p:pic>
      <p:sp>
        <p:nvSpPr>
          <p:cNvPr id="2" name="Rectangle 1">
            <a:extLst>
              <a:ext uri="{FF2B5EF4-FFF2-40B4-BE49-F238E27FC236}">
                <a16:creationId xmlns:a16="http://schemas.microsoft.com/office/drawing/2014/main" id="{CF25A8D5-D1E3-4D23-A117-A6ACF19AE9AD}"/>
              </a:ext>
            </a:extLst>
          </p:cNvPr>
          <p:cNvSpPr/>
          <p:nvPr/>
        </p:nvSpPr>
        <p:spPr bwMode="auto">
          <a:xfrm>
            <a:off x="3935895" y="2915478"/>
            <a:ext cx="2372139" cy="251792"/>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L1 </a:t>
            </a:r>
            <a:r>
              <a:rPr kumimoji="1" lang="en-US" sz="1800" b="1" i="0" u="none" strike="noStrike" cap="none" normalizeH="0" baseline="0" dirty="0" err="1">
                <a:ln>
                  <a:noFill/>
                </a:ln>
                <a:solidFill>
                  <a:schemeClr val="tx1"/>
                </a:solidFill>
                <a:effectLst/>
                <a:latin typeface="Arial" pitchFamily="34" charset="0"/>
                <a:ea typeface="新細明體" pitchFamily="18" charset="-120"/>
              </a:rPr>
              <a:t>Dcache</a:t>
            </a: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6" name="Rectangle 5">
            <a:extLst>
              <a:ext uri="{FF2B5EF4-FFF2-40B4-BE49-F238E27FC236}">
                <a16:creationId xmlns:a16="http://schemas.microsoft.com/office/drawing/2014/main" id="{11BFCB84-E5D1-44C3-9EE1-44DFD93C64B2}"/>
              </a:ext>
            </a:extLst>
          </p:cNvPr>
          <p:cNvSpPr/>
          <p:nvPr/>
        </p:nvSpPr>
        <p:spPr bwMode="auto">
          <a:xfrm>
            <a:off x="1099226" y="3217021"/>
            <a:ext cx="9941668" cy="473709"/>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L2 </a:t>
            </a:r>
            <a:r>
              <a:rPr kumimoji="1" lang="en-US" sz="1800" b="1" i="0" u="none" strike="noStrike" cap="none" normalizeH="0" baseline="0" dirty="0" err="1">
                <a:ln>
                  <a:noFill/>
                </a:ln>
                <a:solidFill>
                  <a:schemeClr val="tx1"/>
                </a:solidFill>
                <a:effectLst/>
                <a:latin typeface="Arial" pitchFamily="34" charset="0"/>
                <a:ea typeface="新細明體" pitchFamily="18" charset="-120"/>
              </a:rPr>
              <a:t>Dcache</a:t>
            </a: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7" name="Rectangle 6">
            <a:extLst>
              <a:ext uri="{FF2B5EF4-FFF2-40B4-BE49-F238E27FC236}">
                <a16:creationId xmlns:a16="http://schemas.microsoft.com/office/drawing/2014/main" id="{255DF750-8183-4E57-8218-8596B7411EEE}"/>
              </a:ext>
            </a:extLst>
          </p:cNvPr>
          <p:cNvSpPr/>
          <p:nvPr/>
        </p:nvSpPr>
        <p:spPr bwMode="auto">
          <a:xfrm>
            <a:off x="1150552" y="2965229"/>
            <a:ext cx="2372139" cy="251792"/>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L1 </a:t>
            </a:r>
            <a:r>
              <a:rPr kumimoji="1" lang="en-US" sz="1800" b="1" i="0" u="none" strike="noStrike" cap="none" normalizeH="0" baseline="0" dirty="0" err="1">
                <a:ln>
                  <a:noFill/>
                </a:ln>
                <a:solidFill>
                  <a:schemeClr val="tx1"/>
                </a:solidFill>
                <a:effectLst/>
                <a:latin typeface="Arial" pitchFamily="34" charset="0"/>
                <a:ea typeface="新細明體" pitchFamily="18" charset="-120"/>
              </a:rPr>
              <a:t>Dcache</a:t>
            </a: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8" name="Rectangle 7">
            <a:extLst>
              <a:ext uri="{FF2B5EF4-FFF2-40B4-BE49-F238E27FC236}">
                <a16:creationId xmlns:a16="http://schemas.microsoft.com/office/drawing/2014/main" id="{B338CE38-EC38-4B73-89D8-09D1A610176D}"/>
              </a:ext>
            </a:extLst>
          </p:cNvPr>
          <p:cNvSpPr/>
          <p:nvPr/>
        </p:nvSpPr>
        <p:spPr bwMode="auto">
          <a:xfrm>
            <a:off x="8592201" y="2940354"/>
            <a:ext cx="2372139" cy="251792"/>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L1 </a:t>
            </a:r>
            <a:r>
              <a:rPr kumimoji="1" lang="en-US" sz="1800" b="1" i="0" u="none" strike="noStrike" cap="none" normalizeH="0" baseline="0" dirty="0" err="1">
                <a:ln>
                  <a:noFill/>
                </a:ln>
                <a:solidFill>
                  <a:schemeClr val="tx1"/>
                </a:solidFill>
                <a:effectLst/>
                <a:latin typeface="Arial" pitchFamily="34" charset="0"/>
                <a:ea typeface="新細明體" pitchFamily="18" charset="-120"/>
              </a:rPr>
              <a:t>Dcache</a:t>
            </a: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28059445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
        <p:nvSpPr>
          <p:cNvPr id="10" name="Title 3">
            <a:extLst>
              <a:ext uri="{FF2B5EF4-FFF2-40B4-BE49-F238E27FC236}">
                <a16:creationId xmlns:a16="http://schemas.microsoft.com/office/drawing/2014/main" id="{7FA42CA0-C88E-4EDF-9859-3A0F65C1B7F3}"/>
              </a:ext>
            </a:extLst>
          </p:cNvPr>
          <p:cNvSpPr txBox="1">
            <a:spLocks/>
          </p:cNvSpPr>
          <p:nvPr/>
        </p:nvSpPr>
        <p:spPr bwMode="auto">
          <a:xfrm>
            <a:off x="1136441" y="116733"/>
            <a:ext cx="10371380" cy="59739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kumimoji="1" sz="5333"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a:lstStyle>
          <a:p>
            <a:r>
              <a:rPr lang="en-US" altLang="zh-TW" sz="3600" kern="0" dirty="0">
                <a:latin typeface="Times New Roman" panose="02020603050405020304" pitchFamily="18" charset="0"/>
                <a:cs typeface="Times New Roman" panose="02020603050405020304" pitchFamily="18" charset="0"/>
              </a:rPr>
              <a:t>Memory Latency/Bandwidth Comparisons for A100</a:t>
            </a:r>
            <a:endParaRPr lang="zh-TW" altLang="en-US" sz="3600" kern="0" dirty="0">
              <a:latin typeface="Times New Roman" panose="02020603050405020304" pitchFamily="18" charset="0"/>
              <a:cs typeface="Times New Roman" panose="02020603050405020304" pitchFamily="18" charset="0"/>
            </a:endParaRPr>
          </a:p>
        </p:txBody>
      </p:sp>
      <p:sp>
        <p:nvSpPr>
          <p:cNvPr id="74" name="Content Placeholder 2">
            <a:extLst>
              <a:ext uri="{FF2B5EF4-FFF2-40B4-BE49-F238E27FC236}">
                <a16:creationId xmlns:a16="http://schemas.microsoft.com/office/drawing/2014/main" id="{480BD219-00F6-42F9-83C8-A92BD8A3178F}"/>
              </a:ext>
            </a:extLst>
          </p:cNvPr>
          <p:cNvSpPr txBox="1">
            <a:spLocks/>
          </p:cNvSpPr>
          <p:nvPr/>
        </p:nvSpPr>
        <p:spPr bwMode="auto">
          <a:xfrm>
            <a:off x="762000" y="960284"/>
            <a:ext cx="4520120" cy="513217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ctr" rtl="0" eaLnBrk="1" fontAlgn="base" hangingPunct="1">
              <a:spcBef>
                <a:spcPct val="20000"/>
              </a:spcBef>
              <a:spcAft>
                <a:spcPct val="0"/>
              </a:spcAft>
              <a:buClr>
                <a:srgbClr val="0000FF"/>
              </a:buClr>
              <a:buSzPct val="80000"/>
              <a:buFont typeface="Wingdings" pitchFamily="2" charset="2"/>
              <a:buNone/>
              <a:defRPr kumimoji="1" sz="3733">
                <a:solidFill>
                  <a:schemeClr val="tx1"/>
                </a:solidFill>
                <a:latin typeface="Calibri" pitchFamily="34" charset="0"/>
                <a:ea typeface="標楷體" pitchFamily="65" charset="-120"/>
                <a:cs typeface="+mn-cs"/>
              </a:defRPr>
            </a:lvl1pPr>
            <a:lvl2pPr marL="457177" indent="0" algn="ctr" rtl="0" eaLnBrk="1" fontAlgn="base" hangingPunct="1">
              <a:spcBef>
                <a:spcPct val="20000"/>
              </a:spcBef>
              <a:spcAft>
                <a:spcPct val="0"/>
              </a:spcAft>
              <a:buClr>
                <a:srgbClr val="0000FF"/>
              </a:buClr>
              <a:buSzPct val="90000"/>
              <a:buFont typeface="Arial" charset="0"/>
              <a:buNone/>
              <a:defRPr kumimoji="1" sz="3200">
                <a:solidFill>
                  <a:schemeClr val="tx1"/>
                </a:solidFill>
                <a:latin typeface="Calibri" pitchFamily="34" charset="0"/>
                <a:ea typeface="標楷體" pitchFamily="65" charset="-120"/>
              </a:defRPr>
            </a:lvl2pPr>
            <a:lvl3pPr marL="914354" indent="0" algn="ctr" rtl="0" eaLnBrk="1" fontAlgn="base" hangingPunct="1">
              <a:spcBef>
                <a:spcPct val="20000"/>
              </a:spcBef>
              <a:spcAft>
                <a:spcPct val="0"/>
              </a:spcAft>
              <a:buNone/>
              <a:defRPr kumimoji="1" sz="2400">
                <a:solidFill>
                  <a:schemeClr val="tx1"/>
                </a:solidFill>
                <a:latin typeface="+mn-lt"/>
                <a:ea typeface="+mn-ea"/>
              </a:defRPr>
            </a:lvl3pPr>
            <a:lvl4pPr marL="1371531" indent="0" algn="ctr" rtl="0" eaLnBrk="1" fontAlgn="base" hangingPunct="1">
              <a:spcBef>
                <a:spcPct val="20000"/>
              </a:spcBef>
              <a:spcAft>
                <a:spcPct val="0"/>
              </a:spcAft>
              <a:buNone/>
              <a:defRPr kumimoji="1" sz="2000">
                <a:solidFill>
                  <a:schemeClr val="tx1"/>
                </a:solidFill>
                <a:latin typeface="+mn-lt"/>
                <a:ea typeface="+mn-ea"/>
              </a:defRPr>
            </a:lvl4pPr>
            <a:lvl5pPr marL="1828709" indent="0" algn="ctr" rtl="0" eaLnBrk="1" fontAlgn="base" hangingPunct="1">
              <a:spcBef>
                <a:spcPct val="20000"/>
              </a:spcBef>
              <a:spcAft>
                <a:spcPct val="0"/>
              </a:spcAft>
              <a:buNone/>
              <a:defRPr kumimoji="1" sz="2000">
                <a:solidFill>
                  <a:schemeClr val="tx1"/>
                </a:solidFill>
                <a:latin typeface="+mn-lt"/>
                <a:ea typeface="+mn-ea"/>
              </a:defRPr>
            </a:lvl5pPr>
            <a:lvl6pPr marL="2285886" indent="0" algn="ctr" rtl="0" eaLnBrk="1" fontAlgn="base" hangingPunct="1">
              <a:spcBef>
                <a:spcPct val="20000"/>
              </a:spcBef>
              <a:spcAft>
                <a:spcPct val="0"/>
              </a:spcAft>
              <a:buNone/>
              <a:defRPr kumimoji="1" sz="2000">
                <a:solidFill>
                  <a:schemeClr val="tx1"/>
                </a:solidFill>
                <a:latin typeface="+mn-lt"/>
                <a:ea typeface="+mn-ea"/>
              </a:defRPr>
            </a:lvl6pPr>
            <a:lvl7pPr marL="2743063" indent="0" algn="ctr" rtl="0" eaLnBrk="1" fontAlgn="base" hangingPunct="1">
              <a:spcBef>
                <a:spcPct val="20000"/>
              </a:spcBef>
              <a:spcAft>
                <a:spcPct val="0"/>
              </a:spcAft>
              <a:buNone/>
              <a:defRPr kumimoji="1" sz="2000">
                <a:solidFill>
                  <a:schemeClr val="tx1"/>
                </a:solidFill>
                <a:latin typeface="+mn-lt"/>
                <a:ea typeface="+mn-ea"/>
              </a:defRPr>
            </a:lvl7pPr>
            <a:lvl8pPr marL="3200240" indent="0" algn="ctr" rtl="0" eaLnBrk="1" fontAlgn="base" hangingPunct="1">
              <a:spcBef>
                <a:spcPct val="20000"/>
              </a:spcBef>
              <a:spcAft>
                <a:spcPct val="0"/>
              </a:spcAft>
              <a:buNone/>
              <a:defRPr kumimoji="1" sz="2000">
                <a:solidFill>
                  <a:schemeClr val="tx1"/>
                </a:solidFill>
                <a:latin typeface="+mn-lt"/>
                <a:ea typeface="+mn-ea"/>
              </a:defRPr>
            </a:lvl8pPr>
            <a:lvl9pPr marL="3657417" indent="0" algn="ctr" rtl="0" eaLnBrk="1" fontAlgn="base" hangingPunct="1">
              <a:spcBef>
                <a:spcPct val="20000"/>
              </a:spcBef>
              <a:spcAft>
                <a:spcPct val="0"/>
              </a:spcAft>
              <a:buNone/>
              <a:defRPr kumimoji="1" sz="2000">
                <a:solidFill>
                  <a:schemeClr val="tx1"/>
                </a:solidFill>
                <a:latin typeface="+mn-lt"/>
                <a:ea typeface="+mn-ea"/>
              </a:defRPr>
            </a:lvl9pPr>
          </a:lstStyle>
          <a:p>
            <a:pPr algn="l"/>
            <a:endParaRPr lang="en-US" sz="2800" b="0" i="0" dirty="0">
              <a:solidFill>
                <a:srgbClr val="1F1F1F"/>
              </a:solidFill>
              <a:effectLst/>
              <a:latin typeface="Google Sans"/>
            </a:endParaRPr>
          </a:p>
        </p:txBody>
      </p:sp>
      <p:sp>
        <p:nvSpPr>
          <p:cNvPr id="5" name="Content Placeholder 2">
            <a:extLst>
              <a:ext uri="{FF2B5EF4-FFF2-40B4-BE49-F238E27FC236}">
                <a16:creationId xmlns:a16="http://schemas.microsoft.com/office/drawing/2014/main" id="{CDD7F993-B8E2-4F06-BFB0-F9AE5BC483D6}"/>
              </a:ext>
            </a:extLst>
          </p:cNvPr>
          <p:cNvSpPr txBox="1">
            <a:spLocks/>
          </p:cNvSpPr>
          <p:nvPr/>
        </p:nvSpPr>
        <p:spPr bwMode="auto">
          <a:xfrm>
            <a:off x="350195" y="1086592"/>
            <a:ext cx="5745805" cy="48795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ctr" rtl="0" eaLnBrk="1" fontAlgn="base" hangingPunct="1">
              <a:spcBef>
                <a:spcPct val="20000"/>
              </a:spcBef>
              <a:spcAft>
                <a:spcPct val="0"/>
              </a:spcAft>
              <a:buClr>
                <a:srgbClr val="0000FF"/>
              </a:buClr>
              <a:buSzPct val="80000"/>
              <a:buFont typeface="Wingdings" pitchFamily="2" charset="2"/>
              <a:buNone/>
              <a:defRPr kumimoji="1" sz="3733">
                <a:solidFill>
                  <a:schemeClr val="tx1"/>
                </a:solidFill>
                <a:latin typeface="Calibri" pitchFamily="34" charset="0"/>
                <a:ea typeface="標楷體" pitchFamily="65" charset="-120"/>
                <a:cs typeface="+mn-cs"/>
              </a:defRPr>
            </a:lvl1pPr>
            <a:lvl2pPr marL="457177" indent="0" algn="ctr" rtl="0" eaLnBrk="1" fontAlgn="base" hangingPunct="1">
              <a:spcBef>
                <a:spcPct val="20000"/>
              </a:spcBef>
              <a:spcAft>
                <a:spcPct val="0"/>
              </a:spcAft>
              <a:buClr>
                <a:srgbClr val="0000FF"/>
              </a:buClr>
              <a:buSzPct val="90000"/>
              <a:buFont typeface="Arial" charset="0"/>
              <a:buNone/>
              <a:defRPr kumimoji="1" sz="3200">
                <a:solidFill>
                  <a:schemeClr val="tx1"/>
                </a:solidFill>
                <a:latin typeface="Calibri" pitchFamily="34" charset="0"/>
                <a:ea typeface="標楷體" pitchFamily="65" charset="-120"/>
              </a:defRPr>
            </a:lvl2pPr>
            <a:lvl3pPr marL="914354" indent="0" algn="ctr" rtl="0" eaLnBrk="1" fontAlgn="base" hangingPunct="1">
              <a:spcBef>
                <a:spcPct val="20000"/>
              </a:spcBef>
              <a:spcAft>
                <a:spcPct val="0"/>
              </a:spcAft>
              <a:buNone/>
              <a:defRPr kumimoji="1" sz="2400">
                <a:solidFill>
                  <a:schemeClr val="tx1"/>
                </a:solidFill>
                <a:latin typeface="+mn-lt"/>
                <a:ea typeface="+mn-ea"/>
              </a:defRPr>
            </a:lvl3pPr>
            <a:lvl4pPr marL="1371531" indent="0" algn="ctr" rtl="0" eaLnBrk="1" fontAlgn="base" hangingPunct="1">
              <a:spcBef>
                <a:spcPct val="20000"/>
              </a:spcBef>
              <a:spcAft>
                <a:spcPct val="0"/>
              </a:spcAft>
              <a:buNone/>
              <a:defRPr kumimoji="1" sz="2000">
                <a:solidFill>
                  <a:schemeClr val="tx1"/>
                </a:solidFill>
                <a:latin typeface="+mn-lt"/>
                <a:ea typeface="+mn-ea"/>
              </a:defRPr>
            </a:lvl4pPr>
            <a:lvl5pPr marL="1828709" indent="0" algn="ctr" rtl="0" eaLnBrk="1" fontAlgn="base" hangingPunct="1">
              <a:spcBef>
                <a:spcPct val="20000"/>
              </a:spcBef>
              <a:spcAft>
                <a:spcPct val="0"/>
              </a:spcAft>
              <a:buNone/>
              <a:defRPr kumimoji="1" sz="2000">
                <a:solidFill>
                  <a:schemeClr val="tx1"/>
                </a:solidFill>
                <a:latin typeface="+mn-lt"/>
                <a:ea typeface="+mn-ea"/>
              </a:defRPr>
            </a:lvl5pPr>
            <a:lvl6pPr marL="2285886" indent="0" algn="ctr" rtl="0" eaLnBrk="1" fontAlgn="base" hangingPunct="1">
              <a:spcBef>
                <a:spcPct val="20000"/>
              </a:spcBef>
              <a:spcAft>
                <a:spcPct val="0"/>
              </a:spcAft>
              <a:buNone/>
              <a:defRPr kumimoji="1" sz="2000">
                <a:solidFill>
                  <a:schemeClr val="tx1"/>
                </a:solidFill>
                <a:latin typeface="+mn-lt"/>
                <a:ea typeface="+mn-ea"/>
              </a:defRPr>
            </a:lvl6pPr>
            <a:lvl7pPr marL="2743063" indent="0" algn="ctr" rtl="0" eaLnBrk="1" fontAlgn="base" hangingPunct="1">
              <a:spcBef>
                <a:spcPct val="20000"/>
              </a:spcBef>
              <a:spcAft>
                <a:spcPct val="0"/>
              </a:spcAft>
              <a:buNone/>
              <a:defRPr kumimoji="1" sz="2000">
                <a:solidFill>
                  <a:schemeClr val="tx1"/>
                </a:solidFill>
                <a:latin typeface="+mn-lt"/>
                <a:ea typeface="+mn-ea"/>
              </a:defRPr>
            </a:lvl7pPr>
            <a:lvl8pPr marL="3200240" indent="0" algn="ctr" rtl="0" eaLnBrk="1" fontAlgn="base" hangingPunct="1">
              <a:spcBef>
                <a:spcPct val="20000"/>
              </a:spcBef>
              <a:spcAft>
                <a:spcPct val="0"/>
              </a:spcAft>
              <a:buNone/>
              <a:defRPr kumimoji="1" sz="2000">
                <a:solidFill>
                  <a:schemeClr val="tx1"/>
                </a:solidFill>
                <a:latin typeface="+mn-lt"/>
                <a:ea typeface="+mn-ea"/>
              </a:defRPr>
            </a:lvl8pPr>
            <a:lvl9pPr marL="3657417" indent="0" algn="ctr" rtl="0" eaLnBrk="1" fontAlgn="base" hangingPunct="1">
              <a:spcBef>
                <a:spcPct val="20000"/>
              </a:spcBef>
              <a:spcAft>
                <a:spcPct val="0"/>
              </a:spcAft>
              <a:buNone/>
              <a:defRPr kumimoji="1" sz="2000">
                <a:solidFill>
                  <a:schemeClr val="tx1"/>
                </a:solidFill>
                <a:latin typeface="+mn-lt"/>
                <a:ea typeface="+mn-ea"/>
              </a:defRPr>
            </a:lvl9pPr>
          </a:lstStyle>
          <a:p>
            <a:r>
              <a:rPr lang="en-US" sz="2400" b="0" i="0" dirty="0">
                <a:solidFill>
                  <a:srgbClr val="1F1F1F"/>
                </a:solidFill>
                <a:effectLst/>
                <a:latin typeface="Google Sans"/>
              </a:rPr>
              <a:t>Latency (based on 1-1.4 GHz)</a:t>
            </a:r>
          </a:p>
          <a:p>
            <a:pPr algn="l"/>
            <a:endParaRPr lang="en-US" sz="2400" dirty="0">
              <a:solidFill>
                <a:srgbClr val="1F1F1F"/>
              </a:solidFill>
              <a:latin typeface="Google Sans"/>
            </a:endParaRPr>
          </a:p>
          <a:p>
            <a:pPr algn="l"/>
            <a:r>
              <a:rPr lang="en-US" sz="2400" b="0" i="0" dirty="0">
                <a:solidFill>
                  <a:srgbClr val="1F1F1F"/>
                </a:solidFill>
                <a:effectLst/>
                <a:latin typeface="Google Sans"/>
              </a:rPr>
              <a:t>Shared Memory: ~10-20 cycles</a:t>
            </a:r>
          </a:p>
          <a:p>
            <a:pPr algn="l"/>
            <a:r>
              <a:rPr lang="en-US" sz="2400" b="0" i="0" dirty="0">
                <a:solidFill>
                  <a:srgbClr val="1F1F1F"/>
                </a:solidFill>
                <a:effectLst/>
                <a:latin typeface="Google Sans"/>
              </a:rPr>
              <a:t>L1 Cache: ~30-50 cycles</a:t>
            </a:r>
          </a:p>
          <a:p>
            <a:pPr algn="l"/>
            <a:r>
              <a:rPr lang="en-US" sz="2400" b="0" i="0" dirty="0">
                <a:solidFill>
                  <a:srgbClr val="1F1F1F"/>
                </a:solidFill>
                <a:effectLst/>
                <a:latin typeface="Google Sans"/>
              </a:rPr>
              <a:t>L2 Cache: ~100-200 cycles</a:t>
            </a:r>
          </a:p>
          <a:p>
            <a:pPr algn="l"/>
            <a:r>
              <a:rPr lang="en-US" sz="2400" b="0" i="0" dirty="0">
                <a:solidFill>
                  <a:srgbClr val="1F1F1F"/>
                </a:solidFill>
                <a:effectLst/>
                <a:latin typeface="Google Sans"/>
              </a:rPr>
              <a:t>HBM Global Memory: ~200-400 cycles</a:t>
            </a:r>
          </a:p>
          <a:p>
            <a:pPr algn="l"/>
            <a:r>
              <a:rPr lang="en-US" sz="2400" b="0" i="0" dirty="0">
                <a:solidFill>
                  <a:srgbClr val="1F1F1F"/>
                </a:solidFill>
                <a:effectLst/>
                <a:latin typeface="Google Sans"/>
              </a:rPr>
              <a:t>CPU DRAM Memory (via PCIe): ~1000+ cycles</a:t>
            </a:r>
          </a:p>
        </p:txBody>
      </p:sp>
      <p:sp>
        <p:nvSpPr>
          <p:cNvPr id="9" name="Content Placeholder 2">
            <a:extLst>
              <a:ext uri="{FF2B5EF4-FFF2-40B4-BE49-F238E27FC236}">
                <a16:creationId xmlns:a16="http://schemas.microsoft.com/office/drawing/2014/main" id="{1A7A01B5-2A41-4B99-ABDC-0A45BE131EFF}"/>
              </a:ext>
            </a:extLst>
          </p:cNvPr>
          <p:cNvSpPr txBox="1">
            <a:spLocks/>
          </p:cNvSpPr>
          <p:nvPr/>
        </p:nvSpPr>
        <p:spPr bwMode="auto">
          <a:xfrm>
            <a:off x="6096000" y="1167319"/>
            <a:ext cx="5745805" cy="47014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ctr" rtl="0" eaLnBrk="1" fontAlgn="base" hangingPunct="1">
              <a:spcBef>
                <a:spcPct val="20000"/>
              </a:spcBef>
              <a:spcAft>
                <a:spcPct val="0"/>
              </a:spcAft>
              <a:buClr>
                <a:srgbClr val="0000FF"/>
              </a:buClr>
              <a:buSzPct val="80000"/>
              <a:buFont typeface="Wingdings" pitchFamily="2" charset="2"/>
              <a:buNone/>
              <a:defRPr kumimoji="1" sz="3733">
                <a:solidFill>
                  <a:schemeClr val="tx1"/>
                </a:solidFill>
                <a:latin typeface="Calibri" pitchFamily="34" charset="0"/>
                <a:ea typeface="標楷體" pitchFamily="65" charset="-120"/>
                <a:cs typeface="+mn-cs"/>
              </a:defRPr>
            </a:lvl1pPr>
            <a:lvl2pPr marL="457177" indent="0" algn="ctr" rtl="0" eaLnBrk="1" fontAlgn="base" hangingPunct="1">
              <a:spcBef>
                <a:spcPct val="20000"/>
              </a:spcBef>
              <a:spcAft>
                <a:spcPct val="0"/>
              </a:spcAft>
              <a:buClr>
                <a:srgbClr val="0000FF"/>
              </a:buClr>
              <a:buSzPct val="90000"/>
              <a:buFont typeface="Arial" charset="0"/>
              <a:buNone/>
              <a:defRPr kumimoji="1" sz="3200">
                <a:solidFill>
                  <a:schemeClr val="tx1"/>
                </a:solidFill>
                <a:latin typeface="Calibri" pitchFamily="34" charset="0"/>
                <a:ea typeface="標楷體" pitchFamily="65" charset="-120"/>
              </a:defRPr>
            </a:lvl2pPr>
            <a:lvl3pPr marL="914354" indent="0" algn="ctr" rtl="0" eaLnBrk="1" fontAlgn="base" hangingPunct="1">
              <a:spcBef>
                <a:spcPct val="20000"/>
              </a:spcBef>
              <a:spcAft>
                <a:spcPct val="0"/>
              </a:spcAft>
              <a:buNone/>
              <a:defRPr kumimoji="1" sz="2400">
                <a:solidFill>
                  <a:schemeClr val="tx1"/>
                </a:solidFill>
                <a:latin typeface="+mn-lt"/>
                <a:ea typeface="+mn-ea"/>
              </a:defRPr>
            </a:lvl3pPr>
            <a:lvl4pPr marL="1371531" indent="0" algn="ctr" rtl="0" eaLnBrk="1" fontAlgn="base" hangingPunct="1">
              <a:spcBef>
                <a:spcPct val="20000"/>
              </a:spcBef>
              <a:spcAft>
                <a:spcPct val="0"/>
              </a:spcAft>
              <a:buNone/>
              <a:defRPr kumimoji="1" sz="2000">
                <a:solidFill>
                  <a:schemeClr val="tx1"/>
                </a:solidFill>
                <a:latin typeface="+mn-lt"/>
                <a:ea typeface="+mn-ea"/>
              </a:defRPr>
            </a:lvl4pPr>
            <a:lvl5pPr marL="1828709" indent="0" algn="ctr" rtl="0" eaLnBrk="1" fontAlgn="base" hangingPunct="1">
              <a:spcBef>
                <a:spcPct val="20000"/>
              </a:spcBef>
              <a:spcAft>
                <a:spcPct val="0"/>
              </a:spcAft>
              <a:buNone/>
              <a:defRPr kumimoji="1" sz="2000">
                <a:solidFill>
                  <a:schemeClr val="tx1"/>
                </a:solidFill>
                <a:latin typeface="+mn-lt"/>
                <a:ea typeface="+mn-ea"/>
              </a:defRPr>
            </a:lvl5pPr>
            <a:lvl6pPr marL="2285886" indent="0" algn="ctr" rtl="0" eaLnBrk="1" fontAlgn="base" hangingPunct="1">
              <a:spcBef>
                <a:spcPct val="20000"/>
              </a:spcBef>
              <a:spcAft>
                <a:spcPct val="0"/>
              </a:spcAft>
              <a:buNone/>
              <a:defRPr kumimoji="1" sz="2000">
                <a:solidFill>
                  <a:schemeClr val="tx1"/>
                </a:solidFill>
                <a:latin typeface="+mn-lt"/>
                <a:ea typeface="+mn-ea"/>
              </a:defRPr>
            </a:lvl6pPr>
            <a:lvl7pPr marL="2743063" indent="0" algn="ctr" rtl="0" eaLnBrk="1" fontAlgn="base" hangingPunct="1">
              <a:spcBef>
                <a:spcPct val="20000"/>
              </a:spcBef>
              <a:spcAft>
                <a:spcPct val="0"/>
              </a:spcAft>
              <a:buNone/>
              <a:defRPr kumimoji="1" sz="2000">
                <a:solidFill>
                  <a:schemeClr val="tx1"/>
                </a:solidFill>
                <a:latin typeface="+mn-lt"/>
                <a:ea typeface="+mn-ea"/>
              </a:defRPr>
            </a:lvl7pPr>
            <a:lvl8pPr marL="3200240" indent="0" algn="ctr" rtl="0" eaLnBrk="1" fontAlgn="base" hangingPunct="1">
              <a:spcBef>
                <a:spcPct val="20000"/>
              </a:spcBef>
              <a:spcAft>
                <a:spcPct val="0"/>
              </a:spcAft>
              <a:buNone/>
              <a:defRPr kumimoji="1" sz="2000">
                <a:solidFill>
                  <a:schemeClr val="tx1"/>
                </a:solidFill>
                <a:latin typeface="+mn-lt"/>
                <a:ea typeface="+mn-ea"/>
              </a:defRPr>
            </a:lvl8pPr>
            <a:lvl9pPr marL="3657417" indent="0" algn="ctr" rtl="0" eaLnBrk="1" fontAlgn="base" hangingPunct="1">
              <a:spcBef>
                <a:spcPct val="20000"/>
              </a:spcBef>
              <a:spcAft>
                <a:spcPct val="0"/>
              </a:spcAft>
              <a:buNone/>
              <a:defRPr kumimoji="1" sz="2000">
                <a:solidFill>
                  <a:schemeClr val="tx1"/>
                </a:solidFill>
                <a:latin typeface="+mn-lt"/>
                <a:ea typeface="+mn-ea"/>
              </a:defRPr>
            </a:lvl9pPr>
          </a:lstStyle>
          <a:p>
            <a:r>
              <a:rPr lang="en-US" sz="2400" b="0" i="0" dirty="0">
                <a:solidFill>
                  <a:srgbClr val="1F1F1F"/>
                </a:solidFill>
                <a:effectLst/>
                <a:latin typeface="Google Sans"/>
              </a:rPr>
              <a:t>Bandwidth (GB/s)</a:t>
            </a:r>
          </a:p>
          <a:p>
            <a:pPr algn="l"/>
            <a:endParaRPr lang="en-US" sz="2400" dirty="0">
              <a:solidFill>
                <a:srgbClr val="1F1F1F"/>
              </a:solidFill>
              <a:latin typeface="Google Sans"/>
            </a:endParaRPr>
          </a:p>
          <a:p>
            <a:pPr algn="l"/>
            <a:r>
              <a:rPr lang="en-US" sz="2400" b="0" i="0" dirty="0">
                <a:solidFill>
                  <a:srgbClr val="1F1F1F"/>
                </a:solidFill>
                <a:effectLst/>
                <a:latin typeface="Google Sans"/>
              </a:rPr>
              <a:t>Shared Memory: ~ 10000</a:t>
            </a:r>
          </a:p>
          <a:p>
            <a:pPr algn="l"/>
            <a:r>
              <a:rPr lang="en-US" sz="2400" b="0" i="0" dirty="0">
                <a:solidFill>
                  <a:srgbClr val="1F1F1F"/>
                </a:solidFill>
                <a:effectLst/>
                <a:latin typeface="Google Sans"/>
              </a:rPr>
              <a:t>L1 Cache: ~5000</a:t>
            </a:r>
          </a:p>
          <a:p>
            <a:pPr algn="l"/>
            <a:r>
              <a:rPr lang="en-US" sz="2400" b="0" i="0" dirty="0">
                <a:solidFill>
                  <a:srgbClr val="1F1F1F"/>
                </a:solidFill>
                <a:effectLst/>
                <a:latin typeface="Google Sans"/>
              </a:rPr>
              <a:t>L2 Cache: ~2000</a:t>
            </a:r>
          </a:p>
          <a:p>
            <a:pPr algn="l"/>
            <a:r>
              <a:rPr lang="en-US" sz="2400" b="0" i="0" dirty="0">
                <a:solidFill>
                  <a:srgbClr val="1F1F1F"/>
                </a:solidFill>
                <a:effectLst/>
                <a:latin typeface="Google Sans"/>
              </a:rPr>
              <a:t>HBM Global Memory: ~1555</a:t>
            </a:r>
          </a:p>
          <a:p>
            <a:pPr algn="l"/>
            <a:r>
              <a:rPr lang="en-US" sz="2400" b="0" i="0" dirty="0">
                <a:solidFill>
                  <a:srgbClr val="1F1F1F"/>
                </a:solidFill>
                <a:effectLst/>
                <a:latin typeface="Google Sans"/>
              </a:rPr>
              <a:t>CPU DRAM Memory (via PCIe): ~100-200</a:t>
            </a:r>
          </a:p>
          <a:p>
            <a:pPr algn="l"/>
            <a:r>
              <a:rPr lang="en-US" sz="2400" dirty="0">
                <a:solidFill>
                  <a:srgbClr val="1F1F1F"/>
                </a:solidFill>
                <a:latin typeface="Google Sans"/>
              </a:rPr>
              <a:t>DDR5 SDRAM ~80-100</a:t>
            </a:r>
            <a:r>
              <a:rPr lang="en-US" sz="2400" b="0" i="0" dirty="0">
                <a:solidFill>
                  <a:srgbClr val="1F1F1F"/>
                </a:solidFill>
                <a:effectLst/>
                <a:latin typeface="Google Sans"/>
              </a:rPr>
              <a:t> </a:t>
            </a:r>
          </a:p>
        </p:txBody>
      </p:sp>
    </p:spTree>
    <p:extLst>
      <p:ext uri="{BB962C8B-B14F-4D97-AF65-F5344CB8AC3E}">
        <p14:creationId xmlns:p14="http://schemas.microsoft.com/office/powerpoint/2010/main" val="4174262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
        <p:nvSpPr>
          <p:cNvPr id="10" name="Title 3">
            <a:extLst>
              <a:ext uri="{FF2B5EF4-FFF2-40B4-BE49-F238E27FC236}">
                <a16:creationId xmlns:a16="http://schemas.microsoft.com/office/drawing/2014/main" id="{7FA42CA0-C88E-4EDF-9859-3A0F65C1B7F3}"/>
              </a:ext>
            </a:extLst>
          </p:cNvPr>
          <p:cNvSpPr txBox="1">
            <a:spLocks/>
          </p:cNvSpPr>
          <p:nvPr/>
        </p:nvSpPr>
        <p:spPr bwMode="auto">
          <a:xfrm>
            <a:off x="1189973" y="187890"/>
            <a:ext cx="9125220" cy="59739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kumimoji="1" sz="5333"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a:lstStyle>
          <a:p>
            <a:r>
              <a:rPr lang="en-US" altLang="zh-TW" sz="4000" kern="0" dirty="0">
                <a:latin typeface="Times New Roman" panose="02020603050405020304" pitchFamily="18" charset="0"/>
                <a:cs typeface="Times New Roman" panose="02020603050405020304" pitchFamily="18" charset="0"/>
              </a:rPr>
              <a:t>NVidia Ada GPU Architecture</a:t>
            </a:r>
            <a:endParaRPr lang="zh-TW" altLang="en-US" sz="4000" kern="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42705B5-CF5F-43C1-9037-54556C4CEB78}"/>
              </a:ext>
            </a:extLst>
          </p:cNvPr>
          <p:cNvPicPr>
            <a:picLocks noChangeAspect="1"/>
          </p:cNvPicPr>
          <p:nvPr/>
        </p:nvPicPr>
        <p:blipFill>
          <a:blip r:embed="rId3"/>
          <a:stretch>
            <a:fillRect/>
          </a:stretch>
        </p:blipFill>
        <p:spPr>
          <a:xfrm>
            <a:off x="0" y="1187419"/>
            <a:ext cx="8780929" cy="4935070"/>
          </a:xfrm>
          <a:prstGeom prst="rect">
            <a:avLst/>
          </a:prstGeom>
        </p:spPr>
      </p:pic>
      <p:sp>
        <p:nvSpPr>
          <p:cNvPr id="6" name="TextBox 5">
            <a:extLst>
              <a:ext uri="{FF2B5EF4-FFF2-40B4-BE49-F238E27FC236}">
                <a16:creationId xmlns:a16="http://schemas.microsoft.com/office/drawing/2014/main" id="{2EF04E74-6FD6-43B0-B201-B8AD0DABC98E}"/>
              </a:ext>
            </a:extLst>
          </p:cNvPr>
          <p:cNvSpPr txBox="1"/>
          <p:nvPr/>
        </p:nvSpPr>
        <p:spPr>
          <a:xfrm>
            <a:off x="8542422" y="1105731"/>
            <a:ext cx="3545542" cy="5016758"/>
          </a:xfrm>
          <a:prstGeom prst="rect">
            <a:avLst/>
          </a:prstGeom>
          <a:noFill/>
        </p:spPr>
        <p:txBody>
          <a:bodyPr wrap="square" rtlCol="0" anchor="ctr" anchorCtr="1">
            <a:spAutoFit/>
          </a:bodyPr>
          <a:lstStyle/>
          <a:p>
            <a:pPr marL="285750" indent="-285750">
              <a:buFont typeface="Arial" panose="020B0604020202020204" pitchFamily="34" charset="0"/>
              <a:buChar char="•"/>
            </a:pPr>
            <a:r>
              <a:rPr lang="en-US" sz="2000" dirty="0">
                <a:solidFill>
                  <a:srgbClr val="FF0000"/>
                </a:solidFill>
              </a:rPr>
              <a:t>12 Graphics Processing Clusters (GPCs)</a:t>
            </a:r>
          </a:p>
          <a:p>
            <a:endParaRPr lang="en-US" sz="2000" dirty="0"/>
          </a:p>
          <a:p>
            <a:pPr marL="285750" indent="-285750">
              <a:buFont typeface="Arial" panose="020B0604020202020204" pitchFamily="34" charset="0"/>
              <a:buChar char="•"/>
            </a:pPr>
            <a:r>
              <a:rPr lang="en-US" sz="2000" dirty="0"/>
              <a:t>72 Texture Processing Clusters (TPCs)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solidFill>
                  <a:srgbClr val="FF0000"/>
                </a:solidFill>
              </a:rPr>
              <a:t>144 Streaming Multiprocessors (SMs)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solidFill>
                  <a:srgbClr val="FF0000"/>
                </a:solidFill>
              </a:rPr>
              <a:t>4 SP per SM</a:t>
            </a:r>
          </a:p>
          <a:p>
            <a:pPr marL="285750" indent="-285750">
              <a:buFont typeface="Arial" panose="020B0604020202020204" pitchFamily="34" charset="0"/>
              <a:buChar char="•"/>
            </a:pPr>
            <a:r>
              <a:rPr lang="en-US" sz="2000" dirty="0">
                <a:solidFill>
                  <a:srgbClr val="FF0000"/>
                </a:solidFill>
              </a:rPr>
              <a:t>Warp size 32</a:t>
            </a:r>
          </a:p>
          <a:p>
            <a:endParaRPr lang="en-US" sz="2000" dirty="0"/>
          </a:p>
          <a:p>
            <a:r>
              <a:rPr lang="en-US" sz="2000" dirty="0"/>
              <a:t>Peak Performance:</a:t>
            </a:r>
          </a:p>
          <a:p>
            <a:r>
              <a:rPr lang="en-US" sz="2000" dirty="0"/>
              <a:t>144x32x4 = 18432 FP/clock</a:t>
            </a:r>
          </a:p>
          <a:p>
            <a:r>
              <a:rPr lang="en-US" sz="2000" dirty="0"/>
              <a:t>18432x2.56Gx2 (</a:t>
            </a:r>
            <a:r>
              <a:rPr lang="en-US" sz="2000" dirty="0" err="1"/>
              <a:t>fma</a:t>
            </a:r>
            <a:r>
              <a:rPr lang="en-US" sz="2000" dirty="0"/>
              <a:t>)</a:t>
            </a:r>
          </a:p>
          <a:p>
            <a:r>
              <a:rPr lang="en-US" sz="2000" dirty="0"/>
              <a:t>= 94.3 tera FLOPs.</a:t>
            </a:r>
          </a:p>
        </p:txBody>
      </p:sp>
      <p:sp>
        <p:nvSpPr>
          <p:cNvPr id="7" name="Oval 6">
            <a:extLst>
              <a:ext uri="{FF2B5EF4-FFF2-40B4-BE49-F238E27FC236}">
                <a16:creationId xmlns:a16="http://schemas.microsoft.com/office/drawing/2014/main" id="{CB9866BA-1A77-4B7B-A2AC-7FFDB75E4584}"/>
              </a:ext>
            </a:extLst>
          </p:cNvPr>
          <p:cNvSpPr/>
          <p:nvPr/>
        </p:nvSpPr>
        <p:spPr bwMode="auto">
          <a:xfrm>
            <a:off x="104037" y="1187419"/>
            <a:ext cx="1939916" cy="1932299"/>
          </a:xfrm>
          <a:prstGeom prst="ellipse">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TextBox 7">
            <a:extLst>
              <a:ext uri="{FF2B5EF4-FFF2-40B4-BE49-F238E27FC236}">
                <a16:creationId xmlns:a16="http://schemas.microsoft.com/office/drawing/2014/main" id="{127D17E0-ADA7-4D13-B708-ACF9F2AB4524}"/>
              </a:ext>
            </a:extLst>
          </p:cNvPr>
          <p:cNvSpPr txBox="1"/>
          <p:nvPr/>
        </p:nvSpPr>
        <p:spPr>
          <a:xfrm>
            <a:off x="648237" y="1156642"/>
            <a:ext cx="962123" cy="523220"/>
          </a:xfrm>
          <a:prstGeom prst="rect">
            <a:avLst/>
          </a:prstGeom>
          <a:noFill/>
        </p:spPr>
        <p:txBody>
          <a:bodyPr wrap="none" rtlCol="0" anchor="ctr" anchorCtr="1">
            <a:spAutoFit/>
          </a:bodyPr>
          <a:lstStyle/>
          <a:p>
            <a:r>
              <a:rPr lang="en-US" sz="2800" b="1" dirty="0">
                <a:solidFill>
                  <a:schemeClr val="bg1"/>
                </a:solidFill>
                <a:ea typeface="標楷體" pitchFamily="65" charset="-120"/>
                <a:cs typeface="Calibri" pitchFamily="34" charset="0"/>
              </a:rPr>
              <a:t>GPC</a:t>
            </a:r>
          </a:p>
        </p:txBody>
      </p:sp>
    </p:spTree>
    <p:extLst>
      <p:ext uri="{BB962C8B-B14F-4D97-AF65-F5344CB8AC3E}">
        <p14:creationId xmlns:p14="http://schemas.microsoft.com/office/powerpoint/2010/main" val="32079914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Nvidia GPU Architectures </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35</a:t>
            </a:fld>
            <a:endParaRPr lang="zh-TW" altLang="en-US"/>
          </a:p>
        </p:txBody>
      </p:sp>
      <p:graphicFrame>
        <p:nvGraphicFramePr>
          <p:cNvPr id="7" name="Table 7">
            <a:extLst>
              <a:ext uri="{FF2B5EF4-FFF2-40B4-BE49-F238E27FC236}">
                <a16:creationId xmlns:a16="http://schemas.microsoft.com/office/drawing/2014/main" id="{9F0037A0-2351-4A57-806B-6FBA849C64E6}"/>
              </a:ext>
            </a:extLst>
          </p:cNvPr>
          <p:cNvGraphicFramePr>
            <a:graphicFrameLocks noGrp="1"/>
          </p:cNvGraphicFramePr>
          <p:nvPr>
            <p:extLst>
              <p:ext uri="{D42A27DB-BD31-4B8C-83A1-F6EECF244321}">
                <p14:modId xmlns:p14="http://schemas.microsoft.com/office/powerpoint/2010/main" val="476919121"/>
              </p:ext>
            </p:extLst>
          </p:nvPr>
        </p:nvGraphicFramePr>
        <p:xfrm>
          <a:off x="114300" y="1203959"/>
          <a:ext cx="12077700" cy="4951796"/>
        </p:xfrm>
        <a:graphic>
          <a:graphicData uri="http://schemas.openxmlformats.org/drawingml/2006/table">
            <a:tbl>
              <a:tblPr firstRow="1" bandRow="1">
                <a:tableStyleId>{5C22544A-7EE6-4342-B048-85BDC9FD1C3A}</a:tableStyleId>
              </a:tblPr>
              <a:tblGrid>
                <a:gridCol w="2415540">
                  <a:extLst>
                    <a:ext uri="{9D8B030D-6E8A-4147-A177-3AD203B41FA5}">
                      <a16:colId xmlns:a16="http://schemas.microsoft.com/office/drawing/2014/main" val="736646712"/>
                    </a:ext>
                  </a:extLst>
                </a:gridCol>
                <a:gridCol w="2415540">
                  <a:extLst>
                    <a:ext uri="{9D8B030D-6E8A-4147-A177-3AD203B41FA5}">
                      <a16:colId xmlns:a16="http://schemas.microsoft.com/office/drawing/2014/main" val="4139245061"/>
                    </a:ext>
                  </a:extLst>
                </a:gridCol>
                <a:gridCol w="2673909">
                  <a:extLst>
                    <a:ext uri="{9D8B030D-6E8A-4147-A177-3AD203B41FA5}">
                      <a16:colId xmlns:a16="http://schemas.microsoft.com/office/drawing/2014/main" val="1678480635"/>
                    </a:ext>
                  </a:extLst>
                </a:gridCol>
                <a:gridCol w="2077161">
                  <a:extLst>
                    <a:ext uri="{9D8B030D-6E8A-4147-A177-3AD203B41FA5}">
                      <a16:colId xmlns:a16="http://schemas.microsoft.com/office/drawing/2014/main" val="103547683"/>
                    </a:ext>
                  </a:extLst>
                </a:gridCol>
                <a:gridCol w="2495550">
                  <a:extLst>
                    <a:ext uri="{9D8B030D-6E8A-4147-A177-3AD203B41FA5}">
                      <a16:colId xmlns:a16="http://schemas.microsoft.com/office/drawing/2014/main" val="867167911"/>
                    </a:ext>
                  </a:extLst>
                </a:gridCol>
              </a:tblGrid>
              <a:tr h="807403">
                <a:tc>
                  <a:txBody>
                    <a:bodyPr/>
                    <a:lstStyle/>
                    <a:p>
                      <a:r>
                        <a:rPr lang="en-US" dirty="0"/>
                        <a:t>Data center GPGPU</a:t>
                      </a:r>
                    </a:p>
                    <a:p>
                      <a:r>
                        <a:rPr lang="en-US" dirty="0"/>
                        <a:t>Graphics GPU</a:t>
                      </a:r>
                    </a:p>
                  </a:txBody>
                  <a:tcPr/>
                </a:tc>
                <a:tc>
                  <a:txBody>
                    <a:bodyPr/>
                    <a:lstStyle/>
                    <a:p>
                      <a:r>
                        <a:rPr lang="en-US" dirty="0"/>
                        <a:t>Tesla (T4)</a:t>
                      </a:r>
                    </a:p>
                    <a:p>
                      <a:r>
                        <a:rPr lang="en-US" dirty="0"/>
                        <a:t>Turing (RTX 20xx)</a:t>
                      </a:r>
                    </a:p>
                  </a:txBody>
                  <a:tcPr/>
                </a:tc>
                <a:tc>
                  <a:txBody>
                    <a:bodyPr/>
                    <a:lstStyle/>
                    <a:p>
                      <a:r>
                        <a:rPr lang="en-US" dirty="0" err="1"/>
                        <a:t>Amphere</a:t>
                      </a:r>
                      <a:r>
                        <a:rPr lang="en-US" dirty="0"/>
                        <a:t> (A100)</a:t>
                      </a:r>
                    </a:p>
                    <a:p>
                      <a:r>
                        <a:rPr lang="en-US" dirty="0" err="1"/>
                        <a:t>Amphere</a:t>
                      </a:r>
                      <a:r>
                        <a:rPr lang="en-US" dirty="0"/>
                        <a:t> (RTX30xx)</a:t>
                      </a:r>
                    </a:p>
                  </a:txBody>
                  <a:tcPr/>
                </a:tc>
                <a:tc>
                  <a:txBody>
                    <a:bodyPr/>
                    <a:lstStyle/>
                    <a:p>
                      <a:r>
                        <a:rPr lang="en-US" dirty="0"/>
                        <a:t>Hopper (H100)</a:t>
                      </a:r>
                    </a:p>
                    <a:p>
                      <a:r>
                        <a:rPr lang="en-US" dirty="0"/>
                        <a:t>Ada Lovelace (RTX 40xx)</a:t>
                      </a:r>
                    </a:p>
                  </a:txBody>
                  <a:tcPr/>
                </a:tc>
                <a:tc>
                  <a:txBody>
                    <a:bodyPr/>
                    <a:lstStyle/>
                    <a:p>
                      <a:r>
                        <a:rPr lang="en-US" dirty="0"/>
                        <a:t>Blackwell (B100)</a:t>
                      </a:r>
                    </a:p>
                    <a:p>
                      <a:r>
                        <a:rPr lang="en-US" dirty="0"/>
                        <a:t>Blackwell (RTX 50xx)</a:t>
                      </a:r>
                    </a:p>
                    <a:p>
                      <a:endParaRPr lang="en-US" dirty="0"/>
                    </a:p>
                  </a:txBody>
                  <a:tcPr/>
                </a:tc>
                <a:extLst>
                  <a:ext uri="{0D108BD9-81ED-4DB2-BD59-A6C34878D82A}">
                    <a16:rowId xmlns:a16="http://schemas.microsoft.com/office/drawing/2014/main" val="1935939762"/>
                  </a:ext>
                </a:extLst>
              </a:tr>
              <a:tr h="807403">
                <a:tc>
                  <a:txBody>
                    <a:bodyPr/>
                    <a:lstStyle/>
                    <a:p>
                      <a:r>
                        <a:rPr lang="en-US" dirty="0"/>
                        <a:t>Number of SMs per chip</a:t>
                      </a:r>
                    </a:p>
                  </a:txBody>
                  <a:tcPr/>
                </a:tc>
                <a:tc>
                  <a:txBody>
                    <a:bodyPr/>
                    <a:lstStyle/>
                    <a:p>
                      <a:pPr algn="ctr"/>
                      <a:r>
                        <a:rPr lang="en-US" dirty="0"/>
                        <a:t>40</a:t>
                      </a:r>
                    </a:p>
                  </a:txBody>
                  <a:tcPr/>
                </a:tc>
                <a:tc>
                  <a:txBody>
                    <a:bodyPr/>
                    <a:lstStyle/>
                    <a:p>
                      <a:pPr algn="ctr"/>
                      <a:r>
                        <a:rPr lang="en-US" dirty="0"/>
                        <a:t>108</a:t>
                      </a:r>
                    </a:p>
                    <a:p>
                      <a:pPr algn="ctr"/>
                      <a:r>
                        <a:rPr lang="en-US" dirty="0"/>
                        <a:t>(128)</a:t>
                      </a:r>
                    </a:p>
                  </a:txBody>
                  <a:tcPr/>
                </a:tc>
                <a:tc>
                  <a:txBody>
                    <a:bodyPr/>
                    <a:lstStyle/>
                    <a:p>
                      <a:pPr algn="ctr"/>
                      <a:r>
                        <a:rPr lang="en-US" dirty="0"/>
                        <a:t>132</a:t>
                      </a:r>
                    </a:p>
                    <a:p>
                      <a:pPr algn="ctr"/>
                      <a:r>
                        <a:rPr lang="en-US" dirty="0"/>
                        <a:t>(144)</a:t>
                      </a:r>
                    </a:p>
                  </a:txBody>
                  <a:tcPr/>
                </a:tc>
                <a:tc>
                  <a:txBody>
                    <a:bodyPr/>
                    <a:lstStyle/>
                    <a:p>
                      <a:pPr algn="ctr"/>
                      <a:r>
                        <a:rPr lang="en-US" dirty="0"/>
                        <a:t>144-192</a:t>
                      </a:r>
                    </a:p>
                  </a:txBody>
                  <a:tcPr/>
                </a:tc>
                <a:extLst>
                  <a:ext uri="{0D108BD9-81ED-4DB2-BD59-A6C34878D82A}">
                    <a16:rowId xmlns:a16="http://schemas.microsoft.com/office/drawing/2014/main" val="2562443824"/>
                  </a:ext>
                </a:extLst>
              </a:tr>
              <a:tr h="807403">
                <a:tc>
                  <a:txBody>
                    <a:bodyPr/>
                    <a:lstStyle/>
                    <a:p>
                      <a:r>
                        <a:rPr lang="en-US" dirty="0"/>
                        <a:t>CUDA core per SM</a:t>
                      </a:r>
                    </a:p>
                    <a:p>
                      <a:r>
                        <a:rPr lang="en-US" dirty="0"/>
                        <a:t>(SP)</a:t>
                      </a:r>
                    </a:p>
                  </a:txBody>
                  <a:tcPr/>
                </a:tc>
                <a:tc>
                  <a:txBody>
                    <a:bodyPr/>
                    <a:lstStyle/>
                    <a:p>
                      <a:pPr algn="ctr"/>
                      <a:r>
                        <a:rPr lang="en-US" dirty="0"/>
                        <a:t>64</a:t>
                      </a:r>
                    </a:p>
                    <a:p>
                      <a:pPr algn="ctr"/>
                      <a:endParaRPr lang="en-US" dirty="0"/>
                    </a:p>
                  </a:txBody>
                  <a:tcPr/>
                </a:tc>
                <a:tc>
                  <a:txBody>
                    <a:bodyPr/>
                    <a:lstStyle/>
                    <a:p>
                      <a:pPr algn="ctr"/>
                      <a:r>
                        <a:rPr lang="en-US" dirty="0"/>
                        <a:t>64</a:t>
                      </a:r>
                    </a:p>
                  </a:txBody>
                  <a:tcPr/>
                </a:tc>
                <a:tc>
                  <a:txBody>
                    <a:bodyPr/>
                    <a:lstStyle/>
                    <a:p>
                      <a:pPr algn="ctr"/>
                      <a:r>
                        <a:rPr lang="en-US" dirty="0"/>
                        <a:t>128</a:t>
                      </a:r>
                    </a:p>
                    <a:p>
                      <a:pPr algn="ctr"/>
                      <a:r>
                        <a:rPr lang="en-US" dirty="0"/>
                        <a:t>(4)</a:t>
                      </a:r>
                    </a:p>
                  </a:txBody>
                  <a:tcPr/>
                </a:tc>
                <a:tc>
                  <a:txBody>
                    <a:bodyPr/>
                    <a:lstStyle/>
                    <a:p>
                      <a:pPr algn="ctr"/>
                      <a:r>
                        <a:rPr lang="en-US" dirty="0"/>
                        <a:t>128</a:t>
                      </a:r>
                    </a:p>
                    <a:p>
                      <a:pPr algn="ctr"/>
                      <a:r>
                        <a:rPr lang="en-US" dirty="0"/>
                        <a:t>(4)</a:t>
                      </a:r>
                    </a:p>
                  </a:txBody>
                  <a:tcPr/>
                </a:tc>
                <a:extLst>
                  <a:ext uri="{0D108BD9-81ED-4DB2-BD59-A6C34878D82A}">
                    <a16:rowId xmlns:a16="http://schemas.microsoft.com/office/drawing/2014/main" val="1244858558"/>
                  </a:ext>
                </a:extLst>
              </a:tr>
              <a:tr h="807403">
                <a:tc>
                  <a:txBody>
                    <a:bodyPr/>
                    <a:lstStyle/>
                    <a:p>
                      <a:r>
                        <a:rPr lang="en-US" dirty="0"/>
                        <a:t>Shared memory per SM</a:t>
                      </a:r>
                    </a:p>
                  </a:txBody>
                  <a:tcPr/>
                </a:tc>
                <a:tc>
                  <a:txBody>
                    <a:bodyPr/>
                    <a:lstStyle/>
                    <a:p>
                      <a:pPr algn="ctr"/>
                      <a:r>
                        <a:rPr lang="en-US" dirty="0"/>
                        <a:t>96KB</a:t>
                      </a:r>
                    </a:p>
                  </a:txBody>
                  <a:tcPr/>
                </a:tc>
                <a:tc>
                  <a:txBody>
                    <a:bodyPr/>
                    <a:lstStyle/>
                    <a:p>
                      <a:pPr algn="ctr"/>
                      <a:r>
                        <a:rPr lang="en-US" dirty="0"/>
                        <a:t>164KB</a:t>
                      </a:r>
                    </a:p>
                  </a:txBody>
                  <a:tcPr/>
                </a:tc>
                <a:tc>
                  <a:txBody>
                    <a:bodyPr/>
                    <a:lstStyle/>
                    <a:p>
                      <a:pPr algn="ctr"/>
                      <a:r>
                        <a:rPr lang="en-US" dirty="0"/>
                        <a:t>256KB</a:t>
                      </a:r>
                    </a:p>
                  </a:txBody>
                  <a:tcPr/>
                </a:tc>
                <a:tc>
                  <a:txBody>
                    <a:bodyPr/>
                    <a:lstStyle/>
                    <a:p>
                      <a:pPr algn="ctr"/>
                      <a:r>
                        <a:rPr lang="en-US" dirty="0"/>
                        <a:t>256KB</a:t>
                      </a:r>
                    </a:p>
                  </a:txBody>
                  <a:tcPr/>
                </a:tc>
                <a:extLst>
                  <a:ext uri="{0D108BD9-81ED-4DB2-BD59-A6C34878D82A}">
                    <a16:rowId xmlns:a16="http://schemas.microsoft.com/office/drawing/2014/main" val="1156259536"/>
                  </a:ext>
                </a:extLst>
              </a:tr>
              <a:tr h="807403">
                <a:tc>
                  <a:txBody>
                    <a:bodyPr/>
                    <a:lstStyle/>
                    <a:p>
                      <a:r>
                        <a:rPr lang="en-US" dirty="0"/>
                        <a:t>L1 cache size</a:t>
                      </a:r>
                    </a:p>
                  </a:txBody>
                  <a:tcPr/>
                </a:tc>
                <a:tc>
                  <a:txBody>
                    <a:bodyPr/>
                    <a:lstStyle/>
                    <a:p>
                      <a:pPr algn="ctr"/>
                      <a:r>
                        <a:rPr lang="en-US" dirty="0"/>
                        <a:t>64KB</a:t>
                      </a:r>
                    </a:p>
                  </a:txBody>
                  <a:tcPr/>
                </a:tc>
                <a:tc>
                  <a:txBody>
                    <a:bodyPr/>
                    <a:lstStyle/>
                    <a:p>
                      <a:pPr algn="ctr"/>
                      <a:r>
                        <a:rPr lang="en-US" dirty="0"/>
                        <a:t>192KB</a:t>
                      </a:r>
                    </a:p>
                  </a:txBody>
                  <a:tcPr/>
                </a:tc>
                <a:tc>
                  <a:txBody>
                    <a:bodyPr/>
                    <a:lstStyle/>
                    <a:p>
                      <a:pPr algn="ctr"/>
                      <a:r>
                        <a:rPr lang="en-US" dirty="0"/>
                        <a:t>256KB</a:t>
                      </a:r>
                    </a:p>
                  </a:txBody>
                  <a:tcPr/>
                </a:tc>
                <a:tc>
                  <a:txBody>
                    <a:bodyPr/>
                    <a:lstStyle/>
                    <a:p>
                      <a:pPr algn="ctr"/>
                      <a:r>
                        <a:rPr lang="en-US" dirty="0"/>
                        <a:t>256KB</a:t>
                      </a:r>
                    </a:p>
                  </a:txBody>
                  <a:tcPr/>
                </a:tc>
                <a:extLst>
                  <a:ext uri="{0D108BD9-81ED-4DB2-BD59-A6C34878D82A}">
                    <a16:rowId xmlns:a16="http://schemas.microsoft.com/office/drawing/2014/main" val="2078885558"/>
                  </a:ext>
                </a:extLst>
              </a:tr>
              <a:tr h="807403">
                <a:tc>
                  <a:txBody>
                    <a:bodyPr/>
                    <a:lstStyle/>
                    <a:p>
                      <a:r>
                        <a:rPr lang="en-US" dirty="0"/>
                        <a:t>L2 cache size</a:t>
                      </a:r>
                    </a:p>
                  </a:txBody>
                  <a:tcPr/>
                </a:tc>
                <a:tc>
                  <a:txBody>
                    <a:bodyPr/>
                    <a:lstStyle/>
                    <a:p>
                      <a:pPr algn="ctr"/>
                      <a:r>
                        <a:rPr lang="en-US" dirty="0"/>
                        <a:t>4MB (shared by all</a:t>
                      </a:r>
                    </a:p>
                    <a:p>
                      <a:pPr algn="ctr"/>
                      <a:r>
                        <a:rPr lang="en-US" dirty="0"/>
                        <a:t>40 SM)</a:t>
                      </a:r>
                    </a:p>
                  </a:txBody>
                  <a:tcPr/>
                </a:tc>
                <a:tc>
                  <a:txBody>
                    <a:bodyPr/>
                    <a:lstStyle/>
                    <a:p>
                      <a:pPr algn="ctr"/>
                      <a:r>
                        <a:rPr lang="en-US" dirty="0"/>
                        <a:t>40MB (shared by all)</a:t>
                      </a:r>
                    </a:p>
                  </a:txBody>
                  <a:tcPr/>
                </a:tc>
                <a:tc>
                  <a:txBody>
                    <a:bodyPr/>
                    <a:lstStyle/>
                    <a:p>
                      <a:pPr algn="ctr"/>
                      <a:r>
                        <a:rPr lang="en-US" dirty="0"/>
                        <a:t>50MB (shared by all)</a:t>
                      </a:r>
                    </a:p>
                  </a:txBody>
                  <a:tcPr/>
                </a:tc>
                <a:tc>
                  <a:txBody>
                    <a:bodyPr/>
                    <a:lstStyle/>
                    <a:p>
                      <a:pPr algn="ctr"/>
                      <a:r>
                        <a:rPr lang="en-US" dirty="0"/>
                        <a:t>60-80MB (shared by all)</a:t>
                      </a:r>
                    </a:p>
                  </a:txBody>
                  <a:tcPr/>
                </a:tc>
                <a:extLst>
                  <a:ext uri="{0D108BD9-81ED-4DB2-BD59-A6C34878D82A}">
                    <a16:rowId xmlns:a16="http://schemas.microsoft.com/office/drawing/2014/main" val="1413009365"/>
                  </a:ext>
                </a:extLst>
              </a:tr>
            </a:tbl>
          </a:graphicData>
        </a:graphic>
      </p:graphicFrame>
    </p:spTree>
    <p:extLst>
      <p:ext uri="{BB962C8B-B14F-4D97-AF65-F5344CB8AC3E}">
        <p14:creationId xmlns:p14="http://schemas.microsoft.com/office/powerpoint/2010/main" val="130265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WARP Execution</a:t>
            </a:r>
          </a:p>
        </p:txBody>
      </p:sp>
      <p:pic>
        <p:nvPicPr>
          <p:cNvPr id="5" name="Content Placeholder 4">
            <a:extLst>
              <a:ext uri="{FF2B5EF4-FFF2-40B4-BE49-F238E27FC236}">
                <a16:creationId xmlns:a16="http://schemas.microsoft.com/office/drawing/2014/main" id="{7045E6BA-C082-46A7-8881-E6C7B127068A}"/>
              </a:ext>
            </a:extLst>
          </p:cNvPr>
          <p:cNvPicPr>
            <a:picLocks noGrp="1" noChangeAspect="1"/>
          </p:cNvPicPr>
          <p:nvPr>
            <p:ph idx="1"/>
          </p:nvPr>
        </p:nvPicPr>
        <p:blipFill>
          <a:blip r:embed="rId3"/>
          <a:stretch>
            <a:fillRect/>
          </a:stretch>
        </p:blipFill>
        <p:spPr>
          <a:xfrm>
            <a:off x="2468845" y="2000829"/>
            <a:ext cx="7325747" cy="2628322"/>
          </a:xfrm>
        </p:spPr>
      </p:pic>
      <p:sp>
        <p:nvSpPr>
          <p:cNvPr id="6" name="灯片编号占位符 5"/>
          <p:cNvSpPr>
            <a:spLocks noGrp="1"/>
          </p:cNvSpPr>
          <p:nvPr>
            <p:ph type="sldNum" sz="quarter" idx="10"/>
          </p:nvPr>
        </p:nvSpPr>
        <p:spPr/>
        <p:txBody>
          <a:bodyPr/>
          <a:lstStyle/>
          <a:p>
            <a:fld id="{D9B6BDF2-6896-4B98-8776-C18582F63BA5}" type="slidenum">
              <a:rPr lang="zh-TW" altLang="en-US" smtClean="0"/>
              <a:t>36</a:t>
            </a:fld>
            <a:endParaRPr lang="zh-TW" altLang="en-US"/>
          </a:p>
        </p:txBody>
      </p:sp>
      <p:sp>
        <p:nvSpPr>
          <p:cNvPr id="7" name="Content Placeholder 2">
            <a:extLst>
              <a:ext uri="{FF2B5EF4-FFF2-40B4-BE49-F238E27FC236}">
                <a16:creationId xmlns:a16="http://schemas.microsoft.com/office/drawing/2014/main" id="{5044A01C-57C5-4B59-B143-5585310D7347}"/>
              </a:ext>
            </a:extLst>
          </p:cNvPr>
          <p:cNvSpPr txBox="1">
            <a:spLocks/>
          </p:cNvSpPr>
          <p:nvPr/>
        </p:nvSpPr>
        <p:spPr bwMode="auto">
          <a:xfrm>
            <a:off x="311285" y="1171579"/>
            <a:ext cx="11641532" cy="50180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70000" lnSpcReduction="20000"/>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900" kern="0" dirty="0"/>
              <a:t>Warp: The basic execution unit on Nvidia GPUs is a group of 32 threads. A TB (Thread Block) is dispatched to an SM, and the TB is further divided into warps for execution.</a:t>
            </a:r>
          </a:p>
          <a:p>
            <a:endParaRPr lang="en-US" sz="2400" kern="0" dirty="0"/>
          </a:p>
          <a:p>
            <a:pPr marL="0" indent="0">
              <a:buNone/>
            </a:pPr>
            <a:endParaRPr lang="en-US" sz="2400" kern="0" dirty="0"/>
          </a:p>
          <a:p>
            <a:pPr marL="0" indent="0">
              <a:buNone/>
            </a:pPr>
            <a:endParaRPr lang="en-US" sz="2400" kern="0" dirty="0"/>
          </a:p>
          <a:p>
            <a:endParaRPr lang="en-US" sz="2400" kern="0" dirty="0"/>
          </a:p>
          <a:p>
            <a:endParaRPr lang="en-US" sz="2400" kern="0" dirty="0"/>
          </a:p>
          <a:p>
            <a:endParaRPr lang="en-US" sz="2400" kern="0" dirty="0"/>
          </a:p>
          <a:p>
            <a:endParaRPr lang="en-US" sz="2400" kern="0" dirty="0"/>
          </a:p>
          <a:p>
            <a:endParaRPr lang="en-US" sz="2400" kern="0" dirty="0"/>
          </a:p>
          <a:p>
            <a:endParaRPr lang="en-US" sz="2400" kern="0" dirty="0"/>
          </a:p>
          <a:p>
            <a:endParaRPr lang="en-US" sz="2400" kern="0" dirty="0"/>
          </a:p>
          <a:p>
            <a:endParaRPr lang="en-US" sz="2400" kern="0" dirty="0"/>
          </a:p>
          <a:p>
            <a:endParaRPr lang="en-US" sz="2400" b="0" i="0" dirty="0">
              <a:solidFill>
                <a:srgbClr val="4D5B7C"/>
              </a:solidFill>
              <a:effectLst/>
              <a:latin typeface="__Inter_1fc7a2"/>
            </a:endParaRPr>
          </a:p>
          <a:p>
            <a:r>
              <a:rPr lang="en-US" sz="2400" b="0" i="0" dirty="0">
                <a:solidFill>
                  <a:srgbClr val="4D5B7C"/>
                </a:solidFill>
                <a:effectLst/>
                <a:latin typeface="__Inter_1fc7a2"/>
              </a:rPr>
              <a:t>All threads in a warp run on the same SM. Modern GPU architectures typically have a warp size of 32 threads. The number of warps in a thread block depends on the thread block size configured by the CUDA programmer. For example, if the thread block size is 96 threads and the warp size is 32 threads, the number of warps per thread block would be 96 threads/ 32 threads per warp = 3 warps per thread block. </a:t>
            </a:r>
            <a:r>
              <a:rPr lang="en-US" sz="2400" dirty="0">
                <a:solidFill>
                  <a:srgbClr val="4D5B7C"/>
                </a:solidFill>
                <a:latin typeface="__Inter_1fc7a2"/>
              </a:rPr>
              <a:t>When a warp is running into an interlock (e.g. due to memory latency), the warp scheduler will switch the execution to another warp. Warp interleaving is the major technique to hide memory latency on GPU.</a:t>
            </a:r>
            <a:endParaRPr lang="en-US" sz="2400" kern="0" dirty="0"/>
          </a:p>
        </p:txBody>
      </p:sp>
    </p:spTree>
    <p:extLst>
      <p:ext uri="{BB962C8B-B14F-4D97-AF65-F5344CB8AC3E}">
        <p14:creationId xmlns:p14="http://schemas.microsoft.com/office/powerpoint/2010/main" val="7455466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37</a:t>
            </a:fld>
            <a:endParaRPr lang="zh-TW" altLang="en-US"/>
          </a:p>
        </p:txBody>
      </p:sp>
      <p:sp>
        <p:nvSpPr>
          <p:cNvPr id="10" name="Title 3">
            <a:extLst>
              <a:ext uri="{FF2B5EF4-FFF2-40B4-BE49-F238E27FC236}">
                <a16:creationId xmlns:a16="http://schemas.microsoft.com/office/drawing/2014/main" id="{7FA42CA0-C88E-4EDF-9859-3A0F65C1B7F3}"/>
              </a:ext>
            </a:extLst>
          </p:cNvPr>
          <p:cNvSpPr txBox="1">
            <a:spLocks/>
          </p:cNvSpPr>
          <p:nvPr/>
        </p:nvSpPr>
        <p:spPr bwMode="auto">
          <a:xfrm>
            <a:off x="1136441" y="116733"/>
            <a:ext cx="10371380" cy="59739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kumimoji="1" sz="5333"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a:lstStyle>
          <a:p>
            <a:r>
              <a:rPr lang="en-US" altLang="zh-TW" sz="4800" kern="0" dirty="0">
                <a:latin typeface="Times New Roman" panose="02020603050405020304" pitchFamily="18" charset="0"/>
                <a:cs typeface="Times New Roman" panose="02020603050405020304" pitchFamily="18" charset="0"/>
              </a:rPr>
              <a:t>SIMD vs SIMT</a:t>
            </a:r>
            <a:endParaRPr lang="zh-TW" altLang="en-US" sz="4800" kern="0" dirty="0">
              <a:latin typeface="Times New Roman" panose="02020603050405020304" pitchFamily="18" charset="0"/>
              <a:cs typeface="Times New Roman" panose="02020603050405020304" pitchFamily="18" charset="0"/>
            </a:endParaRPr>
          </a:p>
        </p:txBody>
      </p:sp>
      <p:sp>
        <p:nvSpPr>
          <p:cNvPr id="74" name="Content Placeholder 2">
            <a:extLst>
              <a:ext uri="{FF2B5EF4-FFF2-40B4-BE49-F238E27FC236}">
                <a16:creationId xmlns:a16="http://schemas.microsoft.com/office/drawing/2014/main" id="{480BD219-00F6-42F9-83C8-A92BD8A3178F}"/>
              </a:ext>
            </a:extLst>
          </p:cNvPr>
          <p:cNvSpPr txBox="1">
            <a:spLocks/>
          </p:cNvSpPr>
          <p:nvPr/>
        </p:nvSpPr>
        <p:spPr bwMode="auto">
          <a:xfrm>
            <a:off x="762000" y="960284"/>
            <a:ext cx="4520120" cy="513217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ctr" rtl="0" eaLnBrk="1" fontAlgn="base" hangingPunct="1">
              <a:spcBef>
                <a:spcPct val="20000"/>
              </a:spcBef>
              <a:spcAft>
                <a:spcPct val="0"/>
              </a:spcAft>
              <a:buClr>
                <a:srgbClr val="0000FF"/>
              </a:buClr>
              <a:buSzPct val="80000"/>
              <a:buFont typeface="Wingdings" pitchFamily="2" charset="2"/>
              <a:buNone/>
              <a:defRPr kumimoji="1" sz="3733">
                <a:solidFill>
                  <a:schemeClr val="tx1"/>
                </a:solidFill>
                <a:latin typeface="Calibri" pitchFamily="34" charset="0"/>
                <a:ea typeface="標楷體" pitchFamily="65" charset="-120"/>
                <a:cs typeface="+mn-cs"/>
              </a:defRPr>
            </a:lvl1pPr>
            <a:lvl2pPr marL="457177" indent="0" algn="ctr" rtl="0" eaLnBrk="1" fontAlgn="base" hangingPunct="1">
              <a:spcBef>
                <a:spcPct val="20000"/>
              </a:spcBef>
              <a:spcAft>
                <a:spcPct val="0"/>
              </a:spcAft>
              <a:buClr>
                <a:srgbClr val="0000FF"/>
              </a:buClr>
              <a:buSzPct val="90000"/>
              <a:buFont typeface="Arial" charset="0"/>
              <a:buNone/>
              <a:defRPr kumimoji="1" sz="3200">
                <a:solidFill>
                  <a:schemeClr val="tx1"/>
                </a:solidFill>
                <a:latin typeface="Calibri" pitchFamily="34" charset="0"/>
                <a:ea typeface="標楷體" pitchFamily="65" charset="-120"/>
              </a:defRPr>
            </a:lvl2pPr>
            <a:lvl3pPr marL="914354" indent="0" algn="ctr" rtl="0" eaLnBrk="1" fontAlgn="base" hangingPunct="1">
              <a:spcBef>
                <a:spcPct val="20000"/>
              </a:spcBef>
              <a:spcAft>
                <a:spcPct val="0"/>
              </a:spcAft>
              <a:buNone/>
              <a:defRPr kumimoji="1" sz="2400">
                <a:solidFill>
                  <a:schemeClr val="tx1"/>
                </a:solidFill>
                <a:latin typeface="+mn-lt"/>
                <a:ea typeface="+mn-ea"/>
              </a:defRPr>
            </a:lvl3pPr>
            <a:lvl4pPr marL="1371531" indent="0" algn="ctr" rtl="0" eaLnBrk="1" fontAlgn="base" hangingPunct="1">
              <a:spcBef>
                <a:spcPct val="20000"/>
              </a:spcBef>
              <a:spcAft>
                <a:spcPct val="0"/>
              </a:spcAft>
              <a:buNone/>
              <a:defRPr kumimoji="1" sz="2000">
                <a:solidFill>
                  <a:schemeClr val="tx1"/>
                </a:solidFill>
                <a:latin typeface="+mn-lt"/>
                <a:ea typeface="+mn-ea"/>
              </a:defRPr>
            </a:lvl4pPr>
            <a:lvl5pPr marL="1828709" indent="0" algn="ctr" rtl="0" eaLnBrk="1" fontAlgn="base" hangingPunct="1">
              <a:spcBef>
                <a:spcPct val="20000"/>
              </a:spcBef>
              <a:spcAft>
                <a:spcPct val="0"/>
              </a:spcAft>
              <a:buNone/>
              <a:defRPr kumimoji="1" sz="2000">
                <a:solidFill>
                  <a:schemeClr val="tx1"/>
                </a:solidFill>
                <a:latin typeface="+mn-lt"/>
                <a:ea typeface="+mn-ea"/>
              </a:defRPr>
            </a:lvl5pPr>
            <a:lvl6pPr marL="2285886" indent="0" algn="ctr" rtl="0" eaLnBrk="1" fontAlgn="base" hangingPunct="1">
              <a:spcBef>
                <a:spcPct val="20000"/>
              </a:spcBef>
              <a:spcAft>
                <a:spcPct val="0"/>
              </a:spcAft>
              <a:buNone/>
              <a:defRPr kumimoji="1" sz="2000">
                <a:solidFill>
                  <a:schemeClr val="tx1"/>
                </a:solidFill>
                <a:latin typeface="+mn-lt"/>
                <a:ea typeface="+mn-ea"/>
              </a:defRPr>
            </a:lvl6pPr>
            <a:lvl7pPr marL="2743063" indent="0" algn="ctr" rtl="0" eaLnBrk="1" fontAlgn="base" hangingPunct="1">
              <a:spcBef>
                <a:spcPct val="20000"/>
              </a:spcBef>
              <a:spcAft>
                <a:spcPct val="0"/>
              </a:spcAft>
              <a:buNone/>
              <a:defRPr kumimoji="1" sz="2000">
                <a:solidFill>
                  <a:schemeClr val="tx1"/>
                </a:solidFill>
                <a:latin typeface="+mn-lt"/>
                <a:ea typeface="+mn-ea"/>
              </a:defRPr>
            </a:lvl7pPr>
            <a:lvl8pPr marL="3200240" indent="0" algn="ctr" rtl="0" eaLnBrk="1" fontAlgn="base" hangingPunct="1">
              <a:spcBef>
                <a:spcPct val="20000"/>
              </a:spcBef>
              <a:spcAft>
                <a:spcPct val="0"/>
              </a:spcAft>
              <a:buNone/>
              <a:defRPr kumimoji="1" sz="2000">
                <a:solidFill>
                  <a:schemeClr val="tx1"/>
                </a:solidFill>
                <a:latin typeface="+mn-lt"/>
                <a:ea typeface="+mn-ea"/>
              </a:defRPr>
            </a:lvl8pPr>
            <a:lvl9pPr marL="3657417" indent="0" algn="ctr" rtl="0" eaLnBrk="1" fontAlgn="base" hangingPunct="1">
              <a:spcBef>
                <a:spcPct val="20000"/>
              </a:spcBef>
              <a:spcAft>
                <a:spcPct val="0"/>
              </a:spcAft>
              <a:buNone/>
              <a:defRPr kumimoji="1" sz="2000">
                <a:solidFill>
                  <a:schemeClr val="tx1"/>
                </a:solidFill>
                <a:latin typeface="+mn-lt"/>
                <a:ea typeface="+mn-ea"/>
              </a:defRPr>
            </a:lvl9pPr>
          </a:lstStyle>
          <a:p>
            <a:pPr algn="l"/>
            <a:endParaRPr lang="en-US" sz="2800" b="0" i="0" dirty="0">
              <a:solidFill>
                <a:srgbClr val="1F1F1F"/>
              </a:solidFill>
              <a:effectLst/>
              <a:latin typeface="Google Sans"/>
            </a:endParaRPr>
          </a:p>
        </p:txBody>
      </p:sp>
      <p:sp>
        <p:nvSpPr>
          <p:cNvPr id="5" name="Content Placeholder 2">
            <a:extLst>
              <a:ext uri="{FF2B5EF4-FFF2-40B4-BE49-F238E27FC236}">
                <a16:creationId xmlns:a16="http://schemas.microsoft.com/office/drawing/2014/main" id="{CDD7F993-B8E2-4F06-BFB0-F9AE5BC483D6}"/>
              </a:ext>
            </a:extLst>
          </p:cNvPr>
          <p:cNvSpPr txBox="1">
            <a:spLocks/>
          </p:cNvSpPr>
          <p:nvPr/>
        </p:nvSpPr>
        <p:spPr bwMode="auto">
          <a:xfrm>
            <a:off x="350195" y="1086592"/>
            <a:ext cx="5745805" cy="48795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ctr" rtl="0" eaLnBrk="1" fontAlgn="base" hangingPunct="1">
              <a:spcBef>
                <a:spcPct val="20000"/>
              </a:spcBef>
              <a:spcAft>
                <a:spcPct val="0"/>
              </a:spcAft>
              <a:buClr>
                <a:srgbClr val="0000FF"/>
              </a:buClr>
              <a:buSzPct val="80000"/>
              <a:buFont typeface="Wingdings" pitchFamily="2" charset="2"/>
              <a:buNone/>
              <a:defRPr kumimoji="1" sz="3733">
                <a:solidFill>
                  <a:schemeClr val="tx1"/>
                </a:solidFill>
                <a:latin typeface="Calibri" pitchFamily="34" charset="0"/>
                <a:ea typeface="標楷體" pitchFamily="65" charset="-120"/>
                <a:cs typeface="+mn-cs"/>
              </a:defRPr>
            </a:lvl1pPr>
            <a:lvl2pPr marL="457177" indent="0" algn="ctr" rtl="0" eaLnBrk="1" fontAlgn="base" hangingPunct="1">
              <a:spcBef>
                <a:spcPct val="20000"/>
              </a:spcBef>
              <a:spcAft>
                <a:spcPct val="0"/>
              </a:spcAft>
              <a:buClr>
                <a:srgbClr val="0000FF"/>
              </a:buClr>
              <a:buSzPct val="90000"/>
              <a:buFont typeface="Arial" charset="0"/>
              <a:buNone/>
              <a:defRPr kumimoji="1" sz="3200">
                <a:solidFill>
                  <a:schemeClr val="tx1"/>
                </a:solidFill>
                <a:latin typeface="Calibri" pitchFamily="34" charset="0"/>
                <a:ea typeface="標楷體" pitchFamily="65" charset="-120"/>
              </a:defRPr>
            </a:lvl2pPr>
            <a:lvl3pPr marL="914354" indent="0" algn="ctr" rtl="0" eaLnBrk="1" fontAlgn="base" hangingPunct="1">
              <a:spcBef>
                <a:spcPct val="20000"/>
              </a:spcBef>
              <a:spcAft>
                <a:spcPct val="0"/>
              </a:spcAft>
              <a:buNone/>
              <a:defRPr kumimoji="1" sz="2400">
                <a:solidFill>
                  <a:schemeClr val="tx1"/>
                </a:solidFill>
                <a:latin typeface="+mn-lt"/>
                <a:ea typeface="+mn-ea"/>
              </a:defRPr>
            </a:lvl3pPr>
            <a:lvl4pPr marL="1371531" indent="0" algn="ctr" rtl="0" eaLnBrk="1" fontAlgn="base" hangingPunct="1">
              <a:spcBef>
                <a:spcPct val="20000"/>
              </a:spcBef>
              <a:spcAft>
                <a:spcPct val="0"/>
              </a:spcAft>
              <a:buNone/>
              <a:defRPr kumimoji="1" sz="2000">
                <a:solidFill>
                  <a:schemeClr val="tx1"/>
                </a:solidFill>
                <a:latin typeface="+mn-lt"/>
                <a:ea typeface="+mn-ea"/>
              </a:defRPr>
            </a:lvl4pPr>
            <a:lvl5pPr marL="1828709" indent="0" algn="ctr" rtl="0" eaLnBrk="1" fontAlgn="base" hangingPunct="1">
              <a:spcBef>
                <a:spcPct val="20000"/>
              </a:spcBef>
              <a:spcAft>
                <a:spcPct val="0"/>
              </a:spcAft>
              <a:buNone/>
              <a:defRPr kumimoji="1" sz="2000">
                <a:solidFill>
                  <a:schemeClr val="tx1"/>
                </a:solidFill>
                <a:latin typeface="+mn-lt"/>
                <a:ea typeface="+mn-ea"/>
              </a:defRPr>
            </a:lvl5pPr>
            <a:lvl6pPr marL="2285886" indent="0" algn="ctr" rtl="0" eaLnBrk="1" fontAlgn="base" hangingPunct="1">
              <a:spcBef>
                <a:spcPct val="20000"/>
              </a:spcBef>
              <a:spcAft>
                <a:spcPct val="0"/>
              </a:spcAft>
              <a:buNone/>
              <a:defRPr kumimoji="1" sz="2000">
                <a:solidFill>
                  <a:schemeClr val="tx1"/>
                </a:solidFill>
                <a:latin typeface="+mn-lt"/>
                <a:ea typeface="+mn-ea"/>
              </a:defRPr>
            </a:lvl6pPr>
            <a:lvl7pPr marL="2743063" indent="0" algn="ctr" rtl="0" eaLnBrk="1" fontAlgn="base" hangingPunct="1">
              <a:spcBef>
                <a:spcPct val="20000"/>
              </a:spcBef>
              <a:spcAft>
                <a:spcPct val="0"/>
              </a:spcAft>
              <a:buNone/>
              <a:defRPr kumimoji="1" sz="2000">
                <a:solidFill>
                  <a:schemeClr val="tx1"/>
                </a:solidFill>
                <a:latin typeface="+mn-lt"/>
                <a:ea typeface="+mn-ea"/>
              </a:defRPr>
            </a:lvl7pPr>
            <a:lvl8pPr marL="3200240" indent="0" algn="ctr" rtl="0" eaLnBrk="1" fontAlgn="base" hangingPunct="1">
              <a:spcBef>
                <a:spcPct val="20000"/>
              </a:spcBef>
              <a:spcAft>
                <a:spcPct val="0"/>
              </a:spcAft>
              <a:buNone/>
              <a:defRPr kumimoji="1" sz="2000">
                <a:solidFill>
                  <a:schemeClr val="tx1"/>
                </a:solidFill>
                <a:latin typeface="+mn-lt"/>
                <a:ea typeface="+mn-ea"/>
              </a:defRPr>
            </a:lvl8pPr>
            <a:lvl9pPr marL="3657417" indent="0" algn="ctr" rtl="0" eaLnBrk="1" fontAlgn="base" hangingPunct="1">
              <a:spcBef>
                <a:spcPct val="20000"/>
              </a:spcBef>
              <a:spcAft>
                <a:spcPct val="0"/>
              </a:spcAft>
              <a:buNone/>
              <a:defRPr kumimoji="1" sz="2000">
                <a:solidFill>
                  <a:schemeClr val="tx1"/>
                </a:solidFill>
                <a:latin typeface="+mn-lt"/>
                <a:ea typeface="+mn-ea"/>
              </a:defRPr>
            </a:lvl9pPr>
          </a:lstStyle>
          <a:p>
            <a:pPr algn="l"/>
            <a:r>
              <a:rPr lang="en-US" sz="4800" dirty="0">
                <a:solidFill>
                  <a:srgbClr val="1F1F1F"/>
                </a:solidFill>
                <a:latin typeface="Google Sans"/>
              </a:rPr>
              <a:t>SIMD</a:t>
            </a:r>
          </a:p>
          <a:p>
            <a:pPr marL="342900" indent="-342900" algn="l">
              <a:buFontTx/>
              <a:buChar char="-"/>
            </a:pPr>
            <a:r>
              <a:rPr lang="en-US" sz="2800" dirty="0">
                <a:solidFill>
                  <a:srgbClr val="1F1F1F"/>
                </a:solidFill>
                <a:latin typeface="Google Sans"/>
              </a:rPr>
              <a:t>Single instruction operates on multiple data items</a:t>
            </a:r>
          </a:p>
          <a:p>
            <a:pPr marL="342900" indent="-342900" algn="l">
              <a:buFontTx/>
              <a:buChar char="-"/>
            </a:pPr>
            <a:r>
              <a:rPr lang="en-US" sz="2800" dirty="0">
                <a:solidFill>
                  <a:srgbClr val="1F1F1F"/>
                </a:solidFill>
                <a:latin typeface="Google Sans"/>
              </a:rPr>
              <a:t>Less flexible. </a:t>
            </a:r>
          </a:p>
          <a:p>
            <a:pPr marL="342900" indent="-342900" algn="l">
              <a:buFontTx/>
              <a:buChar char="-"/>
            </a:pPr>
            <a:r>
              <a:rPr lang="en-US" sz="2800" dirty="0">
                <a:solidFill>
                  <a:srgbClr val="1F1F1F"/>
                </a:solidFill>
                <a:latin typeface="Google Sans"/>
              </a:rPr>
              <a:t>Typically in the CPU</a:t>
            </a:r>
          </a:p>
          <a:p>
            <a:pPr marL="342900" indent="-342900" algn="l">
              <a:buFontTx/>
              <a:buChar char="-"/>
            </a:pPr>
            <a:r>
              <a:rPr lang="en-US" sz="2800" dirty="0">
                <a:solidFill>
                  <a:srgbClr val="1F1F1F"/>
                </a:solidFill>
                <a:latin typeface="Google Sans"/>
              </a:rPr>
              <a:t>Works for vectorizable code</a:t>
            </a:r>
          </a:p>
          <a:p>
            <a:pPr marL="342900" indent="-342900" algn="l">
              <a:buFontTx/>
              <a:buChar char="-"/>
            </a:pPr>
            <a:r>
              <a:rPr lang="en-US" sz="2800" dirty="0">
                <a:solidFill>
                  <a:srgbClr val="1F1F1F"/>
                </a:solidFill>
                <a:latin typeface="Google Sans"/>
              </a:rPr>
              <a:t>Requires more explicit management of vector registers.</a:t>
            </a:r>
          </a:p>
          <a:p>
            <a:pPr marL="342900" indent="-342900" algn="l">
              <a:buFontTx/>
              <a:buChar char="-"/>
            </a:pPr>
            <a:endParaRPr lang="en-US" sz="2400" dirty="0">
              <a:solidFill>
                <a:srgbClr val="1F1F1F"/>
              </a:solidFill>
              <a:latin typeface="Google Sans"/>
            </a:endParaRPr>
          </a:p>
          <a:p>
            <a:pPr marL="342900" indent="-342900" algn="l">
              <a:buFontTx/>
              <a:buChar char="-"/>
            </a:pPr>
            <a:endParaRPr lang="en-US" sz="2400" dirty="0">
              <a:solidFill>
                <a:srgbClr val="1F1F1F"/>
              </a:solidFill>
              <a:latin typeface="Google Sans"/>
            </a:endParaRPr>
          </a:p>
        </p:txBody>
      </p:sp>
      <p:sp>
        <p:nvSpPr>
          <p:cNvPr id="9" name="Content Placeholder 2">
            <a:extLst>
              <a:ext uri="{FF2B5EF4-FFF2-40B4-BE49-F238E27FC236}">
                <a16:creationId xmlns:a16="http://schemas.microsoft.com/office/drawing/2014/main" id="{1A7A01B5-2A41-4B99-ABDC-0A45BE131EFF}"/>
              </a:ext>
            </a:extLst>
          </p:cNvPr>
          <p:cNvSpPr txBox="1">
            <a:spLocks/>
          </p:cNvSpPr>
          <p:nvPr/>
        </p:nvSpPr>
        <p:spPr bwMode="auto">
          <a:xfrm>
            <a:off x="6096000" y="1020245"/>
            <a:ext cx="5745805" cy="47014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ctr" rtl="0" eaLnBrk="1" fontAlgn="base" hangingPunct="1">
              <a:spcBef>
                <a:spcPct val="20000"/>
              </a:spcBef>
              <a:spcAft>
                <a:spcPct val="0"/>
              </a:spcAft>
              <a:buClr>
                <a:srgbClr val="0000FF"/>
              </a:buClr>
              <a:buSzPct val="80000"/>
              <a:buFont typeface="Wingdings" pitchFamily="2" charset="2"/>
              <a:buNone/>
              <a:defRPr kumimoji="1" sz="3733">
                <a:solidFill>
                  <a:schemeClr val="tx1"/>
                </a:solidFill>
                <a:latin typeface="Calibri" pitchFamily="34" charset="0"/>
                <a:ea typeface="標楷體" pitchFamily="65" charset="-120"/>
                <a:cs typeface="+mn-cs"/>
              </a:defRPr>
            </a:lvl1pPr>
            <a:lvl2pPr marL="457177" indent="0" algn="ctr" rtl="0" eaLnBrk="1" fontAlgn="base" hangingPunct="1">
              <a:spcBef>
                <a:spcPct val="20000"/>
              </a:spcBef>
              <a:spcAft>
                <a:spcPct val="0"/>
              </a:spcAft>
              <a:buClr>
                <a:srgbClr val="0000FF"/>
              </a:buClr>
              <a:buSzPct val="90000"/>
              <a:buFont typeface="Arial" charset="0"/>
              <a:buNone/>
              <a:defRPr kumimoji="1" sz="3200">
                <a:solidFill>
                  <a:schemeClr val="tx1"/>
                </a:solidFill>
                <a:latin typeface="Calibri" pitchFamily="34" charset="0"/>
                <a:ea typeface="標楷體" pitchFamily="65" charset="-120"/>
              </a:defRPr>
            </a:lvl2pPr>
            <a:lvl3pPr marL="914354" indent="0" algn="ctr" rtl="0" eaLnBrk="1" fontAlgn="base" hangingPunct="1">
              <a:spcBef>
                <a:spcPct val="20000"/>
              </a:spcBef>
              <a:spcAft>
                <a:spcPct val="0"/>
              </a:spcAft>
              <a:buNone/>
              <a:defRPr kumimoji="1" sz="2400">
                <a:solidFill>
                  <a:schemeClr val="tx1"/>
                </a:solidFill>
                <a:latin typeface="+mn-lt"/>
                <a:ea typeface="+mn-ea"/>
              </a:defRPr>
            </a:lvl3pPr>
            <a:lvl4pPr marL="1371531" indent="0" algn="ctr" rtl="0" eaLnBrk="1" fontAlgn="base" hangingPunct="1">
              <a:spcBef>
                <a:spcPct val="20000"/>
              </a:spcBef>
              <a:spcAft>
                <a:spcPct val="0"/>
              </a:spcAft>
              <a:buNone/>
              <a:defRPr kumimoji="1" sz="2000">
                <a:solidFill>
                  <a:schemeClr val="tx1"/>
                </a:solidFill>
                <a:latin typeface="+mn-lt"/>
                <a:ea typeface="+mn-ea"/>
              </a:defRPr>
            </a:lvl4pPr>
            <a:lvl5pPr marL="1828709" indent="0" algn="ctr" rtl="0" eaLnBrk="1" fontAlgn="base" hangingPunct="1">
              <a:spcBef>
                <a:spcPct val="20000"/>
              </a:spcBef>
              <a:spcAft>
                <a:spcPct val="0"/>
              </a:spcAft>
              <a:buNone/>
              <a:defRPr kumimoji="1" sz="2000">
                <a:solidFill>
                  <a:schemeClr val="tx1"/>
                </a:solidFill>
                <a:latin typeface="+mn-lt"/>
                <a:ea typeface="+mn-ea"/>
              </a:defRPr>
            </a:lvl5pPr>
            <a:lvl6pPr marL="2285886" indent="0" algn="ctr" rtl="0" eaLnBrk="1" fontAlgn="base" hangingPunct="1">
              <a:spcBef>
                <a:spcPct val="20000"/>
              </a:spcBef>
              <a:spcAft>
                <a:spcPct val="0"/>
              </a:spcAft>
              <a:buNone/>
              <a:defRPr kumimoji="1" sz="2000">
                <a:solidFill>
                  <a:schemeClr val="tx1"/>
                </a:solidFill>
                <a:latin typeface="+mn-lt"/>
                <a:ea typeface="+mn-ea"/>
              </a:defRPr>
            </a:lvl6pPr>
            <a:lvl7pPr marL="2743063" indent="0" algn="ctr" rtl="0" eaLnBrk="1" fontAlgn="base" hangingPunct="1">
              <a:spcBef>
                <a:spcPct val="20000"/>
              </a:spcBef>
              <a:spcAft>
                <a:spcPct val="0"/>
              </a:spcAft>
              <a:buNone/>
              <a:defRPr kumimoji="1" sz="2000">
                <a:solidFill>
                  <a:schemeClr val="tx1"/>
                </a:solidFill>
                <a:latin typeface="+mn-lt"/>
                <a:ea typeface="+mn-ea"/>
              </a:defRPr>
            </a:lvl7pPr>
            <a:lvl8pPr marL="3200240" indent="0" algn="ctr" rtl="0" eaLnBrk="1" fontAlgn="base" hangingPunct="1">
              <a:spcBef>
                <a:spcPct val="20000"/>
              </a:spcBef>
              <a:spcAft>
                <a:spcPct val="0"/>
              </a:spcAft>
              <a:buNone/>
              <a:defRPr kumimoji="1" sz="2000">
                <a:solidFill>
                  <a:schemeClr val="tx1"/>
                </a:solidFill>
                <a:latin typeface="+mn-lt"/>
                <a:ea typeface="+mn-ea"/>
              </a:defRPr>
            </a:lvl8pPr>
            <a:lvl9pPr marL="3657417" indent="0" algn="ctr" rtl="0" eaLnBrk="1" fontAlgn="base" hangingPunct="1">
              <a:spcBef>
                <a:spcPct val="20000"/>
              </a:spcBef>
              <a:spcAft>
                <a:spcPct val="0"/>
              </a:spcAft>
              <a:buNone/>
              <a:defRPr kumimoji="1" sz="2000">
                <a:solidFill>
                  <a:schemeClr val="tx1"/>
                </a:solidFill>
                <a:latin typeface="+mn-lt"/>
                <a:ea typeface="+mn-ea"/>
              </a:defRPr>
            </a:lvl9pPr>
          </a:lstStyle>
          <a:p>
            <a:pPr algn="l"/>
            <a:r>
              <a:rPr lang="en-US" sz="4800" dirty="0">
                <a:solidFill>
                  <a:srgbClr val="1F1F1F"/>
                </a:solidFill>
                <a:latin typeface="Google Sans"/>
              </a:rPr>
              <a:t>SIMT</a:t>
            </a:r>
          </a:p>
          <a:p>
            <a:pPr marL="342900" indent="-342900" algn="l">
              <a:buFontTx/>
              <a:buChar char="-"/>
            </a:pPr>
            <a:r>
              <a:rPr lang="en-US" sz="2800" dirty="0">
                <a:solidFill>
                  <a:srgbClr val="1F1F1F"/>
                </a:solidFill>
                <a:latin typeface="Google Sans"/>
              </a:rPr>
              <a:t>Single instruction operates across multiple threads</a:t>
            </a:r>
          </a:p>
          <a:p>
            <a:pPr marL="342900" indent="-342900" algn="l">
              <a:buFontTx/>
              <a:buChar char="-"/>
            </a:pPr>
            <a:r>
              <a:rPr lang="en-US" sz="2800" dirty="0">
                <a:solidFill>
                  <a:srgbClr val="1F1F1F"/>
                </a:solidFill>
                <a:latin typeface="Google Sans"/>
              </a:rPr>
              <a:t>Used to run in lockstep – just like SIMD</a:t>
            </a:r>
          </a:p>
          <a:p>
            <a:pPr marL="342900" indent="-342900" algn="l">
              <a:buFontTx/>
              <a:buChar char="-"/>
            </a:pPr>
            <a:r>
              <a:rPr lang="en-US" sz="2800" dirty="0">
                <a:solidFill>
                  <a:srgbClr val="1F1F1F"/>
                </a:solidFill>
                <a:latin typeface="Google Sans"/>
              </a:rPr>
              <a:t>More flexible, as threads can follow different execution paths</a:t>
            </a:r>
          </a:p>
          <a:p>
            <a:pPr marL="342900" indent="-342900" algn="l">
              <a:buFontTx/>
              <a:buChar char="-"/>
            </a:pPr>
            <a:r>
              <a:rPr lang="en-US" sz="2800" dirty="0">
                <a:solidFill>
                  <a:srgbClr val="1F1F1F"/>
                </a:solidFill>
                <a:latin typeface="Google Sans"/>
              </a:rPr>
              <a:t>Typically in the GPU</a:t>
            </a:r>
          </a:p>
          <a:p>
            <a:pPr marL="342900" indent="-342900" algn="l">
              <a:buFontTx/>
              <a:buChar char="-"/>
            </a:pPr>
            <a:r>
              <a:rPr lang="en-US" sz="2800" dirty="0">
                <a:solidFill>
                  <a:srgbClr val="1F1F1F"/>
                </a:solidFill>
                <a:latin typeface="Google Sans"/>
              </a:rPr>
              <a:t>Works for data parallel code</a:t>
            </a:r>
          </a:p>
        </p:txBody>
      </p:sp>
    </p:spTree>
    <p:extLst>
      <p:ext uri="{BB962C8B-B14F-4D97-AF65-F5344CB8AC3E}">
        <p14:creationId xmlns:p14="http://schemas.microsoft.com/office/powerpoint/2010/main" val="275168979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6BCCAF-EBEA-4A25-9C5E-D220021B5FB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sp>
        <p:nvSpPr>
          <p:cNvPr id="5" name="TextBox 4">
            <a:extLst>
              <a:ext uri="{FF2B5EF4-FFF2-40B4-BE49-F238E27FC236}">
                <a16:creationId xmlns:a16="http://schemas.microsoft.com/office/drawing/2014/main" id="{6A439763-756B-45B0-9637-E6680E155B03}"/>
              </a:ext>
            </a:extLst>
          </p:cNvPr>
          <p:cNvSpPr txBox="1"/>
          <p:nvPr/>
        </p:nvSpPr>
        <p:spPr>
          <a:xfrm>
            <a:off x="167826" y="1411393"/>
            <a:ext cx="6424360" cy="4524315"/>
          </a:xfrm>
          <a:prstGeom prst="rect">
            <a:avLst/>
          </a:prstGeom>
          <a:noFill/>
          <a:ln w="28575">
            <a:solidFill>
              <a:schemeClr val="tx2"/>
            </a:solidFill>
          </a:ln>
        </p:spPr>
        <p:txBody>
          <a:bodyPr wrap="square" rtlCol="0" anchor="ctr" anchorCtr="1">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Warp</a:t>
            </a:r>
            <a:r>
              <a:rPr kumimoji="0" lang="en-US" sz="20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 </a:t>
            </a: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A set of threads that executes the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    same instruction on different data elements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Fine-grained multi-threading </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Interleave warp execution to hide latency</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Similar to vertical threading in Intel x86</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     and Sun Niagara processors. </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Light-weight thread switching, each warp has its own registers.</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A SP can hold 8-16 warps at the same time</a:t>
            </a:r>
          </a:p>
        </p:txBody>
      </p:sp>
      <p:sp>
        <p:nvSpPr>
          <p:cNvPr id="7" name="Title 3">
            <a:extLst>
              <a:ext uri="{FF2B5EF4-FFF2-40B4-BE49-F238E27FC236}">
                <a16:creationId xmlns:a16="http://schemas.microsoft.com/office/drawing/2014/main" id="{B45B516D-F221-4920-8DCB-7FFFE6D4A60D}"/>
              </a:ext>
            </a:extLst>
          </p:cNvPr>
          <p:cNvSpPr txBox="1">
            <a:spLocks/>
          </p:cNvSpPr>
          <p:nvPr/>
        </p:nvSpPr>
        <p:spPr bwMode="auto">
          <a:xfrm>
            <a:off x="1189973" y="187890"/>
            <a:ext cx="9125220" cy="59739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kumimoji="1" sz="5333"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4000" b="1" i="0" u="none" strike="noStrike" kern="0" cap="none" spc="0" normalizeH="0" baseline="0" noProof="0" dirty="0">
                <a:ln>
                  <a:noFill/>
                </a:ln>
                <a:solidFill>
                  <a:srgbClr val="1F497D"/>
                </a:solidFill>
                <a:effectLst/>
                <a:uLnTx/>
                <a:uFillTx/>
                <a:latin typeface="Times New Roman" panose="02020603050405020304" pitchFamily="18" charset="0"/>
                <a:ea typeface="標楷體" pitchFamily="65" charset="-120"/>
                <a:cs typeface="Times New Roman" panose="02020603050405020304" pitchFamily="18" charset="0"/>
              </a:rPr>
              <a:t>Warp Interleaving to Hide Latency</a:t>
            </a:r>
            <a:endParaRPr kumimoji="1" lang="zh-TW" altLang="en-US" sz="4000" b="1" i="0" u="none" strike="noStrike" kern="0" cap="none" spc="0" normalizeH="0" baseline="0" noProof="0" dirty="0">
              <a:ln>
                <a:noFill/>
              </a:ln>
              <a:solidFill>
                <a:srgbClr val="1F497D"/>
              </a:solidFill>
              <a:effectLst/>
              <a:uLnTx/>
              <a:uFillTx/>
              <a:latin typeface="Times New Roman" panose="02020603050405020304" pitchFamily="18" charset="0"/>
              <a:ea typeface="標楷體" pitchFamily="65" charset="-120"/>
              <a:cs typeface="Times New Roman" panose="02020603050405020304" pitchFamily="18" charset="0"/>
            </a:endParaRPr>
          </a:p>
        </p:txBody>
      </p:sp>
      <p:pic>
        <p:nvPicPr>
          <p:cNvPr id="3" name="Picture 2">
            <a:extLst>
              <a:ext uri="{FF2B5EF4-FFF2-40B4-BE49-F238E27FC236}">
                <a16:creationId xmlns:a16="http://schemas.microsoft.com/office/drawing/2014/main" id="{9BBE3AE2-B4B1-4E01-9A98-807053EDC38D}"/>
              </a:ext>
            </a:extLst>
          </p:cNvPr>
          <p:cNvPicPr>
            <a:picLocks noChangeAspect="1"/>
          </p:cNvPicPr>
          <p:nvPr/>
        </p:nvPicPr>
        <p:blipFill>
          <a:blip r:embed="rId2"/>
          <a:stretch>
            <a:fillRect/>
          </a:stretch>
        </p:blipFill>
        <p:spPr>
          <a:xfrm>
            <a:off x="7304566" y="1244683"/>
            <a:ext cx="4167963" cy="4629471"/>
          </a:xfrm>
          <a:prstGeom prst="rect">
            <a:avLst/>
          </a:prstGeom>
        </p:spPr>
      </p:pic>
    </p:spTree>
    <p:extLst>
      <p:ext uri="{BB962C8B-B14F-4D97-AF65-F5344CB8AC3E}">
        <p14:creationId xmlns:p14="http://schemas.microsoft.com/office/powerpoint/2010/main" val="94884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39</a:t>
            </a:fld>
            <a:endParaRPr lang="zh-TW" altLang="en-US"/>
          </a:p>
        </p:txBody>
      </p:sp>
      <p:sp>
        <p:nvSpPr>
          <p:cNvPr id="10" name="Title 3">
            <a:extLst>
              <a:ext uri="{FF2B5EF4-FFF2-40B4-BE49-F238E27FC236}">
                <a16:creationId xmlns:a16="http://schemas.microsoft.com/office/drawing/2014/main" id="{7FA42CA0-C88E-4EDF-9859-3A0F65C1B7F3}"/>
              </a:ext>
            </a:extLst>
          </p:cNvPr>
          <p:cNvSpPr txBox="1">
            <a:spLocks/>
          </p:cNvSpPr>
          <p:nvPr/>
        </p:nvSpPr>
        <p:spPr bwMode="auto">
          <a:xfrm>
            <a:off x="6798364" y="52164"/>
            <a:ext cx="4426303" cy="59739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kumimoji="1" sz="5333"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a:lstStyle>
          <a:p>
            <a:r>
              <a:rPr lang="en-US" altLang="zh-TW" sz="4000" kern="0" dirty="0">
                <a:latin typeface="Times New Roman" panose="02020603050405020304" pitchFamily="18" charset="0"/>
                <a:cs typeface="Times New Roman" panose="02020603050405020304" pitchFamily="18" charset="0"/>
              </a:rPr>
              <a:t>Inside the SM</a:t>
            </a:r>
            <a:endParaRPr lang="zh-TW" altLang="en-US" sz="4000" kern="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F36EE69-89C5-40BB-A578-026AA5C01A62}"/>
              </a:ext>
            </a:extLst>
          </p:cNvPr>
          <p:cNvPicPr>
            <a:picLocks noChangeAspect="1"/>
          </p:cNvPicPr>
          <p:nvPr/>
        </p:nvPicPr>
        <p:blipFill>
          <a:blip r:embed="rId3"/>
          <a:stretch>
            <a:fillRect/>
          </a:stretch>
        </p:blipFill>
        <p:spPr>
          <a:xfrm>
            <a:off x="158075" y="17485"/>
            <a:ext cx="6422874" cy="6858000"/>
          </a:xfrm>
          <a:prstGeom prst="rect">
            <a:avLst/>
          </a:prstGeom>
        </p:spPr>
      </p:pic>
      <p:sp>
        <p:nvSpPr>
          <p:cNvPr id="7" name="TextBox 6">
            <a:extLst>
              <a:ext uri="{FF2B5EF4-FFF2-40B4-BE49-F238E27FC236}">
                <a16:creationId xmlns:a16="http://schemas.microsoft.com/office/drawing/2014/main" id="{2A59DC10-F522-4A6F-93D1-20436D0F2671}"/>
              </a:ext>
            </a:extLst>
          </p:cNvPr>
          <p:cNvSpPr txBox="1"/>
          <p:nvPr/>
        </p:nvSpPr>
        <p:spPr>
          <a:xfrm>
            <a:off x="6580949" y="1074509"/>
            <a:ext cx="5187042" cy="4708981"/>
          </a:xfrm>
          <a:prstGeom prst="rect">
            <a:avLst/>
          </a:prstGeom>
          <a:noFill/>
        </p:spPr>
        <p:txBody>
          <a:bodyPr wrap="square" rtlCol="0" anchor="ctr" anchorCtr="1">
            <a:spAutoFit/>
          </a:bodyPr>
          <a:lstStyle/>
          <a:p>
            <a:r>
              <a:rPr lang="en-US" sz="2000" dirty="0"/>
              <a:t>Streaming Multiprocessors (SM)</a:t>
            </a:r>
          </a:p>
          <a:p>
            <a:pPr marL="342900" indent="-342900">
              <a:buFont typeface="Arial" panose="020B0604020202020204" pitchFamily="34" charset="0"/>
              <a:buChar char="•"/>
            </a:pPr>
            <a:r>
              <a:rPr lang="en-US" sz="2000" dirty="0"/>
              <a:t>Each SM has 4 SP (Steaming Processor)</a:t>
            </a:r>
          </a:p>
          <a:p>
            <a:pPr marL="342900" indent="-342900">
              <a:buFont typeface="Arial" panose="020B0604020202020204" pitchFamily="34" charset="0"/>
              <a:buChar char="•"/>
            </a:pPr>
            <a:r>
              <a:rPr lang="en-US" sz="2000" dirty="0"/>
              <a:t>Each SP can handle one </a:t>
            </a:r>
            <a:r>
              <a:rPr lang="en-US" sz="2000" b="1" dirty="0">
                <a:solidFill>
                  <a:srgbClr val="FF0000"/>
                </a:solidFill>
              </a:rPr>
              <a:t>warp</a:t>
            </a:r>
            <a:r>
              <a:rPr lang="en-US" sz="2000" dirty="0"/>
              <a:t> per clock cycle. Each SP has 16K registers (32b). </a:t>
            </a:r>
            <a:r>
              <a:rPr lang="en-US" sz="2000" b="1" dirty="0">
                <a:solidFill>
                  <a:srgbClr val="FF0000"/>
                </a:solidFill>
              </a:rPr>
              <a:t>One warp bundles 32 threads</a:t>
            </a:r>
            <a:r>
              <a:rPr lang="en-US" sz="2000" dirty="0"/>
              <a:t>, so 16K/32=512 </a:t>
            </a:r>
            <a:r>
              <a:rPr lang="en-US" sz="2000" dirty="0" err="1">
                <a:solidFill>
                  <a:srgbClr val="FF0000"/>
                </a:solidFill>
              </a:rPr>
              <a:t>simd</a:t>
            </a:r>
            <a:r>
              <a:rPr lang="en-US" sz="2000" dirty="0"/>
              <a:t> registers are available to multiple warps. If we have 8 warps to be interleaved on this SP, each warp can get 64 </a:t>
            </a:r>
            <a:r>
              <a:rPr lang="en-US" sz="2000" dirty="0" err="1">
                <a:solidFill>
                  <a:srgbClr val="FF0000"/>
                </a:solidFill>
              </a:rPr>
              <a:t>simd</a:t>
            </a:r>
            <a:r>
              <a:rPr lang="en-US" sz="2000" dirty="0"/>
              <a:t> registers. If you like to have 16 warps to interleave, then each warp can get only 32 </a:t>
            </a:r>
            <a:r>
              <a:rPr lang="en-US" sz="2000" dirty="0" err="1">
                <a:solidFill>
                  <a:srgbClr val="FF0000"/>
                </a:solidFill>
              </a:rPr>
              <a:t>simd</a:t>
            </a:r>
            <a:r>
              <a:rPr lang="en-US" sz="2000" dirty="0"/>
              <a:t> registers.</a:t>
            </a:r>
          </a:p>
          <a:p>
            <a:pPr marL="342900" indent="-342900">
              <a:buFont typeface="Arial" panose="020B0604020202020204" pitchFamily="34" charset="0"/>
              <a:buChar char="•"/>
            </a:pPr>
            <a:r>
              <a:rPr lang="en-US" sz="2000" dirty="0"/>
              <a:t>There are tradeoffs to be made between the number of warps to interleave and the number of registers for each warp.</a:t>
            </a:r>
          </a:p>
          <a:p>
            <a:endParaRPr lang="en-US" sz="2000" dirty="0"/>
          </a:p>
        </p:txBody>
      </p:sp>
    </p:spTree>
    <p:extLst>
      <p:ext uri="{BB962C8B-B14F-4D97-AF65-F5344CB8AC3E}">
        <p14:creationId xmlns:p14="http://schemas.microsoft.com/office/powerpoint/2010/main" val="248346251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Sub-word Parallelism Support in RV</a:t>
            </a:r>
          </a:p>
        </p:txBody>
      </p:sp>
      <p:sp>
        <p:nvSpPr>
          <p:cNvPr id="3" name="Content Placeholder 2"/>
          <p:cNvSpPr>
            <a:spLocks noGrp="1"/>
          </p:cNvSpPr>
          <p:nvPr>
            <p:ph idx="1"/>
          </p:nvPr>
        </p:nvSpPr>
        <p:spPr>
          <a:xfrm>
            <a:off x="311285" y="1125538"/>
            <a:ext cx="11641532" cy="4837517"/>
          </a:xfrm>
        </p:spPr>
        <p:txBody>
          <a:bodyPr>
            <a:normAutofit/>
          </a:bodyPr>
          <a:lstStyle/>
          <a:p>
            <a:r>
              <a:rPr lang="en-US" sz="2800" dirty="0"/>
              <a:t>The development of the Packed-SIMD (sub-word parallelism) extension (known as P-extension) of RISC-V is ongoing and has not yet concluded.</a:t>
            </a:r>
          </a:p>
          <a:p>
            <a:r>
              <a:rPr lang="en-US" sz="2800" dirty="0"/>
              <a:t>On the other hand, the vector extension (VE) RVV has made very good progress; version 1.0 is already out. Multiple implementations of RVV are available now (e.g., </a:t>
            </a:r>
            <a:r>
              <a:rPr lang="en-US" sz="2800" dirty="0" err="1"/>
              <a:t>SiFive</a:t>
            </a:r>
            <a:r>
              <a:rPr lang="en-US" sz="2800" dirty="0"/>
              <a:t>, Alibaba Damo, T-head, </a:t>
            </a:r>
            <a:r>
              <a:rPr lang="en-US" sz="2800" dirty="0" err="1"/>
              <a:t>AndesTech</a:t>
            </a:r>
            <a:r>
              <a:rPr lang="en-US" sz="2800" dirty="0"/>
              <a:t>).</a:t>
            </a:r>
          </a:p>
          <a:p>
            <a:r>
              <a:rPr lang="en-US" sz="2800" dirty="0"/>
              <a:t>Since RVV's vector registers must support 8-bit/16-bit data types (for AI applications), many architects think RVV may subsume the P extension.</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40</a:t>
            </a:fld>
            <a:endParaRPr lang="zh-TW" altLang="en-US"/>
          </a:p>
        </p:txBody>
      </p:sp>
    </p:spTree>
    <p:extLst>
      <p:ext uri="{BB962C8B-B14F-4D97-AF65-F5344CB8AC3E}">
        <p14:creationId xmlns:p14="http://schemas.microsoft.com/office/powerpoint/2010/main" val="4262486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3B7CBFDB-EE2D-4C27-A896-BA0A53814789}"/>
              </a:ext>
            </a:extLst>
          </p:cNvPr>
          <p:cNvSpPr>
            <a:spLocks noGrp="1" noChangeArrowheads="1"/>
          </p:cNvSpPr>
          <p:nvPr>
            <p:ph type="title"/>
          </p:nvPr>
        </p:nvSpPr>
        <p:spPr/>
        <p:txBody>
          <a:bodyPr/>
          <a:lstStyle/>
          <a:p>
            <a:r>
              <a:rPr lang="en-US" altLang="en-US"/>
              <a:t>Vector Architectures</a:t>
            </a:r>
            <a:endParaRPr lang="en-AU" altLang="en-US"/>
          </a:p>
        </p:txBody>
      </p:sp>
      <p:sp>
        <p:nvSpPr>
          <p:cNvPr id="36866" name="Rectangle 3">
            <a:extLst>
              <a:ext uri="{FF2B5EF4-FFF2-40B4-BE49-F238E27FC236}">
                <a16:creationId xmlns:a16="http://schemas.microsoft.com/office/drawing/2014/main" id="{8E75BFB4-75FB-4767-960C-EC5AA58E3D01}"/>
              </a:ext>
            </a:extLst>
          </p:cNvPr>
          <p:cNvSpPr>
            <a:spLocks noGrp="1" noChangeArrowheads="1"/>
          </p:cNvSpPr>
          <p:nvPr>
            <p:ph type="body" idx="1"/>
          </p:nvPr>
        </p:nvSpPr>
        <p:spPr/>
        <p:txBody>
          <a:bodyPr/>
          <a:lstStyle/>
          <a:p>
            <a:pPr>
              <a:lnSpc>
                <a:spcPct val="90000"/>
              </a:lnSpc>
            </a:pPr>
            <a:r>
              <a:rPr lang="en-US" altLang="en-US" sz="3200" dirty="0"/>
              <a:t>Basic idea:</a:t>
            </a:r>
          </a:p>
          <a:p>
            <a:pPr lvl="1">
              <a:lnSpc>
                <a:spcPct val="90000"/>
              </a:lnSpc>
            </a:pPr>
            <a:r>
              <a:rPr lang="en-US" altLang="en-US" sz="2800" b="0" dirty="0"/>
              <a:t>Read sets of data elements into “</a:t>
            </a:r>
            <a:r>
              <a:rPr lang="en-US" altLang="en-US" sz="2800" dirty="0"/>
              <a:t>vector registers</a:t>
            </a:r>
            <a:r>
              <a:rPr lang="en-US" altLang="en-US" sz="2800" b="0" dirty="0"/>
              <a:t>”</a:t>
            </a:r>
          </a:p>
          <a:p>
            <a:pPr lvl="1">
              <a:lnSpc>
                <a:spcPct val="90000"/>
              </a:lnSpc>
            </a:pPr>
            <a:r>
              <a:rPr lang="en-US" altLang="en-US" sz="2800" b="0" dirty="0"/>
              <a:t>Operate on those vector registers</a:t>
            </a:r>
          </a:p>
          <a:p>
            <a:pPr lvl="1">
              <a:lnSpc>
                <a:spcPct val="90000"/>
              </a:lnSpc>
            </a:pPr>
            <a:r>
              <a:rPr lang="en-US" altLang="en-US" sz="2800" b="0" dirty="0"/>
              <a:t>Write the results in vector register back into memory</a:t>
            </a:r>
          </a:p>
          <a:p>
            <a:pPr lvl="1">
              <a:lnSpc>
                <a:spcPct val="90000"/>
              </a:lnSpc>
            </a:pPr>
            <a:endParaRPr lang="en-US" altLang="en-US" dirty="0"/>
          </a:p>
          <a:p>
            <a:pPr>
              <a:lnSpc>
                <a:spcPct val="90000"/>
              </a:lnSpc>
            </a:pPr>
            <a:r>
              <a:rPr lang="en-US" altLang="en-US" sz="3200" dirty="0"/>
              <a:t>Vector registers are controlled/allocated by the compiler</a:t>
            </a:r>
          </a:p>
          <a:p>
            <a:pPr lvl="1">
              <a:lnSpc>
                <a:spcPct val="90000"/>
              </a:lnSpc>
            </a:pPr>
            <a:r>
              <a:rPr lang="en-US" altLang="en-US" sz="2800" b="0" dirty="0"/>
              <a:t>Used to hide memory latency</a:t>
            </a:r>
          </a:p>
          <a:p>
            <a:pPr lvl="1">
              <a:lnSpc>
                <a:spcPct val="90000"/>
              </a:lnSpc>
            </a:pPr>
            <a:r>
              <a:rPr lang="en-US" altLang="en-US" sz="2800" b="0" dirty="0"/>
              <a:t>Leverage memory bandwidth</a:t>
            </a:r>
          </a:p>
          <a:p>
            <a:pPr lvl="1">
              <a:lnSpc>
                <a:spcPct val="90000"/>
              </a:lnSpc>
            </a:pPr>
            <a:r>
              <a:rPr lang="en-US" altLang="en-US" sz="2800" dirty="0"/>
              <a:t>Vector loads/stores are excellent architecture features (they communicate memory reference patterns to the memory system)</a:t>
            </a:r>
            <a:endParaRPr lang="en-US" altLang="en-US" sz="2800" b="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86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686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6866">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6866">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6866">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686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86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8037C62B-95C7-46BB-8E8B-60ECE6ADB737}"/>
              </a:ext>
            </a:extLst>
          </p:cNvPr>
          <p:cNvSpPr>
            <a:spLocks noGrp="1" noChangeArrowheads="1"/>
          </p:cNvSpPr>
          <p:nvPr>
            <p:ph type="title"/>
          </p:nvPr>
        </p:nvSpPr>
        <p:spPr/>
        <p:txBody>
          <a:bodyPr/>
          <a:lstStyle/>
          <a:p>
            <a:r>
              <a:rPr lang="en-AU" altLang="en-US" sz="4400" dirty="0"/>
              <a:t>RISC-V VE (Vector Extension), RVV</a:t>
            </a:r>
          </a:p>
        </p:txBody>
      </p:sp>
      <p:sp>
        <p:nvSpPr>
          <p:cNvPr id="38914" name="Rectangle 3">
            <a:extLst>
              <a:ext uri="{FF2B5EF4-FFF2-40B4-BE49-F238E27FC236}">
                <a16:creationId xmlns:a16="http://schemas.microsoft.com/office/drawing/2014/main" id="{BF7B7152-1CAE-4B8D-9949-F2A8C11EB7AF}"/>
              </a:ext>
            </a:extLst>
          </p:cNvPr>
          <p:cNvSpPr>
            <a:spLocks noGrp="1" noChangeArrowheads="1"/>
          </p:cNvSpPr>
          <p:nvPr>
            <p:ph type="body" idx="1"/>
          </p:nvPr>
        </p:nvSpPr>
        <p:spPr>
          <a:xfrm>
            <a:off x="155643" y="1047750"/>
            <a:ext cx="11692571" cy="4980910"/>
          </a:xfrm>
        </p:spPr>
        <p:txBody>
          <a:bodyPr/>
          <a:lstStyle/>
          <a:p>
            <a:pPr lvl="1">
              <a:lnSpc>
                <a:spcPct val="90000"/>
              </a:lnSpc>
              <a:buFont typeface="Wingdings" panose="05000000000000000000" pitchFamily="2" charset="2"/>
              <a:buChar char="§"/>
            </a:pPr>
            <a:r>
              <a:rPr lang="en-US" altLang="en-US" dirty="0"/>
              <a:t>Loosely based on Cray-1 Architecture</a:t>
            </a:r>
          </a:p>
          <a:p>
            <a:pPr lvl="1">
              <a:lnSpc>
                <a:spcPct val="90000"/>
              </a:lnSpc>
              <a:buFont typeface="Wingdings" panose="05000000000000000000" pitchFamily="2" charset="2"/>
              <a:buChar char="§"/>
            </a:pPr>
            <a:r>
              <a:rPr lang="en-US" altLang="en-US" dirty="0"/>
              <a:t>32 64-bit vector registers (</a:t>
            </a:r>
            <a:r>
              <a:rPr lang="en-US" altLang="en-US" dirty="0">
                <a:latin typeface="Courier New" panose="02070309020205020404" pitchFamily="49" charset="0"/>
              </a:rPr>
              <a:t>v0</a:t>
            </a:r>
            <a:r>
              <a:rPr lang="en-US" altLang="en-US" dirty="0"/>
              <a:t> – </a:t>
            </a:r>
            <a:r>
              <a:rPr lang="en-US" altLang="en-US" dirty="0">
                <a:latin typeface="Courier New" panose="02070309020205020404" pitchFamily="49" charset="0"/>
              </a:rPr>
              <a:t>v31</a:t>
            </a:r>
            <a:r>
              <a:rPr lang="en-US" altLang="en-US" dirty="0"/>
              <a:t>)  </a:t>
            </a:r>
            <a:r>
              <a:rPr lang="en-US" altLang="en-US" sz="1800" dirty="0"/>
              <a:t>//</a:t>
            </a:r>
            <a:r>
              <a:rPr lang="en-US" altLang="en-US" sz="1800" dirty="0" err="1"/>
              <a:t>SiFive</a:t>
            </a:r>
            <a:r>
              <a:rPr lang="en-US" altLang="en-US" sz="1800" dirty="0"/>
              <a:t> latest implementation has 512b </a:t>
            </a:r>
            <a:r>
              <a:rPr lang="en-US" altLang="en-US" sz="1800" dirty="0" err="1"/>
              <a:t>elem</a:t>
            </a:r>
            <a:endParaRPr lang="en-US" altLang="en-US" sz="1800" dirty="0"/>
          </a:p>
          <a:p>
            <a:pPr marL="457176" lvl="1" indent="0">
              <a:lnSpc>
                <a:spcPct val="90000"/>
              </a:lnSpc>
              <a:buNone/>
            </a:pPr>
            <a:r>
              <a:rPr lang="en-US" altLang="en-US" sz="1800" dirty="0"/>
              <a:t>	</a:t>
            </a:r>
            <a:r>
              <a:rPr lang="en-US" altLang="en-US" sz="2000" dirty="0"/>
              <a:t>The width of the vector register is implementation dependent</a:t>
            </a:r>
          </a:p>
          <a:p>
            <a:pPr lvl="1">
              <a:lnSpc>
                <a:spcPct val="90000"/>
              </a:lnSpc>
              <a:buFont typeface="Wingdings" panose="05000000000000000000" pitchFamily="2" charset="2"/>
              <a:buChar char="§"/>
            </a:pPr>
            <a:r>
              <a:rPr lang="en-US" altLang="en-US" dirty="0"/>
              <a:t>Vector functional units</a:t>
            </a:r>
          </a:p>
          <a:p>
            <a:pPr lvl="2">
              <a:lnSpc>
                <a:spcPct val="90000"/>
              </a:lnSpc>
              <a:buFont typeface="Wingdings" panose="05000000000000000000" pitchFamily="2" charset="2"/>
              <a:buChar char="§"/>
            </a:pPr>
            <a:r>
              <a:rPr lang="en-US" altLang="en-US" dirty="0"/>
              <a:t>Fully pipelined</a:t>
            </a:r>
          </a:p>
          <a:p>
            <a:pPr lvl="2">
              <a:lnSpc>
                <a:spcPct val="90000"/>
              </a:lnSpc>
              <a:buFont typeface="Wingdings" panose="05000000000000000000" pitchFamily="2" charset="2"/>
              <a:buChar char="§"/>
            </a:pPr>
            <a:r>
              <a:rPr lang="en-US" altLang="en-US" dirty="0"/>
              <a:t>Accommodate varying data sizes (Double, Single, Half, ..)</a:t>
            </a:r>
          </a:p>
          <a:p>
            <a:pPr lvl="1">
              <a:lnSpc>
                <a:spcPct val="90000"/>
              </a:lnSpc>
              <a:buFont typeface="Wingdings" panose="05000000000000000000" pitchFamily="2" charset="2"/>
              <a:buChar char="§"/>
            </a:pPr>
            <a:r>
              <a:rPr lang="en-US" altLang="en-US" dirty="0"/>
              <a:t>Vector load-store unit</a:t>
            </a:r>
          </a:p>
          <a:p>
            <a:pPr lvl="2">
              <a:lnSpc>
                <a:spcPct val="90000"/>
              </a:lnSpc>
              <a:buFont typeface="Wingdings" panose="05000000000000000000" pitchFamily="2" charset="2"/>
              <a:buChar char="§"/>
            </a:pPr>
            <a:r>
              <a:rPr lang="en-US" altLang="en-US" dirty="0"/>
              <a:t>Fully pipelined, one word per clock cycle after initial latency</a:t>
            </a:r>
          </a:p>
          <a:p>
            <a:pPr lvl="1">
              <a:lnSpc>
                <a:spcPct val="90000"/>
              </a:lnSpc>
              <a:buFont typeface="Wingdings" panose="05000000000000000000" pitchFamily="2" charset="2"/>
              <a:buChar char="§"/>
            </a:pPr>
            <a:r>
              <a:rPr lang="en-US" altLang="en-US" dirty="0"/>
              <a:t>Scalar registers</a:t>
            </a:r>
          </a:p>
          <a:p>
            <a:pPr lvl="2">
              <a:lnSpc>
                <a:spcPct val="90000"/>
              </a:lnSpc>
              <a:buFont typeface="Wingdings" panose="05000000000000000000" pitchFamily="2" charset="2"/>
              <a:buChar char="§"/>
            </a:pPr>
            <a:r>
              <a:rPr lang="en-US" altLang="en-US" dirty="0"/>
              <a:t>31 general-purpose registers (x1-x31), 32 </a:t>
            </a:r>
            <a:r>
              <a:rPr lang="en-US" altLang="en-US" dirty="0" err="1"/>
              <a:t>fp</a:t>
            </a:r>
            <a:r>
              <a:rPr lang="en-US" altLang="en-US" dirty="0"/>
              <a:t> registers (</a:t>
            </a:r>
            <a:r>
              <a:rPr lang="en-US" altLang="en-US" b="1" dirty="0">
                <a:latin typeface="Courier New" panose="02070309020205020404" pitchFamily="49" charset="0"/>
              </a:rPr>
              <a:t>f0</a:t>
            </a:r>
            <a:r>
              <a:rPr lang="en-US" altLang="en-US" dirty="0"/>
              <a:t> – </a:t>
            </a:r>
            <a:r>
              <a:rPr lang="en-US" altLang="en-US" b="1" dirty="0">
                <a:latin typeface="Courier New" panose="02070309020205020404" pitchFamily="49" charset="0"/>
              </a:rPr>
              <a:t>f31</a:t>
            </a:r>
            <a:r>
              <a:rPr lang="en-US"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891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54CD27-DB19-4407-9FE4-B9BF31E07DFF}"/>
              </a:ext>
            </a:extLst>
          </p:cNvPr>
          <p:cNvSpPr>
            <a:spLocks noGrp="1"/>
          </p:cNvSpPr>
          <p:nvPr>
            <p:ph type="sldNum" sz="quarter" idx="10"/>
          </p:nvPr>
        </p:nvSpPr>
        <p:spPr/>
        <p:txBody>
          <a:bodyPr/>
          <a:lstStyle/>
          <a:p>
            <a:fld id="{D9B6BDF2-6896-4B98-8776-C18582F63BA5}" type="slidenum">
              <a:rPr lang="zh-TW" altLang="en-US" smtClean="0"/>
              <a:pPr/>
              <a:t>43</a:t>
            </a:fld>
            <a:endParaRPr lang="zh-TW" altLang="en-US"/>
          </a:p>
        </p:txBody>
      </p:sp>
      <p:pic>
        <p:nvPicPr>
          <p:cNvPr id="6" name="Picture 5">
            <a:extLst>
              <a:ext uri="{FF2B5EF4-FFF2-40B4-BE49-F238E27FC236}">
                <a16:creationId xmlns:a16="http://schemas.microsoft.com/office/drawing/2014/main" id="{76716FC2-5D49-4DD3-BEE2-AEDCD16F0D30}"/>
              </a:ext>
            </a:extLst>
          </p:cNvPr>
          <p:cNvPicPr>
            <a:picLocks noChangeAspect="1"/>
          </p:cNvPicPr>
          <p:nvPr/>
        </p:nvPicPr>
        <p:blipFill>
          <a:blip r:embed="rId2"/>
          <a:stretch>
            <a:fillRect/>
          </a:stretch>
        </p:blipFill>
        <p:spPr>
          <a:xfrm>
            <a:off x="1092390" y="961864"/>
            <a:ext cx="3096057" cy="5487166"/>
          </a:xfrm>
          <a:prstGeom prst="rect">
            <a:avLst/>
          </a:prstGeom>
        </p:spPr>
      </p:pic>
      <p:pic>
        <p:nvPicPr>
          <p:cNvPr id="8" name="Picture 7">
            <a:extLst>
              <a:ext uri="{FF2B5EF4-FFF2-40B4-BE49-F238E27FC236}">
                <a16:creationId xmlns:a16="http://schemas.microsoft.com/office/drawing/2014/main" id="{25B49FF2-4668-49D5-BB9D-842ED702939B}"/>
              </a:ext>
            </a:extLst>
          </p:cNvPr>
          <p:cNvPicPr>
            <a:picLocks noChangeAspect="1"/>
          </p:cNvPicPr>
          <p:nvPr/>
        </p:nvPicPr>
        <p:blipFill>
          <a:blip r:embed="rId3"/>
          <a:stretch>
            <a:fillRect/>
          </a:stretch>
        </p:blipFill>
        <p:spPr>
          <a:xfrm>
            <a:off x="4676577" y="961864"/>
            <a:ext cx="2838846" cy="5334744"/>
          </a:xfrm>
          <a:prstGeom prst="rect">
            <a:avLst/>
          </a:prstGeom>
        </p:spPr>
      </p:pic>
      <p:sp>
        <p:nvSpPr>
          <p:cNvPr id="9" name="Rectangle 2">
            <a:extLst>
              <a:ext uri="{FF2B5EF4-FFF2-40B4-BE49-F238E27FC236}">
                <a16:creationId xmlns:a16="http://schemas.microsoft.com/office/drawing/2014/main" id="{4408DD79-D118-4BFC-BD7A-E78F2CE484BC}"/>
              </a:ext>
            </a:extLst>
          </p:cNvPr>
          <p:cNvSpPr>
            <a:spLocks noGrp="1" noChangeArrowheads="1"/>
          </p:cNvSpPr>
          <p:nvPr>
            <p:ph type="title"/>
          </p:nvPr>
        </p:nvSpPr>
        <p:spPr>
          <a:xfrm>
            <a:off x="1049867" y="144466"/>
            <a:ext cx="10902950" cy="692151"/>
          </a:xfrm>
        </p:spPr>
        <p:txBody>
          <a:bodyPr/>
          <a:lstStyle/>
          <a:p>
            <a:r>
              <a:rPr lang="en-AU" altLang="en-US" sz="4400" dirty="0"/>
              <a:t>RISC-V VE Instructions </a:t>
            </a:r>
            <a:r>
              <a:rPr lang="en-AU" altLang="en-US" sz="1800" dirty="0"/>
              <a:t>(from </a:t>
            </a:r>
            <a:r>
              <a:rPr lang="en-AU" altLang="en-US" sz="1800" dirty="0" err="1"/>
              <a:t>HennesSy</a:t>
            </a:r>
            <a:r>
              <a:rPr lang="en-AU" altLang="en-US" sz="1800" dirty="0"/>
              <a:t> &amp; Patterson textbook)</a:t>
            </a:r>
          </a:p>
        </p:txBody>
      </p:sp>
      <p:sp>
        <p:nvSpPr>
          <p:cNvPr id="10" name="TextBox 9">
            <a:extLst>
              <a:ext uri="{FF2B5EF4-FFF2-40B4-BE49-F238E27FC236}">
                <a16:creationId xmlns:a16="http://schemas.microsoft.com/office/drawing/2014/main" id="{246930B0-B524-429D-9201-8ADB1C34A2F2}"/>
              </a:ext>
            </a:extLst>
          </p:cNvPr>
          <p:cNvSpPr txBox="1"/>
          <p:nvPr/>
        </p:nvSpPr>
        <p:spPr>
          <a:xfrm>
            <a:off x="7924164" y="1859339"/>
            <a:ext cx="3643424" cy="3139321"/>
          </a:xfrm>
          <a:prstGeom prst="rect">
            <a:avLst/>
          </a:prstGeom>
          <a:noFill/>
        </p:spPr>
        <p:txBody>
          <a:bodyPr wrap="square" rtlCol="0" anchor="ctr" anchorCtr="1">
            <a:spAutoFit/>
          </a:bodyPr>
          <a:lstStyle/>
          <a:p>
            <a:r>
              <a:rPr lang="en-US" dirty="0">
                <a:ea typeface="標楷體" pitchFamily="65" charset="-120"/>
                <a:cs typeface="Calibri" pitchFamily="34" charset="0"/>
              </a:rPr>
              <a:t>VE 2.0 adds in support for</a:t>
            </a:r>
          </a:p>
          <a:p>
            <a:r>
              <a:rPr lang="en-US" dirty="0">
                <a:ea typeface="標楷體" pitchFamily="65" charset="-120"/>
                <a:cs typeface="Calibri" pitchFamily="34" charset="0"/>
              </a:rPr>
              <a:t> </a:t>
            </a:r>
          </a:p>
          <a:p>
            <a:pPr marL="285750" indent="-285750">
              <a:buFont typeface="Wingdings" panose="05000000000000000000" pitchFamily="2" charset="2"/>
              <a:buChar char="§"/>
            </a:pPr>
            <a:r>
              <a:rPr lang="en-US" dirty="0">
                <a:ea typeface="標楷體" pitchFamily="65" charset="-120"/>
                <a:cs typeface="Calibri" pitchFamily="34" charset="0"/>
              </a:rPr>
              <a:t>Vector mask</a:t>
            </a:r>
          </a:p>
          <a:p>
            <a:pPr marL="285750" indent="-285750">
              <a:buFont typeface="Wingdings" panose="05000000000000000000" pitchFamily="2" charset="2"/>
              <a:buChar char="§"/>
            </a:pPr>
            <a:r>
              <a:rPr lang="en-US" dirty="0" err="1">
                <a:ea typeface="標楷體" pitchFamily="65" charset="-120"/>
                <a:cs typeface="Calibri" pitchFamily="34" charset="0"/>
              </a:rPr>
              <a:t>Vmin</a:t>
            </a:r>
            <a:r>
              <a:rPr lang="en-US" dirty="0">
                <a:ea typeface="標楷體" pitchFamily="65" charset="-120"/>
                <a:cs typeface="Calibri" pitchFamily="34" charset="0"/>
              </a:rPr>
              <a:t>, Vmax</a:t>
            </a:r>
          </a:p>
          <a:p>
            <a:pPr marL="285750" indent="-285750">
              <a:buFont typeface="Wingdings" panose="05000000000000000000" pitchFamily="2" charset="2"/>
              <a:buChar char="§"/>
            </a:pPr>
            <a:r>
              <a:rPr lang="en-US" dirty="0" err="1">
                <a:ea typeface="標楷體" pitchFamily="65" charset="-120"/>
                <a:cs typeface="Calibri" pitchFamily="34" charset="0"/>
              </a:rPr>
              <a:t>Vshuf</a:t>
            </a:r>
            <a:r>
              <a:rPr lang="en-US" dirty="0">
                <a:ea typeface="標楷體" pitchFamily="65" charset="-120"/>
                <a:cs typeface="Calibri" pitchFamily="34" charset="0"/>
              </a:rPr>
              <a:t>, </a:t>
            </a:r>
            <a:r>
              <a:rPr lang="en-US" dirty="0" err="1">
                <a:ea typeface="標楷體" pitchFamily="65" charset="-120"/>
                <a:cs typeface="Calibri" pitchFamily="34" charset="0"/>
              </a:rPr>
              <a:t>Vperm</a:t>
            </a:r>
            <a:endParaRPr lang="en-US" dirty="0">
              <a:ea typeface="標楷體" pitchFamily="65" charset="-120"/>
              <a:cs typeface="Calibri" pitchFamily="34" charset="0"/>
            </a:endParaRPr>
          </a:p>
          <a:p>
            <a:pPr marL="285750" indent="-285750">
              <a:buFont typeface="Wingdings" panose="05000000000000000000" pitchFamily="2" charset="2"/>
              <a:buChar char="§"/>
            </a:pPr>
            <a:r>
              <a:rPr lang="en-US" dirty="0">
                <a:ea typeface="標楷體" pitchFamily="65" charset="-120"/>
                <a:cs typeface="Calibri" pitchFamily="34" charset="0"/>
              </a:rPr>
              <a:t>LMUL (</a:t>
            </a:r>
            <a:r>
              <a:rPr lang="en-US" dirty="0" err="1">
                <a:ea typeface="標楷體" pitchFamily="65" charset="-120"/>
                <a:cs typeface="Calibri" pitchFamily="34" charset="0"/>
              </a:rPr>
              <a:t>Vreg</a:t>
            </a:r>
            <a:r>
              <a:rPr lang="en-US" dirty="0">
                <a:ea typeface="標楷體" pitchFamily="65" charset="-120"/>
                <a:cs typeface="Calibri" pitchFamily="34" charset="0"/>
              </a:rPr>
              <a:t> reconfigure)</a:t>
            </a:r>
          </a:p>
          <a:p>
            <a:endParaRPr lang="en-US" dirty="0">
              <a:ea typeface="標楷體" pitchFamily="65" charset="-120"/>
              <a:cs typeface="Calibri" pitchFamily="34" charset="0"/>
            </a:endParaRPr>
          </a:p>
          <a:p>
            <a:pPr marL="285750" indent="-285750">
              <a:buFont typeface="Wingdings" panose="05000000000000000000" pitchFamily="2" charset="2"/>
              <a:buChar char="§"/>
            </a:pPr>
            <a:endParaRPr lang="en-US" dirty="0">
              <a:ea typeface="標楷體" pitchFamily="65" charset="-120"/>
              <a:cs typeface="Calibri" pitchFamily="34" charset="0"/>
            </a:endParaRPr>
          </a:p>
          <a:p>
            <a:pPr marL="285750" indent="-285750">
              <a:buFont typeface="Wingdings" panose="05000000000000000000" pitchFamily="2" charset="2"/>
              <a:buChar char="§"/>
            </a:pPr>
            <a:endParaRPr lang="en-US" dirty="0">
              <a:ea typeface="標楷體" pitchFamily="65" charset="-120"/>
              <a:cs typeface="Calibri" pitchFamily="34" charset="0"/>
            </a:endParaRPr>
          </a:p>
          <a:p>
            <a:pPr marL="285750" indent="-285750">
              <a:buFont typeface="Wingdings" panose="05000000000000000000" pitchFamily="2" charset="2"/>
              <a:buChar char="§"/>
            </a:pPr>
            <a:endParaRPr lang="en-US" dirty="0">
              <a:ea typeface="標楷體" pitchFamily="65" charset="-120"/>
              <a:cs typeface="Calibri" pitchFamily="34" charset="0"/>
            </a:endParaRPr>
          </a:p>
          <a:p>
            <a:pPr marL="285750" indent="-285750">
              <a:buFont typeface="Wingdings" panose="05000000000000000000" pitchFamily="2" charset="2"/>
              <a:buChar char="§"/>
            </a:pPr>
            <a:endParaRPr lang="en-US" dirty="0">
              <a:ea typeface="標楷體" pitchFamily="65" charset="-120"/>
              <a:cs typeface="Calibri" pitchFamily="34" charset="0"/>
            </a:endParaRPr>
          </a:p>
        </p:txBody>
      </p:sp>
    </p:spTree>
    <p:extLst>
      <p:ext uri="{BB962C8B-B14F-4D97-AF65-F5344CB8AC3E}">
        <p14:creationId xmlns:p14="http://schemas.microsoft.com/office/powerpoint/2010/main" val="40210139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ED7065A3-A7D7-4FE5-A306-857E6AE7B166}"/>
              </a:ext>
            </a:extLst>
          </p:cNvPr>
          <p:cNvSpPr>
            <a:spLocks noGrp="1" noChangeArrowheads="1"/>
          </p:cNvSpPr>
          <p:nvPr>
            <p:ph type="title"/>
          </p:nvPr>
        </p:nvSpPr>
        <p:spPr/>
        <p:txBody>
          <a:bodyPr/>
          <a:lstStyle/>
          <a:p>
            <a:endParaRPr lang="en-AU" altLang="en-US" dirty="0"/>
          </a:p>
        </p:txBody>
      </p:sp>
      <p:sp>
        <p:nvSpPr>
          <p:cNvPr id="40962" name="Rectangle 3">
            <a:extLst>
              <a:ext uri="{FF2B5EF4-FFF2-40B4-BE49-F238E27FC236}">
                <a16:creationId xmlns:a16="http://schemas.microsoft.com/office/drawing/2014/main" id="{76ACFDFF-2A37-43BB-BDC4-E40FEA698EA6}"/>
              </a:ext>
            </a:extLst>
          </p:cNvPr>
          <p:cNvSpPr>
            <a:spLocks noGrp="1" noChangeArrowheads="1"/>
          </p:cNvSpPr>
          <p:nvPr>
            <p:ph type="body" idx="1"/>
          </p:nvPr>
        </p:nvSpPr>
        <p:spPr>
          <a:xfrm>
            <a:off x="1690688" y="1066800"/>
            <a:ext cx="8977312" cy="5791200"/>
          </a:xfrm>
        </p:spPr>
        <p:txBody>
          <a:bodyPr/>
          <a:lstStyle/>
          <a:p>
            <a:pPr>
              <a:lnSpc>
                <a:spcPct val="90000"/>
              </a:lnSpc>
              <a:buSzPct val="110000"/>
              <a:buFont typeface="Arial" panose="020B0604020202020204" pitchFamily="34" charset="0"/>
              <a:buChar char="•"/>
            </a:pPr>
            <a:r>
              <a:rPr lang="en-US" altLang="en-US" dirty="0"/>
              <a:t>.</a:t>
            </a:r>
            <a:r>
              <a:rPr lang="en-US" altLang="en-US" sz="2200" dirty="0" err="1"/>
              <a:t>vv</a:t>
            </a:r>
            <a:r>
              <a:rPr lang="en-US" altLang="en-US" sz="2200" dirty="0"/>
              <a:t>:  two vector operands</a:t>
            </a:r>
          </a:p>
          <a:p>
            <a:pPr>
              <a:lnSpc>
                <a:spcPct val="90000"/>
              </a:lnSpc>
            </a:pPr>
            <a:r>
              <a:rPr lang="en-US" altLang="en-US" sz="2200" dirty="0"/>
              <a:t>.vs and .</a:t>
            </a:r>
            <a:r>
              <a:rPr lang="en-US" altLang="en-US" sz="2200" dirty="0" err="1"/>
              <a:t>sv</a:t>
            </a:r>
            <a:r>
              <a:rPr lang="en-US" altLang="en-US" sz="2200" dirty="0"/>
              <a:t>:  vector and scalar operands</a:t>
            </a:r>
          </a:p>
          <a:p>
            <a:pPr>
              <a:lnSpc>
                <a:spcPct val="90000"/>
              </a:lnSpc>
            </a:pPr>
            <a:r>
              <a:rPr lang="en-US" altLang="en-US" sz="2200" dirty="0"/>
              <a:t>LV/SV:  vector load and vector store from address</a:t>
            </a:r>
          </a:p>
          <a:p>
            <a:pPr>
              <a:lnSpc>
                <a:spcPct val="90000"/>
              </a:lnSpc>
            </a:pPr>
            <a:r>
              <a:rPr lang="en-US" altLang="en-US" sz="2200" dirty="0"/>
              <a:t>Example:  </a:t>
            </a:r>
            <a:r>
              <a:rPr lang="en-US" altLang="en-US" sz="2200" dirty="0">
                <a:solidFill>
                  <a:srgbClr val="FF0000"/>
                </a:solidFill>
              </a:rPr>
              <a:t>D</a:t>
            </a:r>
            <a:r>
              <a:rPr lang="en-US" altLang="en-US" sz="2200" dirty="0">
                <a:solidFill>
                  <a:srgbClr val="0070C0"/>
                </a:solidFill>
              </a:rPr>
              <a:t>AXPY</a:t>
            </a:r>
            <a:r>
              <a:rPr lang="en-US" altLang="en-US" sz="2200" dirty="0"/>
              <a:t> (i.e. </a:t>
            </a:r>
            <a:r>
              <a:rPr lang="en-US" altLang="en-US" sz="2200" dirty="0">
                <a:solidFill>
                  <a:srgbClr val="FF0000"/>
                </a:solidFill>
              </a:rPr>
              <a:t>D</a:t>
            </a:r>
            <a:r>
              <a:rPr lang="en-US" altLang="en-US" sz="2200" dirty="0"/>
              <a:t>ouble-precision </a:t>
            </a:r>
            <a:r>
              <a:rPr lang="en-US" altLang="en-US" sz="2200" dirty="0">
                <a:solidFill>
                  <a:srgbClr val="0070C0"/>
                </a:solidFill>
              </a:rPr>
              <a:t>a*X + Y </a:t>
            </a:r>
            <a:r>
              <a:rPr lang="en-US" altLang="en-US" sz="2200" dirty="0"/>
              <a:t>)</a:t>
            </a:r>
          </a:p>
          <a:p>
            <a:pPr>
              <a:lnSpc>
                <a:spcPct val="90000"/>
              </a:lnSpc>
              <a:buFont typeface="Symbol" panose="05050102010706020507" pitchFamily="18" charset="2"/>
              <a:buNone/>
            </a:pPr>
            <a:endParaRPr lang="en-US" altLang="en-US" sz="2200" dirty="0"/>
          </a:p>
          <a:p>
            <a:pPr lvl="1">
              <a:lnSpc>
                <a:spcPct val="90000"/>
              </a:lnSpc>
              <a:buFont typeface="Symbol" panose="05050102010706020507" pitchFamily="18" charset="2"/>
              <a:buNone/>
            </a:pPr>
            <a:r>
              <a:rPr lang="en-US" altLang="en-US" sz="2000" dirty="0" err="1">
                <a:latin typeface="Courier" charset="0"/>
              </a:rPr>
              <a:t>vsetdcfg</a:t>
            </a:r>
            <a:r>
              <a:rPr lang="en-US" altLang="en-US" sz="2000" dirty="0">
                <a:latin typeface="Courier" charset="0"/>
              </a:rPr>
              <a:t>	4*fp64   #1:Enable 4 double-precision </a:t>
            </a:r>
            <a:r>
              <a:rPr lang="en-US" altLang="en-US" sz="2000" dirty="0" err="1">
                <a:latin typeface="Courier" charset="0"/>
              </a:rPr>
              <a:t>vregs</a:t>
            </a:r>
            <a:endParaRPr lang="en-US" altLang="en-US" sz="2000" dirty="0">
              <a:latin typeface="Courier" charset="0"/>
            </a:endParaRPr>
          </a:p>
          <a:p>
            <a:pPr lvl="1">
              <a:lnSpc>
                <a:spcPct val="90000"/>
              </a:lnSpc>
              <a:buFont typeface="Symbol" panose="05050102010706020507" pitchFamily="18" charset="2"/>
              <a:buNone/>
            </a:pPr>
            <a:r>
              <a:rPr lang="en-US" altLang="en-US" sz="2000" dirty="0" err="1">
                <a:latin typeface="Courier" charset="0"/>
              </a:rPr>
              <a:t>fld</a:t>
            </a:r>
            <a:r>
              <a:rPr lang="en-US" altLang="en-US" sz="2000" dirty="0">
                <a:latin typeface="Courier" charset="0"/>
              </a:rPr>
              <a:t>  f0,a	   #2: Load scalar a </a:t>
            </a:r>
          </a:p>
          <a:p>
            <a:pPr lvl="1">
              <a:lnSpc>
                <a:spcPct val="90000"/>
              </a:lnSpc>
              <a:buFont typeface="Symbol" panose="05050102010706020507" pitchFamily="18" charset="2"/>
              <a:buNone/>
            </a:pPr>
            <a:r>
              <a:rPr lang="en-US" altLang="en-US" sz="2000" dirty="0" err="1">
                <a:latin typeface="Courier" charset="0"/>
              </a:rPr>
              <a:t>vld</a:t>
            </a:r>
            <a:r>
              <a:rPr lang="en-US" altLang="en-US" sz="2000" dirty="0">
                <a:latin typeface="Courier" charset="0"/>
              </a:rPr>
              <a:t>  v0,x5	   #3: Load vector X </a:t>
            </a:r>
          </a:p>
          <a:p>
            <a:pPr lvl="1">
              <a:lnSpc>
                <a:spcPct val="90000"/>
              </a:lnSpc>
              <a:buFont typeface="Symbol" panose="05050102010706020507" pitchFamily="18" charset="2"/>
              <a:buNone/>
            </a:pPr>
            <a:r>
              <a:rPr lang="en-US" altLang="en-US" sz="2000" dirty="0" err="1">
                <a:latin typeface="Courier" charset="0"/>
              </a:rPr>
              <a:t>vmul</a:t>
            </a:r>
            <a:r>
              <a:rPr lang="en-US" altLang="en-US" sz="2000" dirty="0">
                <a:latin typeface="Courier" charset="0"/>
              </a:rPr>
              <a:t>  v1,v0,f0	   #4: Vector-scalar multiply – </a:t>
            </a:r>
            <a:r>
              <a:rPr lang="en-US" altLang="en-US" sz="2000" dirty="0" err="1">
                <a:latin typeface="Courier" charset="0"/>
              </a:rPr>
              <a:t>vmul.vs</a:t>
            </a:r>
            <a:endParaRPr lang="en-US" altLang="en-US" sz="2000" dirty="0">
              <a:latin typeface="Courier" charset="0"/>
            </a:endParaRPr>
          </a:p>
          <a:p>
            <a:pPr lvl="1">
              <a:lnSpc>
                <a:spcPct val="90000"/>
              </a:lnSpc>
              <a:buFont typeface="Symbol" panose="05050102010706020507" pitchFamily="18" charset="2"/>
              <a:buNone/>
            </a:pPr>
            <a:r>
              <a:rPr lang="en-US" altLang="en-US" sz="2000" dirty="0" err="1">
                <a:latin typeface="Courier" charset="0"/>
              </a:rPr>
              <a:t>vld</a:t>
            </a:r>
            <a:r>
              <a:rPr lang="en-US" altLang="en-US" sz="2000" dirty="0">
                <a:latin typeface="Courier" charset="0"/>
              </a:rPr>
              <a:t>   v2,x6	   #5: Load vector Y</a:t>
            </a:r>
          </a:p>
          <a:p>
            <a:pPr lvl="1">
              <a:lnSpc>
                <a:spcPct val="90000"/>
              </a:lnSpc>
              <a:buFont typeface="Symbol" panose="05050102010706020507" pitchFamily="18" charset="2"/>
              <a:buNone/>
            </a:pPr>
            <a:r>
              <a:rPr lang="en-US" altLang="en-US" sz="2000" dirty="0" err="1">
                <a:latin typeface="Courier" charset="0"/>
              </a:rPr>
              <a:t>vadd</a:t>
            </a:r>
            <a:r>
              <a:rPr lang="en-US" altLang="en-US" sz="2000" dirty="0">
                <a:latin typeface="Courier" charset="0"/>
              </a:rPr>
              <a:t>  v3,v1,v2    #6: Vector-vector add - </a:t>
            </a:r>
            <a:r>
              <a:rPr lang="en-US" altLang="en-US" sz="2000" dirty="0" err="1">
                <a:latin typeface="Courier" charset="0"/>
              </a:rPr>
              <a:t>vadd.vv</a:t>
            </a:r>
            <a:endParaRPr lang="en-US" altLang="en-US" sz="2000" dirty="0">
              <a:latin typeface="Courier" charset="0"/>
            </a:endParaRPr>
          </a:p>
          <a:p>
            <a:pPr lvl="1">
              <a:lnSpc>
                <a:spcPct val="90000"/>
              </a:lnSpc>
              <a:buFont typeface="Symbol" panose="05050102010706020507" pitchFamily="18" charset="2"/>
              <a:buNone/>
            </a:pPr>
            <a:r>
              <a:rPr lang="en-US" altLang="en-US" sz="2000" dirty="0" err="1">
                <a:latin typeface="Courier" charset="0"/>
              </a:rPr>
              <a:t>vst</a:t>
            </a:r>
            <a:r>
              <a:rPr lang="en-US" altLang="en-US" sz="2000" dirty="0">
                <a:latin typeface="Courier" charset="0"/>
              </a:rPr>
              <a:t>  v3,x6	   #7: Store the sum</a:t>
            </a:r>
          </a:p>
          <a:p>
            <a:pPr lvl="1">
              <a:lnSpc>
                <a:spcPct val="90000"/>
              </a:lnSpc>
              <a:buFont typeface="Symbol" panose="05050102010706020507" pitchFamily="18" charset="2"/>
              <a:buNone/>
            </a:pPr>
            <a:r>
              <a:rPr lang="en-US" altLang="en-US" sz="2000" dirty="0" err="1">
                <a:latin typeface="Courier" charset="0"/>
              </a:rPr>
              <a:t>vdisable</a:t>
            </a:r>
            <a:r>
              <a:rPr lang="en-US" altLang="en-US" sz="2000" dirty="0">
                <a:latin typeface="Courier" charset="0"/>
              </a:rPr>
              <a:t>		   #8: Disable vector regs</a:t>
            </a:r>
          </a:p>
          <a:p>
            <a:pPr>
              <a:lnSpc>
                <a:spcPct val="90000"/>
              </a:lnSpc>
            </a:pPr>
            <a:r>
              <a:rPr lang="en-US" altLang="en-US" sz="2200" dirty="0"/>
              <a:t>8 vector instructions vs. 258 scalar instructions on RV64V</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7F11865A-8ECD-41A6-B1F0-0674B8BFA61D}"/>
              </a:ext>
            </a:extLst>
          </p:cNvPr>
          <p:cNvSpPr>
            <a:spLocks noGrp="1" noChangeArrowheads="1"/>
          </p:cNvSpPr>
          <p:nvPr>
            <p:ph type="title"/>
          </p:nvPr>
        </p:nvSpPr>
        <p:spPr/>
        <p:txBody>
          <a:bodyPr/>
          <a:lstStyle/>
          <a:p>
            <a:r>
              <a:rPr lang="en-AU" altLang="en-US" dirty="0"/>
              <a:t>Dynamic Vector Data Typing</a:t>
            </a:r>
          </a:p>
        </p:txBody>
      </p:sp>
      <p:sp>
        <p:nvSpPr>
          <p:cNvPr id="43010" name="Rectangle 3">
            <a:extLst>
              <a:ext uri="{FF2B5EF4-FFF2-40B4-BE49-F238E27FC236}">
                <a16:creationId xmlns:a16="http://schemas.microsoft.com/office/drawing/2014/main" id="{CDCA4640-7D76-4D47-94C8-3C1F54ECCECB}"/>
              </a:ext>
            </a:extLst>
          </p:cNvPr>
          <p:cNvSpPr>
            <a:spLocks noGrp="1" noChangeArrowheads="1"/>
          </p:cNvSpPr>
          <p:nvPr>
            <p:ph type="body" idx="1"/>
          </p:nvPr>
        </p:nvSpPr>
        <p:spPr>
          <a:xfrm>
            <a:off x="482008" y="1047749"/>
            <a:ext cx="11490251" cy="5100131"/>
          </a:xfrm>
        </p:spPr>
        <p:txBody>
          <a:bodyPr/>
          <a:lstStyle/>
          <a:p>
            <a:pPr>
              <a:lnSpc>
                <a:spcPct val="90000"/>
              </a:lnSpc>
            </a:pPr>
            <a:r>
              <a:rPr lang="en-US" sz="3200" dirty="0"/>
              <a:t>RV64V associates data type and data size with each vector register, rather than with each instruction.</a:t>
            </a:r>
          </a:p>
          <a:p>
            <a:pPr lvl="1">
              <a:lnSpc>
                <a:spcPct val="90000"/>
              </a:lnSpc>
            </a:pPr>
            <a:r>
              <a:rPr lang="en-US" sz="2800" dirty="0"/>
              <a:t>Integer 8, 16, 32, and 64 bits </a:t>
            </a:r>
          </a:p>
          <a:p>
            <a:pPr lvl="1">
              <a:lnSpc>
                <a:spcPct val="90000"/>
              </a:lnSpc>
            </a:pPr>
            <a:r>
              <a:rPr lang="en-US" sz="2800" dirty="0"/>
              <a:t>Floating point 16, 32, and 64 bits (</a:t>
            </a:r>
            <a:r>
              <a:rPr lang="en-US" sz="2800" dirty="0" err="1"/>
              <a:t>minifloat</a:t>
            </a:r>
            <a:r>
              <a:rPr lang="en-US" sz="2800" dirty="0"/>
              <a:t> FP8 may be coming)</a:t>
            </a:r>
          </a:p>
          <a:p>
            <a:pPr>
              <a:lnSpc>
                <a:spcPct val="90000"/>
              </a:lnSpc>
            </a:pPr>
            <a:r>
              <a:rPr lang="en-US" sz="3200" dirty="0"/>
              <a:t>Dynamic typing reduces lots of vector instructions.</a:t>
            </a:r>
          </a:p>
          <a:p>
            <a:pPr>
              <a:lnSpc>
                <a:spcPct val="90000"/>
              </a:lnSpc>
            </a:pPr>
            <a:r>
              <a:rPr lang="en-US" sz="3200" dirty="0"/>
              <a:t>Dynamic typing also lets programs disable unused vector registers</a:t>
            </a:r>
          </a:p>
          <a:p>
            <a:pPr lvl="1">
              <a:lnSpc>
                <a:spcPct val="90000"/>
              </a:lnSpc>
            </a:pPr>
            <a:r>
              <a:rPr lang="en-US" sz="2667" dirty="0"/>
              <a:t>Reduce context switch overhead</a:t>
            </a:r>
          </a:p>
          <a:p>
            <a:pPr>
              <a:lnSpc>
                <a:spcPct val="90000"/>
              </a:lnSpc>
            </a:pPr>
            <a:r>
              <a:rPr lang="en-US" sz="3200" dirty="0"/>
              <a:t>Type conversions can be implicit rather than explicit</a:t>
            </a:r>
          </a:p>
          <a:p>
            <a:pPr>
              <a:lnSpc>
                <a:spcPct val="90000"/>
              </a:lnSpc>
            </a:pPr>
            <a:r>
              <a:rPr lang="en-US" sz="3200" dirty="0"/>
              <a:t>Example:</a:t>
            </a:r>
          </a:p>
          <a:p>
            <a:pPr marL="0" indent="0">
              <a:lnSpc>
                <a:spcPct val="90000"/>
              </a:lnSpc>
              <a:buNone/>
            </a:pPr>
            <a:r>
              <a:rPr lang="en-US" sz="3200" dirty="0"/>
              <a:t>	</a:t>
            </a:r>
            <a:r>
              <a:rPr lang="en-US" sz="3200" dirty="0" err="1"/>
              <a:t>vsetvli</a:t>
            </a:r>
            <a:r>
              <a:rPr lang="en-US" sz="3200" dirty="0"/>
              <a:t> V0-V7, x1, e32, </a:t>
            </a:r>
            <a:r>
              <a:rPr lang="en-US" sz="3200" dirty="0" err="1"/>
              <a:t>vl</a:t>
            </a:r>
            <a:r>
              <a:rPr lang="en-US" sz="3200" dirty="0"/>
              <a:t>=32 // x1 </a:t>
            </a:r>
            <a:r>
              <a:rPr lang="en-US" sz="2000" dirty="0"/>
              <a:t>contains the information of e32 and </a:t>
            </a:r>
            <a:r>
              <a:rPr lang="en-US" sz="2000" dirty="0" err="1"/>
              <a:t>vl</a:t>
            </a:r>
            <a:r>
              <a:rPr lang="en-US" sz="2000" dirty="0"/>
              <a:t>=32 </a:t>
            </a:r>
          </a:p>
          <a:p>
            <a:pPr>
              <a:lnSpc>
                <a:spcPct val="90000"/>
              </a:lnSpc>
            </a:pPr>
            <a:endParaRPr lang="en-US" sz="3200" dirty="0"/>
          </a:p>
          <a:p>
            <a:pPr>
              <a:lnSpc>
                <a:spcPct val="90000"/>
              </a:lnSpc>
            </a:pPr>
            <a:endParaRPr lang="en-US" sz="3200" dirty="0"/>
          </a:p>
          <a:p>
            <a:pPr>
              <a:lnSpc>
                <a:spcPct val="90000"/>
              </a:lnSpc>
            </a:pPr>
            <a:endParaRPr lang="en-US" altLang="en-US" sz="3200" b="0" dirty="0"/>
          </a:p>
        </p:txBody>
      </p:sp>
    </p:spTree>
    <p:extLst>
      <p:ext uri="{BB962C8B-B14F-4D97-AF65-F5344CB8AC3E}">
        <p14:creationId xmlns:p14="http://schemas.microsoft.com/office/powerpoint/2010/main" val="296503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21886</TotalTime>
  <Words>4489</Words>
  <Application>Microsoft Office PowerPoint</Application>
  <PresentationFormat>Widescreen</PresentationFormat>
  <Paragraphs>779</Paragraphs>
  <Slides>45</Slides>
  <Notes>38</Notes>
  <HiddenSlides>1</HiddenSlides>
  <MMClips>0</MMClips>
  <ScaleCrop>false</ScaleCrop>
  <HeadingPairs>
    <vt:vector size="6" baseType="variant">
      <vt:variant>
        <vt:lpstr>Fonts Used</vt:lpstr>
      </vt:variant>
      <vt:variant>
        <vt:i4>17</vt:i4>
      </vt:variant>
      <vt:variant>
        <vt:lpstr>Theme</vt:lpstr>
      </vt:variant>
      <vt:variant>
        <vt:i4>3</vt:i4>
      </vt:variant>
      <vt:variant>
        <vt:lpstr>Slide Titles</vt:lpstr>
      </vt:variant>
      <vt:variant>
        <vt:i4>45</vt:i4>
      </vt:variant>
    </vt:vector>
  </HeadingPairs>
  <TitlesOfParts>
    <vt:vector size="65" baseType="lpstr">
      <vt:lpstr>__Inter_1fc7a2</vt:lpstr>
      <vt:lpstr>Arial Unicode MS</vt:lpstr>
      <vt:lpstr>Courier</vt:lpstr>
      <vt:lpstr>Google Sans</vt:lpstr>
      <vt:lpstr>KaTeX_Main</vt:lpstr>
      <vt:lpstr>KaTeX_Math</vt:lpstr>
      <vt:lpstr>MS Sans Serif</vt:lpstr>
      <vt:lpstr>Söhne</vt:lpstr>
      <vt:lpstr>Söhne Mono</vt:lpstr>
      <vt:lpstr>华文楷体</vt:lpstr>
      <vt:lpstr>Arial</vt:lpstr>
      <vt:lpstr>Calibri</vt:lpstr>
      <vt:lpstr>Calibri Light</vt:lpstr>
      <vt:lpstr>Courier New</vt:lpstr>
      <vt:lpstr>Symbol</vt:lpstr>
      <vt:lpstr>Times New Roman</vt:lpstr>
      <vt:lpstr>Wingdings</vt:lpstr>
      <vt:lpstr>NTHU UniCloud</vt:lpstr>
      <vt:lpstr>自訂設計</vt:lpstr>
      <vt:lpstr>1_NTHU UniCloud</vt:lpstr>
      <vt:lpstr>CSC3050 – Computer Architecture FP Numbers and Computation</vt:lpstr>
      <vt:lpstr>Floating-Point Numbers</vt:lpstr>
      <vt:lpstr>FP to Decimal conversion</vt:lpstr>
      <vt:lpstr>Floating-Point Standard </vt:lpstr>
      <vt:lpstr>IEEE Floating-Point Format</vt:lpstr>
      <vt:lpstr>IEEE Single Precision Floating-Point Numbers</vt:lpstr>
      <vt:lpstr>Exponents in Biased Form</vt:lpstr>
      <vt:lpstr>Why not Fixed-Point Numbers</vt:lpstr>
      <vt:lpstr>Why not Fixed-Point Numbers</vt:lpstr>
      <vt:lpstr>Why not Fixed-Point Numbers</vt:lpstr>
      <vt:lpstr>Traditional Supercomputers Are FP Machines </vt:lpstr>
      <vt:lpstr>Exercise 1</vt:lpstr>
      <vt:lpstr>Exercise 2</vt:lpstr>
      <vt:lpstr>Exercise 3</vt:lpstr>
      <vt:lpstr>Exercise 4 </vt:lpstr>
      <vt:lpstr>Exercise 4 </vt:lpstr>
      <vt:lpstr>Exercise 5 </vt:lpstr>
      <vt:lpstr>Exercise 5 </vt:lpstr>
      <vt:lpstr>Floating-Point Addition (1)</vt:lpstr>
      <vt:lpstr>Floating-Point Addition (2)</vt:lpstr>
      <vt:lpstr>FP Adder Hardware (1)</vt:lpstr>
      <vt:lpstr>FP Adder Hardware (2)</vt:lpstr>
      <vt:lpstr>FP Arithmetic Hardware</vt:lpstr>
      <vt:lpstr>Quadruple Precision, Half-float and minifloat</vt:lpstr>
      <vt:lpstr>Example of FP8 (minifloat) numbers</vt:lpstr>
      <vt:lpstr>Sub-word Parallelism</vt:lpstr>
      <vt:lpstr>MMX in Intel Pentium II</vt:lpstr>
      <vt:lpstr>Example: PADDB</vt:lpstr>
      <vt:lpstr>Extension to SSE/AVX (128/256 bit) SIMD</vt:lpstr>
      <vt:lpstr>Nvidia GPU Architecture</vt:lpstr>
      <vt:lpstr>PowerPoint Presentation</vt:lpstr>
      <vt:lpstr>PowerPoint Presentation</vt:lpstr>
      <vt:lpstr>PowerPoint Presentation</vt:lpstr>
      <vt:lpstr>PowerPoint Presentation</vt:lpstr>
      <vt:lpstr>Nvidia GPU Architectures </vt:lpstr>
      <vt:lpstr>WARP Execution</vt:lpstr>
      <vt:lpstr>PowerPoint Presentation</vt:lpstr>
      <vt:lpstr>PowerPoint Presentation</vt:lpstr>
      <vt:lpstr>PowerPoint Presentation</vt:lpstr>
      <vt:lpstr>Sub-word Parallelism Support in RV</vt:lpstr>
      <vt:lpstr>Vector Architectures</vt:lpstr>
      <vt:lpstr>RISC-V VE (Vector Extension), RVV</vt:lpstr>
      <vt:lpstr>RISC-V VE Instructions (from HennesSy &amp; Patterson textbook)</vt:lpstr>
      <vt:lpstr>PowerPoint Presentation</vt:lpstr>
      <vt:lpstr>Dynamic Vector Data Typing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Prof. HSU Wei-Chung (SDS)</cp:lastModifiedBy>
  <cp:revision>301</cp:revision>
  <dcterms:created xsi:type="dcterms:W3CDTF">2020-07-15T11:13:39Z</dcterms:created>
  <dcterms:modified xsi:type="dcterms:W3CDTF">2025-03-10T04:31:12Z</dcterms:modified>
</cp:coreProperties>
</file>