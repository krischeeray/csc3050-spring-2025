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  <p:sldMasterId id="2147483686" r:id="rId3"/>
  </p:sldMasterIdLst>
  <p:notesMasterIdLst>
    <p:notesMasterId r:id="rId31"/>
  </p:notesMasterIdLst>
  <p:handoutMasterIdLst>
    <p:handoutMasterId r:id="rId32"/>
  </p:handoutMasterIdLst>
  <p:sldIdLst>
    <p:sldId id="256" r:id="rId4"/>
    <p:sldId id="655" r:id="rId5"/>
    <p:sldId id="308" r:id="rId6"/>
    <p:sldId id="642" r:id="rId7"/>
    <p:sldId id="652" r:id="rId8"/>
    <p:sldId id="362" r:id="rId9"/>
    <p:sldId id="377" r:id="rId10"/>
    <p:sldId id="361" r:id="rId11"/>
    <p:sldId id="656" r:id="rId12"/>
    <p:sldId id="345" r:id="rId13"/>
    <p:sldId id="631" r:id="rId14"/>
    <p:sldId id="633" r:id="rId15"/>
    <p:sldId id="643" r:id="rId16"/>
    <p:sldId id="644" r:id="rId17"/>
    <p:sldId id="646" r:id="rId18"/>
    <p:sldId id="653" r:id="rId19"/>
    <p:sldId id="654" r:id="rId20"/>
    <p:sldId id="647" r:id="rId21"/>
    <p:sldId id="648" r:id="rId22"/>
    <p:sldId id="657" r:id="rId23"/>
    <p:sldId id="332" r:id="rId24"/>
    <p:sldId id="659" r:id="rId25"/>
    <p:sldId id="649" r:id="rId26"/>
    <p:sldId id="650" r:id="rId27"/>
    <p:sldId id="651" r:id="rId28"/>
    <p:sldId id="658" r:id="rId29"/>
    <p:sldId id="333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30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15C594-135F-4D15-8E4B-45F1BE861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B0960-189E-46E1-8D29-6FB05B6F72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3A5A2-ABA0-4772-A51C-C5F6F247E98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1DB78-23CB-4BEF-89B3-77D711E9DA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CDE08-0A77-4F04-A3CE-DB3F76D614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43270-4340-4F2C-881F-076058FFD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2024/10/31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095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6050" y="425450"/>
            <a:ext cx="4546600" cy="2557463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Silicon compiler was the term, but less commonly used. It is probably too aggressive.</a:t>
            </a:r>
          </a:p>
          <a:p>
            <a:r>
              <a:rPr lang="en-US" altLang="zh-CN" dirty="0"/>
              <a:t>Chip logic design and IC design are now separated.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64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r>
              <a:rPr lang="en-US" altLang="zh-TW" dirty="0"/>
              <a:t>Shift is not included.</a:t>
            </a:r>
          </a:p>
        </p:txBody>
      </p:sp>
      <p:sp>
        <p:nvSpPr>
          <p:cNvPr id="1177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6050" y="425450"/>
            <a:ext cx="4546600" cy="2557463"/>
          </a:xfrm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/>
              <a:t>Based on this table, we show how to set the ALU control inputs based on the 2-bit</a:t>
            </a:r>
          </a:p>
          <a:p>
            <a:r>
              <a:rPr lang="en-US" altLang="zh-TW"/>
              <a:t>ALUOp control and the 6-bit function code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430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835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94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855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02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255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573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030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33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616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r>
              <a:rPr lang="en-US" altLang="zh-TW" dirty="0"/>
              <a:t>Having a long cycle time is a big problem but not the </a:t>
            </a:r>
            <a:r>
              <a:rPr lang="en-US" altLang="zh-TW" dirty="0" err="1"/>
              <a:t>the</a:t>
            </a:r>
            <a:r>
              <a:rPr lang="en-US" altLang="zh-TW" dirty="0"/>
              <a:t> only problem.</a:t>
            </a:r>
          </a:p>
          <a:p>
            <a:r>
              <a:rPr lang="en-US" altLang="zh-TW" dirty="0"/>
              <a:t>Another problem of this single cycle implementation is that this cycle time, which is long enough for the load instruction, is too long for all other instructions.</a:t>
            </a:r>
          </a:p>
          <a:p>
            <a:r>
              <a:rPr lang="en-US" altLang="zh-TW" dirty="0"/>
              <a:t>We will show you why this is bad and what we can do about it in the next few lectures.</a:t>
            </a:r>
          </a:p>
          <a:p>
            <a:r>
              <a:rPr lang="en-US" altLang="zh-TW" dirty="0"/>
              <a:t>That all for today.</a:t>
            </a:r>
          </a:p>
          <a:p>
            <a:endParaRPr lang="en-US" altLang="zh-TW" dirty="0"/>
          </a:p>
          <a:p>
            <a:r>
              <a:rPr lang="en-US" altLang="zh-TW" dirty="0"/>
              <a:t>+2 = 79 min (Y:59)</a:t>
            </a:r>
          </a:p>
        </p:txBody>
      </p:sp>
      <p:sp>
        <p:nvSpPr>
          <p:cNvPr id="1280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6050" y="425450"/>
            <a:ext cx="4546600" cy="2557463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9019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329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005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952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r>
              <a:rPr lang="en-US" altLang="zh-TW"/>
              <a:t>Well, the last slide pretty much illustrate one of the biggest disadvantage of the single cycle implementation: it has a long cycle time.</a:t>
            </a:r>
          </a:p>
          <a:p>
            <a:r>
              <a:rPr lang="en-US" altLang="zh-TW"/>
              <a:t>More specifically, the cycle time must be long enough for the load instruction which has the following components: Clock to Q time of the PC, ....</a:t>
            </a:r>
          </a:p>
          <a:p>
            <a:r>
              <a:rPr lang="en-US" altLang="zh-TW"/>
              <a:t>Having a long cycle time is a big problem but not the the only problem.</a:t>
            </a:r>
          </a:p>
          <a:p>
            <a:r>
              <a:rPr lang="en-US" altLang="zh-TW"/>
              <a:t>Another problem of this single cycle implementation is that this cycle time, which is long enough for the load instruction, is too long for all other instructions.</a:t>
            </a:r>
          </a:p>
          <a:p>
            <a:r>
              <a:rPr lang="en-US" altLang="zh-TW"/>
              <a:t>We will show you why this is bad and what we can do about it in the next few lectures.</a:t>
            </a:r>
          </a:p>
          <a:p>
            <a:r>
              <a:rPr lang="en-US" altLang="zh-TW"/>
              <a:t>That all for today.</a:t>
            </a:r>
          </a:p>
          <a:p>
            <a:endParaRPr lang="en-US" altLang="zh-TW"/>
          </a:p>
          <a:p>
            <a:r>
              <a:rPr lang="en-US" altLang="zh-TW"/>
              <a:t>+2 = 79 min (Y:59)</a:t>
            </a:r>
          </a:p>
        </p:txBody>
      </p:sp>
      <p:sp>
        <p:nvSpPr>
          <p:cNvPr id="1280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6050" y="425450"/>
            <a:ext cx="4546600" cy="2557463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011714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1925" y="433388"/>
            <a:ext cx="4522788" cy="2544762"/>
          </a:xfrm>
          <a:noFill/>
          <a:ln cap="flat">
            <a:solidFill>
              <a:schemeClr val="tx1"/>
            </a:solidFill>
          </a:ln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786" y="144466"/>
            <a:ext cx="10270801" cy="692151"/>
          </a:xfrm>
        </p:spPr>
        <p:txBody>
          <a:bodyPr/>
          <a:lstStyle>
            <a:lvl1pPr>
              <a:defRPr sz="4267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>
                <a:latin typeface="Calibri" panose="020F0702030404030204" pitchFamily="34" charset="0"/>
                <a:ea typeface="標楷體" panose="02010601000101010101" pitchFamily="65" charset="-120"/>
                <a:cs typeface="Calibri" panose="020F0702030404030204" pitchFamily="34" charset="0"/>
              </a:defRPr>
            </a:lvl3pPr>
            <a:lvl4pPr>
              <a:defRPr sz="2133">
                <a:latin typeface="Calibri" panose="020F0702030404030204" pitchFamily="34" charset="0"/>
                <a:ea typeface="標楷體" panose="02010601000101010101" pitchFamily="65" charset="-120"/>
                <a:cs typeface="Calibri" panose="020F0702030404030204" pitchFamily="34" charset="0"/>
              </a:defRPr>
            </a:lvl4pPr>
            <a:lvl5pPr>
              <a:defRPr sz="1867">
                <a:latin typeface="Calibri" panose="020F0702030404030204" pitchFamily="34" charset="0"/>
                <a:ea typeface="標楷體" panose="02010601000101010101" pitchFamily="65" charset="-120"/>
                <a:cs typeface="Calibri" panose="020F07020304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798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067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4791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77750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6729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602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1880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7287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1706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1483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926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06624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4442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AB1C7C-E2CD-46D3-9D9B-A84EE90FAF26}" type="slidenum">
              <a:rPr lang="zh-TW" altLang="en-US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759317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0" y="6239920"/>
            <a:ext cx="817930" cy="569415"/>
          </a:xfrm>
          <a:prstGeom prst="rect">
            <a:avLst/>
          </a:prstGeom>
        </p:spPr>
      </p:pic>
      <p:sp>
        <p:nvSpPr>
          <p:cNvPr id="13" name="矩形 14">
            <a:extLst>
              <a:ext uri="{FF2B5EF4-FFF2-40B4-BE49-F238E27FC236}">
                <a16:creationId xmlns:a16="http://schemas.microsoft.com/office/drawing/2014/main" id="{8D8EDA7D-581F-42FC-B3E8-D862C7E3DAD2}"/>
              </a:ext>
            </a:extLst>
          </p:cNvPr>
          <p:cNvSpPr/>
          <p:nvPr userDrawn="1"/>
        </p:nvSpPr>
        <p:spPr>
          <a:xfrm>
            <a:off x="829837" y="6347770"/>
            <a:ext cx="26721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</a:t>
            </a:r>
            <a:r>
              <a:rPr kumimoji="0" lang="zh-CN" altLang="zh-TW" sz="12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学</a:t>
            </a: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院</a:t>
            </a:r>
            <a:endParaRPr lang="zh-TW" altLang="zh-TW" sz="12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CUHK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-SZ Sc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hool of Data Science</a:t>
            </a:r>
            <a:endParaRPr lang="zh-TW" altLang="zh-TW" sz="1000" kern="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9" y="144466"/>
            <a:ext cx="1051771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  <a:cs typeface="Arial" panose="020B060402020209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  <a:cs typeface="Arial" panose="020B060402020209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" y="128610"/>
            <a:ext cx="1185287" cy="69188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6" y="6244787"/>
            <a:ext cx="988121" cy="56941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50" y="6242589"/>
            <a:ext cx="2707337" cy="5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1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80000"/>
        <a:buFont typeface="Wingdings" panose="05000000000000000000" pitchFamily="2" charset="2"/>
        <a:buChar char="l"/>
        <a:defRPr kumimoji="1" sz="2667">
          <a:solidFill>
            <a:schemeClr val="tx1"/>
          </a:solidFill>
          <a:latin typeface="Calibri" panose="020F0702030404030204" pitchFamily="34" charset="0"/>
          <a:ea typeface="標楷體" panose="02010601000101010101" pitchFamily="65" charset="-120"/>
          <a:cs typeface="+mn-cs"/>
        </a:defRPr>
      </a:lvl1pPr>
      <a:lvl2pPr marL="742508" indent="-28532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90000"/>
        <a:buFont typeface="Arial" panose="020B0604020202090204" pitchFamily="34" charset="0"/>
        <a:buChar char="–"/>
        <a:defRPr kumimoji="1" sz="2400">
          <a:solidFill>
            <a:schemeClr val="tx1"/>
          </a:solidFill>
          <a:latin typeface="Calibri" panose="020F0702030404030204" pitchFamily="34" charset="0"/>
          <a:ea typeface="標楷體" panose="02010601000101010101" pitchFamily="65" charset="-120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CF4834-0539-4513-8D25-641B75117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68" y="1021404"/>
            <a:ext cx="8160657" cy="2683883"/>
          </a:xfrm>
        </p:spPr>
        <p:txBody>
          <a:bodyPr/>
          <a:lstStyle/>
          <a:p>
            <a:pPr algn="ctr"/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4 The Processor Part II</a:t>
            </a:r>
            <a:endParaRPr lang="zh-TW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7EF043F-0047-4EC5-B297-23522E981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6109" y="4185126"/>
            <a:ext cx="7908692" cy="2339502"/>
          </a:xfrm>
        </p:spPr>
        <p:txBody>
          <a:bodyPr/>
          <a:lstStyle/>
          <a:p>
            <a:r>
              <a:rPr lang="en-US" altLang="zh-TW" sz="2400" dirty="0"/>
              <a:t>Prof. Wei Chung Hsu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1270428" y="143436"/>
            <a:ext cx="9035624" cy="686441"/>
          </a:xfrm>
        </p:spPr>
        <p:txBody>
          <a:bodyPr/>
          <a:lstStyle/>
          <a:p>
            <a:r>
              <a:rPr lang="en-US" altLang="zh-TW" dirty="0">
                <a:cs typeface="Calibri" panose="020F0702030404030204" pitchFamily="34" charset="0"/>
              </a:rPr>
              <a:t>A Single Cycle Data Path</a:t>
            </a:r>
          </a:p>
        </p:txBody>
      </p:sp>
      <p:sp>
        <p:nvSpPr>
          <p:cNvPr id="4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FBB95-9019-4710-8035-BBBCDDE7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10" y="1054108"/>
            <a:ext cx="10359956" cy="521089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3C5866-A254-46D4-BF62-86994A115AE0}"/>
              </a:ext>
            </a:extLst>
          </p:cNvPr>
          <p:cNvCxnSpPr/>
          <p:nvPr/>
        </p:nvCxnSpPr>
        <p:spPr bwMode="auto">
          <a:xfrm>
            <a:off x="8686800" y="1643974"/>
            <a:ext cx="0" cy="1313235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3CC239-E285-4809-9AA3-76BD5F07F4C7}"/>
              </a:ext>
            </a:extLst>
          </p:cNvPr>
          <p:cNvCxnSpPr/>
          <p:nvPr/>
        </p:nvCxnSpPr>
        <p:spPr bwMode="auto">
          <a:xfrm>
            <a:off x="8677072" y="2957209"/>
            <a:ext cx="1945532" cy="0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C19622-2264-4854-BD58-B3631E0A21BC}"/>
              </a:ext>
            </a:extLst>
          </p:cNvPr>
          <p:cNvCxnSpPr/>
          <p:nvPr/>
        </p:nvCxnSpPr>
        <p:spPr bwMode="auto">
          <a:xfrm>
            <a:off x="10612877" y="2957209"/>
            <a:ext cx="0" cy="982493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558297-0DB0-4135-A185-10C4BFE3568A}"/>
              </a:ext>
            </a:extLst>
          </p:cNvPr>
          <p:cNvSpPr txBox="1"/>
          <p:nvPr/>
        </p:nvSpPr>
        <p:spPr>
          <a:xfrm>
            <a:off x="8822987" y="2591388"/>
            <a:ext cx="232627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Add this path for JAL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D75BD-27D3-45A7-B5CC-466DD471B6B6}"/>
              </a:ext>
            </a:extLst>
          </p:cNvPr>
          <p:cNvSpPr txBox="1"/>
          <p:nvPr/>
        </p:nvSpPr>
        <p:spPr>
          <a:xfrm>
            <a:off x="10622604" y="3448455"/>
            <a:ext cx="88998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WBsel</a:t>
            </a:r>
            <a:endParaRPr lang="en-US" b="1" dirty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2FEA2B-15C0-410B-AC78-D001B39FD854}"/>
              </a:ext>
            </a:extLst>
          </p:cNvPr>
          <p:cNvCxnSpPr>
            <a:cxnSpLocks/>
          </p:cNvCxnSpPr>
          <p:nvPr/>
        </p:nvCxnSpPr>
        <p:spPr bwMode="auto">
          <a:xfrm>
            <a:off x="10807430" y="3659557"/>
            <a:ext cx="0" cy="28014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6386557" y="4067043"/>
            <a:ext cx="101758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ALUctr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5475859" y="4065626"/>
            <a:ext cx="936154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ALUSrc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4477637" y="4057931"/>
            <a:ext cx="92653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MemRd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8187956" y="4080587"/>
            <a:ext cx="81272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WBsel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7168751" y="4074761"/>
            <a:ext cx="924420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MemWr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9450390" y="3982905"/>
            <a:ext cx="74379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Equal</a:t>
            </a:r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>
            <a:off x="3454401" y="1558792"/>
            <a:ext cx="3136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3932239" y="1155568"/>
            <a:ext cx="2268250" cy="40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>
                <a:solidFill>
                  <a:prstClr val="black"/>
                </a:solidFill>
                <a:ea typeface="新細明體" panose="02020500000000000000" pitchFamily="18" charset="-120"/>
              </a:rPr>
              <a:t>Instruction&lt;31:0&gt;</a:t>
            </a:r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484346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 rot="5400000">
            <a:off x="4576930" y="1853538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15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19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 rot="5400000">
            <a:off x="5154779" y="1853538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20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:2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4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 rot="5400000">
            <a:off x="5738303" y="1853538"/>
            <a:ext cx="825419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7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:1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 rot="5400000">
            <a:off x="6312618" y="1847982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20:31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72" name="Line 16"/>
          <p:cNvSpPr>
            <a:spLocks noChangeShapeType="1"/>
          </p:cNvSpPr>
          <p:nvPr/>
        </p:nvSpPr>
        <p:spPr bwMode="auto">
          <a:xfrm>
            <a:off x="542131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>
            <a:off x="599916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>
            <a:off x="657701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313489" y="2433505"/>
            <a:ext cx="83676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Imm12</a:t>
            </a:r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5735639" y="2433505"/>
            <a:ext cx="458459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Rd</a:t>
            </a:r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5240340" y="2433505"/>
            <a:ext cx="56105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Rs2</a:t>
            </a: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4662489" y="2433505"/>
            <a:ext cx="56105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Rs1</a:t>
            </a: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2489633" y="4051694"/>
            <a:ext cx="777457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PCsrc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2233613" y="1380992"/>
            <a:ext cx="1193800" cy="1000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TW" altLang="en-US" b="0">
              <a:solidFill>
                <a:prstClr val="black"/>
              </a:solidFill>
              <a:latin typeface="Times New Roman" panose="020207030605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2763839" y="2123943"/>
            <a:ext cx="66364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Addr</a:t>
            </a: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2207099" y="1431792"/>
            <a:ext cx="1215076" cy="70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algn="ctr"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>
                <a:solidFill>
                  <a:prstClr val="black"/>
                </a:solidFill>
                <a:ea typeface="新細明體" panose="02020500000000000000" pitchFamily="18" charset="-120"/>
              </a:rPr>
              <a:t>Inst.</a:t>
            </a:r>
          </a:p>
          <a:p>
            <a:pPr algn="ctr"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>
                <a:solidFill>
                  <a:prstClr val="black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2841625" y="4816343"/>
            <a:ext cx="6865939" cy="120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TW" altLang="en-US" b="0">
              <a:solidFill>
                <a:prstClr val="black"/>
              </a:solidFill>
              <a:latin typeface="Times New Roman" panose="020207030605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5116514" y="5176705"/>
            <a:ext cx="1585370" cy="46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>
                <a:solidFill>
                  <a:prstClr val="black"/>
                </a:solidFill>
                <a:ea typeface="新細明體" panose="02020500000000000000" pitchFamily="18" charset="-120"/>
              </a:rPr>
              <a:t>Datapath</a:t>
            </a:r>
          </a:p>
        </p:txBody>
      </p:sp>
      <p:sp>
        <p:nvSpPr>
          <p:cNvPr id="45085" name="Line 29"/>
          <p:cNvSpPr>
            <a:spLocks noChangeShapeType="1"/>
          </p:cNvSpPr>
          <p:nvPr/>
        </p:nvSpPr>
        <p:spPr bwMode="auto">
          <a:xfrm>
            <a:off x="2890839" y="43527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87" name="Line 31"/>
          <p:cNvSpPr>
            <a:spLocks noChangeShapeType="1"/>
          </p:cNvSpPr>
          <p:nvPr/>
        </p:nvSpPr>
        <p:spPr bwMode="auto">
          <a:xfrm>
            <a:off x="4885496" y="44035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88" name="Line 32"/>
          <p:cNvSpPr>
            <a:spLocks noChangeShapeType="1"/>
          </p:cNvSpPr>
          <p:nvPr/>
        </p:nvSpPr>
        <p:spPr bwMode="auto">
          <a:xfrm>
            <a:off x="5980781" y="43908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>
            <a:off x="6772319" y="43654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0" name="Line 34"/>
          <p:cNvSpPr>
            <a:spLocks noChangeShapeType="1"/>
          </p:cNvSpPr>
          <p:nvPr/>
        </p:nvSpPr>
        <p:spPr bwMode="auto">
          <a:xfrm>
            <a:off x="7597813" y="43781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1" name="Line 35"/>
          <p:cNvSpPr>
            <a:spLocks noChangeShapeType="1"/>
          </p:cNvSpPr>
          <p:nvPr/>
        </p:nvSpPr>
        <p:spPr bwMode="auto">
          <a:xfrm>
            <a:off x="8600108" y="43273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2" name="Line 36"/>
          <p:cNvSpPr>
            <a:spLocks noChangeShapeType="1"/>
          </p:cNvSpPr>
          <p:nvPr/>
        </p:nvSpPr>
        <p:spPr bwMode="auto">
          <a:xfrm>
            <a:off x="9342439" y="4022592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3" name="AutoShape 37"/>
          <p:cNvSpPr>
            <a:spLocks noChangeArrowheads="1"/>
          </p:cNvSpPr>
          <p:nvPr/>
        </p:nvSpPr>
        <p:spPr bwMode="auto">
          <a:xfrm>
            <a:off x="2759077" y="2670043"/>
            <a:ext cx="6948488" cy="1231900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TW" altLang="en-US" b="0">
              <a:solidFill>
                <a:prstClr val="black"/>
              </a:solidFill>
              <a:latin typeface="Times New Roman" panose="020207030605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5211763" y="3132005"/>
            <a:ext cx="1269578" cy="46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>
                <a:solidFill>
                  <a:prstClr val="black"/>
                </a:solidFill>
                <a:ea typeface="新細明體" panose="02020500000000000000" pitchFamily="18" charset="-120"/>
              </a:rPr>
              <a:t>Control</a:t>
            </a:r>
          </a:p>
        </p:txBody>
      </p:sp>
      <p:sp>
        <p:nvSpPr>
          <p:cNvPr id="45095" name="Line 39"/>
          <p:cNvSpPr>
            <a:spLocks noChangeShapeType="1"/>
          </p:cNvSpPr>
          <p:nvPr/>
        </p:nvSpPr>
        <p:spPr bwMode="auto">
          <a:xfrm>
            <a:off x="3811588" y="15587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6" name="Rectangle 40"/>
          <p:cNvSpPr>
            <a:spLocks noChangeArrowheads="1"/>
          </p:cNvSpPr>
          <p:nvPr/>
        </p:nvSpPr>
        <p:spPr bwMode="auto">
          <a:xfrm>
            <a:off x="3630614" y="2408105"/>
            <a:ext cx="47128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Op</a:t>
            </a:r>
          </a:p>
        </p:txBody>
      </p:sp>
      <p:sp>
        <p:nvSpPr>
          <p:cNvPr id="45097" name="Line 41"/>
          <p:cNvSpPr>
            <a:spLocks noChangeShapeType="1"/>
          </p:cNvSpPr>
          <p:nvPr/>
        </p:nvSpPr>
        <p:spPr bwMode="auto">
          <a:xfrm>
            <a:off x="4238625" y="15587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8" name="Rectangle 42"/>
          <p:cNvSpPr>
            <a:spLocks noChangeArrowheads="1"/>
          </p:cNvSpPr>
          <p:nvPr/>
        </p:nvSpPr>
        <p:spPr bwMode="auto">
          <a:xfrm rot="5400000">
            <a:off x="4008779" y="1806706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12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14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3976690" y="2408105"/>
            <a:ext cx="74379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Funct</a:t>
            </a:r>
          </a:p>
        </p:txBody>
      </p:sp>
      <p:sp>
        <p:nvSpPr>
          <p:cNvPr id="45100" name="Rectangle 44"/>
          <p:cNvSpPr>
            <a:spLocks noChangeArrowheads="1"/>
          </p:cNvSpPr>
          <p:nvPr/>
        </p:nvSpPr>
        <p:spPr bwMode="auto">
          <a:xfrm>
            <a:off x="3370916" y="4067043"/>
            <a:ext cx="842667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RegWr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101" name="Line 45"/>
          <p:cNvSpPr>
            <a:spLocks noChangeShapeType="1"/>
          </p:cNvSpPr>
          <p:nvPr/>
        </p:nvSpPr>
        <p:spPr bwMode="auto">
          <a:xfrm>
            <a:off x="3791603" y="4380058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102" name="Rectangle 46"/>
          <p:cNvSpPr>
            <a:spLocks noGrp="1" noChangeArrowheads="1"/>
          </p:cNvSpPr>
          <p:nvPr>
            <p:ph type="title"/>
          </p:nvPr>
        </p:nvSpPr>
        <p:spPr>
          <a:xfrm>
            <a:off x="1270428" y="133190"/>
            <a:ext cx="9035624" cy="717177"/>
          </a:xfrm>
        </p:spPr>
        <p:txBody>
          <a:bodyPr/>
          <a:lstStyle/>
          <a:p>
            <a:r>
              <a:rPr lang="en-US" altLang="zh-TW" dirty="0"/>
              <a:t>Control Points and Signals</a:t>
            </a:r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3</a:t>
            </a:fld>
            <a:endParaRPr lang="zh-TW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8D027-F5D0-47A0-9068-E0F7BFE8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41" y="1189112"/>
            <a:ext cx="11544102" cy="4756826"/>
          </a:xfrm>
          <a:prstGeom prst="rect">
            <a:avLst/>
          </a:prstGeom>
        </p:spPr>
      </p:pic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9692" y="174172"/>
            <a:ext cx="9066360" cy="604477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Step 4 - Control Points and Signals</a:t>
            </a:r>
            <a:endParaRPr lang="en-US" altLang="zh-TW" dirty="0"/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2931512" y="5471820"/>
            <a:ext cx="18528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 dirty="0">
                <a:solidFill>
                  <a:srgbClr val="4F81BD"/>
                </a:solidFill>
                <a:ea typeface="新細明體" panose="02020500000000000000" pitchFamily="18" charset="-120"/>
              </a:rPr>
              <a:t>Control point</a:t>
            </a:r>
          </a:p>
        </p:txBody>
      </p:sp>
      <p:sp>
        <p:nvSpPr>
          <p:cNvPr id="46088" name="Line 7"/>
          <p:cNvSpPr>
            <a:spLocks noChangeShapeType="1"/>
          </p:cNvSpPr>
          <p:nvPr/>
        </p:nvSpPr>
        <p:spPr bwMode="auto">
          <a:xfrm flipV="1">
            <a:off x="4394924" y="3793786"/>
            <a:ext cx="3085646" cy="1658381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4</a:t>
            </a:fld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4394923" y="2986390"/>
            <a:ext cx="1701077" cy="2494664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V="1">
            <a:off x="4394924" y="5322327"/>
            <a:ext cx="5110875" cy="129839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4394923" y="1682884"/>
            <a:ext cx="5177094" cy="376928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V="1">
            <a:off x="4394924" y="3428999"/>
            <a:ext cx="5352192" cy="202316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V="1">
            <a:off x="4394922" y="3793784"/>
            <a:ext cx="6500057" cy="1658381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D895A7-C689-4054-BCF1-A222CDF92686}"/>
              </a:ext>
            </a:extLst>
          </p:cNvPr>
          <p:cNvSpPr/>
          <p:nvPr/>
        </p:nvSpPr>
        <p:spPr bwMode="auto">
          <a:xfrm>
            <a:off x="7597301" y="4542818"/>
            <a:ext cx="1118682" cy="1585608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1BBA2B-050E-4134-9E9D-D33EA3772C43}"/>
              </a:ext>
            </a:extLst>
          </p:cNvPr>
          <p:cNvCxnSpPr>
            <a:cxnSpLocks/>
          </p:cNvCxnSpPr>
          <p:nvPr/>
        </p:nvCxnSpPr>
        <p:spPr bwMode="auto">
          <a:xfrm>
            <a:off x="9472356" y="2011866"/>
            <a:ext cx="0" cy="960969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F43205-2C53-44BD-8F61-12A021A2F7C0}"/>
              </a:ext>
            </a:extLst>
          </p:cNvPr>
          <p:cNvCxnSpPr>
            <a:cxnSpLocks/>
          </p:cNvCxnSpPr>
          <p:nvPr/>
        </p:nvCxnSpPr>
        <p:spPr bwMode="auto">
          <a:xfrm>
            <a:off x="9472356" y="2959280"/>
            <a:ext cx="1578265" cy="27110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330B31-85B3-4F5E-9283-43E41C84E070}"/>
              </a:ext>
            </a:extLst>
          </p:cNvPr>
          <p:cNvCxnSpPr/>
          <p:nvPr/>
        </p:nvCxnSpPr>
        <p:spPr bwMode="auto">
          <a:xfrm>
            <a:off x="11048237" y="2937752"/>
            <a:ext cx="0" cy="982493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914C21-A5E1-495A-999D-6F87DFB09B4D}"/>
              </a:ext>
            </a:extLst>
          </p:cNvPr>
          <p:cNvSpPr txBox="1"/>
          <p:nvPr/>
        </p:nvSpPr>
        <p:spPr>
          <a:xfrm>
            <a:off x="9608543" y="2959280"/>
            <a:ext cx="232627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Add this path for JAL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720E95-E71D-4B55-86E7-DEB4DC543DB2}"/>
              </a:ext>
            </a:extLst>
          </p:cNvPr>
          <p:cNvSpPr txBox="1"/>
          <p:nvPr/>
        </p:nvSpPr>
        <p:spPr>
          <a:xfrm>
            <a:off x="10882452" y="3328612"/>
            <a:ext cx="88998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WBsel</a:t>
            </a:r>
            <a:endParaRPr lang="en-US" b="1" dirty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42EBD1-84EF-4D31-8FEB-36A728DC8386}"/>
              </a:ext>
            </a:extLst>
          </p:cNvPr>
          <p:cNvCxnSpPr>
            <a:cxnSpLocks/>
          </p:cNvCxnSpPr>
          <p:nvPr/>
        </p:nvCxnSpPr>
        <p:spPr bwMode="auto">
          <a:xfrm>
            <a:off x="11174697" y="3653711"/>
            <a:ext cx="0" cy="28014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9385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/>
      <p:bldP spid="4608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8465" y="174173"/>
            <a:ext cx="9969161" cy="573740"/>
          </a:xfrm>
        </p:spPr>
        <p:txBody>
          <a:bodyPr/>
          <a:lstStyle/>
          <a:p>
            <a:r>
              <a:rPr lang="en-US" altLang="zh-TW" dirty="0"/>
              <a:t>High Level Control Signal Expressions</a:t>
            </a:r>
            <a:endParaRPr lang="en-AU" altLang="zh-TW" dirty="0">
              <a:ea typeface="新細明體" panose="02020500000000000000" pitchFamily="18" charset="-12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460" y="1040859"/>
            <a:ext cx="11177080" cy="4776281"/>
          </a:xfrm>
        </p:spPr>
        <p:txBody>
          <a:bodyPr/>
          <a:lstStyle/>
          <a:p>
            <a:r>
              <a:rPr lang="en-AU" altLang="zh-TW" sz="3200" dirty="0" err="1">
                <a:ea typeface="新細明體" panose="02020500000000000000" pitchFamily="18" charset="-120"/>
              </a:rPr>
              <a:t>PCSrc</a:t>
            </a:r>
            <a:r>
              <a:rPr lang="en-AU" altLang="zh-TW" sz="3200" dirty="0">
                <a:ea typeface="新細明體" panose="02020500000000000000" pitchFamily="18" charset="-120"/>
              </a:rPr>
              <a:t> = ((Branch or JAL) ? 1: 0)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RegWr</a:t>
            </a:r>
            <a:r>
              <a:rPr lang="en-AU" altLang="zh-TW" sz="3200" dirty="0">
                <a:ea typeface="新細明體" panose="02020500000000000000" pitchFamily="18" charset="-120"/>
              </a:rPr>
              <a:t> = ( (Branch or Store)? 0: 1)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MemRd</a:t>
            </a:r>
            <a:r>
              <a:rPr lang="en-AU" altLang="zh-TW" sz="3200" dirty="0">
                <a:ea typeface="新細明體" panose="02020500000000000000" pitchFamily="18" charset="-120"/>
              </a:rPr>
              <a:t>= (Load ? 1:0)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MemWr</a:t>
            </a:r>
            <a:r>
              <a:rPr lang="en-AU" altLang="zh-TW" sz="3200" dirty="0">
                <a:ea typeface="新細明體" panose="02020500000000000000" pitchFamily="18" charset="-120"/>
              </a:rPr>
              <a:t>= (Store ? 1:0)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ALUSrc</a:t>
            </a:r>
            <a:r>
              <a:rPr lang="en-AU" altLang="zh-TW" sz="3200" dirty="0">
                <a:ea typeface="新細明體" panose="02020500000000000000" pitchFamily="18" charset="-120"/>
              </a:rPr>
              <a:t> = (R-type? 0:1)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WBsel</a:t>
            </a:r>
            <a:r>
              <a:rPr lang="en-AU" altLang="zh-TW" sz="3200" dirty="0">
                <a:ea typeface="新細明體" panose="02020500000000000000" pitchFamily="18" charset="-120"/>
              </a:rPr>
              <a:t> = (Load: 0 | R-type : 1 | JAL : 2)</a:t>
            </a:r>
          </a:p>
          <a:p>
            <a:pPr marL="0" indent="0"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HDL (Hardware Description Languages), such as Verilog and</a:t>
            </a:r>
            <a:r>
              <a:rPr lang="en-AU" altLang="zh-TW" sz="2400" dirty="0">
                <a:ea typeface="新細明體" panose="02020500000000000000" pitchFamily="18" charset="-120"/>
              </a:rPr>
              <a:t> VHDL, can be used to specify the control signals.  HDL codes are hardware-synthesizable. Feed them to a design compiler (Synopsis and Cadence tools) to get a netlist.</a:t>
            </a:r>
          </a:p>
          <a:p>
            <a:pPr marL="0" indent="0">
              <a:buNone/>
            </a:pPr>
            <a:r>
              <a:rPr lang="en-AU" altLang="zh-TW" sz="2400" b="1" i="1" dirty="0">
                <a:ea typeface="新細明體" panose="02020500000000000000" pitchFamily="18" charset="-120"/>
              </a:rPr>
              <a:t>Designer’s perspective or the programmer’s perspective? </a:t>
            </a:r>
          </a:p>
          <a:p>
            <a:endParaRPr lang="en-AU" altLang="zh-TW" sz="3200" dirty="0">
              <a:ea typeface="新細明體" panose="02020500000000000000" pitchFamily="18" charset="-120"/>
            </a:endParaRPr>
          </a:p>
          <a:p>
            <a:endParaRPr lang="en-AU" altLang="zh-TW" sz="3200" dirty="0">
              <a:ea typeface="新細明體" panose="02020500000000000000" pitchFamily="18" charset="-120"/>
            </a:endParaRPr>
          </a:p>
          <a:p>
            <a:endParaRPr lang="en-AU" altLang="zh-TW" sz="3200" dirty="0">
              <a:ea typeface="新細明體" panose="02020500000000000000" pitchFamily="18" charset="-120"/>
            </a:endParaRPr>
          </a:p>
          <a:p>
            <a:endParaRPr lang="en-AU" altLang="zh-TW" sz="3200" dirty="0">
              <a:ea typeface="新細明體" panose="02020500000000000000" pitchFamily="18" charset="-12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5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2869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8465" y="174173"/>
            <a:ext cx="9117587" cy="573740"/>
          </a:xfrm>
        </p:spPr>
        <p:txBody>
          <a:bodyPr/>
          <a:lstStyle/>
          <a:p>
            <a:r>
              <a:rPr lang="en-US" altLang="zh-TW" dirty="0"/>
              <a:t>Step 5a - ALU Control</a:t>
            </a:r>
            <a:endParaRPr lang="en-AU" altLang="zh-TW" dirty="0">
              <a:ea typeface="新細明體" panose="02020500000000000000" pitchFamily="18" charset="-12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9937" y="1047485"/>
            <a:ext cx="9056115" cy="1882695"/>
          </a:xfrm>
        </p:spPr>
        <p:txBody>
          <a:bodyPr/>
          <a:lstStyle/>
          <a:p>
            <a:r>
              <a:rPr lang="en-US" altLang="zh-TW" sz="2667" dirty="0"/>
              <a:t>ALU used for</a:t>
            </a:r>
          </a:p>
          <a:p>
            <a:pPr lvl="1"/>
            <a:r>
              <a:rPr lang="en-US" altLang="zh-TW" sz="2400" dirty="0"/>
              <a:t>Load/Store: F = add</a:t>
            </a:r>
          </a:p>
          <a:p>
            <a:pPr lvl="1"/>
            <a:r>
              <a:rPr lang="en-US" altLang="zh-TW" sz="2400" dirty="0"/>
              <a:t>Branch: F = subtract</a:t>
            </a:r>
          </a:p>
          <a:p>
            <a:pPr lvl="1"/>
            <a:r>
              <a:rPr lang="en-US" altLang="zh-TW" sz="2400" dirty="0"/>
              <a:t>R-type: F depends on the funct3 field</a:t>
            </a:r>
            <a:endParaRPr lang="en-AU" altLang="zh-TW" sz="2400" dirty="0">
              <a:ea typeface="新細明體" panose="02020500000000000000" pitchFamily="18" charset="-120"/>
            </a:endParaRPr>
          </a:p>
        </p:txBody>
      </p:sp>
      <p:graphicFrame>
        <p:nvGraphicFramePr>
          <p:cNvPr id="4792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505855"/>
              </p:ext>
            </p:extLst>
          </p:nvPr>
        </p:nvGraphicFramePr>
        <p:xfrm>
          <a:off x="2428876" y="3157539"/>
          <a:ext cx="7256464" cy="2898785"/>
        </p:xfrm>
        <a:graphic>
          <a:graphicData uri="http://schemas.openxmlformats.org/drawingml/2006/table">
            <a:tbl>
              <a:tblPr/>
              <a:tblGrid>
                <a:gridCol w="362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ALU control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Function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0000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AND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0001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OR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0010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add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0110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subtract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0111</a:t>
                      </a:r>
                      <a:endParaRPr kumimoji="0" lang="en-AU" altLang="zh-TW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set-on-less-than</a:t>
                      </a:r>
                      <a:endParaRPr kumimoji="0" lang="en-AU" altLang="zh-TW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1100</a:t>
                      </a:r>
                      <a:endParaRPr kumimoji="0" lang="en-AU" altLang="zh-TW" sz="2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XOR</a:t>
                      </a:r>
                      <a:endParaRPr kumimoji="0" lang="en-AU" altLang="zh-TW" sz="2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6</a:t>
            </a:fld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4B5770-E5A0-4328-8223-6F81C94B7E00}"/>
              </a:ext>
            </a:extLst>
          </p:cNvPr>
          <p:cNvSpPr/>
          <p:nvPr/>
        </p:nvSpPr>
        <p:spPr bwMode="auto">
          <a:xfrm>
            <a:off x="1643974" y="5194570"/>
            <a:ext cx="9289915" cy="861754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0589" y="1069475"/>
            <a:ext cx="9678739" cy="1518653"/>
          </a:xfrm>
        </p:spPr>
        <p:txBody>
          <a:bodyPr/>
          <a:lstStyle/>
          <a:p>
            <a:r>
              <a:rPr lang="en-US" altLang="zh-TW" sz="3200" dirty="0" err="1">
                <a:solidFill>
                  <a:srgbClr val="FF0000"/>
                </a:solidFill>
              </a:rPr>
              <a:t>ALUop</a:t>
            </a:r>
            <a:r>
              <a:rPr lang="en-US" altLang="zh-TW" sz="3200" dirty="0"/>
              <a:t> is 2-bit wide to represent</a:t>
            </a:r>
          </a:p>
          <a:p>
            <a:pPr marL="685783" lvl="1" indent="-228594"/>
            <a:r>
              <a:rPr lang="en-US" altLang="zh-CN" sz="2800" dirty="0"/>
              <a:t>L</a:t>
            </a:r>
            <a:r>
              <a:rPr lang="en-US" altLang="zh-TW" sz="2800" dirty="0"/>
              <a:t>oad/store requires the ALU to perform add (00) </a:t>
            </a:r>
          </a:p>
          <a:p>
            <a:pPr marL="685783" lvl="1" indent="-228594"/>
            <a:r>
              <a:rPr lang="en-US" altLang="zh-TW" sz="2800" dirty="0" err="1"/>
              <a:t>Beq</a:t>
            </a:r>
            <a:r>
              <a:rPr lang="en-US" altLang="zh-TW" sz="2800" dirty="0"/>
              <a:t> requires the ALU to perform sub (01)</a:t>
            </a:r>
          </a:p>
          <a:p>
            <a:pPr marL="685783" lvl="1" indent="-228594"/>
            <a:r>
              <a:rPr lang="en-US" altLang="zh-TW" sz="2800" dirty="0"/>
              <a:t>“R-type” needs to reference the </a:t>
            </a:r>
            <a:r>
              <a:rPr lang="en-US" altLang="zh-TW" sz="2800" dirty="0">
                <a:latin typeface="Courier New" panose="02070309020205020404" pitchFamily="49" charset="0"/>
              </a:rPr>
              <a:t>funct3</a:t>
            </a:r>
            <a:r>
              <a:rPr lang="en-US" altLang="zh-TW" sz="2800" dirty="0"/>
              <a:t> field (10) </a:t>
            </a:r>
          </a:p>
        </p:txBody>
      </p:sp>
      <p:grpSp>
        <p:nvGrpSpPr>
          <p:cNvPr id="4" name="Group 25"/>
          <p:cNvGrpSpPr/>
          <p:nvPr/>
        </p:nvGrpSpPr>
        <p:grpSpPr bwMode="auto">
          <a:xfrm>
            <a:off x="1796717" y="3678830"/>
            <a:ext cx="7777163" cy="1726557"/>
            <a:chOff x="662" y="1536"/>
            <a:chExt cx="4522" cy="605"/>
          </a:xfrm>
        </p:grpSpPr>
        <p:sp>
          <p:nvSpPr>
            <p:cNvPr id="58426" name="Rectangle 26"/>
            <p:cNvSpPr>
              <a:spLocks noChangeArrowheads="1"/>
            </p:cNvSpPr>
            <p:nvPr/>
          </p:nvSpPr>
          <p:spPr bwMode="auto">
            <a:xfrm>
              <a:off x="2054" y="1543"/>
              <a:ext cx="47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R-type</a:t>
              </a:r>
            </a:p>
          </p:txBody>
        </p:sp>
        <p:sp>
          <p:nvSpPr>
            <p:cNvPr id="58427" name="Rectangle 27"/>
            <p:cNvSpPr>
              <a:spLocks noChangeArrowheads="1"/>
            </p:cNvSpPr>
            <p:nvPr/>
          </p:nvSpPr>
          <p:spPr bwMode="auto">
            <a:xfrm>
              <a:off x="3014" y="1543"/>
              <a:ext cx="23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lw</a:t>
              </a:r>
            </a:p>
          </p:txBody>
        </p:sp>
        <p:sp>
          <p:nvSpPr>
            <p:cNvPr id="58428" name="Rectangle 28"/>
            <p:cNvSpPr>
              <a:spLocks noChangeArrowheads="1"/>
            </p:cNvSpPr>
            <p:nvPr/>
          </p:nvSpPr>
          <p:spPr bwMode="auto">
            <a:xfrm>
              <a:off x="3542" y="1543"/>
              <a:ext cx="26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sw</a:t>
              </a:r>
            </a:p>
          </p:txBody>
        </p:sp>
        <p:sp>
          <p:nvSpPr>
            <p:cNvPr id="58429" name="Rectangle 29"/>
            <p:cNvSpPr>
              <a:spLocks noChangeArrowheads="1"/>
            </p:cNvSpPr>
            <p:nvPr/>
          </p:nvSpPr>
          <p:spPr bwMode="auto">
            <a:xfrm>
              <a:off x="4070" y="1543"/>
              <a:ext cx="32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beq</a:t>
              </a:r>
            </a:p>
          </p:txBody>
        </p:sp>
        <p:sp>
          <p:nvSpPr>
            <p:cNvPr id="58430" name="Rectangle 30"/>
            <p:cNvSpPr>
              <a:spLocks noChangeArrowheads="1"/>
            </p:cNvSpPr>
            <p:nvPr/>
          </p:nvSpPr>
          <p:spPr bwMode="auto">
            <a:xfrm>
              <a:off x="4742" y="1543"/>
              <a:ext cx="393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jump</a:t>
              </a:r>
            </a:p>
          </p:txBody>
        </p:sp>
        <p:sp>
          <p:nvSpPr>
            <p:cNvPr id="58431" name="Line 31"/>
            <p:cNvSpPr>
              <a:spLocks noChangeShapeType="1"/>
            </p:cNvSpPr>
            <p:nvPr/>
          </p:nvSpPr>
          <p:spPr bwMode="auto">
            <a:xfrm>
              <a:off x="672" y="1920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2" name="Line 32"/>
            <p:cNvSpPr>
              <a:spLocks noChangeShapeType="1"/>
            </p:cNvSpPr>
            <p:nvPr/>
          </p:nvSpPr>
          <p:spPr bwMode="auto">
            <a:xfrm>
              <a:off x="672" y="1728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3" name="Line 33"/>
            <p:cNvSpPr>
              <a:spLocks noChangeShapeType="1"/>
            </p:cNvSpPr>
            <p:nvPr/>
          </p:nvSpPr>
          <p:spPr bwMode="auto">
            <a:xfrm>
              <a:off x="672" y="1536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4" name="Line 34"/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5" name="Line 35"/>
            <p:cNvSpPr>
              <a:spLocks noChangeShapeType="1"/>
            </p:cNvSpPr>
            <p:nvPr/>
          </p:nvSpPr>
          <p:spPr bwMode="auto">
            <a:xfrm>
              <a:off x="672" y="2112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6" name="Line 36"/>
            <p:cNvSpPr>
              <a:spLocks noChangeShapeType="1"/>
            </p:cNvSpPr>
            <p:nvPr/>
          </p:nvSpPr>
          <p:spPr bwMode="auto">
            <a:xfrm flipV="1">
              <a:off x="1824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7" name="Line 37"/>
            <p:cNvSpPr>
              <a:spLocks noChangeShapeType="1"/>
            </p:cNvSpPr>
            <p:nvPr/>
          </p:nvSpPr>
          <p:spPr bwMode="auto">
            <a:xfrm flipV="1">
              <a:off x="2784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8" name="Line 38"/>
            <p:cNvSpPr>
              <a:spLocks noChangeShapeType="1"/>
            </p:cNvSpPr>
            <p:nvPr/>
          </p:nvSpPr>
          <p:spPr bwMode="auto">
            <a:xfrm flipV="1">
              <a:off x="3408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39" name="Line 39"/>
            <p:cNvSpPr>
              <a:spLocks noChangeShapeType="1"/>
            </p:cNvSpPr>
            <p:nvPr/>
          </p:nvSpPr>
          <p:spPr bwMode="auto">
            <a:xfrm flipV="1">
              <a:off x="3984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40" name="Line 40"/>
            <p:cNvSpPr>
              <a:spLocks noChangeShapeType="1"/>
            </p:cNvSpPr>
            <p:nvPr/>
          </p:nvSpPr>
          <p:spPr bwMode="auto">
            <a:xfrm flipV="1">
              <a:off x="4704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41" name="Line 41"/>
            <p:cNvSpPr>
              <a:spLocks noChangeShapeType="1"/>
            </p:cNvSpPr>
            <p:nvPr/>
          </p:nvSpPr>
          <p:spPr bwMode="auto">
            <a:xfrm flipV="1">
              <a:off x="5184" y="1536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>
                <a:solidFill>
                  <a:prstClr val="black"/>
                </a:solidFill>
                <a:latin typeface="Arial"/>
                <a:ea typeface="新細明體"/>
              </a:endParaRPr>
            </a:p>
          </p:txBody>
        </p:sp>
        <p:sp>
          <p:nvSpPr>
            <p:cNvPr id="58442" name="Rectangle 42"/>
            <p:cNvSpPr>
              <a:spLocks noChangeArrowheads="1"/>
            </p:cNvSpPr>
            <p:nvPr/>
          </p:nvSpPr>
          <p:spPr bwMode="auto">
            <a:xfrm>
              <a:off x="662" y="1735"/>
              <a:ext cx="1142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ALUop (Symbolic)</a:t>
              </a:r>
            </a:p>
          </p:txBody>
        </p:sp>
        <p:sp>
          <p:nvSpPr>
            <p:cNvPr id="58443" name="Rectangle 43"/>
            <p:cNvSpPr>
              <a:spLocks noChangeArrowheads="1"/>
            </p:cNvSpPr>
            <p:nvPr/>
          </p:nvSpPr>
          <p:spPr bwMode="auto">
            <a:xfrm>
              <a:off x="2033" y="1735"/>
              <a:ext cx="65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zh-TW" altLang="en-US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“</a:t>
              </a: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R-type”</a:t>
              </a:r>
            </a:p>
          </p:txBody>
        </p:sp>
        <p:sp>
          <p:nvSpPr>
            <p:cNvPr id="58444" name="Rectangle 44"/>
            <p:cNvSpPr>
              <a:spLocks noChangeArrowheads="1"/>
            </p:cNvSpPr>
            <p:nvPr/>
          </p:nvSpPr>
          <p:spPr bwMode="auto">
            <a:xfrm>
              <a:off x="3014" y="1735"/>
              <a:ext cx="33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Add</a:t>
              </a:r>
            </a:p>
          </p:txBody>
        </p:sp>
        <p:sp>
          <p:nvSpPr>
            <p:cNvPr id="58445" name="Rectangle 45"/>
            <p:cNvSpPr>
              <a:spLocks noChangeArrowheads="1"/>
            </p:cNvSpPr>
            <p:nvPr/>
          </p:nvSpPr>
          <p:spPr bwMode="auto">
            <a:xfrm>
              <a:off x="3542" y="1735"/>
              <a:ext cx="33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Add</a:t>
              </a:r>
            </a:p>
          </p:txBody>
        </p:sp>
        <p:sp>
          <p:nvSpPr>
            <p:cNvPr id="58446" name="Rectangle 46"/>
            <p:cNvSpPr>
              <a:spLocks noChangeArrowheads="1"/>
            </p:cNvSpPr>
            <p:nvPr/>
          </p:nvSpPr>
          <p:spPr bwMode="auto">
            <a:xfrm>
              <a:off x="4065" y="1731"/>
              <a:ext cx="592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 dirty="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Subtract</a:t>
              </a:r>
            </a:p>
          </p:txBody>
        </p:sp>
        <p:sp>
          <p:nvSpPr>
            <p:cNvPr id="58447" name="Rectangle 47"/>
            <p:cNvSpPr>
              <a:spLocks noChangeArrowheads="1"/>
            </p:cNvSpPr>
            <p:nvPr/>
          </p:nvSpPr>
          <p:spPr bwMode="auto">
            <a:xfrm>
              <a:off x="4790" y="1735"/>
              <a:ext cx="307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xxx</a:t>
              </a:r>
            </a:p>
          </p:txBody>
        </p:sp>
        <p:sp>
          <p:nvSpPr>
            <p:cNvPr id="58448" name="Rectangle 48"/>
            <p:cNvSpPr>
              <a:spLocks noChangeArrowheads="1"/>
            </p:cNvSpPr>
            <p:nvPr/>
          </p:nvSpPr>
          <p:spPr bwMode="auto">
            <a:xfrm>
              <a:off x="950" y="1927"/>
              <a:ext cx="81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ALUop&lt;1:0&gt;</a:t>
              </a:r>
            </a:p>
          </p:txBody>
        </p:sp>
        <p:sp>
          <p:nvSpPr>
            <p:cNvPr id="58449" name="Rectangle 49"/>
            <p:cNvSpPr>
              <a:spLocks noChangeArrowheads="1"/>
            </p:cNvSpPr>
            <p:nvPr/>
          </p:nvSpPr>
          <p:spPr bwMode="auto">
            <a:xfrm>
              <a:off x="2129" y="1927"/>
              <a:ext cx="25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zh-TW" altLang="en-US" sz="1800" dirty="0">
                  <a:solidFill>
                    <a:srgbClr val="FF0000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10</a:t>
              </a:r>
            </a:p>
          </p:txBody>
        </p:sp>
        <p:sp>
          <p:nvSpPr>
            <p:cNvPr id="58450" name="Rectangle 50"/>
            <p:cNvSpPr>
              <a:spLocks noChangeArrowheads="1"/>
            </p:cNvSpPr>
            <p:nvPr/>
          </p:nvSpPr>
          <p:spPr bwMode="auto">
            <a:xfrm>
              <a:off x="3014" y="1927"/>
              <a:ext cx="25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zh-TW" altLang="en-US" sz="1800" dirty="0">
                  <a:solidFill>
                    <a:srgbClr val="FF0000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00</a:t>
              </a:r>
            </a:p>
          </p:txBody>
        </p:sp>
        <p:sp>
          <p:nvSpPr>
            <p:cNvPr id="58451" name="Rectangle 51"/>
            <p:cNvSpPr>
              <a:spLocks noChangeArrowheads="1"/>
            </p:cNvSpPr>
            <p:nvPr/>
          </p:nvSpPr>
          <p:spPr bwMode="auto">
            <a:xfrm>
              <a:off x="3542" y="1927"/>
              <a:ext cx="25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zh-TW" altLang="en-US" sz="1800" dirty="0">
                  <a:solidFill>
                    <a:srgbClr val="FF0000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00</a:t>
              </a:r>
            </a:p>
          </p:txBody>
        </p:sp>
        <p:sp>
          <p:nvSpPr>
            <p:cNvPr id="58452" name="Rectangle 52"/>
            <p:cNvSpPr>
              <a:spLocks noChangeArrowheads="1"/>
            </p:cNvSpPr>
            <p:nvPr/>
          </p:nvSpPr>
          <p:spPr bwMode="auto">
            <a:xfrm>
              <a:off x="4048" y="1937"/>
              <a:ext cx="291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zh-TW" altLang="en-US" sz="1600" dirty="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 </a:t>
              </a:r>
              <a:r>
                <a:rPr kumimoji="1" lang="zh-TW" altLang="en-US" sz="1800" dirty="0">
                  <a:solidFill>
                    <a:srgbClr val="FF0000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01</a:t>
              </a:r>
            </a:p>
          </p:txBody>
        </p:sp>
        <p:sp>
          <p:nvSpPr>
            <p:cNvPr id="58453" name="Rectangle 53"/>
            <p:cNvSpPr>
              <a:spLocks noChangeArrowheads="1"/>
            </p:cNvSpPr>
            <p:nvPr/>
          </p:nvSpPr>
          <p:spPr bwMode="auto">
            <a:xfrm>
              <a:off x="4790" y="1927"/>
              <a:ext cx="307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kumimoji="1" lang="en-US" altLang="zh-TW" sz="1600">
                  <a:solidFill>
                    <a:prstClr val="black"/>
                  </a:solidFill>
                  <a:latin typeface="Arial" panose="020B0604020202090204" pitchFamily="34" charset="0"/>
                  <a:ea typeface="新細明體" panose="02020500000000000000" pitchFamily="18" charset="-120"/>
                </a:rPr>
                <a:t>xxx</a:t>
              </a:r>
            </a:p>
          </p:txBody>
        </p:sp>
      </p:grpSp>
      <p:sp>
        <p:nvSpPr>
          <p:cNvPr id="58373" name="Rectangle 54"/>
          <p:cNvSpPr>
            <a:spLocks noGrp="1" noChangeArrowheads="1"/>
          </p:cNvSpPr>
          <p:nvPr>
            <p:ph type="title"/>
          </p:nvPr>
        </p:nvSpPr>
        <p:spPr>
          <a:xfrm>
            <a:off x="1229447" y="133190"/>
            <a:ext cx="9076605" cy="665951"/>
          </a:xfrm>
        </p:spPr>
        <p:txBody>
          <a:bodyPr/>
          <a:lstStyle/>
          <a:p>
            <a:r>
              <a:rPr lang="en-US" altLang="zh-TW" dirty="0"/>
              <a:t>ALU Control (1)</a:t>
            </a:r>
          </a:p>
        </p:txBody>
      </p:sp>
      <p:sp>
        <p:nvSpPr>
          <p:cNvPr id="10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7</a:t>
            </a:fld>
            <a:endParaRPr lang="zh-TW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29895" y="58739"/>
            <a:ext cx="9076156" cy="901700"/>
          </a:xfrm>
        </p:spPr>
        <p:txBody>
          <a:bodyPr/>
          <a:lstStyle/>
          <a:p>
            <a:r>
              <a:rPr lang="en-US" altLang="zh-TW" dirty="0"/>
              <a:t>ALU Control (2) </a:t>
            </a:r>
            <a:endParaRPr lang="en-AU" altLang="zh-TW" dirty="0">
              <a:ea typeface="新細明體" panose="02020500000000000000" pitchFamily="18" charset="-12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2674" y="997202"/>
            <a:ext cx="8940801" cy="917157"/>
          </a:xfrm>
        </p:spPr>
        <p:txBody>
          <a:bodyPr/>
          <a:lstStyle/>
          <a:p>
            <a:r>
              <a:rPr lang="en-US" altLang="zh-TW" sz="2400" dirty="0"/>
              <a:t>Assume 2-bit </a:t>
            </a:r>
            <a:r>
              <a:rPr lang="en-US" altLang="zh-TW" sz="2400" dirty="0" err="1"/>
              <a:t>ALUOp</a:t>
            </a:r>
            <a:r>
              <a:rPr lang="en-US" altLang="zh-TW" sz="2400" dirty="0"/>
              <a:t> derived from opcode</a:t>
            </a:r>
          </a:p>
          <a:p>
            <a:pPr lvl="1"/>
            <a:r>
              <a:rPr lang="en-US" altLang="zh-TW" sz="2133" dirty="0"/>
              <a:t>Combinational logic derives ALU control</a:t>
            </a:r>
            <a:endParaRPr lang="en-AU" altLang="zh-TW" sz="2133" dirty="0">
              <a:ea typeface="新細明體" panose="02020500000000000000" pitchFamily="18" charset="-120"/>
            </a:endParaRPr>
          </a:p>
        </p:txBody>
      </p:sp>
      <p:graphicFrame>
        <p:nvGraphicFramePr>
          <p:cNvPr id="477255" name="Group 7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577316"/>
              </p:ext>
            </p:extLst>
          </p:nvPr>
        </p:nvGraphicFramePr>
        <p:xfrm>
          <a:off x="2038351" y="1895477"/>
          <a:ext cx="8739188" cy="4167191"/>
        </p:xfrm>
        <a:graphic>
          <a:graphicData uri="http://schemas.openxmlformats.org/drawingml/2006/table">
            <a:tbl>
              <a:tblPr/>
              <a:tblGrid>
                <a:gridCol w="1331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2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opcode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ALUOp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Operation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funct3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ALU function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ALU control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lw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load word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XXX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add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0010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sw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store word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XXX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add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0010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beq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branch equal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XXX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subtract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0110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 rowSpan="5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R-type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10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add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add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0010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subtract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subtract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0110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AND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111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AND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0000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OR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110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OR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0001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05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set-on-less-than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010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set-on-less-than</a:t>
                      </a:r>
                      <a:endParaRPr kumimoji="0" lang="en-AU" altLang="zh-TW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TW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標楷體" panose="02010601000101010101" pitchFamily="65" charset="-120"/>
                        </a:rPr>
                        <a:t>0111</a:t>
                      </a:r>
                      <a:endParaRPr kumimoji="0" lang="en-AU" altLang="zh-TW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311313" y="1895687"/>
            <a:ext cx="7477760" cy="4218093"/>
            <a:chOff x="2483644" y="1454945"/>
            <a:chExt cx="5607844" cy="3130154"/>
          </a:xfrm>
        </p:grpSpPr>
        <p:sp>
          <p:nvSpPr>
            <p:cNvPr id="59460" name="Rectangle 72"/>
            <p:cNvSpPr>
              <a:spLocks noChangeArrowheads="1"/>
            </p:cNvSpPr>
            <p:nvPr/>
          </p:nvSpPr>
          <p:spPr bwMode="auto">
            <a:xfrm>
              <a:off x="2483644" y="1454945"/>
              <a:ext cx="3082529" cy="3077766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zh-TW" altLang="en-US" b="0">
                <a:solidFill>
                  <a:prstClr val="black"/>
                </a:solidFill>
                <a:latin typeface="Times New Roman" panose="02020703060505090304" pitchFamily="18" charset="0"/>
                <a:ea typeface="新細明體" panose="02020500000000000000" pitchFamily="18" charset="-120"/>
              </a:endParaRPr>
            </a:p>
          </p:txBody>
        </p:sp>
        <p:sp>
          <p:nvSpPr>
            <p:cNvPr id="59461" name="Rectangle 73"/>
            <p:cNvSpPr>
              <a:spLocks noChangeArrowheads="1"/>
            </p:cNvSpPr>
            <p:nvPr/>
          </p:nvSpPr>
          <p:spPr bwMode="auto">
            <a:xfrm>
              <a:off x="6987779" y="1456136"/>
              <a:ext cx="1103709" cy="3128963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zh-TW" altLang="en-US" b="0">
                <a:solidFill>
                  <a:prstClr val="black"/>
                </a:solidFill>
                <a:latin typeface="Times New Roman" panose="02020703060505090304" pitchFamily="18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8</a:t>
            </a:fld>
            <a:endParaRPr lang="zh-TW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9937" y="58739"/>
            <a:ext cx="9056115" cy="901700"/>
          </a:xfrm>
        </p:spPr>
        <p:txBody>
          <a:bodyPr/>
          <a:lstStyle/>
          <a:p>
            <a:r>
              <a:rPr lang="en-US" altLang="zh-TW" dirty="0"/>
              <a:t>Truth Table for </a:t>
            </a:r>
            <a:r>
              <a:rPr lang="en-US" altLang="zh-TW" dirty="0" err="1"/>
              <a:t>ALUctr</a:t>
            </a:r>
            <a:endParaRPr lang="en-US" altLang="zh-TW" dirty="0"/>
          </a:p>
        </p:txBody>
      </p:sp>
      <p:sp>
        <p:nvSpPr>
          <p:cNvPr id="120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9</a:t>
            </a:fld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40206C5-AAE4-43B8-8B23-9747F15C4AED}"/>
              </a:ext>
            </a:extLst>
          </p:cNvPr>
          <p:cNvGraphicFramePr>
            <a:graphicFrameLocks noGrp="1"/>
          </p:cNvGraphicFramePr>
          <p:nvPr/>
        </p:nvGraphicFramePr>
        <p:xfrm>
          <a:off x="424776" y="1147864"/>
          <a:ext cx="11342448" cy="474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272">
                  <a:extLst>
                    <a:ext uri="{9D8B030D-6E8A-4147-A177-3AD203B41FA5}">
                      <a16:colId xmlns:a16="http://schemas.microsoft.com/office/drawing/2014/main" val="1217021159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6376125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128598178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7811208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07002240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51001345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2714803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96554882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98395954"/>
                    </a:ext>
                  </a:extLst>
                </a:gridCol>
              </a:tblGrid>
              <a:tr h="52772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ALUop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ALUControl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3054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222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71060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27777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62048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26473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54999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86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61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86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9937" y="58739"/>
            <a:ext cx="9056115" cy="901700"/>
          </a:xfrm>
        </p:spPr>
        <p:txBody>
          <a:bodyPr/>
          <a:lstStyle/>
          <a:p>
            <a:r>
              <a:rPr lang="en-US" altLang="zh-TW" dirty="0"/>
              <a:t>Truth Table for </a:t>
            </a:r>
            <a:r>
              <a:rPr lang="en-US" altLang="zh-TW" dirty="0" err="1"/>
              <a:t>ALUctr</a:t>
            </a:r>
            <a:endParaRPr lang="en-US" altLang="zh-TW" dirty="0"/>
          </a:p>
        </p:txBody>
      </p:sp>
      <p:sp>
        <p:nvSpPr>
          <p:cNvPr id="120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10</a:t>
            </a:fld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40206C5-AAE4-43B8-8B23-9747F15C4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28317"/>
              </p:ext>
            </p:extLst>
          </p:nvPr>
        </p:nvGraphicFramePr>
        <p:xfrm>
          <a:off x="424776" y="1147864"/>
          <a:ext cx="11342448" cy="474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272">
                  <a:extLst>
                    <a:ext uri="{9D8B030D-6E8A-4147-A177-3AD203B41FA5}">
                      <a16:colId xmlns:a16="http://schemas.microsoft.com/office/drawing/2014/main" val="1217021159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6376125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128598178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7811208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07002240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51001345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2714803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96554882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98395954"/>
                    </a:ext>
                  </a:extLst>
                </a:gridCol>
              </a:tblGrid>
              <a:tr h="52772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ALUop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ALUControl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3054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222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71060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27777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62048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26473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54999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86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613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6E88595-F9E7-4067-8264-9BD33F1D90A4}"/>
              </a:ext>
            </a:extLst>
          </p:cNvPr>
          <p:cNvSpPr/>
          <p:nvPr/>
        </p:nvSpPr>
        <p:spPr bwMode="auto">
          <a:xfrm>
            <a:off x="272374" y="3239311"/>
            <a:ext cx="11605098" cy="1040859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0A5F7-C7E5-449F-AC0A-DCFA4E35662E}"/>
              </a:ext>
            </a:extLst>
          </p:cNvPr>
          <p:cNvSpPr txBox="1"/>
          <p:nvPr/>
        </p:nvSpPr>
        <p:spPr>
          <a:xfrm>
            <a:off x="3132307" y="4467595"/>
            <a:ext cx="7016088" cy="95410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Need Inst[30] to distinguish ADD from SUB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and SRA from SRL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From Truth Table to Logic Gate Expression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0" y="1125220"/>
            <a:ext cx="10972800" cy="4424680"/>
          </a:xfrm>
        </p:spPr>
        <p:txBody>
          <a:bodyPr/>
          <a:lstStyle/>
          <a:p>
            <a:r>
              <a:rPr lang="en-US" altLang="zh-CN" dirty="0"/>
              <a:t>Target: to design circuit from truth table using very simple gate logic.</a:t>
            </a:r>
          </a:p>
          <a:p>
            <a:r>
              <a:rPr lang="en-US" altLang="zh-CN" dirty="0"/>
              <a:t>Truth table -&gt; Logic expression -&gt; simplified version -&gt; gate circuit</a:t>
            </a:r>
          </a:p>
          <a:p>
            <a:pPr lvl="1"/>
            <a:r>
              <a:rPr lang="en-US" altLang="zh-CN" dirty="0" err="1"/>
              <a:t>minterm</a:t>
            </a:r>
            <a:r>
              <a:rPr lang="en-US" altLang="zh-CN" dirty="0"/>
              <a:t>: </a:t>
            </a:r>
            <a:r>
              <a:rPr lang="zh-CN" altLang="en-US" dirty="0"/>
              <a:t> </a:t>
            </a:r>
            <a:r>
              <a:rPr lang="en-US" altLang="zh-CN" dirty="0"/>
              <a:t>ABC+ABC'+AB'C+A'B'C'</a:t>
            </a:r>
          </a:p>
          <a:p>
            <a:pPr lvl="1"/>
            <a:r>
              <a:rPr lang="en-US" altLang="zh-CN" dirty="0"/>
              <a:t>maxterm: (A+B+C)(A+B+C')(A+B'+C)(A'+B'+C')</a:t>
            </a:r>
          </a:p>
          <a:p>
            <a:pPr lvl="1"/>
            <a:r>
              <a:rPr lang="en-US" altLang="zh-CN" dirty="0"/>
              <a:t>we usually prefer </a:t>
            </a:r>
            <a:r>
              <a:rPr lang="en-US" altLang="zh-CN" dirty="0" err="1"/>
              <a:t>minterm</a:t>
            </a:r>
            <a:r>
              <a:rPr lang="en-US" altLang="zh-CN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11</a:t>
            </a:fld>
            <a:endParaRPr lang="zh-TW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From Truth Table to Logic Gate Expression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0" y="1125220"/>
            <a:ext cx="10972800" cy="1244600"/>
          </a:xfrm>
        </p:spPr>
        <p:txBody>
          <a:bodyPr/>
          <a:lstStyle/>
          <a:p>
            <a:r>
              <a:rPr lang="en-US" altLang="zh-CN" dirty="0"/>
              <a:t>Target: to design a circuit from a truth table using very simple gate logic.</a:t>
            </a:r>
          </a:p>
          <a:p>
            <a:r>
              <a:rPr lang="en-US" altLang="zh-CN" dirty="0"/>
              <a:t>Truth table -&gt; Logic expression -&gt; simplified version -&gt; gate circuit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12</a:t>
            </a:fld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8027" y="4041141"/>
          <a:ext cx="2847339" cy="1799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B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Z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88534" y="3480956"/>
            <a:ext cx="851515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defTabSz="1219170"/>
            <a:r>
              <a:rPr lang="en-US" altLang="zh-CN" sz="2400" dirty="0">
                <a:solidFill>
                  <a:prstClr val="black"/>
                </a:solidFill>
                <a:latin typeface="Arial"/>
                <a:ea typeface="標楷體" panose="02010601000101010101" pitchFamily="65" charset="-120"/>
                <a:cs typeface="Calibri" panose="020F0702030404030204" pitchFamily="34" charset="0"/>
              </a:rPr>
              <a:t>XOR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74160" y="4588396"/>
            <a:ext cx="1303562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defTabSz="1219170"/>
            <a:r>
              <a:rPr lang="en-US" altLang="zh-CN" sz="2400" dirty="0">
                <a:solidFill>
                  <a:prstClr val="black"/>
                </a:solidFill>
                <a:latin typeface="Arial"/>
                <a:ea typeface="標楷體" panose="02010601000101010101" pitchFamily="65" charset="-120"/>
                <a:cs typeface="Calibri" panose="020F0702030404030204" pitchFamily="34" charset="0"/>
              </a:rPr>
              <a:t>A'B+AB'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17167" y="4588396"/>
            <a:ext cx="1175963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defTabSz="1219170"/>
            <a:r>
              <a:rPr lang="en-US" altLang="zh-CN" sz="2400" dirty="0">
                <a:solidFill>
                  <a:prstClr val="black"/>
                </a:solidFill>
                <a:latin typeface="Arial"/>
                <a:ea typeface="標楷體" panose="02010601000101010101" pitchFamily="65" charset="-120"/>
                <a:cs typeface="Calibri" panose="020F0702030404030204" pitchFamily="34" charset="0"/>
              </a:rPr>
              <a:t>A xor B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1" y="3129280"/>
            <a:ext cx="3741420" cy="144441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407" y="4764194"/>
            <a:ext cx="1682327" cy="952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65CDFA-0BE6-44B1-82FC-1723A89685DD}"/>
              </a:ext>
            </a:extLst>
          </p:cNvPr>
          <p:cNvSpPr txBox="1"/>
          <p:nvPr/>
        </p:nvSpPr>
        <p:spPr>
          <a:xfrm>
            <a:off x="3241242" y="5708910"/>
            <a:ext cx="8711575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In logic design, we need to learn how to optimize (or simplify) the logic equations.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Now most ECAD tools have that work done automatically.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9937" y="58739"/>
            <a:ext cx="9056115" cy="901700"/>
          </a:xfrm>
        </p:spPr>
        <p:txBody>
          <a:bodyPr/>
          <a:lstStyle/>
          <a:p>
            <a:r>
              <a:rPr kumimoji="1" lang="en-US" altLang="zh-TW" sz="4267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702030404030204" pitchFamily="34" charset="0"/>
                <a:ea typeface="標楷體" panose="02010601000101010101" pitchFamily="65" charset="-120"/>
              </a:rPr>
              <a:t>Logic Equation for ALUctr2 (1)</a:t>
            </a:r>
            <a:endParaRPr lang="en-US" altLang="zh-TW" dirty="0"/>
          </a:p>
        </p:txBody>
      </p:sp>
      <p:sp>
        <p:nvSpPr>
          <p:cNvPr id="120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13</a:t>
            </a:fld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40206C5-AAE4-43B8-8B23-9747F15C4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2416"/>
              </p:ext>
            </p:extLst>
          </p:nvPr>
        </p:nvGraphicFramePr>
        <p:xfrm>
          <a:off x="424776" y="1147864"/>
          <a:ext cx="11342448" cy="474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272">
                  <a:extLst>
                    <a:ext uri="{9D8B030D-6E8A-4147-A177-3AD203B41FA5}">
                      <a16:colId xmlns:a16="http://schemas.microsoft.com/office/drawing/2014/main" val="1217021159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6376125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128598178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7811208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07002240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51001345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2714803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96554882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98395954"/>
                    </a:ext>
                  </a:extLst>
                </a:gridCol>
              </a:tblGrid>
              <a:tr h="52772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ALUop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ALUControl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3054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222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71060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27777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62048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26473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54999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86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61321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14A5C5B0-B218-4B85-99EA-E4D1F0201744}"/>
              </a:ext>
            </a:extLst>
          </p:cNvPr>
          <p:cNvSpPr/>
          <p:nvPr/>
        </p:nvSpPr>
        <p:spPr bwMode="auto">
          <a:xfrm>
            <a:off x="8256443" y="2626468"/>
            <a:ext cx="741642" cy="671208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91E0E0-B6B2-4ABE-9CBC-A3B91B7D3BAC}"/>
              </a:ext>
            </a:extLst>
          </p:cNvPr>
          <p:cNvSpPr/>
          <p:nvPr/>
        </p:nvSpPr>
        <p:spPr bwMode="auto">
          <a:xfrm>
            <a:off x="8256443" y="3702996"/>
            <a:ext cx="741642" cy="671208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893D63-A6B8-4E22-A476-6249BDFA3545}"/>
              </a:ext>
            </a:extLst>
          </p:cNvPr>
          <p:cNvSpPr/>
          <p:nvPr/>
        </p:nvSpPr>
        <p:spPr bwMode="auto">
          <a:xfrm>
            <a:off x="8256443" y="5226190"/>
            <a:ext cx="741642" cy="671208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532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9937" y="58739"/>
            <a:ext cx="9056115" cy="901700"/>
          </a:xfrm>
        </p:spPr>
        <p:txBody>
          <a:bodyPr/>
          <a:lstStyle/>
          <a:p>
            <a:r>
              <a:rPr kumimoji="1" lang="en-US" altLang="zh-TW" sz="4267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702030404030204" pitchFamily="34" charset="0"/>
                <a:ea typeface="標楷體" panose="02010601000101010101" pitchFamily="65" charset="-120"/>
              </a:rPr>
              <a:t>Logic Equation for ALUctr</a:t>
            </a:r>
            <a:r>
              <a:rPr kumimoji="1" lang="en-US" altLang="zh-TW" sz="426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702030404030204" pitchFamily="34" charset="0"/>
                <a:ea typeface="標楷體" panose="02010601000101010101" pitchFamily="65" charset="-120"/>
              </a:rPr>
              <a:t>2</a:t>
            </a:r>
            <a:r>
              <a:rPr kumimoji="1" lang="en-US" altLang="zh-TW" sz="4267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702030404030204" pitchFamily="34" charset="0"/>
                <a:ea typeface="標楷體" panose="02010601000101010101" pitchFamily="65" charset="-120"/>
              </a:rPr>
              <a:t> (2)</a:t>
            </a:r>
            <a:endParaRPr lang="en-US" altLang="zh-TW" dirty="0"/>
          </a:p>
        </p:txBody>
      </p:sp>
      <p:sp>
        <p:nvSpPr>
          <p:cNvPr id="120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14</a:t>
            </a:fld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40206C5-AAE4-43B8-8B23-9747F15C4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52361"/>
              </p:ext>
            </p:extLst>
          </p:nvPr>
        </p:nvGraphicFramePr>
        <p:xfrm>
          <a:off x="1997178" y="1274324"/>
          <a:ext cx="7561632" cy="263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272">
                  <a:extLst>
                    <a:ext uri="{9D8B030D-6E8A-4147-A177-3AD203B41FA5}">
                      <a16:colId xmlns:a16="http://schemas.microsoft.com/office/drawing/2014/main" val="1217021159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6376125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128598178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7811208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07002240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27148036"/>
                    </a:ext>
                  </a:extLst>
                </a:gridCol>
              </a:tblGrid>
              <a:tr h="52772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ALUop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3054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bit2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222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27777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26473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613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74A5D533-FABF-41DF-8761-76F53EDC15F9}"/>
              </a:ext>
            </a:extLst>
          </p:cNvPr>
          <p:cNvSpPr/>
          <p:nvPr/>
        </p:nvSpPr>
        <p:spPr bwMode="auto">
          <a:xfrm>
            <a:off x="5999625" y="2723744"/>
            <a:ext cx="741642" cy="1274323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D16C61A5-3939-4647-BC17-B4194AD13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859" y="4226839"/>
            <a:ext cx="4089261" cy="38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867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This makes funct3&lt;1&gt; a don’t care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F44F91B-FEBF-48BA-8226-A9462B0C9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8636" y="4854029"/>
            <a:ext cx="8643620" cy="61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6166" indent="-286166">
              <a:buFont typeface="Wingdings" pitchFamily="2" charset="2"/>
              <a:buNone/>
            </a:pPr>
            <a:r>
              <a:rPr lang="en-US" altLang="zh-TW" sz="2667" kern="0" dirty="0"/>
              <a:t>ALUctr2  =  </a:t>
            </a:r>
            <a:r>
              <a:rPr lang="en-US" altLang="zh-TW" sz="2667" kern="0" dirty="0">
                <a:solidFill>
                  <a:schemeClr val="accent1">
                    <a:lumMod val="75000"/>
                  </a:schemeClr>
                </a:solidFill>
              </a:rPr>
              <a:t>ALUop0</a:t>
            </a:r>
            <a:r>
              <a:rPr lang="en-US" altLang="zh-TW" sz="2667" kern="0" dirty="0"/>
              <a:t> + </a:t>
            </a:r>
            <a:r>
              <a:rPr lang="en-US" altLang="zh-TW" sz="2667" kern="0" dirty="0">
                <a:solidFill>
                  <a:srgbClr val="FF0000"/>
                </a:solidFill>
              </a:rPr>
              <a:t>ALUop1‧funct3&lt;2&gt;’‧funct3&lt;0&gt;’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4DE9DA-709A-456C-B39C-EA678DB70902}"/>
              </a:ext>
            </a:extLst>
          </p:cNvPr>
          <p:cNvCxnSpPr>
            <a:endCxn id="10" idx="4"/>
          </p:cNvCxnSpPr>
          <p:nvPr/>
        </p:nvCxnSpPr>
        <p:spPr bwMode="auto">
          <a:xfrm flipV="1">
            <a:off x="6370446" y="3998067"/>
            <a:ext cx="0" cy="31388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tangle 2">
            <a:extLst>
              <a:ext uri="{FF2B5EF4-FFF2-40B4-BE49-F238E27FC236}">
                <a16:creationId xmlns:a16="http://schemas.microsoft.com/office/drawing/2014/main" id="{97171C52-6BD1-4BED-9543-259020A25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360" y="5420576"/>
            <a:ext cx="8643620" cy="61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6166" indent="-286166">
              <a:buFont typeface="Wingdings" pitchFamily="2" charset="2"/>
              <a:buNone/>
            </a:pPr>
            <a:r>
              <a:rPr lang="en-US" altLang="zh-TW" sz="2667" kern="0" dirty="0"/>
              <a:t>ALUctr0, ALUctr1 can be formulate in the same way.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63D01F5-0AC1-4C96-9CB2-36D36BB1BE7A}"/>
              </a:ext>
            </a:extLst>
          </p:cNvPr>
          <p:cNvCxnSpPr/>
          <p:nvPr/>
        </p:nvCxnSpPr>
        <p:spPr bwMode="auto">
          <a:xfrm flipH="1" flipV="1">
            <a:off x="2791838" y="3822970"/>
            <a:ext cx="2791839" cy="114786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7DD315-2CB3-4C04-8AE6-79AF08FD231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42690" y="3869098"/>
            <a:ext cx="1861225" cy="1101736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AE0F6D-C3CB-47C7-8F48-0071F949006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738815" y="3912954"/>
            <a:ext cx="937833" cy="1057881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7D1064-D886-400A-BF27-2E9D87B47CD4}"/>
              </a:ext>
            </a:extLst>
          </p:cNvPr>
          <p:cNvCxnSpPr>
            <a:cxnSpLocks/>
          </p:cNvCxnSpPr>
          <p:nvPr/>
        </p:nvCxnSpPr>
        <p:spPr bwMode="auto">
          <a:xfrm flipV="1">
            <a:off x="3964054" y="2747441"/>
            <a:ext cx="1" cy="2223393"/>
          </a:xfrm>
          <a:prstGeom prst="straightConnector1">
            <a:avLst/>
          </a:prstGeom>
          <a:noFill/>
          <a:ln w="158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2919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More Complete RV32I Single Cycle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15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001949"/>
            <a:ext cx="11250595" cy="526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31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More Complete RV32I Single Cycle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16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001949"/>
            <a:ext cx="11250595" cy="5261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EA5CCE-0F0D-428D-BF48-B86D225E973F}"/>
              </a:ext>
            </a:extLst>
          </p:cNvPr>
          <p:cNvSpPr txBox="1"/>
          <p:nvPr/>
        </p:nvSpPr>
        <p:spPr>
          <a:xfrm>
            <a:off x="9251004" y="992221"/>
            <a:ext cx="1762021" cy="1200329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Wbsel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 Which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inst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2:?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38129-F4B6-46CC-A494-B7CFF76E3149}"/>
              </a:ext>
            </a:extLst>
          </p:cNvPr>
          <p:cNvSpPr txBox="1"/>
          <p:nvPr/>
        </p:nvSpPr>
        <p:spPr>
          <a:xfrm>
            <a:off x="7778886" y="5801418"/>
            <a:ext cx="697627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9DBA-0372-41C4-BD73-54D9974B3C11}"/>
              </a:ext>
            </a:extLst>
          </p:cNvPr>
          <p:cNvSpPr txBox="1"/>
          <p:nvPr/>
        </p:nvSpPr>
        <p:spPr>
          <a:xfrm>
            <a:off x="8465835" y="5811146"/>
            <a:ext cx="697627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Asel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35954-83B3-456F-897B-82E1F046EDE4}"/>
              </a:ext>
            </a:extLst>
          </p:cNvPr>
          <p:cNvSpPr txBox="1"/>
          <p:nvPr/>
        </p:nvSpPr>
        <p:spPr>
          <a:xfrm>
            <a:off x="5623755" y="5759751"/>
            <a:ext cx="1142300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RegWen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</p:txBody>
      </p:sp>
    </p:spTree>
    <p:extLst>
      <p:ext uri="{BB962C8B-B14F-4D97-AF65-F5344CB8AC3E}">
        <p14:creationId xmlns:p14="http://schemas.microsoft.com/office/powerpoint/2010/main" val="132501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More Complete RV32I Single Cycle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17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001949"/>
            <a:ext cx="11250595" cy="5261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EA5CCE-0F0D-428D-BF48-B86D225E973F}"/>
              </a:ext>
            </a:extLst>
          </p:cNvPr>
          <p:cNvSpPr txBox="1"/>
          <p:nvPr/>
        </p:nvSpPr>
        <p:spPr>
          <a:xfrm>
            <a:off x="9251004" y="992221"/>
            <a:ext cx="1505540" cy="1200329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WBsel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ld</a:t>
            </a:r>
            <a:endParaRPr lang="en-US" dirty="0">
              <a:highlight>
                <a:srgbClr val="FFFF00"/>
              </a:highlight>
              <a:ea typeface="標楷體" pitchFamily="65" charset="-120"/>
              <a:cs typeface="Calibri" pitchFamily="34" charset="0"/>
            </a:endParaRP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 R-type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2:? Jal or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jalr</a:t>
            </a:r>
            <a:endParaRPr lang="en-US" dirty="0">
              <a:highlight>
                <a:srgbClr val="FFFF00"/>
              </a:highlight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38129-F4B6-46CC-A494-B7CFF76E3149}"/>
              </a:ext>
            </a:extLst>
          </p:cNvPr>
          <p:cNvSpPr txBox="1"/>
          <p:nvPr/>
        </p:nvSpPr>
        <p:spPr>
          <a:xfrm>
            <a:off x="7778886" y="5801418"/>
            <a:ext cx="813043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0:rs2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1:imm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9DBA-0372-41C4-BD73-54D9974B3C11}"/>
              </a:ext>
            </a:extLst>
          </p:cNvPr>
          <p:cNvSpPr txBox="1"/>
          <p:nvPr/>
        </p:nvSpPr>
        <p:spPr>
          <a:xfrm>
            <a:off x="8465835" y="5811146"/>
            <a:ext cx="697627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Asel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0:rs1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35954-83B3-456F-897B-82E1F046EDE4}"/>
              </a:ext>
            </a:extLst>
          </p:cNvPr>
          <p:cNvSpPr txBox="1"/>
          <p:nvPr/>
        </p:nvSpPr>
        <p:spPr>
          <a:xfrm>
            <a:off x="5623755" y="5759751"/>
            <a:ext cx="1313180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RegWen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0:sw or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br</a:t>
            </a:r>
            <a:endParaRPr lang="en-US" dirty="0">
              <a:highlight>
                <a:srgbClr val="FFFF00"/>
              </a:highlight>
              <a:ea typeface="標楷體" pitchFamily="65" charset="-120"/>
              <a:cs typeface="Calibri" pitchFamily="34" charset="0"/>
            </a:endParaRP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1:all others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E6A1B5-F921-44B9-A0BE-4057EA69E766}"/>
              </a:ext>
            </a:extLst>
          </p:cNvPr>
          <p:cNvSpPr/>
          <p:nvPr/>
        </p:nvSpPr>
        <p:spPr bwMode="auto">
          <a:xfrm>
            <a:off x="7033098" y="2704289"/>
            <a:ext cx="2217906" cy="146887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265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Example: SW X2, offset(X1)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18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53AEF-78CD-4361-93CE-7A252777E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9" y="1021403"/>
            <a:ext cx="10507541" cy="524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60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Example: BEQ X1,X2, immediate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19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EA74A-B2D3-4C13-BF10-966FAB99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" y="1050586"/>
            <a:ext cx="10374173" cy="53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1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RV32I Single Cycle Processor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20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132722"/>
            <a:ext cx="11250595" cy="52611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F3D68E-03A1-4DCA-8ED4-D293AFC68358}"/>
              </a:ext>
            </a:extLst>
          </p:cNvPr>
          <p:cNvSpPr/>
          <p:nvPr/>
        </p:nvSpPr>
        <p:spPr bwMode="auto">
          <a:xfrm>
            <a:off x="1076527" y="5246370"/>
            <a:ext cx="10350229" cy="1147486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AA62C-27D4-47C9-B12B-820E4F1665DA}"/>
              </a:ext>
            </a:extLst>
          </p:cNvPr>
          <p:cNvSpPr txBox="1"/>
          <p:nvPr/>
        </p:nvSpPr>
        <p:spPr>
          <a:xfrm>
            <a:off x="4525867" y="1446179"/>
            <a:ext cx="1782860" cy="52322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Data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434C1-C015-442E-9C5D-A94CB3A8D9D8}"/>
              </a:ext>
            </a:extLst>
          </p:cNvPr>
          <p:cNvSpPr/>
          <p:nvPr/>
        </p:nvSpPr>
        <p:spPr bwMode="auto">
          <a:xfrm>
            <a:off x="1076528" y="1446179"/>
            <a:ext cx="10350229" cy="3881336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D2CA4-C18F-4E1F-9F96-BD5BE21F8518}"/>
              </a:ext>
            </a:extLst>
          </p:cNvPr>
          <p:cNvSpPr txBox="1"/>
          <p:nvPr/>
        </p:nvSpPr>
        <p:spPr>
          <a:xfrm>
            <a:off x="1660637" y="5674412"/>
            <a:ext cx="1345240" cy="52322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5DD95A-369E-40CF-92D4-F45557C74619}"/>
              </a:ext>
            </a:extLst>
          </p:cNvPr>
          <p:cNvSpPr/>
          <p:nvPr/>
        </p:nvSpPr>
        <p:spPr bwMode="auto">
          <a:xfrm>
            <a:off x="5394960" y="2148840"/>
            <a:ext cx="1897380" cy="234315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C3A5F1-45F3-43AD-A6AC-AACB26F53910}"/>
              </a:ext>
            </a:extLst>
          </p:cNvPr>
          <p:cNvSpPr/>
          <p:nvPr/>
        </p:nvSpPr>
        <p:spPr bwMode="auto">
          <a:xfrm>
            <a:off x="2686050" y="2697480"/>
            <a:ext cx="1188720" cy="168021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72B22-48E4-4EB1-BBDE-34E8B7619383}"/>
              </a:ext>
            </a:extLst>
          </p:cNvPr>
          <p:cNvSpPr/>
          <p:nvPr/>
        </p:nvSpPr>
        <p:spPr bwMode="auto">
          <a:xfrm>
            <a:off x="9422130" y="2956598"/>
            <a:ext cx="1188720" cy="168021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92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8" grpId="0" animBg="1"/>
      <p:bldP spid="9" grpId="0"/>
      <p:bldP spid="10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0673" y="58739"/>
            <a:ext cx="9025379" cy="901700"/>
          </a:xfrm>
        </p:spPr>
        <p:txBody>
          <a:bodyPr/>
          <a:lstStyle/>
          <a:p>
            <a:r>
              <a:rPr lang="en-US" altLang="zh-TW" dirty="0"/>
              <a:t>Questions Raised 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2881" y="1125537"/>
            <a:ext cx="10209519" cy="4895851"/>
          </a:xfrm>
        </p:spPr>
        <p:txBody>
          <a:bodyPr/>
          <a:lstStyle/>
          <a:p>
            <a:r>
              <a:rPr lang="en-US" altLang="zh-TW" dirty="0"/>
              <a:t>Why </a:t>
            </a:r>
            <a:r>
              <a:rPr lang="en-US" altLang="zh-TW" dirty="0" err="1"/>
              <a:t>ALUsel</a:t>
            </a:r>
            <a:r>
              <a:rPr lang="en-US" altLang="zh-TW" dirty="0"/>
              <a:t> used 4 bits. Three bits should be sufficient!</a:t>
            </a:r>
          </a:p>
          <a:p>
            <a:pPr lvl="1"/>
            <a:r>
              <a:rPr lang="en-US" altLang="zh-TW" sz="2800" dirty="0"/>
              <a:t>To support the subset (</a:t>
            </a:r>
            <a:r>
              <a:rPr lang="en-US" altLang="zh-TW" sz="2800" dirty="0" err="1"/>
              <a:t>lw,sw,add,sub,and,or,beq,jal</a:t>
            </a:r>
            <a:r>
              <a:rPr lang="en-US" altLang="zh-TW" sz="2800" dirty="0"/>
              <a:t>), three is sufficient. The textbook provides 4 bits also to include SETL, XOR, or shift operations.</a:t>
            </a:r>
          </a:p>
          <a:p>
            <a:r>
              <a:rPr lang="en-US" altLang="zh-TW" sz="3333" dirty="0"/>
              <a:t>Why the </a:t>
            </a:r>
            <a:r>
              <a:rPr lang="en-US" altLang="zh-TW" sz="3333" dirty="0" err="1"/>
              <a:t>inst</a:t>
            </a:r>
            <a:r>
              <a:rPr lang="en-US" altLang="zh-TW" sz="3333" dirty="0"/>
              <a:t>[30] bit is not included in the </a:t>
            </a:r>
            <a:r>
              <a:rPr lang="en-US" altLang="zh-TW" sz="3333" dirty="0" err="1"/>
              <a:t>ALUsel</a:t>
            </a:r>
            <a:r>
              <a:rPr lang="en-US" altLang="zh-TW" sz="3333" dirty="0"/>
              <a:t> control signal.</a:t>
            </a:r>
          </a:p>
          <a:p>
            <a:pPr lvl="1"/>
            <a:r>
              <a:rPr lang="en-US" altLang="zh-TW" sz="2800" dirty="0"/>
              <a:t>This is an omission. This bit is in funct7, used to distinguish ADD from SUB, and SRA from SRL. </a:t>
            </a:r>
          </a:p>
          <a:p>
            <a:pPr lvl="1"/>
            <a:r>
              <a:rPr lang="en-US" altLang="zh-TW" sz="2800" dirty="0"/>
              <a:t>This </a:t>
            </a:r>
            <a:r>
              <a:rPr lang="en-US" altLang="zh-TW" sz="2800" dirty="0" err="1"/>
              <a:t>inst</a:t>
            </a:r>
            <a:r>
              <a:rPr lang="en-US" altLang="zh-TW" sz="2800" dirty="0"/>
              <a:t>[30] bit is indeed used in </a:t>
            </a:r>
            <a:r>
              <a:rPr lang="en-US" altLang="zh-TW" sz="2800" dirty="0" err="1"/>
              <a:t>ALUctl</a:t>
            </a:r>
            <a:r>
              <a:rPr lang="en-US" altLang="zh-TW" sz="2800" dirty="0"/>
              <a:t> generation in the textbook. 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9937" y="58739"/>
            <a:ext cx="9056115" cy="901700"/>
          </a:xfrm>
        </p:spPr>
        <p:txBody>
          <a:bodyPr/>
          <a:lstStyle/>
          <a:p>
            <a:r>
              <a:rPr lang="en-US" altLang="zh-TW" dirty="0"/>
              <a:t>Truth Table for </a:t>
            </a:r>
            <a:r>
              <a:rPr lang="en-US" altLang="zh-TW" dirty="0" err="1"/>
              <a:t>ALUctr</a:t>
            </a:r>
            <a:endParaRPr lang="en-US" altLang="zh-TW" dirty="0"/>
          </a:p>
        </p:txBody>
      </p:sp>
      <p:sp>
        <p:nvSpPr>
          <p:cNvPr id="120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22</a:t>
            </a:fld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40206C5-AAE4-43B8-8B23-9747F15C4AED}"/>
              </a:ext>
            </a:extLst>
          </p:cNvPr>
          <p:cNvGraphicFramePr>
            <a:graphicFrameLocks noGrp="1"/>
          </p:cNvGraphicFramePr>
          <p:nvPr/>
        </p:nvGraphicFramePr>
        <p:xfrm>
          <a:off x="424776" y="1147864"/>
          <a:ext cx="11342448" cy="474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272">
                  <a:extLst>
                    <a:ext uri="{9D8B030D-6E8A-4147-A177-3AD203B41FA5}">
                      <a16:colId xmlns:a16="http://schemas.microsoft.com/office/drawing/2014/main" val="1217021159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6376125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128598178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78112084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07002240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51001345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3327148036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965548822"/>
                    </a:ext>
                  </a:extLst>
                </a:gridCol>
                <a:gridCol w="1260272">
                  <a:extLst>
                    <a:ext uri="{9D8B030D-6E8A-4147-A177-3AD203B41FA5}">
                      <a16:colId xmlns:a16="http://schemas.microsoft.com/office/drawing/2014/main" val="4198395954"/>
                    </a:ext>
                  </a:extLst>
                </a:gridCol>
              </a:tblGrid>
              <a:tr h="52772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ALUop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ALUControl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3054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3222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71060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27777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620484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26473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54999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862"/>
                  </a:ext>
                </a:extLst>
              </a:tr>
              <a:tr h="5277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613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6E88595-F9E7-4067-8264-9BD33F1D90A4}"/>
              </a:ext>
            </a:extLst>
          </p:cNvPr>
          <p:cNvSpPr/>
          <p:nvPr/>
        </p:nvSpPr>
        <p:spPr bwMode="auto">
          <a:xfrm>
            <a:off x="272374" y="3239311"/>
            <a:ext cx="11605098" cy="1040859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0A5F7-C7E5-449F-AC0A-DCFA4E35662E}"/>
              </a:ext>
            </a:extLst>
          </p:cNvPr>
          <p:cNvSpPr txBox="1"/>
          <p:nvPr/>
        </p:nvSpPr>
        <p:spPr>
          <a:xfrm>
            <a:off x="3132307" y="4467595"/>
            <a:ext cx="7016088" cy="95410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Need Inst[30] to distinguish ADD from SUB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and SRA from SRL</a:t>
            </a:r>
          </a:p>
        </p:txBody>
      </p:sp>
    </p:spTree>
    <p:extLst>
      <p:ext uri="{BB962C8B-B14F-4D97-AF65-F5344CB8AC3E}">
        <p14:creationId xmlns:p14="http://schemas.microsoft.com/office/powerpoint/2010/main" val="71912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RV32I Control Logic Truth Table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23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B0777-3EB9-42B3-9DAC-EC6680530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35" y="1011677"/>
            <a:ext cx="10250330" cy="538953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9FFD8A4-5268-448C-8966-8425E4079008}"/>
              </a:ext>
            </a:extLst>
          </p:cNvPr>
          <p:cNvSpPr/>
          <p:nvPr/>
        </p:nvSpPr>
        <p:spPr bwMode="auto">
          <a:xfrm>
            <a:off x="2334638" y="3234690"/>
            <a:ext cx="3326860" cy="154305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733AF-74A8-4E02-B2E7-2DCF02AD090E}"/>
              </a:ext>
            </a:extLst>
          </p:cNvPr>
          <p:cNvSpPr txBox="1"/>
          <p:nvPr/>
        </p:nvSpPr>
        <p:spPr>
          <a:xfrm>
            <a:off x="2918297" y="6488668"/>
            <a:ext cx="296106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PC = PC+4 or </a:t>
            </a:r>
            <a:r>
              <a:rPr lang="en-US" dirty="0" err="1">
                <a:ea typeface="標楷體" pitchFamily="65" charset="-120"/>
                <a:cs typeface="Calibri" pitchFamily="34" charset="0"/>
              </a:rPr>
              <a:t>PC+immed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B339BB-AEBA-4772-B2AC-11A7B27A4955}"/>
              </a:ext>
            </a:extLst>
          </p:cNvPr>
          <p:cNvCxnSpPr>
            <a:cxnSpLocks/>
          </p:cNvCxnSpPr>
          <p:nvPr/>
        </p:nvCxnSpPr>
        <p:spPr bwMode="auto">
          <a:xfrm flipV="1">
            <a:off x="3900791" y="6128426"/>
            <a:ext cx="0" cy="544908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25F239-E76C-4FF0-90AB-E62E510DECA5}"/>
              </a:ext>
            </a:extLst>
          </p:cNvPr>
          <p:cNvSpPr txBox="1"/>
          <p:nvPr/>
        </p:nvSpPr>
        <p:spPr>
          <a:xfrm>
            <a:off x="9024203" y="6476309"/>
            <a:ext cx="30124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ea typeface="標楷體" pitchFamily="65" charset="-120"/>
                <a:cs typeface="Calibri" pitchFamily="34" charset="0"/>
              </a:rPr>
              <a:t>Wbsel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: ALU, Mem, or PC+4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D9C229-A87D-42AE-B0F1-64471BDDCFFB}"/>
              </a:ext>
            </a:extLst>
          </p:cNvPr>
          <p:cNvCxnSpPr>
            <a:cxnSpLocks/>
          </p:cNvCxnSpPr>
          <p:nvPr/>
        </p:nvCxnSpPr>
        <p:spPr bwMode="auto">
          <a:xfrm flipV="1">
            <a:off x="10415081" y="6280906"/>
            <a:ext cx="0" cy="544908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344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RV32I: 9 bits in Instruction drive the control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24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224E80-F59C-410C-BE06-E506E778F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7" y="691292"/>
            <a:ext cx="9259592" cy="6173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61E4D-5B41-42E9-81D5-9514D6B93E26}"/>
              </a:ext>
            </a:extLst>
          </p:cNvPr>
          <p:cNvSpPr txBox="1"/>
          <p:nvPr/>
        </p:nvSpPr>
        <p:spPr>
          <a:xfrm>
            <a:off x="7237379" y="6166708"/>
            <a:ext cx="2813591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Add/Sub, Logic/</a:t>
            </a:r>
            <a:r>
              <a:rPr lang="en-US" dirty="0" err="1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Arith</a:t>
            </a:r>
            <a:r>
              <a:rPr lang="en-US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 Shift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131CB-CA91-4AD4-BDE3-2812D21063C1}"/>
              </a:ext>
            </a:extLst>
          </p:cNvPr>
          <p:cNvSpPr txBox="1"/>
          <p:nvPr/>
        </p:nvSpPr>
        <p:spPr>
          <a:xfrm>
            <a:off x="7496783" y="5389796"/>
            <a:ext cx="81304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funct3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75297-5890-4B86-8AC5-E4D5DC6B1846}"/>
              </a:ext>
            </a:extLst>
          </p:cNvPr>
          <p:cNvSpPr txBox="1"/>
          <p:nvPr/>
        </p:nvSpPr>
        <p:spPr>
          <a:xfrm>
            <a:off x="7347625" y="3351075"/>
            <a:ext cx="3040128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2 LSB of Opcode are 11 for </a:t>
            </a:r>
          </a:p>
          <a:p>
            <a:r>
              <a:rPr lang="en-US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RV32I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E51C83-7064-4373-BB13-BB0C95B78ACF}"/>
              </a:ext>
            </a:extLst>
          </p:cNvPr>
          <p:cNvCxnSpPr/>
          <p:nvPr/>
        </p:nvCxnSpPr>
        <p:spPr bwMode="auto">
          <a:xfrm>
            <a:off x="432160" y="4747098"/>
            <a:ext cx="1235413" cy="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EC76AC-5863-4F36-8053-1DCDA7D2B914}"/>
              </a:ext>
            </a:extLst>
          </p:cNvPr>
          <p:cNvCxnSpPr/>
          <p:nvPr/>
        </p:nvCxnSpPr>
        <p:spPr bwMode="auto">
          <a:xfrm>
            <a:off x="432160" y="5064868"/>
            <a:ext cx="1235413" cy="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9300D4-6C08-48B0-A725-4D7F9F628273}"/>
              </a:ext>
            </a:extLst>
          </p:cNvPr>
          <p:cNvCxnSpPr/>
          <p:nvPr/>
        </p:nvCxnSpPr>
        <p:spPr bwMode="auto">
          <a:xfrm>
            <a:off x="360824" y="5966298"/>
            <a:ext cx="1235413" cy="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02534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Example: How to decode the add instruction?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25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104EA9-E201-4010-ACD0-2AAA895C5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14" y="969158"/>
            <a:ext cx="9516803" cy="528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37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0673" y="58739"/>
            <a:ext cx="9025379" cy="901700"/>
          </a:xfrm>
        </p:spPr>
        <p:txBody>
          <a:bodyPr/>
          <a:lstStyle/>
          <a:p>
            <a:r>
              <a:rPr lang="en-US" altLang="zh-TW" dirty="0"/>
              <a:t>Drawback of Single-Cycle Design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2881" y="1125537"/>
            <a:ext cx="10209519" cy="4895851"/>
          </a:xfrm>
        </p:spPr>
        <p:txBody>
          <a:bodyPr/>
          <a:lstStyle/>
          <a:p>
            <a:r>
              <a:rPr lang="en-US" altLang="zh-TW" sz="2667" dirty="0"/>
              <a:t>Long cycle time</a:t>
            </a:r>
          </a:p>
          <a:p>
            <a:pPr lvl="1"/>
            <a:r>
              <a:rPr lang="en-US" altLang="zh-TW" sz="2400" dirty="0"/>
              <a:t>Cycle time must be long enough for the load instruction (the one with longest cycle time)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PC’s Clock-to-Q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Instruction Memory Access Time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Register File Access Time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ALU Delay (address calculation)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Data Memory Access Time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Register File Setup Time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Clock Skew</a:t>
            </a:r>
          </a:p>
          <a:p>
            <a:r>
              <a:rPr lang="en-US" altLang="zh-TW" sz="2667" dirty="0"/>
              <a:t>Cycle time for load is much longer than needed for all other instructions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400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183" y="58739"/>
            <a:ext cx="9045869" cy="901700"/>
          </a:xfrm>
        </p:spPr>
        <p:txBody>
          <a:bodyPr/>
          <a:lstStyle/>
          <a:p>
            <a:r>
              <a:rPr lang="en-US" altLang="zh-TW" dirty="0"/>
              <a:t>Summary of Single Cycle RV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4268" y="1067173"/>
            <a:ext cx="9534414" cy="4341406"/>
          </a:xfrm>
          <a:noFill/>
        </p:spPr>
        <p:txBody>
          <a:bodyPr vert="horz" wrap="square" lIns="92075" tIns="46039" rIns="92075" bIns="46039" numCol="1" anchor="t" anchorCtr="0" compatLnSpc="1"/>
          <a:lstStyle/>
          <a:p>
            <a:r>
              <a:rPr lang="en-US" altLang="zh-TW" sz="2800" dirty="0"/>
              <a:t>Single cycle </a:t>
            </a:r>
            <a:r>
              <a:rPr lang="en-US" altLang="zh-TW" sz="2800" dirty="0" err="1"/>
              <a:t>datapath</a:t>
            </a:r>
            <a:r>
              <a:rPr lang="en-US" altLang="zh-TW" sz="2800" dirty="0"/>
              <a:t> means CPI=1, but </a:t>
            </a:r>
          </a:p>
          <a:p>
            <a:pPr marL="0" indent="0">
              <a:buNone/>
            </a:pPr>
            <a:r>
              <a:rPr lang="en-US" altLang="zh-TW" sz="2800" dirty="0"/>
              <a:t>	the clock cycle time is long</a:t>
            </a:r>
          </a:p>
          <a:p>
            <a:r>
              <a:rPr lang="en-US" altLang="zh-TW" sz="2800" dirty="0"/>
              <a:t>RISC-V simplifies control implementation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/>
              <a:t>Fixed size Instructions 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/>
              <a:t>Regular format: source registers (rs1 and rs2) are always in the same places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 err="1"/>
              <a:t>Immediates</a:t>
            </a:r>
            <a:r>
              <a:rPr lang="en-US" altLang="zh-TW" sz="2800" dirty="0"/>
              <a:t> have the same size (12b or 20b)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/>
              <a:t>Operations are always computed on registers/</a:t>
            </a:r>
            <a:r>
              <a:rPr lang="en-US" altLang="zh-TW" sz="2800" dirty="0" err="1"/>
              <a:t>immediates</a:t>
            </a:r>
            <a:endParaRPr lang="en-US" altLang="zh-TW" sz="2800" dirty="0"/>
          </a:p>
          <a:p>
            <a:pPr>
              <a:spcBef>
                <a:spcPct val="10000"/>
              </a:spcBef>
              <a:buSzPct val="150000"/>
              <a:buFont typeface="Arial" panose="020B0604020202020204" pitchFamily="34" charset="0"/>
              <a:buChar char="•"/>
            </a:pPr>
            <a:r>
              <a:rPr lang="en-US" altLang="zh-TW" sz="2800" dirty="0"/>
              <a:t>RISC-V simplifies designs, lower the cost of design and test.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6c231c6-a651-49cc-821b-939eac6ad2f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7076314-fb44-4d3c-800d-7a66d3767d64}"/>
</p:tagLst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anose="02010601000101010101" pitchFamily="65" charset="-120"/>
            <a:cs typeface="Calibri" panose="020F07020304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10749</TotalTime>
  <Words>1801</Words>
  <Application>Microsoft Office PowerPoint</Application>
  <PresentationFormat>Widescreen</PresentationFormat>
  <Paragraphs>635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MS Sans Serif</vt:lpstr>
      <vt:lpstr>华文楷体</vt:lpstr>
      <vt:lpstr>Arial</vt:lpstr>
      <vt:lpstr>Calibri</vt:lpstr>
      <vt:lpstr>Calibri Light</vt:lpstr>
      <vt:lpstr>Century Gothic</vt:lpstr>
      <vt:lpstr>Courier New</vt:lpstr>
      <vt:lpstr>Times New Roman</vt:lpstr>
      <vt:lpstr>Wingdings</vt:lpstr>
      <vt:lpstr>NTHU UniCloud</vt:lpstr>
      <vt:lpstr>自訂設計</vt:lpstr>
      <vt:lpstr>1_NTHU UniCloud</vt:lpstr>
      <vt:lpstr>CSC3050 – Computer Architecture  Chapter 4 The Processor Part II</vt:lpstr>
      <vt:lpstr>A Single Cycle Data Path</vt:lpstr>
      <vt:lpstr>Control Points and Signals</vt:lpstr>
      <vt:lpstr>Step 4 - Control Points and Signals</vt:lpstr>
      <vt:lpstr>High Level Control Signal Expressions</vt:lpstr>
      <vt:lpstr>Step 5a - ALU Control</vt:lpstr>
      <vt:lpstr>ALU Control (1)</vt:lpstr>
      <vt:lpstr>ALU Control (2) </vt:lpstr>
      <vt:lpstr>Truth Table for ALUctr</vt:lpstr>
      <vt:lpstr>Truth Table for ALUctr</vt:lpstr>
      <vt:lpstr>From Truth Table to Logic Gate Expression</vt:lpstr>
      <vt:lpstr>From Truth Table to Logic Gate Expression</vt:lpstr>
      <vt:lpstr>Logic Equation for ALUctr2 (1)</vt:lpstr>
      <vt:lpstr>Logic Equation for ALUctr2 (2)</vt:lpstr>
      <vt:lpstr>A More Complete RV32I Single Cycle Data Path</vt:lpstr>
      <vt:lpstr>A More Complete RV32I Single Cycle Data Path</vt:lpstr>
      <vt:lpstr>A More Complete RV32I Single Cycle Data Path</vt:lpstr>
      <vt:lpstr>Example: SW X2, offset(X1)</vt:lpstr>
      <vt:lpstr>Example: BEQ X1,X2, immediate</vt:lpstr>
      <vt:lpstr>A RV32I Single Cycle Processor</vt:lpstr>
      <vt:lpstr>Questions Raised </vt:lpstr>
      <vt:lpstr>Truth Table for ALUctr</vt:lpstr>
      <vt:lpstr>RV32I Control Logic Truth Table</vt:lpstr>
      <vt:lpstr>RV32I: 9 bits in Instruction drive the control</vt:lpstr>
      <vt:lpstr>Example: How to decode the add instruction?</vt:lpstr>
      <vt:lpstr>Drawback of Single-Cycle Design</vt:lpstr>
      <vt:lpstr>Summary of Single Cycle RV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245</cp:revision>
  <dcterms:created xsi:type="dcterms:W3CDTF">2020-07-15T11:13:39Z</dcterms:created>
  <dcterms:modified xsi:type="dcterms:W3CDTF">2024-10-31T01:46:15Z</dcterms:modified>
</cp:coreProperties>
</file>