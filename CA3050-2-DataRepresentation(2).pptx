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95" r:id="rId2"/>
    <p:sldId id="277" r:id="rId3"/>
    <p:sldId id="448" r:id="rId4"/>
    <p:sldId id="445" r:id="rId5"/>
    <p:sldId id="460" r:id="rId6"/>
    <p:sldId id="447" r:id="rId7"/>
    <p:sldId id="323" r:id="rId8"/>
    <p:sldId id="325" r:id="rId9"/>
    <p:sldId id="461" r:id="rId10"/>
    <p:sldId id="446" r:id="rId11"/>
    <p:sldId id="451" r:id="rId12"/>
    <p:sldId id="452" r:id="rId13"/>
    <p:sldId id="459" r:id="rId14"/>
    <p:sldId id="453" r:id="rId15"/>
    <p:sldId id="455" r:id="rId16"/>
    <p:sldId id="450" r:id="rId17"/>
    <p:sldId id="326" r:id="rId18"/>
    <p:sldId id="328" r:id="rId19"/>
    <p:sldId id="457" r:id="rId20"/>
    <p:sldId id="331" r:id="rId21"/>
    <p:sldId id="332" r:id="rId22"/>
    <p:sldId id="330" r:id="rId23"/>
    <p:sldId id="327" r:id="rId24"/>
    <p:sldId id="439" r:id="rId25"/>
    <p:sldId id="440" r:id="rId26"/>
    <p:sldId id="464" r:id="rId27"/>
    <p:sldId id="463" r:id="rId28"/>
    <p:sldId id="458" r:id="rId29"/>
    <p:sldId id="329" r:id="rId30"/>
    <p:sldId id="441" r:id="rId31"/>
    <p:sldId id="456" r:id="rId32"/>
    <p:sldId id="442" r:id="rId33"/>
    <p:sldId id="465" r:id="rId34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4">
          <p15:clr>
            <a:srgbClr val="A4A3A4"/>
          </p15:clr>
        </p15:guide>
        <p15:guide id="2" pos="2888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633869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312" y="102"/>
      </p:cViewPr>
      <p:guideLst>
        <p:guide orient="horz" pos="2124"/>
        <p:guide pos="2888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t>2025/2/10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t>2025/2/10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C, non-zero is true</a:t>
            </a:r>
          </a:p>
          <a:p>
            <a:r>
              <a:rPr lang="en-US" dirty="0"/>
              <a:t>This course only require students to do RVI32 machines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012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 music, video, audio, money,…VR, … digital world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65887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C, non-zero is true</a:t>
            </a:r>
          </a:p>
          <a:p>
            <a:r>
              <a:rPr lang="en-US" dirty="0"/>
              <a:t>This course only require students to do RVI32 machines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05757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48067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two only allows 0 and 1 two digits, base 10 allows 0 to 9, 10 digits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2117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10</a:t>
            </a:r>
            <a:r>
              <a:rPr lang="zh-CN" altLang="en-US"/>
              <a:t>的</a:t>
            </a:r>
            <a:r>
              <a:rPr lang="en-US" altLang="zh-CN"/>
              <a:t>3</a:t>
            </a:r>
            <a:r>
              <a:rPr lang="zh-CN" altLang="en-US"/>
              <a:t>次幂： </a:t>
            </a:r>
            <a:r>
              <a:rPr lang="en-US" altLang="zh-CN"/>
              <a:t>ten to the power of three</a:t>
            </a:r>
          </a:p>
          <a:p>
            <a:r>
              <a:rPr lang="zh-CN" altLang="en-US"/>
              <a:t>乘以： </a:t>
            </a:r>
            <a:r>
              <a:rPr lang="en-US" altLang="zh-CN"/>
              <a:t>multiply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36</a:t>
            </a:r>
            <a:r>
              <a:rPr lang="en-US" baseline="-25000" dirty="0"/>
              <a:t>8</a:t>
            </a:r>
            <a:r>
              <a:rPr lang="en-US" baseline="0" dirty="0"/>
              <a:t>=011 110</a:t>
            </a:r>
            <a:r>
              <a:rPr lang="en-US" baseline="-25000" dirty="0"/>
              <a:t>2</a:t>
            </a:r>
            <a:endParaRPr lang="en-US" baseline="0" dirty="0"/>
          </a:p>
          <a:p>
            <a:r>
              <a:rPr lang="en-US" baseline="0" dirty="0"/>
              <a:t>36</a:t>
            </a:r>
            <a:r>
              <a:rPr lang="en-US" baseline="-25000" dirty="0"/>
              <a:t>10</a:t>
            </a:r>
            <a:r>
              <a:rPr lang="en-US" baseline="0" dirty="0"/>
              <a:t>=100100</a:t>
            </a:r>
            <a:r>
              <a:rPr lang="en-US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886825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Address range of 32b? 1-4GB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47477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36</a:t>
            </a:r>
            <a:r>
              <a:rPr lang="en-US" baseline="-25000" dirty="0"/>
              <a:t>8</a:t>
            </a:r>
            <a:r>
              <a:rPr lang="en-US" baseline="0" dirty="0"/>
              <a:t>=011 110</a:t>
            </a:r>
            <a:r>
              <a:rPr lang="en-US" baseline="-25000" dirty="0"/>
              <a:t>2</a:t>
            </a:r>
            <a:endParaRPr lang="en-US" baseline="0" dirty="0"/>
          </a:p>
          <a:p>
            <a:r>
              <a:rPr lang="en-US" baseline="0" dirty="0"/>
              <a:t>36</a:t>
            </a:r>
            <a:r>
              <a:rPr lang="en-US" baseline="-25000" dirty="0"/>
              <a:t>10</a:t>
            </a:r>
            <a:r>
              <a:rPr lang="en-US" baseline="0" dirty="0"/>
              <a:t>=100100</a:t>
            </a:r>
            <a:r>
              <a:rPr lang="en-US" baseline="-25000" dirty="0"/>
              <a:t>2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36</a:t>
            </a:r>
            <a:r>
              <a:rPr lang="en-US" baseline="-25000" dirty="0"/>
              <a:t>8</a:t>
            </a:r>
            <a:r>
              <a:rPr lang="en-US" baseline="0" dirty="0"/>
              <a:t>=011 110</a:t>
            </a:r>
            <a:r>
              <a:rPr lang="en-US" baseline="-25000" dirty="0"/>
              <a:t>2</a:t>
            </a:r>
            <a:endParaRPr lang="en-US" baseline="0" dirty="0"/>
          </a:p>
          <a:p>
            <a:r>
              <a:rPr lang="en-US" baseline="0" dirty="0"/>
              <a:t>36</a:t>
            </a:r>
            <a:r>
              <a:rPr lang="en-US" baseline="-25000" dirty="0"/>
              <a:t>10</a:t>
            </a:r>
            <a:r>
              <a:rPr lang="en-US" baseline="0" dirty="0"/>
              <a:t>=100100</a:t>
            </a:r>
            <a:r>
              <a:rPr lang="en-US" baseline="-25000" dirty="0"/>
              <a:t>2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two's complement representation: </a:t>
            </a:r>
            <a:r>
              <a:rPr lang="zh-CN" altLang="en-US">
                <a:sym typeface="+mn-ea"/>
              </a:rPr>
              <a:t>二进制的补码表示法</a:t>
            </a:r>
            <a:endParaRPr lang="zh-CN" altLang="en-US"/>
          </a:p>
          <a:p>
            <a:r>
              <a:rPr lang="zh-CN" altLang="en-US">
                <a:sym typeface="+mn-ea"/>
              </a:rPr>
              <a:t>原码</a:t>
            </a:r>
            <a:r>
              <a:rPr lang="en-US" altLang="zh-CN">
                <a:sym typeface="+mn-ea"/>
              </a:rPr>
              <a:t>Original code</a:t>
            </a:r>
            <a:r>
              <a:rPr lang="zh-CN" altLang="en-US">
                <a:sym typeface="+mn-ea"/>
              </a:rPr>
              <a:t>：原码表示法是整数的一种简单的表示法，符号位用0表示正号，用1表示负号，数值一般用二进制形式表示。</a:t>
            </a:r>
            <a:endParaRPr lang="zh-CN" altLang="en-US"/>
          </a:p>
          <a:p>
            <a:r>
              <a:rPr lang="zh-CN" altLang="en-US">
                <a:sym typeface="+mn-ea"/>
              </a:rPr>
              <a:t>反码</a:t>
            </a:r>
            <a:r>
              <a:rPr lang="en-US" altLang="zh-CN">
                <a:sym typeface="+mn-ea"/>
              </a:rPr>
              <a:t>Inverse code</a:t>
            </a:r>
            <a:r>
              <a:rPr lang="zh-CN" altLang="en-US">
                <a:sym typeface="+mn-ea"/>
              </a:rPr>
              <a:t>：整数的反码可由原码得到，如果是正数，则反码与原码一样；如果是负数，则反码是对它的原码（符号位除外）各位取反而得到的。</a:t>
            </a:r>
            <a:endParaRPr lang="zh-CN" altLang="en-US"/>
          </a:p>
          <a:p>
            <a:r>
              <a:rPr lang="zh-CN" altLang="en-US">
                <a:sym typeface="+mn-ea"/>
              </a:rPr>
              <a:t>补码</a:t>
            </a:r>
            <a:r>
              <a:rPr lang="en-US" altLang="zh-CN">
                <a:sym typeface="+mn-ea"/>
              </a:rPr>
              <a:t>Complement code</a:t>
            </a:r>
            <a:r>
              <a:rPr lang="zh-CN" altLang="en-US">
                <a:sym typeface="+mn-ea"/>
              </a:rPr>
              <a:t>：整数的补码可由原码得到。如果是正数，则补码与原码一样；如果是负数，则补码是在反码基础上，末位加1而得到。</a:t>
            </a:r>
            <a:endParaRPr lang="zh-CN" altLang="en-US"/>
          </a:p>
          <a:p>
            <a:r>
              <a:rPr lang="zh-CN" altLang="en-US">
                <a:sym typeface="+mn-ea"/>
              </a:rPr>
              <a:t>二进制数的相反数规则是取反加</a:t>
            </a:r>
            <a:r>
              <a:rPr lang="en-US" altLang="zh-CN">
                <a:sym typeface="+mn-ea"/>
              </a:rPr>
              <a:t>1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two's complement representation: </a:t>
            </a:r>
            <a:r>
              <a:rPr lang="zh-CN" altLang="en-US" dirty="0">
                <a:sym typeface="+mn-ea"/>
              </a:rPr>
              <a:t>二进制的补码表示法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原码</a:t>
            </a:r>
            <a:r>
              <a:rPr lang="en-US" altLang="zh-CN" dirty="0">
                <a:sym typeface="+mn-ea"/>
              </a:rPr>
              <a:t>Original code</a:t>
            </a:r>
            <a:r>
              <a:rPr lang="zh-CN" altLang="en-US" dirty="0">
                <a:sym typeface="+mn-ea"/>
              </a:rPr>
              <a:t>：原码表示法是整数的一种简单的表示法，符号位用0表示正号，用1表示负号，数值一般用二进制形式表示。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反码</a:t>
            </a:r>
            <a:r>
              <a:rPr lang="en-US" altLang="zh-CN" dirty="0">
                <a:sym typeface="+mn-ea"/>
              </a:rPr>
              <a:t>Inverse code</a:t>
            </a:r>
            <a:r>
              <a:rPr lang="zh-CN" altLang="en-US" dirty="0">
                <a:sym typeface="+mn-ea"/>
              </a:rPr>
              <a:t>：整数的反码可由原码得到，如果是正数，则反码与原码一样；如果是负数，则反码是对它的原码（符号位除外）各位取反而得到的。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补码</a:t>
            </a:r>
            <a:r>
              <a:rPr lang="en-US" altLang="zh-CN" dirty="0">
                <a:sym typeface="+mn-ea"/>
              </a:rPr>
              <a:t>Complement code</a:t>
            </a:r>
            <a:r>
              <a:rPr lang="zh-CN" altLang="en-US" dirty="0">
                <a:sym typeface="+mn-ea"/>
              </a:rPr>
              <a:t>：整数的补码可由原码得到。如果是正数，则补码与原码一样；如果是负数，则补码是在反码基础上，末位加1而得到。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二进制数的相反数规则是取反加</a:t>
            </a:r>
            <a:r>
              <a:rPr lang="en-US" altLang="zh-CN" dirty="0">
                <a:sym typeface="+mn-ea"/>
              </a:rPr>
              <a:t>1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2840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two's complement representation: </a:t>
            </a:r>
            <a:r>
              <a:rPr lang="zh-CN" altLang="en-US" dirty="0">
                <a:sym typeface="+mn-ea"/>
              </a:rPr>
              <a:t>二进制的补码表示法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原码</a:t>
            </a:r>
            <a:r>
              <a:rPr lang="en-US" altLang="zh-CN" dirty="0">
                <a:sym typeface="+mn-ea"/>
              </a:rPr>
              <a:t>Original code</a:t>
            </a:r>
            <a:r>
              <a:rPr lang="zh-CN" altLang="en-US" dirty="0">
                <a:sym typeface="+mn-ea"/>
              </a:rPr>
              <a:t>：原码表示法是整数的一种简单的表示法，符号位用0表示正号，用1表示负号，数值一般用二进制形式表示。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反码</a:t>
            </a:r>
            <a:r>
              <a:rPr lang="en-US" altLang="zh-CN" dirty="0">
                <a:sym typeface="+mn-ea"/>
              </a:rPr>
              <a:t>Inverse code</a:t>
            </a:r>
            <a:r>
              <a:rPr lang="zh-CN" altLang="en-US" dirty="0">
                <a:sym typeface="+mn-ea"/>
              </a:rPr>
              <a:t>：整数的反码可由原码得到，如果是正数，则反码与原码一样；如果是负数，则反码是对它的原码（符号位除外）各位取反而得到的。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补码</a:t>
            </a:r>
            <a:r>
              <a:rPr lang="en-US" altLang="zh-CN" dirty="0">
                <a:sym typeface="+mn-ea"/>
              </a:rPr>
              <a:t>Complement code</a:t>
            </a:r>
            <a:r>
              <a:rPr lang="zh-CN" altLang="en-US" dirty="0">
                <a:sym typeface="+mn-ea"/>
              </a:rPr>
              <a:t>：整数的补码可由原码得到。如果是正数，则补码与原码一样；如果是负数，则补码是在反码基础上，末位加1而得到。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二进制数的相反数规则是取反加</a:t>
            </a:r>
            <a:r>
              <a:rPr lang="en-US" altLang="zh-CN" dirty="0">
                <a:sym typeface="+mn-ea"/>
              </a:rPr>
              <a:t>1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45414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In 2’s complement, the carry out is not an overflow. Overflow is only considered when the two signs are equal.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64286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two's complement representation: </a:t>
            </a:r>
            <a:r>
              <a:rPr lang="zh-CN" altLang="en-US" dirty="0"/>
              <a:t>二进制的补码表示法</a:t>
            </a:r>
          </a:p>
          <a:p>
            <a:r>
              <a:rPr lang="zh-CN" altLang="en-US" dirty="0"/>
              <a:t>原码</a:t>
            </a:r>
            <a:r>
              <a:rPr lang="en-US" altLang="zh-CN" dirty="0"/>
              <a:t>Original code</a:t>
            </a:r>
            <a:r>
              <a:rPr lang="zh-CN" altLang="en-US" dirty="0"/>
              <a:t>：原码表示法是整数的一种简单的表示法，符号位用0表示正号，用1表示负号，数值一般用二进制形式表示。</a:t>
            </a:r>
          </a:p>
          <a:p>
            <a:r>
              <a:rPr lang="zh-CN" altLang="en-US" dirty="0"/>
              <a:t>反码</a:t>
            </a:r>
            <a:r>
              <a:rPr lang="en-US" altLang="zh-CN" dirty="0"/>
              <a:t>Inverse code</a:t>
            </a:r>
            <a:r>
              <a:rPr lang="zh-CN" altLang="en-US" dirty="0"/>
              <a:t>：整数的反码可由原码得到，如果是正数，则反码与原码一样；如果是负数，则反码是对它的原码（符号位除外）各位取反而得到的。</a:t>
            </a:r>
          </a:p>
          <a:p>
            <a:r>
              <a:rPr lang="zh-CN" altLang="en-US" dirty="0"/>
              <a:t>补码</a:t>
            </a:r>
            <a:r>
              <a:rPr lang="en-US" altLang="zh-CN" dirty="0"/>
              <a:t>Complement code</a:t>
            </a:r>
            <a:r>
              <a:rPr lang="zh-CN" altLang="en-US" dirty="0"/>
              <a:t>：整数的补码可由原码得到。如果是正数，则补码与原码一样；如果是负数，则补码是在反码基础上，末位加1而得到。</a:t>
            </a:r>
          </a:p>
          <a:p>
            <a:r>
              <a:rPr lang="zh-CN" altLang="en-US" dirty="0"/>
              <a:t>二进制数的相反数规则是取反加</a:t>
            </a:r>
            <a:r>
              <a:rPr lang="en-US" altLang="zh-CN" dirty="0"/>
              <a:t>1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aseline="-25000" dirty="0"/>
              <a:t>最大的数是</a:t>
            </a:r>
            <a:r>
              <a:rPr lang="en-US" altLang="zh-CN" baseline="-25000" dirty="0"/>
              <a:t>2</a:t>
            </a:r>
            <a:r>
              <a:rPr lang="zh-CN" altLang="en-US" baseline="-25000" dirty="0"/>
              <a:t>的</a:t>
            </a:r>
            <a:r>
              <a:rPr lang="en-US" altLang="zh-CN" baseline="-25000" dirty="0"/>
              <a:t>n</a:t>
            </a:r>
            <a:r>
              <a:rPr lang="zh-CN" altLang="en-US" baseline="-25000" dirty="0"/>
              <a:t>次方</a:t>
            </a:r>
            <a:r>
              <a:rPr lang="en-US" altLang="zh-CN" baseline="-25000" dirty="0"/>
              <a:t>-1</a:t>
            </a:r>
            <a:r>
              <a:rPr lang="zh-CN" altLang="en-US" baseline="-25000" dirty="0"/>
              <a:t>，最小的数是</a:t>
            </a:r>
            <a:r>
              <a:rPr lang="en-US" altLang="zh-CN" baseline="-25000" dirty="0"/>
              <a:t>-2</a:t>
            </a:r>
            <a:r>
              <a:rPr lang="zh-CN" altLang="en-US" baseline="-25000" dirty="0"/>
              <a:t>的</a:t>
            </a:r>
            <a:r>
              <a:rPr lang="en-US" altLang="zh-CN" baseline="-25000" dirty="0"/>
              <a:t>n</a:t>
            </a:r>
            <a:r>
              <a:rPr lang="zh-CN" altLang="en-US" baseline="-25000" dirty="0"/>
              <a:t>次方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aseline="-25000" dirty="0"/>
              <a:t>最大的数是</a:t>
            </a:r>
            <a:r>
              <a:rPr lang="en-US" altLang="zh-CN" baseline="-25000" dirty="0"/>
              <a:t>2</a:t>
            </a:r>
            <a:r>
              <a:rPr lang="zh-CN" altLang="en-US" baseline="-25000" dirty="0"/>
              <a:t>的</a:t>
            </a:r>
            <a:r>
              <a:rPr lang="en-US" altLang="zh-CN" baseline="-25000" dirty="0"/>
              <a:t>n</a:t>
            </a:r>
            <a:r>
              <a:rPr lang="zh-CN" altLang="en-US" baseline="-25000" dirty="0"/>
              <a:t>次方</a:t>
            </a:r>
            <a:r>
              <a:rPr lang="en-US" altLang="zh-CN" baseline="-25000" dirty="0"/>
              <a:t>-1</a:t>
            </a:r>
            <a:r>
              <a:rPr lang="zh-CN" altLang="en-US" baseline="-25000" dirty="0"/>
              <a:t>，最小的数是</a:t>
            </a:r>
            <a:r>
              <a:rPr lang="en-US" altLang="zh-CN" baseline="-25000" dirty="0"/>
              <a:t>-2</a:t>
            </a:r>
            <a:r>
              <a:rPr lang="zh-CN" altLang="en-US" baseline="-25000" dirty="0"/>
              <a:t>的</a:t>
            </a:r>
            <a:r>
              <a:rPr lang="en-US" altLang="zh-CN" baseline="-25000" dirty="0"/>
              <a:t>n</a:t>
            </a:r>
            <a:r>
              <a:rPr lang="zh-CN" altLang="en-US" baseline="-25000" dirty="0"/>
              <a:t>次方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aseline="-25000" dirty="0"/>
              <a:t>最大的数是</a:t>
            </a:r>
            <a:r>
              <a:rPr lang="en-US" altLang="zh-CN" baseline="-25000" dirty="0"/>
              <a:t>2</a:t>
            </a:r>
            <a:r>
              <a:rPr lang="zh-CN" altLang="en-US" baseline="-25000" dirty="0"/>
              <a:t>的</a:t>
            </a:r>
            <a:r>
              <a:rPr lang="en-US" altLang="zh-CN" baseline="-25000" dirty="0"/>
              <a:t>n</a:t>
            </a:r>
            <a:r>
              <a:rPr lang="zh-CN" altLang="en-US" baseline="-25000" dirty="0"/>
              <a:t>次方</a:t>
            </a:r>
            <a:r>
              <a:rPr lang="en-US" altLang="zh-CN" baseline="-25000" dirty="0"/>
              <a:t>-1</a:t>
            </a:r>
            <a:r>
              <a:rPr lang="zh-CN" altLang="en-US" baseline="-25000" dirty="0"/>
              <a:t>，最小的数是</a:t>
            </a:r>
            <a:r>
              <a:rPr lang="en-US" altLang="zh-CN" baseline="-25000" dirty="0"/>
              <a:t>-2</a:t>
            </a:r>
            <a:r>
              <a:rPr lang="zh-CN" altLang="en-US" baseline="-25000" dirty="0"/>
              <a:t>的</a:t>
            </a:r>
            <a:r>
              <a:rPr lang="en-US" altLang="zh-CN" baseline="-25000" dirty="0"/>
              <a:t>n</a:t>
            </a:r>
            <a:r>
              <a:rPr lang="zh-CN" altLang="en-US" baseline="-25000" dirty="0"/>
              <a:t>次方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aseline="-25000" dirty="0"/>
              <a:t>最大的数是</a:t>
            </a:r>
            <a:r>
              <a:rPr lang="en-US" altLang="zh-CN" baseline="-25000" dirty="0"/>
              <a:t>2</a:t>
            </a:r>
            <a:r>
              <a:rPr lang="zh-CN" altLang="en-US" baseline="-25000" dirty="0"/>
              <a:t>的</a:t>
            </a:r>
            <a:r>
              <a:rPr lang="en-US" altLang="zh-CN" baseline="-25000" dirty="0"/>
              <a:t>n</a:t>
            </a:r>
            <a:r>
              <a:rPr lang="zh-CN" altLang="en-US" baseline="-25000" dirty="0"/>
              <a:t>次方</a:t>
            </a:r>
            <a:r>
              <a:rPr lang="en-US" altLang="zh-CN" baseline="-25000" dirty="0"/>
              <a:t>-1</a:t>
            </a:r>
            <a:r>
              <a:rPr lang="zh-CN" altLang="en-US" baseline="-25000" dirty="0"/>
              <a:t>，最小的数是</a:t>
            </a:r>
            <a:r>
              <a:rPr lang="en-US" altLang="zh-CN" baseline="-25000" dirty="0"/>
              <a:t>-2</a:t>
            </a:r>
            <a:r>
              <a:rPr lang="zh-CN" altLang="en-US" baseline="-25000" dirty="0"/>
              <a:t>的</a:t>
            </a:r>
            <a:r>
              <a:rPr lang="en-US" altLang="zh-CN" baseline="-25000" dirty="0"/>
              <a:t>n</a:t>
            </a:r>
            <a:r>
              <a:rPr lang="zh-CN" altLang="en-US" baseline="-25000" dirty="0"/>
              <a:t>次方</a:t>
            </a:r>
          </a:p>
        </p:txBody>
      </p:sp>
    </p:spTree>
    <p:extLst>
      <p:ext uri="{BB962C8B-B14F-4D97-AF65-F5344CB8AC3E}">
        <p14:creationId xmlns:p14="http://schemas.microsoft.com/office/powerpoint/2010/main" val="749778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4pPr>
            <a:lvl5pPr>
              <a:defRPr sz="1600"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 hasCustomPrompt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633869"/>
          </a:solidFill>
          <a:ln w="1587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 sz="1350">
              <a:ea typeface="PMingLiU" panose="02020500000000000000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633869"/>
          </a:solidFill>
          <a:ln w="1587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 sz="1350">
              <a:ea typeface="PMingLiU" panose="02020500000000000000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solidFill>
                  <a:schemeClr val="bg1"/>
                </a:solidFill>
                <a:latin typeface="Arial" panose="020B0604020202020204" pitchFamily="34" charset="0"/>
                <a:ea typeface="PMingLiU" panose="02020500000000000000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4">
            <a:extLst>
              <a:ext uri="{FF2B5EF4-FFF2-40B4-BE49-F238E27FC236}">
                <a16:creationId xmlns:a16="http://schemas.microsoft.com/office/drawing/2014/main" id="{562F709C-A922-4C31-9729-F430EF61FF0B}"/>
              </a:ext>
            </a:extLst>
          </p:cNvPr>
          <p:cNvSpPr/>
          <p:nvPr userDrawn="1"/>
        </p:nvSpPr>
        <p:spPr>
          <a:xfrm>
            <a:off x="694904" y="4678027"/>
            <a:ext cx="273183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2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</a:t>
            </a:r>
            <a:r>
              <a:rPr kumimoji="0" lang="zh-CN" altLang="zh-TW" sz="12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学</a:t>
            </a:r>
            <a:r>
              <a:rPr lang="zh-CN" altLang="zh-TW" sz="12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院</a:t>
            </a:r>
            <a:endParaRPr lang="zh-TW" altLang="zh-TW" sz="1200" kern="1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CUHK</a:t>
            </a: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DengXian"/>
                <a:cs typeface="Times New Roman" panose="02020603050405020304" pitchFamily="18" charset="0"/>
              </a:rPr>
              <a:t>-SZ Sc</a:t>
            </a: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hool of Data Science</a:t>
            </a:r>
            <a:endParaRPr lang="zh-TW" altLang="zh-TW" sz="1000" kern="100" dirty="0">
              <a:solidFill>
                <a:schemeClr val="bg1"/>
              </a:solidFill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anose="020F0502020204030204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anose="020F0502020204030204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anose="020F0502020204030204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anose="020F0502020204030204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anose="020F0502020204030204" pitchFamily="34" charset="0"/>
          <a:ea typeface="標楷體" pitchFamily="65" charset="-120"/>
          <a:cs typeface="MS Sans Serif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kumimoji="1" sz="2250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kumimoji="1" sz="2250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kumimoji="1" sz="2250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kumimoji="1" sz="2250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rgbClr val="8064A2"/>
        </a:buClr>
        <a:buSzPct val="80000"/>
        <a:buFont typeface="Wingdings" panose="05000000000000000000" pitchFamily="2" charset="2"/>
        <a:buChar char="l"/>
        <a:defRPr kumimoji="1" sz="2800">
          <a:solidFill>
            <a:schemeClr val="tx1"/>
          </a:solidFill>
          <a:latin typeface="Calibri" panose="020F0502020204030204" pitchFamily="34" charset="0"/>
          <a:ea typeface="標楷體" pitchFamily="65" charset="-120"/>
          <a:cs typeface="+mn-cs"/>
        </a:defRPr>
      </a:lvl1pPr>
      <a:lvl2pPr marL="556895" indent="-213995" algn="l" rtl="0" eaLnBrk="1" fontAlgn="base" hangingPunct="1">
        <a:spcBef>
          <a:spcPct val="20000"/>
        </a:spcBef>
        <a:spcAft>
          <a:spcPct val="0"/>
        </a:spcAft>
        <a:buClr>
          <a:srgbClr val="8064A2"/>
        </a:buClr>
        <a:buSzPct val="90000"/>
        <a:buFont typeface="Arial" panose="020B0604020202020204" pitchFamily="34" charset="0"/>
        <a:buChar char="–"/>
        <a:defRPr kumimoji="1" sz="2400">
          <a:solidFill>
            <a:schemeClr val="tx1"/>
          </a:solidFill>
          <a:latin typeface="Calibri" panose="020F0502020204030204" pitchFamily="34" charset="0"/>
          <a:ea typeface="標楷體" pitchFamily="65" charset="-12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16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26534"/>
            <a:ext cx="7772400" cy="1307066"/>
          </a:xfrm>
        </p:spPr>
        <p:txBody>
          <a:bodyPr/>
          <a:lstStyle/>
          <a:p>
            <a:pPr algn="ctr"/>
            <a:r>
              <a:rPr lang="en-US" altLang="zh-TW" sz="3600" dirty="0"/>
              <a:t>CSC3050 – Computer Architecture</a:t>
            </a:r>
            <a:b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altLang="zh-TW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736024"/>
            <a:ext cx="6400800" cy="1801796"/>
          </a:xfrm>
        </p:spPr>
        <p:txBody>
          <a:bodyPr/>
          <a:lstStyle/>
          <a:p>
            <a:r>
              <a:rPr lang="en-US" altLang="zh-TW" sz="3600" dirty="0"/>
              <a:t>Data Representations</a:t>
            </a:r>
          </a:p>
          <a:p>
            <a:endParaRPr lang="en-US" altLang="zh-TW" sz="2400" dirty="0"/>
          </a:p>
          <a:p>
            <a:r>
              <a:rPr lang="en-US" altLang="zh-TW" sz="2400" dirty="0"/>
              <a:t>Prof. Wei Chung Hsu</a:t>
            </a:r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Data Science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08349"/>
            <a:ext cx="7578410" cy="519113"/>
          </a:xfrm>
        </p:spPr>
        <p:txBody>
          <a:bodyPr>
            <a:normAutofit fontScale="90000"/>
          </a:bodyPr>
          <a:lstStyle/>
          <a:p>
            <a:r>
              <a:rPr lang="en-US" dirty="0"/>
              <a:t>Major Components of a Computer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667" y="829734"/>
            <a:ext cx="5350933" cy="3701626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0D89593-FE19-4E2F-9A30-A17C0EB1D953}"/>
              </a:ext>
            </a:extLst>
          </p:cNvPr>
          <p:cNvSpPr/>
          <p:nvPr/>
        </p:nvSpPr>
        <p:spPr bwMode="auto">
          <a:xfrm>
            <a:off x="956733" y="1001714"/>
            <a:ext cx="1032934" cy="598486"/>
          </a:xfrm>
          <a:prstGeom prst="ellipse">
            <a:avLst/>
          </a:prstGeom>
          <a:solidFill>
            <a:srgbClr val="FFFF00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b="1" dirty="0">
                <a:latin typeface="Arial" panose="020B0604020202090204" pitchFamily="34" charset="0"/>
                <a:ea typeface="新細明體" panose="02020500000000000000" pitchFamily="18" charset="-120"/>
              </a:rPr>
              <a:t>C</a:t>
            </a:r>
            <a:r>
              <a:rPr kumimoji="1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新細明體" panose="02020500000000000000" pitchFamily="18" charset="-120"/>
              </a:rPr>
              <a:t>ontrol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005368F-02B3-4568-AA11-330340119FB6}"/>
              </a:ext>
            </a:extLst>
          </p:cNvPr>
          <p:cNvCxnSpPr>
            <a:stCxn id="4" idx="5"/>
          </p:cNvCxnSpPr>
          <p:nvPr/>
        </p:nvCxnSpPr>
        <p:spPr bwMode="auto">
          <a:xfrm>
            <a:off x="1838397" y="1512554"/>
            <a:ext cx="1328136" cy="948669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709DB7A4-B37D-4B9C-B8FB-21219C6CE0F2}"/>
              </a:ext>
            </a:extLst>
          </p:cNvPr>
          <p:cNvSpPr/>
          <p:nvPr/>
        </p:nvSpPr>
        <p:spPr bwMode="auto">
          <a:xfrm>
            <a:off x="580813" y="3274122"/>
            <a:ext cx="1032934" cy="867663"/>
          </a:xfrm>
          <a:prstGeom prst="ellipse">
            <a:avLst/>
          </a:prstGeom>
          <a:solidFill>
            <a:srgbClr val="FFFF00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新細明體" panose="02020500000000000000" pitchFamily="18" charset="-120"/>
              </a:rPr>
              <a:t>Data</a:t>
            </a:r>
            <a:r>
              <a:rPr kumimoji="1" lang="en-US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新細明體" panose="02020500000000000000" pitchFamily="18" charset="-120"/>
              </a:rPr>
              <a:t>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b="1" baseline="0" dirty="0">
                <a:latin typeface="Arial" panose="020B0604020202090204" pitchFamily="34" charset="0"/>
                <a:ea typeface="新細明體" panose="02020500000000000000" pitchFamily="18" charset="-120"/>
              </a:rPr>
              <a:t>Path</a:t>
            </a:r>
            <a:endParaRPr kumimoji="1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新細明體" panose="02020500000000000000" pitchFamily="18" charset="-12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FEEBB0A-3B60-498C-A6D5-D3F9BF7F9092}"/>
              </a:ext>
            </a:extLst>
          </p:cNvPr>
          <p:cNvCxnSpPr>
            <a:cxnSpLocks/>
            <a:stCxn id="8" idx="6"/>
          </p:cNvCxnSpPr>
          <p:nvPr/>
        </p:nvCxnSpPr>
        <p:spPr bwMode="auto">
          <a:xfrm flipV="1">
            <a:off x="1613747" y="3144044"/>
            <a:ext cx="1739053" cy="563910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89EE8E1D-04CE-4899-85E7-A5A2DA4A976C}"/>
              </a:ext>
            </a:extLst>
          </p:cNvPr>
          <p:cNvSpPr/>
          <p:nvPr/>
        </p:nvSpPr>
        <p:spPr bwMode="auto">
          <a:xfrm>
            <a:off x="6891865" y="3583291"/>
            <a:ext cx="1852991" cy="1050929"/>
          </a:xfrm>
          <a:prstGeom prst="ellipse">
            <a:avLst/>
          </a:prstGeom>
          <a:solidFill>
            <a:srgbClr val="FFFF00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sz="2800" b="1" dirty="0">
                <a:latin typeface="Arial" panose="020B0604020202090204" pitchFamily="34" charset="0"/>
                <a:ea typeface="新細明體" panose="02020500000000000000" pitchFamily="18" charset="-120"/>
              </a:rPr>
              <a:t>Memory</a:t>
            </a:r>
            <a:endParaRPr kumimoji="1" 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新細明體" panose="02020500000000000000" pitchFamily="18" charset="-12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0426F21-1147-4C48-BEC1-B7212EB7F6F4}"/>
              </a:ext>
            </a:extLst>
          </p:cNvPr>
          <p:cNvCxnSpPr>
            <a:cxnSpLocks/>
            <a:stCxn id="13" idx="2"/>
          </p:cNvCxnSpPr>
          <p:nvPr/>
        </p:nvCxnSpPr>
        <p:spPr bwMode="auto">
          <a:xfrm flipH="1" flipV="1">
            <a:off x="5291669" y="4080934"/>
            <a:ext cx="1600196" cy="27822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8794B4DC-4B8E-4B5A-B2AC-A1EBC2FDC918}"/>
              </a:ext>
            </a:extLst>
          </p:cNvPr>
          <p:cNvSpPr/>
          <p:nvPr/>
        </p:nvSpPr>
        <p:spPr bwMode="auto">
          <a:xfrm>
            <a:off x="7305603" y="979783"/>
            <a:ext cx="1032934" cy="598486"/>
          </a:xfrm>
          <a:prstGeom prst="ellipse">
            <a:avLst/>
          </a:prstGeom>
          <a:solidFill>
            <a:srgbClr val="FFFF00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新細明體" panose="02020500000000000000" pitchFamily="18" charset="-120"/>
              </a:rPr>
              <a:t>Input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0FDEDB0-52E1-47E9-B05D-2475031B2C1A}"/>
              </a:ext>
            </a:extLst>
          </p:cNvPr>
          <p:cNvCxnSpPr>
            <a:cxnSpLocks/>
          </p:cNvCxnSpPr>
          <p:nvPr/>
        </p:nvCxnSpPr>
        <p:spPr bwMode="auto">
          <a:xfrm flipH="1">
            <a:off x="6654800" y="1512554"/>
            <a:ext cx="868399" cy="248113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7B51346A-E1B5-4270-88E9-562366630EF1}"/>
              </a:ext>
            </a:extLst>
          </p:cNvPr>
          <p:cNvSpPr/>
          <p:nvPr/>
        </p:nvSpPr>
        <p:spPr bwMode="auto">
          <a:xfrm>
            <a:off x="7625929" y="2685562"/>
            <a:ext cx="1032934" cy="598486"/>
          </a:xfrm>
          <a:prstGeom prst="ellipse">
            <a:avLst/>
          </a:prstGeom>
          <a:solidFill>
            <a:srgbClr val="FFFF00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b="1" dirty="0">
                <a:latin typeface="Arial" panose="020B0604020202090204" pitchFamily="34" charset="0"/>
                <a:ea typeface="新細明體" panose="02020500000000000000" pitchFamily="18" charset="-120"/>
              </a:rPr>
              <a:t>Out</a:t>
            </a:r>
            <a:r>
              <a:rPr kumimoji="1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新細明體" panose="02020500000000000000" pitchFamily="18" charset="-120"/>
              </a:rPr>
              <a:t>put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5FD2414-3C61-4F0F-A23A-E638402459E4}"/>
              </a:ext>
            </a:extLst>
          </p:cNvPr>
          <p:cNvCxnSpPr>
            <a:cxnSpLocks/>
            <a:stCxn id="21" idx="2"/>
          </p:cNvCxnSpPr>
          <p:nvPr/>
        </p:nvCxnSpPr>
        <p:spPr bwMode="auto">
          <a:xfrm flipH="1">
            <a:off x="6654800" y="2984805"/>
            <a:ext cx="971129" cy="558494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31846" y="108349"/>
            <a:ext cx="7643844" cy="519113"/>
          </a:xfrm>
        </p:spPr>
        <p:txBody>
          <a:bodyPr/>
          <a:lstStyle/>
          <a:p>
            <a:r>
              <a:rPr lang="en-US" sz="3200" dirty="0"/>
              <a:t>Memory are all bits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74171" y="728039"/>
            <a:ext cx="8795657" cy="3800418"/>
          </a:xfrm>
        </p:spPr>
        <p:txBody>
          <a:bodyPr/>
          <a:lstStyle/>
          <a:p>
            <a:r>
              <a:rPr lang="en-US" sz="1800" dirty="0"/>
              <a:t>Memory consists of bits represented as 0s and 1s.</a:t>
            </a:r>
          </a:p>
          <a:p>
            <a:r>
              <a:rPr lang="en-US" sz="1800" dirty="0"/>
              <a:t>These bits can represent various types of information, including:  </a:t>
            </a:r>
          </a:p>
          <a:p>
            <a:pPr marL="0" indent="0">
              <a:buNone/>
            </a:pPr>
            <a:r>
              <a:rPr lang="en-US" sz="1800" dirty="0"/>
              <a:t>	- </a:t>
            </a:r>
            <a:r>
              <a:rPr lang="en-US" sz="1500" dirty="0"/>
              <a:t>Instructions  </a:t>
            </a:r>
          </a:p>
          <a:p>
            <a:pPr marL="0" indent="0">
              <a:buNone/>
            </a:pPr>
            <a:r>
              <a:rPr lang="en-US" sz="1500" dirty="0"/>
              <a:t>	- Character strings  </a:t>
            </a:r>
          </a:p>
          <a:p>
            <a:pPr marL="0" indent="0">
              <a:buNone/>
            </a:pPr>
            <a:r>
              <a:rPr lang="en-US" sz="1500" dirty="0"/>
              <a:t>	- Integer numbers  </a:t>
            </a:r>
          </a:p>
          <a:p>
            <a:pPr marL="0" indent="0">
              <a:buNone/>
            </a:pPr>
            <a:r>
              <a:rPr lang="en-US" sz="1500" dirty="0"/>
              <a:t>	- Floating-point numbers  </a:t>
            </a:r>
          </a:p>
          <a:p>
            <a:pPr marL="0" indent="0">
              <a:buNone/>
            </a:pPr>
            <a:r>
              <a:rPr lang="en-US" sz="1500" dirty="0"/>
              <a:t>	- Media data, such as colors and audio  </a:t>
            </a:r>
          </a:p>
          <a:p>
            <a:pPr marL="0" indent="0">
              <a:buNone/>
            </a:pPr>
            <a:r>
              <a:rPr lang="en-US" sz="1500" dirty="0"/>
              <a:t>	- Structured data  </a:t>
            </a:r>
          </a:p>
          <a:p>
            <a:pPr marL="0" indent="0">
              <a:buNone/>
            </a:pPr>
            <a:r>
              <a:rPr lang="en-US" sz="1500" dirty="0"/>
              <a:t>	- Arrays</a:t>
            </a:r>
          </a:p>
          <a:p>
            <a:pPr>
              <a:buSzPct val="156000"/>
              <a:buFont typeface="Arial" panose="020B0604020202020204" pitchFamily="34" charset="0"/>
              <a:buChar char="•"/>
            </a:pPr>
            <a:r>
              <a:rPr lang="en-US" sz="1600" dirty="0"/>
              <a:t>Memory is usually addressed by bytes (8bits), though some machines may use word (32bits) or double word (64bits) addressing.</a:t>
            </a:r>
          </a:p>
          <a:p>
            <a:pPr>
              <a:buSzPct val="156000"/>
              <a:buFont typeface="Arial" panose="020B0604020202020204" pitchFamily="34" charset="0"/>
              <a:buChar char="•"/>
            </a:pPr>
            <a:r>
              <a:rPr lang="en-US" sz="1600" dirty="0"/>
              <a:t>In artificial intelligence, quantization techniques can utilize sub-byte data types like 2-bit or 4-bit representations. However, the smallest addressable unit in memory remains the byte. To access individual bits, operations such as shifting and extraction must be employed.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1112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31846" y="108349"/>
            <a:ext cx="7643844" cy="519113"/>
          </a:xfrm>
        </p:spPr>
        <p:txBody>
          <a:bodyPr/>
          <a:lstStyle/>
          <a:p>
            <a:r>
              <a:rPr lang="en-US" sz="3200" dirty="0"/>
              <a:t>Bits can Represent Any Information (1)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/>
              <p:cNvSpPr>
                <a:spLocks noGrp="1"/>
              </p:cNvSpPr>
              <p:nvPr>
                <p:ph idx="1"/>
              </p:nvPr>
            </p:nvSpPr>
            <p:spPr>
              <a:xfrm>
                <a:off x="232229" y="762000"/>
                <a:ext cx="8893192" cy="3802743"/>
              </a:xfrm>
            </p:spPr>
            <p:txBody>
              <a:bodyPr/>
              <a:lstStyle/>
              <a:p>
                <a:r>
                  <a:rPr lang="en-US" sz="1800" dirty="0"/>
                  <a:t>Character</a:t>
                </a:r>
              </a:p>
              <a:p>
                <a:pPr lvl="1"/>
                <a:r>
                  <a:rPr lang="en-US" sz="1400" dirty="0"/>
                  <a:t>Characters are represented in 7 bits (ASCII code), or 8 bits (extended ASCII)</a:t>
                </a:r>
              </a:p>
              <a:p>
                <a:pPr lvl="1"/>
                <a:r>
                  <a:rPr lang="en-US" sz="1400" dirty="0"/>
                  <a:t>26 characters (upper and lower cases </a:t>
                </a:r>
                <a:r>
                  <a:rPr lang="en-US" sz="1400" dirty="0">
                    <a:sym typeface="Wingdings" panose="05000000000000000000" pitchFamily="2" charset="2"/>
                  </a:rPr>
                  <a:t> 52) + punctuations are represented in ASCII code</a:t>
                </a:r>
              </a:p>
              <a:p>
                <a:pPr lvl="1"/>
                <a:r>
                  <a:rPr lang="en-US" sz="1400" dirty="0">
                    <a:sym typeface="Wingdings" panose="05000000000000000000" pitchFamily="2" charset="2"/>
                  </a:rPr>
                  <a:t>Standard code to cover  all the world’s languages: Unicode</a:t>
                </a:r>
                <a:endParaRPr lang="en-US" sz="1400" dirty="0"/>
              </a:p>
              <a:p>
                <a:r>
                  <a:rPr lang="en-US" sz="1800" dirty="0"/>
                  <a:t>Logical value</a:t>
                </a:r>
              </a:p>
              <a:p>
                <a:r>
                  <a:rPr lang="en-US" sz="1800" dirty="0"/>
                  <a:t>Colors/Audio</a:t>
                </a:r>
              </a:p>
              <a:p>
                <a:r>
                  <a:rPr lang="en-US" sz="1800" dirty="0"/>
                  <a:t>Memory locations (addresses)</a:t>
                </a:r>
              </a:p>
              <a:p>
                <a:r>
                  <a:rPr lang="en-US" sz="1800" dirty="0"/>
                  <a:t>Commands (Instructions)</a:t>
                </a:r>
              </a:p>
              <a:p>
                <a:r>
                  <a:rPr lang="en-US" sz="1800" dirty="0"/>
                  <a:t>Summary</a:t>
                </a:r>
              </a:p>
              <a:p>
                <a:pPr marL="0" indent="0">
                  <a:buNone/>
                </a:pPr>
                <a:r>
                  <a:rPr lang="en-US" sz="1800" dirty="0"/>
                  <a:t>	N bits can represent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sz="1800" dirty="0"/>
                  <a:t> different things</a:t>
                </a:r>
              </a:p>
            </p:txBody>
          </p:sp>
        </mc:Choice>
        <mc:Fallback xmlns="">
          <p:sp>
            <p:nvSpPr>
              <p:cNvPr id="8" name="Content Placehold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2229" y="762000"/>
                <a:ext cx="8893192" cy="3802743"/>
              </a:xfrm>
              <a:blipFill>
                <a:blip r:embed="rId2"/>
                <a:stretch>
                  <a:fillRect l="-137" t="-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8CF450-20C3-449A-B8F1-24E8A5F59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1680612"/>
            <a:ext cx="3962400" cy="28043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98A6FD2-E6C3-4145-9D44-BE5427ABA54E}"/>
              </a:ext>
            </a:extLst>
          </p:cNvPr>
          <p:cNvSpPr txBox="1"/>
          <p:nvPr/>
        </p:nvSpPr>
        <p:spPr>
          <a:xfrm>
            <a:off x="5084955" y="786913"/>
            <a:ext cx="3925242" cy="33855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1600" dirty="0">
                <a:ea typeface="標楷體" pitchFamily="65" charset="-120"/>
                <a:cs typeface="Calibri" panose="020F0502020204030204" pitchFamily="34" charset="0"/>
              </a:rPr>
              <a:t>ABC </a:t>
            </a:r>
            <a:r>
              <a:rPr lang="en-US" sz="1600" dirty="0">
                <a:ea typeface="標楷體" pitchFamily="65" charset="-120"/>
                <a:cs typeface="Calibri" panose="020F0502020204030204" pitchFamily="34" charset="0"/>
                <a:sym typeface="Wingdings" panose="05000000000000000000" pitchFamily="2" charset="2"/>
              </a:rPr>
              <a:t> 0100 0001 0100 0010 0100 0011</a:t>
            </a:r>
            <a:endParaRPr lang="en-US" sz="1600" dirty="0">
              <a:ea typeface="標楷體" pitchFamily="65" charset="-12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2A1F0D-76D2-4D24-8CA4-9EC9917264CF}"/>
              </a:ext>
            </a:extLst>
          </p:cNvPr>
          <p:cNvSpPr txBox="1"/>
          <p:nvPr/>
        </p:nvSpPr>
        <p:spPr>
          <a:xfrm>
            <a:off x="6306457" y="1033707"/>
            <a:ext cx="441146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anose="020F0502020204030204" pitchFamily="34" charset="0"/>
              </a:rPr>
              <a:t>41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9896A4-F3EB-4B48-BF0D-4860145052B4}"/>
              </a:ext>
            </a:extLst>
          </p:cNvPr>
          <p:cNvSpPr txBox="1"/>
          <p:nvPr/>
        </p:nvSpPr>
        <p:spPr>
          <a:xfrm>
            <a:off x="7274793" y="1033400"/>
            <a:ext cx="441146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anose="020F0502020204030204" pitchFamily="34" charset="0"/>
              </a:rPr>
              <a:t>42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EF009B-BEEC-44C3-8566-2EF24391F9D3}"/>
              </a:ext>
            </a:extLst>
          </p:cNvPr>
          <p:cNvSpPr txBox="1"/>
          <p:nvPr/>
        </p:nvSpPr>
        <p:spPr>
          <a:xfrm>
            <a:off x="8243129" y="1033400"/>
            <a:ext cx="441146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anose="020F0502020204030204" pitchFamily="34" charset="0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2446583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 animBg="1"/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31846" y="108349"/>
            <a:ext cx="7643844" cy="519113"/>
          </a:xfrm>
        </p:spPr>
        <p:txBody>
          <a:bodyPr/>
          <a:lstStyle/>
          <a:p>
            <a:r>
              <a:rPr lang="en-US" sz="3200" dirty="0"/>
              <a:t>Bits can Represent Any Information (1)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/>
              <p:cNvSpPr>
                <a:spLocks noGrp="1"/>
              </p:cNvSpPr>
              <p:nvPr>
                <p:ph idx="1"/>
              </p:nvPr>
            </p:nvSpPr>
            <p:spPr>
              <a:xfrm>
                <a:off x="232229" y="762000"/>
                <a:ext cx="8893192" cy="3802743"/>
              </a:xfrm>
            </p:spPr>
            <p:txBody>
              <a:bodyPr/>
              <a:lstStyle/>
              <a:p>
                <a:r>
                  <a:rPr lang="en-US" sz="1800" dirty="0"/>
                  <a:t>Character</a:t>
                </a:r>
              </a:p>
              <a:p>
                <a:pPr lvl="1"/>
                <a:r>
                  <a:rPr lang="en-US" sz="1400" dirty="0"/>
                  <a:t>Characters are represented in 7 bits (ASCII code), or 8 bits (extended ASCII)</a:t>
                </a:r>
              </a:p>
              <a:p>
                <a:pPr lvl="1"/>
                <a:r>
                  <a:rPr lang="en-US" sz="1400" dirty="0"/>
                  <a:t>26 characters (upper and lower cases </a:t>
                </a:r>
                <a:r>
                  <a:rPr lang="en-US" sz="1400" dirty="0">
                    <a:sym typeface="Wingdings" panose="05000000000000000000" pitchFamily="2" charset="2"/>
                  </a:rPr>
                  <a:t> 52) + punctuations are represented in ASCII code</a:t>
                </a:r>
              </a:p>
              <a:p>
                <a:pPr lvl="1"/>
                <a:r>
                  <a:rPr lang="en-US" sz="1400" dirty="0">
                    <a:sym typeface="Wingdings" panose="05000000000000000000" pitchFamily="2" charset="2"/>
                  </a:rPr>
                  <a:t>Standard code to cover  all the world’s languages: Unicode</a:t>
                </a:r>
                <a:endParaRPr lang="en-US" sz="1400" dirty="0"/>
              </a:p>
              <a:p>
                <a:r>
                  <a:rPr lang="en-US" sz="1800" dirty="0"/>
                  <a:t>Logical value</a:t>
                </a:r>
              </a:p>
              <a:p>
                <a:r>
                  <a:rPr lang="en-US" sz="1800" dirty="0"/>
                  <a:t>Colors/Audio</a:t>
                </a:r>
              </a:p>
              <a:p>
                <a:r>
                  <a:rPr lang="en-US" sz="1800" dirty="0"/>
                  <a:t>Memory locations (addresses)</a:t>
                </a:r>
              </a:p>
              <a:p>
                <a:r>
                  <a:rPr lang="en-US" sz="1800" dirty="0"/>
                  <a:t>Commands (Instructions)</a:t>
                </a:r>
              </a:p>
              <a:p>
                <a:r>
                  <a:rPr lang="en-US" sz="1800" dirty="0"/>
                  <a:t>Summary</a:t>
                </a:r>
              </a:p>
              <a:p>
                <a:pPr marL="0" indent="0">
                  <a:buNone/>
                </a:pPr>
                <a:r>
                  <a:rPr lang="en-US" sz="1800" dirty="0"/>
                  <a:t>	N bits can represent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sz="1800" dirty="0"/>
                  <a:t> different things</a:t>
                </a:r>
              </a:p>
            </p:txBody>
          </p:sp>
        </mc:Choice>
        <mc:Fallback xmlns="">
          <p:sp>
            <p:nvSpPr>
              <p:cNvPr id="8" name="Content Placehold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2229" y="762000"/>
                <a:ext cx="8893192" cy="3802743"/>
              </a:xfrm>
              <a:blipFill>
                <a:blip r:embed="rId2"/>
                <a:stretch>
                  <a:fillRect l="-137" t="-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8E9723-B0FE-4FCF-9196-630102E63594}"/>
              </a:ext>
            </a:extLst>
          </p:cNvPr>
          <p:cNvSpPr txBox="1"/>
          <p:nvPr/>
        </p:nvSpPr>
        <p:spPr>
          <a:xfrm>
            <a:off x="5235862" y="697465"/>
            <a:ext cx="3853876" cy="33855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1600" dirty="0">
                <a:ea typeface="標楷體" pitchFamily="65" charset="-120"/>
                <a:cs typeface="Calibri" panose="020F0502020204030204" pitchFamily="34" charset="0"/>
              </a:rPr>
              <a:t>A10 </a:t>
            </a:r>
            <a:r>
              <a:rPr lang="en-US" sz="1600" dirty="0">
                <a:ea typeface="標楷體" pitchFamily="65" charset="-120"/>
                <a:cs typeface="Calibri" panose="020F0502020204030204" pitchFamily="34" charset="0"/>
                <a:sym typeface="Wingdings" panose="05000000000000000000" pitchFamily="2" charset="2"/>
              </a:rPr>
              <a:t> 0100 0001 0011 0001 0011 0000</a:t>
            </a:r>
            <a:endParaRPr lang="en-US" sz="1600" dirty="0">
              <a:ea typeface="標楷體" pitchFamily="65" charset="-12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8A6FD2-E6C3-4145-9D44-BE5427ABA54E}"/>
              </a:ext>
            </a:extLst>
          </p:cNvPr>
          <p:cNvSpPr txBox="1"/>
          <p:nvPr/>
        </p:nvSpPr>
        <p:spPr>
          <a:xfrm>
            <a:off x="5200179" y="956190"/>
            <a:ext cx="3925242" cy="33855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1600" dirty="0">
                <a:ea typeface="標楷體" pitchFamily="65" charset="-120"/>
                <a:cs typeface="Calibri" panose="020F0502020204030204" pitchFamily="34" charset="0"/>
              </a:rPr>
              <a:t>ABC </a:t>
            </a:r>
            <a:r>
              <a:rPr lang="en-US" sz="1600" dirty="0">
                <a:ea typeface="標楷體" pitchFamily="65" charset="-120"/>
                <a:cs typeface="Calibri" panose="020F0502020204030204" pitchFamily="34" charset="0"/>
                <a:sym typeface="Wingdings" panose="05000000000000000000" pitchFamily="2" charset="2"/>
              </a:rPr>
              <a:t> 0100 0001 0100 0010 0100 0011</a:t>
            </a:r>
            <a:endParaRPr lang="en-US" sz="1600" dirty="0">
              <a:ea typeface="標楷體" pitchFamily="65" charset="-12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91BE12-22FE-4A4D-8E08-B41A17DD7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07" y="1565754"/>
            <a:ext cx="4582164" cy="26578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E582A4-13BF-4818-A7A5-779222DC79F5}"/>
              </a:ext>
            </a:extLst>
          </p:cNvPr>
          <p:cNvSpPr txBox="1"/>
          <p:nvPr/>
        </p:nvSpPr>
        <p:spPr>
          <a:xfrm>
            <a:off x="134306" y="2431932"/>
            <a:ext cx="3694729" cy="3385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 anchor="ctr" anchorCtr="1">
            <a:spAutoFit/>
          </a:bodyPr>
          <a:lstStyle/>
          <a:p>
            <a:r>
              <a:rPr lang="en-US" sz="1600" dirty="0">
                <a:ea typeface="標楷體" pitchFamily="65" charset="-120"/>
                <a:cs typeface="Calibri" panose="020F0502020204030204" pitchFamily="34" charset="0"/>
              </a:rPr>
              <a:t>Difference between “ABC” and “ABC0”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7A35C9-A699-4751-9057-06293E804610}"/>
              </a:ext>
            </a:extLst>
          </p:cNvPr>
          <p:cNvSpPr txBox="1"/>
          <p:nvPr/>
        </p:nvSpPr>
        <p:spPr>
          <a:xfrm>
            <a:off x="134306" y="2946306"/>
            <a:ext cx="4225003" cy="10772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 anchor="ctr" anchorCtr="1">
            <a:spAutoFit/>
          </a:bodyPr>
          <a:lstStyle/>
          <a:p>
            <a:r>
              <a:rPr lang="en-US" sz="1600" dirty="0">
                <a:ea typeface="標楷體" pitchFamily="65" charset="-120"/>
                <a:cs typeface="Calibri" panose="020F0502020204030204" pitchFamily="34" charset="0"/>
              </a:rPr>
              <a:t>Which one is ABC? </a:t>
            </a:r>
          </a:p>
          <a:p>
            <a:r>
              <a:rPr lang="en-US" sz="1600" dirty="0">
                <a:ea typeface="標楷體" pitchFamily="65" charset="-120"/>
                <a:cs typeface="Calibri" panose="020F0502020204030204" pitchFamily="34" charset="0"/>
              </a:rPr>
              <a:t>1) 01000001 01000010 01000011 00000000</a:t>
            </a:r>
          </a:p>
          <a:p>
            <a:r>
              <a:rPr lang="en-US" sz="1600" dirty="0">
                <a:ea typeface="標楷體" pitchFamily="65" charset="-120"/>
                <a:cs typeface="Calibri" panose="020F0502020204030204" pitchFamily="34" charset="0"/>
              </a:rPr>
              <a:t>2) 01000001 01000010 01000011 00110000</a:t>
            </a:r>
          </a:p>
          <a:p>
            <a:endParaRPr lang="en-US" sz="1600" dirty="0">
              <a:ea typeface="標楷體" pitchFamily="65" charset="-12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60834A-40B6-4D45-AAB3-4BEDFA492ACF}"/>
              </a:ext>
            </a:extLst>
          </p:cNvPr>
          <p:cNvSpPr txBox="1"/>
          <p:nvPr/>
        </p:nvSpPr>
        <p:spPr>
          <a:xfrm>
            <a:off x="2554514" y="4151038"/>
            <a:ext cx="774571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a typeface="標楷體" pitchFamily="65" charset="-120"/>
                <a:cs typeface="Calibri" panose="020F0502020204030204" pitchFamily="34" charset="0"/>
              </a:rPr>
              <a:t>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D1E77AF-2087-44B0-B284-163193E64D10}"/>
              </a:ext>
            </a:extLst>
          </p:cNvPr>
          <p:cNvCxnSpPr>
            <a:cxnSpLocks/>
          </p:cNvCxnSpPr>
          <p:nvPr/>
        </p:nvCxnSpPr>
        <p:spPr bwMode="auto">
          <a:xfrm flipV="1">
            <a:off x="2801257" y="3403600"/>
            <a:ext cx="558800" cy="859455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2725280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0" grpId="0" animBg="1"/>
      <p:bldP spid="11" grpId="0" animBg="1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31846" y="108349"/>
            <a:ext cx="7643844" cy="519113"/>
          </a:xfrm>
        </p:spPr>
        <p:txBody>
          <a:bodyPr/>
          <a:lstStyle/>
          <a:p>
            <a:r>
              <a:rPr lang="en-US" sz="3200" dirty="0"/>
              <a:t>Bits can Represent Any Information (2)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/>
              <p:cNvSpPr>
                <a:spLocks noGrp="1"/>
              </p:cNvSpPr>
              <p:nvPr>
                <p:ph idx="1"/>
              </p:nvPr>
            </p:nvSpPr>
            <p:spPr>
              <a:xfrm>
                <a:off x="210457" y="764325"/>
                <a:ext cx="8131595" cy="3887504"/>
              </a:xfrm>
            </p:spPr>
            <p:txBody>
              <a:bodyPr/>
              <a:lstStyle/>
              <a:p>
                <a:r>
                  <a:rPr lang="en-US" sz="1800" dirty="0"/>
                  <a:t>Logical value</a:t>
                </a:r>
              </a:p>
              <a:p>
                <a:pPr lvl="1"/>
                <a:r>
                  <a:rPr lang="en-US" sz="1400" dirty="0"/>
                  <a:t>0  means  False</a:t>
                </a:r>
              </a:p>
              <a:p>
                <a:pPr lvl="1"/>
                <a:r>
                  <a:rPr lang="en-US" sz="1400" dirty="0"/>
                  <a:t>1  means True</a:t>
                </a:r>
              </a:p>
              <a:p>
                <a:r>
                  <a:rPr lang="en-US" sz="1800" dirty="0"/>
                  <a:t>Media data</a:t>
                </a:r>
              </a:p>
              <a:p>
                <a:pPr marL="0" indent="0">
                  <a:buNone/>
                </a:pPr>
                <a:r>
                  <a:rPr lang="en-US" sz="1800" dirty="0"/>
                  <a:t>    Audio &amp; Video: digitization</a:t>
                </a:r>
              </a:p>
              <a:p>
                <a:pPr marL="0" indent="0">
                  <a:buNone/>
                </a:pPr>
                <a:r>
                  <a:rPr lang="en-US" sz="1800" dirty="0"/>
                  <a:t>    colors:	</a:t>
                </a:r>
                <a:r>
                  <a:rPr lang="en-US" sz="1400" dirty="0"/>
                  <a:t>Red, Green, Blue </a:t>
                </a:r>
              </a:p>
              <a:p>
                <a:r>
                  <a:rPr lang="en-US" sz="1800" dirty="0"/>
                  <a:t>Memory locations (addresses)</a:t>
                </a:r>
              </a:p>
              <a:p>
                <a:pPr lvl="1"/>
                <a:r>
                  <a:rPr lang="en-US" sz="1400" dirty="0"/>
                  <a:t>In 32-bit machines, addresses are 32b, address up to 4GB</a:t>
                </a:r>
              </a:p>
              <a:p>
                <a:pPr lvl="1"/>
                <a:r>
                  <a:rPr lang="en-US" sz="1400" dirty="0"/>
                  <a:t>In 64-bit machines, addresses are 64b, up to 16ExaBytes  (K,M,G,T,P,E,…)</a:t>
                </a:r>
              </a:p>
              <a:p>
                <a:r>
                  <a:rPr lang="en-US" sz="1800" dirty="0">
                    <a:solidFill>
                      <a:srgbClr val="FF0000"/>
                    </a:solidFill>
                  </a:rPr>
                  <a:t>Commands (Instructions)</a:t>
                </a:r>
              </a:p>
              <a:p>
                <a:pPr lvl="1"/>
                <a:r>
                  <a:rPr lang="en-US" sz="1400" dirty="0"/>
                  <a:t>0000000 00010 00010 000 00001 0110011    </a:t>
                </a:r>
              </a:p>
              <a:p>
                <a:r>
                  <a:rPr lang="en-US" sz="1800" dirty="0"/>
                  <a:t>Summary</a:t>
                </a:r>
              </a:p>
              <a:p>
                <a:pPr marL="0" indent="0">
                  <a:buNone/>
                </a:pPr>
                <a:r>
                  <a:rPr lang="en-US" sz="1800" dirty="0"/>
                  <a:t>	N bits can represent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sz="1800" dirty="0"/>
                  <a:t> different things</a:t>
                </a:r>
              </a:p>
            </p:txBody>
          </p:sp>
        </mc:Choice>
        <mc:Fallback xmlns="">
          <p:sp>
            <p:nvSpPr>
              <p:cNvPr id="8" name="Content Placehold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0457" y="764325"/>
                <a:ext cx="8131595" cy="3887504"/>
              </a:xfrm>
              <a:blipFill>
                <a:blip r:embed="rId3"/>
                <a:stretch>
                  <a:fillRect l="-150" t="-784" b="-4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5986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46" y="108349"/>
            <a:ext cx="7643844" cy="519113"/>
          </a:xfrm>
        </p:spPr>
        <p:txBody>
          <a:bodyPr/>
          <a:lstStyle/>
          <a:p>
            <a:r>
              <a:rPr lang="en-US" sz="3200" dirty="0"/>
              <a:t>Digitization: From Analog to Digital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461396" y="907824"/>
            <a:ext cx="3388236" cy="2154415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Analog Signal</a:t>
            </a:r>
          </a:p>
          <a:p>
            <a:pPr lvl="1"/>
            <a:r>
              <a:rPr lang="en-US" sz="1600" dirty="0"/>
              <a:t>Vary in a smooth way over time</a:t>
            </a:r>
          </a:p>
          <a:p>
            <a:pPr lvl="1"/>
            <a:r>
              <a:rPr lang="en-US" sz="1600" dirty="0"/>
              <a:t>Analog data are continuously valued</a:t>
            </a:r>
          </a:p>
          <a:p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Example:</a:t>
            </a:r>
            <a:r>
              <a:rPr lang="en-US" sz="2000" dirty="0"/>
              <a:t> audio, early-day video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345497" y="891045"/>
            <a:ext cx="4330193" cy="2019935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Digital Signal</a:t>
            </a:r>
          </a:p>
          <a:p>
            <a:pPr lvl="1"/>
            <a:r>
              <a:rPr lang="en-US" sz="1600" dirty="0"/>
              <a:t>Maintains a constant level, then switches to another constant level (typically operates in one of these two states) </a:t>
            </a:r>
          </a:p>
          <a:p>
            <a:pPr lvl="1"/>
            <a:r>
              <a:rPr lang="en-US" sz="1600" dirty="0"/>
              <a:t>Digital data have discrete values</a:t>
            </a:r>
          </a:p>
          <a:p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Example:</a:t>
            </a:r>
            <a:r>
              <a:rPr lang="en-US" sz="2000" dirty="0"/>
              <a:t> computer data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87" y="3120962"/>
            <a:ext cx="3486340" cy="1318552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966" y="3098872"/>
            <a:ext cx="3684312" cy="1390975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7</a:t>
            </a:fld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31846" y="108349"/>
            <a:ext cx="7643844" cy="519113"/>
          </a:xfrm>
        </p:spPr>
        <p:txBody>
          <a:bodyPr/>
          <a:lstStyle/>
          <a:p>
            <a:r>
              <a:rPr lang="en-US" sz="3200" dirty="0"/>
              <a:t>From Analog to Digital 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02732" y="844153"/>
            <a:ext cx="5194981" cy="3510133"/>
          </a:xfrm>
        </p:spPr>
        <p:txBody>
          <a:bodyPr/>
          <a:lstStyle/>
          <a:p>
            <a:r>
              <a:rPr lang="en-US" sz="2000" dirty="0"/>
              <a:t>The real world is analog.</a:t>
            </a:r>
          </a:p>
          <a:p>
            <a:r>
              <a:rPr lang="en-US" sz="2000" dirty="0"/>
              <a:t>Two steps to convert analog information to digital</a:t>
            </a:r>
          </a:p>
          <a:p>
            <a:pPr lvl="1"/>
            <a:r>
              <a:rPr lang="en-US" sz="1800" dirty="0"/>
              <a:t>Sampling</a:t>
            </a:r>
          </a:p>
          <a:p>
            <a:pPr marL="342900" lvl="1" indent="0">
              <a:buNone/>
            </a:pPr>
            <a:r>
              <a:rPr lang="en-US" sz="1800" dirty="0"/>
              <a:t>e.g. For every 1/100 second, we ask how loud the music signal is.</a:t>
            </a:r>
          </a:p>
          <a:p>
            <a:pPr lvl="1"/>
            <a:r>
              <a:rPr lang="en-US" sz="1800" dirty="0"/>
              <a:t>Quantize</a:t>
            </a:r>
          </a:p>
          <a:p>
            <a:pPr marL="342900" lvl="1" indent="0">
              <a:buNone/>
            </a:pPr>
            <a:r>
              <a:rPr lang="en-US" sz="1800" dirty="0"/>
              <a:t>For example, we figure out for each signal what value it is positioned in the 16-bit range.</a:t>
            </a:r>
          </a:p>
          <a:p>
            <a:pPr lvl="1"/>
            <a:endParaRPr lang="en-US" sz="14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4AC4C6-9272-4CE1-ABB2-692F2406C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818" y="0"/>
            <a:ext cx="3543795" cy="47345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31846" y="108349"/>
            <a:ext cx="7643844" cy="519113"/>
          </a:xfrm>
        </p:spPr>
        <p:txBody>
          <a:bodyPr/>
          <a:lstStyle/>
          <a:p>
            <a:r>
              <a:rPr lang="en-US" sz="3200" dirty="0"/>
              <a:t>Bits can Represent Any Information (3)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/>
              <p:cNvSpPr>
                <a:spLocks noGrp="1"/>
              </p:cNvSpPr>
              <p:nvPr>
                <p:ph idx="1"/>
              </p:nvPr>
            </p:nvSpPr>
            <p:spPr>
              <a:xfrm>
                <a:off x="210457" y="764325"/>
                <a:ext cx="8131595" cy="3887504"/>
              </a:xfrm>
            </p:spPr>
            <p:txBody>
              <a:bodyPr/>
              <a:lstStyle/>
              <a:p>
                <a:r>
                  <a:rPr lang="en-US" sz="1800" dirty="0"/>
                  <a:t>Integer numbers</a:t>
                </a:r>
              </a:p>
              <a:p>
                <a:pPr lvl="1"/>
                <a:r>
                  <a:rPr lang="en-US" sz="1400" dirty="0"/>
                  <a:t>Binary numbers</a:t>
                </a:r>
              </a:p>
              <a:p>
                <a:pPr lvl="1"/>
                <a:r>
                  <a:rPr lang="en-US" sz="1400" dirty="0"/>
                  <a:t>Signed/Unsigned numbers</a:t>
                </a:r>
              </a:p>
              <a:p>
                <a:r>
                  <a:rPr lang="en-US" sz="1800" dirty="0"/>
                  <a:t>Floating pointer numbers</a:t>
                </a:r>
              </a:p>
              <a:p>
                <a:r>
                  <a:rPr lang="en-US" sz="1800" dirty="0"/>
                  <a:t>Memory locations (addresses)</a:t>
                </a:r>
              </a:p>
              <a:p>
                <a:pPr lvl="1"/>
                <a:r>
                  <a:rPr lang="en-US" sz="1400" dirty="0"/>
                  <a:t>In 32-bit machines, addresses are 32b, address up to 4GB</a:t>
                </a:r>
              </a:p>
              <a:p>
                <a:pPr lvl="1"/>
                <a:r>
                  <a:rPr lang="en-US" sz="1400" dirty="0"/>
                  <a:t>In 64-bit machines, addresses are 64b, up to 16ExaBytes  (K,M,G,T,P,E,…)</a:t>
                </a:r>
              </a:p>
              <a:p>
                <a:r>
                  <a:rPr lang="en-US" sz="1800" dirty="0">
                    <a:solidFill>
                      <a:srgbClr val="FF0000"/>
                    </a:solidFill>
                  </a:rPr>
                  <a:t>Computer Commands (Instructions)</a:t>
                </a:r>
              </a:p>
              <a:p>
                <a:pPr lvl="1"/>
                <a:r>
                  <a:rPr lang="en-US" sz="1400" dirty="0"/>
                  <a:t>0000000 00010 00010 000 00001 0110011    </a:t>
                </a:r>
              </a:p>
              <a:p>
                <a:r>
                  <a:rPr lang="en-US" sz="1800" dirty="0"/>
                  <a:t>Summary</a:t>
                </a:r>
              </a:p>
              <a:p>
                <a:pPr marL="0" indent="0">
                  <a:buNone/>
                </a:pPr>
                <a:r>
                  <a:rPr lang="en-US" sz="1800" dirty="0"/>
                  <a:t>	N bits can represent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sz="1800" dirty="0"/>
                  <a:t> different things</a:t>
                </a:r>
              </a:p>
            </p:txBody>
          </p:sp>
        </mc:Choice>
        <mc:Fallback xmlns="">
          <p:sp>
            <p:nvSpPr>
              <p:cNvPr id="8" name="Content Placehold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0457" y="764325"/>
                <a:ext cx="8131595" cy="3887504"/>
              </a:xfrm>
              <a:blipFill>
                <a:blip r:embed="rId3"/>
                <a:stretch>
                  <a:fillRect l="-150" t="-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5423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31846" y="108349"/>
            <a:ext cx="7643844" cy="519113"/>
          </a:xfrm>
        </p:spPr>
        <p:txBody>
          <a:bodyPr/>
          <a:lstStyle/>
          <a:p>
            <a:r>
              <a:rPr lang="en-US" sz="3200" dirty="0"/>
              <a:t>Sneak Preview of RVI64 (ALU and L/S)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F3BA8A-3133-4F00-B6E9-E8E8E89AC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64" y="820703"/>
            <a:ext cx="7716327" cy="3734321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01F27DCC-AC07-4FF1-9B43-5835912FDED0}"/>
              </a:ext>
            </a:extLst>
          </p:cNvPr>
          <p:cNvSpPr/>
          <p:nvPr/>
        </p:nvSpPr>
        <p:spPr bwMode="auto">
          <a:xfrm>
            <a:off x="479394" y="1207363"/>
            <a:ext cx="1242874" cy="372863"/>
          </a:xfrm>
          <a:prstGeom prst="ellipse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689DD8C-E1D4-4A5C-9FE8-3AC681517326}"/>
              </a:ext>
            </a:extLst>
          </p:cNvPr>
          <p:cNvSpPr/>
          <p:nvPr/>
        </p:nvSpPr>
        <p:spPr bwMode="auto">
          <a:xfrm>
            <a:off x="479394" y="2714496"/>
            <a:ext cx="1242874" cy="372863"/>
          </a:xfrm>
          <a:prstGeom prst="ellipse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93339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31846" y="108349"/>
            <a:ext cx="7643844" cy="519113"/>
          </a:xfrm>
        </p:spPr>
        <p:txBody>
          <a:bodyPr/>
          <a:lstStyle/>
          <a:p>
            <a:r>
              <a:rPr lang="en-US" sz="3200" dirty="0"/>
              <a:t>Logic and Shift Operations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19D464-AF2A-4FED-B417-DA2321011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00" y="856343"/>
            <a:ext cx="7525800" cy="3541486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6250B39E-56E3-440D-82D8-B163B33EC687}"/>
              </a:ext>
            </a:extLst>
          </p:cNvPr>
          <p:cNvSpPr/>
          <p:nvPr/>
        </p:nvSpPr>
        <p:spPr bwMode="auto">
          <a:xfrm>
            <a:off x="410409" y="1384917"/>
            <a:ext cx="1242874" cy="372863"/>
          </a:xfrm>
          <a:prstGeom prst="ellipse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C30E062-CCFC-4DA0-88C9-5FEEE38F789F}"/>
              </a:ext>
            </a:extLst>
          </p:cNvPr>
          <p:cNvSpPr/>
          <p:nvPr/>
        </p:nvSpPr>
        <p:spPr bwMode="auto">
          <a:xfrm>
            <a:off x="410409" y="3133817"/>
            <a:ext cx="1242874" cy="372863"/>
          </a:xfrm>
          <a:prstGeom prst="ellipse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46807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31846" y="108349"/>
            <a:ext cx="7643844" cy="519113"/>
          </a:xfrm>
        </p:spPr>
        <p:txBody>
          <a:bodyPr/>
          <a:lstStyle/>
          <a:p>
            <a:r>
              <a:rPr lang="en-US" sz="3200" dirty="0"/>
              <a:t>Branch Instructions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4E0F6B-F4B1-4FC6-BB04-E5BE2B599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73" y="1095829"/>
            <a:ext cx="7544853" cy="287382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CA22E80-4900-4DF3-BEF7-B2E401775C94}"/>
              </a:ext>
            </a:extLst>
          </p:cNvPr>
          <p:cNvSpPr/>
          <p:nvPr/>
        </p:nvSpPr>
        <p:spPr bwMode="auto">
          <a:xfrm>
            <a:off x="490308" y="2014741"/>
            <a:ext cx="1242874" cy="745725"/>
          </a:xfrm>
          <a:prstGeom prst="ellipse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5FB4F4-75E8-4F96-A4D8-0B0AA9B1D2EC}"/>
              </a:ext>
            </a:extLst>
          </p:cNvPr>
          <p:cNvSpPr/>
          <p:nvPr/>
        </p:nvSpPr>
        <p:spPr bwMode="auto">
          <a:xfrm>
            <a:off x="490308" y="3293616"/>
            <a:ext cx="1242874" cy="578386"/>
          </a:xfrm>
          <a:prstGeom prst="ellipse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36470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31846" y="108349"/>
            <a:ext cx="7643844" cy="519113"/>
          </a:xfrm>
        </p:spPr>
        <p:txBody>
          <a:bodyPr/>
          <a:lstStyle/>
          <a:p>
            <a:r>
              <a:rPr lang="en-US" sz="3200" dirty="0"/>
              <a:t>Instructions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609600" y="844153"/>
            <a:ext cx="8142513" cy="3553676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Instructions are composed of the following:</a:t>
            </a:r>
          </a:p>
          <a:p>
            <a:pPr marL="457200" indent="-457200">
              <a:buAutoNum type="arabicParenR"/>
            </a:pPr>
            <a:r>
              <a:rPr lang="en-US" sz="2400" dirty="0" err="1"/>
              <a:t>OPcode</a:t>
            </a:r>
            <a:r>
              <a:rPr lang="en-US" sz="2400" dirty="0"/>
              <a:t> : indicates what instruction it is, e.g. add, load, …</a:t>
            </a:r>
          </a:p>
          <a:p>
            <a:pPr marL="457200" indent="-457200">
              <a:buAutoNum type="arabicParenR"/>
            </a:pPr>
            <a:r>
              <a:rPr lang="en-US" sz="2400" dirty="0"/>
              <a:t>Operands: Register or Memory</a:t>
            </a:r>
          </a:p>
          <a:p>
            <a:pPr marL="0" indent="0">
              <a:buNone/>
            </a:pPr>
            <a:r>
              <a:rPr lang="en-US" sz="2400" dirty="0"/>
              <a:t>	Register: specify a register to designate which register is 	used as an operand.</a:t>
            </a:r>
          </a:p>
          <a:p>
            <a:pPr marL="0" indent="0">
              <a:buNone/>
            </a:pPr>
            <a:r>
              <a:rPr lang="en-US" sz="2400" dirty="0"/>
              <a:t>	Memory: usually a (base)+offset to specify the address 	of the memory operand</a:t>
            </a:r>
          </a:p>
          <a:p>
            <a:pPr marL="299720" lvl="1" indent="0">
              <a:buNone/>
            </a:pPr>
            <a:r>
              <a:rPr lang="en-US" sz="2000" dirty="0"/>
              <a:t> 	</a:t>
            </a:r>
            <a:r>
              <a:rPr lang="en-US" sz="2000" i="1" dirty="0"/>
              <a:t>data address: offset is relative to a base register</a:t>
            </a:r>
          </a:p>
          <a:p>
            <a:pPr marL="299720" lvl="1" indent="0">
              <a:buNone/>
            </a:pPr>
            <a:r>
              <a:rPr lang="en-US" sz="2000" i="1" dirty="0"/>
              <a:t>	instruction address: offset is relative to the PC or a register</a:t>
            </a:r>
          </a:p>
          <a:p>
            <a:pPr marL="299720" lvl="1" indent="0">
              <a:buNone/>
            </a:pPr>
            <a:endParaRPr lang="en-US" sz="2400" dirty="0"/>
          </a:p>
          <a:p>
            <a:pPr marL="457200" indent="-457200">
              <a:buAutoNum type="arabicParenR"/>
            </a:pPr>
            <a:endParaRPr lang="en-US" sz="24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2792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31846" y="108349"/>
            <a:ext cx="7643844" cy="519113"/>
          </a:xfrm>
        </p:spPr>
        <p:txBody>
          <a:bodyPr/>
          <a:lstStyle/>
          <a:p>
            <a:r>
              <a:rPr lang="en-US" sz="3200" dirty="0"/>
              <a:t>Note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609600" y="844153"/>
            <a:ext cx="8142513" cy="3553676"/>
          </a:xfrm>
        </p:spPr>
        <p:txBody>
          <a:bodyPr/>
          <a:lstStyle/>
          <a:p>
            <a:r>
              <a:rPr lang="en-US" sz="2400" dirty="0"/>
              <a:t>In Figure 2.1, please note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It is for </a:t>
            </a:r>
            <a:r>
              <a:rPr lang="en-US" sz="2000" i="1" dirty="0">
                <a:solidFill>
                  <a:srgbClr val="FF0000"/>
                </a:solidFill>
              </a:rPr>
              <a:t>RVI64</a:t>
            </a:r>
            <a:r>
              <a:rPr lang="en-US" sz="2000" dirty="0"/>
              <a:t>, so there are double words (</a:t>
            </a:r>
            <a:r>
              <a:rPr lang="en-US" sz="2000" i="1" dirty="0" err="1">
                <a:solidFill>
                  <a:srgbClr val="FF0000"/>
                </a:solidFill>
              </a:rPr>
              <a:t>ld</a:t>
            </a:r>
            <a:r>
              <a:rPr lang="en-US" sz="2000" dirty="0"/>
              <a:t> and </a:t>
            </a:r>
            <a:r>
              <a:rPr lang="en-US" sz="2000" i="1" dirty="0" err="1">
                <a:solidFill>
                  <a:srgbClr val="FF0000"/>
                </a:solidFill>
              </a:rPr>
              <a:t>sd</a:t>
            </a:r>
            <a:r>
              <a:rPr lang="en-US" sz="2000" dirty="0"/>
              <a:t>). RVI32 instruction set would be even smaller.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A couple of instructions are missing in the table: </a:t>
            </a:r>
            <a:r>
              <a:rPr lang="en-US" sz="2000" i="1" dirty="0" err="1">
                <a:solidFill>
                  <a:srgbClr val="FF0000"/>
                </a:solidFill>
              </a:rPr>
              <a:t>slt</a:t>
            </a:r>
            <a:r>
              <a:rPr lang="en-US" sz="2000" i="1" dirty="0">
                <a:solidFill>
                  <a:srgbClr val="FF0000"/>
                </a:solidFill>
              </a:rPr>
              <a:t>, </a:t>
            </a:r>
            <a:r>
              <a:rPr lang="en-US" sz="2000" i="1" dirty="0" err="1">
                <a:solidFill>
                  <a:srgbClr val="FF0000"/>
                </a:solidFill>
              </a:rPr>
              <a:t>sltu</a:t>
            </a:r>
            <a:r>
              <a:rPr lang="en-US" sz="2000" i="1" dirty="0">
                <a:solidFill>
                  <a:srgbClr val="FF0000"/>
                </a:solidFill>
              </a:rPr>
              <a:t>, </a:t>
            </a:r>
            <a:r>
              <a:rPr lang="en-US" sz="2000" i="1" dirty="0" err="1">
                <a:solidFill>
                  <a:srgbClr val="FF0000"/>
                </a:solidFill>
              </a:rPr>
              <a:t>slti</a:t>
            </a:r>
            <a:r>
              <a:rPr lang="en-US" sz="2000" i="1" dirty="0">
                <a:solidFill>
                  <a:srgbClr val="FF0000"/>
                </a:solidFill>
              </a:rPr>
              <a:t>, </a:t>
            </a:r>
            <a:r>
              <a:rPr lang="en-US" sz="2000" i="1" dirty="0" err="1">
                <a:solidFill>
                  <a:srgbClr val="FF0000"/>
                </a:solidFill>
              </a:rPr>
              <a:t>sltui</a:t>
            </a:r>
            <a:r>
              <a:rPr lang="en-US" sz="2000" i="1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instructions. These instructions compute logical values, such as A = (B &gt; C).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No </a:t>
            </a:r>
            <a:r>
              <a:rPr lang="en-US" sz="2000" i="1" dirty="0" err="1">
                <a:solidFill>
                  <a:srgbClr val="FF0000"/>
                </a:solidFill>
              </a:rPr>
              <a:t>subi</a:t>
            </a:r>
            <a:r>
              <a:rPr lang="en-US" sz="2000" dirty="0"/>
              <a:t> instruction because </a:t>
            </a:r>
            <a:r>
              <a:rPr lang="en-US" sz="2000" dirty="0" err="1"/>
              <a:t>subi</a:t>
            </a:r>
            <a:r>
              <a:rPr lang="en-US" sz="2000" dirty="0"/>
              <a:t> can use </a:t>
            </a:r>
            <a:r>
              <a:rPr lang="en-US" sz="2000" dirty="0" err="1"/>
              <a:t>addi</a:t>
            </a:r>
            <a:r>
              <a:rPr lang="en-US" sz="2000" dirty="0"/>
              <a:t> with a negative immediate value.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No multiply/divide instructions. If needed, add the M extension.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No FP (Floating Point) instructions. If needed, add the F extension.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347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31846" y="108349"/>
            <a:ext cx="7643844" cy="519113"/>
          </a:xfrm>
        </p:spPr>
        <p:txBody>
          <a:bodyPr/>
          <a:lstStyle/>
          <a:p>
            <a:r>
              <a:rPr lang="en-US" sz="3200" dirty="0"/>
              <a:t>How to represent Integer Values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609600" y="844153"/>
            <a:ext cx="8142513" cy="3553676"/>
          </a:xfrm>
        </p:spPr>
        <p:txBody>
          <a:bodyPr/>
          <a:lstStyle/>
          <a:p>
            <a:r>
              <a:rPr lang="en-US" sz="2400" dirty="0"/>
              <a:t>More than half of the RVI instructions need to specify </a:t>
            </a:r>
            <a:r>
              <a:rPr lang="en-US" sz="2400" dirty="0">
                <a:solidFill>
                  <a:srgbClr val="FF0000"/>
                </a:solidFill>
              </a:rPr>
              <a:t>immediate</a:t>
            </a:r>
            <a:r>
              <a:rPr lang="en-US" sz="2400" dirty="0"/>
              <a:t> values in instructions.</a:t>
            </a:r>
          </a:p>
          <a:p>
            <a:r>
              <a:rPr lang="en-US" sz="2400" dirty="0"/>
              <a:t>Such as </a:t>
            </a:r>
            <a:r>
              <a:rPr lang="en-US" sz="2400" dirty="0" err="1"/>
              <a:t>Addi</a:t>
            </a:r>
            <a:r>
              <a:rPr lang="en-US" sz="2400" dirty="0"/>
              <a:t> x5,x6, immediate	// x5 = x6 + </a:t>
            </a:r>
            <a:r>
              <a:rPr lang="en-US" sz="2400" dirty="0">
                <a:solidFill>
                  <a:srgbClr val="FF0000"/>
                </a:solidFill>
              </a:rPr>
              <a:t>immediate</a:t>
            </a:r>
          </a:p>
          <a:p>
            <a:r>
              <a:rPr lang="en-US" sz="2400" dirty="0"/>
              <a:t>Such as </a:t>
            </a:r>
            <a:r>
              <a:rPr lang="en-US" sz="2400" dirty="0" err="1"/>
              <a:t>Ld</a:t>
            </a:r>
            <a:r>
              <a:rPr lang="en-US" sz="2400" dirty="0"/>
              <a:t> x5, </a:t>
            </a:r>
            <a:r>
              <a:rPr lang="en-US" sz="2400" dirty="0">
                <a:solidFill>
                  <a:srgbClr val="FF0000"/>
                </a:solidFill>
              </a:rPr>
              <a:t>immediate</a:t>
            </a:r>
            <a:r>
              <a:rPr lang="en-US" sz="2400" dirty="0"/>
              <a:t>(x6)	</a:t>
            </a:r>
          </a:p>
          <a:p>
            <a:r>
              <a:rPr lang="en-US" sz="2400" dirty="0"/>
              <a:t>Such as Sd x5, </a:t>
            </a:r>
            <a:r>
              <a:rPr lang="en-US" sz="2400" dirty="0">
                <a:solidFill>
                  <a:srgbClr val="FF0000"/>
                </a:solidFill>
              </a:rPr>
              <a:t>immediate</a:t>
            </a:r>
            <a:r>
              <a:rPr lang="en-US" sz="2400" dirty="0"/>
              <a:t>(x6)</a:t>
            </a:r>
          </a:p>
          <a:p>
            <a:r>
              <a:rPr lang="en-US" sz="2400" dirty="0"/>
              <a:t>Such as </a:t>
            </a:r>
            <a:r>
              <a:rPr lang="en-US" sz="2400" dirty="0" err="1"/>
              <a:t>Jalr</a:t>
            </a:r>
            <a:r>
              <a:rPr lang="en-US" sz="2400" dirty="0"/>
              <a:t> X1, </a:t>
            </a:r>
            <a:r>
              <a:rPr lang="en-US" sz="2400" dirty="0">
                <a:solidFill>
                  <a:srgbClr val="FF0000"/>
                </a:solidFill>
              </a:rPr>
              <a:t>immediate</a:t>
            </a:r>
            <a:r>
              <a:rPr lang="en-US" sz="2400" dirty="0"/>
              <a:t>(X5)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70437C40-9DB2-4222-B9EB-DB2B11852482}"/>
              </a:ext>
            </a:extLst>
          </p:cNvPr>
          <p:cNvSpPr/>
          <p:nvPr/>
        </p:nvSpPr>
        <p:spPr bwMode="auto">
          <a:xfrm rot="10635569">
            <a:off x="4978013" y="2319304"/>
            <a:ext cx="570228" cy="934078"/>
          </a:xfrm>
          <a:prstGeom prst="leftBrace">
            <a:avLst>
              <a:gd name="adj1" fmla="val 8333"/>
              <a:gd name="adj2" fmla="val 54722"/>
            </a:avLst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AFB0C8-DA6C-49DE-B337-50F354AA6C43}"/>
              </a:ext>
            </a:extLst>
          </p:cNvPr>
          <p:cNvSpPr txBox="1"/>
          <p:nvPr/>
        </p:nvSpPr>
        <p:spPr>
          <a:xfrm>
            <a:off x="5520239" y="2507734"/>
            <a:ext cx="2377574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anose="020F0502020204030204" pitchFamily="34" charset="0"/>
              </a:rPr>
              <a:t>computing addresses</a:t>
            </a:r>
          </a:p>
        </p:txBody>
      </p:sp>
    </p:spTree>
    <p:extLst>
      <p:ext uri="{BB962C8B-B14F-4D97-AF65-F5344CB8AC3E}">
        <p14:creationId xmlns:p14="http://schemas.microsoft.com/office/powerpoint/2010/main" val="3554085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31846" y="108349"/>
            <a:ext cx="7643844" cy="519113"/>
          </a:xfrm>
        </p:spPr>
        <p:txBody>
          <a:bodyPr/>
          <a:lstStyle/>
          <a:p>
            <a:r>
              <a:rPr lang="en-US" sz="3200" dirty="0"/>
              <a:t>Integer Representation: Radix or Base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922789" y="844153"/>
            <a:ext cx="7441035" cy="2612111"/>
          </a:xfrm>
        </p:spPr>
        <p:txBody>
          <a:bodyPr/>
          <a:lstStyle/>
          <a:p>
            <a:r>
              <a:rPr lang="en-US" sz="2400" dirty="0"/>
              <a:t>An ordered set of symbols, called digits, with relations defined for addition, subtraction, multiplication and division</a:t>
            </a:r>
          </a:p>
          <a:p>
            <a:endParaRPr lang="en-US" sz="2400" dirty="0"/>
          </a:p>
          <a:p>
            <a:r>
              <a:rPr lang="en-US" sz="2400" b="1" dirty="0">
                <a:solidFill>
                  <a:schemeClr val="accent1"/>
                </a:solidFill>
              </a:rPr>
              <a:t>Radix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/>
              <a:t>or </a:t>
            </a:r>
            <a:r>
              <a:rPr lang="en-US" sz="2400" b="1" dirty="0">
                <a:solidFill>
                  <a:schemeClr val="accent1"/>
                </a:solidFill>
              </a:rPr>
              <a:t>base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/>
              <a:t>of the number system is the total number of digits allowed in the number system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1858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569" y="108349"/>
            <a:ext cx="7585121" cy="519113"/>
          </a:xfrm>
        </p:spPr>
        <p:txBody>
          <a:bodyPr>
            <a:normAutofit fontScale="90000"/>
          </a:bodyPr>
          <a:lstStyle/>
          <a:p>
            <a:r>
              <a:rPr lang="en-US" dirty="0"/>
              <a:t>Decimal, Binary, Octal and Hexadecimal</a:t>
            </a:r>
          </a:p>
        </p:txBody>
      </p:sp>
      <p:graphicFrame>
        <p:nvGraphicFramePr>
          <p:cNvPr id="6" name="Content Placeholder 7"/>
          <p:cNvGraphicFramePr/>
          <p:nvPr>
            <p:custDataLst>
              <p:tags r:id="rId1"/>
            </p:custDataLst>
          </p:nvPr>
        </p:nvGraphicFramePr>
        <p:xfrm>
          <a:off x="1614488" y="816049"/>
          <a:ext cx="5915025" cy="3739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3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3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3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30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6804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System Name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Decimal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Binary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Octal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Hexadecimal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+mn-lt"/>
                        </a:rPr>
                        <a:t>Radix</a:t>
                      </a:r>
                    </a:p>
                  </a:txBody>
                  <a:tcPr marL="27000" marR="27000" marT="27000" marB="27000" anchor="ctr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+mn-lt"/>
                        </a:rPr>
                        <a:t>10</a:t>
                      </a:r>
                    </a:p>
                  </a:txBody>
                  <a:tcPr marL="27000" marR="27000" marT="27000" marB="27000" anchor="ctr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marL="27000" marR="27000" marT="27000" marB="27000" anchor="ctr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+mn-lt"/>
                        </a:rPr>
                        <a:t>8</a:t>
                      </a:r>
                    </a:p>
                  </a:txBody>
                  <a:tcPr marL="27000" marR="27000" marT="27000" marB="27000" anchor="ctr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+mn-lt"/>
                        </a:rPr>
                        <a:t>16</a:t>
                      </a:r>
                    </a:p>
                  </a:txBody>
                  <a:tcPr marL="27000" marR="27000" marT="27000" marB="27000" anchor="ctr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27000" marR="27000" marT="27000" marB="2700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0000</a:t>
                      </a:r>
                    </a:p>
                  </a:txBody>
                  <a:tcPr marL="27000" marR="27000" marT="27000" marB="2700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27000" marR="27000" marT="27000" marB="2700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27000" marR="27000" marT="27000" marB="2700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0001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0010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0011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0100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0101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0110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0111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1001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1010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1011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1100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1101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1110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1111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10000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0662142-0752-45B0-82FA-0E2BA38AB472}"/>
              </a:ext>
            </a:extLst>
          </p:cNvPr>
          <p:cNvSpPr/>
          <p:nvPr/>
        </p:nvSpPr>
        <p:spPr bwMode="auto">
          <a:xfrm>
            <a:off x="2738656" y="734941"/>
            <a:ext cx="1242874" cy="519112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6D513D0-60FD-48FA-8A82-216BD12F7198}"/>
              </a:ext>
            </a:extLst>
          </p:cNvPr>
          <p:cNvSpPr/>
          <p:nvPr/>
        </p:nvSpPr>
        <p:spPr bwMode="auto">
          <a:xfrm>
            <a:off x="3919598" y="707882"/>
            <a:ext cx="1242874" cy="519112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23155E3-ED32-41A2-BB6D-0EB4BEA77E55}"/>
              </a:ext>
            </a:extLst>
          </p:cNvPr>
          <p:cNvSpPr/>
          <p:nvPr/>
        </p:nvSpPr>
        <p:spPr bwMode="auto">
          <a:xfrm>
            <a:off x="5105698" y="721412"/>
            <a:ext cx="1242874" cy="519112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CB68802-3AE4-461C-B630-3741C3B6A4B8}"/>
              </a:ext>
            </a:extLst>
          </p:cNvPr>
          <p:cNvSpPr/>
          <p:nvPr/>
        </p:nvSpPr>
        <p:spPr bwMode="auto">
          <a:xfrm>
            <a:off x="6343414" y="734941"/>
            <a:ext cx="1242874" cy="519112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734" y="108349"/>
            <a:ext cx="7710956" cy="519113"/>
          </a:xfrm>
        </p:spPr>
        <p:txBody>
          <a:bodyPr/>
          <a:lstStyle/>
          <a:p>
            <a:r>
              <a:rPr lang="en-US" altLang="en-US" sz="3200" dirty="0"/>
              <a:t>Number Systems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5844" y="844657"/>
            <a:ext cx="7710956" cy="2854888"/>
          </a:xfrm>
        </p:spPr>
        <p:txBody>
          <a:bodyPr/>
          <a:lstStyle/>
          <a:p>
            <a:r>
              <a:rPr lang="en-US" sz="2400" b="1" dirty="0">
                <a:solidFill>
                  <a:schemeClr val="accent1"/>
                </a:solidFill>
              </a:rPr>
              <a:t>Decimal numbers</a:t>
            </a:r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400" b="1" dirty="0">
              <a:solidFill>
                <a:schemeClr val="accent1"/>
              </a:solidFill>
            </a:endParaRPr>
          </a:p>
          <a:p>
            <a:r>
              <a:rPr lang="en-US" sz="2400" b="1" dirty="0">
                <a:solidFill>
                  <a:schemeClr val="accent1"/>
                </a:solidFill>
              </a:rPr>
              <a:t>Binary numbers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3160675" y="1323493"/>
            <a:ext cx="4296015" cy="1640612"/>
            <a:chOff x="2130968" y="1777866"/>
            <a:chExt cx="5728020" cy="2187481"/>
          </a:xfrm>
        </p:grpSpPr>
        <p:graphicFrame>
          <p:nvGraphicFramePr>
            <p:cNvPr id="7" name="Object 6"/>
            <p:cNvGraphicFramePr>
              <a:graphicFrameLocks noChangeAspect="1"/>
            </p:cNvGraphicFramePr>
            <p:nvPr/>
          </p:nvGraphicFramePr>
          <p:xfrm>
            <a:off x="2146357" y="3023626"/>
            <a:ext cx="5712631" cy="540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8" name="Equation" r:id="rId4" imgW="61264800" imgH="5791200" progId="Equation.3">
                    <p:embed/>
                  </p:oleObj>
                </mc:Choice>
                <mc:Fallback>
                  <p:oleObj name="Equation" r:id="rId4" imgW="61264800" imgH="5791200" progId="Equation.3">
                    <p:embed/>
                    <p:pic>
                      <p:nvPicPr>
                        <p:cNvPr id="0" name="Object 6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146357" y="3023626"/>
                          <a:ext cx="5712631" cy="540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Box 10"/>
            <p:cNvSpPr txBox="1"/>
            <p:nvPr/>
          </p:nvSpPr>
          <p:spPr>
            <a:xfrm rot="5400000">
              <a:off x="1595779" y="2313055"/>
              <a:ext cx="1408933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1000’s column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 rot="5400000">
              <a:off x="1826368" y="2263362"/>
              <a:ext cx="1308478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100’s column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 rot="5400000">
              <a:off x="2056959" y="2213670"/>
              <a:ext cx="1208022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10’s column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 rot="5400000">
              <a:off x="2287551" y="2163976"/>
              <a:ext cx="1107569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1’s column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74885" y="3411349"/>
              <a:ext cx="1077647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five</a:t>
              </a:r>
            </a:p>
            <a:p>
              <a:pPr algn="ctr"/>
              <a:r>
                <a:rPr lang="en-US" sz="1050" dirty="0"/>
                <a:t>thousands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476672" y="3411350"/>
              <a:ext cx="998565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three</a:t>
              </a:r>
            </a:p>
            <a:p>
              <a:pPr algn="ctr"/>
              <a:r>
                <a:rPr lang="en-US" sz="1050" dirty="0"/>
                <a:t>hundreds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772360" y="3411350"/>
              <a:ext cx="727123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seven</a:t>
              </a:r>
            </a:p>
            <a:p>
              <a:pPr algn="ctr"/>
              <a:r>
                <a:rPr lang="en-US" sz="1050" dirty="0"/>
                <a:t>tens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034661" y="3411350"/>
              <a:ext cx="637355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four</a:t>
              </a:r>
            </a:p>
            <a:p>
              <a:pPr algn="ctr"/>
              <a:r>
                <a:rPr lang="en-US" sz="1050" dirty="0"/>
                <a:t>ones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127119" y="3198082"/>
            <a:ext cx="4357817" cy="1403069"/>
            <a:chOff x="2130967" y="4403767"/>
            <a:chExt cx="5810422" cy="1870759"/>
          </a:xfrm>
        </p:grpSpPr>
        <p:graphicFrame>
          <p:nvGraphicFramePr>
            <p:cNvPr id="8" name="Object 7"/>
            <p:cNvGraphicFramePr>
              <a:graphicFrameLocks noChangeAspect="1"/>
            </p:cNvGraphicFramePr>
            <p:nvPr/>
          </p:nvGraphicFramePr>
          <p:xfrm>
            <a:off x="2200989" y="5331699"/>
            <a:ext cx="5740400" cy="539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9" name="Equation" r:id="rId6" imgW="61569600" imgH="5791200" progId="Equation.3">
                    <p:embed/>
                  </p:oleObj>
                </mc:Choice>
                <mc:Fallback>
                  <p:oleObj name="Equation" r:id="rId6" imgW="61569600" imgH="5791200" progId="Equation.3">
                    <p:embed/>
                    <p:pic>
                      <p:nvPicPr>
                        <p:cNvPr id="0" name="Object 7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200989" y="5331699"/>
                          <a:ext cx="5740400" cy="5397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TextBox 19"/>
            <p:cNvSpPr txBox="1"/>
            <p:nvPr/>
          </p:nvSpPr>
          <p:spPr>
            <a:xfrm rot="5400000">
              <a:off x="1746460" y="4788274"/>
              <a:ext cx="1107570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8’s column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 rot="5400000">
              <a:off x="1926824" y="4788274"/>
              <a:ext cx="1107570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4’s column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 rot="5400000">
              <a:off x="2107187" y="4788274"/>
              <a:ext cx="1107570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2’s column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 rot="5400000">
              <a:off x="2287551" y="4788274"/>
              <a:ext cx="1107570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1’s column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302084" y="5720529"/>
              <a:ext cx="637355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one</a:t>
              </a:r>
            </a:p>
            <a:p>
              <a:pPr algn="ctr"/>
              <a:r>
                <a:rPr lang="en-US" sz="1050" dirty="0"/>
                <a:t>eight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345548" y="5720529"/>
              <a:ext cx="556136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one</a:t>
              </a:r>
            </a:p>
            <a:p>
              <a:pPr algn="ctr"/>
              <a:r>
                <a:rPr lang="en-US" sz="1050" dirty="0"/>
                <a:t>four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350987" y="5720529"/>
              <a:ext cx="596744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zero</a:t>
              </a:r>
            </a:p>
            <a:p>
              <a:pPr algn="ctr"/>
              <a:r>
                <a:rPr lang="en-US" sz="1050" dirty="0"/>
                <a:t>two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341315" y="5720529"/>
              <a:ext cx="547587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one</a:t>
              </a:r>
            </a:p>
            <a:p>
              <a:pPr algn="ctr"/>
              <a:r>
                <a:rPr lang="en-US" sz="1050" dirty="0"/>
                <a:t>one</a:t>
              </a:r>
            </a:p>
          </p:txBody>
        </p:sp>
      </p:grp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18</a:t>
            </a:fld>
            <a:endParaRPr lang="zh-TW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5068" y="108349"/>
            <a:ext cx="7660622" cy="519113"/>
          </a:xfrm>
        </p:spPr>
        <p:txBody>
          <a:bodyPr/>
          <a:lstStyle/>
          <a:p>
            <a:r>
              <a:rPr lang="en-US" dirty="0"/>
              <a:t>Exercise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736" y="844153"/>
            <a:ext cx="7571064" cy="3671888"/>
          </a:xfrm>
        </p:spPr>
        <p:txBody>
          <a:bodyPr/>
          <a:lstStyle/>
          <a:p>
            <a:r>
              <a:rPr lang="en-US" sz="2400" b="1" dirty="0">
                <a:solidFill>
                  <a:schemeClr val="accent6"/>
                </a:solidFill>
              </a:rPr>
              <a:t>Ex : </a:t>
            </a:r>
            <a:r>
              <a:rPr lang="en-US" sz="2400" b="1" dirty="0"/>
              <a:t>What value is  </a:t>
            </a:r>
            <a:r>
              <a:rPr kumimoji="1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標楷體" pitchFamily="65" charset="-120"/>
                <a:cs typeface="+mn-cs"/>
              </a:rPr>
              <a:t>36</a:t>
            </a:r>
            <a:r>
              <a:rPr kumimoji="1" lang="en-US" sz="24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標楷體" pitchFamily="65" charset="-120"/>
                <a:cs typeface="+mn-cs"/>
              </a:rPr>
              <a:t>16 </a:t>
            </a:r>
            <a:r>
              <a:rPr kumimoji="1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標楷體" pitchFamily="65" charset="-120"/>
                <a:cs typeface="+mn-cs"/>
              </a:rPr>
              <a:t>and AA</a:t>
            </a:r>
            <a:r>
              <a:rPr kumimoji="1" lang="en-US" sz="24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標楷體" pitchFamily="65" charset="-120"/>
                <a:cs typeface="+mn-cs"/>
              </a:rPr>
              <a:t>16</a:t>
            </a:r>
            <a:endParaRPr lang="en-US" sz="2400" dirty="0"/>
          </a:p>
          <a:p>
            <a:pPr marL="0" indent="0">
              <a:buNone/>
            </a:pPr>
            <a:r>
              <a:rPr kumimoji="1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標楷體" pitchFamily="65" charset="-120"/>
                <a:cs typeface="+mn-cs"/>
              </a:rPr>
              <a:t>36</a:t>
            </a:r>
            <a:r>
              <a:rPr kumimoji="1" lang="en-US" sz="24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標楷體" pitchFamily="65" charset="-120"/>
                <a:cs typeface="+mn-cs"/>
              </a:rPr>
              <a:t>16 </a:t>
            </a:r>
            <a:r>
              <a:rPr lang="en-US" sz="2400" dirty="0">
                <a:solidFill>
                  <a:prstClr val="black"/>
                </a:solidFill>
              </a:rPr>
              <a:t> = </a:t>
            </a:r>
            <a:r>
              <a:rPr lang="en-US" sz="2400" dirty="0"/>
              <a:t>3x16 + 6 = 54</a:t>
            </a:r>
          </a:p>
          <a:p>
            <a:pPr marL="0" indent="0">
              <a:buNone/>
            </a:pPr>
            <a:r>
              <a:rPr kumimoji="1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標楷體" pitchFamily="65" charset="-120"/>
                <a:cs typeface="+mn-cs"/>
              </a:rPr>
              <a:t>AA</a:t>
            </a:r>
            <a:r>
              <a:rPr kumimoji="1" lang="en-US" sz="24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標楷體" pitchFamily="65" charset="-120"/>
                <a:cs typeface="+mn-cs"/>
              </a:rPr>
              <a:t>16</a:t>
            </a:r>
            <a:r>
              <a:rPr kumimoji="1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標楷體" pitchFamily="65" charset="-120"/>
                <a:cs typeface="+mn-cs"/>
              </a:rPr>
              <a:t> = 10x16 + 10 = 170</a:t>
            </a:r>
            <a:endParaRPr lang="en-US" sz="2400" dirty="0"/>
          </a:p>
          <a:p>
            <a:pPr lvl="0"/>
            <a:r>
              <a:rPr lang="en-US" sz="2400" b="1" dirty="0">
                <a:solidFill>
                  <a:srgbClr val="F79646"/>
                </a:solidFill>
              </a:rPr>
              <a:t>Ex : </a:t>
            </a:r>
            <a:r>
              <a:rPr lang="en-US" sz="2400" b="1" dirty="0">
                <a:solidFill>
                  <a:prstClr val="black"/>
                </a:solidFill>
              </a:rPr>
              <a:t>What value is  </a:t>
            </a:r>
            <a:r>
              <a:rPr lang="en-US" sz="2400" dirty="0">
                <a:solidFill>
                  <a:prstClr val="black"/>
                </a:solidFill>
              </a:rPr>
              <a:t>10000001</a:t>
            </a:r>
            <a:r>
              <a:rPr lang="en-US" sz="2400" baseline="-25000" dirty="0">
                <a:solidFill>
                  <a:prstClr val="black"/>
                </a:solidFill>
              </a:rPr>
              <a:t>2 </a:t>
            </a:r>
            <a:r>
              <a:rPr lang="en-US" sz="2400" dirty="0">
                <a:solidFill>
                  <a:prstClr val="black"/>
                </a:solidFill>
              </a:rPr>
              <a:t>and 11110000</a:t>
            </a:r>
            <a:r>
              <a:rPr lang="en-US" sz="2400" baseline="-25000" dirty="0">
                <a:solidFill>
                  <a:prstClr val="black"/>
                </a:solidFill>
              </a:rPr>
              <a:t>2</a:t>
            </a:r>
            <a:endParaRPr lang="en-US" sz="2400" dirty="0">
              <a:solidFill>
                <a:prstClr val="black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prstClr val="black"/>
                </a:solidFill>
              </a:rPr>
              <a:t>10000001</a:t>
            </a:r>
            <a:r>
              <a:rPr lang="en-US" sz="2400" baseline="-25000" dirty="0">
                <a:solidFill>
                  <a:prstClr val="black"/>
                </a:solidFill>
              </a:rPr>
              <a:t>2 </a:t>
            </a:r>
            <a:r>
              <a:rPr lang="en-US" sz="2400" dirty="0">
                <a:solidFill>
                  <a:prstClr val="black"/>
                </a:solidFill>
              </a:rPr>
              <a:t>= 128 + 1 = 129</a:t>
            </a:r>
          </a:p>
          <a:p>
            <a:pPr marL="0" indent="0">
              <a:buNone/>
            </a:pPr>
            <a:r>
              <a:rPr lang="en-US" sz="2400" dirty="0">
                <a:solidFill>
                  <a:prstClr val="black"/>
                </a:solidFill>
              </a:rPr>
              <a:t>11110000</a:t>
            </a:r>
            <a:r>
              <a:rPr lang="en-US" sz="2400" baseline="-25000" dirty="0">
                <a:solidFill>
                  <a:prstClr val="black"/>
                </a:solidFill>
              </a:rPr>
              <a:t>2 </a:t>
            </a:r>
            <a:r>
              <a:rPr lang="en-US" sz="2400" dirty="0">
                <a:solidFill>
                  <a:prstClr val="black"/>
                </a:solidFill>
              </a:rPr>
              <a:t>= F0</a:t>
            </a:r>
            <a:r>
              <a:rPr lang="en-US" sz="2400" baseline="-25000" dirty="0">
                <a:solidFill>
                  <a:prstClr val="black"/>
                </a:solidFill>
              </a:rPr>
              <a:t>16 </a:t>
            </a:r>
            <a:r>
              <a:rPr lang="en-US" sz="2400" dirty="0">
                <a:solidFill>
                  <a:prstClr val="black"/>
                </a:solidFill>
              </a:rPr>
              <a:t>=15x16 + 0 = 240</a:t>
            </a:r>
            <a:endParaRPr 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9676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567" y="108349"/>
            <a:ext cx="7736123" cy="519113"/>
          </a:xfrm>
        </p:spPr>
        <p:txBody>
          <a:bodyPr/>
          <a:lstStyle/>
          <a:p>
            <a:r>
              <a:rPr lang="en-US" altLang="en-US" sz="3200" dirty="0"/>
              <a:t>Powers of Two</a:t>
            </a:r>
            <a:endParaRPr lang="en-US" sz="3200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1052818" y="994752"/>
            <a:ext cx="4038600" cy="3170774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baseline="30000" dirty="0">
                <a:cs typeface="Times New Roman" panose="02020603050405020304" pitchFamily="18" charset="0"/>
              </a:rPr>
              <a:t>0</a:t>
            </a:r>
            <a:r>
              <a:rPr lang="en-US" dirty="0">
                <a:cs typeface="Times New Roman" panose="02020603050405020304" pitchFamily="18" charset="0"/>
              </a:rPr>
              <a:t> = 1</a:t>
            </a:r>
          </a:p>
          <a:p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baseline="30000" dirty="0">
                <a:cs typeface="Times New Roman" panose="02020603050405020304" pitchFamily="18" charset="0"/>
              </a:rPr>
              <a:t>1</a:t>
            </a:r>
            <a:r>
              <a:rPr lang="en-US" dirty="0">
                <a:cs typeface="Times New Roman" panose="02020603050405020304" pitchFamily="18" charset="0"/>
              </a:rPr>
              <a:t> = 2</a:t>
            </a:r>
          </a:p>
          <a:p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baseline="30000" dirty="0">
                <a:cs typeface="Times New Roman" panose="02020603050405020304" pitchFamily="18" charset="0"/>
              </a:rPr>
              <a:t>2</a:t>
            </a:r>
            <a:r>
              <a:rPr lang="en-US" dirty="0">
                <a:cs typeface="Times New Roman" panose="02020603050405020304" pitchFamily="18" charset="0"/>
              </a:rPr>
              <a:t> = 4</a:t>
            </a:r>
          </a:p>
          <a:p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baseline="30000" dirty="0">
                <a:cs typeface="Times New Roman" panose="02020603050405020304" pitchFamily="18" charset="0"/>
              </a:rPr>
              <a:t>3</a:t>
            </a:r>
            <a:r>
              <a:rPr lang="en-US" dirty="0">
                <a:cs typeface="Times New Roman" panose="02020603050405020304" pitchFamily="18" charset="0"/>
              </a:rPr>
              <a:t> = 8</a:t>
            </a:r>
          </a:p>
          <a:p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baseline="30000" dirty="0">
                <a:cs typeface="Times New Roman" panose="02020603050405020304" pitchFamily="18" charset="0"/>
              </a:rPr>
              <a:t>4</a:t>
            </a:r>
            <a:r>
              <a:rPr lang="en-US" dirty="0">
                <a:cs typeface="Times New Roman" panose="02020603050405020304" pitchFamily="18" charset="0"/>
              </a:rPr>
              <a:t> = 16</a:t>
            </a:r>
          </a:p>
          <a:p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baseline="30000" dirty="0">
                <a:cs typeface="Times New Roman" panose="02020603050405020304" pitchFamily="18" charset="0"/>
              </a:rPr>
              <a:t>5</a:t>
            </a:r>
            <a:r>
              <a:rPr lang="en-US" dirty="0">
                <a:cs typeface="Times New Roman" panose="02020603050405020304" pitchFamily="18" charset="0"/>
              </a:rPr>
              <a:t> = 32</a:t>
            </a:r>
          </a:p>
          <a:p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baseline="30000" dirty="0">
                <a:cs typeface="Times New Roman" panose="02020603050405020304" pitchFamily="18" charset="0"/>
              </a:rPr>
              <a:t>6</a:t>
            </a:r>
            <a:r>
              <a:rPr lang="en-US" dirty="0">
                <a:cs typeface="Times New Roman" panose="02020603050405020304" pitchFamily="18" charset="0"/>
              </a:rPr>
              <a:t> = 64</a:t>
            </a:r>
          </a:p>
          <a:p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baseline="30000" dirty="0">
                <a:cs typeface="Times New Roman" panose="02020603050405020304" pitchFamily="18" charset="0"/>
              </a:rPr>
              <a:t>7</a:t>
            </a:r>
            <a:r>
              <a:rPr lang="en-US" dirty="0">
                <a:cs typeface="Times New Roman" panose="02020603050405020304" pitchFamily="18" charset="0"/>
              </a:rPr>
              <a:t> =128</a:t>
            </a:r>
          </a:p>
          <a:p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baseline="30000" dirty="0">
                <a:cs typeface="Times New Roman" panose="02020603050405020304" pitchFamily="18" charset="0"/>
              </a:rPr>
              <a:t>8</a:t>
            </a:r>
            <a:r>
              <a:rPr lang="en-US" dirty="0">
                <a:cs typeface="Times New Roman" panose="02020603050405020304" pitchFamily="18" charset="0"/>
              </a:rPr>
              <a:t> = 256</a:t>
            </a:r>
          </a:p>
          <a:p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baseline="30000" dirty="0">
                <a:cs typeface="Times New Roman" panose="02020603050405020304" pitchFamily="18" charset="0"/>
              </a:rPr>
              <a:t>9</a:t>
            </a:r>
            <a:r>
              <a:rPr lang="en-US" dirty="0">
                <a:cs typeface="Times New Roman" panose="02020603050405020304" pitchFamily="18" charset="0"/>
              </a:rPr>
              <a:t> = 512</a:t>
            </a:r>
          </a:p>
          <a:p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baseline="30000" dirty="0">
                <a:cs typeface="Times New Roman" panose="02020603050405020304" pitchFamily="18" charset="0"/>
              </a:rPr>
              <a:t>10</a:t>
            </a:r>
            <a:r>
              <a:rPr lang="en-US" dirty="0">
                <a:cs typeface="Times New Roman" panose="02020603050405020304" pitchFamily="18" charset="0"/>
              </a:rPr>
              <a:t> = 1024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3749045" y="994752"/>
            <a:ext cx="3696578" cy="3263504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baseline="30000" dirty="0">
                <a:cs typeface="Times New Roman" panose="02020603050405020304" pitchFamily="18" charset="0"/>
              </a:rPr>
              <a:t>11</a:t>
            </a:r>
            <a:r>
              <a:rPr lang="en-US" dirty="0">
                <a:cs typeface="Times New Roman" panose="02020603050405020304" pitchFamily="18" charset="0"/>
              </a:rPr>
              <a:t> = 2</a:t>
            </a:r>
            <a:r>
              <a:rPr lang="en-US" baseline="30000" dirty="0">
                <a:cs typeface="Times New Roman" panose="02020603050405020304" pitchFamily="18" charset="0"/>
              </a:rPr>
              <a:t>10</a:t>
            </a:r>
            <a:r>
              <a:rPr lang="en-US" dirty="0">
                <a:cs typeface="Times New Roman" panose="02020603050405020304" pitchFamily="18" charset="0"/>
              </a:rPr>
              <a:t> × 2</a:t>
            </a:r>
            <a:r>
              <a:rPr lang="en-US" baseline="30000" dirty="0">
                <a:cs typeface="Times New Roman" panose="02020603050405020304" pitchFamily="18" charset="0"/>
              </a:rPr>
              <a:t>1</a:t>
            </a:r>
            <a:r>
              <a:rPr lang="en-US" dirty="0">
                <a:cs typeface="Times New Roman" panose="02020603050405020304" pitchFamily="18" charset="0"/>
              </a:rPr>
              <a:t> = 2048</a:t>
            </a:r>
          </a:p>
          <a:p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baseline="30000" dirty="0">
                <a:cs typeface="Times New Roman" panose="02020603050405020304" pitchFamily="18" charset="0"/>
              </a:rPr>
              <a:t>12</a:t>
            </a:r>
            <a:r>
              <a:rPr lang="en-US" dirty="0">
                <a:cs typeface="Times New Roman" panose="02020603050405020304" pitchFamily="18" charset="0"/>
              </a:rPr>
              <a:t> = 2</a:t>
            </a:r>
            <a:r>
              <a:rPr lang="en-US" baseline="30000" dirty="0">
                <a:cs typeface="Times New Roman" panose="02020603050405020304" pitchFamily="18" charset="0"/>
              </a:rPr>
              <a:t>10</a:t>
            </a:r>
            <a:r>
              <a:rPr lang="en-US" dirty="0">
                <a:cs typeface="Times New Roman" panose="02020603050405020304" pitchFamily="18" charset="0"/>
              </a:rPr>
              <a:t> × 2</a:t>
            </a:r>
            <a:r>
              <a:rPr lang="en-US" baseline="30000" dirty="0">
                <a:cs typeface="Times New Roman" panose="02020603050405020304" pitchFamily="18" charset="0"/>
              </a:rPr>
              <a:t>2</a:t>
            </a:r>
            <a:r>
              <a:rPr lang="en-US" dirty="0">
                <a:cs typeface="Times New Roman" panose="02020603050405020304" pitchFamily="18" charset="0"/>
              </a:rPr>
              <a:t> = 4096</a:t>
            </a:r>
          </a:p>
          <a:p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baseline="30000" dirty="0">
                <a:cs typeface="Times New Roman" panose="02020603050405020304" pitchFamily="18" charset="0"/>
              </a:rPr>
              <a:t>16</a:t>
            </a:r>
            <a:r>
              <a:rPr lang="en-US" dirty="0">
                <a:cs typeface="Times New Roman" panose="02020603050405020304" pitchFamily="18" charset="0"/>
              </a:rPr>
              <a:t> = 2</a:t>
            </a:r>
            <a:r>
              <a:rPr lang="en-US" baseline="30000" dirty="0">
                <a:cs typeface="Times New Roman" panose="02020603050405020304" pitchFamily="18" charset="0"/>
              </a:rPr>
              <a:t>10</a:t>
            </a:r>
            <a:r>
              <a:rPr lang="en-US" dirty="0">
                <a:cs typeface="Times New Roman" panose="02020603050405020304" pitchFamily="18" charset="0"/>
              </a:rPr>
              <a:t> 2</a:t>
            </a:r>
            <a:r>
              <a:rPr lang="en-US" baseline="30000" dirty="0">
                <a:cs typeface="Times New Roman" panose="02020603050405020304" pitchFamily="18" charset="0"/>
              </a:rPr>
              <a:t>6</a:t>
            </a:r>
            <a:r>
              <a:rPr lang="en-US" dirty="0">
                <a:cs typeface="Times New Roman" panose="02020603050405020304" pitchFamily="18" charset="0"/>
              </a:rPr>
              <a:t> = 65536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…</a:t>
            </a:r>
          </a:p>
          <a:p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baseline="30000" dirty="0">
                <a:cs typeface="Times New Roman" panose="02020603050405020304" pitchFamily="18" charset="0"/>
              </a:rPr>
              <a:t>20</a:t>
            </a:r>
            <a:r>
              <a:rPr lang="en-US" dirty="0">
                <a:cs typeface="Times New Roman" panose="02020603050405020304" pitchFamily="18" charset="0"/>
              </a:rPr>
              <a:t> = 2</a:t>
            </a:r>
            <a:r>
              <a:rPr lang="en-US" baseline="30000" dirty="0">
                <a:cs typeface="Times New Roman" panose="02020603050405020304" pitchFamily="18" charset="0"/>
              </a:rPr>
              <a:t>10</a:t>
            </a:r>
            <a:r>
              <a:rPr lang="en-US" dirty="0">
                <a:cs typeface="Times New Roman" panose="02020603050405020304" pitchFamily="18" charset="0"/>
              </a:rPr>
              <a:t> × 2</a:t>
            </a:r>
            <a:r>
              <a:rPr lang="en-US" baseline="30000" dirty="0">
                <a:cs typeface="Times New Roman" panose="02020603050405020304" pitchFamily="18" charset="0"/>
              </a:rPr>
              <a:t>10</a:t>
            </a:r>
            <a:r>
              <a:rPr lang="en-US" dirty="0">
                <a:cs typeface="Times New Roman" panose="02020603050405020304" pitchFamily="18" charset="0"/>
              </a:rPr>
              <a:t> = 1048576</a:t>
            </a:r>
          </a:p>
          <a:p>
            <a:endParaRPr lang="en-US" dirty="0"/>
          </a:p>
          <a:p>
            <a:r>
              <a:rPr lang="en-US" dirty="0"/>
              <a:t>Handy to memorize up to </a:t>
            </a:r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baseline="30000" dirty="0">
                <a:cs typeface="Times New Roman" panose="02020603050405020304" pitchFamily="18" charset="0"/>
              </a:rPr>
              <a:t>12</a:t>
            </a:r>
            <a:endParaRPr lang="en-US" dirty="0"/>
          </a:p>
          <a:p>
            <a:endParaRPr 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20</a:t>
            </a:fld>
            <a:endParaRPr lang="zh-TW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973123" y="108349"/>
            <a:ext cx="7702567" cy="519113"/>
          </a:xfrm>
        </p:spPr>
        <p:txBody>
          <a:bodyPr/>
          <a:lstStyle/>
          <a:p>
            <a:r>
              <a:rPr lang="en-US" altLang="en-US" sz="3200" dirty="0"/>
              <a:t>Decimal vs Binary Numbers</a:t>
            </a:r>
            <a:endParaRPr lang="en-US" sz="3200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065402" y="844153"/>
            <a:ext cx="7621398" cy="3671888"/>
          </a:xfrm>
        </p:spPr>
        <p:txBody>
          <a:bodyPr>
            <a:noAutofit/>
          </a:bodyPr>
          <a:lstStyle/>
          <a:p>
            <a:r>
              <a:rPr lang="en-US" sz="1600" dirty="0"/>
              <a:t>Binary to decimal conversion:</a:t>
            </a:r>
          </a:p>
          <a:p>
            <a:pPr lvl="1"/>
            <a:r>
              <a:rPr lang="en-US" sz="1200" dirty="0"/>
              <a:t>Convert 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10011</a:t>
            </a:r>
            <a:r>
              <a:rPr lang="en-US" sz="1200" baseline="-25000" dirty="0">
                <a:cs typeface="Times New Roman" panose="02020603050405020304" pitchFamily="18" charset="0"/>
              </a:rPr>
              <a:t>2</a:t>
            </a:r>
            <a:r>
              <a:rPr lang="en-US" sz="1200" dirty="0"/>
              <a:t> to decimal</a:t>
            </a:r>
          </a:p>
          <a:p>
            <a:pPr lvl="1"/>
            <a:r>
              <a:rPr lang="en-US" sz="1200" dirty="0">
                <a:cs typeface="Times New Roman" panose="02020603050405020304" pitchFamily="18" charset="0"/>
              </a:rPr>
              <a:t>16×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1</a:t>
            </a:r>
            <a:r>
              <a:rPr lang="en-US" sz="1200" dirty="0">
                <a:cs typeface="Times New Roman" panose="02020603050405020304" pitchFamily="18" charset="0"/>
              </a:rPr>
              <a:t> + 8×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0</a:t>
            </a:r>
            <a:r>
              <a:rPr lang="en-US" sz="1200" dirty="0">
                <a:cs typeface="Times New Roman" panose="02020603050405020304" pitchFamily="18" charset="0"/>
              </a:rPr>
              <a:t> + 4×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0</a:t>
            </a:r>
            <a:r>
              <a:rPr lang="en-US" sz="1200" dirty="0">
                <a:cs typeface="Times New Roman" panose="02020603050405020304" pitchFamily="18" charset="0"/>
              </a:rPr>
              <a:t> + 2×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1</a:t>
            </a:r>
            <a:r>
              <a:rPr lang="en-US" sz="1200" dirty="0">
                <a:cs typeface="Times New Roman" panose="02020603050405020304" pitchFamily="18" charset="0"/>
              </a:rPr>
              <a:t> + 1×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1</a:t>
            </a:r>
            <a:r>
              <a:rPr lang="en-US" sz="1200" dirty="0">
                <a:cs typeface="Times New Roman" panose="02020603050405020304" pitchFamily="18" charset="0"/>
              </a:rPr>
              <a:t> = 19</a:t>
            </a:r>
            <a:r>
              <a:rPr lang="en-US" sz="1200" baseline="-25000" dirty="0">
                <a:cs typeface="Times New Roman" panose="02020603050405020304" pitchFamily="18" charset="0"/>
              </a:rPr>
              <a:t>10</a:t>
            </a:r>
          </a:p>
          <a:p>
            <a:r>
              <a:rPr lang="en-US" sz="1600" dirty="0"/>
              <a:t>Decimal to binary conversion:</a:t>
            </a:r>
          </a:p>
          <a:p>
            <a:pPr lvl="1"/>
            <a:r>
              <a:rPr lang="en-US" sz="1200" dirty="0"/>
              <a:t>Convert </a:t>
            </a:r>
            <a:r>
              <a:rPr lang="en-US" sz="1200" dirty="0">
                <a:cs typeface="Times New Roman" panose="02020603050405020304" pitchFamily="18" charset="0"/>
              </a:rPr>
              <a:t>47</a:t>
            </a:r>
            <a:r>
              <a:rPr lang="en-US" sz="1200" baseline="-25000" dirty="0">
                <a:cs typeface="Times New Roman" panose="02020603050405020304" pitchFamily="18" charset="0"/>
              </a:rPr>
              <a:t>10</a:t>
            </a:r>
            <a:r>
              <a:rPr lang="en-US" sz="1200" dirty="0"/>
              <a:t> to binary</a:t>
            </a:r>
          </a:p>
          <a:p>
            <a:pPr lvl="1"/>
            <a:r>
              <a:rPr lang="en-US" sz="1200" dirty="0">
                <a:cs typeface="Times New Roman" panose="02020603050405020304" pitchFamily="18" charset="0"/>
              </a:rPr>
              <a:t>32×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1</a:t>
            </a:r>
            <a:r>
              <a:rPr lang="en-US" sz="1200" dirty="0">
                <a:cs typeface="Times New Roman" panose="02020603050405020304" pitchFamily="18" charset="0"/>
              </a:rPr>
              <a:t> + 16×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0</a:t>
            </a:r>
            <a:r>
              <a:rPr lang="en-US" sz="1200" dirty="0">
                <a:cs typeface="Times New Roman" panose="02020603050405020304" pitchFamily="18" charset="0"/>
              </a:rPr>
              <a:t> + 8×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1</a:t>
            </a:r>
            <a:r>
              <a:rPr lang="en-US" sz="1200" dirty="0">
                <a:cs typeface="Times New Roman" panose="02020603050405020304" pitchFamily="18" charset="0"/>
              </a:rPr>
              <a:t> + 4×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1</a:t>
            </a:r>
            <a:r>
              <a:rPr lang="en-US" sz="1200" dirty="0">
                <a:cs typeface="Times New Roman" panose="02020603050405020304" pitchFamily="18" charset="0"/>
              </a:rPr>
              <a:t> + 2×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1</a:t>
            </a:r>
            <a:r>
              <a:rPr lang="en-US" sz="1200" dirty="0">
                <a:cs typeface="Times New Roman" panose="02020603050405020304" pitchFamily="18" charset="0"/>
              </a:rPr>
              <a:t> + 1×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1</a:t>
            </a:r>
            <a:r>
              <a:rPr lang="en-US" sz="1200" dirty="0">
                <a:cs typeface="Times New Roman" panose="02020603050405020304" pitchFamily="18" charset="0"/>
              </a:rPr>
              <a:t> = 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101111</a:t>
            </a:r>
            <a:r>
              <a:rPr lang="en-US" sz="1200" baseline="-25000" dirty="0">
                <a:cs typeface="Times New Roman" panose="02020603050405020304" pitchFamily="18" charset="0"/>
              </a:rPr>
              <a:t>2</a:t>
            </a:r>
          </a:p>
          <a:p>
            <a:r>
              <a:rPr lang="en-US" sz="1600" i="1" dirty="0"/>
              <a:t>N</a:t>
            </a:r>
            <a:r>
              <a:rPr lang="en-US" sz="1600" dirty="0"/>
              <a:t>-digit decimal number</a:t>
            </a:r>
          </a:p>
          <a:p>
            <a:pPr lvl="1">
              <a:tabLst>
                <a:tab pos="3429000" algn="l"/>
              </a:tabLst>
            </a:pPr>
            <a:r>
              <a:rPr lang="en-US" sz="1200" dirty="0"/>
              <a:t>How many values? 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10</a:t>
            </a:r>
            <a:r>
              <a:rPr lang="en-US" sz="1200" b="1" i="1" baseline="30000" dirty="0">
                <a:solidFill>
                  <a:schemeClr val="accent1"/>
                </a:solidFill>
                <a:cs typeface="Times New Roman" panose="02020603050405020304" pitchFamily="18" charset="0"/>
              </a:rPr>
              <a:t>N</a:t>
            </a:r>
            <a:r>
              <a:rPr lang="en-US" sz="1200" dirty="0"/>
              <a:t>	Range: [0, 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10</a:t>
            </a:r>
            <a:r>
              <a:rPr lang="en-US" sz="1200" b="1" i="1" baseline="30000" dirty="0">
                <a:solidFill>
                  <a:schemeClr val="accent1"/>
                </a:solidFill>
                <a:cs typeface="Times New Roman" panose="02020603050405020304" pitchFamily="18" charset="0"/>
              </a:rPr>
              <a:t>N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−1</a:t>
            </a:r>
            <a:r>
              <a:rPr lang="en-US" sz="1200" dirty="0"/>
              <a:t>]</a:t>
            </a:r>
          </a:p>
          <a:p>
            <a:pPr lvl="1"/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Example:</a:t>
            </a:r>
            <a:r>
              <a:rPr lang="en-US" sz="1200" dirty="0"/>
              <a:t> 3-digit decimal number:</a:t>
            </a:r>
          </a:p>
          <a:p>
            <a:pPr lvl="1">
              <a:tabLst>
                <a:tab pos="3429000" algn="l"/>
              </a:tabLst>
            </a:pPr>
            <a:r>
              <a:rPr lang="en-US" sz="1200" b="1" dirty="0">
                <a:cs typeface="Times New Roman" panose="02020603050405020304" pitchFamily="18" charset="0"/>
              </a:rPr>
              <a:t>10</a:t>
            </a:r>
            <a:r>
              <a:rPr lang="en-US" sz="1200" b="1" baseline="30000" dirty="0">
                <a:cs typeface="Times New Roman" panose="02020603050405020304" pitchFamily="18" charset="0"/>
              </a:rPr>
              <a:t>3</a:t>
            </a:r>
            <a:r>
              <a:rPr lang="en-US" sz="1200" dirty="0"/>
              <a:t> = </a:t>
            </a:r>
            <a:r>
              <a:rPr lang="en-US" sz="1200" b="1" dirty="0">
                <a:cs typeface="Times New Roman" panose="02020603050405020304" pitchFamily="18" charset="0"/>
              </a:rPr>
              <a:t>1000</a:t>
            </a:r>
            <a:r>
              <a:rPr lang="en-US" sz="1200" dirty="0"/>
              <a:t> possible values	Range: [</a:t>
            </a:r>
            <a:r>
              <a:rPr lang="en-US" sz="1200" b="1" dirty="0">
                <a:cs typeface="Times New Roman" panose="02020603050405020304" pitchFamily="18" charset="0"/>
              </a:rPr>
              <a:t>000</a:t>
            </a:r>
            <a:r>
              <a:rPr lang="en-US" sz="1200" dirty="0"/>
              <a:t>, </a:t>
            </a:r>
            <a:r>
              <a:rPr lang="en-US" sz="1200" b="1" dirty="0">
                <a:cs typeface="Times New Roman" panose="02020603050405020304" pitchFamily="18" charset="0"/>
              </a:rPr>
              <a:t>999</a:t>
            </a:r>
            <a:r>
              <a:rPr lang="en-US" sz="1200" dirty="0"/>
              <a:t>]</a:t>
            </a:r>
          </a:p>
          <a:p>
            <a:r>
              <a:rPr lang="en-US" sz="1600" i="1" dirty="0"/>
              <a:t>N</a:t>
            </a:r>
            <a:r>
              <a:rPr lang="en-US" sz="1600" dirty="0"/>
              <a:t>-digit binary number</a:t>
            </a:r>
          </a:p>
          <a:p>
            <a:pPr lvl="1">
              <a:tabLst>
                <a:tab pos="3429000" algn="l"/>
              </a:tabLst>
            </a:pPr>
            <a:r>
              <a:rPr lang="en-US" sz="1200" dirty="0"/>
              <a:t>How many values? 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2</a:t>
            </a:r>
            <a:r>
              <a:rPr lang="en-US" sz="1200" b="1" i="1" baseline="30000" dirty="0">
                <a:solidFill>
                  <a:schemeClr val="accent1"/>
                </a:solidFill>
                <a:cs typeface="Times New Roman" panose="02020603050405020304" pitchFamily="18" charset="0"/>
              </a:rPr>
              <a:t>N</a:t>
            </a:r>
            <a:r>
              <a:rPr lang="en-US" sz="1200" dirty="0"/>
              <a:t>	Range: [0, 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2</a:t>
            </a:r>
            <a:r>
              <a:rPr lang="en-US" sz="1200" b="1" i="1" baseline="30000" dirty="0">
                <a:solidFill>
                  <a:schemeClr val="accent1"/>
                </a:solidFill>
                <a:cs typeface="Times New Roman" panose="02020603050405020304" pitchFamily="18" charset="0"/>
              </a:rPr>
              <a:t>N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−1</a:t>
            </a:r>
            <a:r>
              <a:rPr lang="en-US" sz="1200" dirty="0"/>
              <a:t>]</a:t>
            </a:r>
          </a:p>
          <a:p>
            <a:pPr lvl="1"/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Example: </a:t>
            </a:r>
            <a:r>
              <a:rPr lang="en-US" sz="1200" dirty="0"/>
              <a:t>3-digit binary number:</a:t>
            </a:r>
          </a:p>
          <a:p>
            <a:pPr lvl="1">
              <a:tabLst>
                <a:tab pos="3429000" algn="l"/>
              </a:tabLst>
            </a:pPr>
            <a:r>
              <a:rPr lang="en-US" sz="1200" b="1" dirty="0">
                <a:cs typeface="Times New Roman" panose="02020603050405020304" pitchFamily="18" charset="0"/>
              </a:rPr>
              <a:t>2</a:t>
            </a:r>
            <a:r>
              <a:rPr lang="en-US" sz="1200" b="1" baseline="30000" dirty="0">
                <a:cs typeface="Times New Roman" panose="02020603050405020304" pitchFamily="18" charset="0"/>
              </a:rPr>
              <a:t>3</a:t>
            </a:r>
            <a:r>
              <a:rPr lang="en-US" sz="1200" dirty="0"/>
              <a:t> = </a:t>
            </a:r>
            <a:r>
              <a:rPr lang="en-US" sz="1200" b="1" dirty="0">
                <a:cs typeface="Times New Roman" panose="02020603050405020304" pitchFamily="18" charset="0"/>
              </a:rPr>
              <a:t>8</a:t>
            </a:r>
            <a:r>
              <a:rPr lang="en-US" sz="1200" dirty="0"/>
              <a:t> possible values	Range: [</a:t>
            </a:r>
            <a:r>
              <a:rPr lang="en-US" sz="1200" b="1" dirty="0">
                <a:cs typeface="Times New Roman" panose="02020603050405020304" pitchFamily="18" charset="0"/>
              </a:rPr>
              <a:t>000</a:t>
            </a:r>
            <a:r>
              <a:rPr lang="en-US" sz="1200" b="1" baseline="-25000" dirty="0">
                <a:cs typeface="Times New Roman" panose="02020603050405020304" pitchFamily="18" charset="0"/>
              </a:rPr>
              <a:t>2</a:t>
            </a:r>
            <a:r>
              <a:rPr lang="en-US" sz="1200" dirty="0"/>
              <a:t>, </a:t>
            </a:r>
            <a:r>
              <a:rPr lang="en-US" sz="1200" b="1" dirty="0">
                <a:cs typeface="Times New Roman" panose="02020603050405020304" pitchFamily="18" charset="0"/>
              </a:rPr>
              <a:t>111</a:t>
            </a:r>
            <a:r>
              <a:rPr lang="en-US" sz="1200" b="1" baseline="-25000" dirty="0">
                <a:cs typeface="Times New Roman" panose="02020603050405020304" pitchFamily="18" charset="0"/>
              </a:rPr>
              <a:t>2</a:t>
            </a:r>
            <a:r>
              <a:rPr lang="en-US" sz="1200" dirty="0"/>
              <a:t>]</a:t>
            </a:r>
          </a:p>
          <a:p>
            <a:pPr marL="342900" lvl="1" indent="0">
              <a:buNone/>
              <a:tabLst>
                <a:tab pos="3969385" algn="l"/>
              </a:tabLst>
            </a:pPr>
            <a:r>
              <a:rPr lang="en-US" sz="1200" dirty="0"/>
              <a:t>	[  </a:t>
            </a:r>
            <a:r>
              <a:rPr lang="en-US" sz="1200" dirty="0">
                <a:cs typeface="Times New Roman" panose="02020603050405020304" pitchFamily="18" charset="0"/>
              </a:rPr>
              <a:t>0</a:t>
            </a:r>
            <a:r>
              <a:rPr lang="en-US" sz="1200" dirty="0"/>
              <a:t>   ,  </a:t>
            </a:r>
            <a:r>
              <a:rPr lang="en-US" sz="1200" dirty="0">
                <a:cs typeface="Times New Roman" panose="02020603050405020304" pitchFamily="18" charset="0"/>
              </a:rPr>
              <a:t>7</a:t>
            </a:r>
            <a:r>
              <a:rPr lang="en-US" sz="1200" dirty="0"/>
              <a:t>   ]</a:t>
            </a:r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endParaRPr lang="en-US" sz="135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21</a:t>
            </a:fld>
            <a:endParaRPr lang="zh-TW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60E903-4D55-4C8A-AA52-C258FBF018CD}"/>
              </a:ext>
            </a:extLst>
          </p:cNvPr>
          <p:cNvSpPr txBox="1"/>
          <p:nvPr/>
        </p:nvSpPr>
        <p:spPr>
          <a:xfrm>
            <a:off x="6248400" y="864553"/>
            <a:ext cx="2071401" cy="1754326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anose="020F0502020204030204" pitchFamily="34" charset="0"/>
              </a:rPr>
              <a:t>47 / 2    </a:t>
            </a:r>
            <a:r>
              <a:rPr lang="en-US" sz="1400" dirty="0">
                <a:ea typeface="標楷體" pitchFamily="65" charset="-120"/>
                <a:cs typeface="Calibri" panose="020F0502020204030204" pitchFamily="34" charset="0"/>
              </a:rPr>
              <a:t>remainder</a:t>
            </a:r>
            <a:r>
              <a:rPr lang="en-US" dirty="0">
                <a:ea typeface="標楷體" pitchFamily="65" charset="-120"/>
                <a:cs typeface="Calibri" panose="020F0502020204030204" pitchFamily="34" charset="0"/>
              </a:rPr>
              <a:t>  </a:t>
            </a:r>
            <a:r>
              <a:rPr lang="en-US" sz="1400" dirty="0">
                <a:ea typeface="標楷體" pitchFamily="65" charset="-120"/>
                <a:cs typeface="Calibri" panose="020F0502020204030204" pitchFamily="34" charset="0"/>
              </a:rPr>
              <a:t>1</a:t>
            </a:r>
          </a:p>
          <a:p>
            <a:r>
              <a:rPr lang="en-US" dirty="0">
                <a:ea typeface="標楷體" pitchFamily="65" charset="-120"/>
                <a:cs typeface="Calibri" panose="020F0502020204030204" pitchFamily="34" charset="0"/>
              </a:rPr>
              <a:t>23 / 2    </a:t>
            </a:r>
            <a:r>
              <a:rPr lang="en-US" sz="1400" dirty="0">
                <a:ea typeface="標楷體" pitchFamily="65" charset="-120"/>
                <a:cs typeface="Calibri" panose="020F0502020204030204" pitchFamily="34" charset="0"/>
              </a:rPr>
              <a:t>remainder   1</a:t>
            </a:r>
          </a:p>
          <a:p>
            <a:r>
              <a:rPr lang="en-US" dirty="0">
                <a:ea typeface="標楷體" pitchFamily="65" charset="-120"/>
                <a:cs typeface="Calibri" panose="020F0502020204030204" pitchFamily="34" charset="0"/>
              </a:rPr>
              <a:t>11 / 2  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 pitchFamily="65" charset="-120"/>
                <a:cs typeface="Calibri" panose="020F0502020204030204" pitchFamily="34" charset="0"/>
              </a:rPr>
              <a:t>remainder   1</a:t>
            </a:r>
          </a:p>
          <a:p>
            <a:r>
              <a:rPr lang="en-US" dirty="0">
                <a:solidFill>
                  <a:prstClr val="black"/>
                </a:solidFill>
                <a:latin typeface="Arial"/>
                <a:ea typeface="標楷體" pitchFamily="65" charset="-120"/>
                <a:cs typeface="Calibri" panose="020F0502020204030204" pitchFamily="34" charset="0"/>
              </a:rPr>
              <a:t>5 / 2    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 pitchFamily="65" charset="-120"/>
                <a:cs typeface="Calibri" panose="020F0502020204030204" pitchFamily="34" charset="0"/>
              </a:rPr>
              <a:t>remainder   1</a:t>
            </a:r>
          </a:p>
          <a:p>
            <a:r>
              <a:rPr lang="en-US" dirty="0">
                <a:solidFill>
                  <a:prstClr val="black"/>
                </a:solidFill>
                <a:latin typeface="Arial"/>
                <a:ea typeface="標楷體" pitchFamily="65" charset="-120"/>
                <a:cs typeface="Calibri" panose="020F0502020204030204" pitchFamily="34" charset="0"/>
              </a:rPr>
              <a:t>2 / 2    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 pitchFamily="65" charset="-120"/>
                <a:cs typeface="Calibri" panose="020F0502020204030204" pitchFamily="34" charset="0"/>
              </a:rPr>
              <a:t>remainder   0</a:t>
            </a:r>
          </a:p>
          <a:p>
            <a:r>
              <a:rPr lang="en-US" dirty="0">
                <a:solidFill>
                  <a:prstClr val="black"/>
                </a:solidFill>
                <a:latin typeface="Arial"/>
                <a:ea typeface="標楷體" pitchFamily="65" charset="-120"/>
                <a:cs typeface="Calibri" panose="020F0502020204030204" pitchFamily="34" charset="0"/>
              </a:rPr>
              <a:t>1 / 2    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 pitchFamily="65" charset="-120"/>
                <a:cs typeface="Calibri" panose="020F0502020204030204" pitchFamily="34" charset="0"/>
              </a:rPr>
              <a:t>remainder   1</a:t>
            </a:r>
            <a:endParaRPr lang="en-US" dirty="0">
              <a:ea typeface="標楷體" pitchFamily="65" charset="-120"/>
              <a:cs typeface="Calibri" panose="020F0502020204030204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E68EEE7-FB8F-4211-A783-40BC2C061256}"/>
              </a:ext>
            </a:extLst>
          </p:cNvPr>
          <p:cNvCxnSpPr/>
          <p:nvPr/>
        </p:nvCxnSpPr>
        <p:spPr bwMode="auto">
          <a:xfrm flipV="1">
            <a:off x="8418286" y="994229"/>
            <a:ext cx="0" cy="1577521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83ABCEE-CB4F-49B4-98F7-9599FEE1FDCE}"/>
              </a:ext>
            </a:extLst>
          </p:cNvPr>
          <p:cNvSpPr txBox="1"/>
          <p:nvPr/>
        </p:nvSpPr>
        <p:spPr>
          <a:xfrm>
            <a:off x="6203428" y="2691037"/>
            <a:ext cx="2483372" cy="52322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1400" dirty="0">
                <a:ea typeface="標楷體" pitchFamily="65" charset="-120"/>
                <a:cs typeface="Calibri" panose="020F0502020204030204" pitchFamily="34" charset="0"/>
              </a:rPr>
              <a:t>Decimal to binary conversion</a:t>
            </a:r>
          </a:p>
          <a:p>
            <a:r>
              <a:rPr lang="en-US" sz="1400" dirty="0">
                <a:ea typeface="標楷體" pitchFamily="65" charset="-120"/>
                <a:cs typeface="Calibri" panose="020F0502020204030204" pitchFamily="34" charset="0"/>
              </a:rPr>
              <a:t>Answer is 101111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17651FED-870C-4C0D-931C-80DE73C5BA9F}"/>
              </a:ext>
            </a:extLst>
          </p:cNvPr>
          <p:cNvSpPr/>
          <p:nvPr/>
        </p:nvSpPr>
        <p:spPr bwMode="auto">
          <a:xfrm>
            <a:off x="5001479" y="1741716"/>
            <a:ext cx="978408" cy="347279"/>
          </a:xfrm>
          <a:prstGeom prst="rightArrow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39D2E8-3D23-4B85-AFE4-D7505E033C99}"/>
              </a:ext>
            </a:extLst>
          </p:cNvPr>
          <p:cNvSpPr txBox="1"/>
          <p:nvPr/>
        </p:nvSpPr>
        <p:spPr>
          <a:xfrm>
            <a:off x="6248400" y="3564496"/>
            <a:ext cx="2351926" cy="58477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1600" dirty="0">
                <a:ea typeface="標楷體" pitchFamily="65" charset="-120"/>
                <a:cs typeface="Calibri" panose="020F0502020204030204" pitchFamily="34" charset="0"/>
              </a:rPr>
              <a:t>If divide by 2 is too slow</a:t>
            </a:r>
          </a:p>
          <a:p>
            <a:r>
              <a:rPr lang="en-US" sz="1600" dirty="0">
                <a:ea typeface="標楷體" pitchFamily="65" charset="-120"/>
                <a:cs typeface="Calibri" panose="020F0502020204030204" pitchFamily="34" charset="0"/>
              </a:rPr>
              <a:t>try Octal or Hex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 animBg="1"/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46" y="108349"/>
            <a:ext cx="7643844" cy="519113"/>
          </a:xfrm>
        </p:spPr>
        <p:txBody>
          <a:bodyPr/>
          <a:lstStyle/>
          <a:p>
            <a:r>
              <a:rPr lang="en-US" sz="3200" dirty="0"/>
              <a:t>Hexadecimal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2956" y="844153"/>
            <a:ext cx="7643844" cy="3671888"/>
          </a:xfrm>
        </p:spPr>
        <p:txBody>
          <a:bodyPr/>
          <a:lstStyle/>
          <a:p>
            <a:pPr marL="214630" indent="-214630"/>
            <a:r>
              <a:rPr lang="en-US" sz="2400" b="1" dirty="0">
                <a:solidFill>
                  <a:schemeClr val="accent1"/>
                </a:solidFill>
              </a:rPr>
              <a:t>Hexadecimal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/>
              <a:t>to </a:t>
            </a:r>
            <a:r>
              <a:rPr lang="en-US" sz="2400" b="1" dirty="0">
                <a:solidFill>
                  <a:schemeClr val="accent1"/>
                </a:solidFill>
              </a:rPr>
              <a:t>binary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/>
              <a:t>conversion</a:t>
            </a:r>
          </a:p>
          <a:p>
            <a:pPr marL="557530" lvl="1" indent="-214630"/>
            <a:r>
              <a:rPr lang="en-US" sz="2000" dirty="0">
                <a:cs typeface="Times New Roman" panose="02020603050405020304" pitchFamily="18" charset="0"/>
              </a:rPr>
              <a:t>4AF</a:t>
            </a:r>
            <a:r>
              <a:rPr lang="en-US" sz="2000" baseline="-25000" dirty="0">
                <a:cs typeface="Times New Roman" panose="02020603050405020304" pitchFamily="18" charset="0"/>
              </a:rPr>
              <a:t>16</a:t>
            </a:r>
            <a:r>
              <a:rPr lang="en-US" sz="2000" dirty="0"/>
              <a:t> (or </a:t>
            </a:r>
            <a:r>
              <a:rPr lang="en-US" sz="2000" dirty="0">
                <a:cs typeface="Times New Roman" panose="02020603050405020304" pitchFamily="18" charset="0"/>
              </a:rPr>
              <a:t>0x4AF</a:t>
            </a:r>
            <a:r>
              <a:rPr lang="en-US" sz="2000" dirty="0"/>
              <a:t>)</a:t>
            </a:r>
          </a:p>
          <a:p>
            <a:pPr marL="557530" lvl="1" indent="-214630"/>
            <a:r>
              <a:rPr lang="en-US" sz="2000" dirty="0">
                <a:cs typeface="Times New Roman" panose="02020603050405020304" pitchFamily="18" charset="0"/>
              </a:rPr>
              <a:t>0100 1010 1111</a:t>
            </a:r>
            <a:r>
              <a:rPr lang="en-US" sz="2000" baseline="-25000" dirty="0">
                <a:cs typeface="Times New Roman" panose="02020603050405020304" pitchFamily="18" charset="0"/>
              </a:rPr>
              <a:t>2</a:t>
            </a:r>
          </a:p>
          <a:p>
            <a:pPr marL="214630" indent="-214630"/>
            <a:endParaRPr lang="en-US" sz="2000" b="1" dirty="0">
              <a:solidFill>
                <a:schemeClr val="accent1"/>
              </a:solidFill>
            </a:endParaRPr>
          </a:p>
          <a:p>
            <a:pPr marL="214630" indent="-214630"/>
            <a:r>
              <a:rPr lang="en-US" sz="2400" b="1" dirty="0">
                <a:solidFill>
                  <a:schemeClr val="accent1"/>
                </a:solidFill>
              </a:rPr>
              <a:t>Hexadecimal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/>
              <a:t>to </a:t>
            </a:r>
            <a:r>
              <a:rPr lang="en-US" sz="2400" b="1" dirty="0">
                <a:solidFill>
                  <a:schemeClr val="accent1"/>
                </a:solidFill>
              </a:rPr>
              <a:t>decimal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/>
              <a:t>conversion</a:t>
            </a:r>
          </a:p>
          <a:p>
            <a:pPr marL="557530" lvl="1" indent="-214630"/>
            <a:r>
              <a:rPr lang="en-US" sz="2000" dirty="0">
                <a:cs typeface="Times New Roman" panose="02020603050405020304" pitchFamily="18" charset="0"/>
              </a:rPr>
              <a:t>4AF</a:t>
            </a:r>
            <a:r>
              <a:rPr lang="en-US" sz="2000" baseline="-25000" dirty="0">
                <a:cs typeface="Times New Roman" panose="02020603050405020304" pitchFamily="18" charset="0"/>
              </a:rPr>
              <a:t>16</a:t>
            </a:r>
            <a:r>
              <a:rPr lang="en-US" sz="2000" dirty="0"/>
              <a:t> (or </a:t>
            </a:r>
            <a:r>
              <a:rPr lang="en-US" sz="2000" dirty="0">
                <a:cs typeface="Times New Roman" panose="02020603050405020304" pitchFamily="18" charset="0"/>
              </a:rPr>
              <a:t>0x4AF</a:t>
            </a:r>
            <a:r>
              <a:rPr lang="en-US" sz="2000" dirty="0"/>
              <a:t>)</a:t>
            </a:r>
          </a:p>
          <a:p>
            <a:pPr marL="557530" lvl="1" indent="-214630"/>
            <a:r>
              <a:rPr lang="en-US" sz="2000" dirty="0">
                <a:cs typeface="Times New Roman" panose="02020603050405020304" pitchFamily="18" charset="0"/>
              </a:rPr>
              <a:t>16</a:t>
            </a:r>
            <a:r>
              <a:rPr lang="en-US" sz="2000" baseline="30000" dirty="0">
                <a:cs typeface="Times New Roman" panose="02020603050405020304" pitchFamily="18" charset="0"/>
              </a:rPr>
              <a:t>2</a:t>
            </a:r>
            <a:r>
              <a:rPr lang="en-US" sz="2000" dirty="0">
                <a:cs typeface="Times New Roman" panose="02020603050405020304" pitchFamily="18" charset="0"/>
              </a:rPr>
              <a:t>×4 + 16</a:t>
            </a:r>
            <a:r>
              <a:rPr lang="en-US" sz="2000" baseline="30000" dirty="0">
                <a:cs typeface="Times New Roman" panose="02020603050405020304" pitchFamily="18" charset="0"/>
              </a:rPr>
              <a:t>1</a:t>
            </a:r>
            <a:r>
              <a:rPr lang="en-US" sz="2000" dirty="0">
                <a:cs typeface="Times New Roman" panose="02020603050405020304" pitchFamily="18" charset="0"/>
              </a:rPr>
              <a:t>×10 + 16</a:t>
            </a:r>
            <a:r>
              <a:rPr lang="en-US" sz="2000" baseline="30000" dirty="0">
                <a:cs typeface="Times New Roman" panose="02020603050405020304" pitchFamily="18" charset="0"/>
              </a:rPr>
              <a:t>0</a:t>
            </a:r>
            <a:r>
              <a:rPr lang="en-US" sz="2000" dirty="0">
                <a:cs typeface="Times New Roman" panose="02020603050405020304" pitchFamily="18" charset="0"/>
              </a:rPr>
              <a:t>×15</a:t>
            </a:r>
            <a:br>
              <a:rPr lang="en-US" sz="2000" dirty="0"/>
            </a:br>
            <a:r>
              <a:rPr lang="en-US" sz="2000" dirty="0">
                <a:cs typeface="Times New Roman" panose="02020603050405020304" pitchFamily="18" charset="0"/>
              </a:rPr>
              <a:t>= 1199</a:t>
            </a:r>
            <a:r>
              <a:rPr lang="en-US" sz="2000" baseline="-25000" dirty="0">
                <a:cs typeface="Times New Roman" panose="02020603050405020304" pitchFamily="18" charset="0"/>
              </a:rPr>
              <a:t>10</a:t>
            </a:r>
          </a:p>
          <a:p>
            <a:pPr marL="214630" indent="-214630"/>
            <a:endParaRPr lang="en-US" dirty="0"/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22</a:t>
            </a:fld>
            <a:endParaRPr lang="zh-TW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5068" y="108349"/>
            <a:ext cx="7660622" cy="519113"/>
          </a:xfrm>
        </p:spPr>
        <p:txBody>
          <a:bodyPr/>
          <a:lstStyle/>
          <a:p>
            <a:r>
              <a:rPr lang="en-US" dirty="0"/>
              <a:t>Exercise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736" y="844153"/>
            <a:ext cx="7571064" cy="3671888"/>
          </a:xfrm>
        </p:spPr>
        <p:txBody>
          <a:bodyPr/>
          <a:lstStyle/>
          <a:p>
            <a:r>
              <a:rPr lang="en-US" sz="2400" b="1" dirty="0">
                <a:solidFill>
                  <a:schemeClr val="accent6"/>
                </a:solidFill>
              </a:rPr>
              <a:t>Ex 1:</a:t>
            </a:r>
            <a:r>
              <a:rPr lang="en-US" sz="2400" dirty="0"/>
              <a:t> Convert 36</a:t>
            </a:r>
            <a:r>
              <a:rPr lang="en-US" sz="2400" baseline="-25000" dirty="0"/>
              <a:t>8</a:t>
            </a:r>
            <a:r>
              <a:rPr lang="en-US" sz="2400" dirty="0"/>
              <a:t> to binary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>
                <a:solidFill>
                  <a:schemeClr val="accent6"/>
                </a:solidFill>
              </a:rPr>
              <a:t>Ex 2:</a:t>
            </a:r>
            <a:r>
              <a:rPr lang="en-US" sz="2400" dirty="0"/>
              <a:t> Convert 36</a:t>
            </a:r>
            <a:r>
              <a:rPr lang="en-US" sz="2400" baseline="-25000" dirty="0"/>
              <a:t>10</a:t>
            </a:r>
            <a:r>
              <a:rPr lang="en-US" sz="2400" dirty="0"/>
              <a:t> to binary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23</a:t>
            </a:fld>
            <a:endParaRPr lang="zh-TW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5068" y="108349"/>
            <a:ext cx="7660622" cy="519113"/>
          </a:xfrm>
        </p:spPr>
        <p:txBody>
          <a:bodyPr/>
          <a:lstStyle/>
          <a:p>
            <a:r>
              <a:rPr lang="en-US" dirty="0"/>
              <a:t>Exercise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736" y="844153"/>
            <a:ext cx="7571064" cy="3671888"/>
          </a:xfrm>
        </p:spPr>
        <p:txBody>
          <a:bodyPr/>
          <a:lstStyle/>
          <a:p>
            <a:r>
              <a:rPr lang="en-US" sz="2400" b="1" dirty="0">
                <a:solidFill>
                  <a:schemeClr val="accent6"/>
                </a:solidFill>
              </a:rPr>
              <a:t>Ex 1:</a:t>
            </a:r>
            <a:r>
              <a:rPr lang="en-US" sz="2400" dirty="0"/>
              <a:t> Convert 36</a:t>
            </a:r>
            <a:r>
              <a:rPr lang="en-US" sz="2400" baseline="-25000" dirty="0"/>
              <a:t>8</a:t>
            </a:r>
            <a:r>
              <a:rPr lang="en-US" sz="2400" dirty="0"/>
              <a:t> to binary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>
                <a:solidFill>
                  <a:schemeClr val="accent6"/>
                </a:solidFill>
              </a:rPr>
              <a:t>Ex 2:</a:t>
            </a:r>
            <a:r>
              <a:rPr lang="en-US" sz="2400" dirty="0"/>
              <a:t> Convert 36</a:t>
            </a:r>
            <a:r>
              <a:rPr lang="en-US" sz="2400" baseline="-25000" dirty="0"/>
              <a:t>10</a:t>
            </a:r>
            <a:r>
              <a:rPr lang="en-US" sz="2400" dirty="0"/>
              <a:t> to binary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24</a:t>
            </a:fld>
            <a:endParaRPr lang="zh-TW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715260" y="1562100"/>
            <a:ext cx="944880" cy="36830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011110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757805" y="3264535"/>
            <a:ext cx="944880" cy="36830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100100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12B574-A355-41C7-B2E5-BDD1818CEFB7}"/>
              </a:ext>
            </a:extLst>
          </p:cNvPr>
          <p:cNvSpPr txBox="1"/>
          <p:nvPr/>
        </p:nvSpPr>
        <p:spPr>
          <a:xfrm>
            <a:off x="1994525" y="3849526"/>
            <a:ext cx="341632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ea typeface="標楷體" pitchFamily="65" charset="-120"/>
                <a:cs typeface="Calibri" panose="020F0502020204030204" pitchFamily="34" charset="0"/>
              </a:rPr>
              <a:t>36 = 32 + 4 = 100000 + 000100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ym typeface="+mn-ea"/>
              </a:rPr>
              <a:t>Unsigned and Signed Numbers</a:t>
            </a:r>
            <a:endParaRPr lang="en-US" altLang="zh-CN" sz="3200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145143" y="844153"/>
            <a:ext cx="8541657" cy="3671888"/>
          </a:xfrm>
        </p:spPr>
        <p:txBody>
          <a:bodyPr/>
          <a:lstStyle/>
          <a:p>
            <a:r>
              <a:rPr lang="en-US" altLang="zh-CN" sz="2000" dirty="0">
                <a:solidFill>
                  <a:srgbClr val="C00000"/>
                </a:solidFill>
              </a:rPr>
              <a:t>Signed magnitude </a:t>
            </a:r>
            <a:r>
              <a:rPr lang="en-US" altLang="zh-CN" sz="2000" dirty="0"/>
              <a:t>: a simple representation for integer with two as base. The first bit is a sign bit. </a:t>
            </a:r>
          </a:p>
          <a:p>
            <a:pPr lvl="1"/>
            <a:r>
              <a:rPr lang="en-US" altLang="zh-CN" sz="2000" dirty="0"/>
              <a:t>0001 -&gt; positive number</a:t>
            </a:r>
          </a:p>
          <a:p>
            <a:pPr lvl="1"/>
            <a:r>
              <a:rPr lang="en-US" altLang="zh-CN" sz="2000" dirty="0"/>
              <a:t>1001 -&gt; negative number</a:t>
            </a:r>
          </a:p>
          <a:p>
            <a:pPr lvl="0"/>
            <a:r>
              <a:rPr lang="en-US" altLang="zh-CN" sz="2000" dirty="0">
                <a:solidFill>
                  <a:srgbClr val="C00000"/>
                </a:solidFill>
              </a:rPr>
              <a:t>Inverse form (1’s Complement)</a:t>
            </a:r>
            <a:r>
              <a:rPr lang="en-US" altLang="zh-CN" sz="2000" dirty="0"/>
              <a:t>: same as the signed magnitude for a positive number; for a negative number, keep the sign the same and inverse the rest</a:t>
            </a:r>
          </a:p>
          <a:p>
            <a:pPr lvl="0"/>
            <a:r>
              <a:rPr lang="en-US" altLang="zh-CN" sz="2000" dirty="0">
                <a:solidFill>
                  <a:srgbClr val="C00000"/>
                </a:solidFill>
              </a:rPr>
              <a:t>2’s Complement</a:t>
            </a:r>
            <a:r>
              <a:rPr lang="en-US" altLang="zh-CN" sz="2000" dirty="0"/>
              <a:t>: </a:t>
            </a:r>
            <a:r>
              <a:rPr lang="en-US" altLang="zh-CN" sz="2000" dirty="0">
                <a:sym typeface="+mn-ea"/>
              </a:rPr>
              <a:t>same with the true form for positive number; for a negative number, keep the sign same, inverse the rest, and plus 1</a:t>
            </a:r>
          </a:p>
          <a:p>
            <a:pPr lvl="0"/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標楷體" pitchFamily="65" charset="-120"/>
                <a:cs typeface="+mn-cs"/>
              </a:rPr>
              <a:t>2's Complement is the widely adopted standard for integer representation. </a:t>
            </a:r>
            <a:endParaRPr lang="en-US" altLang="zh-CN" sz="2000" dirty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25</a:t>
            </a:fld>
            <a:endParaRPr lang="zh-TW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ym typeface="+mn-ea"/>
              </a:rPr>
              <a:t>Unsigned and Signed Numbers</a:t>
            </a:r>
            <a:endParaRPr lang="en-US" altLang="zh-CN" sz="320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>
                <a:solidFill>
                  <a:srgbClr val="C00000"/>
                </a:solidFill>
              </a:rPr>
              <a:t>Signed magnitude</a:t>
            </a:r>
            <a:r>
              <a:rPr lang="en-US" altLang="zh-CN" sz="2000" dirty="0"/>
              <a:t>: a simple representation for integer with 2 as base. The first bit is sign bit. </a:t>
            </a:r>
          </a:p>
          <a:p>
            <a:pPr lvl="1"/>
            <a:r>
              <a:rPr lang="en-US" altLang="zh-CN" sz="2000" dirty="0"/>
              <a:t>0001 -&gt; positive number</a:t>
            </a:r>
          </a:p>
          <a:p>
            <a:pPr lvl="1"/>
            <a:r>
              <a:rPr lang="en-US" altLang="zh-CN" sz="2000" dirty="0"/>
              <a:t>1001 -&gt; negative number</a:t>
            </a:r>
          </a:p>
          <a:p>
            <a:pPr lvl="0"/>
            <a:r>
              <a:rPr lang="en-US" altLang="zh-CN" sz="2000" dirty="0">
                <a:solidFill>
                  <a:srgbClr val="C00000"/>
                </a:solidFill>
              </a:rPr>
              <a:t>Inverse form</a:t>
            </a:r>
            <a:r>
              <a:rPr lang="en-US" altLang="zh-CN" sz="2000" dirty="0"/>
              <a:t>: same with signed magnitude for positive number; for negative number, keep the sign same and inverse the rest</a:t>
            </a:r>
          </a:p>
          <a:p>
            <a:pPr lvl="0"/>
            <a:r>
              <a:rPr lang="en-US" altLang="zh-CN" sz="2000" dirty="0">
                <a:solidFill>
                  <a:srgbClr val="C00000"/>
                </a:solidFill>
              </a:rPr>
              <a:t>2's Complement</a:t>
            </a:r>
            <a:r>
              <a:rPr lang="en-US" altLang="zh-CN" sz="2000" dirty="0"/>
              <a:t>: </a:t>
            </a:r>
            <a:r>
              <a:rPr lang="en-US" altLang="zh-CN" sz="2000" dirty="0">
                <a:sym typeface="+mn-ea"/>
              </a:rPr>
              <a:t>same with true form for positive number; for negative number, keep the sign same, 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inverse the rest and plus 1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26</a:t>
            </a:fld>
            <a:endParaRPr lang="zh-TW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99185" y="3921760"/>
            <a:ext cx="1262380" cy="36830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1000 0010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015615" y="3893185"/>
            <a:ext cx="1262380" cy="36830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1111 1101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953000" y="3879215"/>
            <a:ext cx="1262380" cy="36830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1111 1110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57200" y="3921760"/>
            <a:ext cx="449580" cy="36830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-2: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42085" y="4247515"/>
            <a:ext cx="576580" cy="36830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true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187065" y="4247515"/>
            <a:ext cx="919480" cy="36830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inverse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904105" y="4231610"/>
            <a:ext cx="1786066" cy="40011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標楷體" pitchFamily="65" charset="-120"/>
                <a:cs typeface="+mn-cs"/>
              </a:rPr>
              <a:t>2's </a:t>
            </a:r>
            <a:r>
              <a:rPr lang="en-US" altLang="zh-CN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complement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95300" y="3601720"/>
            <a:ext cx="373380" cy="36830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2: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099185" y="3601720"/>
            <a:ext cx="1262380" cy="36830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0000 0010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015615" y="3601720"/>
            <a:ext cx="1262380" cy="36830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0000 0010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4953000" y="3601720"/>
            <a:ext cx="1262380" cy="36830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0000 0010</a:t>
            </a:r>
          </a:p>
        </p:txBody>
      </p:sp>
    </p:spTree>
    <p:extLst>
      <p:ext uri="{BB962C8B-B14F-4D97-AF65-F5344CB8AC3E}">
        <p14:creationId xmlns:p14="http://schemas.microsoft.com/office/powerpoint/2010/main" val="7892042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ym typeface="+mn-ea"/>
              </a:rPr>
              <a:t>Unsigned and Signed Numbers</a:t>
            </a:r>
            <a:endParaRPr lang="en-US" altLang="zh-CN" sz="320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>
                <a:solidFill>
                  <a:srgbClr val="C00000"/>
                </a:solidFill>
              </a:rPr>
              <a:t>Signed magnitude</a:t>
            </a:r>
            <a:r>
              <a:rPr lang="en-US" altLang="zh-CN" sz="2000" dirty="0"/>
              <a:t>: a simple representation for integer with 2 as base. The first bit is sign bit. </a:t>
            </a:r>
          </a:p>
          <a:p>
            <a:pPr lvl="1"/>
            <a:r>
              <a:rPr lang="en-US" altLang="zh-CN" sz="2000" dirty="0"/>
              <a:t>0001 -&gt; positive number</a:t>
            </a:r>
          </a:p>
          <a:p>
            <a:pPr lvl="1"/>
            <a:r>
              <a:rPr lang="en-US" altLang="zh-CN" sz="2000" dirty="0"/>
              <a:t>1001 -&gt; negative number</a:t>
            </a:r>
          </a:p>
          <a:p>
            <a:pPr lvl="0"/>
            <a:r>
              <a:rPr lang="en-US" altLang="zh-CN" sz="2000" dirty="0">
                <a:solidFill>
                  <a:srgbClr val="C00000"/>
                </a:solidFill>
              </a:rPr>
              <a:t>Inverse form</a:t>
            </a:r>
            <a:r>
              <a:rPr lang="en-US" altLang="zh-CN" sz="2000" dirty="0"/>
              <a:t>: same with signed magnitude for positive number; for negative number, keep the sign same and inverse the rest</a:t>
            </a:r>
          </a:p>
          <a:p>
            <a:pPr lvl="0"/>
            <a:r>
              <a:rPr lang="en-US" altLang="zh-CN" sz="2000" dirty="0">
                <a:solidFill>
                  <a:srgbClr val="C00000"/>
                </a:solidFill>
              </a:rPr>
              <a:t>2's Complement</a:t>
            </a:r>
            <a:r>
              <a:rPr lang="en-US" altLang="zh-CN" sz="2000" dirty="0"/>
              <a:t>: </a:t>
            </a:r>
            <a:r>
              <a:rPr lang="en-US" altLang="zh-CN" sz="2000" dirty="0">
                <a:sym typeface="+mn-ea"/>
              </a:rPr>
              <a:t>same with true form for positive number; for negative number, keep the sign same, 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inverse the rest and plus 1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27</a:t>
            </a:fld>
            <a:endParaRPr lang="zh-TW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99185" y="3921760"/>
            <a:ext cx="1262380" cy="36830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1000 0010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015615" y="3893185"/>
            <a:ext cx="1262380" cy="36830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1111 1101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953000" y="3879215"/>
            <a:ext cx="1262380" cy="36830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1111 1110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57200" y="3921760"/>
            <a:ext cx="449580" cy="36830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-2: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42085" y="4247515"/>
            <a:ext cx="576580" cy="36830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true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187065" y="4247515"/>
            <a:ext cx="919480" cy="36830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inverse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904105" y="4231610"/>
            <a:ext cx="1786066" cy="40011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標楷體" pitchFamily="65" charset="-120"/>
                <a:cs typeface="+mn-cs"/>
              </a:rPr>
              <a:t>2's </a:t>
            </a:r>
            <a:r>
              <a:rPr lang="en-US" altLang="zh-CN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complement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95300" y="3601720"/>
            <a:ext cx="373380" cy="36830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2: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099185" y="3601720"/>
            <a:ext cx="1262380" cy="36830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0000 0010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015615" y="3601720"/>
            <a:ext cx="1262380" cy="36830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0000 0010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4953000" y="3601720"/>
            <a:ext cx="1262380" cy="36830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0000 0010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571346-5BE1-4BEE-9443-35343F97C82E}"/>
              </a:ext>
            </a:extLst>
          </p:cNvPr>
          <p:cNvSpPr txBox="1"/>
          <p:nvPr/>
        </p:nvSpPr>
        <p:spPr>
          <a:xfrm>
            <a:off x="1261610" y="1855863"/>
            <a:ext cx="6939870" cy="15696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 anchor="ctr" anchorCtr="1">
            <a:spAutoFit/>
          </a:bodyPr>
          <a:lstStyle/>
          <a:p>
            <a:r>
              <a:rPr lang="en-US" sz="2000" dirty="0">
                <a:ea typeface="標楷體" pitchFamily="65" charset="-120"/>
                <a:cs typeface="Calibri" panose="020F0502020204030204" pitchFamily="34" charset="0"/>
              </a:rPr>
              <a:t>Remember:</a:t>
            </a:r>
          </a:p>
          <a:p>
            <a:r>
              <a:rPr lang="en-US" sz="2000" dirty="0">
                <a:ea typeface="標楷體" pitchFamily="65" charset="-120"/>
                <a:cs typeface="Calibri" panose="020F0502020204030204" pitchFamily="34" charset="0"/>
              </a:rPr>
              <a:t>In 2’s complement numbers, </a:t>
            </a:r>
          </a:p>
          <a:p>
            <a:r>
              <a:rPr lang="en-US" sz="2000" dirty="0">
                <a:ea typeface="標楷體" pitchFamily="65" charset="-120"/>
                <a:cs typeface="Calibri" panose="020F0502020204030204" pitchFamily="34" charset="0"/>
              </a:rPr>
              <a:t>Positive integer numbers have leading zero’s, 0000xxx</a:t>
            </a:r>
          </a:p>
          <a:p>
            <a:r>
              <a:rPr lang="en-US" sz="2000" dirty="0">
                <a:ea typeface="標楷體" pitchFamily="65" charset="-120"/>
                <a:cs typeface="Calibri" panose="020F0502020204030204" pitchFamily="34" charset="0"/>
              </a:rPr>
              <a:t>Negative integer numbers have leading one’s, 1111yyy</a:t>
            </a:r>
          </a:p>
          <a:p>
            <a:endParaRPr lang="en-US" sz="1600" dirty="0">
              <a:ea typeface="標楷體" pitchFamily="65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480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Why not 1‘s complement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Inverse form (1’s complement) was not used widely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sym typeface="+mn-ea"/>
              </a:rPr>
              <a:t>They have two zero’s 000000…..000 and 111111…111, +0 and -0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sym typeface="+mn-ea"/>
              </a:rPr>
              <a:t>They have end carry out issues</a:t>
            </a:r>
          </a:p>
          <a:p>
            <a:pPr marL="685800" lvl="2" indent="0">
              <a:buNone/>
            </a:pPr>
            <a:r>
              <a:rPr lang="en-US" altLang="zh-CN" sz="1600" dirty="0">
                <a:solidFill>
                  <a:srgbClr val="0000FF"/>
                </a:solidFill>
                <a:sym typeface="+mn-ea"/>
              </a:rPr>
              <a:t>For example: 5 -3</a:t>
            </a:r>
          </a:p>
          <a:p>
            <a:pPr marL="685800" lvl="2" indent="0">
              <a:buNone/>
            </a:pPr>
            <a:endParaRPr lang="en-US" altLang="zh-CN" sz="1600" dirty="0">
              <a:solidFill>
                <a:srgbClr val="0000FF"/>
              </a:solidFill>
              <a:sym typeface="+mn-ea"/>
            </a:endParaRPr>
          </a:p>
          <a:p>
            <a:pPr marL="685800" lvl="2" indent="0">
              <a:buNone/>
            </a:pPr>
            <a:r>
              <a:rPr lang="en-US" altLang="zh-CN" sz="1600" dirty="0">
                <a:solidFill>
                  <a:srgbClr val="0000FF"/>
                </a:solidFill>
                <a:sym typeface="+mn-ea"/>
              </a:rPr>
              <a:t>1’s complement			2’s complement</a:t>
            </a:r>
          </a:p>
          <a:p>
            <a:pPr marL="685800" lvl="2" indent="0">
              <a:buNone/>
            </a:pPr>
            <a:r>
              <a:rPr lang="en-US" altLang="zh-CN" sz="1600" dirty="0">
                <a:solidFill>
                  <a:srgbClr val="0000FF"/>
                </a:solidFill>
                <a:sym typeface="+mn-ea"/>
              </a:rPr>
              <a:t>5 is 0101				5 is 0101</a:t>
            </a:r>
          </a:p>
          <a:p>
            <a:pPr marL="685800" lvl="2" indent="0">
              <a:buNone/>
            </a:pPr>
            <a:r>
              <a:rPr lang="en-US" altLang="zh-CN" sz="1600" dirty="0">
                <a:solidFill>
                  <a:srgbClr val="0000FF"/>
                </a:solidFill>
                <a:sym typeface="+mn-ea"/>
              </a:rPr>
              <a:t>-3 is the inverse of 0011			-3 is 1101</a:t>
            </a:r>
          </a:p>
          <a:p>
            <a:pPr marL="685800" lvl="2" indent="0">
              <a:buNone/>
            </a:pPr>
            <a:r>
              <a:rPr lang="en-US" altLang="zh-CN" sz="1600" dirty="0">
                <a:solidFill>
                  <a:srgbClr val="0000FF"/>
                </a:solidFill>
                <a:sym typeface="+mn-ea"/>
              </a:rPr>
              <a:t>which is 1100</a:t>
            </a:r>
          </a:p>
          <a:p>
            <a:pPr marL="685800" lvl="2" indent="0">
              <a:buNone/>
            </a:pPr>
            <a:r>
              <a:rPr lang="en-US" altLang="zh-CN" sz="1600" dirty="0">
                <a:solidFill>
                  <a:srgbClr val="0000FF"/>
                </a:solidFill>
                <a:sym typeface="+mn-ea"/>
              </a:rPr>
              <a:t>0101 + 1100 = 1 0001			0101+1101 = 1 0010  </a:t>
            </a:r>
          </a:p>
          <a:p>
            <a:pPr marL="685800" lvl="2" indent="0">
              <a:buNone/>
            </a:pPr>
            <a:r>
              <a:rPr lang="en-US" altLang="zh-CN" sz="1600" dirty="0">
                <a:solidFill>
                  <a:srgbClr val="0000FF"/>
                </a:solidFill>
                <a:sym typeface="+mn-ea"/>
              </a:rPr>
              <a:t>The end carry-out bit needs to add back 	the result is 2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59032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7956" y="108349"/>
            <a:ext cx="7727734" cy="519113"/>
          </a:xfrm>
        </p:spPr>
        <p:txBody>
          <a:bodyPr>
            <a:normAutofit fontScale="90000"/>
          </a:bodyPr>
          <a:lstStyle/>
          <a:p>
            <a:r>
              <a:rPr lang="en-US" dirty="0"/>
              <a:t>Unsigned and Signed Numbers</a:t>
            </a:r>
          </a:p>
        </p:txBody>
      </p:sp>
      <p:graphicFrame>
        <p:nvGraphicFramePr>
          <p:cNvPr id="6" name="Content Placeholder 7"/>
          <p:cNvGraphicFramePr/>
          <p:nvPr>
            <p:extLst>
              <p:ext uri="{D42A27DB-BD31-4B8C-83A1-F6EECF244321}">
                <p14:modId xmlns:p14="http://schemas.microsoft.com/office/powerpoint/2010/main" val="994467934"/>
              </p:ext>
            </p:extLst>
          </p:nvPr>
        </p:nvGraphicFramePr>
        <p:xfrm>
          <a:off x="1473348" y="1043472"/>
          <a:ext cx="4671000" cy="326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76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Hexadecimal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Binary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Decimal (Unsigned)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Decimal</a:t>
                      </a:r>
                      <a:br>
                        <a:rPr lang="en-US" sz="1200" dirty="0">
                          <a:latin typeface="+mn-lt"/>
                        </a:rPr>
                      </a:br>
                      <a:r>
                        <a:rPr lang="en-US" sz="1200" baseline="0" dirty="0">
                          <a:latin typeface="+mn-lt"/>
                        </a:rPr>
                        <a:t>(2’s Complement)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0x7F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0111 1111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127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127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0x7E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0111 1110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126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126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0x02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0000 0010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0x01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0000 0001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0x00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0000 0000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0xFF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1111 1111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200" baseline="30000" dirty="0">
                          <a:latin typeface="+mn-lt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−1 = 255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−1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6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0xFE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1111 1110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aseline="0" dirty="0">
                          <a:latin typeface="+mn-lt"/>
                          <a:cs typeface="Times New Roman" panose="02020603050405020304" pitchFamily="18" charset="0"/>
                        </a:rPr>
                        <a:t>254</a:t>
                      </a:r>
                      <a:endParaRPr lang="en-US" sz="12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−2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6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6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0x82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1000 0010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130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−126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6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0x81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1000 0001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129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−127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6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0x80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1000 0000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128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−128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2556166" y="1426193"/>
            <a:ext cx="872837" cy="284018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28" name="Group 27"/>
          <p:cNvGrpSpPr/>
          <p:nvPr/>
        </p:nvGrpSpPr>
        <p:grpSpPr>
          <a:xfrm>
            <a:off x="6224592" y="1446096"/>
            <a:ext cx="1704313" cy="1125418"/>
            <a:chOff x="6849341" y="2252502"/>
            <a:chExt cx="2272416" cy="1500556"/>
          </a:xfrm>
        </p:grpSpPr>
        <p:sp>
          <p:nvSpPr>
            <p:cNvPr id="7" name="TextBox 6"/>
            <p:cNvSpPr txBox="1"/>
            <p:nvPr/>
          </p:nvSpPr>
          <p:spPr>
            <a:xfrm>
              <a:off x="7317418" y="2622836"/>
              <a:ext cx="1336262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1000 0000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317418" y="3352949"/>
              <a:ext cx="1336262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1000 0001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849341" y="2252502"/>
              <a:ext cx="2272416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>
                  <a:solidFill>
                    <a:schemeClr val="accent6"/>
                  </a:solidFill>
                </a:rPr>
                <a:t>Complement all bits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849341" y="2983617"/>
              <a:ext cx="14132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>
                  <a:solidFill>
                    <a:schemeClr val="accent6"/>
                  </a:solidFill>
                </a:rPr>
                <a:t>Then add 1</a:t>
              </a:r>
            </a:p>
          </p:txBody>
        </p:sp>
      </p:grpSp>
      <p:sp>
        <p:nvSpPr>
          <p:cNvPr id="16" name="Oval 15"/>
          <p:cNvSpPr/>
          <p:nvPr/>
        </p:nvSpPr>
        <p:spPr>
          <a:xfrm>
            <a:off x="2556166" y="3809174"/>
            <a:ext cx="872837" cy="284018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8" name="Curved Connector 17"/>
          <p:cNvCxnSpPr>
            <a:stCxn id="10" idx="2"/>
            <a:endCxn id="16" idx="2"/>
          </p:cNvCxnSpPr>
          <p:nvPr/>
        </p:nvCxnSpPr>
        <p:spPr>
          <a:xfrm rot="10800000" flipV="1">
            <a:off x="2556166" y="1568201"/>
            <a:ext cx="9525" cy="2382982"/>
          </a:xfrm>
          <a:prstGeom prst="curvedConnector3">
            <a:avLst>
              <a:gd name="adj1" fmla="val 1800000"/>
            </a:avLst>
          </a:prstGeom>
          <a:ln w="28575">
            <a:solidFill>
              <a:schemeClr val="accent6"/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59629" y="3106056"/>
            <a:ext cx="872837" cy="284018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29" name="Group 28"/>
          <p:cNvGrpSpPr/>
          <p:nvPr/>
        </p:nvGrpSpPr>
        <p:grpSpPr>
          <a:xfrm>
            <a:off x="6224592" y="2990858"/>
            <a:ext cx="1704313" cy="1125418"/>
            <a:chOff x="6849341" y="2252502"/>
            <a:chExt cx="2272416" cy="1500556"/>
          </a:xfrm>
        </p:grpSpPr>
        <p:sp>
          <p:nvSpPr>
            <p:cNvPr id="30" name="TextBox 29"/>
            <p:cNvSpPr txBox="1"/>
            <p:nvPr/>
          </p:nvSpPr>
          <p:spPr>
            <a:xfrm>
              <a:off x="7317418" y="2622836"/>
              <a:ext cx="1336262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0000 0001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317418" y="3352949"/>
              <a:ext cx="1336262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0000 0010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849341" y="2252502"/>
              <a:ext cx="2272416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>
                  <a:solidFill>
                    <a:srgbClr val="00B050"/>
                  </a:solidFill>
                </a:rPr>
                <a:t>Complement all bits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849341" y="2983617"/>
              <a:ext cx="14132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>
                  <a:solidFill>
                    <a:srgbClr val="00B050"/>
                  </a:solidFill>
                </a:rPr>
                <a:t>Then add 1</a:t>
              </a:r>
            </a:p>
          </p:txBody>
        </p:sp>
      </p:grpSp>
      <p:sp>
        <p:nvSpPr>
          <p:cNvPr id="34" name="Oval 33"/>
          <p:cNvSpPr/>
          <p:nvPr/>
        </p:nvSpPr>
        <p:spPr>
          <a:xfrm>
            <a:off x="2560928" y="2156075"/>
            <a:ext cx="872837" cy="284018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35" name="Curved Connector 34"/>
          <p:cNvCxnSpPr>
            <a:stCxn id="27" idx="6"/>
            <a:endCxn id="34" idx="6"/>
          </p:cNvCxnSpPr>
          <p:nvPr/>
        </p:nvCxnSpPr>
        <p:spPr>
          <a:xfrm flipV="1">
            <a:off x="3432466" y="2298085"/>
            <a:ext cx="1299" cy="949981"/>
          </a:xfrm>
          <a:prstGeom prst="curvedConnector3">
            <a:avLst>
              <a:gd name="adj1" fmla="val 5832737"/>
            </a:avLst>
          </a:prstGeom>
          <a:ln w="28575">
            <a:solidFill>
              <a:srgbClr val="00B050"/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29</a:t>
            </a:fld>
            <a:endParaRPr lang="zh-TW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224905" y="1042988"/>
            <a:ext cx="2679700" cy="33718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Calculate the inverse value:</a:t>
            </a:r>
            <a:endParaRPr lang="zh-CN" altLang="en-US" sz="1600" dirty="0">
              <a:solidFill>
                <a:srgbClr val="C00000"/>
              </a:solidFill>
              <a:ea typeface="標楷體" pitchFamily="65" charset="-12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8624" y="108349"/>
            <a:ext cx="7627066" cy="519113"/>
          </a:xfrm>
        </p:spPr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8385" y="843915"/>
            <a:ext cx="7638415" cy="2980690"/>
          </a:xfrm>
        </p:spPr>
        <p:txBody>
          <a:bodyPr/>
          <a:lstStyle/>
          <a:p>
            <a:r>
              <a:rPr lang="en-US" sz="2400" b="1" dirty="0">
                <a:solidFill>
                  <a:schemeClr val="accent6"/>
                </a:solidFill>
              </a:rPr>
              <a:t>Ex 3:</a:t>
            </a:r>
            <a:r>
              <a:rPr lang="en-US" sz="2400" dirty="0"/>
              <a:t> For a </a:t>
            </a:r>
            <a:r>
              <a:rPr lang="en-US" sz="2400" i="1" dirty="0"/>
              <a:t>n</a:t>
            </a:r>
            <a:r>
              <a:rPr lang="en-US" sz="2400" dirty="0"/>
              <a:t>-bit 2’s complement signed binary numeral system, what’s the largest positive number and the smallest negative number?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>
                <a:solidFill>
                  <a:schemeClr val="accent6"/>
                </a:solidFill>
              </a:rPr>
              <a:t>Ex 4:</a:t>
            </a:r>
            <a:r>
              <a:rPr lang="en-US" sz="2400" dirty="0"/>
              <a:t> </a:t>
            </a:r>
            <a:r>
              <a:rPr lang="en-US" sz="2400" dirty="0">
                <a:sym typeface="+mn-ea"/>
              </a:rPr>
              <a:t>For a </a:t>
            </a:r>
            <a:r>
              <a:rPr lang="en-US" sz="2400" i="1" dirty="0">
                <a:sym typeface="+mn-ea"/>
              </a:rPr>
              <a:t>n</a:t>
            </a:r>
            <a:r>
              <a:rPr lang="en-US" sz="2400" dirty="0">
                <a:sym typeface="+mn-ea"/>
              </a:rPr>
              <a:t>-bit 2’s complement signed binary numeral system, w</a:t>
            </a:r>
            <a:r>
              <a:rPr lang="en-US" sz="2400" dirty="0"/>
              <a:t>hat is decimal value of 1111 1111 1111 1010 ?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30</a:t>
            </a:fld>
            <a:endParaRPr lang="zh-TW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288540" y="2623185"/>
            <a:ext cx="309880" cy="36830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endParaRPr lang="zh-CN" altLang="en-US" dirty="0">
              <a:ea typeface="標楷體" pitchFamily="65" charset="-12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8624" y="108349"/>
            <a:ext cx="7627066" cy="519113"/>
          </a:xfrm>
        </p:spPr>
        <p:txBody>
          <a:bodyPr/>
          <a:lstStyle/>
          <a:p>
            <a:r>
              <a:rPr lang="en-US" dirty="0"/>
              <a:t>Exercise L02-2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8385" y="843915"/>
            <a:ext cx="7638415" cy="2980690"/>
          </a:xfrm>
        </p:spPr>
        <p:txBody>
          <a:bodyPr/>
          <a:lstStyle/>
          <a:p>
            <a:r>
              <a:rPr lang="en-US" sz="2400" b="1" dirty="0">
                <a:solidFill>
                  <a:schemeClr val="accent6"/>
                </a:solidFill>
              </a:rPr>
              <a:t>Ex 3:</a:t>
            </a:r>
            <a:r>
              <a:rPr lang="en-US" sz="2400" dirty="0"/>
              <a:t> For a </a:t>
            </a:r>
            <a:r>
              <a:rPr lang="en-US" sz="2400" i="1" dirty="0"/>
              <a:t>n</a:t>
            </a:r>
            <a:r>
              <a:rPr lang="en-US" sz="2400" dirty="0"/>
              <a:t>-bit 2’s complement signed binary numeral system, what’s the largest positive number and the smallest negative number?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>
                <a:solidFill>
                  <a:schemeClr val="accent6"/>
                </a:solidFill>
              </a:rPr>
              <a:t>Ex 4:</a:t>
            </a:r>
            <a:r>
              <a:rPr lang="en-US" sz="2400" dirty="0"/>
              <a:t> </a:t>
            </a:r>
            <a:r>
              <a:rPr lang="en-US" sz="2400" dirty="0">
                <a:sym typeface="+mn-ea"/>
              </a:rPr>
              <a:t>For a </a:t>
            </a:r>
            <a:r>
              <a:rPr lang="en-US" sz="2400" i="1" dirty="0">
                <a:sym typeface="+mn-ea"/>
              </a:rPr>
              <a:t>n</a:t>
            </a:r>
            <a:r>
              <a:rPr lang="en-US" sz="2400" dirty="0">
                <a:sym typeface="+mn-ea"/>
              </a:rPr>
              <a:t>-bit 2’s complement signed binary numeral system, w</a:t>
            </a:r>
            <a:r>
              <a:rPr lang="en-US" sz="2400" dirty="0"/>
              <a:t>hat is decimal value of 1111 1111 1111 1010 ?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31</a:t>
            </a:fld>
            <a:endParaRPr lang="zh-TW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129280" y="2273935"/>
            <a:ext cx="1336040" cy="36830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2</a:t>
            </a:r>
            <a:r>
              <a:rPr lang="en-US" altLang="zh-CN" baseline="30000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n-1</a:t>
            </a:r>
            <a:r>
              <a:rPr lang="en-US" altLang="zh-CN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-1,  -2</a:t>
            </a:r>
            <a:r>
              <a:rPr lang="en-US" altLang="zh-CN" baseline="30000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n-1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604260" y="3824605"/>
            <a:ext cx="386080" cy="36830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-6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404FF5-D466-4FAB-ACAB-388A24C68166}"/>
              </a:ext>
            </a:extLst>
          </p:cNvPr>
          <p:cNvSpPr txBox="1"/>
          <p:nvPr/>
        </p:nvSpPr>
        <p:spPr>
          <a:xfrm>
            <a:off x="5451140" y="1964928"/>
            <a:ext cx="2900153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2</a:t>
            </a:r>
            <a:r>
              <a:rPr lang="en-US" altLang="zh-CN" baseline="30000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n-1</a:t>
            </a:r>
            <a:r>
              <a:rPr lang="en-US" altLang="zh-CN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-1 = 01111111…..1111</a:t>
            </a:r>
            <a:endParaRPr lang="en-US" dirty="0">
              <a:ea typeface="標楷體" pitchFamily="65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7936F4-A69F-46DE-A444-705C4EF57E3D}"/>
              </a:ext>
            </a:extLst>
          </p:cNvPr>
          <p:cNvSpPr txBox="1"/>
          <p:nvPr/>
        </p:nvSpPr>
        <p:spPr>
          <a:xfrm>
            <a:off x="5451140" y="2439909"/>
            <a:ext cx="2874505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-2</a:t>
            </a:r>
            <a:r>
              <a:rPr lang="en-US" altLang="zh-CN" baseline="30000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n-1</a:t>
            </a:r>
            <a:r>
              <a:rPr lang="en-US" altLang="zh-CN" dirty="0">
                <a:solidFill>
                  <a:srgbClr val="C00000"/>
                </a:solidFill>
                <a:ea typeface="標楷體" pitchFamily="65" charset="-120"/>
                <a:cs typeface="Calibri" panose="020F0502020204030204" pitchFamily="34" charset="0"/>
              </a:rPr>
              <a:t> = 10000000……0000</a:t>
            </a:r>
            <a:endParaRPr lang="en-US" dirty="0">
              <a:ea typeface="標楷體" pitchFamily="65" charset="-12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8624" y="108349"/>
            <a:ext cx="7627066" cy="519113"/>
          </a:xfrm>
        </p:spPr>
        <p:txBody>
          <a:bodyPr/>
          <a:lstStyle/>
          <a:p>
            <a:r>
              <a:rPr lang="en-US" dirty="0"/>
              <a:t>Sign Extension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0457" y="843914"/>
            <a:ext cx="8694057" cy="3771629"/>
          </a:xfrm>
        </p:spPr>
        <p:txBody>
          <a:bodyPr/>
          <a:lstStyle/>
          <a:p>
            <a:r>
              <a:rPr lang="en-US" sz="1600" b="0" i="0" dirty="0">
                <a:solidFill>
                  <a:srgbClr val="374151"/>
                </a:solidFill>
                <a:effectLst/>
                <a:latin typeface="+mn-lt"/>
              </a:rPr>
              <a:t>Sign extension is a method to increase the number of bits of a binary number while preserving its sign (positive or negative) and value. </a:t>
            </a:r>
            <a:r>
              <a:rPr lang="en-US" sz="1400" b="0" i="0" dirty="0">
                <a:solidFill>
                  <a:srgbClr val="374151"/>
                </a:solidFill>
                <a:effectLst/>
                <a:latin typeface="+mn-lt"/>
              </a:rPr>
              <a:t>When extending the number to a larger bit width, the sign bit is 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+mn-lt"/>
              </a:rPr>
              <a:t>replicated</a:t>
            </a:r>
            <a:r>
              <a:rPr lang="en-US" sz="1400" b="0" i="0" dirty="0">
                <a:solidFill>
                  <a:srgbClr val="374151"/>
                </a:solidFill>
                <a:effectLst/>
                <a:latin typeface="+mn-lt"/>
              </a:rPr>
              <a:t> in all the new higher-order bits.</a:t>
            </a:r>
          </a:p>
          <a:p>
            <a:r>
              <a:rPr lang="en-US" sz="1400" dirty="0">
                <a:solidFill>
                  <a:srgbClr val="374151"/>
                </a:solidFill>
                <a:latin typeface="+mn-lt"/>
              </a:rPr>
              <a:t>Example:</a:t>
            </a:r>
          </a:p>
          <a:p>
            <a:pPr marL="342900" lvl="1" indent="0">
              <a:buNone/>
            </a:pPr>
            <a:r>
              <a:rPr lang="en-US" sz="1400" b="0" i="0" dirty="0">
                <a:solidFill>
                  <a:srgbClr val="374151"/>
                </a:solidFill>
                <a:effectLst/>
                <a:latin typeface="+mn-lt"/>
              </a:rPr>
              <a:t>C allows 8b, 16b, 32b, 64b singed integers stored in memory.</a:t>
            </a:r>
          </a:p>
          <a:p>
            <a:pPr marL="342900" lvl="1" indent="0">
              <a:buNone/>
            </a:pPr>
            <a:r>
              <a:rPr lang="en-US" sz="1400" dirty="0">
                <a:solidFill>
                  <a:srgbClr val="374151"/>
                </a:solidFill>
                <a:latin typeface="+mn-lt"/>
              </a:rPr>
              <a:t>The registers are 32b/64b wide, in RV32/RV64, respectively.</a:t>
            </a:r>
          </a:p>
          <a:p>
            <a:pPr marL="342900" lvl="1" indent="0">
              <a:buNone/>
            </a:pPr>
            <a:r>
              <a:rPr lang="en-US" sz="1400" b="0" i="0" dirty="0">
                <a:solidFill>
                  <a:srgbClr val="374151"/>
                </a:solidFill>
                <a:effectLst/>
                <a:latin typeface="+mn-lt"/>
              </a:rPr>
              <a:t>So when moving a 8b number to a register, sign extension must be </a:t>
            </a:r>
            <a:r>
              <a:rPr lang="en-US" sz="1400" dirty="0">
                <a:solidFill>
                  <a:srgbClr val="374151"/>
                </a:solidFill>
                <a:latin typeface="+mn-lt"/>
              </a:rPr>
              <a:t>applied</a:t>
            </a:r>
            <a:r>
              <a:rPr lang="en-US" sz="1400" b="0" i="0" dirty="0">
                <a:solidFill>
                  <a:srgbClr val="374151"/>
                </a:solidFill>
                <a:effectLst/>
                <a:latin typeface="+mn-lt"/>
              </a:rPr>
              <a:t>.</a:t>
            </a:r>
          </a:p>
          <a:p>
            <a:pPr marL="685800" lvl="1" indent="-342900">
              <a:buAutoNum type="arabicParenR"/>
            </a:pPr>
            <a:r>
              <a:rPr lang="en-US" sz="1400" dirty="0">
                <a:solidFill>
                  <a:srgbClr val="37415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Assuming the number is +4 : 00000100</a:t>
            </a:r>
          </a:p>
          <a:p>
            <a:pPr marL="342900" lvl="1" indent="0">
              <a:buNone/>
            </a:pPr>
            <a:r>
              <a:rPr lang="en-US" sz="1400" dirty="0">
                <a:solidFill>
                  <a:srgbClr val="37415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	When moving to a 32b register, the sign bit, 0, is replicated 24 times </a:t>
            </a:r>
            <a:r>
              <a:rPr lang="en-US" sz="1400" dirty="0">
                <a:solidFill>
                  <a:srgbClr val="FF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000000…… </a:t>
            </a:r>
            <a:r>
              <a:rPr lang="en-US" sz="1400" dirty="0">
                <a:solidFill>
                  <a:srgbClr val="37415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00000100</a:t>
            </a:r>
          </a:p>
          <a:p>
            <a:pPr marL="3429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90000"/>
              <a:buNone/>
              <a:tabLst/>
              <a:defRPr/>
            </a:pPr>
            <a:r>
              <a:rPr kumimoji="1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2)     Assuming the number is -4 : 11111100</a:t>
            </a:r>
          </a:p>
          <a:p>
            <a:pPr marL="342900" lvl="1" indent="0">
              <a:buNone/>
            </a:pPr>
            <a:r>
              <a:rPr lang="en-US" sz="1400" b="0" i="0" dirty="0">
                <a:solidFill>
                  <a:srgbClr val="37415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kumimoji="1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 When moving to a 32b register, the sign bit, 1, is replicated 24 times </a:t>
            </a:r>
            <a:r>
              <a:rPr kumimoji="1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111111…… </a:t>
            </a:r>
            <a:r>
              <a:rPr kumimoji="1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11111100</a:t>
            </a:r>
          </a:p>
          <a:p>
            <a:pPr marL="342900" lvl="1" indent="0">
              <a:buNone/>
            </a:pPr>
            <a:r>
              <a:rPr lang="en-US" sz="1400" dirty="0">
                <a:solidFill>
                  <a:srgbClr val="37415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	without sign extension, the value moved to the register would be incorrect</a:t>
            </a:r>
          </a:p>
          <a:p>
            <a:pPr marL="342900" lvl="1" indent="0">
              <a:buNone/>
            </a:pPr>
            <a:r>
              <a:rPr lang="en-US" sz="1400" b="0" i="0" dirty="0">
                <a:solidFill>
                  <a:srgbClr val="37415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	It </a:t>
            </a:r>
            <a:r>
              <a:rPr lang="en-US" sz="1400" dirty="0">
                <a:solidFill>
                  <a:srgbClr val="37415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might</a:t>
            </a:r>
            <a:r>
              <a:rPr lang="en-US" sz="1400" b="0" i="0" dirty="0">
                <a:solidFill>
                  <a:srgbClr val="37415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be either 0000000……11111100 or</a:t>
            </a:r>
            <a:r>
              <a:rPr lang="en-US" sz="1400" dirty="0">
                <a:solidFill>
                  <a:srgbClr val="37415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 10000000 …. 1111110</a:t>
            </a:r>
          </a:p>
          <a:p>
            <a:pPr marL="32893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74151"/>
                </a:solidFill>
                <a:latin typeface="+mn-lt"/>
                <a:cs typeface="+mn-cs"/>
              </a:rPr>
              <a:t>Load instructions in RV have signed/unsigned versions. Signed loads require sign extensions.</a:t>
            </a:r>
          </a:p>
          <a:p>
            <a:pPr marL="328930" indent="-285750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374151"/>
              </a:solidFill>
              <a:effectLst/>
              <a:latin typeface="+mn-lt"/>
            </a:endParaRP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32</a:t>
            </a:fld>
            <a:endParaRPr lang="zh-TW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8624" y="108349"/>
            <a:ext cx="7627066" cy="519113"/>
          </a:xfrm>
        </p:spPr>
        <p:txBody>
          <a:bodyPr/>
          <a:lstStyle/>
          <a:p>
            <a:r>
              <a:rPr lang="en-US" dirty="0"/>
              <a:t>Right Shift of Signed Integer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0457" y="843914"/>
            <a:ext cx="8694057" cy="3771629"/>
          </a:xfrm>
        </p:spPr>
        <p:txBody>
          <a:bodyPr/>
          <a:lstStyle/>
          <a:p>
            <a:pPr marL="328930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374151"/>
                </a:solidFill>
                <a:effectLst/>
                <a:latin typeface="+mn-lt"/>
              </a:rPr>
              <a:t>Left Shift is straight forward</a:t>
            </a:r>
          </a:p>
          <a:p>
            <a:pPr marL="342900" lvl="1" indent="0">
              <a:buNone/>
            </a:pPr>
            <a:r>
              <a:rPr lang="en-US" sz="2000" dirty="0">
                <a:solidFill>
                  <a:srgbClr val="374151"/>
                </a:solidFill>
                <a:latin typeface="+mn-lt"/>
              </a:rPr>
              <a:t>Example</a:t>
            </a:r>
          </a:p>
          <a:p>
            <a:pPr marL="342900" lvl="1" indent="0">
              <a:buNone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+mn-lt"/>
              </a:rPr>
              <a:t>	5 &lt;&lt; 2 	00000101  &lt;&lt; 2    00010100   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+mn-lt"/>
                <a:sym typeface="Wingdings" panose="05000000000000000000" pitchFamily="2" charset="2"/>
              </a:rPr>
              <a:t> 20</a:t>
            </a:r>
            <a:endParaRPr lang="en-US" sz="2000" b="0" i="0" dirty="0">
              <a:solidFill>
                <a:srgbClr val="374151"/>
              </a:solidFill>
              <a:effectLst/>
              <a:latin typeface="+mn-lt"/>
            </a:endParaRPr>
          </a:p>
          <a:p>
            <a:pPr marL="342900" lvl="1" indent="0">
              <a:buNone/>
            </a:pPr>
            <a:r>
              <a:rPr lang="en-US" sz="2000" dirty="0">
                <a:solidFill>
                  <a:srgbClr val="374151"/>
                </a:solidFill>
                <a:latin typeface="+mn-lt"/>
              </a:rPr>
              <a:t>	-5 &lt;&lt; 2  11111011 &lt;&lt; 2     11101100  </a:t>
            </a:r>
            <a:r>
              <a:rPr lang="en-US" sz="2000" dirty="0">
                <a:solidFill>
                  <a:srgbClr val="374151"/>
                </a:solidFill>
                <a:latin typeface="+mn-lt"/>
                <a:sym typeface="Wingdings" panose="05000000000000000000" pitchFamily="2" charset="2"/>
              </a:rPr>
              <a:t> -20</a:t>
            </a:r>
          </a:p>
          <a:p>
            <a:pPr marL="386080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374151"/>
                </a:solidFill>
                <a:effectLst/>
                <a:latin typeface="+mn-lt"/>
                <a:sym typeface="Wingdings" panose="05000000000000000000" pitchFamily="2" charset="2"/>
              </a:rPr>
              <a:t>How about right shift?</a:t>
            </a:r>
          </a:p>
          <a:p>
            <a:pPr marL="43180" indent="0">
              <a:buNone/>
            </a:pPr>
            <a:r>
              <a:rPr lang="en-US" sz="2400" dirty="0">
                <a:solidFill>
                  <a:srgbClr val="374151"/>
                </a:solidFill>
                <a:latin typeface="+mn-lt"/>
                <a:sym typeface="Wingdings" panose="05000000000000000000" pitchFamily="2" charset="2"/>
              </a:rPr>
              <a:t>	</a:t>
            </a:r>
            <a:r>
              <a:rPr lang="en-US" sz="2000" dirty="0">
                <a:solidFill>
                  <a:srgbClr val="374151"/>
                </a:solidFill>
                <a:latin typeface="+mn-lt"/>
                <a:sym typeface="Wingdings" panose="05000000000000000000" pitchFamily="2" charset="2"/>
              </a:rPr>
              <a:t>5 &gt;&gt; 2   00000101 &gt;&gt; 2 	    00000001</a:t>
            </a:r>
          </a:p>
          <a:p>
            <a:pPr marL="43180" indent="0">
              <a:buNone/>
            </a:pPr>
            <a:r>
              <a:rPr lang="en-US" sz="2000" dirty="0">
                <a:solidFill>
                  <a:srgbClr val="374151"/>
                </a:solidFill>
                <a:latin typeface="+mn-lt"/>
                <a:sym typeface="Wingdings" panose="05000000000000000000" pitchFamily="2" charset="2"/>
              </a:rPr>
              <a:t>	-5 &gt;&gt; 2  11111011 &gt;&gt; 2 	    00111110 ?? This is incorrect!</a:t>
            </a:r>
          </a:p>
          <a:p>
            <a:pPr marL="38608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74151"/>
                </a:solidFill>
                <a:latin typeface="+mn-lt"/>
                <a:sym typeface="Wingdings" panose="05000000000000000000" pitchFamily="2" charset="2"/>
              </a:rPr>
              <a:t>So </a:t>
            </a:r>
            <a:r>
              <a:rPr lang="en-US" sz="2000" dirty="0">
                <a:solidFill>
                  <a:srgbClr val="FF0000"/>
                </a:solidFill>
                <a:latin typeface="+mn-lt"/>
                <a:sym typeface="Wingdings" panose="05000000000000000000" pitchFamily="2" charset="2"/>
              </a:rPr>
              <a:t>right shift </a:t>
            </a:r>
            <a:r>
              <a:rPr lang="en-US" sz="2000" dirty="0">
                <a:solidFill>
                  <a:srgbClr val="374151"/>
                </a:solidFill>
                <a:latin typeface="+mn-lt"/>
                <a:sym typeface="Wingdings" panose="05000000000000000000" pitchFamily="2" charset="2"/>
              </a:rPr>
              <a:t>has two versions: Logical shift and Arithmetic shift </a:t>
            </a:r>
          </a:p>
          <a:p>
            <a:pPr marL="342900" lvl="1" indent="0">
              <a:buNone/>
            </a:pPr>
            <a:r>
              <a:rPr lang="en-US" sz="1600" b="0" i="0" dirty="0">
                <a:solidFill>
                  <a:srgbClr val="374151"/>
                </a:solidFill>
                <a:effectLst/>
                <a:latin typeface="+mn-lt"/>
                <a:sym typeface="Wingdings" panose="05000000000000000000" pitchFamily="2" charset="2"/>
              </a:rPr>
              <a:t>	Lo</a:t>
            </a:r>
            <a:r>
              <a:rPr lang="en-US" sz="1600" dirty="0">
                <a:solidFill>
                  <a:srgbClr val="374151"/>
                </a:solidFill>
                <a:latin typeface="+mn-lt"/>
                <a:sym typeface="Wingdings" panose="05000000000000000000" pitchFamily="2" charset="2"/>
              </a:rPr>
              <a:t>gical shift filled with 0</a:t>
            </a:r>
          </a:p>
          <a:p>
            <a:pPr marL="342900" lvl="1" indent="0">
              <a:buNone/>
            </a:pPr>
            <a:r>
              <a:rPr lang="en-US" sz="1600" b="0" i="0" dirty="0">
                <a:solidFill>
                  <a:srgbClr val="374151"/>
                </a:solidFill>
                <a:effectLst/>
                <a:latin typeface="+mn-lt"/>
                <a:sym typeface="Wingdings" panose="05000000000000000000" pitchFamily="2" charset="2"/>
              </a:rPr>
              <a:t>	Arithmetic shift filled with the sign bit.</a:t>
            </a:r>
            <a:endParaRPr lang="en-US" sz="1600" b="0" i="0" dirty="0">
              <a:solidFill>
                <a:srgbClr val="374151"/>
              </a:solidFill>
              <a:effectLst/>
              <a:latin typeface="+mn-lt"/>
            </a:endParaRP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46288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f5d1151-db31-409d-a88b-554c578dc27e}"/>
</p:tagLst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PMingLiU" panose="02020500000000000000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PMingLiU" panose="02020500000000000000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anose="020F0502020204030204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13299</TotalTime>
  <Words>3234</Words>
  <Application>Microsoft Office PowerPoint</Application>
  <PresentationFormat>On-screen Show (16:9)</PresentationFormat>
  <Paragraphs>550</Paragraphs>
  <Slides>33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MS Sans Serif</vt:lpstr>
      <vt:lpstr>华文楷体</vt:lpstr>
      <vt:lpstr>Arial</vt:lpstr>
      <vt:lpstr>Calibri</vt:lpstr>
      <vt:lpstr>Cambria Math</vt:lpstr>
      <vt:lpstr>Times New Roman</vt:lpstr>
      <vt:lpstr>Wingdings</vt:lpstr>
      <vt:lpstr>NTHU UniCloud</vt:lpstr>
      <vt:lpstr>Equation</vt:lpstr>
      <vt:lpstr>CSC3050 – Computer Architecture </vt:lpstr>
      <vt:lpstr>Major Components of a Computer</vt:lpstr>
      <vt:lpstr>Memory are all bits</vt:lpstr>
      <vt:lpstr>Bits can Represent Any Information (1) </vt:lpstr>
      <vt:lpstr>Bits can Represent Any Information (1) </vt:lpstr>
      <vt:lpstr>Bits can Represent Any Information (2) </vt:lpstr>
      <vt:lpstr>Digitization: From Analog to Digital</vt:lpstr>
      <vt:lpstr>From Analog to Digital </vt:lpstr>
      <vt:lpstr>Bits can Represent Any Information (3) </vt:lpstr>
      <vt:lpstr>Sneak Preview of RVI64 (ALU and L/S)</vt:lpstr>
      <vt:lpstr>Logic and Shift Operations</vt:lpstr>
      <vt:lpstr>Branch Instructions</vt:lpstr>
      <vt:lpstr>Instructions</vt:lpstr>
      <vt:lpstr>Note</vt:lpstr>
      <vt:lpstr>How to represent Integer Values</vt:lpstr>
      <vt:lpstr>Integer Representation: Radix or Base</vt:lpstr>
      <vt:lpstr>Decimal, Binary, Octal and Hexadecimal</vt:lpstr>
      <vt:lpstr>Number Systems</vt:lpstr>
      <vt:lpstr>Exercise </vt:lpstr>
      <vt:lpstr>Powers of Two</vt:lpstr>
      <vt:lpstr>Decimal vs Binary Numbers</vt:lpstr>
      <vt:lpstr>Hexadecimal Numbers</vt:lpstr>
      <vt:lpstr>Exercise </vt:lpstr>
      <vt:lpstr>Exercise </vt:lpstr>
      <vt:lpstr>Unsigned and Signed Numbers</vt:lpstr>
      <vt:lpstr>Unsigned and Signed Numbers</vt:lpstr>
      <vt:lpstr>Unsigned and Signed Numbers</vt:lpstr>
      <vt:lpstr>Why not 1‘s complement</vt:lpstr>
      <vt:lpstr>Unsigned and Signed Numbers</vt:lpstr>
      <vt:lpstr>Exercise</vt:lpstr>
      <vt:lpstr>Exercise L02-2</vt:lpstr>
      <vt:lpstr>Sign Extension</vt:lpstr>
      <vt:lpstr>Right Shift of Signed Integer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Prof. HSU Wei-Chung (SDS)</cp:lastModifiedBy>
  <cp:revision>337</cp:revision>
  <dcterms:created xsi:type="dcterms:W3CDTF">2021-04-24T07:10:00Z</dcterms:created>
  <dcterms:modified xsi:type="dcterms:W3CDTF">2025-02-10T07:15:29Z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2052-11.1.0.11194</vt:lpwstr>
  </property>
  <property fmtid="{D5CDD505-2E9C-101B-9397-08002B2CF9AE}" pid="3" name="ICV">
    <vt:lpwstr>2343B9ADCB144332B587FD2B3970FFEA</vt:lpwstr>
  </property>
</Properties>
</file>