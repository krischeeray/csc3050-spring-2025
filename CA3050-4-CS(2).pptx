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60" r:id="rId2"/>
  </p:sldMasterIdLst>
  <p:notesMasterIdLst>
    <p:notesMasterId r:id="rId21"/>
  </p:notesMasterIdLst>
  <p:sldIdLst>
    <p:sldId id="256" r:id="rId3"/>
    <p:sldId id="258" r:id="rId4"/>
    <p:sldId id="286" r:id="rId5"/>
    <p:sldId id="260" r:id="rId6"/>
    <p:sldId id="261" r:id="rId7"/>
    <p:sldId id="262" r:id="rId8"/>
    <p:sldId id="263" r:id="rId9"/>
    <p:sldId id="374" r:id="rId10"/>
    <p:sldId id="264" r:id="rId11"/>
    <p:sldId id="375" r:id="rId12"/>
    <p:sldId id="265" r:id="rId13"/>
    <p:sldId id="266" r:id="rId14"/>
    <p:sldId id="267" r:id="rId15"/>
    <p:sldId id="294" r:id="rId16"/>
    <p:sldId id="268" r:id="rId17"/>
    <p:sldId id="269" r:id="rId18"/>
    <p:sldId id="270" r:id="rId19"/>
    <p:sldId id="271" r:id="rId2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0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75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34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1F4A7B-8284-4E61-88F9-84C6CA6E31E8}" type="datetimeFigureOut">
              <a:rPr lang="zh-TW" altLang="en-US" smtClean="0"/>
              <a:t>2025/3/26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1D5518-E2B7-47D3-A483-775D3998244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370072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3pPr>
              <a:defRPr sz="2667"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>
              <a:defRPr sz="2400"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>
              <a:defRPr sz="2133"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84839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267" b="1" cap="all"/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3733"/>
            </a:lvl1pPr>
            <a:lvl2pPr marL="457177" indent="0">
              <a:buNone/>
              <a:defRPr sz="1801"/>
            </a:lvl2pPr>
            <a:lvl3pPr marL="914354" indent="0">
              <a:buNone/>
              <a:defRPr sz="1600"/>
            </a:lvl3pPr>
            <a:lvl4pPr marL="1371531" indent="0">
              <a:buNone/>
              <a:defRPr sz="1401"/>
            </a:lvl4pPr>
            <a:lvl5pPr marL="1828709" indent="0">
              <a:buNone/>
              <a:defRPr sz="1401"/>
            </a:lvl5pPr>
            <a:lvl6pPr marL="2285886" indent="0">
              <a:buNone/>
              <a:defRPr sz="1401"/>
            </a:lvl6pPr>
            <a:lvl7pPr marL="2743063" indent="0">
              <a:buNone/>
              <a:defRPr sz="1401"/>
            </a:lvl7pPr>
            <a:lvl8pPr marL="3200240" indent="0">
              <a:buNone/>
              <a:defRPr sz="1401"/>
            </a:lvl8pPr>
            <a:lvl9pPr marL="3657417" indent="0">
              <a:buNone/>
              <a:defRPr sz="140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1603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125536"/>
            <a:ext cx="5384800" cy="4227699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1801"/>
            </a:lvl6pPr>
            <a:lvl7pPr>
              <a:defRPr sz="1801"/>
            </a:lvl7pPr>
            <a:lvl8pPr>
              <a:defRPr sz="1801"/>
            </a:lvl8pPr>
            <a:lvl9pPr>
              <a:defRPr sz="180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125536"/>
            <a:ext cx="5384800" cy="4227699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1801"/>
            </a:lvl6pPr>
            <a:lvl7pPr>
              <a:defRPr sz="1801"/>
            </a:lvl7pPr>
            <a:lvl8pPr>
              <a:defRPr sz="1801"/>
            </a:lvl8pPr>
            <a:lvl9pPr>
              <a:defRPr sz="180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649854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2" y="1268773"/>
            <a:ext cx="5386917" cy="639763"/>
          </a:xfrm>
        </p:spPr>
        <p:txBody>
          <a:bodyPr anchor="b"/>
          <a:lstStyle>
            <a:lvl1pPr marL="0" indent="0">
              <a:buNone/>
              <a:defRPr sz="2667" b="1"/>
            </a:lvl1pPr>
            <a:lvl2pPr marL="457177" indent="0">
              <a:buNone/>
              <a:defRPr sz="2000" b="1"/>
            </a:lvl2pPr>
            <a:lvl3pPr marL="914354" indent="0">
              <a:buNone/>
              <a:defRPr sz="1801" b="1"/>
            </a:lvl3pPr>
            <a:lvl4pPr marL="1371531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3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7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2" y="1908535"/>
            <a:ext cx="5386917" cy="3951288"/>
          </a:xfrm>
        </p:spPr>
        <p:txBody>
          <a:bodyPr/>
          <a:lstStyle>
            <a:lvl1pPr>
              <a:defRPr sz="2667"/>
            </a:lvl1pPr>
            <a:lvl2pPr>
              <a:defRPr sz="2133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3" y="1268773"/>
            <a:ext cx="5389033" cy="639763"/>
          </a:xfrm>
        </p:spPr>
        <p:txBody>
          <a:bodyPr anchor="b"/>
          <a:lstStyle>
            <a:lvl1pPr marL="0" indent="0">
              <a:buNone/>
              <a:defRPr sz="2667" b="1"/>
            </a:lvl1pPr>
            <a:lvl2pPr marL="457177" indent="0">
              <a:buNone/>
              <a:defRPr sz="2000" b="1"/>
            </a:lvl2pPr>
            <a:lvl3pPr marL="914354" indent="0">
              <a:buNone/>
              <a:defRPr sz="1801" b="1"/>
            </a:lvl3pPr>
            <a:lvl4pPr marL="1371531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3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7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3" y="1908535"/>
            <a:ext cx="5389033" cy="3951288"/>
          </a:xfrm>
        </p:spPr>
        <p:txBody>
          <a:bodyPr/>
          <a:lstStyle>
            <a:lvl1pPr>
              <a:defRPr sz="2667"/>
            </a:lvl1pPr>
            <a:lvl2pPr>
              <a:defRPr sz="2133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標題 1"/>
          <p:cNvSpPr>
            <a:spLocks noGrp="1"/>
          </p:cNvSpPr>
          <p:nvPr>
            <p:ph type="title"/>
          </p:nvPr>
        </p:nvSpPr>
        <p:spPr>
          <a:xfrm>
            <a:off x="624421" y="144466"/>
            <a:ext cx="10943167" cy="692151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794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307014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633198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6" y="273049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4" y="273056"/>
            <a:ext cx="6815668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6" y="1435104"/>
            <a:ext cx="4011084" cy="4691063"/>
          </a:xfrm>
        </p:spPr>
        <p:txBody>
          <a:bodyPr/>
          <a:lstStyle>
            <a:lvl1pPr marL="0" indent="0">
              <a:buNone/>
              <a:defRPr sz="1401"/>
            </a:lvl1pPr>
            <a:lvl2pPr marL="457177" indent="0">
              <a:buNone/>
              <a:defRPr sz="1200"/>
            </a:lvl2pPr>
            <a:lvl3pPr marL="914354" indent="0">
              <a:buNone/>
              <a:defRPr sz="1001"/>
            </a:lvl3pPr>
            <a:lvl4pPr marL="1371531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3" indent="0">
              <a:buNone/>
              <a:defRPr sz="900"/>
            </a:lvl7pPr>
            <a:lvl8pPr marL="3200240" indent="0">
              <a:buNone/>
              <a:defRPr sz="900"/>
            </a:lvl8pPr>
            <a:lvl9pPr marL="3657417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50483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77" indent="0">
              <a:buNone/>
              <a:defRPr sz="2800"/>
            </a:lvl2pPr>
            <a:lvl3pPr marL="914354" indent="0">
              <a:buNone/>
              <a:defRPr sz="2400"/>
            </a:lvl3pPr>
            <a:lvl4pPr marL="1371531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3" indent="0">
              <a:buNone/>
              <a:defRPr sz="2000"/>
            </a:lvl7pPr>
            <a:lvl8pPr marL="3200240" indent="0">
              <a:buNone/>
              <a:defRPr sz="2000"/>
            </a:lvl8pPr>
            <a:lvl9pPr marL="3657417" indent="0">
              <a:buNone/>
              <a:defRPr sz="2000"/>
            </a:lvl9pPr>
          </a:lstStyle>
          <a:p>
            <a:pPr lvl="0"/>
            <a:r>
              <a:rPr lang="en-US" altLang="zh-TW" noProof="0"/>
              <a:t>Click icon to add picture</a:t>
            </a:r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41"/>
            <a:ext cx="7315200" cy="804863"/>
          </a:xfrm>
        </p:spPr>
        <p:txBody>
          <a:bodyPr/>
          <a:lstStyle>
            <a:lvl1pPr marL="0" indent="0">
              <a:buNone/>
              <a:defRPr sz="1401"/>
            </a:lvl1pPr>
            <a:lvl2pPr marL="457177" indent="0">
              <a:buNone/>
              <a:defRPr sz="1200"/>
            </a:lvl2pPr>
            <a:lvl3pPr marL="914354" indent="0">
              <a:buNone/>
              <a:defRPr sz="1001"/>
            </a:lvl3pPr>
            <a:lvl4pPr marL="1371531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3" indent="0">
              <a:buNone/>
              <a:defRPr sz="900"/>
            </a:lvl7pPr>
            <a:lvl8pPr marL="3200240" indent="0">
              <a:buNone/>
              <a:defRPr sz="900"/>
            </a:lvl8pPr>
            <a:lvl9pPr marL="3657417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25657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73676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33043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609600" y="73028"/>
            <a:ext cx="10972800" cy="1700213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8601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609600" y="1125542"/>
            <a:ext cx="10972800" cy="647700"/>
          </a:xfrm>
        </p:spPr>
        <p:txBody>
          <a:bodyPr/>
          <a:lstStyle/>
          <a:p>
            <a:pPr lvl="0"/>
            <a:r>
              <a:rPr lang="en-US" altLang="zh-TW" noProof="0"/>
              <a:t>Click icon to add table</a:t>
            </a:r>
            <a:endParaRPr lang="zh-TW" altLang="en-US" noProof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92217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32"/>
            <a:ext cx="10363200" cy="1470025"/>
          </a:xfrm>
        </p:spPr>
        <p:txBody>
          <a:bodyPr/>
          <a:lstStyle>
            <a:lvl1pPr algn="ctr">
              <a:defRPr sz="5333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177" indent="0" algn="ctr">
              <a:buNone/>
              <a:defRPr/>
            </a:lvl2pPr>
            <a:lvl3pPr marL="914354" indent="0" algn="ctr">
              <a:buNone/>
              <a:defRPr/>
            </a:lvl3pPr>
            <a:lvl4pPr marL="1371531" indent="0" algn="ctr">
              <a:buNone/>
              <a:defRPr/>
            </a:lvl4pPr>
            <a:lvl5pPr marL="1828709" indent="0" algn="ctr">
              <a:buNone/>
              <a:defRPr/>
            </a:lvl5pPr>
            <a:lvl6pPr marL="2285886" indent="0" algn="ctr">
              <a:buNone/>
              <a:defRPr/>
            </a:lvl6pPr>
            <a:lvl7pPr marL="2743063" indent="0" algn="ctr">
              <a:buNone/>
              <a:defRPr/>
            </a:lvl7pPr>
            <a:lvl8pPr marL="3200240" indent="0" algn="ctr">
              <a:buNone/>
              <a:defRPr/>
            </a:lvl8pPr>
            <a:lvl9pPr marL="3657417" indent="0" algn="ctr">
              <a:buNone/>
              <a:defRPr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499471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23528374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3224402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2859635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257103167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059881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798655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839354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6343689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6378302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7555587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9843831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3886289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1853755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0796229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827845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27367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2.jp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3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17"/>
          <p:cNvSpPr>
            <a:spLocks noGrp="1" noChangeArrowheads="1"/>
          </p:cNvSpPr>
          <p:nvPr>
            <p:ph type="title"/>
          </p:nvPr>
        </p:nvSpPr>
        <p:spPr bwMode="auto">
          <a:xfrm>
            <a:off x="1049867" y="144466"/>
            <a:ext cx="10517721" cy="6921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28" name="Rectangle 1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125537"/>
            <a:ext cx="10972800" cy="48958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按一下以編輯母片</a:t>
            </a:r>
          </a:p>
          <a:p>
            <a:pPr lvl="1"/>
            <a:endParaRPr lang="zh-TW" altLang="en-US" dirty="0"/>
          </a:p>
          <a:p>
            <a:pPr lvl="0"/>
            <a:endParaRPr lang="en-US" altLang="zh-TW" dirty="0"/>
          </a:p>
        </p:txBody>
      </p:sp>
      <p:pic>
        <p:nvPicPr>
          <p:cNvPr id="1029" name="Picture 25" descr="name"/>
          <p:cNvPicPr>
            <a:picLocks noChangeAspect="1" noChangeArrowheads="1"/>
          </p:cNvPicPr>
          <p:nvPr/>
        </p:nvPicPr>
        <p:blipFill>
          <a:blip r:embed="rId20" cstate="print"/>
          <a:srcRect/>
          <a:stretch>
            <a:fillRect/>
          </a:stretch>
        </p:blipFill>
        <p:spPr bwMode="auto">
          <a:xfrm>
            <a:off x="3" y="6357940"/>
            <a:ext cx="5111751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792808" y="6581777"/>
            <a:ext cx="357482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1200" b="1" dirty="0">
                <a:solidFill>
                  <a:schemeClr val="bg1"/>
                </a:solidFill>
                <a:latin typeface="Arial" pitchFamily="34" charset="0"/>
                <a:ea typeface="新細明體" pitchFamily="18" charset="-120"/>
                <a:cs typeface="Arial" pitchFamily="34" charset="0"/>
              </a:rPr>
              <a:t>National Tsing Hua University ® copyright OIA</a:t>
            </a:r>
            <a:endParaRPr lang="zh-TW" altLang="en-US" sz="1200" b="1" dirty="0">
              <a:solidFill>
                <a:schemeClr val="bg1"/>
              </a:solidFill>
              <a:latin typeface="Arial" pitchFamily="34" charset="0"/>
              <a:ea typeface="新細明體" pitchFamily="18" charset="-120"/>
              <a:cs typeface="Arial" pitchFamily="34" charset="0"/>
            </a:endParaRPr>
          </a:p>
        </p:txBody>
      </p:sp>
      <p:sp>
        <p:nvSpPr>
          <p:cNvPr id="4105" name="Rectangle 9"/>
          <p:cNvSpPr>
            <a:spLocks noChangeArrowheads="1"/>
          </p:cNvSpPr>
          <p:nvPr/>
        </p:nvSpPr>
        <p:spPr bwMode="auto">
          <a:xfrm>
            <a:off x="0" y="908055"/>
            <a:ext cx="12192000" cy="144463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801">
              <a:ea typeface="新細明體" pitchFamily="18" charset="-120"/>
            </a:endParaRPr>
          </a:p>
        </p:txBody>
      </p:sp>
      <p:sp>
        <p:nvSpPr>
          <p:cNvPr id="4106" name="Rectangle 10"/>
          <p:cNvSpPr>
            <a:spLocks noChangeArrowheads="1"/>
          </p:cNvSpPr>
          <p:nvPr userDrawn="1"/>
        </p:nvSpPr>
        <p:spPr bwMode="auto">
          <a:xfrm>
            <a:off x="0" y="6165849"/>
            <a:ext cx="12192000" cy="719139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801">
              <a:ea typeface="新細明體" pitchFamily="18" charset="-120"/>
            </a:endParaRPr>
          </a:p>
        </p:txBody>
      </p:sp>
      <p:sp>
        <p:nvSpPr>
          <p:cNvPr id="1043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108017" y="6524628"/>
            <a:ext cx="28448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bg1"/>
                </a:solidFill>
                <a:latin typeface="Arial" pitchFamily="34" charset="0"/>
                <a:ea typeface="新細明體" pitchFamily="18" charset="-120"/>
              </a:defRPr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14" name="圖片 13"/>
          <p:cNvPicPr>
            <a:picLocks noChangeAspect="1"/>
          </p:cNvPicPr>
          <p:nvPr userDrawn="1"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280" y="124614"/>
            <a:ext cx="916587" cy="672311"/>
          </a:xfrm>
          <a:prstGeom prst="rect">
            <a:avLst/>
          </a:prstGeom>
        </p:spPr>
      </p:pic>
      <p:grpSp>
        <p:nvGrpSpPr>
          <p:cNvPr id="2" name="群組 1"/>
          <p:cNvGrpSpPr/>
          <p:nvPr userDrawn="1"/>
        </p:nvGrpSpPr>
        <p:grpSpPr>
          <a:xfrm>
            <a:off x="86980" y="6239920"/>
            <a:ext cx="3223375" cy="569415"/>
            <a:chOff x="86980" y="6239920"/>
            <a:chExt cx="3223375" cy="569415"/>
          </a:xfrm>
        </p:grpSpPr>
        <p:pic>
          <p:nvPicPr>
            <p:cNvPr id="12" name="圖片 11"/>
            <p:cNvPicPr>
              <a:picLocks noChangeAspect="1"/>
            </p:cNvPicPr>
            <p:nvPr userDrawn="1"/>
          </p:nvPicPr>
          <p:blipFill>
            <a:blip r:embed="rId2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980" y="6239920"/>
              <a:ext cx="817930" cy="569415"/>
            </a:xfrm>
            <a:prstGeom prst="rect">
              <a:avLst/>
            </a:prstGeom>
          </p:spPr>
        </p:pic>
        <p:sp>
          <p:nvSpPr>
            <p:cNvPr id="15" name="矩形 14"/>
            <p:cNvSpPr/>
            <p:nvPr userDrawn="1"/>
          </p:nvSpPr>
          <p:spPr>
            <a:xfrm>
              <a:off x="829837" y="6347770"/>
              <a:ext cx="2480518" cy="43088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lang="zh-CN" altLang="zh-TW" sz="1200" kern="100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rPr>
                <a:t>香港中文大学（深圳）数据科学院</a:t>
              </a:r>
              <a:endParaRPr lang="zh-TW" altLang="zh-TW" sz="1200" kern="1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  <a:p>
              <a:pPr algn="ctr">
                <a:spcAft>
                  <a:spcPts val="0"/>
                </a:spcAft>
              </a:pPr>
              <a:r>
                <a:rPr lang="en-US" altLang="zh-TW" sz="1000" kern="100" dirty="0">
                  <a:solidFill>
                    <a:schemeClr val="bg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CUHK</a:t>
              </a:r>
              <a:r>
                <a:rPr lang="en-US" altLang="zh-TW" sz="1000" kern="100" dirty="0">
                  <a:solidFill>
                    <a:schemeClr val="bg1"/>
                  </a:solidFill>
                  <a:latin typeface="Times New Roman" panose="02020603050405020304" pitchFamily="18" charset="0"/>
                  <a:ea typeface="DengXian"/>
                  <a:cs typeface="Times New Roman" panose="02020603050405020304" pitchFamily="18" charset="0"/>
                </a:rPr>
                <a:t>-SZ Sc</a:t>
              </a:r>
              <a:r>
                <a:rPr lang="en-US" altLang="zh-TW" sz="1000" kern="100" dirty="0">
                  <a:solidFill>
                    <a:schemeClr val="bg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hool of Data Science</a:t>
              </a:r>
              <a:endParaRPr lang="zh-TW" altLang="zh-TW" sz="1000" kern="100" dirty="0">
                <a:solidFill>
                  <a:schemeClr val="bg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66231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  <p:sldLayoutId id="2147483690" r:id="rId18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4800" b="1">
          <a:solidFill>
            <a:schemeClr val="tx2"/>
          </a:solidFill>
          <a:latin typeface="Calibri" pitchFamily="34" charset="0"/>
          <a:ea typeface="標楷體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5pPr>
      <a:lvl6pPr marL="457177" algn="l" rtl="0" eaLnBrk="1" fontAlgn="base" hangingPunct="1">
        <a:spcBef>
          <a:spcPct val="0"/>
        </a:spcBef>
        <a:spcAft>
          <a:spcPct val="0"/>
        </a:spcAft>
        <a:defRPr kumimoji="1" sz="3001" b="1">
          <a:solidFill>
            <a:schemeClr val="tx2"/>
          </a:solidFill>
          <a:latin typeface="MS Sans Serif"/>
          <a:ea typeface="MS Sans Serif"/>
          <a:cs typeface="MS Sans Serif"/>
        </a:defRPr>
      </a:lvl6pPr>
      <a:lvl7pPr marL="914354" algn="l" rtl="0" eaLnBrk="1" fontAlgn="base" hangingPunct="1">
        <a:spcBef>
          <a:spcPct val="0"/>
        </a:spcBef>
        <a:spcAft>
          <a:spcPct val="0"/>
        </a:spcAft>
        <a:defRPr kumimoji="1" sz="3001" b="1">
          <a:solidFill>
            <a:schemeClr val="tx2"/>
          </a:solidFill>
          <a:latin typeface="MS Sans Serif"/>
          <a:ea typeface="MS Sans Serif"/>
          <a:cs typeface="MS Sans Serif"/>
        </a:defRPr>
      </a:lvl7pPr>
      <a:lvl8pPr marL="1371531" algn="l" rtl="0" eaLnBrk="1" fontAlgn="base" hangingPunct="1">
        <a:spcBef>
          <a:spcPct val="0"/>
        </a:spcBef>
        <a:spcAft>
          <a:spcPct val="0"/>
        </a:spcAft>
        <a:defRPr kumimoji="1" sz="3001" b="1">
          <a:solidFill>
            <a:schemeClr val="tx2"/>
          </a:solidFill>
          <a:latin typeface="MS Sans Serif"/>
          <a:ea typeface="MS Sans Serif"/>
          <a:cs typeface="MS Sans Serif"/>
        </a:defRPr>
      </a:lvl8pPr>
      <a:lvl9pPr marL="1828709" algn="l" rtl="0" eaLnBrk="1" fontAlgn="base" hangingPunct="1">
        <a:spcBef>
          <a:spcPct val="0"/>
        </a:spcBef>
        <a:spcAft>
          <a:spcPct val="0"/>
        </a:spcAft>
        <a:defRPr kumimoji="1" sz="3001" b="1">
          <a:solidFill>
            <a:schemeClr val="tx2"/>
          </a:solidFill>
          <a:latin typeface="MS Sans Serif"/>
          <a:ea typeface="MS Sans Serif"/>
          <a:cs typeface="MS Sans Serif"/>
        </a:defRPr>
      </a:lvl9pPr>
    </p:titleStyle>
    <p:bodyStyle>
      <a:lvl1pPr marL="342882" indent="-342882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80000"/>
        <a:buFont typeface="Wingdings" pitchFamily="2" charset="2"/>
        <a:buChar char="l"/>
        <a:defRPr kumimoji="1" sz="3733">
          <a:solidFill>
            <a:schemeClr val="tx1"/>
          </a:solidFill>
          <a:latin typeface="Calibri" pitchFamily="34" charset="0"/>
          <a:ea typeface="標楷體" pitchFamily="65" charset="-120"/>
          <a:cs typeface="+mn-cs"/>
        </a:defRPr>
      </a:lvl1pPr>
      <a:lvl2pPr marL="742913" indent="-285737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90000"/>
        <a:buFont typeface="Arial" charset="0"/>
        <a:buChar char="–"/>
        <a:defRPr kumimoji="1" sz="3200">
          <a:solidFill>
            <a:schemeClr val="tx1"/>
          </a:solidFill>
          <a:latin typeface="Calibri" pitchFamily="34" charset="0"/>
          <a:ea typeface="標楷體" pitchFamily="65" charset="-120"/>
        </a:defRPr>
      </a:lvl2pPr>
      <a:lvl3pPr marL="1142943" indent="-228589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121" indent="-228589" algn="l" rtl="0" eaLnBrk="1" fontAlgn="base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298" indent="-228589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476" indent="-228589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652" indent="-228589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8829" indent="-228589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007" indent="-228589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177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1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3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7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56871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733324"/>
            <a:ext cx="10363200" cy="1470025"/>
          </a:xfrm>
        </p:spPr>
        <p:txBody>
          <a:bodyPr/>
          <a:lstStyle/>
          <a:p>
            <a:pPr algn="ctr"/>
            <a:r>
              <a:rPr lang="en-US" altLang="zh-TW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CSC3050 –Computer Architecture</a:t>
            </a:r>
            <a:endParaRPr lang="zh-TW" altLang="en-US" sz="4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6684" y="4179086"/>
            <a:ext cx="9458632" cy="1871886"/>
          </a:xfrm>
        </p:spPr>
        <p:txBody>
          <a:bodyPr/>
          <a:lstStyle/>
          <a:p>
            <a:r>
              <a:rPr lang="en-US" altLang="zh-TW" sz="4800" dirty="0"/>
              <a:t>Code (Instruction) Scheduling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1E74415-30E6-4BE5-9E20-77352570E8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693601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投影片編號版面配置區 5">
            <a:extLst>
              <a:ext uri="{FF2B5EF4-FFF2-40B4-BE49-F238E27FC236}">
                <a16:creationId xmlns:a16="http://schemas.microsoft.com/office/drawing/2014/main" id="{5D4B1B45-F1BE-4F9C-B060-07D48F363C5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077200" y="6477001"/>
            <a:ext cx="2133600" cy="244475"/>
          </a:xfrm>
          <a:prstGeom prst="rect">
            <a:avLst/>
          </a:prstGeom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7B88A9B-C33E-4B20-B956-DC0F7D27F86C}" type="slidenum">
              <a:rPr lang="zh-TW" altLang="en-US" sz="1400"/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US" altLang="zh-TW" sz="1400"/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6BDB72AF-814E-46D3-BF00-7DDA0B3B555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828800" y="-114300"/>
            <a:ext cx="8077200" cy="1219200"/>
          </a:xfrm>
        </p:spPr>
        <p:txBody>
          <a:bodyPr/>
          <a:lstStyle/>
          <a:p>
            <a:pPr eaLnBrk="1" hangingPunct="1"/>
            <a:r>
              <a:rPr lang="en-US" altLang="zh-TW" sz="4000" dirty="0">
                <a:ea typeface="新細明體" panose="02020500000000000000" pitchFamily="18" charset="-120"/>
              </a:rPr>
              <a:t>Why Rearrange Code Sequence?</a:t>
            </a:r>
          </a:p>
        </p:txBody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A12018E3-14D6-4353-A912-64E62C86D1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3768" y="1104900"/>
            <a:ext cx="9962706" cy="5105400"/>
          </a:xfrm>
        </p:spPr>
        <p:txBody>
          <a:bodyPr/>
          <a:lstStyle/>
          <a:p>
            <a:pPr marL="609600" indent="-609600">
              <a:buNone/>
            </a:pPr>
            <a:endParaRPr lang="zh-TW" altLang="en-US" dirty="0">
              <a:ea typeface="新細明體" panose="02020500000000000000" pitchFamily="18" charset="-120"/>
            </a:endParaRPr>
          </a:p>
        </p:txBody>
      </p:sp>
      <p:sp>
        <p:nvSpPr>
          <p:cNvPr id="17413" name="Rectangle 4">
            <a:extLst>
              <a:ext uri="{FF2B5EF4-FFF2-40B4-BE49-F238E27FC236}">
                <a16:creationId xmlns:a16="http://schemas.microsoft.com/office/drawing/2014/main" id="{2F0791F7-64F4-4B9B-88A3-EA3426A3DD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2774" y="1562100"/>
            <a:ext cx="838200" cy="6096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IF</a:t>
            </a:r>
          </a:p>
        </p:txBody>
      </p:sp>
      <p:sp>
        <p:nvSpPr>
          <p:cNvPr id="17414" name="Rectangle 5">
            <a:extLst>
              <a:ext uri="{FF2B5EF4-FFF2-40B4-BE49-F238E27FC236}">
                <a16:creationId xmlns:a16="http://schemas.microsoft.com/office/drawing/2014/main" id="{1C5D5C79-F321-4804-8893-D8299A5C6D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0974" y="1562100"/>
            <a:ext cx="838200" cy="6096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ID</a:t>
            </a:r>
          </a:p>
        </p:txBody>
      </p:sp>
      <p:sp>
        <p:nvSpPr>
          <p:cNvPr id="17415" name="Rectangle 6">
            <a:extLst>
              <a:ext uri="{FF2B5EF4-FFF2-40B4-BE49-F238E27FC236}">
                <a16:creationId xmlns:a16="http://schemas.microsoft.com/office/drawing/2014/main" id="{8F200434-279F-4EAE-8E7C-7B75EBDB55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9174" y="1562100"/>
            <a:ext cx="838200" cy="6096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EX</a:t>
            </a:r>
          </a:p>
        </p:txBody>
      </p:sp>
      <p:sp>
        <p:nvSpPr>
          <p:cNvPr id="17416" name="Rectangle 7">
            <a:extLst>
              <a:ext uri="{FF2B5EF4-FFF2-40B4-BE49-F238E27FC236}">
                <a16:creationId xmlns:a16="http://schemas.microsoft.com/office/drawing/2014/main" id="{AF51A2A5-BB26-49CE-932D-097F7FDE85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7374" y="1562100"/>
            <a:ext cx="838200" cy="6096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Mem</a:t>
            </a:r>
          </a:p>
        </p:txBody>
      </p:sp>
      <p:sp>
        <p:nvSpPr>
          <p:cNvPr id="17417" name="Rectangle 8">
            <a:extLst>
              <a:ext uri="{FF2B5EF4-FFF2-40B4-BE49-F238E27FC236}">
                <a16:creationId xmlns:a16="http://schemas.microsoft.com/office/drawing/2014/main" id="{2CDCF4A8-3BFE-495D-AAF8-14EE28783E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5574" y="1562100"/>
            <a:ext cx="838200" cy="6096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WB</a:t>
            </a:r>
          </a:p>
        </p:txBody>
      </p:sp>
      <p:sp>
        <p:nvSpPr>
          <p:cNvPr id="17418" name="Rectangle 9">
            <a:extLst>
              <a:ext uri="{FF2B5EF4-FFF2-40B4-BE49-F238E27FC236}">
                <a16:creationId xmlns:a16="http://schemas.microsoft.com/office/drawing/2014/main" id="{E17D6F71-0DC1-4330-98C0-E4D5AA6D90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2774" y="2324100"/>
            <a:ext cx="838200" cy="381000"/>
          </a:xfrm>
          <a:prstGeom prst="rect">
            <a:avLst/>
          </a:prstGeom>
          <a:solidFill>
            <a:srgbClr val="66FF33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17419" name="Rectangle 10">
            <a:extLst>
              <a:ext uri="{FF2B5EF4-FFF2-40B4-BE49-F238E27FC236}">
                <a16:creationId xmlns:a16="http://schemas.microsoft.com/office/drawing/2014/main" id="{84067E14-F27B-4C3F-B53E-295BAF5838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7174" y="2705100"/>
            <a:ext cx="838200" cy="381000"/>
          </a:xfrm>
          <a:prstGeom prst="rect">
            <a:avLst/>
          </a:prstGeom>
          <a:solidFill>
            <a:srgbClr val="66FF33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17420" name="Rectangle 11">
            <a:extLst>
              <a:ext uri="{FF2B5EF4-FFF2-40B4-BE49-F238E27FC236}">
                <a16:creationId xmlns:a16="http://schemas.microsoft.com/office/drawing/2014/main" id="{2DBAC1DD-714E-45EF-B11E-773038A0C5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5374" y="3086100"/>
            <a:ext cx="838200" cy="381000"/>
          </a:xfrm>
          <a:prstGeom prst="rect">
            <a:avLst/>
          </a:prstGeom>
          <a:solidFill>
            <a:srgbClr val="66FF33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17421" name="Rectangle 12">
            <a:extLst>
              <a:ext uri="{FF2B5EF4-FFF2-40B4-BE49-F238E27FC236}">
                <a16:creationId xmlns:a16="http://schemas.microsoft.com/office/drawing/2014/main" id="{F2FE960A-77C3-439B-B1D4-6FAF4D7EBF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3574" y="3467100"/>
            <a:ext cx="838200" cy="381000"/>
          </a:xfrm>
          <a:prstGeom prst="rect">
            <a:avLst/>
          </a:prstGeom>
          <a:solidFill>
            <a:srgbClr val="66FF33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17422" name="Rectangle 13">
            <a:extLst>
              <a:ext uri="{FF2B5EF4-FFF2-40B4-BE49-F238E27FC236}">
                <a16:creationId xmlns:a16="http://schemas.microsoft.com/office/drawing/2014/main" id="{A0727603-08F9-4535-B816-90D202CD0C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51774" y="3848100"/>
            <a:ext cx="838200" cy="381000"/>
          </a:xfrm>
          <a:prstGeom prst="rect">
            <a:avLst/>
          </a:prstGeom>
          <a:solidFill>
            <a:srgbClr val="66FF33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17423" name="Rectangle 14">
            <a:extLst>
              <a:ext uri="{FF2B5EF4-FFF2-40B4-BE49-F238E27FC236}">
                <a16:creationId xmlns:a16="http://schemas.microsoft.com/office/drawing/2014/main" id="{B592E030-F876-4270-8720-417BE1E586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2774" y="2705100"/>
            <a:ext cx="838200" cy="381000"/>
          </a:xfrm>
          <a:prstGeom prst="rect">
            <a:avLst/>
          </a:prstGeom>
          <a:solidFill>
            <a:schemeClr val="hlink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17424" name="Rectangle 15">
            <a:extLst>
              <a:ext uri="{FF2B5EF4-FFF2-40B4-BE49-F238E27FC236}">
                <a16:creationId xmlns:a16="http://schemas.microsoft.com/office/drawing/2014/main" id="{20F69FC3-F8F8-432B-BCE5-D0E5B55912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7174" y="3086100"/>
            <a:ext cx="838200" cy="381000"/>
          </a:xfrm>
          <a:prstGeom prst="rect">
            <a:avLst/>
          </a:prstGeom>
          <a:solidFill>
            <a:schemeClr val="hlink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17425" name="Rectangle 16">
            <a:extLst>
              <a:ext uri="{FF2B5EF4-FFF2-40B4-BE49-F238E27FC236}">
                <a16:creationId xmlns:a16="http://schemas.microsoft.com/office/drawing/2014/main" id="{ECC40AED-69CE-4B65-8B46-3FBADBB45D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5374" y="3467100"/>
            <a:ext cx="838200" cy="381000"/>
          </a:xfrm>
          <a:prstGeom prst="rect">
            <a:avLst/>
          </a:prstGeom>
          <a:solidFill>
            <a:schemeClr val="hlink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17426" name="Rectangle 17">
            <a:extLst>
              <a:ext uri="{FF2B5EF4-FFF2-40B4-BE49-F238E27FC236}">
                <a16:creationId xmlns:a16="http://schemas.microsoft.com/office/drawing/2014/main" id="{D86787A0-143E-4FAD-B640-F627AA2BBD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3574" y="3848100"/>
            <a:ext cx="838200" cy="381000"/>
          </a:xfrm>
          <a:prstGeom prst="rect">
            <a:avLst/>
          </a:prstGeom>
          <a:solidFill>
            <a:schemeClr val="hlink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17427" name="Rectangle 18">
            <a:extLst>
              <a:ext uri="{FF2B5EF4-FFF2-40B4-BE49-F238E27FC236}">
                <a16:creationId xmlns:a16="http://schemas.microsoft.com/office/drawing/2014/main" id="{3BE2CE2B-12C6-4EDF-BF6D-7C402FC104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51774" y="4229100"/>
            <a:ext cx="838200" cy="381000"/>
          </a:xfrm>
          <a:prstGeom prst="rect">
            <a:avLst/>
          </a:prstGeom>
          <a:solidFill>
            <a:schemeClr val="hlink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17428" name="Rectangle 19">
            <a:extLst>
              <a:ext uri="{FF2B5EF4-FFF2-40B4-BE49-F238E27FC236}">
                <a16:creationId xmlns:a16="http://schemas.microsoft.com/office/drawing/2014/main" id="{34E924BF-9EFC-485B-9979-F4E0CF5226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2774" y="3086100"/>
            <a:ext cx="838200" cy="381000"/>
          </a:xfrm>
          <a:prstGeom prst="rect">
            <a:avLst/>
          </a:prstGeom>
          <a:solidFill>
            <a:srgbClr val="FF00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17429" name="Rectangle 20">
            <a:extLst>
              <a:ext uri="{FF2B5EF4-FFF2-40B4-BE49-F238E27FC236}">
                <a16:creationId xmlns:a16="http://schemas.microsoft.com/office/drawing/2014/main" id="{50D743D6-C753-45DF-A61C-288DFC560B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7174" y="3467100"/>
            <a:ext cx="838200" cy="381000"/>
          </a:xfrm>
          <a:prstGeom prst="rect">
            <a:avLst/>
          </a:prstGeom>
          <a:solidFill>
            <a:srgbClr val="FF00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17430" name="Rectangle 21">
            <a:extLst>
              <a:ext uri="{FF2B5EF4-FFF2-40B4-BE49-F238E27FC236}">
                <a16:creationId xmlns:a16="http://schemas.microsoft.com/office/drawing/2014/main" id="{B2209D3B-BA8E-4313-9FD0-CB1FA8DCDC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5374" y="4229100"/>
            <a:ext cx="838200" cy="381000"/>
          </a:xfrm>
          <a:prstGeom prst="rect">
            <a:avLst/>
          </a:prstGeom>
          <a:solidFill>
            <a:srgbClr val="FF00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17431" name="Rectangle 22">
            <a:extLst>
              <a:ext uri="{FF2B5EF4-FFF2-40B4-BE49-F238E27FC236}">
                <a16:creationId xmlns:a16="http://schemas.microsoft.com/office/drawing/2014/main" id="{2AC33766-3DF0-4905-9F35-91560EA9D1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3574" y="4686300"/>
            <a:ext cx="838200" cy="381000"/>
          </a:xfrm>
          <a:prstGeom prst="rect">
            <a:avLst/>
          </a:prstGeom>
          <a:solidFill>
            <a:srgbClr val="FF00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17432" name="Rectangle 23">
            <a:extLst>
              <a:ext uri="{FF2B5EF4-FFF2-40B4-BE49-F238E27FC236}">
                <a16:creationId xmlns:a16="http://schemas.microsoft.com/office/drawing/2014/main" id="{F0B3F16F-1984-4919-B063-081FFE4F36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51774" y="5067300"/>
            <a:ext cx="838200" cy="381000"/>
          </a:xfrm>
          <a:prstGeom prst="rect">
            <a:avLst/>
          </a:prstGeom>
          <a:solidFill>
            <a:srgbClr val="FF00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17433" name="Rectangle 24">
            <a:extLst>
              <a:ext uri="{FF2B5EF4-FFF2-40B4-BE49-F238E27FC236}">
                <a16:creationId xmlns:a16="http://schemas.microsoft.com/office/drawing/2014/main" id="{7F798F8A-0FB3-498A-B5F0-F61A9B2008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2774" y="3467100"/>
            <a:ext cx="838200" cy="381000"/>
          </a:xfrm>
          <a:prstGeom prst="rect">
            <a:avLst/>
          </a:prstGeom>
          <a:solidFill>
            <a:srgbClr val="9933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17434" name="Rectangle 25">
            <a:extLst>
              <a:ext uri="{FF2B5EF4-FFF2-40B4-BE49-F238E27FC236}">
                <a16:creationId xmlns:a16="http://schemas.microsoft.com/office/drawing/2014/main" id="{F8FE000A-833E-4DA3-87CA-5B6283561A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7174" y="3848100"/>
            <a:ext cx="838200" cy="381000"/>
          </a:xfrm>
          <a:prstGeom prst="rect">
            <a:avLst/>
          </a:prstGeom>
          <a:solidFill>
            <a:srgbClr val="9933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17435" name="Rectangle 26">
            <a:extLst>
              <a:ext uri="{FF2B5EF4-FFF2-40B4-BE49-F238E27FC236}">
                <a16:creationId xmlns:a16="http://schemas.microsoft.com/office/drawing/2014/main" id="{E98D6C0D-5015-40DF-A456-EA5ACDC6EC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5374" y="5448300"/>
            <a:ext cx="838200" cy="381000"/>
          </a:xfrm>
          <a:prstGeom prst="rect">
            <a:avLst/>
          </a:prstGeom>
          <a:solidFill>
            <a:srgbClr val="9933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17436" name="Rectangle 27">
            <a:extLst>
              <a:ext uri="{FF2B5EF4-FFF2-40B4-BE49-F238E27FC236}">
                <a16:creationId xmlns:a16="http://schemas.microsoft.com/office/drawing/2014/main" id="{C6000DCE-C320-4E0E-A971-E505C28503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1952" y="2324100"/>
            <a:ext cx="2181222" cy="381000"/>
          </a:xfrm>
          <a:prstGeom prst="rect">
            <a:avLst/>
          </a:prstGeom>
          <a:solidFill>
            <a:srgbClr val="66FF33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 dirty="0" err="1">
                <a:solidFill>
                  <a:schemeClr val="bg1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lw</a:t>
            </a:r>
            <a:r>
              <a:rPr lang="en-US" altLang="zh-TW" sz="2400" dirty="0">
                <a:solidFill>
                  <a:schemeClr val="bg1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 X8, a</a:t>
            </a:r>
          </a:p>
        </p:txBody>
      </p:sp>
      <p:sp>
        <p:nvSpPr>
          <p:cNvPr id="17437" name="Rectangle 28">
            <a:extLst>
              <a:ext uri="{FF2B5EF4-FFF2-40B4-BE49-F238E27FC236}">
                <a16:creationId xmlns:a16="http://schemas.microsoft.com/office/drawing/2014/main" id="{0F8EE240-470F-401D-97BD-1FFB07BA99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5126" y="2705100"/>
            <a:ext cx="2178048" cy="381000"/>
          </a:xfrm>
          <a:prstGeom prst="rect">
            <a:avLst/>
          </a:prstGeom>
          <a:solidFill>
            <a:schemeClr val="hlink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 dirty="0" err="1">
                <a:solidFill>
                  <a:schemeClr val="bg1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lw</a:t>
            </a:r>
            <a:r>
              <a:rPr lang="en-US" altLang="zh-TW" sz="2400" dirty="0">
                <a:solidFill>
                  <a:schemeClr val="bg1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 X9, b</a:t>
            </a:r>
          </a:p>
        </p:txBody>
      </p:sp>
      <p:sp>
        <p:nvSpPr>
          <p:cNvPr id="17438" name="Rectangle 29">
            <a:extLst>
              <a:ext uri="{FF2B5EF4-FFF2-40B4-BE49-F238E27FC236}">
                <a16:creationId xmlns:a16="http://schemas.microsoft.com/office/drawing/2014/main" id="{8F88A689-33D8-4CA3-9D2F-0788DD8CEF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5126" y="3086100"/>
            <a:ext cx="2178048" cy="381000"/>
          </a:xfrm>
          <a:prstGeom prst="rect">
            <a:avLst/>
          </a:prstGeom>
          <a:solidFill>
            <a:srgbClr val="FF00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 dirty="0" err="1">
                <a:solidFill>
                  <a:schemeClr val="bg1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mul</a:t>
            </a:r>
            <a:r>
              <a:rPr lang="en-US" altLang="zh-TW" sz="2400" dirty="0">
                <a:solidFill>
                  <a:schemeClr val="bg1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 X10,X8,X8</a:t>
            </a:r>
          </a:p>
        </p:txBody>
      </p:sp>
      <p:sp>
        <p:nvSpPr>
          <p:cNvPr id="17439" name="Rectangle 30">
            <a:extLst>
              <a:ext uri="{FF2B5EF4-FFF2-40B4-BE49-F238E27FC236}">
                <a16:creationId xmlns:a16="http://schemas.microsoft.com/office/drawing/2014/main" id="{7184E068-FA0C-45AA-98D8-8942DC2FC9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8300" y="3467100"/>
            <a:ext cx="2174874" cy="381000"/>
          </a:xfrm>
          <a:prstGeom prst="rect">
            <a:avLst/>
          </a:prstGeom>
          <a:solidFill>
            <a:srgbClr val="9933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 dirty="0">
                <a:solidFill>
                  <a:schemeClr val="bg1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add X11,X9,X10</a:t>
            </a:r>
          </a:p>
        </p:txBody>
      </p:sp>
      <p:sp>
        <p:nvSpPr>
          <p:cNvPr id="17440" name="Text Box 31">
            <a:extLst>
              <a:ext uri="{FF2B5EF4-FFF2-40B4-BE49-F238E27FC236}">
                <a16:creationId xmlns:a16="http://schemas.microsoft.com/office/drawing/2014/main" id="{97D3055D-D22D-4343-914F-4660D7936A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66175" y="2247900"/>
            <a:ext cx="1139825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Clock 0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Clock 1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Clock 2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Clock 3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Clock 4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Clock 5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Clock 6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Clock 7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Clock 8</a:t>
            </a:r>
          </a:p>
        </p:txBody>
      </p:sp>
      <p:sp>
        <p:nvSpPr>
          <p:cNvPr id="17441" name="Rectangle 32">
            <a:extLst>
              <a:ext uri="{FF2B5EF4-FFF2-40B4-BE49-F238E27FC236}">
                <a16:creationId xmlns:a16="http://schemas.microsoft.com/office/drawing/2014/main" id="{EED8C16C-E2B0-4E96-B6ED-27859E50FA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1952" y="3848100"/>
            <a:ext cx="2181222" cy="381000"/>
          </a:xfrm>
          <a:prstGeom prst="rect">
            <a:avLst/>
          </a:prstGeom>
          <a:solidFill>
            <a:srgbClr val="0000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 dirty="0" err="1">
                <a:solidFill>
                  <a:schemeClr val="bg1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lw</a:t>
            </a:r>
            <a:r>
              <a:rPr lang="en-US" altLang="zh-TW" sz="2400" dirty="0">
                <a:solidFill>
                  <a:schemeClr val="bg1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 X12,c</a:t>
            </a:r>
          </a:p>
        </p:txBody>
      </p:sp>
      <p:sp>
        <p:nvSpPr>
          <p:cNvPr id="17442" name="Rectangle 33">
            <a:extLst>
              <a:ext uri="{FF2B5EF4-FFF2-40B4-BE49-F238E27FC236}">
                <a16:creationId xmlns:a16="http://schemas.microsoft.com/office/drawing/2014/main" id="{9C632BE5-B907-456D-8358-F75DF393CE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8300" y="4229100"/>
            <a:ext cx="2174874" cy="381000"/>
          </a:xfrm>
          <a:prstGeom prst="rect">
            <a:avLst/>
          </a:prstGeom>
          <a:solidFill>
            <a:srgbClr val="FFBC0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 dirty="0">
                <a:solidFill>
                  <a:schemeClr val="bg1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add X13,X9,X0</a:t>
            </a:r>
          </a:p>
        </p:txBody>
      </p:sp>
      <p:sp>
        <p:nvSpPr>
          <p:cNvPr id="17443" name="Rectangle 34">
            <a:extLst>
              <a:ext uri="{FF2B5EF4-FFF2-40B4-BE49-F238E27FC236}">
                <a16:creationId xmlns:a16="http://schemas.microsoft.com/office/drawing/2014/main" id="{6829C150-E687-4CED-8B73-29A8A3A395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1952" y="4610100"/>
            <a:ext cx="2181222" cy="381000"/>
          </a:xfrm>
          <a:prstGeom prst="rect">
            <a:avLst/>
          </a:prstGeom>
          <a:solidFill>
            <a:srgbClr val="FFBC01"/>
          </a:solidFill>
          <a:ln w="12700">
            <a:solidFill>
              <a:srgbClr val="0099FF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 dirty="0" err="1">
                <a:solidFill>
                  <a:schemeClr val="bg1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beq</a:t>
            </a:r>
            <a:r>
              <a:rPr lang="en-US" altLang="zh-TW" sz="2400" dirty="0">
                <a:solidFill>
                  <a:schemeClr val="bg1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 X11,X0,L1</a:t>
            </a:r>
          </a:p>
        </p:txBody>
      </p:sp>
      <p:sp>
        <p:nvSpPr>
          <p:cNvPr id="17444" name="Line 35">
            <a:extLst>
              <a:ext uri="{FF2B5EF4-FFF2-40B4-BE49-F238E27FC236}">
                <a16:creationId xmlns:a16="http://schemas.microsoft.com/office/drawing/2014/main" id="{A0C8C339-D918-4C56-B0E7-5A73B09D38E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32574" y="4000500"/>
            <a:ext cx="1371600" cy="3810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none" w="sm" len="sm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7445" name="Line 36">
            <a:extLst>
              <a:ext uri="{FF2B5EF4-FFF2-40B4-BE49-F238E27FC236}">
                <a16:creationId xmlns:a16="http://schemas.microsoft.com/office/drawing/2014/main" id="{6D32DB49-2C08-480F-9CE9-7C661F8A106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013574" y="5219700"/>
            <a:ext cx="1143000" cy="3048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none" w="sm" len="sm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7446" name="Line 37">
            <a:extLst>
              <a:ext uri="{FF2B5EF4-FFF2-40B4-BE49-F238E27FC236}">
                <a16:creationId xmlns:a16="http://schemas.microsoft.com/office/drawing/2014/main" id="{D0B86BB6-B40E-40DF-9831-4EC6F8C8503E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9174" y="1638300"/>
            <a:ext cx="0" cy="434340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slow"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投影片編號版面配置區 5">
            <a:extLst>
              <a:ext uri="{FF2B5EF4-FFF2-40B4-BE49-F238E27FC236}">
                <a16:creationId xmlns:a16="http://schemas.microsoft.com/office/drawing/2014/main" id="{05D54682-11A9-443F-856E-ED8CF9ADBFC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077200" y="6477001"/>
            <a:ext cx="2133600" cy="244475"/>
          </a:xfrm>
          <a:prstGeom prst="rect">
            <a:avLst/>
          </a:prstGeom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268BA17-BBCC-46CB-9C55-7D426C034C4D}" type="slidenum">
              <a:rPr lang="zh-TW" altLang="en-US" sz="1400"/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US" altLang="zh-TW" sz="1400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47CBCF08-4B0E-491C-B2F5-788EDAD4CA0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981200" y="-152400"/>
            <a:ext cx="8077200" cy="1219200"/>
          </a:xfrm>
        </p:spPr>
        <p:txBody>
          <a:bodyPr/>
          <a:lstStyle/>
          <a:p>
            <a:pPr eaLnBrk="1" hangingPunct="1"/>
            <a:r>
              <a:rPr lang="en-US" altLang="zh-TW" sz="4000" dirty="0">
                <a:ea typeface="新細明體" panose="02020500000000000000" pitchFamily="18" charset="-120"/>
              </a:rPr>
              <a:t>Bubbles in Pipeline</a:t>
            </a:r>
          </a:p>
        </p:txBody>
      </p:sp>
      <p:sp>
        <p:nvSpPr>
          <p:cNvPr id="18436" name="Rectangle 4">
            <a:extLst>
              <a:ext uri="{FF2B5EF4-FFF2-40B4-BE49-F238E27FC236}">
                <a16:creationId xmlns:a16="http://schemas.microsoft.com/office/drawing/2014/main" id="{3BA406A3-3125-4154-B163-B28040AA0F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6163" y="1333500"/>
            <a:ext cx="838200" cy="6096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IF</a:t>
            </a:r>
          </a:p>
        </p:txBody>
      </p:sp>
      <p:sp>
        <p:nvSpPr>
          <p:cNvPr id="18437" name="Rectangle 5">
            <a:extLst>
              <a:ext uri="{FF2B5EF4-FFF2-40B4-BE49-F238E27FC236}">
                <a16:creationId xmlns:a16="http://schemas.microsoft.com/office/drawing/2014/main" id="{5061E052-0426-404E-80C4-E5B14917B9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4363" y="1333500"/>
            <a:ext cx="838200" cy="6096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ID</a:t>
            </a:r>
          </a:p>
        </p:txBody>
      </p:sp>
      <p:sp>
        <p:nvSpPr>
          <p:cNvPr id="18438" name="Rectangle 6">
            <a:extLst>
              <a:ext uri="{FF2B5EF4-FFF2-40B4-BE49-F238E27FC236}">
                <a16:creationId xmlns:a16="http://schemas.microsoft.com/office/drawing/2014/main" id="{3AF547EA-8DBB-4C6A-B096-9F6C1EE07D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2563" y="1333500"/>
            <a:ext cx="838200" cy="6096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EX</a:t>
            </a:r>
          </a:p>
        </p:txBody>
      </p:sp>
      <p:sp>
        <p:nvSpPr>
          <p:cNvPr id="18439" name="Rectangle 7">
            <a:extLst>
              <a:ext uri="{FF2B5EF4-FFF2-40B4-BE49-F238E27FC236}">
                <a16:creationId xmlns:a16="http://schemas.microsoft.com/office/drawing/2014/main" id="{68247739-674A-4C52-B1A7-77485818D5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0763" y="1333500"/>
            <a:ext cx="838200" cy="6096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Mem</a:t>
            </a:r>
          </a:p>
        </p:txBody>
      </p:sp>
      <p:sp>
        <p:nvSpPr>
          <p:cNvPr id="18440" name="Rectangle 8">
            <a:extLst>
              <a:ext uri="{FF2B5EF4-FFF2-40B4-BE49-F238E27FC236}">
                <a16:creationId xmlns:a16="http://schemas.microsoft.com/office/drawing/2014/main" id="{64E755D8-F5E8-4D93-BAF2-6864318394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58963" y="1333500"/>
            <a:ext cx="838200" cy="6096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WB</a:t>
            </a:r>
          </a:p>
        </p:txBody>
      </p:sp>
      <p:sp>
        <p:nvSpPr>
          <p:cNvPr id="18441" name="Rectangle 9">
            <a:extLst>
              <a:ext uri="{FF2B5EF4-FFF2-40B4-BE49-F238E27FC236}">
                <a16:creationId xmlns:a16="http://schemas.microsoft.com/office/drawing/2014/main" id="{D323EAC9-9C67-4E96-9DC8-295FCF1802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6163" y="2095500"/>
            <a:ext cx="838200" cy="381000"/>
          </a:xfrm>
          <a:prstGeom prst="rect">
            <a:avLst/>
          </a:prstGeom>
          <a:solidFill>
            <a:srgbClr val="66FF33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18442" name="Rectangle 10">
            <a:extLst>
              <a:ext uri="{FF2B5EF4-FFF2-40B4-BE49-F238E27FC236}">
                <a16:creationId xmlns:a16="http://schemas.microsoft.com/office/drawing/2014/main" id="{A26E8696-171A-4F3C-924F-3AF704C05C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0563" y="2476500"/>
            <a:ext cx="838200" cy="381000"/>
          </a:xfrm>
          <a:prstGeom prst="rect">
            <a:avLst/>
          </a:prstGeom>
          <a:solidFill>
            <a:srgbClr val="66FF33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18443" name="Rectangle 11">
            <a:extLst>
              <a:ext uri="{FF2B5EF4-FFF2-40B4-BE49-F238E27FC236}">
                <a16:creationId xmlns:a16="http://schemas.microsoft.com/office/drawing/2014/main" id="{6FAD8D7F-65D5-4FB9-9630-1D27FEF65B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58763" y="2857500"/>
            <a:ext cx="838200" cy="381000"/>
          </a:xfrm>
          <a:prstGeom prst="rect">
            <a:avLst/>
          </a:prstGeom>
          <a:solidFill>
            <a:srgbClr val="66FF33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18444" name="Rectangle 12">
            <a:extLst>
              <a:ext uri="{FF2B5EF4-FFF2-40B4-BE49-F238E27FC236}">
                <a16:creationId xmlns:a16="http://schemas.microsoft.com/office/drawing/2014/main" id="{170EE506-FE26-43F1-B4B7-4D1AC6156F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6963" y="3238500"/>
            <a:ext cx="838200" cy="381000"/>
          </a:xfrm>
          <a:prstGeom prst="rect">
            <a:avLst/>
          </a:prstGeom>
          <a:solidFill>
            <a:srgbClr val="66FF33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18445" name="Rectangle 13">
            <a:extLst>
              <a:ext uri="{FF2B5EF4-FFF2-40B4-BE49-F238E27FC236}">
                <a16:creationId xmlns:a16="http://schemas.microsoft.com/office/drawing/2014/main" id="{95C43C3C-8261-498E-B5A6-D318C472D4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35163" y="3619500"/>
            <a:ext cx="838200" cy="381000"/>
          </a:xfrm>
          <a:prstGeom prst="rect">
            <a:avLst/>
          </a:prstGeom>
          <a:solidFill>
            <a:srgbClr val="66FF33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18446" name="Rectangle 14">
            <a:extLst>
              <a:ext uri="{FF2B5EF4-FFF2-40B4-BE49-F238E27FC236}">
                <a16:creationId xmlns:a16="http://schemas.microsoft.com/office/drawing/2014/main" id="{A290E948-912E-4823-BF2B-60A999009D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6163" y="2476500"/>
            <a:ext cx="838200" cy="381000"/>
          </a:xfrm>
          <a:prstGeom prst="rect">
            <a:avLst/>
          </a:prstGeom>
          <a:solidFill>
            <a:schemeClr val="hlink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18447" name="Rectangle 15">
            <a:extLst>
              <a:ext uri="{FF2B5EF4-FFF2-40B4-BE49-F238E27FC236}">
                <a16:creationId xmlns:a16="http://schemas.microsoft.com/office/drawing/2014/main" id="{40739D02-0CB6-48C9-8A5A-D098F453A2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0563" y="2857500"/>
            <a:ext cx="838200" cy="381000"/>
          </a:xfrm>
          <a:prstGeom prst="rect">
            <a:avLst/>
          </a:prstGeom>
          <a:solidFill>
            <a:schemeClr val="hlink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18448" name="Rectangle 16">
            <a:extLst>
              <a:ext uri="{FF2B5EF4-FFF2-40B4-BE49-F238E27FC236}">
                <a16:creationId xmlns:a16="http://schemas.microsoft.com/office/drawing/2014/main" id="{2CF8EB13-080F-40B2-9D26-92536A3AB5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58763" y="3238500"/>
            <a:ext cx="838200" cy="381000"/>
          </a:xfrm>
          <a:prstGeom prst="rect">
            <a:avLst/>
          </a:prstGeom>
          <a:solidFill>
            <a:schemeClr val="hlink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18449" name="Rectangle 17">
            <a:extLst>
              <a:ext uri="{FF2B5EF4-FFF2-40B4-BE49-F238E27FC236}">
                <a16:creationId xmlns:a16="http://schemas.microsoft.com/office/drawing/2014/main" id="{F4B75B7E-7D7C-4440-A73C-8C425BE0A6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6963" y="3619500"/>
            <a:ext cx="838200" cy="381000"/>
          </a:xfrm>
          <a:prstGeom prst="rect">
            <a:avLst/>
          </a:prstGeom>
          <a:solidFill>
            <a:schemeClr val="hlink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18450" name="Rectangle 18">
            <a:extLst>
              <a:ext uri="{FF2B5EF4-FFF2-40B4-BE49-F238E27FC236}">
                <a16:creationId xmlns:a16="http://schemas.microsoft.com/office/drawing/2014/main" id="{240B6A3F-F2BD-4C72-AC21-45E17F45AC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35163" y="4000500"/>
            <a:ext cx="838200" cy="381000"/>
          </a:xfrm>
          <a:prstGeom prst="rect">
            <a:avLst/>
          </a:prstGeom>
          <a:solidFill>
            <a:schemeClr val="hlink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18451" name="Rectangle 19">
            <a:extLst>
              <a:ext uri="{FF2B5EF4-FFF2-40B4-BE49-F238E27FC236}">
                <a16:creationId xmlns:a16="http://schemas.microsoft.com/office/drawing/2014/main" id="{B002242A-30EE-4F30-BBD0-3E570B6592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6163" y="2857500"/>
            <a:ext cx="838200" cy="381000"/>
          </a:xfrm>
          <a:prstGeom prst="rect">
            <a:avLst/>
          </a:prstGeom>
          <a:solidFill>
            <a:srgbClr val="FF00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18452" name="Rectangle 20">
            <a:extLst>
              <a:ext uri="{FF2B5EF4-FFF2-40B4-BE49-F238E27FC236}">
                <a16:creationId xmlns:a16="http://schemas.microsoft.com/office/drawing/2014/main" id="{A85123A2-5CC0-43E4-BF6D-A075EC8D3B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0563" y="3238500"/>
            <a:ext cx="838200" cy="381000"/>
          </a:xfrm>
          <a:prstGeom prst="rect">
            <a:avLst/>
          </a:prstGeom>
          <a:solidFill>
            <a:srgbClr val="FF00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18453" name="Rectangle 21">
            <a:extLst>
              <a:ext uri="{FF2B5EF4-FFF2-40B4-BE49-F238E27FC236}">
                <a16:creationId xmlns:a16="http://schemas.microsoft.com/office/drawing/2014/main" id="{1B880F6B-6B82-441B-A948-4D99D4E626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58763" y="4000500"/>
            <a:ext cx="838200" cy="381000"/>
          </a:xfrm>
          <a:prstGeom prst="rect">
            <a:avLst/>
          </a:prstGeom>
          <a:solidFill>
            <a:srgbClr val="FF00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18454" name="Rectangle 22">
            <a:extLst>
              <a:ext uri="{FF2B5EF4-FFF2-40B4-BE49-F238E27FC236}">
                <a16:creationId xmlns:a16="http://schemas.microsoft.com/office/drawing/2014/main" id="{D1370EF6-4C49-4C84-BAC7-10D2650D54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6963" y="4457700"/>
            <a:ext cx="838200" cy="381000"/>
          </a:xfrm>
          <a:prstGeom prst="rect">
            <a:avLst/>
          </a:prstGeom>
          <a:solidFill>
            <a:srgbClr val="FF00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18455" name="Rectangle 23">
            <a:extLst>
              <a:ext uri="{FF2B5EF4-FFF2-40B4-BE49-F238E27FC236}">
                <a16:creationId xmlns:a16="http://schemas.microsoft.com/office/drawing/2014/main" id="{2FE88A71-D290-43C3-BDD6-D742927121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35163" y="4838700"/>
            <a:ext cx="838200" cy="381000"/>
          </a:xfrm>
          <a:prstGeom prst="rect">
            <a:avLst/>
          </a:prstGeom>
          <a:solidFill>
            <a:srgbClr val="FF00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18456" name="Rectangle 24">
            <a:extLst>
              <a:ext uri="{FF2B5EF4-FFF2-40B4-BE49-F238E27FC236}">
                <a16:creationId xmlns:a16="http://schemas.microsoft.com/office/drawing/2014/main" id="{4982716D-E019-49D4-A083-F7476F1396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6163" y="3238500"/>
            <a:ext cx="838200" cy="381000"/>
          </a:xfrm>
          <a:prstGeom prst="rect">
            <a:avLst/>
          </a:prstGeom>
          <a:solidFill>
            <a:srgbClr val="9933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18457" name="Rectangle 25">
            <a:extLst>
              <a:ext uri="{FF2B5EF4-FFF2-40B4-BE49-F238E27FC236}">
                <a16:creationId xmlns:a16="http://schemas.microsoft.com/office/drawing/2014/main" id="{8594D950-E595-45EA-A76E-3E5E8F91D6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0563" y="3619500"/>
            <a:ext cx="838200" cy="381000"/>
          </a:xfrm>
          <a:prstGeom prst="rect">
            <a:avLst/>
          </a:prstGeom>
          <a:solidFill>
            <a:srgbClr val="9933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18458" name="Rectangle 26">
            <a:extLst>
              <a:ext uri="{FF2B5EF4-FFF2-40B4-BE49-F238E27FC236}">
                <a16:creationId xmlns:a16="http://schemas.microsoft.com/office/drawing/2014/main" id="{1EDD7D90-60A6-4CE2-9E27-AE7A66E5CD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58763" y="5219700"/>
            <a:ext cx="838200" cy="381000"/>
          </a:xfrm>
          <a:prstGeom prst="rect">
            <a:avLst/>
          </a:prstGeom>
          <a:solidFill>
            <a:srgbClr val="9933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18459" name="Text Box 31">
            <a:extLst>
              <a:ext uri="{FF2B5EF4-FFF2-40B4-BE49-F238E27FC236}">
                <a16:creationId xmlns:a16="http://schemas.microsoft.com/office/drawing/2014/main" id="{44B4315E-E03F-400A-BB9E-06AC194AB1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49564" y="2019300"/>
            <a:ext cx="1139825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Clock 0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Clock 1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Clock 2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Clock 3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Clock 4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Clock 5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Clock 6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Clock 7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Clock 8</a:t>
            </a:r>
          </a:p>
        </p:txBody>
      </p:sp>
      <p:sp>
        <p:nvSpPr>
          <p:cNvPr id="18460" name="Line 35">
            <a:extLst>
              <a:ext uri="{FF2B5EF4-FFF2-40B4-BE49-F238E27FC236}">
                <a16:creationId xmlns:a16="http://schemas.microsoft.com/office/drawing/2014/main" id="{6CDB5A68-583C-4220-9ED9-08EEE45569A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215963" y="3771900"/>
            <a:ext cx="1371600" cy="3810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none" w="sm" len="sm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8461" name="Line 36">
            <a:extLst>
              <a:ext uri="{FF2B5EF4-FFF2-40B4-BE49-F238E27FC236}">
                <a16:creationId xmlns:a16="http://schemas.microsoft.com/office/drawing/2014/main" id="{171053EA-93C6-4FA9-8B20-39D2D4B302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596963" y="4991100"/>
            <a:ext cx="1143000" cy="3048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none" w="sm" len="sm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8462" name="Text Box 37">
            <a:extLst>
              <a:ext uri="{FF2B5EF4-FFF2-40B4-BE49-F238E27FC236}">
                <a16:creationId xmlns:a16="http://schemas.microsoft.com/office/drawing/2014/main" id="{DD7D72F2-BB54-4551-A1B4-4EE3463F47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7275" y="2324100"/>
            <a:ext cx="3720288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 i="1" dirty="0">
                <a:solidFill>
                  <a:srgbClr val="FF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Data</a:t>
            </a: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 and </a:t>
            </a:r>
            <a:r>
              <a:rPr lang="en-US" altLang="zh-TW" sz="2400" i="1" dirty="0">
                <a:solidFill>
                  <a:srgbClr val="FF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Control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 i="1" dirty="0">
                <a:solidFill>
                  <a:srgbClr val="FF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hazards</a:t>
            </a: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 generate </a:t>
            </a:r>
            <a:r>
              <a:rPr lang="en-US" altLang="zh-TW" sz="2800" i="1" dirty="0">
                <a:solidFill>
                  <a:srgbClr val="FF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bubbles</a:t>
            </a: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 in the pipeline, reducing execution efficiency</a:t>
            </a:r>
          </a:p>
        </p:txBody>
      </p:sp>
      <p:sp>
        <p:nvSpPr>
          <p:cNvPr id="18463" name="Line 38">
            <a:extLst>
              <a:ext uri="{FF2B5EF4-FFF2-40B4-BE49-F238E27FC236}">
                <a16:creationId xmlns:a16="http://schemas.microsoft.com/office/drawing/2014/main" id="{1525D0F5-6A2B-4D54-92A2-8086437BE46F}"/>
              </a:ext>
            </a:extLst>
          </p:cNvPr>
          <p:cNvSpPr>
            <a:spLocks noChangeShapeType="1"/>
          </p:cNvSpPr>
          <p:nvPr/>
        </p:nvSpPr>
        <p:spPr bwMode="auto">
          <a:xfrm>
            <a:off x="5006163" y="3771900"/>
            <a:ext cx="2133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64" name="Line 39">
            <a:extLst>
              <a:ext uri="{FF2B5EF4-FFF2-40B4-BE49-F238E27FC236}">
                <a16:creationId xmlns:a16="http://schemas.microsoft.com/office/drawing/2014/main" id="{0A158B32-47FA-47FB-8D19-D0A6AD6EBA01}"/>
              </a:ext>
            </a:extLst>
          </p:cNvPr>
          <p:cNvSpPr>
            <a:spLocks noChangeShapeType="1"/>
          </p:cNvSpPr>
          <p:nvPr/>
        </p:nvSpPr>
        <p:spPr bwMode="auto">
          <a:xfrm>
            <a:off x="5006163" y="3771900"/>
            <a:ext cx="1981200" cy="990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slow"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日期版面配置區 3">
            <a:extLst>
              <a:ext uri="{FF2B5EF4-FFF2-40B4-BE49-F238E27FC236}">
                <a16:creationId xmlns:a16="http://schemas.microsoft.com/office/drawing/2014/main" id="{56314177-CB9C-4426-BA47-2634F4DE5953}"/>
              </a:ext>
            </a:extLst>
          </p:cNvPr>
          <p:cNvSpPr>
            <a:spLocks noGrp="1"/>
          </p:cNvSpPr>
          <p:nvPr>
            <p:ph type="dt" sz="quarter" idx="4294967295"/>
          </p:nvPr>
        </p:nvSpPr>
        <p:spPr bwMode="auto">
          <a:xfrm>
            <a:off x="457200" y="6477000"/>
            <a:ext cx="21336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新細明體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TW"/>
              <a:t>2014/06/10</a:t>
            </a:r>
            <a:endParaRPr lang="en-US" altLang="zh-TW" sz="1400"/>
          </a:p>
        </p:txBody>
      </p:sp>
      <p:sp>
        <p:nvSpPr>
          <p:cNvPr id="19460" name="Rectangle 2">
            <a:extLst>
              <a:ext uri="{FF2B5EF4-FFF2-40B4-BE49-F238E27FC236}">
                <a16:creationId xmlns:a16="http://schemas.microsoft.com/office/drawing/2014/main" id="{42FE8676-6000-4376-8899-2FE4130F92A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905000" y="-151606"/>
            <a:ext cx="8001000" cy="1219200"/>
          </a:xfrm>
        </p:spPr>
        <p:txBody>
          <a:bodyPr/>
          <a:lstStyle/>
          <a:p>
            <a:pPr eaLnBrk="1" hangingPunct="1"/>
            <a:r>
              <a:rPr lang="en-US" altLang="zh-TW" sz="4000" dirty="0">
                <a:ea typeface="新細明體" panose="02020500000000000000" pitchFamily="18" charset="-120"/>
              </a:rPr>
              <a:t>Rescheduling Reduces Bubbles</a:t>
            </a:r>
          </a:p>
        </p:txBody>
      </p:sp>
      <p:sp>
        <p:nvSpPr>
          <p:cNvPr id="19461" name="Rectangle 3">
            <a:extLst>
              <a:ext uri="{FF2B5EF4-FFF2-40B4-BE49-F238E27FC236}">
                <a16:creationId xmlns:a16="http://schemas.microsoft.com/office/drawing/2014/main" id="{46CC340F-A508-4158-B3CD-44BC8262DA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199" y="914400"/>
            <a:ext cx="11025963" cy="838200"/>
          </a:xfrm>
        </p:spPr>
        <p:txBody>
          <a:bodyPr/>
          <a:lstStyle/>
          <a:p>
            <a:pPr marL="609600" indent="-609600">
              <a:buClr>
                <a:srgbClr val="FFBC01"/>
              </a:buClr>
              <a:buFont typeface="Wingdings" panose="05000000000000000000" pitchFamily="2" charset="2"/>
              <a:buChar char="Ø"/>
            </a:pPr>
            <a:r>
              <a:rPr lang="en-US" altLang="zh-TW" dirty="0">
                <a:ea typeface="新細明體" panose="02020500000000000000" pitchFamily="18" charset="-120"/>
              </a:rPr>
              <a:t>More efficient execution after rescheduling</a:t>
            </a:r>
          </a:p>
        </p:txBody>
      </p:sp>
      <p:sp>
        <p:nvSpPr>
          <p:cNvPr id="19462" name="Rectangle 4">
            <a:extLst>
              <a:ext uri="{FF2B5EF4-FFF2-40B4-BE49-F238E27FC236}">
                <a16:creationId xmlns:a16="http://schemas.microsoft.com/office/drawing/2014/main" id="{16DE8237-8B45-4171-8761-9450059758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1516062"/>
            <a:ext cx="838200" cy="6096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IF</a:t>
            </a:r>
          </a:p>
        </p:txBody>
      </p:sp>
      <p:sp>
        <p:nvSpPr>
          <p:cNvPr id="19463" name="Rectangle 5">
            <a:extLst>
              <a:ext uri="{FF2B5EF4-FFF2-40B4-BE49-F238E27FC236}">
                <a16:creationId xmlns:a16="http://schemas.microsoft.com/office/drawing/2014/main" id="{B2D05DE0-C302-4610-8687-325E95D80C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1516062"/>
            <a:ext cx="838200" cy="6096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ID</a:t>
            </a:r>
          </a:p>
        </p:txBody>
      </p:sp>
      <p:sp>
        <p:nvSpPr>
          <p:cNvPr id="19464" name="Rectangle 6">
            <a:extLst>
              <a:ext uri="{FF2B5EF4-FFF2-40B4-BE49-F238E27FC236}">
                <a16:creationId xmlns:a16="http://schemas.microsoft.com/office/drawing/2014/main" id="{325192A2-BAD1-4547-87C4-777613E6BA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1516062"/>
            <a:ext cx="838200" cy="6096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EX</a:t>
            </a:r>
          </a:p>
        </p:txBody>
      </p:sp>
      <p:sp>
        <p:nvSpPr>
          <p:cNvPr id="19465" name="Rectangle 7">
            <a:extLst>
              <a:ext uri="{FF2B5EF4-FFF2-40B4-BE49-F238E27FC236}">
                <a16:creationId xmlns:a16="http://schemas.microsoft.com/office/drawing/2014/main" id="{B1547855-55A1-4721-ABB9-D0BD506F55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1516062"/>
            <a:ext cx="838200" cy="6096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Mem</a:t>
            </a:r>
          </a:p>
        </p:txBody>
      </p:sp>
      <p:sp>
        <p:nvSpPr>
          <p:cNvPr id="19466" name="Rectangle 8">
            <a:extLst>
              <a:ext uri="{FF2B5EF4-FFF2-40B4-BE49-F238E27FC236}">
                <a16:creationId xmlns:a16="http://schemas.microsoft.com/office/drawing/2014/main" id="{98D5C34D-5A20-47DF-9A9C-D7900B7628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2400" y="1516062"/>
            <a:ext cx="838200" cy="6096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WB</a:t>
            </a:r>
          </a:p>
        </p:txBody>
      </p:sp>
      <p:sp>
        <p:nvSpPr>
          <p:cNvPr id="19467" name="Rectangle 9">
            <a:extLst>
              <a:ext uri="{FF2B5EF4-FFF2-40B4-BE49-F238E27FC236}">
                <a16:creationId xmlns:a16="http://schemas.microsoft.com/office/drawing/2014/main" id="{28E52ED4-6602-4C67-A299-A54DBED869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2278062"/>
            <a:ext cx="838200" cy="381000"/>
          </a:xfrm>
          <a:prstGeom prst="rect">
            <a:avLst/>
          </a:prstGeom>
          <a:solidFill>
            <a:srgbClr val="66FF33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19468" name="Rectangle 10">
            <a:extLst>
              <a:ext uri="{FF2B5EF4-FFF2-40B4-BE49-F238E27FC236}">
                <a16:creationId xmlns:a16="http://schemas.microsoft.com/office/drawing/2014/main" id="{88D90713-BB41-4834-BBCC-5F862108BC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2659062"/>
            <a:ext cx="838200" cy="381000"/>
          </a:xfrm>
          <a:prstGeom prst="rect">
            <a:avLst/>
          </a:prstGeom>
          <a:solidFill>
            <a:srgbClr val="66FF33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19469" name="Rectangle 11">
            <a:extLst>
              <a:ext uri="{FF2B5EF4-FFF2-40B4-BE49-F238E27FC236}">
                <a16:creationId xmlns:a16="http://schemas.microsoft.com/office/drawing/2014/main" id="{78CD24ED-FCD8-47D6-9ECD-80C2151B28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3040062"/>
            <a:ext cx="838200" cy="381000"/>
          </a:xfrm>
          <a:prstGeom prst="rect">
            <a:avLst/>
          </a:prstGeom>
          <a:solidFill>
            <a:srgbClr val="66FF33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19470" name="Rectangle 12">
            <a:extLst>
              <a:ext uri="{FF2B5EF4-FFF2-40B4-BE49-F238E27FC236}">
                <a16:creationId xmlns:a16="http://schemas.microsoft.com/office/drawing/2014/main" id="{65A11837-21F2-4E9C-8453-8B25B5D66F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0" y="3421062"/>
            <a:ext cx="838200" cy="381000"/>
          </a:xfrm>
          <a:prstGeom prst="rect">
            <a:avLst/>
          </a:prstGeom>
          <a:solidFill>
            <a:srgbClr val="66FF33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19471" name="Rectangle 13">
            <a:extLst>
              <a:ext uri="{FF2B5EF4-FFF2-40B4-BE49-F238E27FC236}">
                <a16:creationId xmlns:a16="http://schemas.microsoft.com/office/drawing/2014/main" id="{128F8F45-7EB3-4722-9732-C3F2AFC9BE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4800" y="3802062"/>
            <a:ext cx="838200" cy="381000"/>
          </a:xfrm>
          <a:prstGeom prst="rect">
            <a:avLst/>
          </a:prstGeom>
          <a:solidFill>
            <a:srgbClr val="66FF33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19472" name="Rectangle 14">
            <a:extLst>
              <a:ext uri="{FF2B5EF4-FFF2-40B4-BE49-F238E27FC236}">
                <a16:creationId xmlns:a16="http://schemas.microsoft.com/office/drawing/2014/main" id="{D5B25ABE-9EF6-42C5-B8D3-2E5D2C1A71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2659062"/>
            <a:ext cx="838200" cy="381000"/>
          </a:xfrm>
          <a:prstGeom prst="rect">
            <a:avLst/>
          </a:prstGeom>
          <a:solidFill>
            <a:schemeClr val="hlink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19473" name="Rectangle 15">
            <a:extLst>
              <a:ext uri="{FF2B5EF4-FFF2-40B4-BE49-F238E27FC236}">
                <a16:creationId xmlns:a16="http://schemas.microsoft.com/office/drawing/2014/main" id="{CC1CA0DD-6526-4C8A-978C-BA1201EB9D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3040062"/>
            <a:ext cx="838200" cy="381000"/>
          </a:xfrm>
          <a:prstGeom prst="rect">
            <a:avLst/>
          </a:prstGeom>
          <a:solidFill>
            <a:schemeClr val="hlink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19474" name="Rectangle 16">
            <a:extLst>
              <a:ext uri="{FF2B5EF4-FFF2-40B4-BE49-F238E27FC236}">
                <a16:creationId xmlns:a16="http://schemas.microsoft.com/office/drawing/2014/main" id="{C769E802-342C-45BA-962A-247D4E54E6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3421062"/>
            <a:ext cx="838200" cy="381000"/>
          </a:xfrm>
          <a:prstGeom prst="rect">
            <a:avLst/>
          </a:prstGeom>
          <a:solidFill>
            <a:schemeClr val="hlink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19475" name="Rectangle 17">
            <a:extLst>
              <a:ext uri="{FF2B5EF4-FFF2-40B4-BE49-F238E27FC236}">
                <a16:creationId xmlns:a16="http://schemas.microsoft.com/office/drawing/2014/main" id="{D76DCFD3-02E2-490E-8245-C00D1E71FF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0" y="3802062"/>
            <a:ext cx="838200" cy="381000"/>
          </a:xfrm>
          <a:prstGeom prst="rect">
            <a:avLst/>
          </a:prstGeom>
          <a:solidFill>
            <a:schemeClr val="hlink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19476" name="Rectangle 18">
            <a:extLst>
              <a:ext uri="{FF2B5EF4-FFF2-40B4-BE49-F238E27FC236}">
                <a16:creationId xmlns:a16="http://schemas.microsoft.com/office/drawing/2014/main" id="{13CC5065-BCB4-458A-A2AF-D174D3BAC7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4800" y="4183062"/>
            <a:ext cx="838200" cy="381000"/>
          </a:xfrm>
          <a:prstGeom prst="rect">
            <a:avLst/>
          </a:prstGeom>
          <a:solidFill>
            <a:schemeClr val="hlink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19477" name="Rectangle 19">
            <a:extLst>
              <a:ext uri="{FF2B5EF4-FFF2-40B4-BE49-F238E27FC236}">
                <a16:creationId xmlns:a16="http://schemas.microsoft.com/office/drawing/2014/main" id="{89B2F60D-1172-4244-B71D-E9D039844A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3040062"/>
            <a:ext cx="838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19478" name="Rectangle 20">
            <a:extLst>
              <a:ext uri="{FF2B5EF4-FFF2-40B4-BE49-F238E27FC236}">
                <a16:creationId xmlns:a16="http://schemas.microsoft.com/office/drawing/2014/main" id="{AC70FA17-0528-40D9-BA54-06F91DDCBD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3421062"/>
            <a:ext cx="838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19479" name="Rectangle 21">
            <a:extLst>
              <a:ext uri="{FF2B5EF4-FFF2-40B4-BE49-F238E27FC236}">
                <a16:creationId xmlns:a16="http://schemas.microsoft.com/office/drawing/2014/main" id="{FEC44395-C3D9-4C3E-9025-DAF263B4AA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3802062"/>
            <a:ext cx="838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19480" name="Rectangle 22">
            <a:extLst>
              <a:ext uri="{FF2B5EF4-FFF2-40B4-BE49-F238E27FC236}">
                <a16:creationId xmlns:a16="http://schemas.microsoft.com/office/drawing/2014/main" id="{BF93E210-BB28-45FB-AE01-AAA1966A57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0" y="4183062"/>
            <a:ext cx="838200" cy="3810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19481" name="Rectangle 23">
            <a:extLst>
              <a:ext uri="{FF2B5EF4-FFF2-40B4-BE49-F238E27FC236}">
                <a16:creationId xmlns:a16="http://schemas.microsoft.com/office/drawing/2014/main" id="{16698D39-8622-4006-8EA3-CCFE5F297E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4800" y="4564062"/>
            <a:ext cx="838200" cy="3810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19482" name="Rectangle 24">
            <a:extLst>
              <a:ext uri="{FF2B5EF4-FFF2-40B4-BE49-F238E27FC236}">
                <a16:creationId xmlns:a16="http://schemas.microsoft.com/office/drawing/2014/main" id="{704E3B1B-B8BC-402D-A177-3CA654AA52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3421062"/>
            <a:ext cx="838200" cy="381000"/>
          </a:xfrm>
          <a:prstGeom prst="rect">
            <a:avLst/>
          </a:prstGeom>
          <a:solidFill>
            <a:srgbClr val="FF00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19483" name="Rectangle 25">
            <a:extLst>
              <a:ext uri="{FF2B5EF4-FFF2-40B4-BE49-F238E27FC236}">
                <a16:creationId xmlns:a16="http://schemas.microsoft.com/office/drawing/2014/main" id="{4DC6CDD1-1520-4867-A7A4-8F4450C510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3802062"/>
            <a:ext cx="838200" cy="381000"/>
          </a:xfrm>
          <a:prstGeom prst="rect">
            <a:avLst/>
          </a:prstGeom>
          <a:solidFill>
            <a:srgbClr val="FF00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19484" name="Rectangle 26">
            <a:extLst>
              <a:ext uri="{FF2B5EF4-FFF2-40B4-BE49-F238E27FC236}">
                <a16:creationId xmlns:a16="http://schemas.microsoft.com/office/drawing/2014/main" id="{F58E8CB2-2565-4F19-A064-662ECF9B82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4183062"/>
            <a:ext cx="838200" cy="381000"/>
          </a:xfrm>
          <a:prstGeom prst="rect">
            <a:avLst/>
          </a:prstGeom>
          <a:solidFill>
            <a:srgbClr val="FF00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19489" name="Text Box 31">
            <a:extLst>
              <a:ext uri="{FF2B5EF4-FFF2-40B4-BE49-F238E27FC236}">
                <a16:creationId xmlns:a16="http://schemas.microsoft.com/office/drawing/2014/main" id="{DC316CD7-BB4D-4C31-8A10-D76FAB335D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63001" y="2201862"/>
            <a:ext cx="1139825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Clock 0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Clock 1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Clock 2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Clock 3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Clock 4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Clock 5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Clock 6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Clock 7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Clock 8</a:t>
            </a:r>
          </a:p>
        </p:txBody>
      </p:sp>
      <p:sp>
        <p:nvSpPr>
          <p:cNvPr id="19492" name="Rectangle 34">
            <a:extLst>
              <a:ext uri="{FF2B5EF4-FFF2-40B4-BE49-F238E27FC236}">
                <a16:creationId xmlns:a16="http://schemas.microsoft.com/office/drawing/2014/main" id="{BA41B276-EAB7-4A2D-B6AE-4E046EC175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0" y="4564062"/>
            <a:ext cx="838200" cy="381000"/>
          </a:xfrm>
          <a:prstGeom prst="rect">
            <a:avLst/>
          </a:prstGeom>
          <a:solidFill>
            <a:srgbClr val="FF00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19493" name="Rectangle 35">
            <a:extLst>
              <a:ext uri="{FF2B5EF4-FFF2-40B4-BE49-F238E27FC236}">
                <a16:creationId xmlns:a16="http://schemas.microsoft.com/office/drawing/2014/main" id="{4ADB85CA-0843-4C0B-8F92-365BA76375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4800" y="4945062"/>
            <a:ext cx="838200" cy="381000"/>
          </a:xfrm>
          <a:prstGeom prst="rect">
            <a:avLst/>
          </a:prstGeom>
          <a:solidFill>
            <a:srgbClr val="FF00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19494" name="Rectangle 36">
            <a:extLst>
              <a:ext uri="{FF2B5EF4-FFF2-40B4-BE49-F238E27FC236}">
                <a16:creationId xmlns:a16="http://schemas.microsoft.com/office/drawing/2014/main" id="{3CC3B6E1-34B8-4771-97C8-180155E3F1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3802062"/>
            <a:ext cx="838200" cy="381000"/>
          </a:xfrm>
          <a:prstGeom prst="rect">
            <a:avLst/>
          </a:prstGeom>
          <a:solidFill>
            <a:srgbClr val="FFC0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19495" name="Rectangle 37">
            <a:extLst>
              <a:ext uri="{FF2B5EF4-FFF2-40B4-BE49-F238E27FC236}">
                <a16:creationId xmlns:a16="http://schemas.microsoft.com/office/drawing/2014/main" id="{080B496B-565D-4F5D-9114-C3E9E2DE8B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4183062"/>
            <a:ext cx="838200" cy="381000"/>
          </a:xfrm>
          <a:prstGeom prst="rect">
            <a:avLst/>
          </a:prstGeom>
          <a:solidFill>
            <a:srgbClr val="FFC0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19496" name="Rectangle 38">
            <a:extLst>
              <a:ext uri="{FF2B5EF4-FFF2-40B4-BE49-F238E27FC236}">
                <a16:creationId xmlns:a16="http://schemas.microsoft.com/office/drawing/2014/main" id="{EC54991F-0BDD-46FC-B869-F83F037504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4564062"/>
            <a:ext cx="838200" cy="381000"/>
          </a:xfrm>
          <a:prstGeom prst="rect">
            <a:avLst/>
          </a:prstGeom>
          <a:solidFill>
            <a:srgbClr val="FFC0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19497" name="Rectangle 39">
            <a:extLst>
              <a:ext uri="{FF2B5EF4-FFF2-40B4-BE49-F238E27FC236}">
                <a16:creationId xmlns:a16="http://schemas.microsoft.com/office/drawing/2014/main" id="{FE5C92F6-1DE9-455F-8670-B24E81A565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0" y="4945062"/>
            <a:ext cx="838200" cy="381000"/>
          </a:xfrm>
          <a:prstGeom prst="rect">
            <a:avLst/>
          </a:prstGeom>
          <a:solidFill>
            <a:srgbClr val="FFC0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19498" name="Rectangle 40">
            <a:extLst>
              <a:ext uri="{FF2B5EF4-FFF2-40B4-BE49-F238E27FC236}">
                <a16:creationId xmlns:a16="http://schemas.microsoft.com/office/drawing/2014/main" id="{8B34FBD6-E5D5-4518-A47E-8F54483407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4800" y="5326062"/>
            <a:ext cx="838200" cy="381000"/>
          </a:xfrm>
          <a:prstGeom prst="rect">
            <a:avLst/>
          </a:prstGeom>
          <a:solidFill>
            <a:srgbClr val="FFC0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19499" name="Rectangle 41">
            <a:extLst>
              <a:ext uri="{FF2B5EF4-FFF2-40B4-BE49-F238E27FC236}">
                <a16:creationId xmlns:a16="http://schemas.microsoft.com/office/drawing/2014/main" id="{F3815682-8F92-4A27-8E2D-D53D1AFD0B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4183062"/>
            <a:ext cx="838200" cy="381000"/>
          </a:xfrm>
          <a:prstGeom prst="rect">
            <a:avLst/>
          </a:prstGeom>
          <a:solidFill>
            <a:srgbClr val="9933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19500" name="Rectangle 42">
            <a:extLst>
              <a:ext uri="{FF2B5EF4-FFF2-40B4-BE49-F238E27FC236}">
                <a16:creationId xmlns:a16="http://schemas.microsoft.com/office/drawing/2014/main" id="{AFE38B72-C168-4B8C-81A4-1C8EA2593C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4564062"/>
            <a:ext cx="838200" cy="381000"/>
          </a:xfrm>
          <a:prstGeom prst="rect">
            <a:avLst/>
          </a:prstGeom>
          <a:solidFill>
            <a:srgbClr val="9933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19501" name="Rectangle 43">
            <a:extLst>
              <a:ext uri="{FF2B5EF4-FFF2-40B4-BE49-F238E27FC236}">
                <a16:creationId xmlns:a16="http://schemas.microsoft.com/office/drawing/2014/main" id="{6D410A72-00C8-4301-9EFD-7B7DABF587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4945062"/>
            <a:ext cx="838200" cy="381000"/>
          </a:xfrm>
          <a:prstGeom prst="rect">
            <a:avLst/>
          </a:prstGeom>
          <a:solidFill>
            <a:srgbClr val="9933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19502" name="Rectangle 44">
            <a:extLst>
              <a:ext uri="{FF2B5EF4-FFF2-40B4-BE49-F238E27FC236}">
                <a16:creationId xmlns:a16="http://schemas.microsoft.com/office/drawing/2014/main" id="{1C89EF18-4A17-4B3B-928F-8679F77F1B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0" y="5326062"/>
            <a:ext cx="838200" cy="381000"/>
          </a:xfrm>
          <a:prstGeom prst="rect">
            <a:avLst/>
          </a:prstGeom>
          <a:solidFill>
            <a:srgbClr val="9933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19503" name="Rectangle 44">
            <a:extLst>
              <a:ext uri="{FF2B5EF4-FFF2-40B4-BE49-F238E27FC236}">
                <a16:creationId xmlns:a16="http://schemas.microsoft.com/office/drawing/2014/main" id="{2274BB19-2F19-483D-AF2B-88DCBB5AF9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4800" y="5705475"/>
            <a:ext cx="838200" cy="381000"/>
          </a:xfrm>
          <a:prstGeom prst="rect">
            <a:avLst/>
          </a:prstGeom>
          <a:solidFill>
            <a:srgbClr val="9933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47" name="Rectangle 27">
            <a:extLst>
              <a:ext uri="{FF2B5EF4-FFF2-40B4-BE49-F238E27FC236}">
                <a16:creationId xmlns:a16="http://schemas.microsoft.com/office/drawing/2014/main" id="{46B3FAB4-DDAC-44BD-AEB0-B3DADA3285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7778" y="2201862"/>
            <a:ext cx="2181222" cy="381000"/>
          </a:xfrm>
          <a:prstGeom prst="rect">
            <a:avLst/>
          </a:prstGeom>
          <a:solidFill>
            <a:srgbClr val="66FF33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 dirty="0" err="1">
                <a:solidFill>
                  <a:schemeClr val="bg1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lw</a:t>
            </a:r>
            <a:r>
              <a:rPr lang="en-US" altLang="zh-TW" sz="2400" dirty="0">
                <a:solidFill>
                  <a:schemeClr val="bg1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 X8, a</a:t>
            </a:r>
          </a:p>
        </p:txBody>
      </p:sp>
      <p:sp>
        <p:nvSpPr>
          <p:cNvPr id="48" name="Rectangle 28">
            <a:extLst>
              <a:ext uri="{FF2B5EF4-FFF2-40B4-BE49-F238E27FC236}">
                <a16:creationId xmlns:a16="http://schemas.microsoft.com/office/drawing/2014/main" id="{7B738B0E-FA43-4D98-AC0F-D1E20A1CD8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0952" y="2582862"/>
            <a:ext cx="2178048" cy="381000"/>
          </a:xfrm>
          <a:prstGeom prst="rect">
            <a:avLst/>
          </a:prstGeom>
          <a:solidFill>
            <a:schemeClr val="hlink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 dirty="0" err="1">
                <a:solidFill>
                  <a:schemeClr val="bg1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lw</a:t>
            </a:r>
            <a:r>
              <a:rPr lang="en-US" altLang="zh-TW" sz="2400" dirty="0">
                <a:solidFill>
                  <a:schemeClr val="bg1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 X9, b</a:t>
            </a:r>
          </a:p>
        </p:txBody>
      </p:sp>
      <p:sp>
        <p:nvSpPr>
          <p:cNvPr id="49" name="Rectangle 29">
            <a:extLst>
              <a:ext uri="{FF2B5EF4-FFF2-40B4-BE49-F238E27FC236}">
                <a16:creationId xmlns:a16="http://schemas.microsoft.com/office/drawing/2014/main" id="{208927D2-3A86-40CB-BFC7-2C6DAEECD9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0952" y="3344862"/>
            <a:ext cx="2178048" cy="381000"/>
          </a:xfrm>
          <a:prstGeom prst="rect">
            <a:avLst/>
          </a:prstGeom>
          <a:solidFill>
            <a:srgbClr val="FF00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 dirty="0" err="1">
                <a:solidFill>
                  <a:schemeClr val="bg1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mul</a:t>
            </a:r>
            <a:r>
              <a:rPr lang="en-US" altLang="zh-TW" sz="2400" dirty="0">
                <a:solidFill>
                  <a:schemeClr val="bg1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 X10,X8,X8</a:t>
            </a:r>
          </a:p>
        </p:txBody>
      </p:sp>
      <p:sp>
        <p:nvSpPr>
          <p:cNvPr id="50" name="Rectangle 30">
            <a:extLst>
              <a:ext uri="{FF2B5EF4-FFF2-40B4-BE49-F238E27FC236}">
                <a16:creationId xmlns:a16="http://schemas.microsoft.com/office/drawing/2014/main" id="{F89D3283-3A6A-4280-A43F-F12E2DB17D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7778" y="4122738"/>
            <a:ext cx="2174874" cy="381000"/>
          </a:xfrm>
          <a:prstGeom prst="rect">
            <a:avLst/>
          </a:prstGeom>
          <a:solidFill>
            <a:srgbClr val="9933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 dirty="0">
                <a:solidFill>
                  <a:schemeClr val="bg1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add X11,X9,X10</a:t>
            </a:r>
          </a:p>
        </p:txBody>
      </p:sp>
      <p:sp>
        <p:nvSpPr>
          <p:cNvPr id="51" name="Rectangle 32">
            <a:extLst>
              <a:ext uri="{FF2B5EF4-FFF2-40B4-BE49-F238E27FC236}">
                <a16:creationId xmlns:a16="http://schemas.microsoft.com/office/drawing/2014/main" id="{6856669F-32A4-404C-9119-1D4BA554DF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7778" y="2971007"/>
            <a:ext cx="2181222" cy="381000"/>
          </a:xfrm>
          <a:prstGeom prst="rect">
            <a:avLst/>
          </a:prstGeom>
          <a:solidFill>
            <a:srgbClr val="0000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 dirty="0" err="1">
                <a:solidFill>
                  <a:schemeClr val="bg1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lw</a:t>
            </a:r>
            <a:r>
              <a:rPr lang="en-US" altLang="zh-TW" sz="2400" dirty="0">
                <a:solidFill>
                  <a:schemeClr val="bg1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 X12,c</a:t>
            </a:r>
          </a:p>
        </p:txBody>
      </p:sp>
      <p:sp>
        <p:nvSpPr>
          <p:cNvPr id="52" name="Rectangle 33">
            <a:extLst>
              <a:ext uri="{FF2B5EF4-FFF2-40B4-BE49-F238E27FC236}">
                <a16:creationId xmlns:a16="http://schemas.microsoft.com/office/drawing/2014/main" id="{06E2E73A-A810-4A45-875C-70AD2241DA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7778" y="3738165"/>
            <a:ext cx="2174874" cy="381000"/>
          </a:xfrm>
          <a:prstGeom prst="rect">
            <a:avLst/>
          </a:prstGeom>
          <a:solidFill>
            <a:srgbClr val="FFBC0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 dirty="0">
                <a:solidFill>
                  <a:schemeClr val="bg1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add X13,X9,X0</a:t>
            </a:r>
          </a:p>
        </p:txBody>
      </p:sp>
      <p:sp>
        <p:nvSpPr>
          <p:cNvPr id="53" name="Rectangle 34">
            <a:extLst>
              <a:ext uri="{FF2B5EF4-FFF2-40B4-BE49-F238E27FC236}">
                <a16:creationId xmlns:a16="http://schemas.microsoft.com/office/drawing/2014/main" id="{81DA3CEA-C9E9-46AE-A407-0EF8409116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7778" y="4503738"/>
            <a:ext cx="2181222" cy="381000"/>
          </a:xfrm>
          <a:prstGeom prst="rect">
            <a:avLst/>
          </a:prstGeom>
          <a:solidFill>
            <a:srgbClr val="FFBC01"/>
          </a:solidFill>
          <a:ln w="12700">
            <a:solidFill>
              <a:srgbClr val="0099FF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 dirty="0" err="1">
                <a:solidFill>
                  <a:schemeClr val="bg1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beq</a:t>
            </a:r>
            <a:r>
              <a:rPr lang="en-US" altLang="zh-TW" sz="2400" dirty="0">
                <a:solidFill>
                  <a:schemeClr val="bg1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 X11,X0,L1</a:t>
            </a:r>
          </a:p>
        </p:txBody>
      </p:sp>
    </p:spTree>
  </p:cSld>
  <p:clrMapOvr>
    <a:masterClrMapping/>
  </p:clrMapOvr>
  <p:transition spd="slow"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日期版面配置區 2">
            <a:extLst>
              <a:ext uri="{FF2B5EF4-FFF2-40B4-BE49-F238E27FC236}">
                <a16:creationId xmlns:a16="http://schemas.microsoft.com/office/drawing/2014/main" id="{228FE6FB-939D-49F8-8CBD-F12629F1A6F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TW" sz="1400"/>
              <a:t>2021/01/07</a:t>
            </a:r>
          </a:p>
        </p:txBody>
      </p:sp>
      <p:sp>
        <p:nvSpPr>
          <p:cNvPr id="20483" name="投影片編號版面配置區 4">
            <a:extLst>
              <a:ext uri="{FF2B5EF4-FFF2-40B4-BE49-F238E27FC236}">
                <a16:creationId xmlns:a16="http://schemas.microsoft.com/office/drawing/2014/main" id="{B02637BF-0650-49A9-9812-262FAAB8A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477000"/>
            <a:ext cx="21336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C617185-153E-45BC-B4C7-289A43A87FD1}" type="slidenum">
              <a:rPr lang="zh-TW" altLang="en-US" smtClean="0"/>
              <a:pPr>
                <a:spcBef>
                  <a:spcPct val="0"/>
                </a:spcBef>
                <a:buFontTx/>
                <a:buNone/>
              </a:pPr>
              <a:t>5</a:t>
            </a:fld>
            <a:endParaRPr lang="en-US" altLang="zh-TW" sz="1400"/>
          </a:p>
        </p:txBody>
      </p:sp>
      <p:sp>
        <p:nvSpPr>
          <p:cNvPr id="20484" name="Rectangle 2">
            <a:extLst>
              <a:ext uri="{FF2B5EF4-FFF2-40B4-BE49-F238E27FC236}">
                <a16:creationId xmlns:a16="http://schemas.microsoft.com/office/drawing/2014/main" id="{756681BD-6D65-4242-AE20-8A5D257BDE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38250" y="38100"/>
            <a:ext cx="10306050" cy="838200"/>
          </a:xfrm>
        </p:spPr>
        <p:txBody>
          <a:bodyPr/>
          <a:lstStyle/>
          <a:p>
            <a:pPr eaLnBrk="1" hangingPunct="1"/>
            <a:r>
              <a:rPr lang="en-US" altLang="zh-TW" sz="4400" dirty="0">
                <a:ea typeface="新細明體" panose="02020500000000000000" pitchFamily="18" charset="-120"/>
              </a:rPr>
              <a:t>Dependence DAG: Scheduling Constraints</a:t>
            </a:r>
          </a:p>
        </p:txBody>
      </p:sp>
      <p:sp>
        <p:nvSpPr>
          <p:cNvPr id="20485" name="Text Box 3">
            <a:extLst>
              <a:ext uri="{FF2B5EF4-FFF2-40B4-BE49-F238E27FC236}">
                <a16:creationId xmlns:a16="http://schemas.microsoft.com/office/drawing/2014/main" id="{401F328F-2E08-4E23-8C48-26CD716BCB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2925" y="1046708"/>
            <a:ext cx="3201517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1	</a:t>
            </a:r>
            <a:r>
              <a:rPr lang="en-US" altLang="zh-TW" sz="2400" dirty="0" err="1">
                <a:latin typeface="Times New Roman" panose="02020603050405020304" pitchFamily="18" charset="0"/>
                <a:ea typeface="新細明體" panose="02020500000000000000" pitchFamily="18" charset="-120"/>
              </a:rPr>
              <a:t>lw</a:t>
            </a: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 $pr1, a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2	</a:t>
            </a:r>
            <a:r>
              <a:rPr lang="en-US" altLang="zh-TW" sz="2400" dirty="0" err="1">
                <a:latin typeface="Times New Roman" panose="02020603050405020304" pitchFamily="18" charset="0"/>
                <a:ea typeface="新細明體" panose="02020500000000000000" pitchFamily="18" charset="-120"/>
              </a:rPr>
              <a:t>lw</a:t>
            </a: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 $pr2, b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3	add $pr3, $pr1,$pr2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4	</a:t>
            </a:r>
            <a:r>
              <a:rPr lang="en-US" altLang="zh-TW" sz="2400" dirty="0" err="1">
                <a:latin typeface="Times New Roman" panose="02020603050405020304" pitchFamily="18" charset="0"/>
                <a:ea typeface="新細明體" panose="02020500000000000000" pitchFamily="18" charset="-120"/>
              </a:rPr>
              <a:t>mul</a:t>
            </a: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 $pr4, $pr3, 3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5	</a:t>
            </a:r>
            <a:r>
              <a:rPr lang="en-US" altLang="zh-TW" sz="2400" dirty="0" err="1">
                <a:latin typeface="Times New Roman" panose="02020603050405020304" pitchFamily="18" charset="0"/>
                <a:ea typeface="新細明體" panose="02020500000000000000" pitchFamily="18" charset="-120"/>
              </a:rPr>
              <a:t>mul</a:t>
            </a: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 $pr5, $pr1, $pr2</a:t>
            </a:r>
          </a:p>
          <a:p>
            <a:pPr eaLnBrk="1" hangingPunct="1">
              <a:spcBef>
                <a:spcPct val="0"/>
              </a:spcBef>
              <a:buFontTx/>
              <a:buAutoNum type="arabicPlain" startAt="6"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add $pr6, $pr4, 2</a:t>
            </a:r>
          </a:p>
          <a:p>
            <a:pPr eaLnBrk="1" hangingPunct="1">
              <a:spcBef>
                <a:spcPct val="0"/>
              </a:spcBef>
              <a:buFontTx/>
              <a:buAutoNum type="arabicPlain" startAt="6"/>
            </a:pPr>
            <a:r>
              <a:rPr lang="en-US" altLang="zh-TW" sz="2400" dirty="0" err="1">
                <a:latin typeface="Times New Roman" panose="02020603050405020304" pitchFamily="18" charset="0"/>
                <a:ea typeface="新細明體" panose="02020500000000000000" pitchFamily="18" charset="-120"/>
              </a:rPr>
              <a:t>sw</a:t>
            </a: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  $pr6, 0($pr5)</a:t>
            </a:r>
          </a:p>
          <a:p>
            <a:pPr eaLnBrk="1" hangingPunct="1">
              <a:spcBef>
                <a:spcPct val="0"/>
              </a:spcBef>
              <a:buFontTx/>
              <a:buAutoNum type="arabicPlain" startAt="6"/>
            </a:pPr>
            <a:r>
              <a:rPr lang="en-US" altLang="zh-TW" sz="2400" dirty="0" err="1">
                <a:latin typeface="Times New Roman" panose="02020603050405020304" pitchFamily="18" charset="0"/>
                <a:ea typeface="新細明體" panose="02020500000000000000" pitchFamily="18" charset="-120"/>
              </a:rPr>
              <a:t>lw</a:t>
            </a: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 $pr1, c</a:t>
            </a:r>
          </a:p>
          <a:p>
            <a:pPr eaLnBrk="1" hangingPunct="1">
              <a:spcBef>
                <a:spcPct val="0"/>
              </a:spcBef>
              <a:buFontTx/>
              <a:buAutoNum type="arabicPlain" startAt="6"/>
            </a:pPr>
            <a:r>
              <a:rPr lang="en-US" altLang="zh-TW" sz="2400" dirty="0" err="1">
                <a:latin typeface="Times New Roman" panose="02020603050405020304" pitchFamily="18" charset="0"/>
                <a:ea typeface="新細明體" panose="02020500000000000000" pitchFamily="18" charset="-120"/>
              </a:rPr>
              <a:t>lw</a:t>
            </a: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 $pr7, d</a:t>
            </a:r>
          </a:p>
          <a:p>
            <a:pPr eaLnBrk="1" hangingPunct="1">
              <a:spcBef>
                <a:spcPct val="0"/>
              </a:spcBef>
              <a:buFontTx/>
              <a:buAutoNum type="arabicPlain" startAt="6"/>
            </a:pPr>
            <a:r>
              <a:rPr lang="en-US" altLang="zh-TW" sz="2400" dirty="0" err="1">
                <a:latin typeface="Times New Roman" panose="02020603050405020304" pitchFamily="18" charset="0"/>
                <a:ea typeface="新細明體" panose="02020500000000000000" pitchFamily="18" charset="-120"/>
              </a:rPr>
              <a:t>sw</a:t>
            </a: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 $pr7, 0($pr4)</a:t>
            </a:r>
          </a:p>
          <a:p>
            <a:pPr eaLnBrk="1" hangingPunct="1">
              <a:spcBef>
                <a:spcPct val="0"/>
              </a:spcBef>
              <a:buFontTx/>
              <a:buAutoNum type="arabicPlain" startAt="6"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add $pr8,$pr7,$pr1</a:t>
            </a:r>
          </a:p>
        </p:txBody>
      </p:sp>
      <p:sp>
        <p:nvSpPr>
          <p:cNvPr id="20486" name="Oval 4">
            <a:extLst>
              <a:ext uri="{FF2B5EF4-FFF2-40B4-BE49-F238E27FC236}">
                <a16:creationId xmlns:a16="http://schemas.microsoft.com/office/drawing/2014/main" id="{EF102D05-98FC-4C92-A305-4EE1C84724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200" y="1046708"/>
            <a:ext cx="6096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1</a:t>
            </a:r>
          </a:p>
        </p:txBody>
      </p:sp>
      <p:sp>
        <p:nvSpPr>
          <p:cNvPr id="20487" name="Oval 5">
            <a:extLst>
              <a:ext uri="{FF2B5EF4-FFF2-40B4-BE49-F238E27FC236}">
                <a16:creationId xmlns:a16="http://schemas.microsoft.com/office/drawing/2014/main" id="{CDE67EDB-9A07-4563-ACCE-D13DB5B8E0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10600" y="1046708"/>
            <a:ext cx="6096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2</a:t>
            </a:r>
          </a:p>
        </p:txBody>
      </p:sp>
      <p:sp>
        <p:nvSpPr>
          <p:cNvPr id="20488" name="Oval 6">
            <a:extLst>
              <a:ext uri="{FF2B5EF4-FFF2-40B4-BE49-F238E27FC236}">
                <a16:creationId xmlns:a16="http://schemas.microsoft.com/office/drawing/2014/main" id="{927E526D-AAED-4040-A08A-6916AA8A05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200" y="2265908"/>
            <a:ext cx="6096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3</a:t>
            </a:r>
          </a:p>
        </p:txBody>
      </p:sp>
      <p:sp>
        <p:nvSpPr>
          <p:cNvPr id="20489" name="Line 7">
            <a:extLst>
              <a:ext uri="{FF2B5EF4-FFF2-40B4-BE49-F238E27FC236}">
                <a16:creationId xmlns:a16="http://schemas.microsoft.com/office/drawing/2014/main" id="{AF19CFB5-0D16-4AF3-A688-32CA5E2C2200}"/>
              </a:ext>
            </a:extLst>
          </p:cNvPr>
          <p:cNvSpPr>
            <a:spLocks noChangeShapeType="1"/>
          </p:cNvSpPr>
          <p:nvPr/>
        </p:nvSpPr>
        <p:spPr bwMode="auto">
          <a:xfrm>
            <a:off x="7620000" y="1580108"/>
            <a:ext cx="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0490" name="Line 8">
            <a:extLst>
              <a:ext uri="{FF2B5EF4-FFF2-40B4-BE49-F238E27FC236}">
                <a16:creationId xmlns:a16="http://schemas.microsoft.com/office/drawing/2014/main" id="{7D2088D1-7E0D-42AB-B403-0BCFF775A12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772400" y="1580108"/>
            <a:ext cx="106680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0491" name="Oval 9">
            <a:extLst>
              <a:ext uri="{FF2B5EF4-FFF2-40B4-BE49-F238E27FC236}">
                <a16:creationId xmlns:a16="http://schemas.microsoft.com/office/drawing/2014/main" id="{59AB6E7A-BF02-4599-8BEB-5C7AD8337F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200" y="3256508"/>
            <a:ext cx="6096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4</a:t>
            </a:r>
          </a:p>
        </p:txBody>
      </p:sp>
      <p:sp>
        <p:nvSpPr>
          <p:cNvPr id="20492" name="Oval 10">
            <a:extLst>
              <a:ext uri="{FF2B5EF4-FFF2-40B4-BE49-F238E27FC236}">
                <a16:creationId xmlns:a16="http://schemas.microsoft.com/office/drawing/2014/main" id="{176546E1-4BD5-419C-9200-69823CB553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6800" y="2265908"/>
            <a:ext cx="6096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5</a:t>
            </a:r>
          </a:p>
        </p:txBody>
      </p:sp>
      <p:sp>
        <p:nvSpPr>
          <p:cNvPr id="20493" name="Line 11">
            <a:extLst>
              <a:ext uri="{FF2B5EF4-FFF2-40B4-BE49-F238E27FC236}">
                <a16:creationId xmlns:a16="http://schemas.microsoft.com/office/drawing/2014/main" id="{FC467995-6931-4CCD-93A8-CF0DB30D5370}"/>
              </a:ext>
            </a:extLst>
          </p:cNvPr>
          <p:cNvSpPr>
            <a:spLocks noChangeShapeType="1"/>
          </p:cNvSpPr>
          <p:nvPr/>
        </p:nvSpPr>
        <p:spPr bwMode="auto">
          <a:xfrm>
            <a:off x="7772400" y="1503908"/>
            <a:ext cx="1066800" cy="838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0494" name="Line 12">
            <a:extLst>
              <a:ext uri="{FF2B5EF4-FFF2-40B4-BE49-F238E27FC236}">
                <a16:creationId xmlns:a16="http://schemas.microsoft.com/office/drawing/2014/main" id="{9E6865AE-51D8-43D8-A7D2-79630D502A5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991600" y="1580108"/>
            <a:ext cx="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0495" name="Line 13">
            <a:extLst>
              <a:ext uri="{FF2B5EF4-FFF2-40B4-BE49-F238E27FC236}">
                <a16:creationId xmlns:a16="http://schemas.microsoft.com/office/drawing/2014/main" id="{6281CEA3-2B61-4A10-85B2-800D793C73EB}"/>
              </a:ext>
            </a:extLst>
          </p:cNvPr>
          <p:cNvSpPr>
            <a:spLocks noChangeShapeType="1"/>
          </p:cNvSpPr>
          <p:nvPr/>
        </p:nvSpPr>
        <p:spPr bwMode="auto">
          <a:xfrm>
            <a:off x="7620000" y="2799308"/>
            <a:ext cx="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0496" name="Oval 14">
            <a:extLst>
              <a:ext uri="{FF2B5EF4-FFF2-40B4-BE49-F238E27FC236}">
                <a16:creationId xmlns:a16="http://schemas.microsoft.com/office/drawing/2014/main" id="{B5D979B4-F6D7-4154-8AB6-1DAF8C598C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200" y="4323308"/>
            <a:ext cx="6096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6</a:t>
            </a:r>
          </a:p>
        </p:txBody>
      </p:sp>
      <p:sp>
        <p:nvSpPr>
          <p:cNvPr id="20497" name="Line 15">
            <a:extLst>
              <a:ext uri="{FF2B5EF4-FFF2-40B4-BE49-F238E27FC236}">
                <a16:creationId xmlns:a16="http://schemas.microsoft.com/office/drawing/2014/main" id="{BC16495A-FB62-4955-95C1-049922411968}"/>
              </a:ext>
            </a:extLst>
          </p:cNvPr>
          <p:cNvSpPr>
            <a:spLocks noChangeShapeType="1"/>
          </p:cNvSpPr>
          <p:nvPr/>
        </p:nvSpPr>
        <p:spPr bwMode="auto">
          <a:xfrm>
            <a:off x="7620000" y="3789908"/>
            <a:ext cx="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0498" name="Oval 16">
            <a:extLst>
              <a:ext uri="{FF2B5EF4-FFF2-40B4-BE49-F238E27FC236}">
                <a16:creationId xmlns:a16="http://schemas.microsoft.com/office/drawing/2014/main" id="{2C5BBEC1-0EA5-48AD-A439-F47E2787E6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200" y="5390108"/>
            <a:ext cx="6096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7</a:t>
            </a:r>
          </a:p>
        </p:txBody>
      </p:sp>
      <p:sp>
        <p:nvSpPr>
          <p:cNvPr id="20499" name="Line 17">
            <a:extLst>
              <a:ext uri="{FF2B5EF4-FFF2-40B4-BE49-F238E27FC236}">
                <a16:creationId xmlns:a16="http://schemas.microsoft.com/office/drawing/2014/main" id="{050666D8-9329-4019-A965-1D52482A5C35}"/>
              </a:ext>
            </a:extLst>
          </p:cNvPr>
          <p:cNvSpPr>
            <a:spLocks noChangeShapeType="1"/>
          </p:cNvSpPr>
          <p:nvPr/>
        </p:nvSpPr>
        <p:spPr bwMode="auto">
          <a:xfrm>
            <a:off x="7620000" y="4856708"/>
            <a:ext cx="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0500" name="Line 18">
            <a:extLst>
              <a:ext uri="{FF2B5EF4-FFF2-40B4-BE49-F238E27FC236}">
                <a16:creationId xmlns:a16="http://schemas.microsoft.com/office/drawing/2014/main" id="{2DFAA8F1-557C-4DB3-992E-1F299844C00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772400" y="2799308"/>
            <a:ext cx="1219200" cy="2590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0501" name="Oval 19">
            <a:extLst>
              <a:ext uri="{FF2B5EF4-FFF2-40B4-BE49-F238E27FC236}">
                <a16:creationId xmlns:a16="http://schemas.microsoft.com/office/drawing/2014/main" id="{8B914ABA-1B4F-4145-8D5F-4332602008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15400" y="3332708"/>
            <a:ext cx="6096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8</a:t>
            </a:r>
          </a:p>
        </p:txBody>
      </p:sp>
      <p:sp>
        <p:nvSpPr>
          <p:cNvPr id="20502" name="Line 20">
            <a:extLst>
              <a:ext uri="{FF2B5EF4-FFF2-40B4-BE49-F238E27FC236}">
                <a16:creationId xmlns:a16="http://schemas.microsoft.com/office/drawing/2014/main" id="{6B319BB5-681B-4C02-B79E-34A5D056C7FE}"/>
              </a:ext>
            </a:extLst>
          </p:cNvPr>
          <p:cNvSpPr>
            <a:spLocks noChangeShapeType="1"/>
          </p:cNvSpPr>
          <p:nvPr/>
        </p:nvSpPr>
        <p:spPr bwMode="auto">
          <a:xfrm>
            <a:off x="9067800" y="2799308"/>
            <a:ext cx="152400" cy="533400"/>
          </a:xfrm>
          <a:prstGeom prst="line">
            <a:avLst/>
          </a:prstGeom>
          <a:noFill/>
          <a:ln w="38100">
            <a:solidFill>
              <a:schemeClr val="tx1"/>
            </a:solidFill>
            <a:prstDash val="lgDashDot"/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0503" name="Line 21">
            <a:extLst>
              <a:ext uri="{FF2B5EF4-FFF2-40B4-BE49-F238E27FC236}">
                <a16:creationId xmlns:a16="http://schemas.microsoft.com/office/drawing/2014/main" id="{5E96F7D3-65CE-4C3F-AEBF-0E5EA00F14EF}"/>
              </a:ext>
            </a:extLst>
          </p:cNvPr>
          <p:cNvSpPr>
            <a:spLocks noChangeShapeType="1"/>
          </p:cNvSpPr>
          <p:nvPr/>
        </p:nvSpPr>
        <p:spPr bwMode="auto">
          <a:xfrm>
            <a:off x="7848600" y="2723108"/>
            <a:ext cx="1143000" cy="685800"/>
          </a:xfrm>
          <a:prstGeom prst="line">
            <a:avLst/>
          </a:prstGeom>
          <a:noFill/>
          <a:ln w="38100">
            <a:solidFill>
              <a:schemeClr val="tx1"/>
            </a:solidFill>
            <a:prstDash val="lgDashDot"/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0504" name="Oval 22">
            <a:extLst>
              <a:ext uri="{FF2B5EF4-FFF2-40B4-BE49-F238E27FC236}">
                <a16:creationId xmlns:a16="http://schemas.microsoft.com/office/drawing/2014/main" id="{67F33798-35C1-4635-9A1E-CE5B867B58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1600" y="4399508"/>
            <a:ext cx="6096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10</a:t>
            </a:r>
          </a:p>
        </p:txBody>
      </p:sp>
      <p:sp>
        <p:nvSpPr>
          <p:cNvPr id="20505" name="Line 23">
            <a:extLst>
              <a:ext uri="{FF2B5EF4-FFF2-40B4-BE49-F238E27FC236}">
                <a16:creationId xmlns:a16="http://schemas.microsoft.com/office/drawing/2014/main" id="{3AB6AAC6-15C4-403B-81FC-40F2CD649578}"/>
              </a:ext>
            </a:extLst>
          </p:cNvPr>
          <p:cNvSpPr>
            <a:spLocks noChangeShapeType="1"/>
          </p:cNvSpPr>
          <p:nvPr/>
        </p:nvSpPr>
        <p:spPr bwMode="auto">
          <a:xfrm>
            <a:off x="7924800" y="3637508"/>
            <a:ext cx="1219200" cy="838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0506" name="Oval 24">
            <a:extLst>
              <a:ext uri="{FF2B5EF4-FFF2-40B4-BE49-F238E27FC236}">
                <a16:creationId xmlns:a16="http://schemas.microsoft.com/office/drawing/2014/main" id="{BB5F255F-6D90-4321-AED9-1E22D36277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2200" y="2265908"/>
            <a:ext cx="6096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9</a:t>
            </a:r>
          </a:p>
        </p:txBody>
      </p:sp>
      <p:sp>
        <p:nvSpPr>
          <p:cNvPr id="20507" name="Line 25">
            <a:extLst>
              <a:ext uri="{FF2B5EF4-FFF2-40B4-BE49-F238E27FC236}">
                <a16:creationId xmlns:a16="http://schemas.microsoft.com/office/drawing/2014/main" id="{04DA270E-87A1-4636-9875-1EDC4237F0F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448800" y="2799308"/>
            <a:ext cx="838200" cy="1600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0508" name="Oval 26">
            <a:extLst>
              <a:ext uri="{FF2B5EF4-FFF2-40B4-BE49-F238E27FC236}">
                <a16:creationId xmlns:a16="http://schemas.microsoft.com/office/drawing/2014/main" id="{F0E2A28D-A9F2-4239-9A89-1723A64C9F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34600" y="4399508"/>
            <a:ext cx="6096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11</a:t>
            </a:r>
          </a:p>
        </p:txBody>
      </p:sp>
      <p:sp>
        <p:nvSpPr>
          <p:cNvPr id="20509" name="Line 27">
            <a:extLst>
              <a:ext uri="{FF2B5EF4-FFF2-40B4-BE49-F238E27FC236}">
                <a16:creationId xmlns:a16="http://schemas.microsoft.com/office/drawing/2014/main" id="{9F1E2D42-66DE-4E52-83AF-0F21C6C078AB}"/>
              </a:ext>
            </a:extLst>
          </p:cNvPr>
          <p:cNvSpPr>
            <a:spLocks noChangeShapeType="1"/>
          </p:cNvSpPr>
          <p:nvPr/>
        </p:nvSpPr>
        <p:spPr bwMode="auto">
          <a:xfrm>
            <a:off x="9372600" y="3866108"/>
            <a:ext cx="91440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0510" name="Line 28">
            <a:extLst>
              <a:ext uri="{FF2B5EF4-FFF2-40B4-BE49-F238E27FC236}">
                <a16:creationId xmlns:a16="http://schemas.microsoft.com/office/drawing/2014/main" id="{4FF55F31-6BFF-4A34-8470-E0C50CEF9C37}"/>
              </a:ext>
            </a:extLst>
          </p:cNvPr>
          <p:cNvSpPr>
            <a:spLocks noChangeShapeType="1"/>
          </p:cNvSpPr>
          <p:nvPr/>
        </p:nvSpPr>
        <p:spPr bwMode="auto">
          <a:xfrm>
            <a:off x="10363200" y="2799308"/>
            <a:ext cx="76200" cy="1600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0511" name="Text Box 29">
            <a:extLst>
              <a:ext uri="{FF2B5EF4-FFF2-40B4-BE49-F238E27FC236}">
                <a16:creationId xmlns:a16="http://schemas.microsoft.com/office/drawing/2014/main" id="{A948C798-C794-45C1-8C32-29B5D19213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5201692"/>
            <a:ext cx="54864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TW" sz="2800" dirty="0">
                <a:solidFill>
                  <a:srgbClr val="0033CC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Each node represents an instruction Each arc represents a dependence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514DB7-831A-4FB5-98F4-5AD6CC71EC61}"/>
              </a:ext>
            </a:extLst>
          </p:cNvPr>
          <p:cNvSpPr txBox="1"/>
          <p:nvPr/>
        </p:nvSpPr>
        <p:spPr>
          <a:xfrm>
            <a:off x="189910" y="1365872"/>
            <a:ext cx="1332416" cy="1692771"/>
          </a:xfrm>
          <a:prstGeom prst="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wrap="none" rtlCol="0" anchor="ctr" anchorCtr="1">
            <a:spAutoFit/>
          </a:bodyPr>
          <a:lstStyle/>
          <a:p>
            <a:r>
              <a:rPr lang="en-US" sz="3200" dirty="0">
                <a:ea typeface="標楷體" pitchFamily="65" charset="-120"/>
                <a:cs typeface="Calibri" pitchFamily="34" charset="0"/>
              </a:rPr>
              <a:t>DAG:</a:t>
            </a:r>
          </a:p>
          <a:p>
            <a:r>
              <a:rPr lang="en-US" sz="2400" dirty="0">
                <a:ea typeface="標楷體" pitchFamily="65" charset="-120"/>
                <a:cs typeface="Calibri" pitchFamily="34" charset="0"/>
              </a:rPr>
              <a:t>Directed</a:t>
            </a:r>
          </a:p>
          <a:p>
            <a:r>
              <a:rPr lang="en-US" sz="2400" dirty="0">
                <a:ea typeface="標楷體" pitchFamily="65" charset="-120"/>
                <a:cs typeface="Calibri" pitchFamily="34" charset="0"/>
              </a:rPr>
              <a:t>Acyclic </a:t>
            </a:r>
          </a:p>
          <a:p>
            <a:r>
              <a:rPr lang="en-US" sz="2400" dirty="0">
                <a:ea typeface="標楷體" pitchFamily="65" charset="-120"/>
                <a:cs typeface="Calibri" pitchFamily="34" charset="0"/>
              </a:rPr>
              <a:t>Graph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日期版面配置區 2">
            <a:extLst>
              <a:ext uri="{FF2B5EF4-FFF2-40B4-BE49-F238E27FC236}">
                <a16:creationId xmlns:a16="http://schemas.microsoft.com/office/drawing/2014/main" id="{A97A100D-ED88-4806-92B2-8AD65870BDF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TW" sz="1400"/>
              <a:t>2021/01/07</a:t>
            </a:r>
          </a:p>
        </p:txBody>
      </p:sp>
      <p:sp>
        <p:nvSpPr>
          <p:cNvPr id="21507" name="投影片編號版面配置區 4">
            <a:extLst>
              <a:ext uri="{FF2B5EF4-FFF2-40B4-BE49-F238E27FC236}">
                <a16:creationId xmlns:a16="http://schemas.microsoft.com/office/drawing/2014/main" id="{DF8B658F-60DC-4696-A6FB-805A3D26F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96124" y="5943600"/>
            <a:ext cx="21336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C617185-153E-45BC-B4C7-289A43A87FD1}" type="slidenum">
              <a:rPr lang="zh-TW" altLang="en-US" smtClean="0"/>
              <a:pPr>
                <a:spcBef>
                  <a:spcPct val="0"/>
                </a:spcBef>
                <a:buFontTx/>
                <a:buNone/>
              </a:pPr>
              <a:t>6</a:t>
            </a:fld>
            <a:endParaRPr lang="en-US" altLang="zh-TW" sz="1400"/>
          </a:p>
        </p:txBody>
      </p:sp>
      <p:sp>
        <p:nvSpPr>
          <p:cNvPr id="21508" name="Rectangle 2">
            <a:extLst>
              <a:ext uri="{FF2B5EF4-FFF2-40B4-BE49-F238E27FC236}">
                <a16:creationId xmlns:a16="http://schemas.microsoft.com/office/drawing/2014/main" id="{0A9AFC2E-39D5-4263-9464-F2F0932CA9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49867" y="144466"/>
            <a:ext cx="10902950" cy="692151"/>
          </a:xfrm>
        </p:spPr>
        <p:txBody>
          <a:bodyPr/>
          <a:lstStyle/>
          <a:p>
            <a:pPr eaLnBrk="1" hangingPunct="1"/>
            <a:r>
              <a:rPr lang="en-US" altLang="zh-TW" dirty="0">
                <a:ea typeface="新細明體" panose="02020500000000000000" pitchFamily="18" charset="-120"/>
              </a:rPr>
              <a:t>Three Types of Register Data Dependence </a:t>
            </a:r>
          </a:p>
        </p:txBody>
      </p:sp>
      <p:sp>
        <p:nvSpPr>
          <p:cNvPr id="21509" name="Oval 3">
            <a:extLst>
              <a:ext uri="{FF2B5EF4-FFF2-40B4-BE49-F238E27FC236}">
                <a16:creationId xmlns:a16="http://schemas.microsoft.com/office/drawing/2014/main" id="{C8953A60-509B-48A0-8665-D37335CAB6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0524" y="1066800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1</a:t>
            </a:r>
          </a:p>
        </p:txBody>
      </p:sp>
      <p:sp>
        <p:nvSpPr>
          <p:cNvPr id="21510" name="Oval 4">
            <a:extLst>
              <a:ext uri="{FF2B5EF4-FFF2-40B4-BE49-F238E27FC236}">
                <a16:creationId xmlns:a16="http://schemas.microsoft.com/office/drawing/2014/main" id="{15E353A5-FAE8-4745-A000-0DB995C706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5924" y="1066800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2</a:t>
            </a:r>
          </a:p>
        </p:txBody>
      </p:sp>
      <p:sp>
        <p:nvSpPr>
          <p:cNvPr id="21511" name="Oval 5">
            <a:extLst>
              <a:ext uri="{FF2B5EF4-FFF2-40B4-BE49-F238E27FC236}">
                <a16:creationId xmlns:a16="http://schemas.microsoft.com/office/drawing/2014/main" id="{538303ED-E5ED-4F2D-AD1C-2E9492D111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0524" y="2286000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3</a:t>
            </a:r>
          </a:p>
        </p:txBody>
      </p:sp>
      <p:sp>
        <p:nvSpPr>
          <p:cNvPr id="21512" name="Line 6">
            <a:extLst>
              <a:ext uri="{FF2B5EF4-FFF2-40B4-BE49-F238E27FC236}">
                <a16:creationId xmlns:a16="http://schemas.microsoft.com/office/drawing/2014/main" id="{823F9A87-3A2A-48BA-80C8-6B7EF70E0476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1524" y="1600200"/>
            <a:ext cx="1588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1513" name="Line 7">
            <a:extLst>
              <a:ext uri="{FF2B5EF4-FFF2-40B4-BE49-F238E27FC236}">
                <a16:creationId xmlns:a16="http://schemas.microsoft.com/office/drawing/2014/main" id="{561EEF34-3C09-41B2-9159-73E8245DDDB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600574" y="1600200"/>
            <a:ext cx="120015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1514" name="Oval 8">
            <a:extLst>
              <a:ext uri="{FF2B5EF4-FFF2-40B4-BE49-F238E27FC236}">
                <a16:creationId xmlns:a16="http://schemas.microsoft.com/office/drawing/2014/main" id="{EE2869DE-9ED9-4C12-8252-C56FCA2180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0524" y="3276600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4</a:t>
            </a:r>
          </a:p>
        </p:txBody>
      </p:sp>
      <p:sp>
        <p:nvSpPr>
          <p:cNvPr id="21515" name="Oval 9">
            <a:extLst>
              <a:ext uri="{FF2B5EF4-FFF2-40B4-BE49-F238E27FC236}">
                <a16:creationId xmlns:a16="http://schemas.microsoft.com/office/drawing/2014/main" id="{EDEF4665-B1B4-4D9C-9798-E6D885F36E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2124" y="2286000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5</a:t>
            </a:r>
          </a:p>
        </p:txBody>
      </p:sp>
      <p:sp>
        <p:nvSpPr>
          <p:cNvPr id="21516" name="Line 10">
            <a:extLst>
              <a:ext uri="{FF2B5EF4-FFF2-40B4-BE49-F238E27FC236}">
                <a16:creationId xmlns:a16="http://schemas.microsoft.com/office/drawing/2014/main" id="{B239DF65-396F-4787-B0F6-627C6BB961FE}"/>
              </a:ext>
            </a:extLst>
          </p:cNvPr>
          <p:cNvSpPr>
            <a:spLocks noChangeShapeType="1"/>
          </p:cNvSpPr>
          <p:nvPr/>
        </p:nvSpPr>
        <p:spPr bwMode="auto">
          <a:xfrm>
            <a:off x="4600574" y="1524000"/>
            <a:ext cx="120015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1517" name="Line 11">
            <a:extLst>
              <a:ext uri="{FF2B5EF4-FFF2-40B4-BE49-F238E27FC236}">
                <a16:creationId xmlns:a16="http://schemas.microsoft.com/office/drawing/2014/main" id="{BD10D169-255F-4011-BE44-86FB5477CA0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53124" y="1600200"/>
            <a:ext cx="1588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1518" name="Line 12">
            <a:extLst>
              <a:ext uri="{FF2B5EF4-FFF2-40B4-BE49-F238E27FC236}">
                <a16:creationId xmlns:a16="http://schemas.microsoft.com/office/drawing/2014/main" id="{03112266-52DF-4AE2-9319-41A7F1013C1D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1524" y="2819400"/>
            <a:ext cx="1588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1519" name="Oval 13">
            <a:extLst>
              <a:ext uri="{FF2B5EF4-FFF2-40B4-BE49-F238E27FC236}">
                <a16:creationId xmlns:a16="http://schemas.microsoft.com/office/drawing/2014/main" id="{B119BA46-B492-486E-916E-4A308ED6C9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0524" y="4343400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6</a:t>
            </a:r>
          </a:p>
        </p:txBody>
      </p:sp>
      <p:sp>
        <p:nvSpPr>
          <p:cNvPr id="21520" name="Line 14">
            <a:extLst>
              <a:ext uri="{FF2B5EF4-FFF2-40B4-BE49-F238E27FC236}">
                <a16:creationId xmlns:a16="http://schemas.microsoft.com/office/drawing/2014/main" id="{BD426EE1-BC84-4775-93E1-9137544745C2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1524" y="3810000"/>
            <a:ext cx="1588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1521" name="Oval 15">
            <a:extLst>
              <a:ext uri="{FF2B5EF4-FFF2-40B4-BE49-F238E27FC236}">
                <a16:creationId xmlns:a16="http://schemas.microsoft.com/office/drawing/2014/main" id="{5043A907-FA35-4ACF-B530-35E5F0C0D3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0524" y="5410200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7</a:t>
            </a:r>
          </a:p>
        </p:txBody>
      </p:sp>
      <p:sp>
        <p:nvSpPr>
          <p:cNvPr id="21522" name="Line 16">
            <a:extLst>
              <a:ext uri="{FF2B5EF4-FFF2-40B4-BE49-F238E27FC236}">
                <a16:creationId xmlns:a16="http://schemas.microsoft.com/office/drawing/2014/main" id="{E8DF9D67-3943-4CC1-8EB5-A65470B51E89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1524" y="4876800"/>
            <a:ext cx="1588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1523" name="Line 17">
            <a:extLst>
              <a:ext uri="{FF2B5EF4-FFF2-40B4-BE49-F238E27FC236}">
                <a16:creationId xmlns:a16="http://schemas.microsoft.com/office/drawing/2014/main" id="{465C14BD-CC2A-4844-9BD3-41411AE9045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81524" y="2819400"/>
            <a:ext cx="1371600" cy="2590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1524" name="Oval 18">
            <a:extLst>
              <a:ext uri="{FF2B5EF4-FFF2-40B4-BE49-F238E27FC236}">
                <a16:creationId xmlns:a16="http://schemas.microsoft.com/office/drawing/2014/main" id="{C3A1F31A-B262-475D-8B01-DE0812C96E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0724" y="3352800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8</a:t>
            </a:r>
          </a:p>
        </p:txBody>
      </p:sp>
      <p:sp>
        <p:nvSpPr>
          <p:cNvPr id="21525" name="Line 19">
            <a:extLst>
              <a:ext uri="{FF2B5EF4-FFF2-40B4-BE49-F238E27FC236}">
                <a16:creationId xmlns:a16="http://schemas.microsoft.com/office/drawing/2014/main" id="{78509AEC-ADDE-4D32-AB6E-590DAF870654}"/>
              </a:ext>
            </a:extLst>
          </p:cNvPr>
          <p:cNvSpPr>
            <a:spLocks noChangeShapeType="1"/>
          </p:cNvSpPr>
          <p:nvPr/>
        </p:nvSpPr>
        <p:spPr bwMode="auto">
          <a:xfrm>
            <a:off x="6010274" y="2819400"/>
            <a:ext cx="171450" cy="533400"/>
          </a:xfrm>
          <a:prstGeom prst="line">
            <a:avLst/>
          </a:prstGeom>
          <a:noFill/>
          <a:ln w="38100">
            <a:solidFill>
              <a:schemeClr val="tx1"/>
            </a:solidFill>
            <a:prstDash val="dashDot"/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1526" name="Line 20">
            <a:extLst>
              <a:ext uri="{FF2B5EF4-FFF2-40B4-BE49-F238E27FC236}">
                <a16:creationId xmlns:a16="http://schemas.microsoft.com/office/drawing/2014/main" id="{87295EB3-43BB-4F5C-9341-B462FC91D18A}"/>
              </a:ext>
            </a:extLst>
          </p:cNvPr>
          <p:cNvSpPr>
            <a:spLocks noChangeShapeType="1"/>
          </p:cNvSpPr>
          <p:nvPr/>
        </p:nvSpPr>
        <p:spPr bwMode="auto">
          <a:xfrm>
            <a:off x="4667250" y="2743200"/>
            <a:ext cx="1285875" cy="685800"/>
          </a:xfrm>
          <a:prstGeom prst="line">
            <a:avLst/>
          </a:prstGeom>
          <a:noFill/>
          <a:ln w="38100">
            <a:solidFill>
              <a:schemeClr val="tx1"/>
            </a:solidFill>
            <a:prstDash val="lgDashDot"/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1527" name="Oval 21">
            <a:extLst>
              <a:ext uri="{FF2B5EF4-FFF2-40B4-BE49-F238E27FC236}">
                <a16:creationId xmlns:a16="http://schemas.microsoft.com/office/drawing/2014/main" id="{8936F422-51C3-4144-BE39-488591EACD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6924" y="4419600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10</a:t>
            </a:r>
          </a:p>
        </p:txBody>
      </p:sp>
      <p:sp>
        <p:nvSpPr>
          <p:cNvPr id="21528" name="Line 22">
            <a:extLst>
              <a:ext uri="{FF2B5EF4-FFF2-40B4-BE49-F238E27FC236}">
                <a16:creationId xmlns:a16="http://schemas.microsoft.com/office/drawing/2014/main" id="{AE4905B3-4F0B-4B15-B65E-A59D4B1D707F}"/>
              </a:ext>
            </a:extLst>
          </p:cNvPr>
          <p:cNvSpPr>
            <a:spLocks noChangeShapeType="1"/>
          </p:cNvSpPr>
          <p:nvPr/>
        </p:nvSpPr>
        <p:spPr bwMode="auto">
          <a:xfrm>
            <a:off x="4733924" y="3657600"/>
            <a:ext cx="137160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1529" name="Oval 23">
            <a:extLst>
              <a:ext uri="{FF2B5EF4-FFF2-40B4-BE49-F238E27FC236}">
                <a16:creationId xmlns:a16="http://schemas.microsoft.com/office/drawing/2014/main" id="{3CA132F9-2CDE-44C7-88F1-D22297B06C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7524" y="2286000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9</a:t>
            </a:r>
          </a:p>
        </p:txBody>
      </p:sp>
      <p:sp>
        <p:nvSpPr>
          <p:cNvPr id="21530" name="Line 24">
            <a:extLst>
              <a:ext uri="{FF2B5EF4-FFF2-40B4-BE49-F238E27FC236}">
                <a16:creationId xmlns:a16="http://schemas.microsoft.com/office/drawing/2014/main" id="{8419BC1A-9D58-48A7-902A-8BC6EA88BB8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05550" y="2895600"/>
            <a:ext cx="942975" cy="1524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1531" name="Oval 25">
            <a:extLst>
              <a:ext uri="{FF2B5EF4-FFF2-40B4-BE49-F238E27FC236}">
                <a16:creationId xmlns:a16="http://schemas.microsoft.com/office/drawing/2014/main" id="{A793B66A-DC84-4204-9366-840447BC85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9924" y="4419600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11</a:t>
            </a:r>
          </a:p>
        </p:txBody>
      </p:sp>
      <p:sp>
        <p:nvSpPr>
          <p:cNvPr id="21532" name="Line 26">
            <a:extLst>
              <a:ext uri="{FF2B5EF4-FFF2-40B4-BE49-F238E27FC236}">
                <a16:creationId xmlns:a16="http://schemas.microsoft.com/office/drawing/2014/main" id="{FE87EA6F-244F-49FE-959B-58B109CE890F}"/>
              </a:ext>
            </a:extLst>
          </p:cNvPr>
          <p:cNvSpPr>
            <a:spLocks noChangeShapeType="1"/>
          </p:cNvSpPr>
          <p:nvPr/>
        </p:nvSpPr>
        <p:spPr bwMode="auto">
          <a:xfrm>
            <a:off x="6219824" y="3886200"/>
            <a:ext cx="1028700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1533" name="Line 27">
            <a:extLst>
              <a:ext uri="{FF2B5EF4-FFF2-40B4-BE49-F238E27FC236}">
                <a16:creationId xmlns:a16="http://schemas.microsoft.com/office/drawing/2014/main" id="{94316FA3-0BED-40C8-B8AC-FBFE4438C343}"/>
              </a:ext>
            </a:extLst>
          </p:cNvPr>
          <p:cNvSpPr>
            <a:spLocks noChangeShapeType="1"/>
          </p:cNvSpPr>
          <p:nvPr/>
        </p:nvSpPr>
        <p:spPr bwMode="auto">
          <a:xfrm>
            <a:off x="7239000" y="2895600"/>
            <a:ext cx="85725" cy="1524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1534" name="Line 28">
            <a:extLst>
              <a:ext uri="{FF2B5EF4-FFF2-40B4-BE49-F238E27FC236}">
                <a16:creationId xmlns:a16="http://schemas.microsoft.com/office/drawing/2014/main" id="{39CBD3B3-DF82-4BBC-9B3B-AF9B3A5C6B80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1600200"/>
            <a:ext cx="1457325" cy="175260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1535" name="Text Box 29">
            <a:extLst>
              <a:ext uri="{FF2B5EF4-FFF2-40B4-BE49-F238E27FC236}">
                <a16:creationId xmlns:a16="http://schemas.microsoft.com/office/drawing/2014/main" id="{F3F0D16A-D519-4CEE-860F-186C483454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96324" y="1066800"/>
            <a:ext cx="2667000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Flow dependence (RAW)</a:t>
            </a:r>
          </a:p>
          <a:p>
            <a:pPr algn="ctr" eaLnBrk="1" hangingPunct="1">
              <a:spcBef>
                <a:spcPct val="50000"/>
              </a:spcBef>
              <a:buFontTx/>
              <a:buNone/>
            </a:pPr>
            <a:endParaRPr lang="zh-TW" altLang="en-US" sz="2400" dirty="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1536" name="Line 30">
            <a:extLst>
              <a:ext uri="{FF2B5EF4-FFF2-40B4-BE49-F238E27FC236}">
                <a16:creationId xmlns:a16="http://schemas.microsoft.com/office/drawing/2014/main" id="{026DC64F-AD4E-427D-8497-DF7DC5E095EE}"/>
              </a:ext>
            </a:extLst>
          </p:cNvPr>
          <p:cNvSpPr>
            <a:spLocks noChangeShapeType="1"/>
          </p:cNvSpPr>
          <p:nvPr/>
        </p:nvSpPr>
        <p:spPr bwMode="auto">
          <a:xfrm>
            <a:off x="9153524" y="1981199"/>
            <a:ext cx="1676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1537" name="Text Box 31">
            <a:extLst>
              <a:ext uri="{FF2B5EF4-FFF2-40B4-BE49-F238E27FC236}">
                <a16:creationId xmlns:a16="http://schemas.microsoft.com/office/drawing/2014/main" id="{01E6BF86-2069-409F-BEE7-ECEAF1597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72524" y="2590799"/>
            <a:ext cx="266700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Anti-dependence</a:t>
            </a:r>
          </a:p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(WAR)</a:t>
            </a:r>
          </a:p>
          <a:p>
            <a:pPr algn="ctr" eaLnBrk="1" hangingPunct="1">
              <a:spcBef>
                <a:spcPct val="50000"/>
              </a:spcBef>
              <a:buFontTx/>
              <a:buNone/>
            </a:pPr>
            <a:endParaRPr lang="zh-TW" altLang="en-US" sz="24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1538" name="Line 32">
            <a:extLst>
              <a:ext uri="{FF2B5EF4-FFF2-40B4-BE49-F238E27FC236}">
                <a16:creationId xmlns:a16="http://schemas.microsoft.com/office/drawing/2014/main" id="{D5B8D33F-9499-4C96-8F03-551CC223EE3A}"/>
              </a:ext>
            </a:extLst>
          </p:cNvPr>
          <p:cNvSpPr>
            <a:spLocks noChangeShapeType="1"/>
          </p:cNvSpPr>
          <p:nvPr/>
        </p:nvSpPr>
        <p:spPr bwMode="auto">
          <a:xfrm>
            <a:off x="9229724" y="3809999"/>
            <a:ext cx="1752600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dashDot"/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1539" name="Text Box 33">
            <a:extLst>
              <a:ext uri="{FF2B5EF4-FFF2-40B4-BE49-F238E27FC236}">
                <a16:creationId xmlns:a16="http://schemas.microsoft.com/office/drawing/2014/main" id="{A0874B49-8A3E-4365-A3C9-231838A13E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24924" y="4419599"/>
            <a:ext cx="266700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Output-dependence</a:t>
            </a:r>
          </a:p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(WAW)</a:t>
            </a:r>
          </a:p>
          <a:p>
            <a:pPr algn="ctr" eaLnBrk="1" hangingPunct="1">
              <a:spcBef>
                <a:spcPct val="50000"/>
              </a:spcBef>
              <a:buFontTx/>
              <a:buNone/>
            </a:pPr>
            <a:endParaRPr lang="zh-TW" altLang="en-US" sz="24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1540" name="Line 34">
            <a:extLst>
              <a:ext uri="{FF2B5EF4-FFF2-40B4-BE49-F238E27FC236}">
                <a16:creationId xmlns:a16="http://schemas.microsoft.com/office/drawing/2014/main" id="{A9E7911B-333E-44BE-B5A4-E10131D90E93}"/>
              </a:ext>
            </a:extLst>
          </p:cNvPr>
          <p:cNvSpPr>
            <a:spLocks noChangeShapeType="1"/>
          </p:cNvSpPr>
          <p:nvPr/>
        </p:nvSpPr>
        <p:spPr bwMode="auto">
          <a:xfrm>
            <a:off x="9153524" y="5638799"/>
            <a:ext cx="1828800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21024D1-75A3-49D8-BE95-072D3D7A77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1981199"/>
            <a:ext cx="3117803" cy="2179260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B162B4C9-6E85-4330-B9A0-6831BBDCBEF1}"/>
              </a:ext>
            </a:extLst>
          </p:cNvPr>
          <p:cNvSpPr/>
          <p:nvPr/>
        </p:nvSpPr>
        <p:spPr bwMode="auto">
          <a:xfrm>
            <a:off x="1866901" y="1712914"/>
            <a:ext cx="914400" cy="692151"/>
          </a:xfrm>
          <a:prstGeom prst="ellipse">
            <a:avLst/>
          </a:prstGeom>
          <a:noFill/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35BBDE5B-9D88-4948-B12F-18E8CA7467B1}"/>
              </a:ext>
            </a:extLst>
          </p:cNvPr>
          <p:cNvSpPr/>
          <p:nvPr/>
        </p:nvSpPr>
        <p:spPr bwMode="auto">
          <a:xfrm>
            <a:off x="1924051" y="2584449"/>
            <a:ext cx="914400" cy="692151"/>
          </a:xfrm>
          <a:prstGeom prst="ellipse">
            <a:avLst/>
          </a:prstGeom>
          <a:noFill/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715CDA5D-B30D-4273-988C-80D686EA4274}"/>
              </a:ext>
            </a:extLst>
          </p:cNvPr>
          <p:cNvSpPr/>
          <p:nvPr/>
        </p:nvSpPr>
        <p:spPr bwMode="auto">
          <a:xfrm>
            <a:off x="1228724" y="3809999"/>
            <a:ext cx="914400" cy="609600"/>
          </a:xfrm>
          <a:prstGeom prst="ellipse">
            <a:avLst/>
          </a:prstGeom>
          <a:noFill/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DE6A53F-0DA8-4422-AD09-2A753ECB8336}"/>
              </a:ext>
            </a:extLst>
          </p:cNvPr>
          <p:cNvCxnSpPr/>
          <p:nvPr/>
        </p:nvCxnSpPr>
        <p:spPr bwMode="auto">
          <a:xfrm flipV="1">
            <a:off x="1647825" y="3008315"/>
            <a:ext cx="561975" cy="801684"/>
          </a:xfrm>
          <a:prstGeom prst="straightConnector1">
            <a:avLst/>
          </a:prstGeom>
          <a:noFill/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E908FB45-DFC3-4D46-AF3B-30678BA09197}"/>
              </a:ext>
            </a:extLst>
          </p:cNvPr>
          <p:cNvCxnSpPr>
            <a:cxnSpLocks/>
            <a:stCxn id="41" idx="0"/>
          </p:cNvCxnSpPr>
          <p:nvPr/>
        </p:nvCxnSpPr>
        <p:spPr bwMode="auto">
          <a:xfrm flipV="1">
            <a:off x="1685924" y="2206633"/>
            <a:ext cx="557214" cy="1603366"/>
          </a:xfrm>
          <a:prstGeom prst="straightConnector1">
            <a:avLst/>
          </a:prstGeom>
          <a:noFill/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0" grpId="0" animBg="1"/>
      <p:bldP spid="4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日期版面配置區 2">
            <a:extLst>
              <a:ext uri="{FF2B5EF4-FFF2-40B4-BE49-F238E27FC236}">
                <a16:creationId xmlns:a16="http://schemas.microsoft.com/office/drawing/2014/main" id="{5D071F7B-EFD4-4C43-A6B0-D91BB47A353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TW" sz="1400"/>
              <a:t>2014/01/2</a:t>
            </a:r>
          </a:p>
        </p:txBody>
      </p:sp>
      <p:sp>
        <p:nvSpPr>
          <p:cNvPr id="22531" name="投影片編號版面配置區 4">
            <a:extLst>
              <a:ext uri="{FF2B5EF4-FFF2-40B4-BE49-F238E27FC236}">
                <a16:creationId xmlns:a16="http://schemas.microsoft.com/office/drawing/2014/main" id="{144E06D8-1613-4DCD-A7EE-1847CBF8C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21302" y="6034885"/>
            <a:ext cx="21336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C617185-153E-45BC-B4C7-289A43A87FD1}" type="slidenum">
              <a:rPr lang="zh-TW" altLang="en-US" smtClean="0"/>
              <a:pPr>
                <a:spcBef>
                  <a:spcPct val="0"/>
                </a:spcBef>
                <a:buFontTx/>
                <a:buNone/>
              </a:pPr>
              <a:t>7</a:t>
            </a:fld>
            <a:endParaRPr lang="en-US" altLang="zh-TW" sz="1400"/>
          </a:p>
        </p:txBody>
      </p:sp>
      <p:sp>
        <p:nvSpPr>
          <p:cNvPr id="22532" name="Rectangle 2">
            <a:extLst>
              <a:ext uri="{FF2B5EF4-FFF2-40B4-BE49-F238E27FC236}">
                <a16:creationId xmlns:a16="http://schemas.microsoft.com/office/drawing/2014/main" id="{A14B8A44-4371-4F8B-86FA-FE846C7365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49867" y="144466"/>
            <a:ext cx="10902950" cy="692151"/>
          </a:xfrm>
        </p:spPr>
        <p:txBody>
          <a:bodyPr/>
          <a:lstStyle/>
          <a:p>
            <a:pPr eaLnBrk="1" hangingPunct="1"/>
            <a:r>
              <a:rPr lang="en-US" altLang="zh-TW" sz="4000" dirty="0">
                <a:ea typeface="新細明體" panose="02020500000000000000" pitchFamily="18" charset="-120"/>
              </a:rPr>
              <a:t>Memory Dependency (due to potential aliasing</a:t>
            </a:r>
            <a:r>
              <a:rPr lang="en-US" altLang="zh-TW" sz="3200" dirty="0">
                <a:ea typeface="新細明體" panose="02020500000000000000" pitchFamily="18" charset="-120"/>
              </a:rPr>
              <a:t>)</a:t>
            </a:r>
          </a:p>
        </p:txBody>
      </p:sp>
      <p:sp>
        <p:nvSpPr>
          <p:cNvPr id="22533" name="Text Box 3">
            <a:extLst>
              <a:ext uri="{FF2B5EF4-FFF2-40B4-BE49-F238E27FC236}">
                <a16:creationId xmlns:a16="http://schemas.microsoft.com/office/drawing/2014/main" id="{A07DE986-88B8-4F06-BB34-FF03BEA8DE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0925" y="1445716"/>
            <a:ext cx="3201517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1	</a:t>
            </a:r>
            <a:r>
              <a:rPr lang="en-US" altLang="zh-TW" sz="2400" dirty="0" err="1">
                <a:latin typeface="Times New Roman" panose="02020603050405020304" pitchFamily="18" charset="0"/>
                <a:ea typeface="新細明體" panose="02020500000000000000" pitchFamily="18" charset="-120"/>
              </a:rPr>
              <a:t>lw</a:t>
            </a: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 $pr1, a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2	</a:t>
            </a:r>
            <a:r>
              <a:rPr lang="en-US" altLang="zh-TW" sz="2400" dirty="0" err="1">
                <a:latin typeface="Times New Roman" panose="02020603050405020304" pitchFamily="18" charset="0"/>
                <a:ea typeface="新細明體" panose="02020500000000000000" pitchFamily="18" charset="-120"/>
              </a:rPr>
              <a:t>lw</a:t>
            </a: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 $pr2, b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3	add $pr3, $pr1,$pr2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4	</a:t>
            </a:r>
            <a:r>
              <a:rPr lang="en-US" altLang="zh-TW" sz="2400" dirty="0" err="1">
                <a:latin typeface="Times New Roman" panose="02020603050405020304" pitchFamily="18" charset="0"/>
                <a:ea typeface="新細明體" panose="02020500000000000000" pitchFamily="18" charset="-120"/>
              </a:rPr>
              <a:t>mul</a:t>
            </a: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 $pr4, $pr3, 3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5	</a:t>
            </a:r>
            <a:r>
              <a:rPr lang="en-US" altLang="zh-TW" sz="2400" dirty="0" err="1">
                <a:latin typeface="Times New Roman" panose="02020603050405020304" pitchFamily="18" charset="0"/>
                <a:ea typeface="新細明體" panose="02020500000000000000" pitchFamily="18" charset="-120"/>
              </a:rPr>
              <a:t>mul</a:t>
            </a: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 $pr5, $pr1, $pr2</a:t>
            </a:r>
          </a:p>
          <a:p>
            <a:pPr eaLnBrk="1" hangingPunct="1">
              <a:spcBef>
                <a:spcPct val="0"/>
              </a:spcBef>
              <a:buFontTx/>
              <a:buAutoNum type="arabicPlain" startAt="6"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add $pr6, $pr4, 2</a:t>
            </a:r>
          </a:p>
          <a:p>
            <a:pPr eaLnBrk="1" hangingPunct="1">
              <a:spcBef>
                <a:spcPct val="0"/>
              </a:spcBef>
              <a:buFontTx/>
              <a:buAutoNum type="arabicPlain" startAt="6"/>
            </a:pPr>
            <a:r>
              <a:rPr lang="en-US" altLang="zh-TW" sz="2400" dirty="0" err="1">
                <a:latin typeface="Times New Roman" panose="02020603050405020304" pitchFamily="18" charset="0"/>
                <a:ea typeface="新細明體" panose="02020500000000000000" pitchFamily="18" charset="-120"/>
              </a:rPr>
              <a:t>sw</a:t>
            </a: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  $pr6, 0($pr5)</a:t>
            </a:r>
          </a:p>
          <a:p>
            <a:pPr eaLnBrk="1" hangingPunct="1">
              <a:spcBef>
                <a:spcPct val="0"/>
              </a:spcBef>
              <a:buFontTx/>
              <a:buAutoNum type="arabicPlain" startAt="6"/>
            </a:pPr>
            <a:r>
              <a:rPr lang="en-US" altLang="zh-TW" sz="2400" dirty="0" err="1">
                <a:latin typeface="Times New Roman" panose="02020603050405020304" pitchFamily="18" charset="0"/>
                <a:ea typeface="新細明體" panose="02020500000000000000" pitchFamily="18" charset="-120"/>
              </a:rPr>
              <a:t>lw</a:t>
            </a: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 $pr1, c</a:t>
            </a:r>
          </a:p>
          <a:p>
            <a:pPr eaLnBrk="1" hangingPunct="1">
              <a:spcBef>
                <a:spcPct val="0"/>
              </a:spcBef>
              <a:buFontTx/>
              <a:buAutoNum type="arabicPlain" startAt="6"/>
            </a:pPr>
            <a:r>
              <a:rPr lang="en-US" altLang="zh-TW" sz="2400" dirty="0" err="1">
                <a:latin typeface="Times New Roman" panose="02020603050405020304" pitchFamily="18" charset="0"/>
                <a:ea typeface="新細明體" panose="02020500000000000000" pitchFamily="18" charset="-120"/>
              </a:rPr>
              <a:t>lw</a:t>
            </a: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 $pr7, d</a:t>
            </a:r>
          </a:p>
          <a:p>
            <a:pPr eaLnBrk="1" hangingPunct="1">
              <a:spcBef>
                <a:spcPct val="0"/>
              </a:spcBef>
              <a:buFontTx/>
              <a:buAutoNum type="arabicPlain" startAt="6"/>
            </a:pPr>
            <a:r>
              <a:rPr lang="en-US" altLang="zh-TW" sz="2400" dirty="0" err="1">
                <a:latin typeface="Times New Roman" panose="02020603050405020304" pitchFamily="18" charset="0"/>
                <a:ea typeface="新細明體" panose="02020500000000000000" pitchFamily="18" charset="-120"/>
              </a:rPr>
              <a:t>sw</a:t>
            </a: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 $pr7, 0($pr4)</a:t>
            </a:r>
          </a:p>
          <a:p>
            <a:pPr eaLnBrk="1" hangingPunct="1">
              <a:spcBef>
                <a:spcPct val="0"/>
              </a:spcBef>
              <a:buFontTx/>
              <a:buAutoNum type="arabicPlain" startAt="6"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add $pr8,$pr7,$pr1</a:t>
            </a:r>
          </a:p>
        </p:txBody>
      </p:sp>
      <p:sp>
        <p:nvSpPr>
          <p:cNvPr id="22534" name="Oval 4">
            <a:extLst>
              <a:ext uri="{FF2B5EF4-FFF2-40B4-BE49-F238E27FC236}">
                <a16:creationId xmlns:a16="http://schemas.microsoft.com/office/drawing/2014/main" id="{61B2ACEF-A648-4EA6-BFFF-C1E5EA1978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5102" y="1081885"/>
            <a:ext cx="6096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1</a:t>
            </a:r>
          </a:p>
        </p:txBody>
      </p:sp>
      <p:sp>
        <p:nvSpPr>
          <p:cNvPr id="22535" name="Oval 5">
            <a:extLst>
              <a:ext uri="{FF2B5EF4-FFF2-40B4-BE49-F238E27FC236}">
                <a16:creationId xmlns:a16="http://schemas.microsoft.com/office/drawing/2014/main" id="{7E8CBED0-E091-403E-A833-2B61695E9C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0502" y="1081885"/>
            <a:ext cx="6096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2</a:t>
            </a:r>
          </a:p>
        </p:txBody>
      </p:sp>
      <p:sp>
        <p:nvSpPr>
          <p:cNvPr id="22536" name="Oval 6">
            <a:extLst>
              <a:ext uri="{FF2B5EF4-FFF2-40B4-BE49-F238E27FC236}">
                <a16:creationId xmlns:a16="http://schemas.microsoft.com/office/drawing/2014/main" id="{E9914670-4758-40BB-8A39-3A0BDC9E2F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5102" y="2301085"/>
            <a:ext cx="6096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3</a:t>
            </a:r>
          </a:p>
        </p:txBody>
      </p:sp>
      <p:sp>
        <p:nvSpPr>
          <p:cNvPr id="22537" name="Line 7">
            <a:extLst>
              <a:ext uri="{FF2B5EF4-FFF2-40B4-BE49-F238E27FC236}">
                <a16:creationId xmlns:a16="http://schemas.microsoft.com/office/drawing/2014/main" id="{8CB9E4BF-5420-494B-8A6A-BA73D2500EC0}"/>
              </a:ext>
            </a:extLst>
          </p:cNvPr>
          <p:cNvSpPr>
            <a:spLocks noChangeShapeType="1"/>
          </p:cNvSpPr>
          <p:nvPr/>
        </p:nvSpPr>
        <p:spPr bwMode="auto">
          <a:xfrm>
            <a:off x="6749902" y="1615285"/>
            <a:ext cx="0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2538" name="Line 8">
            <a:extLst>
              <a:ext uri="{FF2B5EF4-FFF2-40B4-BE49-F238E27FC236}">
                <a16:creationId xmlns:a16="http://schemas.microsoft.com/office/drawing/2014/main" id="{6E02DDAB-37C5-4084-A2C4-63F1D107F04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902302" y="1615285"/>
            <a:ext cx="106680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2539" name="Oval 9">
            <a:extLst>
              <a:ext uri="{FF2B5EF4-FFF2-40B4-BE49-F238E27FC236}">
                <a16:creationId xmlns:a16="http://schemas.microsoft.com/office/drawing/2014/main" id="{109AD38A-9AAF-4346-96FD-2248C0A3E9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5102" y="3291685"/>
            <a:ext cx="6096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4</a:t>
            </a:r>
          </a:p>
        </p:txBody>
      </p:sp>
      <p:sp>
        <p:nvSpPr>
          <p:cNvPr id="22540" name="Oval 10">
            <a:extLst>
              <a:ext uri="{FF2B5EF4-FFF2-40B4-BE49-F238E27FC236}">
                <a16:creationId xmlns:a16="http://schemas.microsoft.com/office/drawing/2014/main" id="{0E97620E-E397-4C86-8E27-B470EBA3BA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16702" y="2301085"/>
            <a:ext cx="6096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5</a:t>
            </a:r>
          </a:p>
        </p:txBody>
      </p:sp>
      <p:sp>
        <p:nvSpPr>
          <p:cNvPr id="22541" name="Line 11">
            <a:extLst>
              <a:ext uri="{FF2B5EF4-FFF2-40B4-BE49-F238E27FC236}">
                <a16:creationId xmlns:a16="http://schemas.microsoft.com/office/drawing/2014/main" id="{AA7FB360-37FB-4896-8335-EB1081CA6222}"/>
              </a:ext>
            </a:extLst>
          </p:cNvPr>
          <p:cNvSpPr>
            <a:spLocks noChangeShapeType="1"/>
          </p:cNvSpPr>
          <p:nvPr/>
        </p:nvSpPr>
        <p:spPr bwMode="auto">
          <a:xfrm>
            <a:off x="6902302" y="1539085"/>
            <a:ext cx="106680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2542" name="Line 12">
            <a:extLst>
              <a:ext uri="{FF2B5EF4-FFF2-40B4-BE49-F238E27FC236}">
                <a16:creationId xmlns:a16="http://schemas.microsoft.com/office/drawing/2014/main" id="{426F4EF0-EA48-467B-86B2-6CEC2BCC7F1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121502" y="1615285"/>
            <a:ext cx="0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2543" name="Line 13">
            <a:extLst>
              <a:ext uri="{FF2B5EF4-FFF2-40B4-BE49-F238E27FC236}">
                <a16:creationId xmlns:a16="http://schemas.microsoft.com/office/drawing/2014/main" id="{AE8BCB2E-517A-4D99-B1EB-5B62AD44DFBC}"/>
              </a:ext>
            </a:extLst>
          </p:cNvPr>
          <p:cNvSpPr>
            <a:spLocks noChangeShapeType="1"/>
          </p:cNvSpPr>
          <p:nvPr/>
        </p:nvSpPr>
        <p:spPr bwMode="auto">
          <a:xfrm>
            <a:off x="6749902" y="2834485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2544" name="Oval 14">
            <a:extLst>
              <a:ext uri="{FF2B5EF4-FFF2-40B4-BE49-F238E27FC236}">
                <a16:creationId xmlns:a16="http://schemas.microsoft.com/office/drawing/2014/main" id="{547E721C-1A63-4173-B96D-BF5CA1A1EA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5102" y="4358485"/>
            <a:ext cx="6096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6</a:t>
            </a:r>
          </a:p>
        </p:txBody>
      </p:sp>
      <p:sp>
        <p:nvSpPr>
          <p:cNvPr id="22545" name="Line 15">
            <a:extLst>
              <a:ext uri="{FF2B5EF4-FFF2-40B4-BE49-F238E27FC236}">
                <a16:creationId xmlns:a16="http://schemas.microsoft.com/office/drawing/2014/main" id="{CBBF2D0A-D192-4D2D-80D8-77042DD49704}"/>
              </a:ext>
            </a:extLst>
          </p:cNvPr>
          <p:cNvSpPr>
            <a:spLocks noChangeShapeType="1"/>
          </p:cNvSpPr>
          <p:nvPr/>
        </p:nvSpPr>
        <p:spPr bwMode="auto">
          <a:xfrm>
            <a:off x="6749902" y="3825085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2546" name="Oval 16">
            <a:extLst>
              <a:ext uri="{FF2B5EF4-FFF2-40B4-BE49-F238E27FC236}">
                <a16:creationId xmlns:a16="http://schemas.microsoft.com/office/drawing/2014/main" id="{C9D7BDBB-1992-4B7E-B64F-A359314FFF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5102" y="5425285"/>
            <a:ext cx="6096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7</a:t>
            </a:r>
          </a:p>
        </p:txBody>
      </p:sp>
      <p:sp>
        <p:nvSpPr>
          <p:cNvPr id="22547" name="Line 17">
            <a:extLst>
              <a:ext uri="{FF2B5EF4-FFF2-40B4-BE49-F238E27FC236}">
                <a16:creationId xmlns:a16="http://schemas.microsoft.com/office/drawing/2014/main" id="{F79AAF45-0642-43C8-A487-04D3BBD905BA}"/>
              </a:ext>
            </a:extLst>
          </p:cNvPr>
          <p:cNvSpPr>
            <a:spLocks noChangeShapeType="1"/>
          </p:cNvSpPr>
          <p:nvPr/>
        </p:nvSpPr>
        <p:spPr bwMode="auto">
          <a:xfrm>
            <a:off x="6749902" y="4891885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2548" name="Line 18">
            <a:extLst>
              <a:ext uri="{FF2B5EF4-FFF2-40B4-BE49-F238E27FC236}">
                <a16:creationId xmlns:a16="http://schemas.microsoft.com/office/drawing/2014/main" id="{946932D9-A2F5-44EC-89B7-6F79D5600B1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902302" y="2834485"/>
            <a:ext cx="1219200" cy="2590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2549" name="Oval 19">
            <a:extLst>
              <a:ext uri="{FF2B5EF4-FFF2-40B4-BE49-F238E27FC236}">
                <a16:creationId xmlns:a16="http://schemas.microsoft.com/office/drawing/2014/main" id="{F705E3FB-79E0-4956-8AF1-06879D2DFA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45302" y="3367885"/>
            <a:ext cx="6096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8</a:t>
            </a:r>
          </a:p>
        </p:txBody>
      </p:sp>
      <p:sp>
        <p:nvSpPr>
          <p:cNvPr id="22550" name="Line 20">
            <a:extLst>
              <a:ext uri="{FF2B5EF4-FFF2-40B4-BE49-F238E27FC236}">
                <a16:creationId xmlns:a16="http://schemas.microsoft.com/office/drawing/2014/main" id="{ACAB16E8-3347-4433-B858-62ED4A4D1EC1}"/>
              </a:ext>
            </a:extLst>
          </p:cNvPr>
          <p:cNvSpPr>
            <a:spLocks noChangeShapeType="1"/>
          </p:cNvSpPr>
          <p:nvPr/>
        </p:nvSpPr>
        <p:spPr bwMode="auto">
          <a:xfrm>
            <a:off x="8197702" y="2834485"/>
            <a:ext cx="152400" cy="533400"/>
          </a:xfrm>
          <a:prstGeom prst="line">
            <a:avLst/>
          </a:prstGeom>
          <a:noFill/>
          <a:ln w="12700">
            <a:solidFill>
              <a:schemeClr val="tx1"/>
            </a:solidFill>
            <a:prstDash val="lgDash"/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2551" name="Line 21">
            <a:extLst>
              <a:ext uri="{FF2B5EF4-FFF2-40B4-BE49-F238E27FC236}">
                <a16:creationId xmlns:a16="http://schemas.microsoft.com/office/drawing/2014/main" id="{FFB52BD2-D52A-43C6-994B-1EF2C08AF725}"/>
              </a:ext>
            </a:extLst>
          </p:cNvPr>
          <p:cNvSpPr>
            <a:spLocks noChangeShapeType="1"/>
          </p:cNvSpPr>
          <p:nvPr/>
        </p:nvSpPr>
        <p:spPr bwMode="auto">
          <a:xfrm>
            <a:off x="6978502" y="2758285"/>
            <a:ext cx="1143000" cy="685800"/>
          </a:xfrm>
          <a:prstGeom prst="line">
            <a:avLst/>
          </a:prstGeom>
          <a:noFill/>
          <a:ln w="12700">
            <a:solidFill>
              <a:schemeClr val="tx1"/>
            </a:solidFill>
            <a:prstDash val="lgDash"/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2552" name="Oval 22">
            <a:extLst>
              <a:ext uri="{FF2B5EF4-FFF2-40B4-BE49-F238E27FC236}">
                <a16:creationId xmlns:a16="http://schemas.microsoft.com/office/drawing/2014/main" id="{7FA17DF7-4A37-4581-80F8-C28152F483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1502" y="4434685"/>
            <a:ext cx="6096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10</a:t>
            </a:r>
          </a:p>
        </p:txBody>
      </p:sp>
      <p:sp>
        <p:nvSpPr>
          <p:cNvPr id="22553" name="Line 23">
            <a:extLst>
              <a:ext uri="{FF2B5EF4-FFF2-40B4-BE49-F238E27FC236}">
                <a16:creationId xmlns:a16="http://schemas.microsoft.com/office/drawing/2014/main" id="{25753328-FB37-4906-A4D5-9C58CFB3116A}"/>
              </a:ext>
            </a:extLst>
          </p:cNvPr>
          <p:cNvSpPr>
            <a:spLocks noChangeShapeType="1"/>
          </p:cNvSpPr>
          <p:nvPr/>
        </p:nvSpPr>
        <p:spPr bwMode="auto">
          <a:xfrm>
            <a:off x="7054702" y="3672685"/>
            <a:ext cx="121920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2554" name="Oval 24">
            <a:extLst>
              <a:ext uri="{FF2B5EF4-FFF2-40B4-BE49-F238E27FC236}">
                <a16:creationId xmlns:a16="http://schemas.microsoft.com/office/drawing/2014/main" id="{E91B0F9D-F31B-4454-8DDB-82B7415883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12102" y="2301085"/>
            <a:ext cx="6096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9</a:t>
            </a:r>
          </a:p>
        </p:txBody>
      </p:sp>
      <p:sp>
        <p:nvSpPr>
          <p:cNvPr id="22555" name="Line 25">
            <a:extLst>
              <a:ext uri="{FF2B5EF4-FFF2-40B4-BE49-F238E27FC236}">
                <a16:creationId xmlns:a16="http://schemas.microsoft.com/office/drawing/2014/main" id="{57BEA25F-ACBA-406D-BFC3-22821A6BC80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578702" y="2910685"/>
            <a:ext cx="838200" cy="1524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2556" name="Oval 26">
            <a:extLst>
              <a:ext uri="{FF2B5EF4-FFF2-40B4-BE49-F238E27FC236}">
                <a16:creationId xmlns:a16="http://schemas.microsoft.com/office/drawing/2014/main" id="{A2FA77E4-C0A8-43EB-AEED-F2799D779A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64502" y="4434685"/>
            <a:ext cx="6096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11</a:t>
            </a:r>
          </a:p>
        </p:txBody>
      </p:sp>
      <p:sp>
        <p:nvSpPr>
          <p:cNvPr id="22557" name="Line 27">
            <a:extLst>
              <a:ext uri="{FF2B5EF4-FFF2-40B4-BE49-F238E27FC236}">
                <a16:creationId xmlns:a16="http://schemas.microsoft.com/office/drawing/2014/main" id="{1EFD7C9A-337D-4D69-A2C6-A8E513B74D4C}"/>
              </a:ext>
            </a:extLst>
          </p:cNvPr>
          <p:cNvSpPr>
            <a:spLocks noChangeShapeType="1"/>
          </p:cNvSpPr>
          <p:nvPr/>
        </p:nvSpPr>
        <p:spPr bwMode="auto">
          <a:xfrm>
            <a:off x="8502502" y="3901285"/>
            <a:ext cx="914400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2558" name="Line 28">
            <a:extLst>
              <a:ext uri="{FF2B5EF4-FFF2-40B4-BE49-F238E27FC236}">
                <a16:creationId xmlns:a16="http://schemas.microsoft.com/office/drawing/2014/main" id="{D9A7150D-EBD9-4B10-9B76-AE74CDE6927C}"/>
              </a:ext>
            </a:extLst>
          </p:cNvPr>
          <p:cNvSpPr>
            <a:spLocks noChangeShapeType="1"/>
          </p:cNvSpPr>
          <p:nvPr/>
        </p:nvSpPr>
        <p:spPr bwMode="auto">
          <a:xfrm>
            <a:off x="9416902" y="2910685"/>
            <a:ext cx="76200" cy="1524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2559" name="Freeform 29">
            <a:extLst>
              <a:ext uri="{FF2B5EF4-FFF2-40B4-BE49-F238E27FC236}">
                <a16:creationId xmlns:a16="http://schemas.microsoft.com/office/drawing/2014/main" id="{2720466E-4B49-4E8E-94CD-050D9700CA77}"/>
              </a:ext>
            </a:extLst>
          </p:cNvPr>
          <p:cNvSpPr>
            <a:spLocks/>
          </p:cNvSpPr>
          <p:nvPr/>
        </p:nvSpPr>
        <p:spPr bwMode="auto">
          <a:xfrm>
            <a:off x="6826102" y="3291685"/>
            <a:ext cx="1447800" cy="2133600"/>
          </a:xfrm>
          <a:custGeom>
            <a:avLst/>
            <a:gdLst>
              <a:gd name="T0" fmla="*/ 0 w 912"/>
              <a:gd name="T1" fmla="*/ 2147483646 h 1344"/>
              <a:gd name="T2" fmla="*/ 2147483646 w 912"/>
              <a:gd name="T3" fmla="*/ 2147483646 h 1344"/>
              <a:gd name="T4" fmla="*/ 2147483646 w 912"/>
              <a:gd name="T5" fmla="*/ 2147483646 h 1344"/>
              <a:gd name="T6" fmla="*/ 2147483646 w 912"/>
              <a:gd name="T7" fmla="*/ 2147483646 h 1344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912" h="1344">
                <a:moveTo>
                  <a:pt x="0" y="1344"/>
                </a:moveTo>
                <a:cubicBezTo>
                  <a:pt x="64" y="1088"/>
                  <a:pt x="128" y="832"/>
                  <a:pt x="240" y="624"/>
                </a:cubicBezTo>
                <a:cubicBezTo>
                  <a:pt x="352" y="416"/>
                  <a:pt x="560" y="192"/>
                  <a:pt x="672" y="96"/>
                </a:cubicBezTo>
                <a:cubicBezTo>
                  <a:pt x="784" y="0"/>
                  <a:pt x="848" y="24"/>
                  <a:pt x="912" y="48"/>
                </a:cubicBezTo>
              </a:path>
            </a:pathLst>
          </a:custGeom>
          <a:noFill/>
          <a:ln w="38100" cap="flat" cmpd="sng">
            <a:solidFill>
              <a:srgbClr val="9933FF"/>
            </a:solidFill>
            <a:prstDash val="lgDash"/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2560" name="Freeform 30">
            <a:extLst>
              <a:ext uri="{FF2B5EF4-FFF2-40B4-BE49-F238E27FC236}">
                <a16:creationId xmlns:a16="http://schemas.microsoft.com/office/drawing/2014/main" id="{D34C8C59-5C03-4E85-A08C-9384BD316827}"/>
              </a:ext>
            </a:extLst>
          </p:cNvPr>
          <p:cNvSpPr>
            <a:spLocks/>
          </p:cNvSpPr>
          <p:nvPr/>
        </p:nvSpPr>
        <p:spPr bwMode="auto">
          <a:xfrm>
            <a:off x="6826102" y="2618585"/>
            <a:ext cx="2286000" cy="2806700"/>
          </a:xfrm>
          <a:custGeom>
            <a:avLst/>
            <a:gdLst>
              <a:gd name="T0" fmla="*/ 0 w 1440"/>
              <a:gd name="T1" fmla="*/ 2147483646 h 1768"/>
              <a:gd name="T2" fmla="*/ 2147483646 w 1440"/>
              <a:gd name="T3" fmla="*/ 2147483646 h 1768"/>
              <a:gd name="T4" fmla="*/ 2147483646 w 1440"/>
              <a:gd name="T5" fmla="*/ 2147483646 h 1768"/>
              <a:gd name="T6" fmla="*/ 2147483646 w 1440"/>
              <a:gd name="T7" fmla="*/ 2147483646 h 1768"/>
              <a:gd name="T8" fmla="*/ 2147483646 w 1440"/>
              <a:gd name="T9" fmla="*/ 2147483646 h 1768"/>
              <a:gd name="T10" fmla="*/ 2147483646 w 1440"/>
              <a:gd name="T11" fmla="*/ 2147483646 h 176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440" h="1768">
                <a:moveTo>
                  <a:pt x="0" y="1768"/>
                </a:moveTo>
                <a:cubicBezTo>
                  <a:pt x="140" y="1316"/>
                  <a:pt x="280" y="864"/>
                  <a:pt x="384" y="616"/>
                </a:cubicBezTo>
                <a:cubicBezTo>
                  <a:pt x="488" y="368"/>
                  <a:pt x="504" y="376"/>
                  <a:pt x="624" y="280"/>
                </a:cubicBezTo>
                <a:cubicBezTo>
                  <a:pt x="744" y="184"/>
                  <a:pt x="984" y="80"/>
                  <a:pt x="1104" y="40"/>
                </a:cubicBezTo>
                <a:cubicBezTo>
                  <a:pt x="1224" y="0"/>
                  <a:pt x="1288" y="40"/>
                  <a:pt x="1344" y="40"/>
                </a:cubicBezTo>
                <a:cubicBezTo>
                  <a:pt x="1400" y="40"/>
                  <a:pt x="1420" y="40"/>
                  <a:pt x="1440" y="40"/>
                </a:cubicBezTo>
              </a:path>
            </a:pathLst>
          </a:custGeom>
          <a:noFill/>
          <a:ln w="38100" cap="flat" cmpd="sng">
            <a:solidFill>
              <a:srgbClr val="9933FF"/>
            </a:solidFill>
            <a:prstDash val="lgDash"/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2561" name="Line 31">
            <a:extLst>
              <a:ext uri="{FF2B5EF4-FFF2-40B4-BE49-F238E27FC236}">
                <a16:creationId xmlns:a16="http://schemas.microsoft.com/office/drawing/2014/main" id="{F5BD2BB7-4457-4A9E-8B1F-4683C1B8C692}"/>
              </a:ext>
            </a:extLst>
          </p:cNvPr>
          <p:cNvSpPr>
            <a:spLocks noChangeShapeType="1"/>
          </p:cNvSpPr>
          <p:nvPr/>
        </p:nvSpPr>
        <p:spPr bwMode="auto">
          <a:xfrm>
            <a:off x="8350102" y="3901285"/>
            <a:ext cx="0" cy="533400"/>
          </a:xfrm>
          <a:prstGeom prst="line">
            <a:avLst/>
          </a:prstGeom>
          <a:noFill/>
          <a:ln w="38100">
            <a:solidFill>
              <a:srgbClr val="9933FF"/>
            </a:solidFill>
            <a:prstDash val="dash"/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4F890193-4B22-4B10-AB35-F2DFF54CF011}"/>
              </a:ext>
            </a:extLst>
          </p:cNvPr>
          <p:cNvSpPr/>
          <p:nvPr/>
        </p:nvSpPr>
        <p:spPr bwMode="auto">
          <a:xfrm>
            <a:off x="3429001" y="3555209"/>
            <a:ext cx="1266824" cy="692151"/>
          </a:xfrm>
          <a:prstGeom prst="ellipse">
            <a:avLst/>
          </a:prstGeom>
          <a:noFill/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日期版面配置區 2">
            <a:extLst>
              <a:ext uri="{FF2B5EF4-FFF2-40B4-BE49-F238E27FC236}">
                <a16:creationId xmlns:a16="http://schemas.microsoft.com/office/drawing/2014/main" id="{5D071F7B-EFD4-4C43-A6B0-D91BB47A353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TW" sz="1400"/>
              <a:t>2014/01/2</a:t>
            </a:r>
          </a:p>
        </p:txBody>
      </p:sp>
      <p:sp>
        <p:nvSpPr>
          <p:cNvPr id="22531" name="投影片編號版面配置區 4">
            <a:extLst>
              <a:ext uri="{FF2B5EF4-FFF2-40B4-BE49-F238E27FC236}">
                <a16:creationId xmlns:a16="http://schemas.microsoft.com/office/drawing/2014/main" id="{144E06D8-1613-4DCD-A7EE-1847CBF8C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21302" y="6034885"/>
            <a:ext cx="21336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C617185-153E-45BC-B4C7-289A43A87FD1}" type="slidenum">
              <a:rPr lang="zh-TW" altLang="en-US" smtClean="0"/>
              <a:pPr>
                <a:spcBef>
                  <a:spcPct val="0"/>
                </a:spcBef>
                <a:buFontTx/>
                <a:buNone/>
              </a:pPr>
              <a:t>8</a:t>
            </a:fld>
            <a:endParaRPr lang="en-US" altLang="zh-TW" sz="1400"/>
          </a:p>
        </p:txBody>
      </p:sp>
      <p:sp>
        <p:nvSpPr>
          <p:cNvPr id="22532" name="Rectangle 2">
            <a:extLst>
              <a:ext uri="{FF2B5EF4-FFF2-40B4-BE49-F238E27FC236}">
                <a16:creationId xmlns:a16="http://schemas.microsoft.com/office/drawing/2014/main" id="{A14B8A44-4371-4F8B-86FA-FE846C7365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49867" y="144466"/>
            <a:ext cx="10902950" cy="692151"/>
          </a:xfrm>
        </p:spPr>
        <p:txBody>
          <a:bodyPr/>
          <a:lstStyle/>
          <a:p>
            <a:pPr eaLnBrk="1" hangingPunct="1"/>
            <a:r>
              <a:rPr lang="en-US" altLang="zh-TW" sz="4000" dirty="0">
                <a:ea typeface="新細明體" panose="02020500000000000000" pitchFamily="18" charset="-120"/>
              </a:rPr>
              <a:t>Memory Dependency (due to potential aliasing</a:t>
            </a:r>
            <a:r>
              <a:rPr lang="en-US" altLang="zh-TW" sz="3200" dirty="0">
                <a:ea typeface="新細明體" panose="02020500000000000000" pitchFamily="18" charset="-120"/>
              </a:rPr>
              <a:t>)</a:t>
            </a:r>
          </a:p>
        </p:txBody>
      </p:sp>
      <p:sp>
        <p:nvSpPr>
          <p:cNvPr id="22533" name="Text Box 3">
            <a:extLst>
              <a:ext uri="{FF2B5EF4-FFF2-40B4-BE49-F238E27FC236}">
                <a16:creationId xmlns:a16="http://schemas.microsoft.com/office/drawing/2014/main" id="{A07DE986-88B8-4F06-BB34-FF03BEA8DE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0925" y="1445716"/>
            <a:ext cx="3201517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1	</a:t>
            </a:r>
            <a:r>
              <a:rPr lang="en-US" altLang="zh-TW" sz="2400" dirty="0" err="1">
                <a:latin typeface="Times New Roman" panose="02020603050405020304" pitchFamily="18" charset="0"/>
                <a:ea typeface="新細明體" panose="02020500000000000000" pitchFamily="18" charset="-120"/>
              </a:rPr>
              <a:t>lw</a:t>
            </a: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 $pr1, a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2	</a:t>
            </a:r>
            <a:r>
              <a:rPr lang="en-US" altLang="zh-TW" sz="2400" dirty="0" err="1">
                <a:latin typeface="Times New Roman" panose="02020603050405020304" pitchFamily="18" charset="0"/>
                <a:ea typeface="新細明體" panose="02020500000000000000" pitchFamily="18" charset="-120"/>
              </a:rPr>
              <a:t>lw</a:t>
            </a: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 $pr2, b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3	add $pr3, $pr1,$pr2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4	</a:t>
            </a:r>
            <a:r>
              <a:rPr lang="en-US" altLang="zh-TW" sz="2400" dirty="0" err="1">
                <a:latin typeface="Times New Roman" panose="02020603050405020304" pitchFamily="18" charset="0"/>
                <a:ea typeface="新細明體" panose="02020500000000000000" pitchFamily="18" charset="-120"/>
              </a:rPr>
              <a:t>mul</a:t>
            </a: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 $pr4, $pr3, 3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5	</a:t>
            </a:r>
            <a:r>
              <a:rPr lang="en-US" altLang="zh-TW" sz="2400" dirty="0" err="1">
                <a:latin typeface="Times New Roman" panose="02020603050405020304" pitchFamily="18" charset="0"/>
                <a:ea typeface="新細明體" panose="02020500000000000000" pitchFamily="18" charset="-120"/>
              </a:rPr>
              <a:t>mul</a:t>
            </a: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 $pr5, $pr1, $pr2</a:t>
            </a:r>
          </a:p>
          <a:p>
            <a:pPr eaLnBrk="1" hangingPunct="1">
              <a:spcBef>
                <a:spcPct val="0"/>
              </a:spcBef>
              <a:buFontTx/>
              <a:buAutoNum type="arabicPlain" startAt="6"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add $pr6, $pr4, 2</a:t>
            </a:r>
          </a:p>
          <a:p>
            <a:pPr eaLnBrk="1" hangingPunct="1">
              <a:spcBef>
                <a:spcPct val="0"/>
              </a:spcBef>
              <a:buFontTx/>
              <a:buAutoNum type="arabicPlain" startAt="6"/>
            </a:pPr>
            <a:r>
              <a:rPr lang="en-US" altLang="zh-TW" sz="2400" dirty="0" err="1">
                <a:latin typeface="Times New Roman" panose="02020603050405020304" pitchFamily="18" charset="0"/>
                <a:ea typeface="新細明體" panose="02020500000000000000" pitchFamily="18" charset="-120"/>
              </a:rPr>
              <a:t>sw</a:t>
            </a: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  $pr6, 0($pr5)</a:t>
            </a:r>
          </a:p>
          <a:p>
            <a:pPr eaLnBrk="1" hangingPunct="1">
              <a:spcBef>
                <a:spcPct val="0"/>
              </a:spcBef>
              <a:buFontTx/>
              <a:buAutoNum type="arabicPlain" startAt="6"/>
            </a:pPr>
            <a:r>
              <a:rPr lang="en-US" altLang="zh-TW" sz="2400" dirty="0" err="1">
                <a:latin typeface="Times New Roman" panose="02020603050405020304" pitchFamily="18" charset="0"/>
                <a:ea typeface="新細明體" panose="02020500000000000000" pitchFamily="18" charset="-120"/>
              </a:rPr>
              <a:t>lw</a:t>
            </a: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 $pr1, c</a:t>
            </a:r>
          </a:p>
          <a:p>
            <a:pPr eaLnBrk="1" hangingPunct="1">
              <a:spcBef>
                <a:spcPct val="0"/>
              </a:spcBef>
              <a:buFontTx/>
              <a:buAutoNum type="arabicPlain" startAt="6"/>
            </a:pPr>
            <a:r>
              <a:rPr lang="en-US" altLang="zh-TW" sz="2400" dirty="0" err="1">
                <a:latin typeface="Times New Roman" panose="02020603050405020304" pitchFamily="18" charset="0"/>
                <a:ea typeface="新細明體" panose="02020500000000000000" pitchFamily="18" charset="-120"/>
              </a:rPr>
              <a:t>lw</a:t>
            </a: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 $pr7, d</a:t>
            </a:r>
          </a:p>
          <a:p>
            <a:pPr eaLnBrk="1" hangingPunct="1">
              <a:spcBef>
                <a:spcPct val="0"/>
              </a:spcBef>
              <a:buFontTx/>
              <a:buAutoNum type="arabicPlain" startAt="6"/>
            </a:pPr>
            <a:r>
              <a:rPr lang="en-US" altLang="zh-TW" sz="2400" dirty="0" err="1">
                <a:latin typeface="Times New Roman" panose="02020603050405020304" pitchFamily="18" charset="0"/>
                <a:ea typeface="新細明體" panose="02020500000000000000" pitchFamily="18" charset="-120"/>
              </a:rPr>
              <a:t>sw</a:t>
            </a: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 $pr7, 0($pr4)</a:t>
            </a:r>
          </a:p>
          <a:p>
            <a:pPr eaLnBrk="1" hangingPunct="1">
              <a:spcBef>
                <a:spcPct val="0"/>
              </a:spcBef>
              <a:buFontTx/>
              <a:buAutoNum type="arabicPlain" startAt="6"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add $pr8,$pr7,$pr1</a:t>
            </a:r>
          </a:p>
        </p:txBody>
      </p:sp>
      <p:sp>
        <p:nvSpPr>
          <p:cNvPr id="22534" name="Oval 4">
            <a:extLst>
              <a:ext uri="{FF2B5EF4-FFF2-40B4-BE49-F238E27FC236}">
                <a16:creationId xmlns:a16="http://schemas.microsoft.com/office/drawing/2014/main" id="{61B2ACEF-A648-4EA6-BFFF-C1E5EA1978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5102" y="1081885"/>
            <a:ext cx="6096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1</a:t>
            </a:r>
          </a:p>
        </p:txBody>
      </p:sp>
      <p:sp>
        <p:nvSpPr>
          <p:cNvPr id="22535" name="Oval 5">
            <a:extLst>
              <a:ext uri="{FF2B5EF4-FFF2-40B4-BE49-F238E27FC236}">
                <a16:creationId xmlns:a16="http://schemas.microsoft.com/office/drawing/2014/main" id="{7E8CBED0-E091-403E-A833-2B61695E9C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0502" y="1081885"/>
            <a:ext cx="6096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2</a:t>
            </a:r>
          </a:p>
        </p:txBody>
      </p:sp>
      <p:sp>
        <p:nvSpPr>
          <p:cNvPr id="22536" name="Oval 6">
            <a:extLst>
              <a:ext uri="{FF2B5EF4-FFF2-40B4-BE49-F238E27FC236}">
                <a16:creationId xmlns:a16="http://schemas.microsoft.com/office/drawing/2014/main" id="{E9914670-4758-40BB-8A39-3A0BDC9E2F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5102" y="2301085"/>
            <a:ext cx="6096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3</a:t>
            </a:r>
          </a:p>
        </p:txBody>
      </p:sp>
      <p:sp>
        <p:nvSpPr>
          <p:cNvPr id="22537" name="Line 7">
            <a:extLst>
              <a:ext uri="{FF2B5EF4-FFF2-40B4-BE49-F238E27FC236}">
                <a16:creationId xmlns:a16="http://schemas.microsoft.com/office/drawing/2014/main" id="{8CB9E4BF-5420-494B-8A6A-BA73D2500EC0}"/>
              </a:ext>
            </a:extLst>
          </p:cNvPr>
          <p:cNvSpPr>
            <a:spLocks noChangeShapeType="1"/>
          </p:cNvSpPr>
          <p:nvPr/>
        </p:nvSpPr>
        <p:spPr bwMode="auto">
          <a:xfrm>
            <a:off x="6749902" y="1615285"/>
            <a:ext cx="0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2538" name="Line 8">
            <a:extLst>
              <a:ext uri="{FF2B5EF4-FFF2-40B4-BE49-F238E27FC236}">
                <a16:creationId xmlns:a16="http://schemas.microsoft.com/office/drawing/2014/main" id="{6E02DDAB-37C5-4084-A2C4-63F1D107F04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902302" y="1615285"/>
            <a:ext cx="106680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2539" name="Oval 9">
            <a:extLst>
              <a:ext uri="{FF2B5EF4-FFF2-40B4-BE49-F238E27FC236}">
                <a16:creationId xmlns:a16="http://schemas.microsoft.com/office/drawing/2014/main" id="{109AD38A-9AAF-4346-96FD-2248C0A3E9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5102" y="3291685"/>
            <a:ext cx="6096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4</a:t>
            </a:r>
          </a:p>
        </p:txBody>
      </p:sp>
      <p:sp>
        <p:nvSpPr>
          <p:cNvPr id="22540" name="Oval 10">
            <a:extLst>
              <a:ext uri="{FF2B5EF4-FFF2-40B4-BE49-F238E27FC236}">
                <a16:creationId xmlns:a16="http://schemas.microsoft.com/office/drawing/2014/main" id="{0E97620E-E397-4C86-8E27-B470EBA3BA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16702" y="2301085"/>
            <a:ext cx="6096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5</a:t>
            </a:r>
          </a:p>
        </p:txBody>
      </p:sp>
      <p:sp>
        <p:nvSpPr>
          <p:cNvPr id="22541" name="Line 11">
            <a:extLst>
              <a:ext uri="{FF2B5EF4-FFF2-40B4-BE49-F238E27FC236}">
                <a16:creationId xmlns:a16="http://schemas.microsoft.com/office/drawing/2014/main" id="{AA7FB360-37FB-4896-8335-EB1081CA6222}"/>
              </a:ext>
            </a:extLst>
          </p:cNvPr>
          <p:cNvSpPr>
            <a:spLocks noChangeShapeType="1"/>
          </p:cNvSpPr>
          <p:nvPr/>
        </p:nvSpPr>
        <p:spPr bwMode="auto">
          <a:xfrm>
            <a:off x="6902302" y="1539085"/>
            <a:ext cx="106680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2542" name="Line 12">
            <a:extLst>
              <a:ext uri="{FF2B5EF4-FFF2-40B4-BE49-F238E27FC236}">
                <a16:creationId xmlns:a16="http://schemas.microsoft.com/office/drawing/2014/main" id="{426F4EF0-EA48-467B-86B2-6CEC2BCC7F1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121502" y="1615285"/>
            <a:ext cx="0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2543" name="Line 13">
            <a:extLst>
              <a:ext uri="{FF2B5EF4-FFF2-40B4-BE49-F238E27FC236}">
                <a16:creationId xmlns:a16="http://schemas.microsoft.com/office/drawing/2014/main" id="{AE8BCB2E-517A-4D99-B1EB-5B62AD44DFBC}"/>
              </a:ext>
            </a:extLst>
          </p:cNvPr>
          <p:cNvSpPr>
            <a:spLocks noChangeShapeType="1"/>
          </p:cNvSpPr>
          <p:nvPr/>
        </p:nvSpPr>
        <p:spPr bwMode="auto">
          <a:xfrm>
            <a:off x="6749902" y="2834485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2544" name="Oval 14">
            <a:extLst>
              <a:ext uri="{FF2B5EF4-FFF2-40B4-BE49-F238E27FC236}">
                <a16:creationId xmlns:a16="http://schemas.microsoft.com/office/drawing/2014/main" id="{547E721C-1A63-4173-B96D-BF5CA1A1EA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5102" y="4358485"/>
            <a:ext cx="6096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6</a:t>
            </a:r>
          </a:p>
        </p:txBody>
      </p:sp>
      <p:sp>
        <p:nvSpPr>
          <p:cNvPr id="22545" name="Line 15">
            <a:extLst>
              <a:ext uri="{FF2B5EF4-FFF2-40B4-BE49-F238E27FC236}">
                <a16:creationId xmlns:a16="http://schemas.microsoft.com/office/drawing/2014/main" id="{CBBF2D0A-D192-4D2D-80D8-77042DD49704}"/>
              </a:ext>
            </a:extLst>
          </p:cNvPr>
          <p:cNvSpPr>
            <a:spLocks noChangeShapeType="1"/>
          </p:cNvSpPr>
          <p:nvPr/>
        </p:nvSpPr>
        <p:spPr bwMode="auto">
          <a:xfrm>
            <a:off x="6749902" y="3825085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2546" name="Oval 16">
            <a:extLst>
              <a:ext uri="{FF2B5EF4-FFF2-40B4-BE49-F238E27FC236}">
                <a16:creationId xmlns:a16="http://schemas.microsoft.com/office/drawing/2014/main" id="{C9D7BDBB-1992-4B7E-B64F-A359314FFF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5102" y="5425285"/>
            <a:ext cx="6096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7</a:t>
            </a:r>
          </a:p>
        </p:txBody>
      </p:sp>
      <p:sp>
        <p:nvSpPr>
          <p:cNvPr id="22547" name="Line 17">
            <a:extLst>
              <a:ext uri="{FF2B5EF4-FFF2-40B4-BE49-F238E27FC236}">
                <a16:creationId xmlns:a16="http://schemas.microsoft.com/office/drawing/2014/main" id="{F79AAF45-0642-43C8-A487-04D3BBD905BA}"/>
              </a:ext>
            </a:extLst>
          </p:cNvPr>
          <p:cNvSpPr>
            <a:spLocks noChangeShapeType="1"/>
          </p:cNvSpPr>
          <p:nvPr/>
        </p:nvSpPr>
        <p:spPr bwMode="auto">
          <a:xfrm>
            <a:off x="6749902" y="4891885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2548" name="Line 18">
            <a:extLst>
              <a:ext uri="{FF2B5EF4-FFF2-40B4-BE49-F238E27FC236}">
                <a16:creationId xmlns:a16="http://schemas.microsoft.com/office/drawing/2014/main" id="{946932D9-A2F5-44EC-89B7-6F79D5600B1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902302" y="2834485"/>
            <a:ext cx="1219200" cy="2590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2549" name="Oval 19">
            <a:extLst>
              <a:ext uri="{FF2B5EF4-FFF2-40B4-BE49-F238E27FC236}">
                <a16:creationId xmlns:a16="http://schemas.microsoft.com/office/drawing/2014/main" id="{F705E3FB-79E0-4956-8AF1-06879D2DFA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45302" y="3367885"/>
            <a:ext cx="6096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8</a:t>
            </a:r>
          </a:p>
        </p:txBody>
      </p:sp>
      <p:sp>
        <p:nvSpPr>
          <p:cNvPr id="22550" name="Line 20">
            <a:extLst>
              <a:ext uri="{FF2B5EF4-FFF2-40B4-BE49-F238E27FC236}">
                <a16:creationId xmlns:a16="http://schemas.microsoft.com/office/drawing/2014/main" id="{ACAB16E8-3347-4433-B858-62ED4A4D1EC1}"/>
              </a:ext>
            </a:extLst>
          </p:cNvPr>
          <p:cNvSpPr>
            <a:spLocks noChangeShapeType="1"/>
          </p:cNvSpPr>
          <p:nvPr/>
        </p:nvSpPr>
        <p:spPr bwMode="auto">
          <a:xfrm>
            <a:off x="8197702" y="2834485"/>
            <a:ext cx="152400" cy="533400"/>
          </a:xfrm>
          <a:prstGeom prst="line">
            <a:avLst/>
          </a:prstGeom>
          <a:noFill/>
          <a:ln w="12700">
            <a:solidFill>
              <a:schemeClr val="tx1"/>
            </a:solidFill>
            <a:prstDash val="lgDash"/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2551" name="Line 21">
            <a:extLst>
              <a:ext uri="{FF2B5EF4-FFF2-40B4-BE49-F238E27FC236}">
                <a16:creationId xmlns:a16="http://schemas.microsoft.com/office/drawing/2014/main" id="{FFB52BD2-D52A-43C6-994B-1EF2C08AF725}"/>
              </a:ext>
            </a:extLst>
          </p:cNvPr>
          <p:cNvSpPr>
            <a:spLocks noChangeShapeType="1"/>
          </p:cNvSpPr>
          <p:nvPr/>
        </p:nvSpPr>
        <p:spPr bwMode="auto">
          <a:xfrm>
            <a:off x="6978502" y="2758285"/>
            <a:ext cx="1143000" cy="685800"/>
          </a:xfrm>
          <a:prstGeom prst="line">
            <a:avLst/>
          </a:prstGeom>
          <a:noFill/>
          <a:ln w="12700">
            <a:solidFill>
              <a:schemeClr val="tx1"/>
            </a:solidFill>
            <a:prstDash val="lgDash"/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2552" name="Oval 22">
            <a:extLst>
              <a:ext uri="{FF2B5EF4-FFF2-40B4-BE49-F238E27FC236}">
                <a16:creationId xmlns:a16="http://schemas.microsoft.com/office/drawing/2014/main" id="{7FA17DF7-4A37-4581-80F8-C28152F483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1502" y="4434685"/>
            <a:ext cx="6096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10</a:t>
            </a:r>
          </a:p>
        </p:txBody>
      </p:sp>
      <p:sp>
        <p:nvSpPr>
          <p:cNvPr id="22553" name="Line 23">
            <a:extLst>
              <a:ext uri="{FF2B5EF4-FFF2-40B4-BE49-F238E27FC236}">
                <a16:creationId xmlns:a16="http://schemas.microsoft.com/office/drawing/2014/main" id="{25753328-FB37-4906-A4D5-9C58CFB3116A}"/>
              </a:ext>
            </a:extLst>
          </p:cNvPr>
          <p:cNvSpPr>
            <a:spLocks noChangeShapeType="1"/>
          </p:cNvSpPr>
          <p:nvPr/>
        </p:nvSpPr>
        <p:spPr bwMode="auto">
          <a:xfrm>
            <a:off x="7054702" y="3672685"/>
            <a:ext cx="121920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2554" name="Oval 24">
            <a:extLst>
              <a:ext uri="{FF2B5EF4-FFF2-40B4-BE49-F238E27FC236}">
                <a16:creationId xmlns:a16="http://schemas.microsoft.com/office/drawing/2014/main" id="{E91B0F9D-F31B-4454-8DDB-82B7415883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12102" y="2301085"/>
            <a:ext cx="6096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9</a:t>
            </a:r>
          </a:p>
        </p:txBody>
      </p:sp>
      <p:sp>
        <p:nvSpPr>
          <p:cNvPr id="22555" name="Line 25">
            <a:extLst>
              <a:ext uri="{FF2B5EF4-FFF2-40B4-BE49-F238E27FC236}">
                <a16:creationId xmlns:a16="http://schemas.microsoft.com/office/drawing/2014/main" id="{57BEA25F-ACBA-406D-BFC3-22821A6BC80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578702" y="2910685"/>
            <a:ext cx="838200" cy="1524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2556" name="Oval 26">
            <a:extLst>
              <a:ext uri="{FF2B5EF4-FFF2-40B4-BE49-F238E27FC236}">
                <a16:creationId xmlns:a16="http://schemas.microsoft.com/office/drawing/2014/main" id="{A2FA77E4-C0A8-43EB-AEED-F2799D779A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64502" y="4434685"/>
            <a:ext cx="6096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11</a:t>
            </a:r>
          </a:p>
        </p:txBody>
      </p:sp>
      <p:sp>
        <p:nvSpPr>
          <p:cNvPr id="22557" name="Line 27">
            <a:extLst>
              <a:ext uri="{FF2B5EF4-FFF2-40B4-BE49-F238E27FC236}">
                <a16:creationId xmlns:a16="http://schemas.microsoft.com/office/drawing/2014/main" id="{1EFD7C9A-337D-4D69-A2C6-A8E513B74D4C}"/>
              </a:ext>
            </a:extLst>
          </p:cNvPr>
          <p:cNvSpPr>
            <a:spLocks noChangeShapeType="1"/>
          </p:cNvSpPr>
          <p:nvPr/>
        </p:nvSpPr>
        <p:spPr bwMode="auto">
          <a:xfrm>
            <a:off x="8502502" y="3901285"/>
            <a:ext cx="914400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2558" name="Line 28">
            <a:extLst>
              <a:ext uri="{FF2B5EF4-FFF2-40B4-BE49-F238E27FC236}">
                <a16:creationId xmlns:a16="http://schemas.microsoft.com/office/drawing/2014/main" id="{D9A7150D-EBD9-4B10-9B76-AE74CDE6927C}"/>
              </a:ext>
            </a:extLst>
          </p:cNvPr>
          <p:cNvSpPr>
            <a:spLocks noChangeShapeType="1"/>
          </p:cNvSpPr>
          <p:nvPr/>
        </p:nvSpPr>
        <p:spPr bwMode="auto">
          <a:xfrm>
            <a:off x="9416902" y="2910685"/>
            <a:ext cx="76200" cy="1524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2559" name="Freeform 29">
            <a:extLst>
              <a:ext uri="{FF2B5EF4-FFF2-40B4-BE49-F238E27FC236}">
                <a16:creationId xmlns:a16="http://schemas.microsoft.com/office/drawing/2014/main" id="{2720466E-4B49-4E8E-94CD-050D9700CA77}"/>
              </a:ext>
            </a:extLst>
          </p:cNvPr>
          <p:cNvSpPr>
            <a:spLocks/>
          </p:cNvSpPr>
          <p:nvPr/>
        </p:nvSpPr>
        <p:spPr bwMode="auto">
          <a:xfrm>
            <a:off x="6826102" y="3291685"/>
            <a:ext cx="1447800" cy="2133600"/>
          </a:xfrm>
          <a:custGeom>
            <a:avLst/>
            <a:gdLst>
              <a:gd name="T0" fmla="*/ 0 w 912"/>
              <a:gd name="T1" fmla="*/ 2147483646 h 1344"/>
              <a:gd name="T2" fmla="*/ 2147483646 w 912"/>
              <a:gd name="T3" fmla="*/ 2147483646 h 1344"/>
              <a:gd name="T4" fmla="*/ 2147483646 w 912"/>
              <a:gd name="T5" fmla="*/ 2147483646 h 1344"/>
              <a:gd name="T6" fmla="*/ 2147483646 w 912"/>
              <a:gd name="T7" fmla="*/ 2147483646 h 1344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912" h="1344">
                <a:moveTo>
                  <a:pt x="0" y="1344"/>
                </a:moveTo>
                <a:cubicBezTo>
                  <a:pt x="64" y="1088"/>
                  <a:pt x="128" y="832"/>
                  <a:pt x="240" y="624"/>
                </a:cubicBezTo>
                <a:cubicBezTo>
                  <a:pt x="352" y="416"/>
                  <a:pt x="560" y="192"/>
                  <a:pt x="672" y="96"/>
                </a:cubicBezTo>
                <a:cubicBezTo>
                  <a:pt x="784" y="0"/>
                  <a:pt x="848" y="24"/>
                  <a:pt x="912" y="48"/>
                </a:cubicBezTo>
              </a:path>
            </a:pathLst>
          </a:custGeom>
          <a:noFill/>
          <a:ln w="38100" cap="flat" cmpd="sng">
            <a:solidFill>
              <a:srgbClr val="9933FF"/>
            </a:solidFill>
            <a:prstDash val="lgDash"/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2560" name="Freeform 30">
            <a:extLst>
              <a:ext uri="{FF2B5EF4-FFF2-40B4-BE49-F238E27FC236}">
                <a16:creationId xmlns:a16="http://schemas.microsoft.com/office/drawing/2014/main" id="{D34C8C59-5C03-4E85-A08C-9384BD316827}"/>
              </a:ext>
            </a:extLst>
          </p:cNvPr>
          <p:cNvSpPr>
            <a:spLocks/>
          </p:cNvSpPr>
          <p:nvPr/>
        </p:nvSpPr>
        <p:spPr bwMode="auto">
          <a:xfrm>
            <a:off x="6826102" y="2618585"/>
            <a:ext cx="2286000" cy="2806700"/>
          </a:xfrm>
          <a:custGeom>
            <a:avLst/>
            <a:gdLst>
              <a:gd name="T0" fmla="*/ 0 w 1440"/>
              <a:gd name="T1" fmla="*/ 2147483646 h 1768"/>
              <a:gd name="T2" fmla="*/ 2147483646 w 1440"/>
              <a:gd name="T3" fmla="*/ 2147483646 h 1768"/>
              <a:gd name="T4" fmla="*/ 2147483646 w 1440"/>
              <a:gd name="T5" fmla="*/ 2147483646 h 1768"/>
              <a:gd name="T6" fmla="*/ 2147483646 w 1440"/>
              <a:gd name="T7" fmla="*/ 2147483646 h 1768"/>
              <a:gd name="T8" fmla="*/ 2147483646 w 1440"/>
              <a:gd name="T9" fmla="*/ 2147483646 h 1768"/>
              <a:gd name="T10" fmla="*/ 2147483646 w 1440"/>
              <a:gd name="T11" fmla="*/ 2147483646 h 176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440" h="1768">
                <a:moveTo>
                  <a:pt x="0" y="1768"/>
                </a:moveTo>
                <a:cubicBezTo>
                  <a:pt x="140" y="1316"/>
                  <a:pt x="280" y="864"/>
                  <a:pt x="384" y="616"/>
                </a:cubicBezTo>
                <a:cubicBezTo>
                  <a:pt x="488" y="368"/>
                  <a:pt x="504" y="376"/>
                  <a:pt x="624" y="280"/>
                </a:cubicBezTo>
                <a:cubicBezTo>
                  <a:pt x="744" y="184"/>
                  <a:pt x="984" y="80"/>
                  <a:pt x="1104" y="40"/>
                </a:cubicBezTo>
                <a:cubicBezTo>
                  <a:pt x="1224" y="0"/>
                  <a:pt x="1288" y="40"/>
                  <a:pt x="1344" y="40"/>
                </a:cubicBezTo>
                <a:cubicBezTo>
                  <a:pt x="1400" y="40"/>
                  <a:pt x="1420" y="40"/>
                  <a:pt x="1440" y="40"/>
                </a:cubicBezTo>
              </a:path>
            </a:pathLst>
          </a:custGeom>
          <a:noFill/>
          <a:ln w="38100" cap="flat" cmpd="sng">
            <a:solidFill>
              <a:srgbClr val="9933FF"/>
            </a:solidFill>
            <a:prstDash val="lgDash"/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2561" name="Line 31">
            <a:extLst>
              <a:ext uri="{FF2B5EF4-FFF2-40B4-BE49-F238E27FC236}">
                <a16:creationId xmlns:a16="http://schemas.microsoft.com/office/drawing/2014/main" id="{F5BD2BB7-4457-4A9E-8B1F-4683C1B8C692}"/>
              </a:ext>
            </a:extLst>
          </p:cNvPr>
          <p:cNvSpPr>
            <a:spLocks noChangeShapeType="1"/>
          </p:cNvSpPr>
          <p:nvPr/>
        </p:nvSpPr>
        <p:spPr bwMode="auto">
          <a:xfrm>
            <a:off x="8350102" y="3901285"/>
            <a:ext cx="0" cy="533400"/>
          </a:xfrm>
          <a:prstGeom prst="line">
            <a:avLst/>
          </a:prstGeom>
          <a:noFill/>
          <a:ln w="38100">
            <a:solidFill>
              <a:srgbClr val="9933FF"/>
            </a:solidFill>
            <a:prstDash val="dash"/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A8E836A-94FF-4C66-AD46-97518BFA2A54}"/>
              </a:ext>
            </a:extLst>
          </p:cNvPr>
          <p:cNvSpPr txBox="1"/>
          <p:nvPr/>
        </p:nvSpPr>
        <p:spPr>
          <a:xfrm>
            <a:off x="924902" y="1322605"/>
            <a:ext cx="9605515" cy="4401205"/>
          </a:xfrm>
          <a:prstGeom prst="rect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txBody>
          <a:bodyPr wrap="none" rtlCol="0" anchor="ctr" anchorCtr="1">
            <a:spAutoFit/>
          </a:bodyPr>
          <a:lstStyle/>
          <a:p>
            <a:r>
              <a:rPr lang="en-US" sz="2800" dirty="0">
                <a:ea typeface="標楷體" pitchFamily="65" charset="-120"/>
                <a:cs typeface="Calibri" pitchFamily="34" charset="0"/>
              </a:rPr>
              <a:t>Scheduling memory instructions can be quite challenging:</a:t>
            </a:r>
          </a:p>
          <a:p>
            <a:r>
              <a:rPr lang="en-US" sz="2800" dirty="0">
                <a:ea typeface="標楷體" pitchFamily="65" charset="-120"/>
                <a:cs typeface="Calibri" pitchFamily="34" charset="0"/>
              </a:rPr>
              <a:t>	Memory dependencies may be unknown</a:t>
            </a:r>
          </a:p>
          <a:p>
            <a:r>
              <a:rPr lang="en-US" sz="2800" dirty="0">
                <a:ea typeface="標楷體" pitchFamily="65" charset="-120"/>
                <a:cs typeface="Calibri" pitchFamily="34" charset="0"/>
              </a:rPr>
              <a:t>	Memory latencies are often unknown</a:t>
            </a:r>
          </a:p>
          <a:p>
            <a:r>
              <a:rPr lang="en-US" sz="2800" dirty="0">
                <a:ea typeface="標楷體" pitchFamily="65" charset="-120"/>
                <a:cs typeface="Calibri" pitchFamily="34" charset="0"/>
              </a:rPr>
              <a:t>	Speculative load/store may trap</a:t>
            </a:r>
          </a:p>
          <a:p>
            <a:r>
              <a:rPr lang="en-US" sz="2800" dirty="0">
                <a:ea typeface="標楷體" pitchFamily="65" charset="-120"/>
                <a:cs typeface="Calibri" pitchFamily="34" charset="0"/>
              </a:rPr>
              <a:t>	Memory resources are often shared:</a:t>
            </a:r>
          </a:p>
          <a:p>
            <a:r>
              <a:rPr lang="en-US" sz="2800" dirty="0">
                <a:ea typeface="標楷體" pitchFamily="65" charset="-120"/>
                <a:cs typeface="Calibri" pitchFamily="34" charset="0"/>
              </a:rPr>
              <a:t>		DRAM</a:t>
            </a:r>
          </a:p>
          <a:p>
            <a:r>
              <a:rPr lang="en-US" sz="2800" dirty="0">
                <a:ea typeface="標楷體" pitchFamily="65" charset="-120"/>
                <a:cs typeface="Calibri" pitchFamily="34" charset="0"/>
              </a:rPr>
              <a:t>		Bus</a:t>
            </a:r>
          </a:p>
          <a:p>
            <a:r>
              <a:rPr lang="en-US" sz="2800" dirty="0">
                <a:ea typeface="標楷體" pitchFamily="65" charset="-120"/>
                <a:cs typeface="Calibri" pitchFamily="34" charset="0"/>
              </a:rPr>
              <a:t>		Interconnection network</a:t>
            </a:r>
          </a:p>
          <a:p>
            <a:r>
              <a:rPr lang="en-US" sz="2800" dirty="0">
                <a:ea typeface="標楷體" pitchFamily="65" charset="-120"/>
                <a:cs typeface="Calibri" pitchFamily="34" charset="0"/>
              </a:rPr>
              <a:t>	Volatile variables (in OS kernels)</a:t>
            </a:r>
          </a:p>
          <a:p>
            <a:r>
              <a:rPr lang="en-US" sz="2800" dirty="0">
                <a:ea typeface="標楷體" pitchFamily="65" charset="-120"/>
                <a:cs typeface="Calibri" pitchFamily="34" charset="0"/>
              </a:rPr>
              <a:t>	and more ….</a:t>
            </a:r>
          </a:p>
        </p:txBody>
      </p:sp>
    </p:spTree>
    <p:extLst>
      <p:ext uri="{BB962C8B-B14F-4D97-AF65-F5344CB8AC3E}">
        <p14:creationId xmlns:p14="http://schemas.microsoft.com/office/powerpoint/2010/main" val="3059982515"/>
      </p:ext>
    </p:extLst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投影片編號版面配置區 4">
            <a:extLst>
              <a:ext uri="{FF2B5EF4-FFF2-40B4-BE49-F238E27FC236}">
                <a16:creationId xmlns:a16="http://schemas.microsoft.com/office/drawing/2014/main" id="{7C575CF6-F011-422A-8F7F-CAA04DC33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477000"/>
            <a:ext cx="21336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C617185-153E-45BC-B4C7-289A43A87FD1}" type="slidenum">
              <a:rPr lang="zh-TW" altLang="en-US" smtClean="0"/>
              <a:pPr>
                <a:spcBef>
                  <a:spcPct val="0"/>
                </a:spcBef>
                <a:buFontTx/>
                <a:buNone/>
              </a:pPr>
              <a:t>9</a:t>
            </a:fld>
            <a:endParaRPr lang="en-US" altLang="zh-TW" sz="1400"/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F7BEDD7A-68B8-4E76-8EB3-468D3B2F4B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4000" dirty="0">
                <a:ea typeface="新細明體" panose="02020500000000000000" pitchFamily="18" charset="-120"/>
              </a:rPr>
              <a:t>A Legal Schedule</a:t>
            </a:r>
          </a:p>
        </p:txBody>
      </p:sp>
      <p:sp>
        <p:nvSpPr>
          <p:cNvPr id="23556" name="Oval 3">
            <a:extLst>
              <a:ext uri="{FF2B5EF4-FFF2-40B4-BE49-F238E27FC236}">
                <a16:creationId xmlns:a16="http://schemas.microsoft.com/office/drawing/2014/main" id="{02B40310-33FF-47B4-912E-C82B0E73B6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2011" y="1093382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1</a:t>
            </a:r>
          </a:p>
        </p:txBody>
      </p:sp>
      <p:sp>
        <p:nvSpPr>
          <p:cNvPr id="23557" name="Oval 4">
            <a:extLst>
              <a:ext uri="{FF2B5EF4-FFF2-40B4-BE49-F238E27FC236}">
                <a16:creationId xmlns:a16="http://schemas.microsoft.com/office/drawing/2014/main" id="{AE1AF18D-6F33-4717-8C59-50342FB8C2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7411" y="1093382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2</a:t>
            </a:r>
          </a:p>
        </p:txBody>
      </p:sp>
      <p:sp>
        <p:nvSpPr>
          <p:cNvPr id="23558" name="Oval 5">
            <a:extLst>
              <a:ext uri="{FF2B5EF4-FFF2-40B4-BE49-F238E27FC236}">
                <a16:creationId xmlns:a16="http://schemas.microsoft.com/office/drawing/2014/main" id="{419F98E5-03ED-43B7-BA90-978A534C9C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2011" y="2312582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3</a:t>
            </a:r>
          </a:p>
        </p:txBody>
      </p:sp>
      <p:sp>
        <p:nvSpPr>
          <p:cNvPr id="23559" name="Line 6">
            <a:extLst>
              <a:ext uri="{FF2B5EF4-FFF2-40B4-BE49-F238E27FC236}">
                <a16:creationId xmlns:a16="http://schemas.microsoft.com/office/drawing/2014/main" id="{F639E9EC-D31E-4B7A-8E49-6D41AFEB63F7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3011" y="1626782"/>
            <a:ext cx="1588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3560" name="Line 7">
            <a:extLst>
              <a:ext uri="{FF2B5EF4-FFF2-40B4-BE49-F238E27FC236}">
                <a16:creationId xmlns:a16="http://schemas.microsoft.com/office/drawing/2014/main" id="{FCFC5905-9F95-4662-AB5D-AB00B640448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32061" y="1626782"/>
            <a:ext cx="120015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3561" name="Oval 8">
            <a:extLst>
              <a:ext uri="{FF2B5EF4-FFF2-40B4-BE49-F238E27FC236}">
                <a16:creationId xmlns:a16="http://schemas.microsoft.com/office/drawing/2014/main" id="{6F2EE9AF-D5B9-4CE4-A32C-A4AB30AC9E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2011" y="3303182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4</a:t>
            </a:r>
          </a:p>
        </p:txBody>
      </p:sp>
      <p:sp>
        <p:nvSpPr>
          <p:cNvPr id="23562" name="Oval 9">
            <a:extLst>
              <a:ext uri="{FF2B5EF4-FFF2-40B4-BE49-F238E27FC236}">
                <a16:creationId xmlns:a16="http://schemas.microsoft.com/office/drawing/2014/main" id="{34FCB074-8D6D-4D1B-9058-E226851104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3611" y="2312582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5</a:t>
            </a:r>
          </a:p>
        </p:txBody>
      </p:sp>
      <p:sp>
        <p:nvSpPr>
          <p:cNvPr id="23563" name="Line 10">
            <a:extLst>
              <a:ext uri="{FF2B5EF4-FFF2-40B4-BE49-F238E27FC236}">
                <a16:creationId xmlns:a16="http://schemas.microsoft.com/office/drawing/2014/main" id="{C43573F6-BAEE-4E12-8207-4042AFCE4665}"/>
              </a:ext>
            </a:extLst>
          </p:cNvPr>
          <p:cNvSpPr>
            <a:spLocks noChangeShapeType="1"/>
          </p:cNvSpPr>
          <p:nvPr/>
        </p:nvSpPr>
        <p:spPr bwMode="auto">
          <a:xfrm>
            <a:off x="2532061" y="1550582"/>
            <a:ext cx="120015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3564" name="Line 11">
            <a:extLst>
              <a:ext uri="{FF2B5EF4-FFF2-40B4-BE49-F238E27FC236}">
                <a16:creationId xmlns:a16="http://schemas.microsoft.com/office/drawing/2014/main" id="{8B3F7B89-B66F-4DD6-BA02-F7DDB2E9E82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84611" y="1626782"/>
            <a:ext cx="1588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3565" name="Line 12">
            <a:extLst>
              <a:ext uri="{FF2B5EF4-FFF2-40B4-BE49-F238E27FC236}">
                <a16:creationId xmlns:a16="http://schemas.microsoft.com/office/drawing/2014/main" id="{0E736C21-1D83-4FAF-B2EA-C1B67EF761C1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3011" y="2845982"/>
            <a:ext cx="1588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3566" name="Oval 13">
            <a:extLst>
              <a:ext uri="{FF2B5EF4-FFF2-40B4-BE49-F238E27FC236}">
                <a16:creationId xmlns:a16="http://schemas.microsoft.com/office/drawing/2014/main" id="{30177CEC-CDDE-4930-BAC2-AAAC692E69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2011" y="4369982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6</a:t>
            </a:r>
          </a:p>
        </p:txBody>
      </p:sp>
      <p:sp>
        <p:nvSpPr>
          <p:cNvPr id="23567" name="Line 14">
            <a:extLst>
              <a:ext uri="{FF2B5EF4-FFF2-40B4-BE49-F238E27FC236}">
                <a16:creationId xmlns:a16="http://schemas.microsoft.com/office/drawing/2014/main" id="{EA6DF974-7247-4F56-BFB7-CD6FF78B0C4A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3011" y="3836582"/>
            <a:ext cx="1588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3568" name="Oval 15">
            <a:extLst>
              <a:ext uri="{FF2B5EF4-FFF2-40B4-BE49-F238E27FC236}">
                <a16:creationId xmlns:a16="http://schemas.microsoft.com/office/drawing/2014/main" id="{60413CCB-E8FE-4B28-A3EE-672BF507B3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2011" y="5436782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7</a:t>
            </a:r>
          </a:p>
        </p:txBody>
      </p:sp>
      <p:sp>
        <p:nvSpPr>
          <p:cNvPr id="23569" name="Line 16">
            <a:extLst>
              <a:ext uri="{FF2B5EF4-FFF2-40B4-BE49-F238E27FC236}">
                <a16:creationId xmlns:a16="http://schemas.microsoft.com/office/drawing/2014/main" id="{9E68D2C6-19D5-4F1F-9600-430A9E5A331A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3011" y="4903382"/>
            <a:ext cx="1588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3570" name="Line 17">
            <a:extLst>
              <a:ext uri="{FF2B5EF4-FFF2-40B4-BE49-F238E27FC236}">
                <a16:creationId xmlns:a16="http://schemas.microsoft.com/office/drawing/2014/main" id="{46373744-26C5-480B-BAF0-A97FAD700E7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13011" y="2845982"/>
            <a:ext cx="1371600" cy="2590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3571" name="Oval 18">
            <a:extLst>
              <a:ext uri="{FF2B5EF4-FFF2-40B4-BE49-F238E27FC236}">
                <a16:creationId xmlns:a16="http://schemas.microsoft.com/office/drawing/2014/main" id="{62434B11-0B1F-4160-8815-9202ED3B9F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2211" y="3379382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8</a:t>
            </a:r>
          </a:p>
        </p:txBody>
      </p:sp>
      <p:sp>
        <p:nvSpPr>
          <p:cNvPr id="23572" name="Line 19">
            <a:extLst>
              <a:ext uri="{FF2B5EF4-FFF2-40B4-BE49-F238E27FC236}">
                <a16:creationId xmlns:a16="http://schemas.microsoft.com/office/drawing/2014/main" id="{1273A412-F1E3-4CF8-AE11-1ACC737AE8E4}"/>
              </a:ext>
            </a:extLst>
          </p:cNvPr>
          <p:cNvSpPr>
            <a:spLocks noChangeShapeType="1"/>
          </p:cNvSpPr>
          <p:nvPr/>
        </p:nvSpPr>
        <p:spPr bwMode="auto">
          <a:xfrm>
            <a:off x="3941761" y="2845982"/>
            <a:ext cx="171450" cy="533400"/>
          </a:xfrm>
          <a:prstGeom prst="line">
            <a:avLst/>
          </a:prstGeom>
          <a:noFill/>
          <a:ln w="57150">
            <a:solidFill>
              <a:schemeClr val="tx1"/>
            </a:solidFill>
            <a:prstDash val="dashDot"/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3573" name="Line 20">
            <a:extLst>
              <a:ext uri="{FF2B5EF4-FFF2-40B4-BE49-F238E27FC236}">
                <a16:creationId xmlns:a16="http://schemas.microsoft.com/office/drawing/2014/main" id="{8C141208-8D4F-4EE4-9532-6A01FD2F2480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8737" y="2769782"/>
            <a:ext cx="1285875" cy="685800"/>
          </a:xfrm>
          <a:prstGeom prst="line">
            <a:avLst/>
          </a:prstGeom>
          <a:noFill/>
          <a:ln w="57150">
            <a:solidFill>
              <a:schemeClr val="tx1"/>
            </a:solidFill>
            <a:prstDash val="dashDot"/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3574" name="Oval 21">
            <a:extLst>
              <a:ext uri="{FF2B5EF4-FFF2-40B4-BE49-F238E27FC236}">
                <a16:creationId xmlns:a16="http://schemas.microsoft.com/office/drawing/2014/main" id="{89824209-CE8D-4102-8B9C-8807922A1B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8411" y="4446182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10</a:t>
            </a:r>
          </a:p>
        </p:txBody>
      </p:sp>
      <p:sp>
        <p:nvSpPr>
          <p:cNvPr id="23575" name="Line 22">
            <a:extLst>
              <a:ext uri="{FF2B5EF4-FFF2-40B4-BE49-F238E27FC236}">
                <a16:creationId xmlns:a16="http://schemas.microsoft.com/office/drawing/2014/main" id="{44D49FAC-9311-42CB-BFAB-A7DC0527E822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5411" y="3684182"/>
            <a:ext cx="137160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3576" name="Oval 23">
            <a:extLst>
              <a:ext uri="{FF2B5EF4-FFF2-40B4-BE49-F238E27FC236}">
                <a16:creationId xmlns:a16="http://schemas.microsoft.com/office/drawing/2014/main" id="{321A20C8-6307-45D2-A424-004A654FCD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9011" y="2312582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9</a:t>
            </a:r>
          </a:p>
        </p:txBody>
      </p:sp>
      <p:sp>
        <p:nvSpPr>
          <p:cNvPr id="23577" name="Line 24">
            <a:extLst>
              <a:ext uri="{FF2B5EF4-FFF2-40B4-BE49-F238E27FC236}">
                <a16:creationId xmlns:a16="http://schemas.microsoft.com/office/drawing/2014/main" id="{BD653D99-A999-42D8-8E77-BB318F24D60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237037" y="2922182"/>
            <a:ext cx="942975" cy="1524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3578" name="Oval 25">
            <a:extLst>
              <a:ext uri="{FF2B5EF4-FFF2-40B4-BE49-F238E27FC236}">
                <a16:creationId xmlns:a16="http://schemas.microsoft.com/office/drawing/2014/main" id="{6E4F8B10-AF13-446B-8A44-E40112A7D9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1411" y="4446182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11</a:t>
            </a:r>
          </a:p>
        </p:txBody>
      </p:sp>
      <p:sp>
        <p:nvSpPr>
          <p:cNvPr id="23579" name="Line 26">
            <a:extLst>
              <a:ext uri="{FF2B5EF4-FFF2-40B4-BE49-F238E27FC236}">
                <a16:creationId xmlns:a16="http://schemas.microsoft.com/office/drawing/2014/main" id="{97313199-F7B6-4541-AF38-A8796F7E7C50}"/>
              </a:ext>
            </a:extLst>
          </p:cNvPr>
          <p:cNvSpPr>
            <a:spLocks noChangeShapeType="1"/>
          </p:cNvSpPr>
          <p:nvPr/>
        </p:nvSpPr>
        <p:spPr bwMode="auto">
          <a:xfrm>
            <a:off x="4151311" y="3912782"/>
            <a:ext cx="1028700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3580" name="Line 27">
            <a:extLst>
              <a:ext uri="{FF2B5EF4-FFF2-40B4-BE49-F238E27FC236}">
                <a16:creationId xmlns:a16="http://schemas.microsoft.com/office/drawing/2014/main" id="{98D19B01-36E1-4E1C-B03B-C94DC9A0CCC1}"/>
              </a:ext>
            </a:extLst>
          </p:cNvPr>
          <p:cNvSpPr>
            <a:spLocks noChangeShapeType="1"/>
          </p:cNvSpPr>
          <p:nvPr/>
        </p:nvSpPr>
        <p:spPr bwMode="auto">
          <a:xfrm>
            <a:off x="5170487" y="2922182"/>
            <a:ext cx="85725" cy="1524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3581" name="Line 28">
            <a:extLst>
              <a:ext uri="{FF2B5EF4-FFF2-40B4-BE49-F238E27FC236}">
                <a16:creationId xmlns:a16="http://schemas.microsoft.com/office/drawing/2014/main" id="{D303AAD4-0BA3-4FAE-BB36-970CF27BBA6A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3487" y="1626782"/>
            <a:ext cx="1457325" cy="175260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3582" name="Text Box 29">
            <a:extLst>
              <a:ext uri="{FF2B5EF4-FFF2-40B4-BE49-F238E27FC236}">
                <a16:creationId xmlns:a16="http://schemas.microsoft.com/office/drawing/2014/main" id="{6E6CB12A-19DA-4F33-9306-E8D1F9E73A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1490" y="1050341"/>
            <a:ext cx="3162481" cy="36625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Any </a:t>
            </a:r>
            <a:r>
              <a:rPr lang="en-US" altLang="zh-TW" sz="2800" i="1" dirty="0">
                <a:solidFill>
                  <a:srgbClr val="0033CC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topological</a:t>
            </a:r>
            <a:r>
              <a:rPr lang="en-US" altLang="zh-TW" sz="2400" dirty="0">
                <a:solidFill>
                  <a:srgbClr val="0033CC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sort of the DAG will represent a correct schedule.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Topological sort is the enumeration of the nodes in which </a:t>
            </a:r>
            <a:r>
              <a:rPr lang="en-US" altLang="zh-TW" sz="2400" i="1" dirty="0">
                <a:solidFill>
                  <a:srgbClr val="FF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each node appears before its children</a:t>
            </a: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.</a:t>
            </a:r>
          </a:p>
        </p:txBody>
      </p:sp>
      <p:sp>
        <p:nvSpPr>
          <p:cNvPr id="23583" name="Text Box 30">
            <a:extLst>
              <a:ext uri="{FF2B5EF4-FFF2-40B4-BE49-F238E27FC236}">
                <a16:creationId xmlns:a16="http://schemas.microsoft.com/office/drawing/2014/main" id="{18D6E3A9-DB3A-4ACB-A590-9E15F2F6B3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05717" y="4770032"/>
            <a:ext cx="2994025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Some legal schedules: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1,2,3,5,9,4,8,6,10,11,7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9,1,2,3,4,10,6,5,8,7,11</a:t>
            </a:r>
          </a:p>
        </p:txBody>
      </p:sp>
    </p:spTree>
  </p:cSld>
  <p:clrMapOvr>
    <a:masterClrMapping/>
  </p:clrMapOvr>
  <p:transition spd="slow"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投影片編號版面配置區 4">
            <a:extLst>
              <a:ext uri="{FF2B5EF4-FFF2-40B4-BE49-F238E27FC236}">
                <a16:creationId xmlns:a16="http://schemas.microsoft.com/office/drawing/2014/main" id="{7C575CF6-F011-422A-8F7F-CAA04DC33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477000"/>
            <a:ext cx="21336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C617185-153E-45BC-B4C7-289A43A87FD1}" type="slidenum">
              <a:rPr lang="zh-TW" altLang="en-US" smtClean="0"/>
              <a:pPr>
                <a:spcBef>
                  <a:spcPct val="0"/>
                </a:spcBef>
                <a:buFontTx/>
                <a:buNone/>
              </a:pPr>
              <a:t>10</a:t>
            </a:fld>
            <a:endParaRPr lang="en-US" altLang="zh-TW" sz="1400"/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F7BEDD7A-68B8-4E76-8EB3-468D3B2F4B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4000" dirty="0">
                <a:ea typeface="新細明體" panose="02020500000000000000" pitchFamily="18" charset="-120"/>
              </a:rPr>
              <a:t>A Legal Schedule</a:t>
            </a:r>
          </a:p>
        </p:txBody>
      </p:sp>
      <p:sp>
        <p:nvSpPr>
          <p:cNvPr id="23556" name="Oval 3">
            <a:extLst>
              <a:ext uri="{FF2B5EF4-FFF2-40B4-BE49-F238E27FC236}">
                <a16:creationId xmlns:a16="http://schemas.microsoft.com/office/drawing/2014/main" id="{02B40310-33FF-47B4-912E-C82B0E73B6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2011" y="1093382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1</a:t>
            </a:r>
          </a:p>
        </p:txBody>
      </p:sp>
      <p:sp>
        <p:nvSpPr>
          <p:cNvPr id="23557" name="Oval 4">
            <a:extLst>
              <a:ext uri="{FF2B5EF4-FFF2-40B4-BE49-F238E27FC236}">
                <a16:creationId xmlns:a16="http://schemas.microsoft.com/office/drawing/2014/main" id="{AE1AF18D-6F33-4717-8C59-50342FB8C2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7411" y="1093382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2</a:t>
            </a:r>
          </a:p>
        </p:txBody>
      </p:sp>
      <p:sp>
        <p:nvSpPr>
          <p:cNvPr id="23558" name="Oval 5">
            <a:extLst>
              <a:ext uri="{FF2B5EF4-FFF2-40B4-BE49-F238E27FC236}">
                <a16:creationId xmlns:a16="http://schemas.microsoft.com/office/drawing/2014/main" id="{419F98E5-03ED-43B7-BA90-978A534C9C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2011" y="2312582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3</a:t>
            </a:r>
          </a:p>
        </p:txBody>
      </p:sp>
      <p:sp>
        <p:nvSpPr>
          <p:cNvPr id="23559" name="Line 6">
            <a:extLst>
              <a:ext uri="{FF2B5EF4-FFF2-40B4-BE49-F238E27FC236}">
                <a16:creationId xmlns:a16="http://schemas.microsoft.com/office/drawing/2014/main" id="{F639E9EC-D31E-4B7A-8E49-6D41AFEB63F7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3011" y="1626782"/>
            <a:ext cx="1588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3560" name="Line 7">
            <a:extLst>
              <a:ext uri="{FF2B5EF4-FFF2-40B4-BE49-F238E27FC236}">
                <a16:creationId xmlns:a16="http://schemas.microsoft.com/office/drawing/2014/main" id="{FCFC5905-9F95-4662-AB5D-AB00B640448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32061" y="1626782"/>
            <a:ext cx="120015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3561" name="Oval 8">
            <a:extLst>
              <a:ext uri="{FF2B5EF4-FFF2-40B4-BE49-F238E27FC236}">
                <a16:creationId xmlns:a16="http://schemas.microsoft.com/office/drawing/2014/main" id="{6F2EE9AF-D5B9-4CE4-A32C-A4AB30AC9E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2011" y="3303182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4</a:t>
            </a:r>
          </a:p>
        </p:txBody>
      </p:sp>
      <p:sp>
        <p:nvSpPr>
          <p:cNvPr id="23562" name="Oval 9">
            <a:extLst>
              <a:ext uri="{FF2B5EF4-FFF2-40B4-BE49-F238E27FC236}">
                <a16:creationId xmlns:a16="http://schemas.microsoft.com/office/drawing/2014/main" id="{34FCB074-8D6D-4D1B-9058-E226851104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3611" y="2312582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5</a:t>
            </a:r>
          </a:p>
        </p:txBody>
      </p:sp>
      <p:sp>
        <p:nvSpPr>
          <p:cNvPr id="23563" name="Line 10">
            <a:extLst>
              <a:ext uri="{FF2B5EF4-FFF2-40B4-BE49-F238E27FC236}">
                <a16:creationId xmlns:a16="http://schemas.microsoft.com/office/drawing/2014/main" id="{C43573F6-BAEE-4E12-8207-4042AFCE4665}"/>
              </a:ext>
            </a:extLst>
          </p:cNvPr>
          <p:cNvSpPr>
            <a:spLocks noChangeShapeType="1"/>
          </p:cNvSpPr>
          <p:nvPr/>
        </p:nvSpPr>
        <p:spPr bwMode="auto">
          <a:xfrm>
            <a:off x="2532061" y="1550582"/>
            <a:ext cx="120015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3564" name="Line 11">
            <a:extLst>
              <a:ext uri="{FF2B5EF4-FFF2-40B4-BE49-F238E27FC236}">
                <a16:creationId xmlns:a16="http://schemas.microsoft.com/office/drawing/2014/main" id="{8B3F7B89-B66F-4DD6-BA02-F7DDB2E9E82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84611" y="1626782"/>
            <a:ext cx="1588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3565" name="Line 12">
            <a:extLst>
              <a:ext uri="{FF2B5EF4-FFF2-40B4-BE49-F238E27FC236}">
                <a16:creationId xmlns:a16="http://schemas.microsoft.com/office/drawing/2014/main" id="{0E736C21-1D83-4FAF-B2EA-C1B67EF761C1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3011" y="2845982"/>
            <a:ext cx="1588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3566" name="Oval 13">
            <a:extLst>
              <a:ext uri="{FF2B5EF4-FFF2-40B4-BE49-F238E27FC236}">
                <a16:creationId xmlns:a16="http://schemas.microsoft.com/office/drawing/2014/main" id="{30177CEC-CDDE-4930-BAC2-AAAC692E69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2011" y="4369982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6</a:t>
            </a:r>
          </a:p>
        </p:txBody>
      </p:sp>
      <p:sp>
        <p:nvSpPr>
          <p:cNvPr id="23567" name="Line 14">
            <a:extLst>
              <a:ext uri="{FF2B5EF4-FFF2-40B4-BE49-F238E27FC236}">
                <a16:creationId xmlns:a16="http://schemas.microsoft.com/office/drawing/2014/main" id="{EA6DF974-7247-4F56-BFB7-CD6FF78B0C4A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3011" y="3836582"/>
            <a:ext cx="1588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3568" name="Oval 15">
            <a:extLst>
              <a:ext uri="{FF2B5EF4-FFF2-40B4-BE49-F238E27FC236}">
                <a16:creationId xmlns:a16="http://schemas.microsoft.com/office/drawing/2014/main" id="{60413CCB-E8FE-4B28-A3EE-672BF507B3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2011" y="5436782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7</a:t>
            </a:r>
          </a:p>
        </p:txBody>
      </p:sp>
      <p:sp>
        <p:nvSpPr>
          <p:cNvPr id="23569" name="Line 16">
            <a:extLst>
              <a:ext uri="{FF2B5EF4-FFF2-40B4-BE49-F238E27FC236}">
                <a16:creationId xmlns:a16="http://schemas.microsoft.com/office/drawing/2014/main" id="{9E68D2C6-19D5-4F1F-9600-430A9E5A331A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3011" y="4903382"/>
            <a:ext cx="1588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3570" name="Line 17">
            <a:extLst>
              <a:ext uri="{FF2B5EF4-FFF2-40B4-BE49-F238E27FC236}">
                <a16:creationId xmlns:a16="http://schemas.microsoft.com/office/drawing/2014/main" id="{46373744-26C5-480B-BAF0-A97FAD700E7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13011" y="2845982"/>
            <a:ext cx="1371600" cy="2590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3571" name="Oval 18">
            <a:extLst>
              <a:ext uri="{FF2B5EF4-FFF2-40B4-BE49-F238E27FC236}">
                <a16:creationId xmlns:a16="http://schemas.microsoft.com/office/drawing/2014/main" id="{62434B11-0B1F-4160-8815-9202ED3B9F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2211" y="3379382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8</a:t>
            </a:r>
          </a:p>
        </p:txBody>
      </p:sp>
      <p:sp>
        <p:nvSpPr>
          <p:cNvPr id="23572" name="Line 19">
            <a:extLst>
              <a:ext uri="{FF2B5EF4-FFF2-40B4-BE49-F238E27FC236}">
                <a16:creationId xmlns:a16="http://schemas.microsoft.com/office/drawing/2014/main" id="{1273A412-F1E3-4CF8-AE11-1ACC737AE8E4}"/>
              </a:ext>
            </a:extLst>
          </p:cNvPr>
          <p:cNvSpPr>
            <a:spLocks noChangeShapeType="1"/>
          </p:cNvSpPr>
          <p:nvPr/>
        </p:nvSpPr>
        <p:spPr bwMode="auto">
          <a:xfrm>
            <a:off x="3941761" y="2845982"/>
            <a:ext cx="171450" cy="533400"/>
          </a:xfrm>
          <a:prstGeom prst="line">
            <a:avLst/>
          </a:prstGeom>
          <a:noFill/>
          <a:ln w="57150">
            <a:solidFill>
              <a:schemeClr val="tx1"/>
            </a:solidFill>
            <a:prstDash val="dashDot"/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3573" name="Line 20">
            <a:extLst>
              <a:ext uri="{FF2B5EF4-FFF2-40B4-BE49-F238E27FC236}">
                <a16:creationId xmlns:a16="http://schemas.microsoft.com/office/drawing/2014/main" id="{8C141208-8D4F-4EE4-9532-6A01FD2F2480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8737" y="2769782"/>
            <a:ext cx="1285875" cy="685800"/>
          </a:xfrm>
          <a:prstGeom prst="line">
            <a:avLst/>
          </a:prstGeom>
          <a:noFill/>
          <a:ln w="57150">
            <a:solidFill>
              <a:schemeClr val="tx1"/>
            </a:solidFill>
            <a:prstDash val="dashDot"/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3574" name="Oval 21">
            <a:extLst>
              <a:ext uri="{FF2B5EF4-FFF2-40B4-BE49-F238E27FC236}">
                <a16:creationId xmlns:a16="http://schemas.microsoft.com/office/drawing/2014/main" id="{89824209-CE8D-4102-8B9C-8807922A1B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8411" y="4446182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10</a:t>
            </a:r>
          </a:p>
        </p:txBody>
      </p:sp>
      <p:sp>
        <p:nvSpPr>
          <p:cNvPr id="23575" name="Line 22">
            <a:extLst>
              <a:ext uri="{FF2B5EF4-FFF2-40B4-BE49-F238E27FC236}">
                <a16:creationId xmlns:a16="http://schemas.microsoft.com/office/drawing/2014/main" id="{44D49FAC-9311-42CB-BFAB-A7DC0527E822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5411" y="3684182"/>
            <a:ext cx="137160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3576" name="Oval 23">
            <a:extLst>
              <a:ext uri="{FF2B5EF4-FFF2-40B4-BE49-F238E27FC236}">
                <a16:creationId xmlns:a16="http://schemas.microsoft.com/office/drawing/2014/main" id="{321A20C8-6307-45D2-A424-004A654FCD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9011" y="2312582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9</a:t>
            </a:r>
          </a:p>
        </p:txBody>
      </p:sp>
      <p:sp>
        <p:nvSpPr>
          <p:cNvPr id="23577" name="Line 24">
            <a:extLst>
              <a:ext uri="{FF2B5EF4-FFF2-40B4-BE49-F238E27FC236}">
                <a16:creationId xmlns:a16="http://schemas.microsoft.com/office/drawing/2014/main" id="{BD653D99-A999-42D8-8E77-BB318F24D60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237037" y="2922182"/>
            <a:ext cx="942975" cy="1524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3578" name="Oval 25">
            <a:extLst>
              <a:ext uri="{FF2B5EF4-FFF2-40B4-BE49-F238E27FC236}">
                <a16:creationId xmlns:a16="http://schemas.microsoft.com/office/drawing/2014/main" id="{6E4F8B10-AF13-446B-8A44-E40112A7D9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1411" y="4446182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11</a:t>
            </a:r>
          </a:p>
        </p:txBody>
      </p:sp>
      <p:sp>
        <p:nvSpPr>
          <p:cNvPr id="23579" name="Line 26">
            <a:extLst>
              <a:ext uri="{FF2B5EF4-FFF2-40B4-BE49-F238E27FC236}">
                <a16:creationId xmlns:a16="http://schemas.microsoft.com/office/drawing/2014/main" id="{97313199-F7B6-4541-AF38-A8796F7E7C50}"/>
              </a:ext>
            </a:extLst>
          </p:cNvPr>
          <p:cNvSpPr>
            <a:spLocks noChangeShapeType="1"/>
          </p:cNvSpPr>
          <p:nvPr/>
        </p:nvSpPr>
        <p:spPr bwMode="auto">
          <a:xfrm>
            <a:off x="4151311" y="3912782"/>
            <a:ext cx="1028700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3580" name="Line 27">
            <a:extLst>
              <a:ext uri="{FF2B5EF4-FFF2-40B4-BE49-F238E27FC236}">
                <a16:creationId xmlns:a16="http://schemas.microsoft.com/office/drawing/2014/main" id="{98D19B01-36E1-4E1C-B03B-C94DC9A0CCC1}"/>
              </a:ext>
            </a:extLst>
          </p:cNvPr>
          <p:cNvSpPr>
            <a:spLocks noChangeShapeType="1"/>
          </p:cNvSpPr>
          <p:nvPr/>
        </p:nvSpPr>
        <p:spPr bwMode="auto">
          <a:xfrm>
            <a:off x="5170487" y="2922182"/>
            <a:ext cx="85725" cy="1524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3581" name="Line 28">
            <a:extLst>
              <a:ext uri="{FF2B5EF4-FFF2-40B4-BE49-F238E27FC236}">
                <a16:creationId xmlns:a16="http://schemas.microsoft.com/office/drawing/2014/main" id="{D303AAD4-0BA3-4FAE-BB36-970CF27BBA6A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3487" y="1626782"/>
            <a:ext cx="1457325" cy="175260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3582" name="Text Box 29">
            <a:extLst>
              <a:ext uri="{FF2B5EF4-FFF2-40B4-BE49-F238E27FC236}">
                <a16:creationId xmlns:a16="http://schemas.microsoft.com/office/drawing/2014/main" id="{6E6CB12A-19DA-4F33-9306-E8D1F9E73A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1490" y="1050341"/>
            <a:ext cx="3162481" cy="36625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Any </a:t>
            </a:r>
            <a:r>
              <a:rPr lang="en-US" altLang="zh-TW" sz="2800" i="1" dirty="0">
                <a:solidFill>
                  <a:srgbClr val="0033CC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topological</a:t>
            </a:r>
            <a:r>
              <a:rPr lang="en-US" altLang="zh-TW" sz="2400" dirty="0">
                <a:solidFill>
                  <a:srgbClr val="0033CC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sort of the DAG will represent a correct schedule.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Topological sort is the enumeration of the nodes in which </a:t>
            </a:r>
            <a:r>
              <a:rPr lang="en-US" altLang="zh-TW" sz="2400" i="1" dirty="0">
                <a:solidFill>
                  <a:srgbClr val="FF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each node appears before its children</a:t>
            </a: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.</a:t>
            </a:r>
          </a:p>
        </p:txBody>
      </p:sp>
      <p:sp>
        <p:nvSpPr>
          <p:cNvPr id="23583" name="Text Box 30">
            <a:extLst>
              <a:ext uri="{FF2B5EF4-FFF2-40B4-BE49-F238E27FC236}">
                <a16:creationId xmlns:a16="http://schemas.microsoft.com/office/drawing/2014/main" id="{18D6E3A9-DB3A-4ACB-A590-9E15F2F6B3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05717" y="4770032"/>
            <a:ext cx="2994025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Some legal schedules: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1,2,3,5,9,4,8,6,10,11,7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9,1,2,3,4,10,6,5,8,7,11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88437C1-721D-40EC-9A44-BB29487931FF}"/>
              </a:ext>
            </a:extLst>
          </p:cNvPr>
          <p:cNvSpPr txBox="1"/>
          <p:nvPr/>
        </p:nvSpPr>
        <p:spPr>
          <a:xfrm>
            <a:off x="180301" y="1342968"/>
            <a:ext cx="11813903" cy="3539430"/>
          </a:xfrm>
          <a:prstGeom prst="rect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US" sz="2800" dirty="0">
                <a:ea typeface="標楷體" pitchFamily="65" charset="-120"/>
                <a:cs typeface="Calibri" pitchFamily="34" charset="0"/>
              </a:rPr>
              <a:t>Code scheduling involves listing all legal schedules and choosing </a:t>
            </a:r>
          </a:p>
          <a:p>
            <a:r>
              <a:rPr lang="en-US" sz="2800" dirty="0">
                <a:ea typeface="標楷體" pitchFamily="65" charset="-120"/>
                <a:cs typeface="Calibri" pitchFamily="34" charset="0"/>
              </a:rPr>
              <a:t>the best one.</a:t>
            </a:r>
          </a:p>
          <a:p>
            <a:r>
              <a:rPr lang="en-US" sz="2800" dirty="0">
                <a:ea typeface="標楷體" pitchFamily="65" charset="-120"/>
                <a:cs typeface="Calibri" pitchFamily="34" charset="0"/>
              </a:rPr>
              <a:t>This seems easy! However, the number of permutations could grow exponentially!</a:t>
            </a:r>
          </a:p>
          <a:p>
            <a:endParaRPr lang="en-US" sz="2800" dirty="0">
              <a:ea typeface="標楷體" pitchFamily="65" charset="-120"/>
              <a:cs typeface="Calibri" pitchFamily="34" charset="0"/>
            </a:endParaRPr>
          </a:p>
          <a:p>
            <a:r>
              <a:rPr lang="en-US" sz="2800" dirty="0">
                <a:ea typeface="標楷體" pitchFamily="65" charset="-120"/>
                <a:cs typeface="Calibri" pitchFamily="34" charset="0"/>
              </a:rPr>
              <a:t>If there are N instructions, possible schedules could be N!</a:t>
            </a:r>
          </a:p>
          <a:p>
            <a:r>
              <a:rPr lang="en-US" sz="2800" dirty="0">
                <a:ea typeface="標楷體" pitchFamily="65" charset="-120"/>
                <a:cs typeface="Calibri" pitchFamily="34" charset="0"/>
              </a:rPr>
              <a:t>For example, if N is 50, N! = 3 x 10^64</a:t>
            </a:r>
          </a:p>
          <a:p>
            <a:r>
              <a:rPr lang="en-US" sz="2800" dirty="0">
                <a:ea typeface="標楷體" pitchFamily="65" charset="-120"/>
                <a:cs typeface="Calibri" pitchFamily="34" charset="0"/>
              </a:rPr>
              <a:t>		    if N is 100, N! = 9 x 10^158</a:t>
            </a:r>
          </a:p>
        </p:txBody>
      </p:sp>
    </p:spTree>
    <p:extLst>
      <p:ext uri="{BB962C8B-B14F-4D97-AF65-F5344CB8AC3E}">
        <p14:creationId xmlns:p14="http://schemas.microsoft.com/office/powerpoint/2010/main" val="3795008830"/>
      </p:ext>
    </p:extLst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投影片編號版面配置區 4">
            <a:extLst>
              <a:ext uri="{FF2B5EF4-FFF2-40B4-BE49-F238E27FC236}">
                <a16:creationId xmlns:a16="http://schemas.microsoft.com/office/drawing/2014/main" id="{D3531BF9-8BB9-48C9-A685-C387D720C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477000"/>
            <a:ext cx="21336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C617185-153E-45BC-B4C7-289A43A87FD1}" type="slidenum">
              <a:rPr lang="zh-TW" altLang="en-US" smtClean="0"/>
              <a:pPr>
                <a:spcBef>
                  <a:spcPct val="0"/>
                </a:spcBef>
                <a:buFontTx/>
                <a:buNone/>
              </a:pPr>
              <a:t>11</a:t>
            </a:fld>
            <a:endParaRPr lang="en-US" altLang="zh-TW" sz="1400"/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0C847A01-BF44-45D0-8785-BB3AD301D8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60550" y="61119"/>
            <a:ext cx="8229600" cy="792162"/>
          </a:xfrm>
        </p:spPr>
        <p:txBody>
          <a:bodyPr/>
          <a:lstStyle/>
          <a:p>
            <a:pPr eaLnBrk="1" hangingPunct="1"/>
            <a:r>
              <a:rPr lang="en-US" altLang="zh-TW" sz="4000" dirty="0">
                <a:ea typeface="新細明體" panose="02020500000000000000" pitchFamily="18" charset="-120"/>
              </a:rPr>
              <a:t>Operation Latency: Weight of Arcs</a:t>
            </a:r>
          </a:p>
        </p:txBody>
      </p:sp>
      <p:sp>
        <p:nvSpPr>
          <p:cNvPr id="24580" name="Oval 3">
            <a:extLst>
              <a:ext uri="{FF2B5EF4-FFF2-40B4-BE49-F238E27FC236}">
                <a16:creationId xmlns:a16="http://schemas.microsoft.com/office/drawing/2014/main" id="{7F8B520F-12E2-4B8E-83C1-FD07B9104F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1295400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1</a:t>
            </a:r>
          </a:p>
        </p:txBody>
      </p:sp>
      <p:sp>
        <p:nvSpPr>
          <p:cNvPr id="24581" name="Oval 4">
            <a:extLst>
              <a:ext uri="{FF2B5EF4-FFF2-40B4-BE49-F238E27FC236}">
                <a16:creationId xmlns:a16="http://schemas.microsoft.com/office/drawing/2014/main" id="{4D8E171C-6A98-4B6A-B172-91D7BDBEC1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1295400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2</a:t>
            </a:r>
          </a:p>
        </p:txBody>
      </p:sp>
      <p:sp>
        <p:nvSpPr>
          <p:cNvPr id="24582" name="Oval 5">
            <a:extLst>
              <a:ext uri="{FF2B5EF4-FFF2-40B4-BE49-F238E27FC236}">
                <a16:creationId xmlns:a16="http://schemas.microsoft.com/office/drawing/2014/main" id="{5ADEB250-BE10-4F22-ADBE-9B1BC66494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2514600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3</a:t>
            </a:r>
          </a:p>
        </p:txBody>
      </p:sp>
      <p:sp>
        <p:nvSpPr>
          <p:cNvPr id="24583" name="Line 6">
            <a:extLst>
              <a:ext uri="{FF2B5EF4-FFF2-40B4-BE49-F238E27FC236}">
                <a16:creationId xmlns:a16="http://schemas.microsoft.com/office/drawing/2014/main" id="{5202CAA3-8338-48B8-A4C5-ED33E79B6E4D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5600" y="1828800"/>
            <a:ext cx="1588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4584" name="Line 7">
            <a:extLst>
              <a:ext uri="{FF2B5EF4-FFF2-40B4-BE49-F238E27FC236}">
                <a16:creationId xmlns:a16="http://schemas.microsoft.com/office/drawing/2014/main" id="{073F9978-6668-4C51-998A-3234E36C6DF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14650" y="1828800"/>
            <a:ext cx="120015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4585" name="Oval 8">
            <a:extLst>
              <a:ext uri="{FF2B5EF4-FFF2-40B4-BE49-F238E27FC236}">
                <a16:creationId xmlns:a16="http://schemas.microsoft.com/office/drawing/2014/main" id="{09100439-8938-48CB-9850-1E5214026D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3505200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4</a:t>
            </a:r>
          </a:p>
        </p:txBody>
      </p:sp>
      <p:sp>
        <p:nvSpPr>
          <p:cNvPr id="24586" name="Oval 9">
            <a:extLst>
              <a:ext uri="{FF2B5EF4-FFF2-40B4-BE49-F238E27FC236}">
                <a16:creationId xmlns:a16="http://schemas.microsoft.com/office/drawing/2014/main" id="{6CE4A71F-BCF2-4823-B811-CD26C02C7F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5</a:t>
            </a:r>
          </a:p>
        </p:txBody>
      </p:sp>
      <p:sp>
        <p:nvSpPr>
          <p:cNvPr id="24587" name="Line 10">
            <a:extLst>
              <a:ext uri="{FF2B5EF4-FFF2-40B4-BE49-F238E27FC236}">
                <a16:creationId xmlns:a16="http://schemas.microsoft.com/office/drawing/2014/main" id="{566464D3-2059-432A-B5E5-7F551A7F5CC4}"/>
              </a:ext>
            </a:extLst>
          </p:cNvPr>
          <p:cNvSpPr>
            <a:spLocks noChangeShapeType="1"/>
          </p:cNvSpPr>
          <p:nvPr/>
        </p:nvSpPr>
        <p:spPr bwMode="auto">
          <a:xfrm>
            <a:off x="2914650" y="1752600"/>
            <a:ext cx="120015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4588" name="Line 11">
            <a:extLst>
              <a:ext uri="{FF2B5EF4-FFF2-40B4-BE49-F238E27FC236}">
                <a16:creationId xmlns:a16="http://schemas.microsoft.com/office/drawing/2014/main" id="{68745E9C-8DB2-4B06-948A-BDBABD31412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267200" y="1828800"/>
            <a:ext cx="1588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4589" name="Line 12">
            <a:extLst>
              <a:ext uri="{FF2B5EF4-FFF2-40B4-BE49-F238E27FC236}">
                <a16:creationId xmlns:a16="http://schemas.microsoft.com/office/drawing/2014/main" id="{06847313-8919-4961-B44D-27C121EA1C10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5600" y="3048000"/>
            <a:ext cx="1588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4590" name="Oval 13">
            <a:extLst>
              <a:ext uri="{FF2B5EF4-FFF2-40B4-BE49-F238E27FC236}">
                <a16:creationId xmlns:a16="http://schemas.microsoft.com/office/drawing/2014/main" id="{BC2687D3-F5CA-4609-ADFD-81BE65D83C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4572000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6</a:t>
            </a:r>
          </a:p>
        </p:txBody>
      </p:sp>
      <p:sp>
        <p:nvSpPr>
          <p:cNvPr id="24591" name="Line 14">
            <a:extLst>
              <a:ext uri="{FF2B5EF4-FFF2-40B4-BE49-F238E27FC236}">
                <a16:creationId xmlns:a16="http://schemas.microsoft.com/office/drawing/2014/main" id="{BC6BFE3F-144B-41B9-A029-DDE470BAB3D8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5600" y="4038600"/>
            <a:ext cx="1588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4592" name="Oval 15">
            <a:extLst>
              <a:ext uri="{FF2B5EF4-FFF2-40B4-BE49-F238E27FC236}">
                <a16:creationId xmlns:a16="http://schemas.microsoft.com/office/drawing/2014/main" id="{A140714B-C4ED-42EF-9D9C-6E17B05E0F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5638800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7</a:t>
            </a:r>
          </a:p>
        </p:txBody>
      </p:sp>
      <p:sp>
        <p:nvSpPr>
          <p:cNvPr id="24593" name="Line 16">
            <a:extLst>
              <a:ext uri="{FF2B5EF4-FFF2-40B4-BE49-F238E27FC236}">
                <a16:creationId xmlns:a16="http://schemas.microsoft.com/office/drawing/2014/main" id="{CB61D4E4-D1FB-410F-ACD8-44C537C3937D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5600" y="5105400"/>
            <a:ext cx="1588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4594" name="Line 17">
            <a:extLst>
              <a:ext uri="{FF2B5EF4-FFF2-40B4-BE49-F238E27FC236}">
                <a16:creationId xmlns:a16="http://schemas.microsoft.com/office/drawing/2014/main" id="{1F272FAD-910A-4B17-8CC1-A5507F08EEF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95600" y="3048000"/>
            <a:ext cx="1371600" cy="2590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4595" name="Oval 18">
            <a:extLst>
              <a:ext uri="{FF2B5EF4-FFF2-40B4-BE49-F238E27FC236}">
                <a16:creationId xmlns:a16="http://schemas.microsoft.com/office/drawing/2014/main" id="{13F90789-E8CA-4DCD-A974-244996FBAE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3581400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8</a:t>
            </a:r>
          </a:p>
        </p:txBody>
      </p:sp>
      <p:sp>
        <p:nvSpPr>
          <p:cNvPr id="24596" name="Line 19">
            <a:extLst>
              <a:ext uri="{FF2B5EF4-FFF2-40B4-BE49-F238E27FC236}">
                <a16:creationId xmlns:a16="http://schemas.microsoft.com/office/drawing/2014/main" id="{A147454E-07A7-47A6-80C4-D6580336CE3A}"/>
              </a:ext>
            </a:extLst>
          </p:cNvPr>
          <p:cNvSpPr>
            <a:spLocks noChangeShapeType="1"/>
          </p:cNvSpPr>
          <p:nvPr/>
        </p:nvSpPr>
        <p:spPr bwMode="auto">
          <a:xfrm>
            <a:off x="4324350" y="3048000"/>
            <a:ext cx="171450" cy="533400"/>
          </a:xfrm>
          <a:prstGeom prst="line">
            <a:avLst/>
          </a:prstGeom>
          <a:noFill/>
          <a:ln w="57150">
            <a:solidFill>
              <a:schemeClr val="tx1"/>
            </a:solidFill>
            <a:prstDash val="dashDot"/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4597" name="Line 20">
            <a:extLst>
              <a:ext uri="{FF2B5EF4-FFF2-40B4-BE49-F238E27FC236}">
                <a16:creationId xmlns:a16="http://schemas.microsoft.com/office/drawing/2014/main" id="{C0A97C79-84DD-4AD8-B39D-875D93C7E189}"/>
              </a:ext>
            </a:extLst>
          </p:cNvPr>
          <p:cNvSpPr>
            <a:spLocks noChangeShapeType="1"/>
          </p:cNvSpPr>
          <p:nvPr/>
        </p:nvSpPr>
        <p:spPr bwMode="auto">
          <a:xfrm>
            <a:off x="2981326" y="2971800"/>
            <a:ext cx="1285875" cy="685800"/>
          </a:xfrm>
          <a:prstGeom prst="line">
            <a:avLst/>
          </a:prstGeom>
          <a:noFill/>
          <a:ln w="57150">
            <a:solidFill>
              <a:schemeClr val="tx1"/>
            </a:solidFill>
            <a:prstDash val="dashDot"/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4598" name="Oval 21">
            <a:extLst>
              <a:ext uri="{FF2B5EF4-FFF2-40B4-BE49-F238E27FC236}">
                <a16:creationId xmlns:a16="http://schemas.microsoft.com/office/drawing/2014/main" id="{6F81D37A-EBB6-4C0E-A787-E7F9328FF1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4648200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10</a:t>
            </a:r>
          </a:p>
        </p:txBody>
      </p:sp>
      <p:sp>
        <p:nvSpPr>
          <p:cNvPr id="24599" name="Line 22">
            <a:extLst>
              <a:ext uri="{FF2B5EF4-FFF2-40B4-BE49-F238E27FC236}">
                <a16:creationId xmlns:a16="http://schemas.microsoft.com/office/drawing/2014/main" id="{871F3356-51B8-4629-99A1-3962D5B2FF61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0" y="3886200"/>
            <a:ext cx="137160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4600" name="Oval 23">
            <a:extLst>
              <a:ext uri="{FF2B5EF4-FFF2-40B4-BE49-F238E27FC236}">
                <a16:creationId xmlns:a16="http://schemas.microsoft.com/office/drawing/2014/main" id="{860EC3E1-BD60-4F30-8201-88DE5AF6B5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2514600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9</a:t>
            </a:r>
          </a:p>
        </p:txBody>
      </p:sp>
      <p:sp>
        <p:nvSpPr>
          <p:cNvPr id="24601" name="Line 24">
            <a:extLst>
              <a:ext uri="{FF2B5EF4-FFF2-40B4-BE49-F238E27FC236}">
                <a16:creationId xmlns:a16="http://schemas.microsoft.com/office/drawing/2014/main" id="{A80DC3BA-5B64-426B-AB88-283D4A6801A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619626" y="3124200"/>
            <a:ext cx="942975" cy="1524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4602" name="Oval 25">
            <a:extLst>
              <a:ext uri="{FF2B5EF4-FFF2-40B4-BE49-F238E27FC236}">
                <a16:creationId xmlns:a16="http://schemas.microsoft.com/office/drawing/2014/main" id="{C41A542D-03A9-47FD-A473-79A7E9F814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4648200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11</a:t>
            </a:r>
          </a:p>
        </p:txBody>
      </p:sp>
      <p:sp>
        <p:nvSpPr>
          <p:cNvPr id="24603" name="Line 26">
            <a:extLst>
              <a:ext uri="{FF2B5EF4-FFF2-40B4-BE49-F238E27FC236}">
                <a16:creationId xmlns:a16="http://schemas.microsoft.com/office/drawing/2014/main" id="{76CCC417-676E-4549-80A4-F853460A0E39}"/>
              </a:ext>
            </a:extLst>
          </p:cNvPr>
          <p:cNvSpPr>
            <a:spLocks noChangeShapeType="1"/>
          </p:cNvSpPr>
          <p:nvPr/>
        </p:nvSpPr>
        <p:spPr bwMode="auto">
          <a:xfrm>
            <a:off x="4533900" y="4114800"/>
            <a:ext cx="1028700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4604" name="Line 27">
            <a:extLst>
              <a:ext uri="{FF2B5EF4-FFF2-40B4-BE49-F238E27FC236}">
                <a16:creationId xmlns:a16="http://schemas.microsoft.com/office/drawing/2014/main" id="{CC537BDB-13A1-47F0-9ECE-81E3A7A43716}"/>
              </a:ext>
            </a:extLst>
          </p:cNvPr>
          <p:cNvSpPr>
            <a:spLocks noChangeShapeType="1"/>
          </p:cNvSpPr>
          <p:nvPr/>
        </p:nvSpPr>
        <p:spPr bwMode="auto">
          <a:xfrm>
            <a:off x="5553076" y="3124200"/>
            <a:ext cx="85725" cy="1524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4605" name="Text Box 28">
            <a:extLst>
              <a:ext uri="{FF2B5EF4-FFF2-40B4-BE49-F238E27FC236}">
                <a16:creationId xmlns:a16="http://schemas.microsoft.com/office/drawing/2014/main" id="{E6F3D773-5D8C-4251-916E-D5E4493623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18288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2</a:t>
            </a:r>
          </a:p>
        </p:txBody>
      </p:sp>
      <p:sp>
        <p:nvSpPr>
          <p:cNvPr id="24606" name="Text Box 29">
            <a:extLst>
              <a:ext uri="{FF2B5EF4-FFF2-40B4-BE49-F238E27FC236}">
                <a16:creationId xmlns:a16="http://schemas.microsoft.com/office/drawing/2014/main" id="{E4548E3B-0668-4B75-8C42-1D862FD987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3400" y="19050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2</a:t>
            </a:r>
          </a:p>
        </p:txBody>
      </p:sp>
      <p:sp>
        <p:nvSpPr>
          <p:cNvPr id="24607" name="Text Box 30">
            <a:extLst>
              <a:ext uri="{FF2B5EF4-FFF2-40B4-BE49-F238E27FC236}">
                <a16:creationId xmlns:a16="http://schemas.microsoft.com/office/drawing/2014/main" id="{EB764F10-57D2-426A-9052-C8877693C0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16764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2</a:t>
            </a:r>
          </a:p>
        </p:txBody>
      </p:sp>
      <p:sp>
        <p:nvSpPr>
          <p:cNvPr id="24608" name="Text Box 31">
            <a:extLst>
              <a:ext uri="{FF2B5EF4-FFF2-40B4-BE49-F238E27FC236}">
                <a16:creationId xmlns:a16="http://schemas.microsoft.com/office/drawing/2014/main" id="{EC4803D8-F4F8-4467-9E8D-1A0ED8A135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18288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2</a:t>
            </a:r>
          </a:p>
        </p:txBody>
      </p:sp>
      <p:sp>
        <p:nvSpPr>
          <p:cNvPr id="24609" name="Text Box 32">
            <a:extLst>
              <a:ext uri="{FF2B5EF4-FFF2-40B4-BE49-F238E27FC236}">
                <a16:creationId xmlns:a16="http://schemas.microsoft.com/office/drawing/2014/main" id="{6BCF50DC-7FF3-4742-9486-3E625780E1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30480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1</a:t>
            </a:r>
          </a:p>
        </p:txBody>
      </p:sp>
      <p:sp>
        <p:nvSpPr>
          <p:cNvPr id="24610" name="Text Box 33">
            <a:extLst>
              <a:ext uri="{FF2B5EF4-FFF2-40B4-BE49-F238E27FC236}">
                <a16:creationId xmlns:a16="http://schemas.microsoft.com/office/drawing/2014/main" id="{9BED4148-7838-47A1-AF6F-391AE5FF26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40386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3</a:t>
            </a:r>
          </a:p>
        </p:txBody>
      </p:sp>
      <p:sp>
        <p:nvSpPr>
          <p:cNvPr id="24611" name="Text Box 34">
            <a:extLst>
              <a:ext uri="{FF2B5EF4-FFF2-40B4-BE49-F238E27FC236}">
                <a16:creationId xmlns:a16="http://schemas.microsoft.com/office/drawing/2014/main" id="{43BE1892-39E7-4561-B75E-922D24B083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51816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1</a:t>
            </a:r>
          </a:p>
        </p:txBody>
      </p:sp>
      <p:sp>
        <p:nvSpPr>
          <p:cNvPr id="24612" name="Text Box 35">
            <a:extLst>
              <a:ext uri="{FF2B5EF4-FFF2-40B4-BE49-F238E27FC236}">
                <a16:creationId xmlns:a16="http://schemas.microsoft.com/office/drawing/2014/main" id="{A52C2769-04CB-4CC2-AEF6-70AAADDD7C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44196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3</a:t>
            </a:r>
          </a:p>
        </p:txBody>
      </p:sp>
      <p:sp>
        <p:nvSpPr>
          <p:cNvPr id="24613" name="Text Box 36">
            <a:extLst>
              <a:ext uri="{FF2B5EF4-FFF2-40B4-BE49-F238E27FC236}">
                <a16:creationId xmlns:a16="http://schemas.microsoft.com/office/drawing/2014/main" id="{6B156D48-0358-4F42-84BD-E98C734003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32766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2</a:t>
            </a:r>
          </a:p>
        </p:txBody>
      </p:sp>
      <p:sp>
        <p:nvSpPr>
          <p:cNvPr id="24614" name="Text Box 37">
            <a:extLst>
              <a:ext uri="{FF2B5EF4-FFF2-40B4-BE49-F238E27FC236}">
                <a16:creationId xmlns:a16="http://schemas.microsoft.com/office/drawing/2014/main" id="{8DE98F4D-CE06-4668-8F0D-EC3C9D1758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37338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2</a:t>
            </a:r>
          </a:p>
        </p:txBody>
      </p:sp>
      <p:sp>
        <p:nvSpPr>
          <p:cNvPr id="24615" name="Text Box 38">
            <a:extLst>
              <a:ext uri="{FF2B5EF4-FFF2-40B4-BE49-F238E27FC236}">
                <a16:creationId xmlns:a16="http://schemas.microsoft.com/office/drawing/2014/main" id="{6A773641-2E15-4217-9521-BA3CE5041C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41910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2</a:t>
            </a:r>
          </a:p>
        </p:txBody>
      </p:sp>
      <p:sp>
        <p:nvSpPr>
          <p:cNvPr id="24616" name="Text Box 39">
            <a:extLst>
              <a:ext uri="{FF2B5EF4-FFF2-40B4-BE49-F238E27FC236}">
                <a16:creationId xmlns:a16="http://schemas.microsoft.com/office/drawing/2014/main" id="{3AD2C574-0AD6-498F-A759-6281AEDDFA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36576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3</a:t>
            </a:r>
          </a:p>
        </p:txBody>
      </p:sp>
      <p:sp>
        <p:nvSpPr>
          <p:cNvPr id="24617" name="Text Box 40">
            <a:extLst>
              <a:ext uri="{FF2B5EF4-FFF2-40B4-BE49-F238E27FC236}">
                <a16:creationId xmlns:a16="http://schemas.microsoft.com/office/drawing/2014/main" id="{39319496-C53E-4FD4-8F2B-DB6F58EDAF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1371600"/>
            <a:ext cx="3657600" cy="4362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800">
                <a:latin typeface="Times New Roman" panose="02020603050405020304" pitchFamily="18" charset="0"/>
                <a:ea typeface="新細明體" panose="02020500000000000000" pitchFamily="18" charset="-120"/>
              </a:rPr>
              <a:t>Weight indicates the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800" i="1">
                <a:solidFill>
                  <a:srgbClr val="FF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operation latency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TW" sz="2800">
              <a:latin typeface="Times New Roman" panose="02020603050405020304" pitchFamily="18" charset="0"/>
              <a:ea typeface="新細明體" panose="02020500000000000000" pitchFamily="18" charset="-12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800">
                <a:latin typeface="Times New Roman" panose="02020603050405020304" pitchFamily="18" charset="0"/>
                <a:ea typeface="新細明體" panose="02020500000000000000" pitchFamily="18" charset="-120"/>
              </a:rPr>
              <a:t>Here we assume a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TW" sz="2800">
              <a:latin typeface="Times New Roman" panose="02020603050405020304" pitchFamily="18" charset="0"/>
              <a:ea typeface="新細明體" panose="02020500000000000000" pitchFamily="18" charset="-12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800">
                <a:latin typeface="Times New Roman" panose="02020603050405020304" pitchFamily="18" charset="0"/>
                <a:ea typeface="新細明體" panose="02020500000000000000" pitchFamily="18" charset="-120"/>
              </a:rPr>
              <a:t>Load takes 	2 cycles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TW" sz="2800">
              <a:latin typeface="Times New Roman" panose="02020603050405020304" pitchFamily="18" charset="0"/>
              <a:ea typeface="新細明體" panose="02020500000000000000" pitchFamily="18" charset="-12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800">
                <a:latin typeface="Times New Roman" panose="02020603050405020304" pitchFamily="18" charset="0"/>
                <a:ea typeface="新細明體" panose="02020500000000000000" pitchFamily="18" charset="-120"/>
              </a:rPr>
              <a:t>Multiply takes 3 cycles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TW" sz="2800">
              <a:latin typeface="Times New Roman" panose="02020603050405020304" pitchFamily="18" charset="0"/>
              <a:ea typeface="新細明體" panose="02020500000000000000" pitchFamily="18" charset="-12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800">
                <a:latin typeface="Times New Roman" panose="02020603050405020304" pitchFamily="18" charset="0"/>
                <a:ea typeface="新細明體" panose="02020500000000000000" pitchFamily="18" charset="-120"/>
              </a:rPr>
              <a:t>Add takes 	1 cycle</a:t>
            </a:r>
          </a:p>
        </p:txBody>
      </p:sp>
    </p:spTree>
  </p:cSld>
  <p:clrMapOvr>
    <a:masterClrMapping/>
  </p:clrMapOvr>
  <p:transition spd="slow"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投影片編號版面配置區 4">
            <a:extLst>
              <a:ext uri="{FF2B5EF4-FFF2-40B4-BE49-F238E27FC236}">
                <a16:creationId xmlns:a16="http://schemas.microsoft.com/office/drawing/2014/main" id="{A6FD45C1-A408-43C6-95E7-13D479752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477000"/>
            <a:ext cx="21336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C617185-153E-45BC-B4C7-289A43A87FD1}" type="slidenum">
              <a:rPr lang="zh-TW" altLang="en-US" smtClean="0"/>
              <a:pPr>
                <a:spcBef>
                  <a:spcPct val="0"/>
                </a:spcBef>
                <a:buFontTx/>
                <a:buNone/>
              </a:pPr>
              <a:t>12</a:t>
            </a:fld>
            <a:endParaRPr lang="en-US" altLang="zh-TW" sz="1400"/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2441840C-DC7C-4CA9-B74E-04C8394333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71700" y="-76200"/>
            <a:ext cx="7772400" cy="914400"/>
          </a:xfrm>
        </p:spPr>
        <p:txBody>
          <a:bodyPr/>
          <a:lstStyle/>
          <a:p>
            <a:pPr eaLnBrk="1" hangingPunct="1"/>
            <a:r>
              <a:rPr lang="en-US" altLang="zh-TW" sz="4000" dirty="0">
                <a:ea typeface="新細明體" panose="02020500000000000000" pitchFamily="18" charset="-120"/>
              </a:rPr>
              <a:t>Critical Paths</a:t>
            </a:r>
          </a:p>
        </p:txBody>
      </p:sp>
      <p:sp>
        <p:nvSpPr>
          <p:cNvPr id="25604" name="Oval 3">
            <a:extLst>
              <a:ext uri="{FF2B5EF4-FFF2-40B4-BE49-F238E27FC236}">
                <a16:creationId xmlns:a16="http://schemas.microsoft.com/office/drawing/2014/main" id="{38F9B2CF-85FC-4AE2-B736-320681156F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1066800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1</a:t>
            </a:r>
          </a:p>
        </p:txBody>
      </p:sp>
      <p:sp>
        <p:nvSpPr>
          <p:cNvPr id="25605" name="Oval 4">
            <a:extLst>
              <a:ext uri="{FF2B5EF4-FFF2-40B4-BE49-F238E27FC236}">
                <a16:creationId xmlns:a16="http://schemas.microsoft.com/office/drawing/2014/main" id="{1D65D4C0-25A4-4744-B031-F0C7EEDAAC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1066800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2</a:t>
            </a:r>
          </a:p>
        </p:txBody>
      </p:sp>
      <p:sp>
        <p:nvSpPr>
          <p:cNvPr id="25606" name="Oval 5">
            <a:extLst>
              <a:ext uri="{FF2B5EF4-FFF2-40B4-BE49-F238E27FC236}">
                <a16:creationId xmlns:a16="http://schemas.microsoft.com/office/drawing/2014/main" id="{E60FDA6A-4A31-45C3-BB26-013B765141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2286000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3</a:t>
            </a:r>
          </a:p>
        </p:txBody>
      </p:sp>
      <p:sp>
        <p:nvSpPr>
          <p:cNvPr id="25607" name="Line 6">
            <a:extLst>
              <a:ext uri="{FF2B5EF4-FFF2-40B4-BE49-F238E27FC236}">
                <a16:creationId xmlns:a16="http://schemas.microsoft.com/office/drawing/2014/main" id="{34DCB57B-CBC1-441B-BF12-2E21A5F39680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1600200"/>
            <a:ext cx="1588" cy="68580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5608" name="Line 7">
            <a:extLst>
              <a:ext uri="{FF2B5EF4-FFF2-40B4-BE49-F238E27FC236}">
                <a16:creationId xmlns:a16="http://schemas.microsoft.com/office/drawing/2014/main" id="{A3626E3E-78C0-491F-ADF6-B713E78591F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95650" y="1600200"/>
            <a:ext cx="1200150" cy="76200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5609" name="Oval 8">
            <a:extLst>
              <a:ext uri="{FF2B5EF4-FFF2-40B4-BE49-F238E27FC236}">
                <a16:creationId xmlns:a16="http://schemas.microsoft.com/office/drawing/2014/main" id="{04A0FA68-F970-4326-922C-4F9393FCFB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3276600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4</a:t>
            </a:r>
          </a:p>
        </p:txBody>
      </p:sp>
      <p:sp>
        <p:nvSpPr>
          <p:cNvPr id="25610" name="Oval 9">
            <a:extLst>
              <a:ext uri="{FF2B5EF4-FFF2-40B4-BE49-F238E27FC236}">
                <a16:creationId xmlns:a16="http://schemas.microsoft.com/office/drawing/2014/main" id="{65A39BEB-75EA-4A55-A72B-06EBE7D4C1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2286000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5</a:t>
            </a:r>
          </a:p>
        </p:txBody>
      </p:sp>
      <p:sp>
        <p:nvSpPr>
          <p:cNvPr id="25611" name="Line 10">
            <a:extLst>
              <a:ext uri="{FF2B5EF4-FFF2-40B4-BE49-F238E27FC236}">
                <a16:creationId xmlns:a16="http://schemas.microsoft.com/office/drawing/2014/main" id="{7BAA3FEC-C945-4C53-B8B5-F7334F4F2425}"/>
              </a:ext>
            </a:extLst>
          </p:cNvPr>
          <p:cNvSpPr>
            <a:spLocks noChangeShapeType="1"/>
          </p:cNvSpPr>
          <p:nvPr/>
        </p:nvSpPr>
        <p:spPr bwMode="auto">
          <a:xfrm>
            <a:off x="3295650" y="1524000"/>
            <a:ext cx="120015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5612" name="Line 11">
            <a:extLst>
              <a:ext uri="{FF2B5EF4-FFF2-40B4-BE49-F238E27FC236}">
                <a16:creationId xmlns:a16="http://schemas.microsoft.com/office/drawing/2014/main" id="{71C33CAA-861A-4213-B449-1509F93B077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648200" y="1600200"/>
            <a:ext cx="1588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5613" name="Line 12">
            <a:extLst>
              <a:ext uri="{FF2B5EF4-FFF2-40B4-BE49-F238E27FC236}">
                <a16:creationId xmlns:a16="http://schemas.microsoft.com/office/drawing/2014/main" id="{5CE5D88F-37FC-4595-BA2A-3DEAB5AE393A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2819400"/>
            <a:ext cx="1588" cy="53340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5614" name="Oval 13">
            <a:extLst>
              <a:ext uri="{FF2B5EF4-FFF2-40B4-BE49-F238E27FC236}">
                <a16:creationId xmlns:a16="http://schemas.microsoft.com/office/drawing/2014/main" id="{605E283C-DFAD-4F7E-BE00-0E1D075FB9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4343400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6</a:t>
            </a:r>
          </a:p>
        </p:txBody>
      </p:sp>
      <p:sp>
        <p:nvSpPr>
          <p:cNvPr id="25615" name="Line 14">
            <a:extLst>
              <a:ext uri="{FF2B5EF4-FFF2-40B4-BE49-F238E27FC236}">
                <a16:creationId xmlns:a16="http://schemas.microsoft.com/office/drawing/2014/main" id="{F57217B4-891C-4E55-AE64-F46933C1560F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3810000"/>
            <a:ext cx="1588" cy="53340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5616" name="Oval 15">
            <a:extLst>
              <a:ext uri="{FF2B5EF4-FFF2-40B4-BE49-F238E27FC236}">
                <a16:creationId xmlns:a16="http://schemas.microsoft.com/office/drawing/2014/main" id="{FB99666B-363C-464C-BF11-050A998CE9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5410200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7</a:t>
            </a:r>
          </a:p>
        </p:txBody>
      </p:sp>
      <p:sp>
        <p:nvSpPr>
          <p:cNvPr id="25617" name="Line 16">
            <a:extLst>
              <a:ext uri="{FF2B5EF4-FFF2-40B4-BE49-F238E27FC236}">
                <a16:creationId xmlns:a16="http://schemas.microsoft.com/office/drawing/2014/main" id="{29F6ADA9-D521-492F-A67C-7B5607971E5F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4876800"/>
            <a:ext cx="1588" cy="53340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5618" name="Line 17">
            <a:extLst>
              <a:ext uri="{FF2B5EF4-FFF2-40B4-BE49-F238E27FC236}">
                <a16:creationId xmlns:a16="http://schemas.microsoft.com/office/drawing/2014/main" id="{0579FCCA-93BE-47CB-905C-3F6AF175F07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76600" y="2819400"/>
            <a:ext cx="1371600" cy="2590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5619" name="Oval 18">
            <a:extLst>
              <a:ext uri="{FF2B5EF4-FFF2-40B4-BE49-F238E27FC236}">
                <a16:creationId xmlns:a16="http://schemas.microsoft.com/office/drawing/2014/main" id="{A9D2AFF4-F3F2-4E53-B8CA-AF6C927D70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3352800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8</a:t>
            </a:r>
          </a:p>
        </p:txBody>
      </p:sp>
      <p:sp>
        <p:nvSpPr>
          <p:cNvPr id="25620" name="Line 19">
            <a:extLst>
              <a:ext uri="{FF2B5EF4-FFF2-40B4-BE49-F238E27FC236}">
                <a16:creationId xmlns:a16="http://schemas.microsoft.com/office/drawing/2014/main" id="{7DEFB293-4AF2-469E-8129-488D930EC6F6}"/>
              </a:ext>
            </a:extLst>
          </p:cNvPr>
          <p:cNvSpPr>
            <a:spLocks noChangeShapeType="1"/>
          </p:cNvSpPr>
          <p:nvPr/>
        </p:nvSpPr>
        <p:spPr bwMode="auto">
          <a:xfrm>
            <a:off x="4705350" y="2819400"/>
            <a:ext cx="171450" cy="533400"/>
          </a:xfrm>
          <a:prstGeom prst="line">
            <a:avLst/>
          </a:prstGeom>
          <a:noFill/>
          <a:ln w="57150">
            <a:solidFill>
              <a:schemeClr val="tx1"/>
            </a:solidFill>
            <a:prstDash val="dashDot"/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5621" name="Line 20">
            <a:extLst>
              <a:ext uri="{FF2B5EF4-FFF2-40B4-BE49-F238E27FC236}">
                <a16:creationId xmlns:a16="http://schemas.microsoft.com/office/drawing/2014/main" id="{09298B31-4F3F-4A92-8C26-4EB4088B7325}"/>
              </a:ext>
            </a:extLst>
          </p:cNvPr>
          <p:cNvSpPr>
            <a:spLocks noChangeShapeType="1"/>
          </p:cNvSpPr>
          <p:nvPr/>
        </p:nvSpPr>
        <p:spPr bwMode="auto">
          <a:xfrm>
            <a:off x="3362326" y="2743200"/>
            <a:ext cx="1285875" cy="685800"/>
          </a:xfrm>
          <a:prstGeom prst="line">
            <a:avLst/>
          </a:prstGeom>
          <a:noFill/>
          <a:ln w="57150">
            <a:solidFill>
              <a:schemeClr val="tx1"/>
            </a:solidFill>
            <a:prstDash val="dashDot"/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5622" name="Oval 21">
            <a:extLst>
              <a:ext uri="{FF2B5EF4-FFF2-40B4-BE49-F238E27FC236}">
                <a16:creationId xmlns:a16="http://schemas.microsoft.com/office/drawing/2014/main" id="{8E9D56AB-B444-4323-970E-257BCAA42F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4419600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10</a:t>
            </a:r>
          </a:p>
        </p:txBody>
      </p:sp>
      <p:sp>
        <p:nvSpPr>
          <p:cNvPr id="25623" name="Line 22">
            <a:extLst>
              <a:ext uri="{FF2B5EF4-FFF2-40B4-BE49-F238E27FC236}">
                <a16:creationId xmlns:a16="http://schemas.microsoft.com/office/drawing/2014/main" id="{9D451D4D-F486-43EE-93C9-6BF3821DFDEB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9000" y="3657600"/>
            <a:ext cx="137160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5624" name="Oval 23">
            <a:extLst>
              <a:ext uri="{FF2B5EF4-FFF2-40B4-BE49-F238E27FC236}">
                <a16:creationId xmlns:a16="http://schemas.microsoft.com/office/drawing/2014/main" id="{D1A62B20-5427-4C7E-9FDE-6AC8D86C7A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2286000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9</a:t>
            </a:r>
          </a:p>
        </p:txBody>
      </p:sp>
      <p:sp>
        <p:nvSpPr>
          <p:cNvPr id="25625" name="Line 24">
            <a:extLst>
              <a:ext uri="{FF2B5EF4-FFF2-40B4-BE49-F238E27FC236}">
                <a16:creationId xmlns:a16="http://schemas.microsoft.com/office/drawing/2014/main" id="{2A3E9751-F1C7-48FF-B7F6-2C27AB83903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00626" y="2895600"/>
            <a:ext cx="942975" cy="1524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5626" name="Oval 25">
            <a:extLst>
              <a:ext uri="{FF2B5EF4-FFF2-40B4-BE49-F238E27FC236}">
                <a16:creationId xmlns:a16="http://schemas.microsoft.com/office/drawing/2014/main" id="{1E788807-B26C-418E-B236-CDF2B613F4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4419600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11</a:t>
            </a:r>
          </a:p>
        </p:txBody>
      </p:sp>
      <p:sp>
        <p:nvSpPr>
          <p:cNvPr id="25627" name="Line 26">
            <a:extLst>
              <a:ext uri="{FF2B5EF4-FFF2-40B4-BE49-F238E27FC236}">
                <a16:creationId xmlns:a16="http://schemas.microsoft.com/office/drawing/2014/main" id="{EC00FD20-5BB9-455A-8ECB-890AD094F778}"/>
              </a:ext>
            </a:extLst>
          </p:cNvPr>
          <p:cNvSpPr>
            <a:spLocks noChangeShapeType="1"/>
          </p:cNvSpPr>
          <p:nvPr/>
        </p:nvSpPr>
        <p:spPr bwMode="auto">
          <a:xfrm>
            <a:off x="4914900" y="3886200"/>
            <a:ext cx="1028700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5628" name="Line 27">
            <a:extLst>
              <a:ext uri="{FF2B5EF4-FFF2-40B4-BE49-F238E27FC236}">
                <a16:creationId xmlns:a16="http://schemas.microsoft.com/office/drawing/2014/main" id="{AC8B5C8A-448B-4B38-922B-C3491AB12E43}"/>
              </a:ext>
            </a:extLst>
          </p:cNvPr>
          <p:cNvSpPr>
            <a:spLocks noChangeShapeType="1"/>
          </p:cNvSpPr>
          <p:nvPr/>
        </p:nvSpPr>
        <p:spPr bwMode="auto">
          <a:xfrm>
            <a:off x="5934076" y="2895600"/>
            <a:ext cx="85725" cy="1524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5629" name="Text Box 28">
            <a:extLst>
              <a:ext uri="{FF2B5EF4-FFF2-40B4-BE49-F238E27FC236}">
                <a16:creationId xmlns:a16="http://schemas.microsoft.com/office/drawing/2014/main" id="{650679F6-342C-4090-8667-E9A6880EDD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16002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2</a:t>
            </a:r>
          </a:p>
        </p:txBody>
      </p:sp>
      <p:sp>
        <p:nvSpPr>
          <p:cNvPr id="25630" name="Text Box 29">
            <a:extLst>
              <a:ext uri="{FF2B5EF4-FFF2-40B4-BE49-F238E27FC236}">
                <a16:creationId xmlns:a16="http://schemas.microsoft.com/office/drawing/2014/main" id="{1FC3FD6A-1165-4DDF-9AAF-E47A4C0E16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16764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2</a:t>
            </a:r>
          </a:p>
        </p:txBody>
      </p:sp>
      <p:sp>
        <p:nvSpPr>
          <p:cNvPr id="25631" name="Text Box 30">
            <a:extLst>
              <a:ext uri="{FF2B5EF4-FFF2-40B4-BE49-F238E27FC236}">
                <a16:creationId xmlns:a16="http://schemas.microsoft.com/office/drawing/2014/main" id="{5F53D808-CBB5-4874-820D-0918353035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14478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2</a:t>
            </a:r>
          </a:p>
        </p:txBody>
      </p:sp>
      <p:sp>
        <p:nvSpPr>
          <p:cNvPr id="25632" name="Text Box 31">
            <a:extLst>
              <a:ext uri="{FF2B5EF4-FFF2-40B4-BE49-F238E27FC236}">
                <a16:creationId xmlns:a16="http://schemas.microsoft.com/office/drawing/2014/main" id="{BB4978E4-EB9F-4519-A713-9A05875052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16002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2</a:t>
            </a:r>
          </a:p>
        </p:txBody>
      </p:sp>
      <p:sp>
        <p:nvSpPr>
          <p:cNvPr id="25633" name="Text Box 32">
            <a:extLst>
              <a:ext uri="{FF2B5EF4-FFF2-40B4-BE49-F238E27FC236}">
                <a16:creationId xmlns:a16="http://schemas.microsoft.com/office/drawing/2014/main" id="{72D4A1B9-6220-40B3-BEA2-679027DE31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28194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1</a:t>
            </a:r>
          </a:p>
        </p:txBody>
      </p:sp>
      <p:sp>
        <p:nvSpPr>
          <p:cNvPr id="25634" name="Text Box 33">
            <a:extLst>
              <a:ext uri="{FF2B5EF4-FFF2-40B4-BE49-F238E27FC236}">
                <a16:creationId xmlns:a16="http://schemas.microsoft.com/office/drawing/2014/main" id="{8CBE2628-5020-44D4-8300-E0F8225F2A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38100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3</a:t>
            </a:r>
          </a:p>
        </p:txBody>
      </p:sp>
      <p:sp>
        <p:nvSpPr>
          <p:cNvPr id="25635" name="Text Box 34">
            <a:extLst>
              <a:ext uri="{FF2B5EF4-FFF2-40B4-BE49-F238E27FC236}">
                <a16:creationId xmlns:a16="http://schemas.microsoft.com/office/drawing/2014/main" id="{EEAE7B95-D57C-4CE8-83CE-62F3F7A7EA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49530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1</a:t>
            </a:r>
          </a:p>
        </p:txBody>
      </p:sp>
      <p:sp>
        <p:nvSpPr>
          <p:cNvPr id="25636" name="Text Box 35">
            <a:extLst>
              <a:ext uri="{FF2B5EF4-FFF2-40B4-BE49-F238E27FC236}">
                <a16:creationId xmlns:a16="http://schemas.microsoft.com/office/drawing/2014/main" id="{8EF1A525-BFA9-49F2-8237-1D24A7EEBD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41910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3</a:t>
            </a:r>
          </a:p>
        </p:txBody>
      </p:sp>
      <p:sp>
        <p:nvSpPr>
          <p:cNvPr id="25637" name="Text Box 36">
            <a:extLst>
              <a:ext uri="{FF2B5EF4-FFF2-40B4-BE49-F238E27FC236}">
                <a16:creationId xmlns:a16="http://schemas.microsoft.com/office/drawing/2014/main" id="{36296C56-FB09-42C5-9481-16F56F3AB8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30480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2</a:t>
            </a:r>
          </a:p>
        </p:txBody>
      </p:sp>
      <p:sp>
        <p:nvSpPr>
          <p:cNvPr id="25638" name="Text Box 37">
            <a:extLst>
              <a:ext uri="{FF2B5EF4-FFF2-40B4-BE49-F238E27FC236}">
                <a16:creationId xmlns:a16="http://schemas.microsoft.com/office/drawing/2014/main" id="{0FD267EA-FE97-4F71-9C06-4002EA33B3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0" y="35052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2</a:t>
            </a:r>
          </a:p>
        </p:txBody>
      </p:sp>
      <p:sp>
        <p:nvSpPr>
          <p:cNvPr id="25639" name="Text Box 38">
            <a:extLst>
              <a:ext uri="{FF2B5EF4-FFF2-40B4-BE49-F238E27FC236}">
                <a16:creationId xmlns:a16="http://schemas.microsoft.com/office/drawing/2014/main" id="{5CAC67A7-56F8-4A18-BCB3-7A8843F124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39624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2</a:t>
            </a:r>
          </a:p>
        </p:txBody>
      </p:sp>
      <p:sp>
        <p:nvSpPr>
          <p:cNvPr id="25640" name="Text Box 39">
            <a:extLst>
              <a:ext uri="{FF2B5EF4-FFF2-40B4-BE49-F238E27FC236}">
                <a16:creationId xmlns:a16="http://schemas.microsoft.com/office/drawing/2014/main" id="{A8F5C1E7-BE2D-4905-BD9F-1E2D2D6C2A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34290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3</a:t>
            </a:r>
          </a:p>
        </p:txBody>
      </p:sp>
      <p:sp>
        <p:nvSpPr>
          <p:cNvPr id="25641" name="Text Box 40">
            <a:extLst>
              <a:ext uri="{FF2B5EF4-FFF2-40B4-BE49-F238E27FC236}">
                <a16:creationId xmlns:a16="http://schemas.microsoft.com/office/drawing/2014/main" id="{6E5EA2EA-19B2-4E12-9151-0D528A81F8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9401" y="1295400"/>
            <a:ext cx="3462807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General guideline: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TW" sz="2400">
              <a:latin typeface="Times New Roman" panose="02020603050405020304" pitchFamily="18" charset="0"/>
              <a:ea typeface="新細明體" panose="02020500000000000000" pitchFamily="18" charset="-12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Nodes on the critical paths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should be scheduled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as early as possible</a:t>
            </a:r>
          </a:p>
        </p:txBody>
      </p:sp>
    </p:spTree>
  </p:cSld>
  <p:clrMapOvr>
    <a:masterClrMapping/>
  </p:clrMapOvr>
  <p:transition spd="slow"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投影片編號版面配置區 4">
            <a:extLst>
              <a:ext uri="{FF2B5EF4-FFF2-40B4-BE49-F238E27FC236}">
                <a16:creationId xmlns:a16="http://schemas.microsoft.com/office/drawing/2014/main" id="{B1F84206-034C-4F62-A344-52F30C24E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477000"/>
            <a:ext cx="21336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C617185-153E-45BC-B4C7-289A43A87FD1}" type="slidenum">
              <a:rPr lang="zh-TW" altLang="en-US" smtClean="0"/>
              <a:pPr>
                <a:spcBef>
                  <a:spcPct val="0"/>
                </a:spcBef>
                <a:buFontTx/>
                <a:buNone/>
              </a:pPr>
              <a:t>13</a:t>
            </a:fld>
            <a:endParaRPr lang="en-US" altLang="zh-TW" sz="1400"/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7CB38F18-947C-48A6-A461-181EBA770D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90700" y="-141238"/>
            <a:ext cx="8382000" cy="990600"/>
          </a:xfrm>
        </p:spPr>
        <p:txBody>
          <a:bodyPr/>
          <a:lstStyle/>
          <a:p>
            <a:pPr eaLnBrk="1" hangingPunct="1"/>
            <a:r>
              <a:rPr lang="en-US" altLang="zh-TW" sz="3600" dirty="0">
                <a:ea typeface="新細明體" panose="02020500000000000000" pitchFamily="18" charset="-120"/>
              </a:rPr>
              <a:t>Identify Critical Paths</a:t>
            </a:r>
          </a:p>
        </p:txBody>
      </p:sp>
      <p:sp>
        <p:nvSpPr>
          <p:cNvPr id="26628" name="Oval 3">
            <a:extLst>
              <a:ext uri="{FF2B5EF4-FFF2-40B4-BE49-F238E27FC236}">
                <a16:creationId xmlns:a16="http://schemas.microsoft.com/office/drawing/2014/main" id="{B6BC2170-3588-4C35-BA14-C3C8C215BA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1" y="1220926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1 </a:t>
            </a:r>
            <a:r>
              <a:rPr lang="en-US" altLang="zh-TW" sz="2400">
                <a:solidFill>
                  <a:srgbClr val="0099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(7)</a:t>
            </a:r>
          </a:p>
        </p:txBody>
      </p:sp>
      <p:sp>
        <p:nvSpPr>
          <p:cNvPr id="26629" name="Oval 4">
            <a:extLst>
              <a:ext uri="{FF2B5EF4-FFF2-40B4-BE49-F238E27FC236}">
                <a16:creationId xmlns:a16="http://schemas.microsoft.com/office/drawing/2014/main" id="{E67C7213-4D78-4CA6-B74E-A9D67452E2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1" y="1220926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2 </a:t>
            </a:r>
            <a:r>
              <a:rPr lang="en-US" altLang="zh-TW" sz="2400">
                <a:solidFill>
                  <a:srgbClr val="0099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(7)</a:t>
            </a:r>
          </a:p>
        </p:txBody>
      </p:sp>
      <p:sp>
        <p:nvSpPr>
          <p:cNvPr id="26630" name="Oval 5">
            <a:extLst>
              <a:ext uri="{FF2B5EF4-FFF2-40B4-BE49-F238E27FC236}">
                <a16:creationId xmlns:a16="http://schemas.microsoft.com/office/drawing/2014/main" id="{7C024A99-CA8D-4B66-86CD-B06D135667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1" y="2440126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3</a:t>
            </a:r>
            <a:r>
              <a:rPr lang="en-US" altLang="zh-TW" sz="2400">
                <a:solidFill>
                  <a:srgbClr val="0099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(5)</a:t>
            </a:r>
          </a:p>
        </p:txBody>
      </p:sp>
      <p:sp>
        <p:nvSpPr>
          <p:cNvPr id="26631" name="Line 6">
            <a:extLst>
              <a:ext uri="{FF2B5EF4-FFF2-40B4-BE49-F238E27FC236}">
                <a16:creationId xmlns:a16="http://schemas.microsoft.com/office/drawing/2014/main" id="{6A538FCE-603E-4A96-B971-13D03FA90E6F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1" y="1754326"/>
            <a:ext cx="1588" cy="685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6632" name="Line 7">
            <a:extLst>
              <a:ext uri="{FF2B5EF4-FFF2-40B4-BE49-F238E27FC236}">
                <a16:creationId xmlns:a16="http://schemas.microsoft.com/office/drawing/2014/main" id="{B8503D70-9585-4421-B75F-EF185BBBC7B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609851" y="1754326"/>
            <a:ext cx="120015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6633" name="Oval 8">
            <a:extLst>
              <a:ext uri="{FF2B5EF4-FFF2-40B4-BE49-F238E27FC236}">
                <a16:creationId xmlns:a16="http://schemas.microsoft.com/office/drawing/2014/main" id="{652AC39A-9904-4FE4-8ACA-52254E1397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1" y="3430726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4</a:t>
            </a:r>
            <a:r>
              <a:rPr lang="en-US" altLang="zh-TW" sz="2400">
                <a:solidFill>
                  <a:srgbClr val="0099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(4)</a:t>
            </a:r>
          </a:p>
        </p:txBody>
      </p:sp>
      <p:sp>
        <p:nvSpPr>
          <p:cNvPr id="26634" name="Oval 9">
            <a:extLst>
              <a:ext uri="{FF2B5EF4-FFF2-40B4-BE49-F238E27FC236}">
                <a16:creationId xmlns:a16="http://schemas.microsoft.com/office/drawing/2014/main" id="{05AB54CB-535C-4A64-A5AF-20F0F39D84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1" y="2440126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5 </a:t>
            </a:r>
            <a:r>
              <a:rPr lang="en-US" altLang="zh-TW" sz="2400">
                <a:solidFill>
                  <a:srgbClr val="0099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(3)</a:t>
            </a:r>
          </a:p>
        </p:txBody>
      </p:sp>
      <p:sp>
        <p:nvSpPr>
          <p:cNvPr id="26635" name="Line 10">
            <a:extLst>
              <a:ext uri="{FF2B5EF4-FFF2-40B4-BE49-F238E27FC236}">
                <a16:creationId xmlns:a16="http://schemas.microsoft.com/office/drawing/2014/main" id="{14E511B8-2F37-4529-BC30-1F5B8246C961}"/>
              </a:ext>
            </a:extLst>
          </p:cNvPr>
          <p:cNvSpPr>
            <a:spLocks noChangeShapeType="1"/>
          </p:cNvSpPr>
          <p:nvPr/>
        </p:nvSpPr>
        <p:spPr bwMode="auto">
          <a:xfrm>
            <a:off x="2609851" y="1678126"/>
            <a:ext cx="120015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6636" name="Line 11">
            <a:extLst>
              <a:ext uri="{FF2B5EF4-FFF2-40B4-BE49-F238E27FC236}">
                <a16:creationId xmlns:a16="http://schemas.microsoft.com/office/drawing/2014/main" id="{D9554003-8379-49AC-ACDA-8F3A84503AB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62401" y="1754326"/>
            <a:ext cx="1588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6637" name="Line 12">
            <a:extLst>
              <a:ext uri="{FF2B5EF4-FFF2-40B4-BE49-F238E27FC236}">
                <a16:creationId xmlns:a16="http://schemas.microsoft.com/office/drawing/2014/main" id="{E6F8F74C-C9C2-484A-A5C8-A45D5561C552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1" y="2973526"/>
            <a:ext cx="1588" cy="533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6638" name="Oval 13">
            <a:extLst>
              <a:ext uri="{FF2B5EF4-FFF2-40B4-BE49-F238E27FC236}">
                <a16:creationId xmlns:a16="http://schemas.microsoft.com/office/drawing/2014/main" id="{4509B0C5-9502-4777-AF1E-BF20C7CA45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1" y="4497526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0990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6 </a:t>
            </a:r>
            <a:r>
              <a:rPr lang="en-US" altLang="zh-TW" sz="2400">
                <a:solidFill>
                  <a:srgbClr val="0099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(1)</a:t>
            </a:r>
          </a:p>
        </p:txBody>
      </p:sp>
      <p:sp>
        <p:nvSpPr>
          <p:cNvPr id="26639" name="Line 14">
            <a:extLst>
              <a:ext uri="{FF2B5EF4-FFF2-40B4-BE49-F238E27FC236}">
                <a16:creationId xmlns:a16="http://schemas.microsoft.com/office/drawing/2014/main" id="{D5381B1C-AA77-4DAC-9259-BBFDB3792C1C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1" y="3964126"/>
            <a:ext cx="1588" cy="533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6640" name="Oval 15">
            <a:extLst>
              <a:ext uri="{FF2B5EF4-FFF2-40B4-BE49-F238E27FC236}">
                <a16:creationId xmlns:a16="http://schemas.microsoft.com/office/drawing/2014/main" id="{9578EFD3-815F-4236-9733-3D3452B1B1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1" y="5564326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7 </a:t>
            </a:r>
            <a:r>
              <a:rPr lang="en-US" altLang="zh-TW" sz="2400">
                <a:solidFill>
                  <a:srgbClr val="0099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(0)</a:t>
            </a:r>
          </a:p>
        </p:txBody>
      </p:sp>
      <p:sp>
        <p:nvSpPr>
          <p:cNvPr id="26641" name="Line 16">
            <a:extLst>
              <a:ext uri="{FF2B5EF4-FFF2-40B4-BE49-F238E27FC236}">
                <a16:creationId xmlns:a16="http://schemas.microsoft.com/office/drawing/2014/main" id="{B9E17327-99CF-4083-BBF9-33CC8C513D20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1" y="5030926"/>
            <a:ext cx="1588" cy="533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6642" name="Line 17">
            <a:extLst>
              <a:ext uri="{FF2B5EF4-FFF2-40B4-BE49-F238E27FC236}">
                <a16:creationId xmlns:a16="http://schemas.microsoft.com/office/drawing/2014/main" id="{A95F58EE-341F-4B18-9521-5C1A5CF6629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90801" y="2973526"/>
            <a:ext cx="1371600" cy="2590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6643" name="Oval 18">
            <a:extLst>
              <a:ext uri="{FF2B5EF4-FFF2-40B4-BE49-F238E27FC236}">
                <a16:creationId xmlns:a16="http://schemas.microsoft.com/office/drawing/2014/main" id="{D94A727D-9B35-491F-A238-D14363DD80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1" y="3506926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8 </a:t>
            </a:r>
            <a:r>
              <a:rPr lang="en-US" altLang="zh-TW" sz="2400">
                <a:solidFill>
                  <a:srgbClr val="0099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(2)</a:t>
            </a:r>
          </a:p>
        </p:txBody>
      </p:sp>
      <p:sp>
        <p:nvSpPr>
          <p:cNvPr id="26644" name="Line 19">
            <a:extLst>
              <a:ext uri="{FF2B5EF4-FFF2-40B4-BE49-F238E27FC236}">
                <a16:creationId xmlns:a16="http://schemas.microsoft.com/office/drawing/2014/main" id="{1FDF4B3F-0812-42AE-8919-42205E51FB34}"/>
              </a:ext>
            </a:extLst>
          </p:cNvPr>
          <p:cNvSpPr>
            <a:spLocks noChangeShapeType="1"/>
          </p:cNvSpPr>
          <p:nvPr/>
        </p:nvSpPr>
        <p:spPr bwMode="auto">
          <a:xfrm>
            <a:off x="4019551" y="2973526"/>
            <a:ext cx="171450" cy="533400"/>
          </a:xfrm>
          <a:prstGeom prst="line">
            <a:avLst/>
          </a:prstGeom>
          <a:noFill/>
          <a:ln w="57150">
            <a:solidFill>
              <a:schemeClr val="tx1"/>
            </a:solidFill>
            <a:prstDash val="dashDot"/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6645" name="Line 20">
            <a:extLst>
              <a:ext uri="{FF2B5EF4-FFF2-40B4-BE49-F238E27FC236}">
                <a16:creationId xmlns:a16="http://schemas.microsoft.com/office/drawing/2014/main" id="{540259E3-11BB-40D9-97E5-9106F1ABC2AC}"/>
              </a:ext>
            </a:extLst>
          </p:cNvPr>
          <p:cNvSpPr>
            <a:spLocks noChangeShapeType="1"/>
          </p:cNvSpPr>
          <p:nvPr/>
        </p:nvSpPr>
        <p:spPr bwMode="auto">
          <a:xfrm>
            <a:off x="2676527" y="2897326"/>
            <a:ext cx="1285875" cy="685800"/>
          </a:xfrm>
          <a:prstGeom prst="line">
            <a:avLst/>
          </a:prstGeom>
          <a:noFill/>
          <a:ln w="57150">
            <a:solidFill>
              <a:schemeClr val="tx1"/>
            </a:solidFill>
            <a:prstDash val="dashDot"/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6646" name="Oval 21">
            <a:extLst>
              <a:ext uri="{FF2B5EF4-FFF2-40B4-BE49-F238E27FC236}">
                <a16:creationId xmlns:a16="http://schemas.microsoft.com/office/drawing/2014/main" id="{B66DE53C-84DA-4465-94A5-D79EA14C0C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1" y="4573726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10 </a:t>
            </a:r>
            <a:r>
              <a:rPr lang="en-US" altLang="zh-TW" sz="2400">
                <a:solidFill>
                  <a:srgbClr val="0099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(0)</a:t>
            </a:r>
          </a:p>
        </p:txBody>
      </p:sp>
      <p:sp>
        <p:nvSpPr>
          <p:cNvPr id="26647" name="Line 22">
            <a:extLst>
              <a:ext uri="{FF2B5EF4-FFF2-40B4-BE49-F238E27FC236}">
                <a16:creationId xmlns:a16="http://schemas.microsoft.com/office/drawing/2014/main" id="{82EA21CE-854B-436B-83E2-7D219FD4F0B4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1" y="3811726"/>
            <a:ext cx="137160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6648" name="Oval 23">
            <a:extLst>
              <a:ext uri="{FF2B5EF4-FFF2-40B4-BE49-F238E27FC236}">
                <a16:creationId xmlns:a16="http://schemas.microsoft.com/office/drawing/2014/main" id="{8A05E25E-3B9E-46FF-B54E-2380C43CF8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1" y="2440126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9 </a:t>
            </a:r>
            <a:r>
              <a:rPr lang="en-US" altLang="zh-TW" sz="2400">
                <a:solidFill>
                  <a:srgbClr val="0099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(2)</a:t>
            </a:r>
          </a:p>
        </p:txBody>
      </p:sp>
      <p:sp>
        <p:nvSpPr>
          <p:cNvPr id="26649" name="Line 24">
            <a:extLst>
              <a:ext uri="{FF2B5EF4-FFF2-40B4-BE49-F238E27FC236}">
                <a16:creationId xmlns:a16="http://schemas.microsoft.com/office/drawing/2014/main" id="{39CE4731-9C06-4B5F-9423-48DDD38EC6C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314827" y="3049726"/>
            <a:ext cx="942975" cy="1524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6650" name="Oval 25">
            <a:extLst>
              <a:ext uri="{FF2B5EF4-FFF2-40B4-BE49-F238E27FC236}">
                <a16:creationId xmlns:a16="http://schemas.microsoft.com/office/drawing/2014/main" id="{70B72430-DD03-4961-8ABA-71F6C4A7F1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1" y="4573726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11 </a:t>
            </a:r>
            <a:r>
              <a:rPr lang="en-US" altLang="zh-TW" sz="2400">
                <a:solidFill>
                  <a:srgbClr val="0099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(0)</a:t>
            </a:r>
          </a:p>
        </p:txBody>
      </p:sp>
      <p:sp>
        <p:nvSpPr>
          <p:cNvPr id="26651" name="Line 26">
            <a:extLst>
              <a:ext uri="{FF2B5EF4-FFF2-40B4-BE49-F238E27FC236}">
                <a16:creationId xmlns:a16="http://schemas.microsoft.com/office/drawing/2014/main" id="{E7DC9CD0-D0D5-42FD-9F04-40C9BFAAB237}"/>
              </a:ext>
            </a:extLst>
          </p:cNvPr>
          <p:cNvSpPr>
            <a:spLocks noChangeShapeType="1"/>
          </p:cNvSpPr>
          <p:nvPr/>
        </p:nvSpPr>
        <p:spPr bwMode="auto">
          <a:xfrm>
            <a:off x="4229101" y="4040326"/>
            <a:ext cx="1028700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6652" name="Line 27">
            <a:extLst>
              <a:ext uri="{FF2B5EF4-FFF2-40B4-BE49-F238E27FC236}">
                <a16:creationId xmlns:a16="http://schemas.microsoft.com/office/drawing/2014/main" id="{DB304FED-2048-45B6-9528-8D43EE879F31}"/>
              </a:ext>
            </a:extLst>
          </p:cNvPr>
          <p:cNvSpPr>
            <a:spLocks noChangeShapeType="1"/>
          </p:cNvSpPr>
          <p:nvPr/>
        </p:nvSpPr>
        <p:spPr bwMode="auto">
          <a:xfrm>
            <a:off x="5248277" y="3049726"/>
            <a:ext cx="85725" cy="1524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6653" name="Text Box 28">
            <a:extLst>
              <a:ext uri="{FF2B5EF4-FFF2-40B4-BE49-F238E27FC236}">
                <a16:creationId xmlns:a16="http://schemas.microsoft.com/office/drawing/2014/main" id="{62BDACD4-E464-4A4B-95FD-AEED586B14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1" y="1754326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2</a:t>
            </a:r>
          </a:p>
        </p:txBody>
      </p:sp>
      <p:sp>
        <p:nvSpPr>
          <p:cNvPr id="26654" name="Text Box 29">
            <a:extLst>
              <a:ext uri="{FF2B5EF4-FFF2-40B4-BE49-F238E27FC236}">
                <a16:creationId xmlns:a16="http://schemas.microsoft.com/office/drawing/2014/main" id="{EF764553-256A-48EA-AD65-8E4C02E3BD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1" y="1830526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2</a:t>
            </a:r>
          </a:p>
        </p:txBody>
      </p:sp>
      <p:sp>
        <p:nvSpPr>
          <p:cNvPr id="26655" name="Text Box 30">
            <a:extLst>
              <a:ext uri="{FF2B5EF4-FFF2-40B4-BE49-F238E27FC236}">
                <a16:creationId xmlns:a16="http://schemas.microsoft.com/office/drawing/2014/main" id="{C8179EFA-9D44-4CF7-B536-DB012815C8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1" y="1601926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2</a:t>
            </a:r>
          </a:p>
        </p:txBody>
      </p:sp>
      <p:sp>
        <p:nvSpPr>
          <p:cNvPr id="26656" name="Text Box 31">
            <a:extLst>
              <a:ext uri="{FF2B5EF4-FFF2-40B4-BE49-F238E27FC236}">
                <a16:creationId xmlns:a16="http://schemas.microsoft.com/office/drawing/2014/main" id="{06F06F04-2A62-405A-886E-BCBA87C0E0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1" y="1754326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2</a:t>
            </a:r>
          </a:p>
        </p:txBody>
      </p:sp>
      <p:sp>
        <p:nvSpPr>
          <p:cNvPr id="26657" name="Text Box 32">
            <a:extLst>
              <a:ext uri="{FF2B5EF4-FFF2-40B4-BE49-F238E27FC236}">
                <a16:creationId xmlns:a16="http://schemas.microsoft.com/office/drawing/2014/main" id="{16012935-903C-41EB-880C-E458B75318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1" y="2973526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1</a:t>
            </a:r>
          </a:p>
        </p:txBody>
      </p:sp>
      <p:sp>
        <p:nvSpPr>
          <p:cNvPr id="26658" name="Text Box 33">
            <a:extLst>
              <a:ext uri="{FF2B5EF4-FFF2-40B4-BE49-F238E27FC236}">
                <a16:creationId xmlns:a16="http://schemas.microsoft.com/office/drawing/2014/main" id="{E6A3423E-2D8F-421A-9AFA-E619024EEB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1" y="3964126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3</a:t>
            </a:r>
          </a:p>
        </p:txBody>
      </p:sp>
      <p:sp>
        <p:nvSpPr>
          <p:cNvPr id="26659" name="Text Box 34">
            <a:extLst>
              <a:ext uri="{FF2B5EF4-FFF2-40B4-BE49-F238E27FC236}">
                <a16:creationId xmlns:a16="http://schemas.microsoft.com/office/drawing/2014/main" id="{E24C3EDC-5E38-4317-8666-A9DF17B698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1" y="5107126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1</a:t>
            </a:r>
          </a:p>
        </p:txBody>
      </p:sp>
      <p:sp>
        <p:nvSpPr>
          <p:cNvPr id="26660" name="Text Box 35">
            <a:extLst>
              <a:ext uri="{FF2B5EF4-FFF2-40B4-BE49-F238E27FC236}">
                <a16:creationId xmlns:a16="http://schemas.microsoft.com/office/drawing/2014/main" id="{60571063-01C1-46A0-B28C-2412FA02EB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1" y="4345126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3</a:t>
            </a:r>
          </a:p>
        </p:txBody>
      </p:sp>
      <p:sp>
        <p:nvSpPr>
          <p:cNvPr id="26661" name="Text Box 36">
            <a:extLst>
              <a:ext uri="{FF2B5EF4-FFF2-40B4-BE49-F238E27FC236}">
                <a16:creationId xmlns:a16="http://schemas.microsoft.com/office/drawing/2014/main" id="{0AF08A7D-B05A-42CC-ABB9-3FCD771F6C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1" y="3202126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2</a:t>
            </a:r>
          </a:p>
        </p:txBody>
      </p:sp>
      <p:sp>
        <p:nvSpPr>
          <p:cNvPr id="26662" name="Text Box 37">
            <a:extLst>
              <a:ext uri="{FF2B5EF4-FFF2-40B4-BE49-F238E27FC236}">
                <a16:creationId xmlns:a16="http://schemas.microsoft.com/office/drawing/2014/main" id="{9A4CC90B-FCBC-42BC-9E47-7C1BDC29F4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1" y="3659326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2</a:t>
            </a:r>
          </a:p>
        </p:txBody>
      </p:sp>
      <p:sp>
        <p:nvSpPr>
          <p:cNvPr id="26663" name="Text Box 38">
            <a:extLst>
              <a:ext uri="{FF2B5EF4-FFF2-40B4-BE49-F238E27FC236}">
                <a16:creationId xmlns:a16="http://schemas.microsoft.com/office/drawing/2014/main" id="{191FCA8E-3A95-4E1A-A341-E8434BEF05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1" y="4116526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2</a:t>
            </a:r>
          </a:p>
        </p:txBody>
      </p:sp>
      <p:sp>
        <p:nvSpPr>
          <p:cNvPr id="26664" name="Text Box 39">
            <a:extLst>
              <a:ext uri="{FF2B5EF4-FFF2-40B4-BE49-F238E27FC236}">
                <a16:creationId xmlns:a16="http://schemas.microsoft.com/office/drawing/2014/main" id="{B48CFF6E-AE34-4C75-9DBD-4528018067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1" y="3583126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3</a:t>
            </a:r>
          </a:p>
        </p:txBody>
      </p:sp>
      <p:sp>
        <p:nvSpPr>
          <p:cNvPr id="26665" name="Text Box 40">
            <a:extLst>
              <a:ext uri="{FF2B5EF4-FFF2-40B4-BE49-F238E27FC236}">
                <a16:creationId xmlns:a16="http://schemas.microsoft.com/office/drawing/2014/main" id="{F65D8021-EA7C-4325-9CE6-12FC4A5ACF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1700" y="1198602"/>
            <a:ext cx="457643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Traversing the DAG from the leaves towards the roots labeling each node with the maximum possible delay from that node to the end of the block. (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Reverse Topological Sort</a:t>
            </a: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)</a:t>
            </a:r>
          </a:p>
        </p:txBody>
      </p:sp>
      <p:sp>
        <p:nvSpPr>
          <p:cNvPr id="26666" name="Text Box 41">
            <a:extLst>
              <a:ext uri="{FF2B5EF4-FFF2-40B4-BE49-F238E27FC236}">
                <a16:creationId xmlns:a16="http://schemas.microsoft.com/office/drawing/2014/main" id="{D6463844-1DFB-4EE1-A4F0-228055FF89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6478" y="3811726"/>
            <a:ext cx="3962400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Maximum delay of each node  is computed as:</a:t>
            </a:r>
          </a:p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MD = max ( each child’s MD + </a:t>
            </a:r>
            <a:r>
              <a:rPr lang="en-US" altLang="zh-TW" sz="2400" dirty="0" err="1">
                <a:latin typeface="Times New Roman" panose="02020603050405020304" pitchFamily="18" charset="0"/>
                <a:ea typeface="新細明體" panose="02020500000000000000" pitchFamily="18" charset="-120"/>
              </a:rPr>
              <a:t>arc_weight</a:t>
            </a: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 )</a:t>
            </a:r>
          </a:p>
        </p:txBody>
      </p:sp>
    </p:spTree>
  </p:cSld>
  <p:clrMapOvr>
    <a:masterClrMapping/>
  </p:clrMapOvr>
  <p:transition spd="slow"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2">
            <a:extLst>
              <a:ext uri="{FF2B5EF4-FFF2-40B4-BE49-F238E27FC236}">
                <a16:creationId xmlns:a16="http://schemas.microsoft.com/office/drawing/2014/main" id="{7CB38F18-947C-48A6-A461-181EBA770D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37684" y="-141238"/>
            <a:ext cx="10823943" cy="990600"/>
          </a:xfrm>
        </p:spPr>
        <p:txBody>
          <a:bodyPr/>
          <a:lstStyle/>
          <a:p>
            <a:pPr eaLnBrk="1" hangingPunct="1"/>
            <a:r>
              <a:rPr lang="en-US" altLang="zh-TW" sz="3600" dirty="0">
                <a:ea typeface="新細明體" panose="02020500000000000000" pitchFamily="18" charset="-120"/>
              </a:rPr>
              <a:t>Mark each node with Maximum Delay (yellow number)</a:t>
            </a:r>
          </a:p>
        </p:txBody>
      </p:sp>
      <p:sp>
        <p:nvSpPr>
          <p:cNvPr id="26628" name="Oval 3">
            <a:extLst>
              <a:ext uri="{FF2B5EF4-FFF2-40B4-BE49-F238E27FC236}">
                <a16:creationId xmlns:a16="http://schemas.microsoft.com/office/drawing/2014/main" id="{B6BC2170-3588-4C35-BA14-C3C8C215BA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1" y="1220926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1 </a:t>
            </a:r>
            <a:r>
              <a:rPr lang="en-US" altLang="zh-TW" sz="2400">
                <a:solidFill>
                  <a:srgbClr val="0099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(7)</a:t>
            </a:r>
          </a:p>
        </p:txBody>
      </p:sp>
      <p:sp>
        <p:nvSpPr>
          <p:cNvPr id="26629" name="Oval 4">
            <a:extLst>
              <a:ext uri="{FF2B5EF4-FFF2-40B4-BE49-F238E27FC236}">
                <a16:creationId xmlns:a16="http://schemas.microsoft.com/office/drawing/2014/main" id="{E67C7213-4D78-4CA6-B74E-A9D67452E2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1" y="1220926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2 </a:t>
            </a:r>
            <a:r>
              <a:rPr lang="en-US" altLang="zh-TW" sz="2400">
                <a:solidFill>
                  <a:srgbClr val="0099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(7)</a:t>
            </a:r>
          </a:p>
        </p:txBody>
      </p:sp>
      <p:sp>
        <p:nvSpPr>
          <p:cNvPr id="26630" name="Oval 5">
            <a:extLst>
              <a:ext uri="{FF2B5EF4-FFF2-40B4-BE49-F238E27FC236}">
                <a16:creationId xmlns:a16="http://schemas.microsoft.com/office/drawing/2014/main" id="{7C024A99-CA8D-4B66-86CD-B06D135667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1" y="2440126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3</a:t>
            </a:r>
            <a:r>
              <a:rPr lang="en-US" altLang="zh-TW" sz="2400">
                <a:solidFill>
                  <a:srgbClr val="0099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(5)</a:t>
            </a:r>
          </a:p>
        </p:txBody>
      </p:sp>
      <p:sp>
        <p:nvSpPr>
          <p:cNvPr id="26631" name="Line 6">
            <a:extLst>
              <a:ext uri="{FF2B5EF4-FFF2-40B4-BE49-F238E27FC236}">
                <a16:creationId xmlns:a16="http://schemas.microsoft.com/office/drawing/2014/main" id="{6A538FCE-603E-4A96-B971-13D03FA90E6F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1" y="1754326"/>
            <a:ext cx="1588" cy="685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6632" name="Line 7">
            <a:extLst>
              <a:ext uri="{FF2B5EF4-FFF2-40B4-BE49-F238E27FC236}">
                <a16:creationId xmlns:a16="http://schemas.microsoft.com/office/drawing/2014/main" id="{B8503D70-9585-4421-B75F-EF185BBBC7B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609851" y="1754326"/>
            <a:ext cx="120015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6633" name="Oval 8">
            <a:extLst>
              <a:ext uri="{FF2B5EF4-FFF2-40B4-BE49-F238E27FC236}">
                <a16:creationId xmlns:a16="http://schemas.microsoft.com/office/drawing/2014/main" id="{652AC39A-9904-4FE4-8ACA-52254E1397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1" y="3430726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4</a:t>
            </a:r>
            <a:r>
              <a:rPr lang="en-US" altLang="zh-TW" sz="2400">
                <a:solidFill>
                  <a:srgbClr val="0099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(4)</a:t>
            </a:r>
          </a:p>
        </p:txBody>
      </p:sp>
      <p:sp>
        <p:nvSpPr>
          <p:cNvPr id="26634" name="Oval 9">
            <a:extLst>
              <a:ext uri="{FF2B5EF4-FFF2-40B4-BE49-F238E27FC236}">
                <a16:creationId xmlns:a16="http://schemas.microsoft.com/office/drawing/2014/main" id="{05AB54CB-535C-4A64-A5AF-20F0F39D84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1" y="2440126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5 </a:t>
            </a:r>
            <a:r>
              <a:rPr lang="en-US" altLang="zh-TW" sz="2400">
                <a:solidFill>
                  <a:srgbClr val="0099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(3)</a:t>
            </a:r>
          </a:p>
        </p:txBody>
      </p:sp>
      <p:sp>
        <p:nvSpPr>
          <p:cNvPr id="26635" name="Line 10">
            <a:extLst>
              <a:ext uri="{FF2B5EF4-FFF2-40B4-BE49-F238E27FC236}">
                <a16:creationId xmlns:a16="http://schemas.microsoft.com/office/drawing/2014/main" id="{14E511B8-2F37-4529-BC30-1F5B8246C961}"/>
              </a:ext>
            </a:extLst>
          </p:cNvPr>
          <p:cNvSpPr>
            <a:spLocks noChangeShapeType="1"/>
          </p:cNvSpPr>
          <p:nvPr/>
        </p:nvSpPr>
        <p:spPr bwMode="auto">
          <a:xfrm>
            <a:off x="2609851" y="1678126"/>
            <a:ext cx="120015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6636" name="Line 11">
            <a:extLst>
              <a:ext uri="{FF2B5EF4-FFF2-40B4-BE49-F238E27FC236}">
                <a16:creationId xmlns:a16="http://schemas.microsoft.com/office/drawing/2014/main" id="{D9554003-8379-49AC-ACDA-8F3A84503AB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62401" y="1754326"/>
            <a:ext cx="1588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6637" name="Line 12">
            <a:extLst>
              <a:ext uri="{FF2B5EF4-FFF2-40B4-BE49-F238E27FC236}">
                <a16:creationId xmlns:a16="http://schemas.microsoft.com/office/drawing/2014/main" id="{E6F8F74C-C9C2-484A-A5C8-A45D5561C552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1" y="2973526"/>
            <a:ext cx="1588" cy="533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6638" name="Oval 13">
            <a:extLst>
              <a:ext uri="{FF2B5EF4-FFF2-40B4-BE49-F238E27FC236}">
                <a16:creationId xmlns:a16="http://schemas.microsoft.com/office/drawing/2014/main" id="{4509B0C5-9502-4777-AF1E-BF20C7CA45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1" y="4497526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0990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6 </a:t>
            </a:r>
            <a:r>
              <a:rPr lang="en-US" altLang="zh-TW" sz="2400">
                <a:solidFill>
                  <a:srgbClr val="0099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(1)</a:t>
            </a:r>
          </a:p>
        </p:txBody>
      </p:sp>
      <p:sp>
        <p:nvSpPr>
          <p:cNvPr id="26639" name="Line 14">
            <a:extLst>
              <a:ext uri="{FF2B5EF4-FFF2-40B4-BE49-F238E27FC236}">
                <a16:creationId xmlns:a16="http://schemas.microsoft.com/office/drawing/2014/main" id="{D5381B1C-AA77-4DAC-9259-BBFDB3792C1C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1" y="3964126"/>
            <a:ext cx="1588" cy="533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6640" name="Oval 15">
            <a:extLst>
              <a:ext uri="{FF2B5EF4-FFF2-40B4-BE49-F238E27FC236}">
                <a16:creationId xmlns:a16="http://schemas.microsoft.com/office/drawing/2014/main" id="{9578EFD3-815F-4236-9733-3D3452B1B1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1" y="5564326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7 </a:t>
            </a:r>
            <a:r>
              <a:rPr lang="en-US" altLang="zh-TW" sz="2400">
                <a:solidFill>
                  <a:srgbClr val="0099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(0)</a:t>
            </a:r>
          </a:p>
        </p:txBody>
      </p:sp>
      <p:sp>
        <p:nvSpPr>
          <p:cNvPr id="26641" name="Line 16">
            <a:extLst>
              <a:ext uri="{FF2B5EF4-FFF2-40B4-BE49-F238E27FC236}">
                <a16:creationId xmlns:a16="http://schemas.microsoft.com/office/drawing/2014/main" id="{B9E17327-99CF-4083-BBF9-33CC8C513D20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1" y="5030926"/>
            <a:ext cx="1588" cy="533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6642" name="Line 17">
            <a:extLst>
              <a:ext uri="{FF2B5EF4-FFF2-40B4-BE49-F238E27FC236}">
                <a16:creationId xmlns:a16="http://schemas.microsoft.com/office/drawing/2014/main" id="{A95F58EE-341F-4B18-9521-5C1A5CF6629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90801" y="2973526"/>
            <a:ext cx="1371600" cy="2590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6643" name="Oval 18">
            <a:extLst>
              <a:ext uri="{FF2B5EF4-FFF2-40B4-BE49-F238E27FC236}">
                <a16:creationId xmlns:a16="http://schemas.microsoft.com/office/drawing/2014/main" id="{D94A727D-9B35-491F-A238-D14363DD80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1" y="3506926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8 </a:t>
            </a:r>
            <a:r>
              <a:rPr lang="en-US" altLang="zh-TW" sz="2400">
                <a:solidFill>
                  <a:srgbClr val="0099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(2)</a:t>
            </a:r>
          </a:p>
        </p:txBody>
      </p:sp>
      <p:sp>
        <p:nvSpPr>
          <p:cNvPr id="26644" name="Line 19">
            <a:extLst>
              <a:ext uri="{FF2B5EF4-FFF2-40B4-BE49-F238E27FC236}">
                <a16:creationId xmlns:a16="http://schemas.microsoft.com/office/drawing/2014/main" id="{1FDF4B3F-0812-42AE-8919-42205E51FB34}"/>
              </a:ext>
            </a:extLst>
          </p:cNvPr>
          <p:cNvSpPr>
            <a:spLocks noChangeShapeType="1"/>
          </p:cNvSpPr>
          <p:nvPr/>
        </p:nvSpPr>
        <p:spPr bwMode="auto">
          <a:xfrm>
            <a:off x="4019551" y="2973526"/>
            <a:ext cx="171450" cy="533400"/>
          </a:xfrm>
          <a:prstGeom prst="line">
            <a:avLst/>
          </a:prstGeom>
          <a:noFill/>
          <a:ln w="57150">
            <a:solidFill>
              <a:schemeClr val="tx1"/>
            </a:solidFill>
            <a:prstDash val="dashDot"/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6645" name="Line 20">
            <a:extLst>
              <a:ext uri="{FF2B5EF4-FFF2-40B4-BE49-F238E27FC236}">
                <a16:creationId xmlns:a16="http://schemas.microsoft.com/office/drawing/2014/main" id="{540259E3-11BB-40D9-97E5-9106F1ABC2AC}"/>
              </a:ext>
            </a:extLst>
          </p:cNvPr>
          <p:cNvSpPr>
            <a:spLocks noChangeShapeType="1"/>
          </p:cNvSpPr>
          <p:nvPr/>
        </p:nvSpPr>
        <p:spPr bwMode="auto">
          <a:xfrm>
            <a:off x="2676527" y="2897326"/>
            <a:ext cx="1285875" cy="685800"/>
          </a:xfrm>
          <a:prstGeom prst="line">
            <a:avLst/>
          </a:prstGeom>
          <a:noFill/>
          <a:ln w="57150">
            <a:solidFill>
              <a:schemeClr val="tx1"/>
            </a:solidFill>
            <a:prstDash val="dashDot"/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6646" name="Oval 21">
            <a:extLst>
              <a:ext uri="{FF2B5EF4-FFF2-40B4-BE49-F238E27FC236}">
                <a16:creationId xmlns:a16="http://schemas.microsoft.com/office/drawing/2014/main" id="{B66DE53C-84DA-4465-94A5-D79EA14C0C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1" y="4573726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10 </a:t>
            </a:r>
            <a:r>
              <a:rPr lang="en-US" altLang="zh-TW" sz="2400">
                <a:solidFill>
                  <a:srgbClr val="0099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(0)</a:t>
            </a:r>
          </a:p>
        </p:txBody>
      </p:sp>
      <p:sp>
        <p:nvSpPr>
          <p:cNvPr id="26647" name="Line 22">
            <a:extLst>
              <a:ext uri="{FF2B5EF4-FFF2-40B4-BE49-F238E27FC236}">
                <a16:creationId xmlns:a16="http://schemas.microsoft.com/office/drawing/2014/main" id="{82EA21CE-854B-436B-83E2-7D219FD4F0B4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1" y="3811726"/>
            <a:ext cx="137160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6648" name="Oval 23">
            <a:extLst>
              <a:ext uri="{FF2B5EF4-FFF2-40B4-BE49-F238E27FC236}">
                <a16:creationId xmlns:a16="http://schemas.microsoft.com/office/drawing/2014/main" id="{8A05E25E-3B9E-46FF-B54E-2380C43CF8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1" y="2440126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9 </a:t>
            </a:r>
            <a:r>
              <a:rPr lang="en-US" altLang="zh-TW" sz="2400">
                <a:solidFill>
                  <a:srgbClr val="0099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(2)</a:t>
            </a:r>
          </a:p>
        </p:txBody>
      </p:sp>
      <p:sp>
        <p:nvSpPr>
          <p:cNvPr id="26649" name="Line 24">
            <a:extLst>
              <a:ext uri="{FF2B5EF4-FFF2-40B4-BE49-F238E27FC236}">
                <a16:creationId xmlns:a16="http://schemas.microsoft.com/office/drawing/2014/main" id="{39CE4731-9C06-4B5F-9423-48DDD38EC6C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314827" y="3049726"/>
            <a:ext cx="942975" cy="1524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6650" name="Oval 25">
            <a:extLst>
              <a:ext uri="{FF2B5EF4-FFF2-40B4-BE49-F238E27FC236}">
                <a16:creationId xmlns:a16="http://schemas.microsoft.com/office/drawing/2014/main" id="{70B72430-DD03-4961-8ABA-71F6C4A7F1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1" y="4573726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11 </a:t>
            </a:r>
            <a:r>
              <a:rPr lang="en-US" altLang="zh-TW" sz="2400">
                <a:solidFill>
                  <a:srgbClr val="0099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(0)</a:t>
            </a:r>
          </a:p>
        </p:txBody>
      </p:sp>
      <p:sp>
        <p:nvSpPr>
          <p:cNvPr id="26651" name="Line 26">
            <a:extLst>
              <a:ext uri="{FF2B5EF4-FFF2-40B4-BE49-F238E27FC236}">
                <a16:creationId xmlns:a16="http://schemas.microsoft.com/office/drawing/2014/main" id="{E7DC9CD0-D0D5-42FD-9F04-40C9BFAAB237}"/>
              </a:ext>
            </a:extLst>
          </p:cNvPr>
          <p:cNvSpPr>
            <a:spLocks noChangeShapeType="1"/>
          </p:cNvSpPr>
          <p:nvPr/>
        </p:nvSpPr>
        <p:spPr bwMode="auto">
          <a:xfrm>
            <a:off x="4229101" y="4040326"/>
            <a:ext cx="1028700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6652" name="Line 27">
            <a:extLst>
              <a:ext uri="{FF2B5EF4-FFF2-40B4-BE49-F238E27FC236}">
                <a16:creationId xmlns:a16="http://schemas.microsoft.com/office/drawing/2014/main" id="{DB304FED-2048-45B6-9528-8D43EE879F31}"/>
              </a:ext>
            </a:extLst>
          </p:cNvPr>
          <p:cNvSpPr>
            <a:spLocks noChangeShapeType="1"/>
          </p:cNvSpPr>
          <p:nvPr/>
        </p:nvSpPr>
        <p:spPr bwMode="auto">
          <a:xfrm>
            <a:off x="5248277" y="3049726"/>
            <a:ext cx="85725" cy="1524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6653" name="Text Box 28">
            <a:extLst>
              <a:ext uri="{FF2B5EF4-FFF2-40B4-BE49-F238E27FC236}">
                <a16:creationId xmlns:a16="http://schemas.microsoft.com/office/drawing/2014/main" id="{62BDACD4-E464-4A4B-95FD-AEED586B14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1" y="1754326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2</a:t>
            </a:r>
          </a:p>
        </p:txBody>
      </p:sp>
      <p:sp>
        <p:nvSpPr>
          <p:cNvPr id="26654" name="Text Box 29">
            <a:extLst>
              <a:ext uri="{FF2B5EF4-FFF2-40B4-BE49-F238E27FC236}">
                <a16:creationId xmlns:a16="http://schemas.microsoft.com/office/drawing/2014/main" id="{EF764553-256A-48EA-AD65-8E4C02E3BD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1" y="1830526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2</a:t>
            </a:r>
          </a:p>
        </p:txBody>
      </p:sp>
      <p:sp>
        <p:nvSpPr>
          <p:cNvPr id="26655" name="Text Box 30">
            <a:extLst>
              <a:ext uri="{FF2B5EF4-FFF2-40B4-BE49-F238E27FC236}">
                <a16:creationId xmlns:a16="http://schemas.microsoft.com/office/drawing/2014/main" id="{C8179EFA-9D44-4CF7-B536-DB012815C8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1" y="1601926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2</a:t>
            </a:r>
          </a:p>
        </p:txBody>
      </p:sp>
      <p:sp>
        <p:nvSpPr>
          <p:cNvPr id="26656" name="Text Box 31">
            <a:extLst>
              <a:ext uri="{FF2B5EF4-FFF2-40B4-BE49-F238E27FC236}">
                <a16:creationId xmlns:a16="http://schemas.microsoft.com/office/drawing/2014/main" id="{06F06F04-2A62-405A-886E-BCBA87C0E0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1" y="1754326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2</a:t>
            </a:r>
          </a:p>
        </p:txBody>
      </p:sp>
      <p:sp>
        <p:nvSpPr>
          <p:cNvPr id="26657" name="Text Box 32">
            <a:extLst>
              <a:ext uri="{FF2B5EF4-FFF2-40B4-BE49-F238E27FC236}">
                <a16:creationId xmlns:a16="http://schemas.microsoft.com/office/drawing/2014/main" id="{16012935-903C-41EB-880C-E458B75318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1" y="2973526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1</a:t>
            </a:r>
          </a:p>
        </p:txBody>
      </p:sp>
      <p:sp>
        <p:nvSpPr>
          <p:cNvPr id="26658" name="Text Box 33">
            <a:extLst>
              <a:ext uri="{FF2B5EF4-FFF2-40B4-BE49-F238E27FC236}">
                <a16:creationId xmlns:a16="http://schemas.microsoft.com/office/drawing/2014/main" id="{E6A3423E-2D8F-421A-9AFA-E619024EEB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1" y="3964126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3</a:t>
            </a:r>
          </a:p>
        </p:txBody>
      </p:sp>
      <p:sp>
        <p:nvSpPr>
          <p:cNvPr id="26659" name="Text Box 34">
            <a:extLst>
              <a:ext uri="{FF2B5EF4-FFF2-40B4-BE49-F238E27FC236}">
                <a16:creationId xmlns:a16="http://schemas.microsoft.com/office/drawing/2014/main" id="{E24C3EDC-5E38-4317-8666-A9DF17B698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1" y="5107126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1</a:t>
            </a:r>
          </a:p>
        </p:txBody>
      </p:sp>
      <p:sp>
        <p:nvSpPr>
          <p:cNvPr id="26660" name="Text Box 35">
            <a:extLst>
              <a:ext uri="{FF2B5EF4-FFF2-40B4-BE49-F238E27FC236}">
                <a16:creationId xmlns:a16="http://schemas.microsoft.com/office/drawing/2014/main" id="{60571063-01C1-46A0-B28C-2412FA02EB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1" y="4345126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3</a:t>
            </a:r>
          </a:p>
        </p:txBody>
      </p:sp>
      <p:sp>
        <p:nvSpPr>
          <p:cNvPr id="26661" name="Text Box 36">
            <a:extLst>
              <a:ext uri="{FF2B5EF4-FFF2-40B4-BE49-F238E27FC236}">
                <a16:creationId xmlns:a16="http://schemas.microsoft.com/office/drawing/2014/main" id="{0AF08A7D-B05A-42CC-ABB9-3FCD771F6C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1" y="3202126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2</a:t>
            </a:r>
          </a:p>
        </p:txBody>
      </p:sp>
      <p:sp>
        <p:nvSpPr>
          <p:cNvPr id="26662" name="Text Box 37">
            <a:extLst>
              <a:ext uri="{FF2B5EF4-FFF2-40B4-BE49-F238E27FC236}">
                <a16:creationId xmlns:a16="http://schemas.microsoft.com/office/drawing/2014/main" id="{9A4CC90B-FCBC-42BC-9E47-7C1BDC29F4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1" y="3659326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2</a:t>
            </a:r>
          </a:p>
        </p:txBody>
      </p:sp>
      <p:sp>
        <p:nvSpPr>
          <p:cNvPr id="26663" name="Text Box 38">
            <a:extLst>
              <a:ext uri="{FF2B5EF4-FFF2-40B4-BE49-F238E27FC236}">
                <a16:creationId xmlns:a16="http://schemas.microsoft.com/office/drawing/2014/main" id="{191FCA8E-3A95-4E1A-A341-E8434BEF05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1" y="4116526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2</a:t>
            </a:r>
          </a:p>
        </p:txBody>
      </p:sp>
      <p:sp>
        <p:nvSpPr>
          <p:cNvPr id="26664" name="Text Box 39">
            <a:extLst>
              <a:ext uri="{FF2B5EF4-FFF2-40B4-BE49-F238E27FC236}">
                <a16:creationId xmlns:a16="http://schemas.microsoft.com/office/drawing/2014/main" id="{B48CFF6E-AE34-4C75-9DBD-4528018067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1" y="3583126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286608D-38C7-4883-AA5F-BAD93CD2463E}"/>
              </a:ext>
            </a:extLst>
          </p:cNvPr>
          <p:cNvSpPr txBox="1"/>
          <p:nvPr/>
        </p:nvSpPr>
        <p:spPr>
          <a:xfrm>
            <a:off x="2631488" y="5179874"/>
            <a:ext cx="356188" cy="461665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sz="2400" dirty="0">
                <a:highlight>
                  <a:srgbClr val="FFFF00"/>
                </a:highlight>
                <a:ea typeface="標楷體" pitchFamily="65" charset="-120"/>
                <a:cs typeface="Calibri" pitchFamily="34" charset="0"/>
              </a:rPr>
              <a:t>0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75A143F-B6F1-4BCE-8212-B31F5B6332A6}"/>
              </a:ext>
            </a:extLst>
          </p:cNvPr>
          <p:cNvSpPr txBox="1"/>
          <p:nvPr/>
        </p:nvSpPr>
        <p:spPr>
          <a:xfrm>
            <a:off x="4430126" y="4569261"/>
            <a:ext cx="356188" cy="461665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sz="2400" dirty="0">
                <a:highlight>
                  <a:srgbClr val="FFFF00"/>
                </a:highlight>
                <a:ea typeface="標楷體" pitchFamily="65" charset="-120"/>
                <a:cs typeface="Calibri" pitchFamily="34" charset="0"/>
              </a:rPr>
              <a:t>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5607A45-6A39-4BA6-9AEA-6A98C53B6EDB}"/>
              </a:ext>
            </a:extLst>
          </p:cNvPr>
          <p:cNvSpPr txBox="1"/>
          <p:nvPr/>
        </p:nvSpPr>
        <p:spPr>
          <a:xfrm>
            <a:off x="5567623" y="4419093"/>
            <a:ext cx="356188" cy="461665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sz="2400" dirty="0">
                <a:highlight>
                  <a:srgbClr val="FFFF00"/>
                </a:highlight>
                <a:ea typeface="標楷體" pitchFamily="65" charset="-120"/>
                <a:cs typeface="Calibri" pitchFamily="34" charset="0"/>
              </a:rPr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DB5E873-2BEB-40DA-899D-A6E87FD5B302}"/>
              </a:ext>
            </a:extLst>
          </p:cNvPr>
          <p:cNvSpPr txBox="1"/>
          <p:nvPr/>
        </p:nvSpPr>
        <p:spPr>
          <a:xfrm>
            <a:off x="1902973" y="4367587"/>
            <a:ext cx="356188" cy="461665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sz="2400" dirty="0">
                <a:highlight>
                  <a:srgbClr val="FFFF00"/>
                </a:highlight>
                <a:ea typeface="標楷體" pitchFamily="65" charset="-120"/>
                <a:cs typeface="Calibri" pitchFamily="34" charset="0"/>
              </a:rPr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D7D38AC-D10D-40E2-B27C-2DE3CD2EE7B0}"/>
              </a:ext>
            </a:extLst>
          </p:cNvPr>
          <p:cNvSpPr txBox="1"/>
          <p:nvPr/>
        </p:nvSpPr>
        <p:spPr>
          <a:xfrm>
            <a:off x="4181182" y="3374156"/>
            <a:ext cx="356188" cy="461665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sz="2400" dirty="0">
                <a:highlight>
                  <a:srgbClr val="FFFF00"/>
                </a:highlight>
                <a:ea typeface="標楷體" pitchFamily="65" charset="-120"/>
                <a:cs typeface="Calibri" pitchFamily="34" charset="0"/>
              </a:rPr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FB3CC1D-794E-4FE5-9FAF-6B255853A9C3}"/>
              </a:ext>
            </a:extLst>
          </p:cNvPr>
          <p:cNvSpPr txBox="1"/>
          <p:nvPr/>
        </p:nvSpPr>
        <p:spPr>
          <a:xfrm>
            <a:off x="5384507" y="2319129"/>
            <a:ext cx="356188" cy="461665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sz="2400" dirty="0">
                <a:highlight>
                  <a:srgbClr val="FFFF00"/>
                </a:highlight>
                <a:ea typeface="標楷體" pitchFamily="65" charset="-120"/>
                <a:cs typeface="Calibri" pitchFamily="34" charset="0"/>
              </a:rPr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05975BD-07E0-4BAD-9E5F-C2BCECB6FB75}"/>
              </a:ext>
            </a:extLst>
          </p:cNvPr>
          <p:cNvSpPr txBox="1"/>
          <p:nvPr/>
        </p:nvSpPr>
        <p:spPr>
          <a:xfrm>
            <a:off x="1908882" y="3273861"/>
            <a:ext cx="356188" cy="461665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sz="2400" dirty="0">
                <a:highlight>
                  <a:srgbClr val="FFFF00"/>
                </a:highlight>
                <a:ea typeface="標楷體" pitchFamily="65" charset="-120"/>
                <a:cs typeface="Calibri" pitchFamily="34" charset="0"/>
              </a:rPr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0AFDFE8-AE39-4E88-9E84-99FF119C0E0B}"/>
              </a:ext>
            </a:extLst>
          </p:cNvPr>
          <p:cNvSpPr txBox="1"/>
          <p:nvPr/>
        </p:nvSpPr>
        <p:spPr>
          <a:xfrm>
            <a:off x="4062619" y="2331914"/>
            <a:ext cx="356188" cy="461665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sz="2400" dirty="0">
                <a:highlight>
                  <a:srgbClr val="FFFF00"/>
                </a:highlight>
                <a:ea typeface="標楷體" pitchFamily="65" charset="-120"/>
                <a:cs typeface="Calibri" pitchFamily="34" charset="0"/>
              </a:rPr>
              <a:t>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F6BAFF2-E6A4-4B42-9E95-3111FE3F2EAD}"/>
              </a:ext>
            </a:extLst>
          </p:cNvPr>
          <p:cNvSpPr txBox="1"/>
          <p:nvPr/>
        </p:nvSpPr>
        <p:spPr>
          <a:xfrm>
            <a:off x="1902973" y="2251247"/>
            <a:ext cx="356188" cy="461665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sz="2400" dirty="0">
                <a:highlight>
                  <a:srgbClr val="FFFF00"/>
                </a:highlight>
                <a:ea typeface="標楷體" pitchFamily="65" charset="-120"/>
                <a:cs typeface="Calibri" pitchFamily="34" charset="0"/>
              </a:rPr>
              <a:t>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72D99FE-F367-4B51-B654-973B293C6E1D}"/>
              </a:ext>
            </a:extLst>
          </p:cNvPr>
          <p:cNvSpPr txBox="1"/>
          <p:nvPr/>
        </p:nvSpPr>
        <p:spPr>
          <a:xfrm>
            <a:off x="4072812" y="1058193"/>
            <a:ext cx="356188" cy="461665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sz="2400" dirty="0">
                <a:highlight>
                  <a:srgbClr val="FFFF00"/>
                </a:highlight>
                <a:ea typeface="標楷體" pitchFamily="65" charset="-120"/>
                <a:cs typeface="Calibri" pitchFamily="34" charset="0"/>
              </a:rPr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8F238C1-04CB-443E-AD8F-B13DCA7DA41E}"/>
              </a:ext>
            </a:extLst>
          </p:cNvPr>
          <p:cNvSpPr txBox="1"/>
          <p:nvPr/>
        </p:nvSpPr>
        <p:spPr>
          <a:xfrm>
            <a:off x="1980319" y="1136303"/>
            <a:ext cx="356188" cy="461665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sz="2400" dirty="0">
                <a:highlight>
                  <a:srgbClr val="FFFF00"/>
                </a:highlight>
                <a:ea typeface="標楷體" pitchFamily="65" charset="-120"/>
                <a:cs typeface="Calibri" pitchFamily="34" charset="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564287890"/>
      </p:ext>
    </p:extLst>
  </p:cSld>
  <p:clrMapOvr>
    <a:masterClrMapping/>
  </p:clrMapOvr>
  <p:transition spd="slow"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投影片編號版面配置區 5">
            <a:extLst>
              <a:ext uri="{FF2B5EF4-FFF2-40B4-BE49-F238E27FC236}">
                <a16:creationId xmlns:a16="http://schemas.microsoft.com/office/drawing/2014/main" id="{76927EFA-714C-43F3-BBBE-4D8073F06A3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077200" y="6477001"/>
            <a:ext cx="2133600" cy="244475"/>
          </a:xfrm>
          <a:prstGeom prst="rect">
            <a:avLst/>
          </a:prstGeom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3066CAC-9A28-4554-9078-8C6C4F246E02}" type="slidenum">
              <a:rPr lang="zh-TW" altLang="en-US" sz="1400"/>
              <a:pPr>
                <a:spcBef>
                  <a:spcPct val="0"/>
                </a:spcBef>
                <a:buFontTx/>
                <a:buNone/>
              </a:pPr>
              <a:t>15</a:t>
            </a:fld>
            <a:endParaRPr lang="en-US" altLang="zh-TW" sz="1400"/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1839A054-05EE-4CC5-8BFF-CD7811E781B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205023" y="0"/>
            <a:ext cx="8229600" cy="868362"/>
          </a:xfrm>
        </p:spPr>
        <p:txBody>
          <a:bodyPr/>
          <a:lstStyle/>
          <a:p>
            <a:pPr eaLnBrk="1" hangingPunct="1"/>
            <a:r>
              <a:rPr lang="en-US" altLang="zh-TW" sz="4000" dirty="0">
                <a:ea typeface="新細明體" panose="02020500000000000000" pitchFamily="18" charset="-120"/>
              </a:rPr>
              <a:t>List Scheduling</a:t>
            </a:r>
          </a:p>
        </p:txBody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D4132DAC-C665-44CE-B495-A183C5360F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0605" y="1070344"/>
            <a:ext cx="9360195" cy="4343400"/>
          </a:xfrm>
        </p:spPr>
        <p:txBody>
          <a:bodyPr/>
          <a:lstStyle/>
          <a:p>
            <a:pPr marL="609600" indent="-609600">
              <a:lnSpc>
                <a:spcPct val="90000"/>
              </a:lnSpc>
              <a:buNone/>
            </a:pPr>
            <a:r>
              <a:rPr lang="en-US" altLang="zh-TW" dirty="0">
                <a:solidFill>
                  <a:srgbClr val="0033CC"/>
                </a:solidFill>
                <a:ea typeface="新細明體" panose="02020500000000000000" pitchFamily="18" charset="-120"/>
              </a:rPr>
              <a:t>Basic Block scheduling</a:t>
            </a:r>
          </a:p>
          <a:p>
            <a:pPr marL="609600" indent="-609600">
              <a:lnSpc>
                <a:spcPct val="90000"/>
              </a:lnSpc>
              <a:buFontTx/>
              <a:buAutoNum type="arabicPeriod"/>
            </a:pPr>
            <a:r>
              <a:rPr lang="en-US" altLang="zh-TW" dirty="0">
                <a:ea typeface="新細明體" panose="02020500000000000000" pitchFamily="18" charset="-120"/>
              </a:rPr>
              <a:t>Build Dependence DAG</a:t>
            </a:r>
          </a:p>
          <a:p>
            <a:pPr marL="609600" indent="-609600">
              <a:lnSpc>
                <a:spcPct val="90000"/>
              </a:lnSpc>
              <a:buFontTx/>
              <a:buAutoNum type="arabicPeriod"/>
            </a:pPr>
            <a:r>
              <a:rPr lang="en-US" altLang="zh-TW" dirty="0">
                <a:ea typeface="新細明體" panose="02020500000000000000" pitchFamily="18" charset="-120"/>
              </a:rPr>
              <a:t>Mark each node with maximum delay to the end of block</a:t>
            </a:r>
          </a:p>
          <a:p>
            <a:pPr marL="609600" indent="-609600">
              <a:lnSpc>
                <a:spcPct val="90000"/>
              </a:lnSpc>
              <a:buFontTx/>
              <a:buAutoNum type="arabicPeriod"/>
            </a:pPr>
            <a:r>
              <a:rPr lang="en-US" altLang="zh-TW" dirty="0">
                <a:ea typeface="新細明體" panose="02020500000000000000" pitchFamily="18" charset="-120"/>
              </a:rPr>
              <a:t>Traverse the DAG from the root toward the leaves, selecting nodes from a candidate list to schedule. Keep tracking of the current cycle to minimize possible stalls.</a:t>
            </a:r>
          </a:p>
          <a:p>
            <a:pPr marL="609600" indent="-609600">
              <a:lnSpc>
                <a:spcPct val="90000"/>
              </a:lnSpc>
              <a:buFontTx/>
              <a:buAutoNum type="arabicPeriod"/>
            </a:pPr>
            <a:endParaRPr lang="en-US" altLang="zh-TW" dirty="0">
              <a:ea typeface="新細明體" panose="02020500000000000000" pitchFamily="18" charset="-120"/>
            </a:endParaRPr>
          </a:p>
        </p:txBody>
      </p:sp>
    </p:spTree>
  </p:cSld>
  <p:clrMapOvr>
    <a:masterClrMapping/>
  </p:clrMapOvr>
  <p:transition spd="slow"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投影片編號版面配置區 5">
            <a:extLst>
              <a:ext uri="{FF2B5EF4-FFF2-40B4-BE49-F238E27FC236}">
                <a16:creationId xmlns:a16="http://schemas.microsoft.com/office/drawing/2014/main" id="{5B692080-FBC0-44BB-8D37-00AABFF0AC2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077200" y="6477001"/>
            <a:ext cx="2133600" cy="244475"/>
          </a:xfrm>
          <a:prstGeom prst="rect">
            <a:avLst/>
          </a:prstGeom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9FCFE8E-E01E-4F49-8462-9C566892A641}" type="slidenum">
              <a:rPr lang="zh-TW" altLang="en-US" sz="1400"/>
              <a:pPr>
                <a:spcBef>
                  <a:spcPct val="0"/>
                </a:spcBef>
                <a:buFontTx/>
                <a:buNone/>
              </a:pPr>
              <a:t>16</a:t>
            </a:fld>
            <a:endParaRPr lang="en-US" altLang="zh-TW" sz="1400"/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D80ACF6B-5B9B-4CF4-AF7C-0DC9A7133CA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TW" sz="4000" dirty="0">
                <a:ea typeface="新細明體" panose="02020500000000000000" pitchFamily="18" charset="-120"/>
              </a:rPr>
              <a:t>Commonly Used Heuristics</a:t>
            </a:r>
          </a:p>
        </p:txBody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19722FBA-656D-403F-A199-9FA72BBC45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0214" y="990600"/>
            <a:ext cx="9686260" cy="4876800"/>
          </a:xfrm>
        </p:spPr>
        <p:txBody>
          <a:bodyPr/>
          <a:lstStyle/>
          <a:p>
            <a:pPr marL="609600" indent="-609600"/>
            <a:r>
              <a:rPr lang="en-US" altLang="zh-TW" dirty="0">
                <a:ea typeface="新細明體" panose="02020500000000000000" pitchFamily="18" charset="-120"/>
              </a:rPr>
              <a:t>The following heuristics are often used</a:t>
            </a:r>
          </a:p>
          <a:p>
            <a:pPr marL="990600" lvl="1" indent="-533400"/>
            <a:r>
              <a:rPr lang="en-US" altLang="zh-TW" dirty="0">
                <a:ea typeface="新細明體" panose="02020500000000000000" pitchFamily="18" charset="-120"/>
              </a:rPr>
              <a:t>Favor nodes that can start without stalling</a:t>
            </a:r>
          </a:p>
          <a:p>
            <a:pPr marL="990600" lvl="1" indent="-533400"/>
            <a:r>
              <a:rPr lang="en-US" altLang="zh-TW" dirty="0">
                <a:ea typeface="新細明體" panose="02020500000000000000" pitchFamily="18" charset="-120"/>
              </a:rPr>
              <a:t>If there is a tie, favor nodes with the maximum delay to the end of the block</a:t>
            </a:r>
          </a:p>
          <a:p>
            <a:pPr marL="990600" lvl="1" indent="-533400"/>
            <a:r>
              <a:rPr lang="en-US" altLang="zh-TW" dirty="0">
                <a:ea typeface="新細明體" panose="02020500000000000000" pitchFamily="18" charset="-120"/>
              </a:rPr>
              <a:t>If there is a tie, </a:t>
            </a:r>
          </a:p>
          <a:p>
            <a:pPr marL="1371600" lvl="2" indent="-457200"/>
            <a:r>
              <a:rPr lang="en-US" altLang="zh-TW" sz="2800" dirty="0">
                <a:ea typeface="新細明體" panose="02020500000000000000" pitchFamily="18" charset="-120"/>
              </a:rPr>
              <a:t>Favor the original order</a:t>
            </a:r>
          </a:p>
          <a:p>
            <a:pPr marL="1371600" lvl="2" indent="-457200"/>
            <a:r>
              <a:rPr lang="en-US" altLang="zh-TW" sz="2800" dirty="0">
                <a:ea typeface="新細明體" panose="02020500000000000000" pitchFamily="18" charset="-120"/>
              </a:rPr>
              <a:t>Favor nodes that have a large number of children</a:t>
            </a:r>
          </a:p>
          <a:p>
            <a:pPr marL="1371600" lvl="2" indent="-457200"/>
            <a:r>
              <a:rPr lang="en-US" altLang="zh-TW" sz="2800" dirty="0">
                <a:ea typeface="新細明體" panose="02020500000000000000" pitchFamily="18" charset="-120"/>
              </a:rPr>
              <a:t>Favor nodes that are the final use of a reg</a:t>
            </a:r>
            <a:endParaRPr lang="en-US" altLang="zh-TW" dirty="0">
              <a:ea typeface="新細明體" panose="02020500000000000000" pitchFamily="18" charset="-120"/>
            </a:endParaRPr>
          </a:p>
          <a:p>
            <a:pPr marL="609600" indent="-609600">
              <a:buFontTx/>
              <a:buAutoNum type="arabicPeriod"/>
            </a:pPr>
            <a:endParaRPr lang="en-US" altLang="zh-TW" dirty="0">
              <a:ea typeface="新細明體" panose="02020500000000000000" pitchFamily="18" charset="-120"/>
            </a:endParaRPr>
          </a:p>
        </p:txBody>
      </p:sp>
    </p:spTree>
  </p:cSld>
  <p:clrMapOvr>
    <a:masterClrMapping/>
  </p:clrMapOvr>
  <p:transition spd="slow"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日期版面配置區 2">
            <a:extLst>
              <a:ext uri="{FF2B5EF4-FFF2-40B4-BE49-F238E27FC236}">
                <a16:creationId xmlns:a16="http://schemas.microsoft.com/office/drawing/2014/main" id="{B6C080DF-C732-49CD-AF93-E66402C3B22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TW" sz="1400"/>
              <a:t>2021/01/07</a:t>
            </a:r>
          </a:p>
        </p:txBody>
      </p:sp>
      <p:sp>
        <p:nvSpPr>
          <p:cNvPr id="29699" name="投影片編號版面配置區 4">
            <a:extLst>
              <a:ext uri="{FF2B5EF4-FFF2-40B4-BE49-F238E27FC236}">
                <a16:creationId xmlns:a16="http://schemas.microsoft.com/office/drawing/2014/main" id="{01F5FA66-16F8-4F2E-9B7B-68C88E2F6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477000"/>
            <a:ext cx="21336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C617185-153E-45BC-B4C7-289A43A87FD1}" type="slidenum">
              <a:rPr lang="zh-TW" altLang="en-US" smtClean="0"/>
              <a:pPr>
                <a:spcBef>
                  <a:spcPct val="0"/>
                </a:spcBef>
                <a:buFontTx/>
                <a:buNone/>
              </a:pPr>
              <a:t>17</a:t>
            </a:fld>
            <a:endParaRPr lang="en-US" altLang="zh-TW" sz="1400"/>
          </a:p>
        </p:txBody>
      </p:sp>
      <p:sp>
        <p:nvSpPr>
          <p:cNvPr id="29700" name="Rectangle 2">
            <a:extLst>
              <a:ext uri="{FF2B5EF4-FFF2-40B4-BE49-F238E27FC236}">
                <a16:creationId xmlns:a16="http://schemas.microsoft.com/office/drawing/2014/main" id="{BCDC9987-8B57-4121-AD8F-FF1630B3DA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57400" y="38100"/>
            <a:ext cx="6858000" cy="838200"/>
          </a:xfrm>
        </p:spPr>
        <p:txBody>
          <a:bodyPr/>
          <a:lstStyle/>
          <a:p>
            <a:pPr eaLnBrk="1" hangingPunct="1"/>
            <a:r>
              <a:rPr lang="en-US" altLang="zh-TW" sz="4000" dirty="0">
                <a:ea typeface="新細明體" panose="02020500000000000000" pitchFamily="18" charset="-120"/>
              </a:rPr>
              <a:t>Example</a:t>
            </a:r>
          </a:p>
        </p:txBody>
      </p:sp>
      <p:sp>
        <p:nvSpPr>
          <p:cNvPr id="29701" name="Oval 3">
            <a:extLst>
              <a:ext uri="{FF2B5EF4-FFF2-40B4-BE49-F238E27FC236}">
                <a16:creationId xmlns:a16="http://schemas.microsoft.com/office/drawing/2014/main" id="{A0668C8B-5E07-47AF-93C8-0ED5463FAB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1143000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1 </a:t>
            </a:r>
            <a:r>
              <a:rPr lang="en-US" altLang="zh-TW" sz="2400">
                <a:solidFill>
                  <a:srgbClr val="0099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(7)</a:t>
            </a:r>
          </a:p>
        </p:txBody>
      </p:sp>
      <p:sp>
        <p:nvSpPr>
          <p:cNvPr id="29702" name="Oval 4">
            <a:extLst>
              <a:ext uri="{FF2B5EF4-FFF2-40B4-BE49-F238E27FC236}">
                <a16:creationId xmlns:a16="http://schemas.microsoft.com/office/drawing/2014/main" id="{CDD71236-D2F6-4EE7-9F28-731C848DE6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1143000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2 </a:t>
            </a:r>
            <a:r>
              <a:rPr lang="en-US" altLang="zh-TW" sz="2400">
                <a:solidFill>
                  <a:srgbClr val="0099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(7)</a:t>
            </a:r>
          </a:p>
        </p:txBody>
      </p:sp>
      <p:sp>
        <p:nvSpPr>
          <p:cNvPr id="29703" name="Oval 5">
            <a:extLst>
              <a:ext uri="{FF2B5EF4-FFF2-40B4-BE49-F238E27FC236}">
                <a16:creationId xmlns:a16="http://schemas.microsoft.com/office/drawing/2014/main" id="{665BB4DC-E221-4659-89E3-E7CD035B9E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2362200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3</a:t>
            </a:r>
            <a:r>
              <a:rPr lang="en-US" altLang="zh-TW" sz="2400">
                <a:solidFill>
                  <a:srgbClr val="0099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(5)</a:t>
            </a:r>
          </a:p>
        </p:txBody>
      </p:sp>
      <p:sp>
        <p:nvSpPr>
          <p:cNvPr id="29704" name="Line 6">
            <a:extLst>
              <a:ext uri="{FF2B5EF4-FFF2-40B4-BE49-F238E27FC236}">
                <a16:creationId xmlns:a16="http://schemas.microsoft.com/office/drawing/2014/main" id="{94570636-CE8A-4B54-BEE2-4BB8DDAF0CC7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0400" y="1676400"/>
            <a:ext cx="1588" cy="685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9705" name="Line 7">
            <a:extLst>
              <a:ext uri="{FF2B5EF4-FFF2-40B4-BE49-F238E27FC236}">
                <a16:creationId xmlns:a16="http://schemas.microsoft.com/office/drawing/2014/main" id="{78C94025-381D-4364-8E6D-E212981657D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19450" y="1676400"/>
            <a:ext cx="120015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9706" name="Oval 8">
            <a:extLst>
              <a:ext uri="{FF2B5EF4-FFF2-40B4-BE49-F238E27FC236}">
                <a16:creationId xmlns:a16="http://schemas.microsoft.com/office/drawing/2014/main" id="{5AF948C0-72F7-41C6-8D6D-FEAB477852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3352800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4</a:t>
            </a:r>
            <a:r>
              <a:rPr lang="en-US" altLang="zh-TW" sz="2400">
                <a:solidFill>
                  <a:srgbClr val="0099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(4)</a:t>
            </a:r>
          </a:p>
        </p:txBody>
      </p:sp>
      <p:sp>
        <p:nvSpPr>
          <p:cNvPr id="29707" name="Oval 9">
            <a:extLst>
              <a:ext uri="{FF2B5EF4-FFF2-40B4-BE49-F238E27FC236}">
                <a16:creationId xmlns:a16="http://schemas.microsoft.com/office/drawing/2014/main" id="{275E902C-F79E-4A19-83A7-91353DBC37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2362200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5 </a:t>
            </a:r>
            <a:r>
              <a:rPr lang="en-US" altLang="zh-TW" sz="2400">
                <a:solidFill>
                  <a:srgbClr val="0099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(3)</a:t>
            </a:r>
          </a:p>
        </p:txBody>
      </p:sp>
      <p:sp>
        <p:nvSpPr>
          <p:cNvPr id="29708" name="Line 10">
            <a:extLst>
              <a:ext uri="{FF2B5EF4-FFF2-40B4-BE49-F238E27FC236}">
                <a16:creationId xmlns:a16="http://schemas.microsoft.com/office/drawing/2014/main" id="{46BCFB04-A349-466A-A84C-8B5460A19902}"/>
              </a:ext>
            </a:extLst>
          </p:cNvPr>
          <p:cNvSpPr>
            <a:spLocks noChangeShapeType="1"/>
          </p:cNvSpPr>
          <p:nvPr/>
        </p:nvSpPr>
        <p:spPr bwMode="auto">
          <a:xfrm>
            <a:off x="3219450" y="1600200"/>
            <a:ext cx="120015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9709" name="Line 11">
            <a:extLst>
              <a:ext uri="{FF2B5EF4-FFF2-40B4-BE49-F238E27FC236}">
                <a16:creationId xmlns:a16="http://schemas.microsoft.com/office/drawing/2014/main" id="{BFC62874-0FA3-42A4-B679-A854D690B79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72000" y="1676400"/>
            <a:ext cx="1588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9710" name="Line 12">
            <a:extLst>
              <a:ext uri="{FF2B5EF4-FFF2-40B4-BE49-F238E27FC236}">
                <a16:creationId xmlns:a16="http://schemas.microsoft.com/office/drawing/2014/main" id="{44303BAF-E97B-4302-B371-178EAB12E9D4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0400" y="2895600"/>
            <a:ext cx="1588" cy="533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9711" name="Oval 13">
            <a:extLst>
              <a:ext uri="{FF2B5EF4-FFF2-40B4-BE49-F238E27FC236}">
                <a16:creationId xmlns:a16="http://schemas.microsoft.com/office/drawing/2014/main" id="{2CF77EDF-E0F7-474E-AE26-B146327294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4419600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0990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6 </a:t>
            </a:r>
            <a:r>
              <a:rPr lang="en-US" altLang="zh-TW" sz="2400">
                <a:solidFill>
                  <a:srgbClr val="0099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(1)</a:t>
            </a:r>
          </a:p>
        </p:txBody>
      </p:sp>
      <p:sp>
        <p:nvSpPr>
          <p:cNvPr id="29712" name="Line 14">
            <a:extLst>
              <a:ext uri="{FF2B5EF4-FFF2-40B4-BE49-F238E27FC236}">
                <a16:creationId xmlns:a16="http://schemas.microsoft.com/office/drawing/2014/main" id="{64DACE11-E4D8-4FEE-BAD1-E98F9F60663B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0400" y="3886200"/>
            <a:ext cx="1588" cy="533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9713" name="Oval 15">
            <a:extLst>
              <a:ext uri="{FF2B5EF4-FFF2-40B4-BE49-F238E27FC236}">
                <a16:creationId xmlns:a16="http://schemas.microsoft.com/office/drawing/2014/main" id="{D57C99E7-8A30-461B-AC1B-2FEDF647AE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5486400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7 </a:t>
            </a:r>
            <a:r>
              <a:rPr lang="en-US" altLang="zh-TW" sz="2400">
                <a:solidFill>
                  <a:srgbClr val="0099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(0)</a:t>
            </a:r>
          </a:p>
        </p:txBody>
      </p:sp>
      <p:sp>
        <p:nvSpPr>
          <p:cNvPr id="29714" name="Line 16">
            <a:extLst>
              <a:ext uri="{FF2B5EF4-FFF2-40B4-BE49-F238E27FC236}">
                <a16:creationId xmlns:a16="http://schemas.microsoft.com/office/drawing/2014/main" id="{B8D32142-A635-482C-BF0E-AC4A20B2F36B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0400" y="4953000"/>
            <a:ext cx="1588" cy="533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9715" name="Line 17">
            <a:extLst>
              <a:ext uri="{FF2B5EF4-FFF2-40B4-BE49-F238E27FC236}">
                <a16:creationId xmlns:a16="http://schemas.microsoft.com/office/drawing/2014/main" id="{C38AB8DC-1DC0-4C0A-A79C-12ED0599E41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00400" y="2895600"/>
            <a:ext cx="1371600" cy="2590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9716" name="Oval 18">
            <a:extLst>
              <a:ext uri="{FF2B5EF4-FFF2-40B4-BE49-F238E27FC236}">
                <a16:creationId xmlns:a16="http://schemas.microsoft.com/office/drawing/2014/main" id="{D32D7085-6869-4C53-B263-2F4E582CB4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3429000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8 </a:t>
            </a:r>
            <a:r>
              <a:rPr lang="en-US" altLang="zh-TW" sz="2400">
                <a:solidFill>
                  <a:srgbClr val="0099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(2)</a:t>
            </a:r>
          </a:p>
        </p:txBody>
      </p:sp>
      <p:sp>
        <p:nvSpPr>
          <p:cNvPr id="29717" name="Line 19">
            <a:extLst>
              <a:ext uri="{FF2B5EF4-FFF2-40B4-BE49-F238E27FC236}">
                <a16:creationId xmlns:a16="http://schemas.microsoft.com/office/drawing/2014/main" id="{7127ABD4-B823-4A55-987F-B0EDBA2ADBE6}"/>
              </a:ext>
            </a:extLst>
          </p:cNvPr>
          <p:cNvSpPr>
            <a:spLocks noChangeShapeType="1"/>
          </p:cNvSpPr>
          <p:nvPr/>
        </p:nvSpPr>
        <p:spPr bwMode="auto">
          <a:xfrm>
            <a:off x="4629150" y="2895600"/>
            <a:ext cx="171450" cy="533400"/>
          </a:xfrm>
          <a:prstGeom prst="line">
            <a:avLst/>
          </a:prstGeom>
          <a:noFill/>
          <a:ln w="57150">
            <a:solidFill>
              <a:schemeClr val="tx1"/>
            </a:solidFill>
            <a:prstDash val="dashDot"/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9718" name="Line 20">
            <a:extLst>
              <a:ext uri="{FF2B5EF4-FFF2-40B4-BE49-F238E27FC236}">
                <a16:creationId xmlns:a16="http://schemas.microsoft.com/office/drawing/2014/main" id="{A165EF0F-AC98-45AE-91B4-321EA67C4882}"/>
              </a:ext>
            </a:extLst>
          </p:cNvPr>
          <p:cNvSpPr>
            <a:spLocks noChangeShapeType="1"/>
          </p:cNvSpPr>
          <p:nvPr/>
        </p:nvSpPr>
        <p:spPr bwMode="auto">
          <a:xfrm>
            <a:off x="3286126" y="2819400"/>
            <a:ext cx="1285875" cy="685800"/>
          </a:xfrm>
          <a:prstGeom prst="line">
            <a:avLst/>
          </a:prstGeom>
          <a:noFill/>
          <a:ln w="57150">
            <a:solidFill>
              <a:schemeClr val="tx1"/>
            </a:solidFill>
            <a:prstDash val="dashDot"/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9719" name="Oval 21">
            <a:extLst>
              <a:ext uri="{FF2B5EF4-FFF2-40B4-BE49-F238E27FC236}">
                <a16:creationId xmlns:a16="http://schemas.microsoft.com/office/drawing/2014/main" id="{E9491D2F-A39E-4C7E-BC1C-80F455F4E3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4495800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10 </a:t>
            </a:r>
            <a:r>
              <a:rPr lang="en-US" altLang="zh-TW" sz="2400">
                <a:solidFill>
                  <a:srgbClr val="0099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(0)</a:t>
            </a:r>
          </a:p>
        </p:txBody>
      </p:sp>
      <p:sp>
        <p:nvSpPr>
          <p:cNvPr id="29720" name="Line 22">
            <a:extLst>
              <a:ext uri="{FF2B5EF4-FFF2-40B4-BE49-F238E27FC236}">
                <a16:creationId xmlns:a16="http://schemas.microsoft.com/office/drawing/2014/main" id="{16AECA01-6361-41BB-A3A3-CEB4EDC582D8}"/>
              </a:ext>
            </a:extLst>
          </p:cNvPr>
          <p:cNvSpPr>
            <a:spLocks noChangeShapeType="1"/>
          </p:cNvSpPr>
          <p:nvPr/>
        </p:nvSpPr>
        <p:spPr bwMode="auto">
          <a:xfrm>
            <a:off x="3352800" y="3733800"/>
            <a:ext cx="137160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9721" name="Oval 23">
            <a:extLst>
              <a:ext uri="{FF2B5EF4-FFF2-40B4-BE49-F238E27FC236}">
                <a16:creationId xmlns:a16="http://schemas.microsoft.com/office/drawing/2014/main" id="{E3852F03-73DA-4DC0-BBA4-3AEF034816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0" y="2362200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9 </a:t>
            </a:r>
            <a:r>
              <a:rPr lang="en-US" altLang="zh-TW" sz="2400">
                <a:solidFill>
                  <a:srgbClr val="0099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(2)</a:t>
            </a:r>
          </a:p>
        </p:txBody>
      </p:sp>
      <p:sp>
        <p:nvSpPr>
          <p:cNvPr id="29722" name="Line 24">
            <a:extLst>
              <a:ext uri="{FF2B5EF4-FFF2-40B4-BE49-F238E27FC236}">
                <a16:creationId xmlns:a16="http://schemas.microsoft.com/office/drawing/2014/main" id="{381B1D51-A2BE-4DD0-942C-AC5BC992400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24426" y="2971800"/>
            <a:ext cx="942975" cy="1524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9723" name="Oval 25">
            <a:extLst>
              <a:ext uri="{FF2B5EF4-FFF2-40B4-BE49-F238E27FC236}">
                <a16:creationId xmlns:a16="http://schemas.microsoft.com/office/drawing/2014/main" id="{40660EC0-F39C-4758-A50D-6AB90576BE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0" y="4495800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11 </a:t>
            </a:r>
            <a:r>
              <a:rPr lang="en-US" altLang="zh-TW" sz="2400">
                <a:solidFill>
                  <a:srgbClr val="0099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(0)</a:t>
            </a:r>
          </a:p>
        </p:txBody>
      </p:sp>
      <p:sp>
        <p:nvSpPr>
          <p:cNvPr id="29724" name="Line 26">
            <a:extLst>
              <a:ext uri="{FF2B5EF4-FFF2-40B4-BE49-F238E27FC236}">
                <a16:creationId xmlns:a16="http://schemas.microsoft.com/office/drawing/2014/main" id="{BD4342B2-82C3-4BF2-A76F-507D52B08AFA}"/>
              </a:ext>
            </a:extLst>
          </p:cNvPr>
          <p:cNvSpPr>
            <a:spLocks noChangeShapeType="1"/>
          </p:cNvSpPr>
          <p:nvPr/>
        </p:nvSpPr>
        <p:spPr bwMode="auto">
          <a:xfrm>
            <a:off x="4838700" y="3962400"/>
            <a:ext cx="1028700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9725" name="Line 27">
            <a:extLst>
              <a:ext uri="{FF2B5EF4-FFF2-40B4-BE49-F238E27FC236}">
                <a16:creationId xmlns:a16="http://schemas.microsoft.com/office/drawing/2014/main" id="{0888BFBF-1441-4A21-9225-0E5F8BBBD003}"/>
              </a:ext>
            </a:extLst>
          </p:cNvPr>
          <p:cNvSpPr>
            <a:spLocks noChangeShapeType="1"/>
          </p:cNvSpPr>
          <p:nvPr/>
        </p:nvSpPr>
        <p:spPr bwMode="auto">
          <a:xfrm>
            <a:off x="5857876" y="2971800"/>
            <a:ext cx="85725" cy="1524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9726" name="Text Box 28">
            <a:extLst>
              <a:ext uri="{FF2B5EF4-FFF2-40B4-BE49-F238E27FC236}">
                <a16:creationId xmlns:a16="http://schemas.microsoft.com/office/drawing/2014/main" id="{7CDD52C2-DCD7-45B3-9606-4A0B69DAF4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16764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2</a:t>
            </a:r>
          </a:p>
        </p:txBody>
      </p:sp>
      <p:sp>
        <p:nvSpPr>
          <p:cNvPr id="29727" name="Text Box 29">
            <a:extLst>
              <a:ext uri="{FF2B5EF4-FFF2-40B4-BE49-F238E27FC236}">
                <a16:creationId xmlns:a16="http://schemas.microsoft.com/office/drawing/2014/main" id="{CF3C520D-4F9D-4720-A8FA-BF8AFA9399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17526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2</a:t>
            </a:r>
          </a:p>
        </p:txBody>
      </p:sp>
      <p:sp>
        <p:nvSpPr>
          <p:cNvPr id="29728" name="Text Box 30">
            <a:extLst>
              <a:ext uri="{FF2B5EF4-FFF2-40B4-BE49-F238E27FC236}">
                <a16:creationId xmlns:a16="http://schemas.microsoft.com/office/drawing/2014/main" id="{3A762C8E-31EE-404E-9395-83B82A3232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15240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2</a:t>
            </a:r>
          </a:p>
        </p:txBody>
      </p:sp>
      <p:sp>
        <p:nvSpPr>
          <p:cNvPr id="29729" name="Text Box 31">
            <a:extLst>
              <a:ext uri="{FF2B5EF4-FFF2-40B4-BE49-F238E27FC236}">
                <a16:creationId xmlns:a16="http://schemas.microsoft.com/office/drawing/2014/main" id="{DC2D9F8A-E9C0-409C-843A-AF5461DA19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16764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2</a:t>
            </a:r>
          </a:p>
        </p:txBody>
      </p:sp>
      <p:sp>
        <p:nvSpPr>
          <p:cNvPr id="29730" name="Text Box 32">
            <a:extLst>
              <a:ext uri="{FF2B5EF4-FFF2-40B4-BE49-F238E27FC236}">
                <a16:creationId xmlns:a16="http://schemas.microsoft.com/office/drawing/2014/main" id="{94BB62A8-32B5-4774-B9C0-5A2D7D6760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28956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1</a:t>
            </a:r>
          </a:p>
        </p:txBody>
      </p:sp>
      <p:sp>
        <p:nvSpPr>
          <p:cNvPr id="29731" name="Text Box 33">
            <a:extLst>
              <a:ext uri="{FF2B5EF4-FFF2-40B4-BE49-F238E27FC236}">
                <a16:creationId xmlns:a16="http://schemas.microsoft.com/office/drawing/2014/main" id="{0C16BEE8-DDA9-41AB-B3AB-B3B9235C07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38862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3</a:t>
            </a:r>
          </a:p>
        </p:txBody>
      </p:sp>
      <p:sp>
        <p:nvSpPr>
          <p:cNvPr id="29732" name="Text Box 34">
            <a:extLst>
              <a:ext uri="{FF2B5EF4-FFF2-40B4-BE49-F238E27FC236}">
                <a16:creationId xmlns:a16="http://schemas.microsoft.com/office/drawing/2014/main" id="{3608D525-0245-45EC-98B5-9ACA6A4636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50292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1</a:t>
            </a:r>
          </a:p>
        </p:txBody>
      </p:sp>
      <p:sp>
        <p:nvSpPr>
          <p:cNvPr id="29733" name="Text Box 35">
            <a:extLst>
              <a:ext uri="{FF2B5EF4-FFF2-40B4-BE49-F238E27FC236}">
                <a16:creationId xmlns:a16="http://schemas.microsoft.com/office/drawing/2014/main" id="{1F7F3C32-E9A1-4785-B698-EC6FAF00F0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0" y="42672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3</a:t>
            </a:r>
          </a:p>
        </p:txBody>
      </p:sp>
      <p:sp>
        <p:nvSpPr>
          <p:cNvPr id="29734" name="Text Box 36">
            <a:extLst>
              <a:ext uri="{FF2B5EF4-FFF2-40B4-BE49-F238E27FC236}">
                <a16:creationId xmlns:a16="http://schemas.microsoft.com/office/drawing/2014/main" id="{43642DC3-1A86-43C9-BBD9-63CD6D7303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31242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2</a:t>
            </a:r>
          </a:p>
        </p:txBody>
      </p:sp>
      <p:sp>
        <p:nvSpPr>
          <p:cNvPr id="29735" name="Text Box 37">
            <a:extLst>
              <a:ext uri="{FF2B5EF4-FFF2-40B4-BE49-F238E27FC236}">
                <a16:creationId xmlns:a16="http://schemas.microsoft.com/office/drawing/2014/main" id="{313AFC9E-F35C-4100-B0F2-06523806C3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35814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2</a:t>
            </a:r>
          </a:p>
        </p:txBody>
      </p:sp>
      <p:sp>
        <p:nvSpPr>
          <p:cNvPr id="29736" name="Text Box 38">
            <a:extLst>
              <a:ext uri="{FF2B5EF4-FFF2-40B4-BE49-F238E27FC236}">
                <a16:creationId xmlns:a16="http://schemas.microsoft.com/office/drawing/2014/main" id="{D6034B05-3E4C-4B99-BD14-91FCEFC045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7800" y="40386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2</a:t>
            </a:r>
          </a:p>
        </p:txBody>
      </p:sp>
      <p:sp>
        <p:nvSpPr>
          <p:cNvPr id="29737" name="Text Box 39">
            <a:extLst>
              <a:ext uri="{FF2B5EF4-FFF2-40B4-BE49-F238E27FC236}">
                <a16:creationId xmlns:a16="http://schemas.microsoft.com/office/drawing/2014/main" id="{7C438323-29D7-4D39-B907-C1754DC0CB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35052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3</a:t>
            </a:r>
          </a:p>
        </p:txBody>
      </p:sp>
      <p:sp>
        <p:nvSpPr>
          <p:cNvPr id="29738" name="Text Box 40">
            <a:extLst>
              <a:ext uri="{FF2B5EF4-FFF2-40B4-BE49-F238E27FC236}">
                <a16:creationId xmlns:a16="http://schemas.microsoft.com/office/drawing/2014/main" id="{EF750506-D409-4FFB-807F-56BE93B13F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1800" y="1071409"/>
            <a:ext cx="3167063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Candidate list ={1, 2, 9}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Select 1,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Select 2,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 err="1">
                <a:latin typeface="Times New Roman" panose="02020603050405020304" pitchFamily="18" charset="0"/>
                <a:ea typeface="新細明體" panose="02020500000000000000" pitchFamily="18" charset="-120"/>
              </a:rPr>
              <a:t>Clist</a:t>
            </a:r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 = {3,5,9}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Select 9 – </a:t>
            </a:r>
            <a:r>
              <a:rPr lang="en-US" altLang="zh-TW" sz="2000" dirty="0">
                <a:solidFill>
                  <a:srgbClr val="FF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why</a:t>
            </a:r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 err="1">
                <a:latin typeface="Times New Roman" panose="02020603050405020304" pitchFamily="18" charset="0"/>
                <a:ea typeface="新細明體" panose="02020500000000000000" pitchFamily="18" charset="-120"/>
              </a:rPr>
              <a:t>Clist</a:t>
            </a:r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 = {3,5}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Select 3 – </a:t>
            </a:r>
            <a:r>
              <a:rPr lang="en-US" altLang="zh-TW" sz="2000" dirty="0">
                <a:solidFill>
                  <a:srgbClr val="FF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why</a:t>
            </a:r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 err="1">
                <a:latin typeface="Times New Roman" panose="02020603050405020304" pitchFamily="18" charset="0"/>
                <a:ea typeface="新細明體" panose="02020500000000000000" pitchFamily="18" charset="-120"/>
              </a:rPr>
              <a:t>Clist</a:t>
            </a:r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 = {4,5}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Select 4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 err="1">
                <a:latin typeface="Times New Roman" panose="02020603050405020304" pitchFamily="18" charset="0"/>
                <a:ea typeface="新細明體" panose="02020500000000000000" pitchFamily="18" charset="-120"/>
              </a:rPr>
              <a:t>Clist</a:t>
            </a:r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 = {6,10,5}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Select 5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 err="1">
                <a:latin typeface="Times New Roman" panose="02020603050405020304" pitchFamily="18" charset="0"/>
                <a:ea typeface="新細明體" panose="02020500000000000000" pitchFamily="18" charset="-120"/>
              </a:rPr>
              <a:t>Clist</a:t>
            </a:r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 = {6,10,8}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Select 8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 err="1">
                <a:latin typeface="Times New Roman" panose="02020603050405020304" pitchFamily="18" charset="0"/>
                <a:ea typeface="新細明體" panose="02020500000000000000" pitchFamily="18" charset="-120"/>
              </a:rPr>
              <a:t>Clist</a:t>
            </a:r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 = {6,10,11}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Select 6</a:t>
            </a:r>
          </a:p>
        </p:txBody>
      </p:sp>
    </p:spTree>
  </p:cSld>
  <p:clrMapOvr>
    <a:masterClrMapping/>
  </p:clrMapOvr>
  <p:transition spd="slow"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投影片編號版面配置區 4">
            <a:extLst>
              <a:ext uri="{FF2B5EF4-FFF2-40B4-BE49-F238E27FC236}">
                <a16:creationId xmlns:a16="http://schemas.microsoft.com/office/drawing/2014/main" id="{05909114-3898-45A3-B32E-69EFD25E8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477000"/>
            <a:ext cx="21336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C617185-153E-45BC-B4C7-289A43A87FD1}" type="slidenum">
              <a:rPr lang="zh-TW" altLang="en-US" smtClean="0"/>
              <a:pPr>
                <a:spcBef>
                  <a:spcPct val="0"/>
                </a:spcBef>
                <a:buFontTx/>
                <a:buNone/>
              </a:pPr>
              <a:t>18</a:t>
            </a:fld>
            <a:endParaRPr lang="en-US" altLang="zh-TW" sz="1400"/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D8C1A7AA-0602-44E3-A042-41F9040E1B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33575" y="0"/>
            <a:ext cx="8229600" cy="838200"/>
          </a:xfrm>
        </p:spPr>
        <p:txBody>
          <a:bodyPr/>
          <a:lstStyle/>
          <a:p>
            <a:pPr eaLnBrk="1" hangingPunct="1"/>
            <a:r>
              <a:rPr lang="en-US" altLang="zh-TW" sz="4000" dirty="0">
                <a:ea typeface="新細明體" panose="02020500000000000000" pitchFamily="18" charset="-120"/>
              </a:rPr>
              <a:t>Execution Cycle Comparison</a:t>
            </a:r>
          </a:p>
        </p:txBody>
      </p:sp>
      <p:sp>
        <p:nvSpPr>
          <p:cNvPr id="30724" name="Text Box 3">
            <a:extLst>
              <a:ext uri="{FF2B5EF4-FFF2-40B4-BE49-F238E27FC236}">
                <a16:creationId xmlns:a16="http://schemas.microsoft.com/office/drawing/2014/main" id="{A844D9ED-A4F3-410B-B5A4-C5E1C878C7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1" y="1524000"/>
            <a:ext cx="3201517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1	lw $pr1, a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2	lw $pr2, b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3</a:t>
            </a: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	</a:t>
            </a:r>
            <a:r>
              <a:rPr lang="en-US" altLang="zh-TW" sz="2400">
                <a:solidFill>
                  <a:srgbClr val="FF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add $pr3, $pr1,$pr2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4	mul $pr4, $pr3, 3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5	mul $pr5, $pr1, $pr2</a:t>
            </a:r>
          </a:p>
          <a:p>
            <a:pPr eaLnBrk="1" hangingPunct="1">
              <a:spcBef>
                <a:spcPct val="0"/>
              </a:spcBef>
              <a:buFontTx/>
              <a:buAutoNum type="arabicPlain" startAt="6"/>
            </a:pPr>
            <a:r>
              <a:rPr lang="en-US" altLang="zh-TW" sz="2400">
                <a:solidFill>
                  <a:srgbClr val="FF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add $pr6, $pr4, 2</a:t>
            </a:r>
          </a:p>
          <a:p>
            <a:pPr eaLnBrk="1" hangingPunct="1">
              <a:spcBef>
                <a:spcPct val="0"/>
              </a:spcBef>
              <a:buFontTx/>
              <a:buAutoNum type="arabicPlain" startAt="6"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sw  $pr6, 0($pr5)</a:t>
            </a:r>
          </a:p>
          <a:p>
            <a:pPr eaLnBrk="1" hangingPunct="1">
              <a:spcBef>
                <a:spcPct val="0"/>
              </a:spcBef>
              <a:buFontTx/>
              <a:buAutoNum type="arabicPlain" startAt="6"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lw $pr1, c</a:t>
            </a:r>
          </a:p>
          <a:p>
            <a:pPr eaLnBrk="1" hangingPunct="1">
              <a:spcBef>
                <a:spcPct val="0"/>
              </a:spcBef>
              <a:buFontTx/>
              <a:buAutoNum type="arabicPlain" startAt="6"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lw $pr7, d</a:t>
            </a:r>
          </a:p>
          <a:p>
            <a:pPr eaLnBrk="1" hangingPunct="1">
              <a:spcBef>
                <a:spcPct val="0"/>
              </a:spcBef>
              <a:buFontTx/>
              <a:buAutoNum type="arabicPlain" startAt="6"/>
            </a:pPr>
            <a:r>
              <a:rPr lang="en-US" altLang="zh-TW" sz="2400">
                <a:solidFill>
                  <a:srgbClr val="FF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sw $pr7, 0($pr4)</a:t>
            </a:r>
          </a:p>
          <a:p>
            <a:pPr eaLnBrk="1" hangingPunct="1">
              <a:spcBef>
                <a:spcPct val="0"/>
              </a:spcBef>
              <a:buFontTx/>
              <a:buAutoNum type="arabicPlain" startAt="6"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add $pr8,$pr7,$pr1</a:t>
            </a:r>
          </a:p>
        </p:txBody>
      </p:sp>
      <p:sp>
        <p:nvSpPr>
          <p:cNvPr id="30725" name="Text Box 4">
            <a:extLst>
              <a:ext uri="{FF2B5EF4-FFF2-40B4-BE49-F238E27FC236}">
                <a16:creationId xmlns:a16="http://schemas.microsoft.com/office/drawing/2014/main" id="{14EC74B5-5B9D-43A8-A116-A11B334F7F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4201" y="1524000"/>
            <a:ext cx="3201517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1	lw $pr1, a</a:t>
            </a:r>
          </a:p>
          <a:p>
            <a:pPr eaLnBrk="1" hangingPunct="1">
              <a:spcBef>
                <a:spcPct val="0"/>
              </a:spcBef>
              <a:buFontTx/>
              <a:buAutoNum type="arabicPlain" startAt="2"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lw $pr2, b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9	lw $pr7, d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3	add $pr3, $pr1,$pr2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4	mul $pr4, $pr3, 3</a:t>
            </a:r>
          </a:p>
          <a:p>
            <a:pPr eaLnBrk="1" hangingPunct="1">
              <a:spcBef>
                <a:spcPct val="0"/>
              </a:spcBef>
              <a:buFontTx/>
              <a:buAutoNum type="arabicPlain" startAt="5"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mul $pr5, $pr1, $pr2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8	lw $pr1, c</a:t>
            </a:r>
          </a:p>
          <a:p>
            <a:pPr eaLnBrk="1" hangingPunct="1">
              <a:spcBef>
                <a:spcPct val="0"/>
              </a:spcBef>
              <a:buFontTx/>
              <a:buAutoNum type="arabicPlain" startAt="6"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add $pr6, $pr4, 2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10	sw $pr7, 0($pr4)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7	sw  $pr6, 0($pr5)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11	add $pr8,$pr7,$pr1</a:t>
            </a:r>
          </a:p>
        </p:txBody>
      </p:sp>
      <p:sp>
        <p:nvSpPr>
          <p:cNvPr id="30726" name="Text Box 5">
            <a:extLst>
              <a:ext uri="{FF2B5EF4-FFF2-40B4-BE49-F238E27FC236}">
                <a16:creationId xmlns:a16="http://schemas.microsoft.com/office/drawing/2014/main" id="{555AB250-434E-416F-BB2C-2CFF6AEB8F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1524000"/>
            <a:ext cx="533400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TW" sz="2400">
                <a:solidFill>
                  <a:srgbClr val="00CC66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0 1 3 4 5 7 8 9 10 12 13</a:t>
            </a:r>
          </a:p>
        </p:txBody>
      </p:sp>
      <p:sp>
        <p:nvSpPr>
          <p:cNvPr id="30727" name="Text Box 6">
            <a:extLst>
              <a:ext uri="{FF2B5EF4-FFF2-40B4-BE49-F238E27FC236}">
                <a16:creationId xmlns:a16="http://schemas.microsoft.com/office/drawing/2014/main" id="{0CF3B84D-DB0E-4C80-8205-D06D4FA747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4600" y="1524000"/>
            <a:ext cx="533400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TW" sz="2400">
                <a:solidFill>
                  <a:srgbClr val="00CC66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0 1 2 3 4 5 6 7 8 9 10</a:t>
            </a:r>
          </a:p>
        </p:txBody>
      </p:sp>
      <p:sp>
        <p:nvSpPr>
          <p:cNvPr id="30728" name="Text Box 7">
            <a:extLst>
              <a:ext uri="{FF2B5EF4-FFF2-40B4-BE49-F238E27FC236}">
                <a16:creationId xmlns:a16="http://schemas.microsoft.com/office/drawing/2014/main" id="{63AD3333-A3D9-48F0-8CBF-751820F272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5715000"/>
            <a:ext cx="3733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Original code</a:t>
            </a:r>
          </a:p>
        </p:txBody>
      </p:sp>
      <p:sp>
        <p:nvSpPr>
          <p:cNvPr id="30729" name="Text Box 8">
            <a:extLst>
              <a:ext uri="{FF2B5EF4-FFF2-40B4-BE49-F238E27FC236}">
                <a16:creationId xmlns:a16="http://schemas.microsoft.com/office/drawing/2014/main" id="{5A83E3F0-6223-4909-B62F-5FBB263CAC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0" y="5791200"/>
            <a:ext cx="3733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Scheduled code</a:t>
            </a:r>
          </a:p>
        </p:txBody>
      </p:sp>
      <p:sp>
        <p:nvSpPr>
          <p:cNvPr id="30730" name="TextBox 1">
            <a:extLst>
              <a:ext uri="{FF2B5EF4-FFF2-40B4-BE49-F238E27FC236}">
                <a16:creationId xmlns:a16="http://schemas.microsoft.com/office/drawing/2014/main" id="{1B1FAD8B-1C49-4FAA-9CC1-AD13E9DF5B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7650" y="1195389"/>
            <a:ext cx="13271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Issue cycle</a:t>
            </a:r>
          </a:p>
        </p:txBody>
      </p:sp>
      <p:sp>
        <p:nvSpPr>
          <p:cNvPr id="30731" name="TextBox 12">
            <a:extLst>
              <a:ext uri="{FF2B5EF4-FFF2-40B4-BE49-F238E27FC236}">
                <a16:creationId xmlns:a16="http://schemas.microsoft.com/office/drawing/2014/main" id="{3D66CF87-4006-447C-A280-0F5203277B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27725" y="1211264"/>
            <a:ext cx="13271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Issue cycle</a:t>
            </a:r>
          </a:p>
        </p:txBody>
      </p:sp>
    </p:spTree>
  </p:cSld>
  <p:clrMapOvr>
    <a:masterClrMapping/>
  </p:clrMapOvr>
  <p:transition spd="slow">
    <p:cut/>
  </p:transition>
</p:sld>
</file>

<file path=ppt/theme/theme1.xml><?xml version="1.0" encoding="utf-8"?>
<a:theme xmlns:a="http://schemas.openxmlformats.org/drawingml/2006/main" name="NTHU UniClou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預設簡報設計">
      <a:majorFont>
        <a:latin typeface="MS Sans Serif"/>
        <a:ea typeface="MS Sans Serif"/>
        <a:cs typeface="MS Sans Serif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lnDef>
    <a:txDef>
      <a:spPr>
        <a:noFill/>
      </a:spPr>
      <a:bodyPr wrap="none" rtlCol="0" anchor="ctr" anchorCtr="1">
        <a:spAutoFit/>
      </a:bodyPr>
      <a:lstStyle>
        <a:defPPr>
          <a:defRPr dirty="0" smtClean="0">
            <a:ea typeface="標楷體" pitchFamily="65" charset="-120"/>
            <a:cs typeface="Calibri" pitchFamily="34" charset="0"/>
          </a:defRPr>
        </a:defPPr>
      </a:lstStyle>
    </a:tx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NTHU UniCloud" id="{771810AA-CEBD-463A-B947-7C0DFAF8BB54}" vid="{30CF6CD1-9989-4B2E-8702-709C1DF65D80}"/>
    </a:ext>
  </a:extLst>
</a:theme>
</file>

<file path=ppt/theme/theme2.xml><?xml version="1.0" encoding="utf-8"?>
<a:theme xmlns:a="http://schemas.openxmlformats.org/drawingml/2006/main" name="自訂設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19717</TotalTime>
  <Words>1491</Words>
  <Application>Microsoft Office PowerPoint</Application>
  <PresentationFormat>Widescreen</PresentationFormat>
  <Paragraphs>434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MS Sans Serif</vt:lpstr>
      <vt:lpstr>华文楷体</vt:lpstr>
      <vt:lpstr>Arial</vt:lpstr>
      <vt:lpstr>Calibri</vt:lpstr>
      <vt:lpstr>Calibri Light</vt:lpstr>
      <vt:lpstr>Times New Roman</vt:lpstr>
      <vt:lpstr>Wingdings</vt:lpstr>
      <vt:lpstr>NTHU UniCloud</vt:lpstr>
      <vt:lpstr>自訂設計</vt:lpstr>
      <vt:lpstr>CSC3050 –Computer Architecture</vt:lpstr>
      <vt:lpstr>Why Rearrange Code Sequence?</vt:lpstr>
      <vt:lpstr>Bubbles in Pipeline</vt:lpstr>
      <vt:lpstr>Rescheduling Reduces Bubbles</vt:lpstr>
      <vt:lpstr>Dependence DAG: Scheduling Constraints</vt:lpstr>
      <vt:lpstr>Three Types of Register Data Dependence </vt:lpstr>
      <vt:lpstr>Memory Dependency (due to potential aliasing)</vt:lpstr>
      <vt:lpstr>Memory Dependency (due to potential aliasing)</vt:lpstr>
      <vt:lpstr>A Legal Schedule</vt:lpstr>
      <vt:lpstr>A Legal Schedule</vt:lpstr>
      <vt:lpstr>Operation Latency: Weight of Arcs</vt:lpstr>
      <vt:lpstr>Critical Paths</vt:lpstr>
      <vt:lpstr>Identify Critical Paths</vt:lpstr>
      <vt:lpstr>Mark each node with Maximum Delay (yellow number)</vt:lpstr>
      <vt:lpstr>List Scheduling</vt:lpstr>
      <vt:lpstr>Commonly Used Heuristics</vt:lpstr>
      <vt:lpstr>Example</vt:lpstr>
      <vt:lpstr>Execution Cycle Comparison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香港中文大学(深圳)数据科学院 School of Data Science</dc:title>
  <dc:creator>Windows 使用者</dc:creator>
  <cp:lastModifiedBy>Prof. HSU Wei-Chung (SDS)</cp:lastModifiedBy>
  <cp:revision>167</cp:revision>
  <dcterms:created xsi:type="dcterms:W3CDTF">2020-07-15T11:13:39Z</dcterms:created>
  <dcterms:modified xsi:type="dcterms:W3CDTF">2025-03-26T06:42:42Z</dcterms:modified>
</cp:coreProperties>
</file>