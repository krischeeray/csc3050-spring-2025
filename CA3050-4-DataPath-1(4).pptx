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59"/>
  </p:notesMasterIdLst>
  <p:handoutMasterIdLst>
    <p:handoutMasterId r:id="rId60"/>
  </p:handoutMasterIdLst>
  <p:sldIdLst>
    <p:sldId id="256" r:id="rId3"/>
    <p:sldId id="503" r:id="rId4"/>
    <p:sldId id="647" r:id="rId5"/>
    <p:sldId id="657" r:id="rId6"/>
    <p:sldId id="658" r:id="rId7"/>
    <p:sldId id="438" r:id="rId8"/>
    <p:sldId id="352" r:id="rId9"/>
    <p:sldId id="648" r:id="rId10"/>
    <p:sldId id="646" r:id="rId11"/>
    <p:sldId id="636" r:id="rId12"/>
    <p:sldId id="638" r:id="rId13"/>
    <p:sldId id="649" r:id="rId14"/>
    <p:sldId id="650" r:id="rId15"/>
    <p:sldId id="659" r:id="rId16"/>
    <p:sldId id="353" r:id="rId17"/>
    <p:sldId id="354" r:id="rId18"/>
    <p:sldId id="651" r:id="rId19"/>
    <p:sldId id="355" r:id="rId20"/>
    <p:sldId id="660" r:id="rId21"/>
    <p:sldId id="356" r:id="rId22"/>
    <p:sldId id="504" r:id="rId23"/>
    <p:sldId id="357" r:id="rId24"/>
    <p:sldId id="358" r:id="rId25"/>
    <p:sldId id="359" r:id="rId26"/>
    <p:sldId id="360" r:id="rId27"/>
    <p:sldId id="289" r:id="rId28"/>
    <p:sldId id="290" r:id="rId29"/>
    <p:sldId id="291" r:id="rId30"/>
    <p:sldId id="292" r:id="rId31"/>
    <p:sldId id="653" r:id="rId32"/>
    <p:sldId id="293" r:id="rId33"/>
    <p:sldId id="294" r:id="rId34"/>
    <p:sldId id="661" r:id="rId35"/>
    <p:sldId id="662" r:id="rId36"/>
    <p:sldId id="295" r:id="rId37"/>
    <p:sldId id="296" r:id="rId38"/>
    <p:sldId id="297" r:id="rId39"/>
    <p:sldId id="298" r:id="rId40"/>
    <p:sldId id="440" r:id="rId41"/>
    <p:sldId id="441" r:id="rId42"/>
    <p:sldId id="654" r:id="rId43"/>
    <p:sldId id="340" r:id="rId44"/>
    <p:sldId id="341" r:id="rId45"/>
    <p:sldId id="365" r:id="rId46"/>
    <p:sldId id="652" r:id="rId47"/>
    <p:sldId id="655" r:id="rId48"/>
    <p:sldId id="656" r:id="rId49"/>
    <p:sldId id="640" r:id="rId50"/>
    <p:sldId id="305" r:id="rId51"/>
    <p:sldId id="643" r:id="rId52"/>
    <p:sldId id="644" r:id="rId53"/>
    <p:sldId id="641" r:id="rId54"/>
    <p:sldId id="304" r:id="rId55"/>
    <p:sldId id="307" r:id="rId56"/>
    <p:sldId id="645" r:id="rId57"/>
    <p:sldId id="642" r:id="rId5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0" d="100"/>
          <a:sy n="100" d="100"/>
        </p:scale>
        <p:origin x="114"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3/16/2025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2025/3/16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2687638" y="509588"/>
            <a:ext cx="4532312" cy="2549525"/>
          </a:xfrm>
        </p:spPr>
      </p:sp>
      <p:sp>
        <p:nvSpPr>
          <p:cNvPr id="8089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2687638" y="509588"/>
            <a:ext cx="4532312" cy="2549525"/>
          </a:xfrm>
        </p:spPr>
      </p:sp>
      <p:sp>
        <p:nvSpPr>
          <p:cNvPr id="8089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619912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2687638" y="509588"/>
            <a:ext cx="4532312" cy="2549525"/>
          </a:xfrm>
        </p:spPr>
      </p:sp>
      <p:sp>
        <p:nvSpPr>
          <p:cNvPr id="7987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clock time</a:t>
            </a:r>
            <a:r>
              <a:rPr lang="zh-CN" altLang="en-US"/>
              <a:t>： </a:t>
            </a:r>
            <a:r>
              <a:rPr lang="en-US" altLang="zh-CN"/>
              <a:t>the time to complete a task</a:t>
            </a:r>
          </a:p>
        </p:txBody>
      </p:sp>
    </p:spTree>
    <p:extLst>
      <p:ext uri="{BB962C8B-B14F-4D97-AF65-F5344CB8AC3E}">
        <p14:creationId xmlns:p14="http://schemas.microsoft.com/office/powerpoint/2010/main" val="1991694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2687638" y="509588"/>
            <a:ext cx="4532312" cy="2549525"/>
          </a:xfrm>
        </p:spPr>
      </p:sp>
      <p:sp>
        <p:nvSpPr>
          <p:cNvPr id="8192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TW" dirty="0"/>
              <a:t>在这个抽象图里面我</a:t>
            </a:r>
            <a:r>
              <a:rPr lang="en-US" altLang="zh-CN" dirty="0"/>
              <a:t> simplified 2 places</a:t>
            </a:r>
            <a:r>
              <a:rPr lang="zh-CN" altLang="en-US" dirty="0"/>
              <a:t>，一个是多路输入</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687638" y="509588"/>
            <a:ext cx="4532312" cy="2549525"/>
          </a:xfrm>
        </p:spPr>
      </p:sp>
      <p:sp>
        <p:nvSpPr>
          <p:cNvPr id="8294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687638" y="509588"/>
            <a:ext cx="4532312" cy="2549525"/>
          </a:xfrm>
        </p:spPr>
      </p:sp>
      <p:sp>
        <p:nvSpPr>
          <p:cNvPr id="8294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387465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2687638" y="509588"/>
            <a:ext cx="4532312" cy="2549525"/>
          </a:xfrm>
        </p:spPr>
      </p:sp>
      <p:sp>
        <p:nvSpPr>
          <p:cNvPr id="8397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TW"/>
              <a:t>这个在前面的基础上增加了一个控制单元和</a:t>
            </a:r>
            <a:r>
              <a:rPr lang="en-US" altLang="zh-CN"/>
              <a:t>3</a:t>
            </a:r>
            <a:r>
              <a:rPr lang="zh-CN" altLang="en-US"/>
              <a:t>个多选器，</a:t>
            </a:r>
            <a:endParaRPr lang="zh-CN" altLang="zh-TW"/>
          </a:p>
          <a:p>
            <a:r>
              <a:rPr lang="zh-CN" altLang="zh-TW"/>
              <a:t>这里的控制单元决定功能单元和几个多选器的控制信号，其中第三个多选器决定是将</a:t>
            </a:r>
            <a:r>
              <a:rPr lang="en-US" altLang="zh-CN"/>
              <a:t>PC+4</a:t>
            </a:r>
            <a:r>
              <a:rPr lang="zh-CN" altLang="en-US"/>
              <a:t>还是分支的地址写入</a:t>
            </a:r>
            <a:r>
              <a:rPr lang="en-US" altLang="zh-CN"/>
              <a:t>PC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2687638" y="509588"/>
            <a:ext cx="4532312" cy="2549525"/>
          </a:xfrm>
        </p:spPr>
      </p:sp>
      <p:sp>
        <p:nvSpPr>
          <p:cNvPr id="8397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118519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687638" y="509588"/>
            <a:ext cx="4532312" cy="2549525"/>
          </a:xfrm>
        </p:spPr>
      </p:sp>
      <p:sp>
        <p:nvSpPr>
          <p:cNvPr id="8499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The datapath elements in the MIPS implementation consist of two different types of logic elements</a:t>
            </a:r>
            <a:r>
              <a:rPr lang="en-US" altLang="zh-TW"/>
              <a:t>: elements that operate on data values and elements that contain state.</a:t>
            </a:r>
          </a:p>
          <a:p>
            <a:endParaRPr lang="en-US" altLang="zh-TW"/>
          </a:p>
          <a:p>
            <a:r>
              <a:rPr lang="en-US" altLang="zh-TW"/>
              <a:t>Recall the previous figure, The instruction and data memories, as well as the registers, are all examples of state elements.</a:t>
            </a:r>
          </a:p>
          <a:p>
            <a:endParaRPr lang="en-US" altLang="zh-TW"/>
          </a:p>
          <a:p>
            <a:r>
              <a:rPr lang="en-US" altLang="zh-TW"/>
              <a:t>Logic components that contain state are also called sequential element, because their outputs depend on both their inputs and the contents of the internal state.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687638" y="509588"/>
            <a:ext cx="4532312" cy="2549525"/>
          </a:xfrm>
        </p:spPr>
      </p:sp>
      <p:sp>
        <p:nvSpPr>
          <p:cNvPr id="8499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dirty="0"/>
              <a:t>The datapath elements in the </a:t>
            </a:r>
            <a:r>
              <a:rPr lang="en-US" altLang="zh-TW" dirty="0"/>
              <a:t>RV</a:t>
            </a:r>
            <a:r>
              <a:rPr lang="zh-TW" altLang="en-US" dirty="0"/>
              <a:t> implementation consist of two different types of logic elements</a:t>
            </a:r>
            <a:r>
              <a:rPr lang="en-US" altLang="zh-TW" dirty="0"/>
              <a:t>: elements that operate on data values and elements that contain state.</a:t>
            </a:r>
          </a:p>
          <a:p>
            <a:endParaRPr lang="en-US" altLang="zh-TW" dirty="0"/>
          </a:p>
          <a:p>
            <a:r>
              <a:rPr lang="en-US" altLang="zh-TW" dirty="0"/>
              <a:t>Recall the previous figure, The instruction and data memories, as well as the registers, are all examples of state elements.</a:t>
            </a:r>
          </a:p>
          <a:p>
            <a:endParaRPr lang="en-US" altLang="zh-TW" dirty="0"/>
          </a:p>
          <a:p>
            <a:r>
              <a:rPr lang="en-US" altLang="zh-TW" dirty="0"/>
              <a:t>Logic components that contain state are also called sequential element, because their outputs depend on both their inputs and the contents of the internal state.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2687638" y="509588"/>
            <a:ext cx="4532312" cy="2549525"/>
          </a:xfrm>
        </p:spPr>
      </p:sp>
      <p:sp>
        <p:nvSpPr>
          <p:cNvPr id="8601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2687638" y="509588"/>
            <a:ext cx="4532312" cy="2549525"/>
          </a:xfrm>
        </p:spPr>
      </p:sp>
      <p:sp>
        <p:nvSpPr>
          <p:cNvPr id="8704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这个是不带</a:t>
            </a:r>
            <a:r>
              <a:rPr lang="en-US" altLang="zh-CN"/>
              <a:t>write control</a:t>
            </a:r>
            <a:r>
              <a:rPr lang="zh-CN" altLang="en-US"/>
              <a:t>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2687638" y="509588"/>
            <a:ext cx="4532312" cy="2549525"/>
          </a:xfrm>
        </p:spPr>
      </p:sp>
      <p:sp>
        <p:nvSpPr>
          <p:cNvPr id="8806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2687638" y="509588"/>
            <a:ext cx="4532312" cy="2549525"/>
          </a:xfrm>
        </p:spPr>
      </p:sp>
      <p:sp>
        <p:nvSpPr>
          <p:cNvPr id="8909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One of the most important thing you need to know before you start designing a processor is how the instructions look like.</a:t>
            </a:r>
          </a:p>
          <a:p>
            <a:r>
              <a:rPr lang="en-US" altLang="zh-TW" dirty="0"/>
              <a:t>Or in more technical term, you need to know the instruction format. One good thing about the RV instruction set is that it is very simple.</a:t>
            </a:r>
          </a:p>
          <a:p>
            <a:r>
              <a:rPr lang="en-US" altLang="zh-TW" dirty="0"/>
              <a:t>First of all, all RV instructions are 32 bits long.</a:t>
            </a:r>
          </a:p>
          <a:p>
            <a:r>
              <a:rPr lang="en-US" altLang="zh-TW" dirty="0"/>
              <a:t>The different fields of the R-type instructions are:</a:t>
            </a:r>
          </a:p>
          <a:p>
            <a:r>
              <a:rPr lang="en-US" altLang="zh-TW" dirty="0"/>
              <a:t>(a) OP specifies the operation of the instruction.</a:t>
            </a:r>
          </a:p>
          <a:p>
            <a:r>
              <a:rPr lang="en-US" altLang="zh-TW" dirty="0"/>
              <a:t>(b) Rs1, Rs2, and Rd are the source and destination register specifiers.</a:t>
            </a:r>
          </a:p>
          <a:p>
            <a:r>
              <a:rPr lang="en-US" altLang="zh-TW" dirty="0"/>
              <a:t>(c) </a:t>
            </a:r>
            <a:r>
              <a:rPr lang="en-US" altLang="zh-TW" dirty="0" err="1"/>
              <a:t>Shamt</a:t>
            </a:r>
            <a:r>
              <a:rPr lang="en-US" altLang="zh-TW" dirty="0"/>
              <a:t> specifies the amount you need to shift for the shift instructions.</a:t>
            </a:r>
          </a:p>
          <a:p>
            <a:r>
              <a:rPr lang="en-US" altLang="zh-TW" dirty="0"/>
              <a:t>(d) </a:t>
            </a:r>
            <a:r>
              <a:rPr lang="en-US" altLang="zh-TW" dirty="0" err="1"/>
              <a:t>Funct</a:t>
            </a:r>
            <a:r>
              <a:rPr lang="en-US" altLang="zh-TW" dirty="0"/>
              <a:t> selects the variant of the operation specified</a:t>
            </a:r>
          </a:p>
          <a:p>
            <a:endParaRPr lang="en-US" altLang="zh-TW" dirty="0"/>
          </a:p>
        </p:txBody>
      </p:sp>
      <p:sp>
        <p:nvSpPr>
          <p:cNvPr id="9113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In today lecture, I will show you how to implement the following subset of RV32I instructions: add, subtract, and/or immediate, load, store, branch, and the jump instruction.</a:t>
            </a:r>
          </a:p>
          <a:p>
            <a:r>
              <a:rPr lang="en-US" altLang="zh-TW" dirty="0"/>
              <a:t>The Add and Subtract instructions use the R format.  The Op together with the </a:t>
            </a:r>
            <a:r>
              <a:rPr lang="en-US" altLang="zh-TW" dirty="0" err="1"/>
              <a:t>Func</a:t>
            </a:r>
            <a:r>
              <a:rPr lang="en-US" altLang="zh-TW" dirty="0"/>
              <a:t> fields specified all the different kinds of add and subtract instructions.</a:t>
            </a:r>
          </a:p>
          <a:p>
            <a:r>
              <a:rPr lang="en-US" altLang="zh-TW" dirty="0"/>
              <a:t>Rs1 and Rs2 specifies the source registers.  And the Rd field specifies the destination register.</a:t>
            </a:r>
          </a:p>
          <a:p>
            <a:r>
              <a:rPr lang="en-US" altLang="zh-TW" dirty="0"/>
              <a:t>The Or immediate instruction uses the I format.  It only uses one source register, Rs1.  The other operand comes from the immediate field. The Rd field is used to specified the destination register. (Note that </a:t>
            </a:r>
            <a:r>
              <a:rPr lang="en-US" altLang="zh-TW" dirty="0" err="1"/>
              <a:t>dest</a:t>
            </a:r>
            <a:r>
              <a:rPr lang="en-US" altLang="zh-TW" dirty="0"/>
              <a:t> is the Rt field!</a:t>
            </a:r>
          </a:p>
          <a:p>
            <a:r>
              <a:rPr lang="en-US" altLang="zh-TW" dirty="0"/>
              <a:t>The difference is that the load instruction will load the data from memory into Rd while the store instruction will store the data in Rs2 into the memory.</a:t>
            </a:r>
          </a:p>
          <a:p>
            <a:r>
              <a:rPr lang="en-US" altLang="zh-TW" dirty="0"/>
              <a:t>The branch on equal instruction also uses the I format.  Here Rs and Rt are used to specified the registers we need to compare.</a:t>
            </a:r>
          </a:p>
          <a:p>
            <a:r>
              <a:rPr lang="en-US" altLang="zh-TW" dirty="0"/>
              <a:t>If these two registers are equal, we will branch to a location offset by the immediate field.</a:t>
            </a:r>
          </a:p>
          <a:p>
            <a:r>
              <a:rPr lang="en-US" altLang="zh-TW" dirty="0"/>
              <a:t>Finally, the jump instruction uses the J format and always causes the program to jump to a memory location specified in the address field. </a:t>
            </a:r>
          </a:p>
          <a:p>
            <a:r>
              <a:rPr lang="en-US" altLang="zh-TW" dirty="0"/>
              <a:t>I know I went over this rather quickly and you may have missed something.  But don worry, this is just an overview.  You will keep seeing these (point to the format) all day today.</a:t>
            </a:r>
          </a:p>
          <a:p>
            <a:endParaRPr lang="en-US" altLang="zh-TW" dirty="0"/>
          </a:p>
          <a:p>
            <a:r>
              <a:rPr lang="en-US" altLang="zh-TW" dirty="0"/>
              <a:t>+3 = 13 min. (X:53)</a:t>
            </a:r>
          </a:p>
        </p:txBody>
      </p:sp>
      <p:sp>
        <p:nvSpPr>
          <p:cNvPr id="9216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3187"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CN" altLang="zh-TW"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308891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Based on the Register Transfer Language examples we have so far, we know we will need the following combinational logic elements.</a:t>
            </a:r>
          </a:p>
          <a:p>
            <a:r>
              <a:rPr lang="en-US" altLang="zh-TW" dirty="0"/>
              <a:t>We will need an adder to update the program counter. We may end up with three adders!!</a:t>
            </a:r>
          </a:p>
          <a:p>
            <a:r>
              <a:rPr lang="en-US" altLang="zh-TW" dirty="0"/>
              <a:t>A MUX to select the results.</a:t>
            </a:r>
          </a:p>
          <a:p>
            <a:r>
              <a:rPr lang="en-US" altLang="zh-TW" dirty="0"/>
              <a:t>And finally, an ALU to do various arithmetic and logic operation.</a:t>
            </a:r>
          </a:p>
          <a:p>
            <a:endParaRPr lang="en-US" altLang="zh-TW" dirty="0"/>
          </a:p>
          <a:p>
            <a:r>
              <a:rPr lang="en-US" altLang="zh-TW" dirty="0"/>
              <a:t>+1 = 30 min. (Y:10)</a:t>
            </a:r>
          </a:p>
        </p:txBody>
      </p:sp>
      <p:sp>
        <p:nvSpPr>
          <p:cNvPr id="95235"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38333620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1660339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As far as storage elements are concerned, we will need a N-bit register that is similar to the D flip-flop I showed you in class. </a:t>
            </a:r>
            <a:r>
              <a:rPr lang="zh-CN" altLang="en-US"/>
              <a:t>（</a:t>
            </a:r>
            <a:r>
              <a:rPr lang="en-US" altLang="zh-CN"/>
              <a:t>D</a:t>
            </a:r>
            <a:r>
              <a:rPr lang="zh-CN" altLang="en-US"/>
              <a:t>触发器）</a:t>
            </a:r>
            <a:endParaRPr lang="en-US" altLang="zh-TW"/>
          </a:p>
          <a:p>
            <a:r>
              <a:rPr lang="en-US" altLang="zh-TW"/>
              <a:t>The significant difference here is that the register will have a Write Enable input.</a:t>
            </a:r>
          </a:p>
          <a:p>
            <a:r>
              <a:rPr lang="en-US" altLang="zh-TW"/>
              <a:t>That is the content of the register will NOT  be updated if Write Enable is not asserted (0).</a:t>
            </a:r>
          </a:p>
          <a:p>
            <a:r>
              <a:rPr lang="en-US" altLang="zh-TW"/>
              <a:t>The content is updated at the clock tick ONLY if the Write Enable signal is asserted (1).</a:t>
            </a:r>
          </a:p>
          <a:p>
            <a:endParaRPr lang="en-US" altLang="zh-TW"/>
          </a:p>
          <a:p>
            <a:r>
              <a:rPr lang="en-US" altLang="zh-TW"/>
              <a:t>+1 = 31 min. (Y:11)</a:t>
            </a:r>
          </a:p>
        </p:txBody>
      </p:sp>
      <p:sp>
        <p:nvSpPr>
          <p:cNvPr id="9625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a:p>
            <a:r>
              <a:rPr lang="en-US" altLang="zh-TW" dirty="0"/>
              <a:t>register File: </a:t>
            </a:r>
            <a:r>
              <a:rPr lang="zh-CN" altLang="en-US" dirty="0"/>
              <a:t>寄存器堆，包含</a:t>
            </a:r>
            <a:r>
              <a:rPr lang="en-US" altLang="zh-CN" dirty="0"/>
              <a:t>32</a:t>
            </a:r>
            <a:r>
              <a:rPr lang="zh-CN" altLang="en-US" dirty="0"/>
              <a:t>个通用寄存器。 </a:t>
            </a:r>
            <a:r>
              <a:rPr lang="en-US" altLang="zh-CN" dirty="0" err="1"/>
              <a:t>BusA</a:t>
            </a:r>
            <a:r>
              <a:rPr lang="zh-CN" altLang="en-US" dirty="0"/>
              <a:t>和</a:t>
            </a:r>
            <a:r>
              <a:rPr lang="en-US" altLang="zh-CN" dirty="0" err="1"/>
              <a:t>BusB</a:t>
            </a:r>
            <a:r>
              <a:rPr lang="zh-CN" altLang="en-US" dirty="0"/>
              <a:t>是读两个寄存器的值，</a:t>
            </a:r>
            <a:r>
              <a:rPr lang="en-US" altLang="zh-CN" dirty="0" err="1"/>
              <a:t>busW</a:t>
            </a:r>
            <a:r>
              <a:rPr lang="zh-CN" altLang="en-US" dirty="0"/>
              <a:t>是写，</a:t>
            </a:r>
            <a:r>
              <a:rPr lang="en-US" altLang="zh-CN" dirty="0"/>
              <a:t>RA</a:t>
            </a:r>
            <a:r>
              <a:rPr lang="zh-CN" altLang="en-US" dirty="0"/>
              <a:t>、</a:t>
            </a:r>
            <a:r>
              <a:rPr lang="en-US" altLang="zh-CN" dirty="0"/>
              <a:t>Rb</a:t>
            </a:r>
            <a:r>
              <a:rPr lang="zh-CN" altLang="en-US" dirty="0"/>
              <a:t>、</a:t>
            </a:r>
            <a:r>
              <a:rPr lang="en-US" altLang="zh-CN" dirty="0"/>
              <a:t>RW</a:t>
            </a:r>
            <a:r>
              <a:rPr lang="zh-CN" altLang="en-US" dirty="0"/>
              <a:t>是寄存器的编号</a:t>
            </a:r>
          </a:p>
          <a:p>
            <a:r>
              <a:rPr lang="en-US" altLang="zh-TW" dirty="0"/>
              <a:t>We will also need a register file that consists of 32 32-bit registers with two output busses (</a:t>
            </a:r>
            <a:r>
              <a:rPr lang="en-US" altLang="zh-TW" dirty="0" err="1"/>
              <a:t>busA</a:t>
            </a:r>
            <a:r>
              <a:rPr lang="en-US" altLang="zh-TW" dirty="0"/>
              <a:t> and </a:t>
            </a:r>
            <a:r>
              <a:rPr lang="en-US" altLang="zh-TW" dirty="0" err="1"/>
              <a:t>busB</a:t>
            </a:r>
            <a:r>
              <a:rPr lang="en-US" altLang="zh-TW" dirty="0"/>
              <a:t>) and one input bus.</a:t>
            </a:r>
          </a:p>
          <a:p>
            <a:r>
              <a:rPr lang="en-US" altLang="zh-TW" dirty="0"/>
              <a:t>The register specifiers Ra and Rb select the registers to put on </a:t>
            </a:r>
            <a:r>
              <a:rPr lang="en-US" altLang="zh-TW" dirty="0" err="1"/>
              <a:t>busA</a:t>
            </a:r>
            <a:r>
              <a:rPr lang="en-US" altLang="zh-TW" dirty="0"/>
              <a:t> and </a:t>
            </a:r>
            <a:r>
              <a:rPr lang="en-US" altLang="zh-TW" dirty="0" err="1"/>
              <a:t>busB</a:t>
            </a:r>
            <a:r>
              <a:rPr lang="en-US" altLang="zh-TW" dirty="0"/>
              <a:t>  respectively.</a:t>
            </a:r>
          </a:p>
          <a:p>
            <a:r>
              <a:rPr lang="en-US" altLang="zh-TW" dirty="0"/>
              <a:t>When Write Enable is 1, the register specifier </a:t>
            </a:r>
            <a:r>
              <a:rPr lang="en-US" altLang="zh-TW" dirty="0" err="1"/>
              <a:t>Rw</a:t>
            </a:r>
            <a:r>
              <a:rPr lang="en-US" altLang="zh-TW" dirty="0"/>
              <a:t> selects the register to be written via </a:t>
            </a:r>
            <a:r>
              <a:rPr lang="en-US" altLang="zh-TW" dirty="0" err="1"/>
              <a:t>busW</a:t>
            </a:r>
            <a:r>
              <a:rPr lang="en-US" altLang="zh-TW" dirty="0"/>
              <a:t>.</a:t>
            </a:r>
          </a:p>
          <a:p>
            <a:r>
              <a:rPr lang="en-US" altLang="zh-TW" dirty="0"/>
              <a:t>In our simplified version of the register file, the write operation will occurs at the clock tick.</a:t>
            </a:r>
          </a:p>
          <a:p>
            <a:r>
              <a:rPr lang="en-US" altLang="zh-TW" dirty="0"/>
              <a:t>Keep in mind that the clock input is a factor ONLY during the write operation.</a:t>
            </a:r>
          </a:p>
          <a:p>
            <a:r>
              <a:rPr lang="en-US" altLang="zh-TW" dirty="0"/>
              <a:t>During read operation, the register file behaves as a combinational logic block.</a:t>
            </a:r>
          </a:p>
          <a:p>
            <a:r>
              <a:rPr lang="en-US" altLang="zh-TW" dirty="0"/>
              <a:t>That is if you put a valid value on Ra, then bus A will become valid after the register file access time.</a:t>
            </a:r>
          </a:p>
          <a:p>
            <a:r>
              <a:rPr lang="en-US" altLang="zh-TW" dirty="0"/>
              <a:t>Similarly if you put a valid value on Rb, bus B will become valid after the register file access time.   In both cases (Ra and Rb), the clock input is not a factor.</a:t>
            </a:r>
          </a:p>
          <a:p>
            <a:r>
              <a:rPr lang="en-US" altLang="zh-TW" dirty="0"/>
              <a:t>Intel can issue 4-6 instruction per clock cycle. This does not mean the registers should support 12 read ports. Because 4-6 are a mix of int/</a:t>
            </a:r>
            <a:r>
              <a:rPr lang="en-US" altLang="zh-TW" dirty="0" err="1"/>
              <a:t>fp</a:t>
            </a:r>
            <a:r>
              <a:rPr lang="en-US" altLang="zh-TW" dirty="0"/>
              <a:t> instructions.</a:t>
            </a:r>
          </a:p>
          <a:p>
            <a:r>
              <a:rPr lang="en-US" altLang="zh-TW" dirty="0"/>
              <a:t>Today’s high-end processors usually support 10-12 read ports.</a:t>
            </a:r>
          </a:p>
        </p:txBody>
      </p:sp>
      <p:sp>
        <p:nvSpPr>
          <p:cNvPr id="9728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The last storage element you will need for the </a:t>
            </a:r>
            <a:r>
              <a:rPr lang="en-US" altLang="zh-TW" dirty="0" err="1"/>
              <a:t>datapath</a:t>
            </a:r>
            <a:r>
              <a:rPr lang="en-US" altLang="zh-TW" dirty="0"/>
              <a:t> is the idealized memory to store your data and instructions.</a:t>
            </a:r>
          </a:p>
          <a:p>
            <a:r>
              <a:rPr lang="en-US" altLang="zh-TW" dirty="0"/>
              <a:t>This idealized memory block has just one input bus (</a:t>
            </a:r>
            <a:r>
              <a:rPr lang="en-US" altLang="zh-TW" dirty="0" err="1"/>
              <a:t>DataIn</a:t>
            </a:r>
            <a:r>
              <a:rPr lang="en-US" altLang="zh-TW" dirty="0"/>
              <a:t>) and one output bus (</a:t>
            </a:r>
            <a:r>
              <a:rPr lang="en-US" altLang="zh-TW" dirty="0" err="1"/>
              <a:t>DataOut</a:t>
            </a:r>
            <a:r>
              <a:rPr lang="en-US" altLang="zh-TW" dirty="0"/>
              <a:t>).</a:t>
            </a:r>
          </a:p>
          <a:p>
            <a:r>
              <a:rPr lang="en-US" altLang="zh-TW" dirty="0"/>
              <a:t>When Write Enable is 0, the address selects the memory word to put on the Data Out bus.</a:t>
            </a:r>
          </a:p>
          <a:p>
            <a:r>
              <a:rPr lang="en-US" altLang="zh-TW" dirty="0"/>
              <a:t>When Write Enable is 1, the address selects the memory word to be written via the </a:t>
            </a:r>
            <a:r>
              <a:rPr lang="en-US" altLang="zh-TW" dirty="0" err="1"/>
              <a:t>DataIn</a:t>
            </a:r>
            <a:r>
              <a:rPr lang="en-US" altLang="zh-TW" dirty="0"/>
              <a:t> bus at the next clock tick.</a:t>
            </a:r>
          </a:p>
          <a:p>
            <a:r>
              <a:rPr lang="en-US" altLang="zh-TW" dirty="0"/>
              <a:t>Once again, the clock input is a factor ONLY during the write operation.</a:t>
            </a:r>
          </a:p>
          <a:p>
            <a:r>
              <a:rPr lang="en-US" altLang="zh-TW" dirty="0"/>
              <a:t>During read operation, it behaves as a combinational logic block.</a:t>
            </a:r>
          </a:p>
          <a:p>
            <a:r>
              <a:rPr lang="en-US" altLang="zh-TW" dirty="0"/>
              <a:t>That is if you put a valid value on the address lines, the output bus </a:t>
            </a:r>
            <a:r>
              <a:rPr lang="en-US" altLang="zh-TW" dirty="0" err="1"/>
              <a:t>DataOut</a:t>
            </a:r>
            <a:r>
              <a:rPr lang="en-US" altLang="zh-TW" dirty="0"/>
              <a:t> will become valid after the access time of the memory</a:t>
            </a:r>
          </a:p>
        </p:txBody>
      </p:sp>
      <p:sp>
        <p:nvSpPr>
          <p:cNvPr id="98307"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p:txBody>
      </p:sp>
      <p:sp>
        <p:nvSpPr>
          <p:cNvPr id="99331"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How does the branch on equal instruction work?</a:t>
            </a:r>
          </a:p>
          <a:p>
            <a:r>
              <a:rPr lang="en-US" altLang="zh-TW" dirty="0"/>
              <a:t>Well it calculates the branch condition by subtracting the register selected by the Rs2 field from the register selected by the Rs1 field.</a:t>
            </a:r>
          </a:p>
          <a:p>
            <a:r>
              <a:rPr lang="en-US" altLang="zh-TW" dirty="0"/>
              <a:t>If the result of the subtraction is zero, then these two registers are equal and we take a branch.  Otherwise, we keep going down the sequential path (PC &lt;- PC +4).</a:t>
            </a:r>
          </a:p>
          <a:p>
            <a:endParaRPr lang="en-US" altLang="zh-TW" dirty="0"/>
          </a:p>
          <a:p>
            <a:r>
              <a:rPr lang="en-US" altLang="zh-TW" dirty="0"/>
              <a:t>+1 = 65 min. (Y:45)</a:t>
            </a:r>
          </a:p>
        </p:txBody>
      </p:sp>
      <p:sp>
        <p:nvSpPr>
          <p:cNvPr id="103427"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The </a:t>
            </a:r>
            <a:r>
              <a:rPr lang="en-US" altLang="zh-TW" dirty="0" err="1"/>
              <a:t>datapath</a:t>
            </a:r>
            <a:r>
              <a:rPr lang="en-US" altLang="zh-TW" dirty="0"/>
              <a:t> for calculating the branch condition is rather simple.</a:t>
            </a:r>
          </a:p>
          <a:p>
            <a:r>
              <a:rPr lang="en-US" altLang="zh-TW" dirty="0"/>
              <a:t>All we have to do is feed the Rs and Rt fields of the instruction into the Ra and Rb inputs of the register file.</a:t>
            </a:r>
          </a:p>
          <a:p>
            <a:r>
              <a:rPr lang="en-US" altLang="zh-TW" dirty="0"/>
              <a:t>For the branch, usually a subtraction is performed, but what if the subtraction overflowed?</a:t>
            </a:r>
          </a:p>
          <a:p>
            <a:r>
              <a:rPr lang="en-US" altLang="zh-TW" dirty="0"/>
              <a:t>Bus A will then contain the value from the register selected by Rs.</a:t>
            </a:r>
          </a:p>
          <a:p>
            <a:r>
              <a:rPr lang="en-US" altLang="zh-TW" dirty="0"/>
              <a:t>And bus B will contain the value from the register selected by Rt.</a:t>
            </a:r>
          </a:p>
          <a:p>
            <a:r>
              <a:rPr lang="en-US" altLang="zh-TW" dirty="0"/>
              <a:t>The next thing to do is to ask the ALU to perform a subtract operation and feed the output Zero to the next address logic.</a:t>
            </a:r>
          </a:p>
          <a:p>
            <a:r>
              <a:rPr lang="en-US" altLang="zh-TW" dirty="0"/>
              <a:t>How does the next address logic block look like?</a:t>
            </a:r>
          </a:p>
          <a:p>
            <a:r>
              <a:rPr lang="en-US" altLang="zh-TW" dirty="0"/>
              <a:t>Well, before I show you that, let take a look at the binary </a:t>
            </a:r>
            <a:r>
              <a:rPr lang="en-US" altLang="zh-TW" dirty="0" err="1"/>
              <a:t>arithmetics</a:t>
            </a:r>
            <a:r>
              <a:rPr lang="en-US" altLang="zh-TW" dirty="0"/>
              <a:t> behind the program counter (PC).</a:t>
            </a:r>
          </a:p>
          <a:p>
            <a:endParaRPr lang="en-US" altLang="zh-TW" dirty="0"/>
          </a:p>
          <a:p>
            <a:r>
              <a:rPr lang="en-US" altLang="zh-TW" dirty="0"/>
              <a:t>+2 = 67 min. (Y:47)</a:t>
            </a:r>
          </a:p>
        </p:txBody>
      </p:sp>
      <p:sp>
        <p:nvSpPr>
          <p:cNvPr id="104451"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41412922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And here is the </a:t>
            </a:r>
            <a:r>
              <a:rPr lang="en-US" altLang="zh-TW" dirty="0" err="1"/>
              <a:t>datapath</a:t>
            </a:r>
            <a:r>
              <a:rPr lang="en-US" altLang="zh-TW" dirty="0"/>
              <a:t> that can do the trick.</a:t>
            </a:r>
          </a:p>
          <a:p>
            <a:r>
              <a:rPr lang="en-US" altLang="zh-TW" dirty="0"/>
              <a:t>First of all, we connect the register file Ra, Rb, and </a:t>
            </a:r>
            <a:r>
              <a:rPr lang="en-US" altLang="zh-TW" dirty="0" err="1"/>
              <a:t>Rw</a:t>
            </a:r>
            <a:r>
              <a:rPr lang="en-US" altLang="zh-TW" dirty="0"/>
              <a:t> input to the Rd, Rs1, and Rs2 fields of the instruction bus (points to the format diagram).</a:t>
            </a:r>
          </a:p>
          <a:p>
            <a:r>
              <a:rPr lang="en-US" altLang="zh-TW" dirty="0"/>
              <a:t>Then we need to connect  </a:t>
            </a:r>
            <a:r>
              <a:rPr lang="en-US" altLang="zh-TW" dirty="0" err="1"/>
              <a:t>busA</a:t>
            </a:r>
            <a:r>
              <a:rPr lang="en-US" altLang="zh-TW" dirty="0"/>
              <a:t> and </a:t>
            </a:r>
            <a:r>
              <a:rPr lang="en-US" altLang="zh-TW" dirty="0" err="1"/>
              <a:t>busB</a:t>
            </a:r>
            <a:r>
              <a:rPr lang="en-US" altLang="zh-TW" dirty="0"/>
              <a:t> of the register file to the ALU.</a:t>
            </a:r>
          </a:p>
          <a:p>
            <a:r>
              <a:rPr lang="en-US" altLang="zh-TW" dirty="0"/>
              <a:t>Finally, we need to connect the output of the ALU to the input bus of the register file.</a:t>
            </a:r>
          </a:p>
          <a:p>
            <a:r>
              <a:rPr lang="en-US" altLang="zh-TW" dirty="0"/>
              <a:t>Conceptually, this is how it works.</a:t>
            </a:r>
          </a:p>
          <a:p>
            <a:r>
              <a:rPr lang="en-US" altLang="zh-TW" dirty="0"/>
              <a:t>The instruction bus coming out of the Instruction memory will set the Rs1 and Rs2 to the register specifiers Rs1 and Rs2.</a:t>
            </a:r>
          </a:p>
          <a:p>
            <a:r>
              <a:rPr lang="en-US" altLang="zh-TW" dirty="0"/>
              <a:t>This causes the register file to put the value of register Rs1 onto </a:t>
            </a:r>
            <a:r>
              <a:rPr lang="en-US" altLang="zh-TW" dirty="0" err="1"/>
              <a:t>busA</a:t>
            </a:r>
            <a:r>
              <a:rPr lang="en-US" altLang="zh-TW" dirty="0"/>
              <a:t> and the value of register Rs2 onto </a:t>
            </a:r>
            <a:r>
              <a:rPr lang="en-US" altLang="zh-TW" dirty="0" err="1"/>
              <a:t>busB</a:t>
            </a:r>
            <a:r>
              <a:rPr lang="en-US" altLang="zh-TW" dirty="0"/>
              <a:t>, respectively.</a:t>
            </a:r>
          </a:p>
          <a:p>
            <a:r>
              <a:rPr lang="en-US" altLang="zh-TW" dirty="0"/>
              <a:t>By setting the </a:t>
            </a:r>
            <a:r>
              <a:rPr lang="en-US" altLang="zh-TW" dirty="0" err="1"/>
              <a:t>ALUctr</a:t>
            </a:r>
            <a:r>
              <a:rPr lang="en-US" altLang="zh-TW" dirty="0"/>
              <a:t> appropriately, the ALU will perform either the Add and Subtract for us.</a:t>
            </a:r>
          </a:p>
          <a:p>
            <a:r>
              <a:rPr lang="en-US" altLang="zh-TW" dirty="0"/>
              <a:t>The result is then fed back to the register file where the register specifier </a:t>
            </a:r>
            <a:r>
              <a:rPr lang="en-US" altLang="zh-TW" dirty="0" err="1"/>
              <a:t>Rw</a:t>
            </a:r>
            <a:r>
              <a:rPr lang="en-US" altLang="zh-TW" dirty="0"/>
              <a:t> should already be set to the instruction bus Rd field.</a:t>
            </a:r>
          </a:p>
          <a:p>
            <a:r>
              <a:rPr lang="en-US" altLang="zh-TW" dirty="0"/>
              <a:t>Since the control, which we will design in our next lecture, should have already set the </a:t>
            </a:r>
            <a:r>
              <a:rPr lang="en-US" altLang="zh-TW" dirty="0" err="1"/>
              <a:t>RegWr</a:t>
            </a:r>
            <a:r>
              <a:rPr lang="en-US" altLang="zh-TW" dirty="0"/>
              <a:t> signal to 1, the result will be written back to the register file at the next clock tick (points to the </a:t>
            </a:r>
            <a:r>
              <a:rPr lang="en-US" altLang="zh-TW" dirty="0" err="1"/>
              <a:t>Clk</a:t>
            </a:r>
            <a:r>
              <a:rPr lang="en-US" altLang="zh-TW" dirty="0"/>
              <a:t> input).</a:t>
            </a:r>
          </a:p>
          <a:p>
            <a:endParaRPr lang="en-US" altLang="zh-TW" dirty="0"/>
          </a:p>
          <a:p>
            <a:r>
              <a:rPr lang="en-US" altLang="zh-TW" dirty="0"/>
              <a:t>+3 = 42 min. (Y:22)</a:t>
            </a:r>
          </a:p>
        </p:txBody>
      </p:sp>
      <p:sp>
        <p:nvSpPr>
          <p:cNvPr id="100355"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Once again we cannot use the instruction Rd field for the Register File Rw input because load is a I-type instruction and there is no such thing as the Rd field in the I format.</a:t>
            </a:r>
          </a:p>
          <a:p>
            <a:r>
              <a:rPr lang="en-US" altLang="zh-TW"/>
              <a:t>So instead of Rd, the Rt field is used to specify the destination register through this two to  one multiplexor.</a:t>
            </a:r>
          </a:p>
          <a:p>
            <a:r>
              <a:rPr lang="en-US" altLang="zh-TW"/>
              <a:t>The first operand of the ALU comes from busA of the register file which contains the value of Register Rs (points to the Ra input of the register file).</a:t>
            </a:r>
          </a:p>
          <a:p>
            <a:r>
              <a:rPr lang="en-US" altLang="zh-TW"/>
              <a:t>The second operand, on the other hand, comes from the immediate field of the instruction.</a:t>
            </a:r>
          </a:p>
          <a:p>
            <a:r>
              <a:rPr lang="en-US" altLang="zh-TW"/>
              <a:t>Instead of using the Zero Extender I used in datapath for the or immediate datapath, I have to use a more general purpose Extender that can do both Sign Extend and Zero Extend.</a:t>
            </a:r>
          </a:p>
          <a:p>
            <a:r>
              <a:rPr lang="en-US" altLang="zh-TW"/>
              <a:t>The ALU then adds these two operands together to form the memory address.</a:t>
            </a:r>
          </a:p>
          <a:p>
            <a:r>
              <a:rPr lang="en-US" altLang="zh-TW"/>
              <a:t>Consequently, the output of the ALU has to go to two places:</a:t>
            </a:r>
          </a:p>
          <a:p>
            <a:r>
              <a:rPr lang="en-US" altLang="zh-TW"/>
              <a:t>(a) First the address input of the data memory.</a:t>
            </a:r>
          </a:p>
          <a:p>
            <a:r>
              <a:rPr lang="en-US" altLang="zh-TW"/>
              <a:t>(b) And secondly, also to the input of this two-to-one multiplexer.</a:t>
            </a:r>
          </a:p>
          <a:p>
            <a:r>
              <a:rPr lang="en-US" altLang="zh-TW"/>
              <a:t>The other input of this multiplexer comes from the output of the data memory so we can place the output of the data memory onto the register file input bus for the load instruction.</a:t>
            </a:r>
          </a:p>
          <a:p>
            <a:r>
              <a:rPr lang="en-US" altLang="zh-TW"/>
              <a:t>For Add, Subtract, and the Or immediate instructions, the output of the ALU will be selected to be placed on the input bus of the register file.</a:t>
            </a:r>
          </a:p>
          <a:p>
            <a:r>
              <a:rPr lang="en-US" altLang="zh-TW"/>
              <a:t>In either case, the control signal RegWr should be asserted so the register file will be written at the end of the cycle.</a:t>
            </a:r>
          </a:p>
          <a:p>
            <a:endParaRPr lang="en-US" altLang="zh-TW"/>
          </a:p>
          <a:p>
            <a:r>
              <a:rPr lang="en-US" altLang="zh-TW"/>
              <a:t>+3 = 60 min. (Y:40)</a:t>
            </a:r>
          </a:p>
        </p:txBody>
      </p:sp>
      <p:sp>
        <p:nvSpPr>
          <p:cNvPr id="10137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2687638" y="509588"/>
            <a:ext cx="4532312" cy="2549525"/>
          </a:xfrm>
        </p:spPr>
      </p:sp>
      <p:sp>
        <p:nvSpPr>
          <p:cNvPr id="10240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To create a datapath with only a single register fi le and a single ALU, we must</a:t>
            </a:r>
          </a:p>
          <a:p>
            <a:r>
              <a:rPr lang="zh-TW" altLang="en-US"/>
              <a:t>support two diff erent sources for the second ALU input, as well as two diff erent</a:t>
            </a:r>
          </a:p>
          <a:p>
            <a:r>
              <a:rPr lang="zh-TW" altLang="en-US"/>
              <a:t>sources for the data stored into the register fi le. Th us, one multiplexor is placed</a:t>
            </a:r>
          </a:p>
          <a:p>
            <a:r>
              <a:rPr lang="zh-TW" altLang="en-US"/>
              <a:t>at the ALU input and another at the data input to the register fi le.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6421790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8297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Programmer’s perspectives! Not designer’s perspective</a:t>
            </a:r>
            <a:endParaRPr lang="zh-TW" altLang="en-US" dirty="0"/>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6078496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Now, with the clocking methodology back in your mind, we can consider what the critical path of our abstract </a:t>
            </a:r>
            <a:r>
              <a:rPr lang="en-US" altLang="zh-TW" dirty="0" err="1"/>
              <a:t>datapath</a:t>
            </a:r>
            <a:r>
              <a:rPr lang="en-US" altLang="zh-TW" dirty="0"/>
              <a:t> may look like.</a:t>
            </a:r>
          </a:p>
          <a:p>
            <a:r>
              <a:rPr lang="en-US" altLang="zh-TW" dirty="0"/>
              <a:t>One thing to keep in mind about the Register File and Ideal Memory (points to both Instruction and Data) is that the Clock input is a factor ONLY during the write operation.</a:t>
            </a:r>
          </a:p>
          <a:p>
            <a:r>
              <a:rPr lang="en-US" altLang="zh-TW" dirty="0"/>
              <a:t>For read operation, the CLK input is not a factor.  The register file and the ideal memory behave as if they are combinational logic.</a:t>
            </a:r>
          </a:p>
          <a:p>
            <a:r>
              <a:rPr lang="en-US" altLang="zh-TW" dirty="0"/>
              <a:t>That is you apply an address to the input, then after certain delay, which we called access time, the output is valid.</a:t>
            </a:r>
          </a:p>
          <a:p>
            <a:r>
              <a:rPr lang="en-US" altLang="zh-TW" dirty="0"/>
              <a:t>We will come back to these points later in this lecture.</a:t>
            </a:r>
          </a:p>
          <a:p>
            <a:r>
              <a:rPr lang="en-US" altLang="zh-TW" dirty="0"/>
              <a:t>But for now, let look at this </a:t>
            </a:r>
            <a:r>
              <a:rPr lang="en-US" altLang="zh-TW" dirty="0" err="1"/>
              <a:t>bstract?datapath</a:t>
            </a:r>
            <a:r>
              <a:rPr lang="en-US" altLang="zh-TW" dirty="0"/>
              <a:t> critical path which occurs when the </a:t>
            </a:r>
            <a:r>
              <a:rPr lang="en-US" altLang="zh-TW" dirty="0" err="1"/>
              <a:t>datapath</a:t>
            </a:r>
            <a:r>
              <a:rPr lang="en-US" altLang="zh-TW" dirty="0"/>
              <a:t> tries to execute the Load instruction.</a:t>
            </a:r>
          </a:p>
          <a:p>
            <a:r>
              <a:rPr lang="en-US" altLang="zh-TW" dirty="0"/>
              <a:t>The time it takes to execute the load instruction are the sum of:</a:t>
            </a:r>
          </a:p>
          <a:p>
            <a:r>
              <a:rPr lang="en-US" altLang="zh-TW" dirty="0"/>
              <a:t>(a) The PC clock-to-Q time.</a:t>
            </a:r>
          </a:p>
          <a:p>
            <a:r>
              <a:rPr lang="en-US" altLang="zh-TW" dirty="0"/>
              <a:t>(b) The instruction memory access time.</a:t>
            </a:r>
          </a:p>
          <a:p>
            <a:r>
              <a:rPr lang="en-US" altLang="zh-TW" dirty="0"/>
              <a:t>(c) The time it takes to read the register file.</a:t>
            </a:r>
          </a:p>
          <a:p>
            <a:r>
              <a:rPr lang="en-US" altLang="zh-TW" dirty="0"/>
              <a:t>(d) The ALU delay in calculating the Data Memory Address.</a:t>
            </a:r>
          </a:p>
          <a:p>
            <a:r>
              <a:rPr lang="en-US" altLang="zh-TW" dirty="0"/>
              <a:t>(e) The time it takes to read the Data Memory.</a:t>
            </a:r>
          </a:p>
          <a:p>
            <a:r>
              <a:rPr lang="en-US" altLang="zh-TW" dirty="0"/>
              <a:t>(f) And finally, the setup time for the register file and clock skew.</a:t>
            </a:r>
          </a:p>
          <a:p>
            <a:endParaRPr lang="en-US" altLang="zh-TW" dirty="0"/>
          </a:p>
          <a:p>
            <a:r>
              <a:rPr lang="en-US" altLang="zh-TW" dirty="0"/>
              <a:t>+3 = 21 (Y:01)</a:t>
            </a:r>
          </a:p>
        </p:txBody>
      </p:sp>
      <p:sp>
        <p:nvSpPr>
          <p:cNvPr id="10752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09571" name="Rectangle 3"/>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3" name="矩形 14">
            <a:extLst>
              <a:ext uri="{FF2B5EF4-FFF2-40B4-BE49-F238E27FC236}">
                <a16:creationId xmlns:a16="http://schemas.microsoft.com/office/drawing/2014/main" id="{BAD5182A-352B-430B-A0C2-1F5E59A66513}"/>
              </a:ext>
            </a:extLst>
          </p:cNvPr>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2683883"/>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Chapter 4 The Processor</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2026109"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Computer Organization</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a:t>
            </a:fld>
            <a:endParaRPr lang="zh-TW" altLang="en-US">
              <a:solidFill>
                <a:prstClr val="white"/>
              </a:solidFill>
            </a:endParaRPr>
          </a:p>
        </p:txBody>
      </p:sp>
      <p:pic>
        <p:nvPicPr>
          <p:cNvPr id="8" name="Picture 8"/>
          <p:cNvPicPr>
            <a:picLocks noChangeAspect="1"/>
          </p:cNvPicPr>
          <p:nvPr/>
        </p:nvPicPr>
        <p:blipFill>
          <a:blip r:embed="rId2"/>
          <a:stretch>
            <a:fillRect/>
          </a:stretch>
        </p:blipFill>
        <p:spPr>
          <a:xfrm>
            <a:off x="3111694" y="1095423"/>
            <a:ext cx="6546529" cy="4947527"/>
          </a:xfrm>
          <a:prstGeom prst="rect">
            <a:avLst/>
          </a:prstGeom>
        </p:spPr>
      </p:pic>
      <p:sp>
        <p:nvSpPr>
          <p:cNvPr id="2" name="TextBox 1">
            <a:extLst>
              <a:ext uri="{FF2B5EF4-FFF2-40B4-BE49-F238E27FC236}">
                <a16:creationId xmlns:a16="http://schemas.microsoft.com/office/drawing/2014/main" id="{FF784F0D-38F3-4FEA-9D09-28E56688EAC0}"/>
              </a:ext>
            </a:extLst>
          </p:cNvPr>
          <p:cNvSpPr txBox="1"/>
          <p:nvPr/>
        </p:nvSpPr>
        <p:spPr>
          <a:xfrm>
            <a:off x="2849141" y="3215244"/>
            <a:ext cx="1266693" cy="707886"/>
          </a:xfrm>
          <a:prstGeom prst="rect">
            <a:avLst/>
          </a:prstGeom>
          <a:solidFill>
            <a:srgbClr val="FFFF00"/>
          </a:solidFill>
          <a:ln>
            <a:solidFill>
              <a:srgbClr val="FF0000"/>
            </a:solidFill>
          </a:ln>
        </p:spPr>
        <p:txBody>
          <a:bodyPr wrap="none" rtlCol="0" anchor="ctr" anchorCtr="1">
            <a:spAutoFit/>
          </a:bodyPr>
          <a:lstStyle/>
          <a:p>
            <a:r>
              <a:rPr lang="en-US" sz="4000" dirty="0">
                <a:ea typeface="標楷體" pitchFamily="65" charset="-120"/>
                <a:cs typeface="Calibri" pitchFamily="34" charset="0"/>
              </a:rPr>
              <a:t>CPU</a:t>
            </a:r>
          </a:p>
        </p:txBody>
      </p:sp>
      <p:sp>
        <p:nvSpPr>
          <p:cNvPr id="6" name="TextBox 5">
            <a:extLst>
              <a:ext uri="{FF2B5EF4-FFF2-40B4-BE49-F238E27FC236}">
                <a16:creationId xmlns:a16="http://schemas.microsoft.com/office/drawing/2014/main" id="{E1E868C1-EF74-42A0-A005-E928850BED5E}"/>
              </a:ext>
            </a:extLst>
          </p:cNvPr>
          <p:cNvSpPr txBox="1"/>
          <p:nvPr/>
        </p:nvSpPr>
        <p:spPr>
          <a:xfrm>
            <a:off x="5717958" y="3198347"/>
            <a:ext cx="2039341" cy="707886"/>
          </a:xfrm>
          <a:prstGeom prst="rect">
            <a:avLst/>
          </a:prstGeom>
          <a:solidFill>
            <a:srgbClr val="FFFF00"/>
          </a:solidFill>
          <a:ln>
            <a:solidFill>
              <a:srgbClr val="FF0000"/>
            </a:solidFill>
          </a:ln>
        </p:spPr>
        <p:txBody>
          <a:bodyPr wrap="none" rtlCol="0" anchor="ctr" anchorCtr="1">
            <a:spAutoFit/>
          </a:bodyPr>
          <a:lstStyle/>
          <a:p>
            <a:r>
              <a:rPr lang="en-US" sz="4000" dirty="0">
                <a:ea typeface="標楷體" pitchFamily="65" charset="-120"/>
                <a:cs typeface="Calibri" pitchFamily="34" charset="0"/>
              </a:rPr>
              <a:t>Memory</a:t>
            </a:r>
          </a:p>
        </p:txBody>
      </p:sp>
      <p:sp>
        <p:nvSpPr>
          <p:cNvPr id="7" name="TextBox 6">
            <a:extLst>
              <a:ext uri="{FF2B5EF4-FFF2-40B4-BE49-F238E27FC236}">
                <a16:creationId xmlns:a16="http://schemas.microsoft.com/office/drawing/2014/main" id="{3A26A2D3-A6C1-4EE1-8BCE-B4A41C26820D}"/>
              </a:ext>
            </a:extLst>
          </p:cNvPr>
          <p:cNvSpPr txBox="1"/>
          <p:nvPr/>
        </p:nvSpPr>
        <p:spPr>
          <a:xfrm>
            <a:off x="9119059" y="3215244"/>
            <a:ext cx="869149" cy="707886"/>
          </a:xfrm>
          <a:prstGeom prst="rect">
            <a:avLst/>
          </a:prstGeom>
          <a:solidFill>
            <a:srgbClr val="FFFF00"/>
          </a:solidFill>
          <a:ln>
            <a:solidFill>
              <a:srgbClr val="FF0000"/>
            </a:solidFill>
          </a:ln>
        </p:spPr>
        <p:txBody>
          <a:bodyPr wrap="none" rtlCol="0" anchor="ctr" anchorCtr="1">
            <a:spAutoFit/>
          </a:bodyPr>
          <a:lstStyle/>
          <a:p>
            <a:r>
              <a:rPr lang="en-US" sz="4000" dirty="0">
                <a:ea typeface="標楷體" pitchFamily="65" charset="-120"/>
                <a:cs typeface="Calibri" pitchFamily="34" charset="0"/>
              </a:rPr>
              <a:t>I/O</a:t>
            </a:r>
          </a:p>
        </p:txBody>
      </p:sp>
      <p:sp>
        <p:nvSpPr>
          <p:cNvPr id="9" name="TextBox 8">
            <a:extLst>
              <a:ext uri="{FF2B5EF4-FFF2-40B4-BE49-F238E27FC236}">
                <a16:creationId xmlns:a16="http://schemas.microsoft.com/office/drawing/2014/main" id="{953C53BE-1EA7-4C5C-A61D-D2C693AADF91}"/>
              </a:ext>
            </a:extLst>
          </p:cNvPr>
          <p:cNvSpPr txBox="1"/>
          <p:nvPr/>
        </p:nvSpPr>
        <p:spPr>
          <a:xfrm>
            <a:off x="2682104" y="4839713"/>
            <a:ext cx="1893467" cy="584775"/>
          </a:xfrm>
          <a:prstGeom prst="rect">
            <a:avLst/>
          </a:prstGeom>
          <a:solidFill>
            <a:srgbClr val="FFFF00"/>
          </a:solidFill>
          <a:ln>
            <a:solidFill>
              <a:srgbClr val="FF0000"/>
            </a:solidFill>
          </a:ln>
        </p:spPr>
        <p:txBody>
          <a:bodyPr wrap="none" rtlCol="0" anchor="ctr" anchorCtr="1">
            <a:spAutoFit/>
          </a:bodyPr>
          <a:lstStyle/>
          <a:p>
            <a:r>
              <a:rPr lang="en-US" sz="3200" dirty="0" err="1">
                <a:ea typeface="標楷體" pitchFamily="65" charset="-120"/>
                <a:cs typeface="Calibri" pitchFamily="34" charset="0"/>
              </a:rPr>
              <a:t>DataPath</a:t>
            </a:r>
            <a:endParaRPr lang="en-US" sz="32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E1955E90-26AF-44FA-9ADA-977D26725F59}"/>
              </a:ext>
            </a:extLst>
          </p:cNvPr>
          <p:cNvSpPr txBox="1"/>
          <p:nvPr/>
        </p:nvSpPr>
        <p:spPr>
          <a:xfrm>
            <a:off x="4663595" y="4839714"/>
            <a:ext cx="1505540"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Control</a:t>
            </a:r>
          </a:p>
        </p:txBody>
      </p:sp>
      <p:sp>
        <p:nvSpPr>
          <p:cNvPr id="11" name="TextBox 10">
            <a:extLst>
              <a:ext uri="{FF2B5EF4-FFF2-40B4-BE49-F238E27FC236}">
                <a16:creationId xmlns:a16="http://schemas.microsoft.com/office/drawing/2014/main" id="{6161542E-6DCF-492A-9C95-55C96CFEDF0F}"/>
              </a:ext>
            </a:extLst>
          </p:cNvPr>
          <p:cNvSpPr txBox="1"/>
          <p:nvPr/>
        </p:nvSpPr>
        <p:spPr>
          <a:xfrm>
            <a:off x="6445837" y="4806737"/>
            <a:ext cx="1664238"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Memory</a:t>
            </a:r>
          </a:p>
        </p:txBody>
      </p:sp>
      <p:sp>
        <p:nvSpPr>
          <p:cNvPr id="12" name="TextBox 11">
            <a:extLst>
              <a:ext uri="{FF2B5EF4-FFF2-40B4-BE49-F238E27FC236}">
                <a16:creationId xmlns:a16="http://schemas.microsoft.com/office/drawing/2014/main" id="{2480C6D2-9C5B-4A2B-B949-21E745912641}"/>
              </a:ext>
            </a:extLst>
          </p:cNvPr>
          <p:cNvSpPr txBox="1"/>
          <p:nvPr/>
        </p:nvSpPr>
        <p:spPr>
          <a:xfrm>
            <a:off x="8596767" y="4781539"/>
            <a:ext cx="1095172"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Input</a:t>
            </a:r>
          </a:p>
        </p:txBody>
      </p:sp>
      <p:sp>
        <p:nvSpPr>
          <p:cNvPr id="13" name="TextBox 12">
            <a:extLst>
              <a:ext uri="{FF2B5EF4-FFF2-40B4-BE49-F238E27FC236}">
                <a16:creationId xmlns:a16="http://schemas.microsoft.com/office/drawing/2014/main" id="{C79DB1F3-B650-4AF3-96CE-9D12C38C9148}"/>
              </a:ext>
            </a:extLst>
          </p:cNvPr>
          <p:cNvSpPr txBox="1"/>
          <p:nvPr/>
        </p:nvSpPr>
        <p:spPr>
          <a:xfrm>
            <a:off x="9782677" y="4754520"/>
            <a:ext cx="1414170"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Output</a:t>
            </a:r>
          </a:p>
        </p:txBody>
      </p:sp>
      <p:sp>
        <p:nvSpPr>
          <p:cNvPr id="3" name="TextBox 2">
            <a:extLst>
              <a:ext uri="{FF2B5EF4-FFF2-40B4-BE49-F238E27FC236}">
                <a16:creationId xmlns:a16="http://schemas.microsoft.com/office/drawing/2014/main" id="{671219C6-21C7-4635-B8A1-F9030B564340}"/>
              </a:ext>
            </a:extLst>
          </p:cNvPr>
          <p:cNvSpPr txBox="1"/>
          <p:nvPr/>
        </p:nvSpPr>
        <p:spPr>
          <a:xfrm>
            <a:off x="265037" y="3338355"/>
            <a:ext cx="2034531" cy="461665"/>
          </a:xfrm>
          <a:prstGeom prst="rect">
            <a:avLst/>
          </a:prstGeom>
          <a:solidFill>
            <a:schemeClr val="tx2">
              <a:lumMod val="20000"/>
              <a:lumOff val="80000"/>
            </a:schemeClr>
          </a:solidFill>
        </p:spPr>
        <p:txBody>
          <a:bodyPr wrap="none" rtlCol="0" anchor="ctr" anchorCtr="1">
            <a:spAutoFit/>
          </a:bodyPr>
          <a:lstStyle/>
          <a:p>
            <a:r>
              <a:rPr lang="en-US" sz="2400" dirty="0">
                <a:ea typeface="標楷體" pitchFamily="65" charset="-120"/>
                <a:cs typeface="Calibri" pitchFamily="34" charset="0"/>
              </a:rPr>
              <a:t>Physical view</a:t>
            </a:r>
          </a:p>
        </p:txBody>
      </p:sp>
      <p:cxnSp>
        <p:nvCxnSpPr>
          <p:cNvPr id="15" name="Straight Arrow Connector 14">
            <a:extLst>
              <a:ext uri="{FF2B5EF4-FFF2-40B4-BE49-F238E27FC236}">
                <a16:creationId xmlns:a16="http://schemas.microsoft.com/office/drawing/2014/main" id="{03F54565-7DF3-4ACA-A92D-A957A1410C4B}"/>
              </a:ext>
            </a:extLst>
          </p:cNvPr>
          <p:cNvCxnSpPr>
            <a:stCxn id="3" idx="3"/>
          </p:cNvCxnSpPr>
          <p:nvPr/>
        </p:nvCxnSpPr>
        <p:spPr bwMode="auto">
          <a:xfrm flipV="1">
            <a:off x="2299568" y="3552290"/>
            <a:ext cx="7768086" cy="16898"/>
          </a:xfrm>
          <a:prstGeom prst="straightConnector1">
            <a:avLst/>
          </a:prstGeom>
          <a:noFill/>
          <a:ln w="15875" cap="flat" cmpd="sng" algn="ctr">
            <a:solidFill>
              <a:srgbClr val="FF0000"/>
            </a:solidFill>
            <a:prstDash val="solid"/>
            <a:round/>
            <a:headEnd type="none" w="med" len="med"/>
            <a:tailEnd type="triangle"/>
          </a:ln>
          <a:effectLst/>
        </p:spPr>
      </p:cxnSp>
      <p:sp>
        <p:nvSpPr>
          <p:cNvPr id="16" name="TextBox 15">
            <a:extLst>
              <a:ext uri="{FF2B5EF4-FFF2-40B4-BE49-F238E27FC236}">
                <a16:creationId xmlns:a16="http://schemas.microsoft.com/office/drawing/2014/main" id="{E5116D22-B863-4054-A476-B8DF08550B55}"/>
              </a:ext>
            </a:extLst>
          </p:cNvPr>
          <p:cNvSpPr txBox="1"/>
          <p:nvPr/>
        </p:nvSpPr>
        <p:spPr>
          <a:xfrm>
            <a:off x="106457" y="4929847"/>
            <a:ext cx="2393604" cy="461665"/>
          </a:xfrm>
          <a:prstGeom prst="rect">
            <a:avLst/>
          </a:prstGeom>
          <a:solidFill>
            <a:schemeClr val="tx2">
              <a:lumMod val="20000"/>
              <a:lumOff val="80000"/>
            </a:schemeClr>
          </a:solidFill>
        </p:spPr>
        <p:txBody>
          <a:bodyPr wrap="none" rtlCol="0" anchor="ctr" anchorCtr="1">
            <a:spAutoFit/>
          </a:bodyPr>
          <a:lstStyle/>
          <a:p>
            <a:r>
              <a:rPr lang="en-US" sz="2400" dirty="0">
                <a:ea typeface="標楷體" pitchFamily="65" charset="-120"/>
                <a:cs typeface="Calibri" pitchFamily="34" charset="0"/>
              </a:rPr>
              <a:t>Functional  view</a:t>
            </a:r>
          </a:p>
        </p:txBody>
      </p:sp>
      <p:cxnSp>
        <p:nvCxnSpPr>
          <p:cNvPr id="17" name="Straight Arrow Connector 16">
            <a:extLst>
              <a:ext uri="{FF2B5EF4-FFF2-40B4-BE49-F238E27FC236}">
                <a16:creationId xmlns:a16="http://schemas.microsoft.com/office/drawing/2014/main" id="{6CD8CAD3-3D3D-4492-95E4-A84ECEC125A7}"/>
              </a:ext>
            </a:extLst>
          </p:cNvPr>
          <p:cNvCxnSpPr>
            <a:cxnSpLocks/>
          </p:cNvCxnSpPr>
          <p:nvPr/>
        </p:nvCxnSpPr>
        <p:spPr bwMode="auto">
          <a:xfrm flipV="1">
            <a:off x="2500061" y="5118584"/>
            <a:ext cx="9067527" cy="89582"/>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9" grpId="0" animBg="1"/>
      <p:bldP spid="10" grpId="0" animBg="1"/>
      <p:bldP spid="11" grpId="0" animBg="1"/>
      <p:bldP spid="12" grpId="0" animBg="1"/>
      <p:bldP spid="13" grpId="0" animBg="1"/>
      <p:bldP spid="3"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The Processor: Datapath &amp; Control</a:t>
            </a:r>
          </a:p>
        </p:txBody>
      </p:sp>
      <p:sp>
        <p:nvSpPr>
          <p:cNvPr id="6" name="内容占位符 5"/>
          <p:cNvSpPr>
            <a:spLocks noGrp="1"/>
          </p:cNvSpPr>
          <p:nvPr>
            <p:ph idx="1"/>
          </p:nvPr>
        </p:nvSpPr>
        <p:spPr/>
        <p:txBody>
          <a:bodyPr/>
          <a:lstStyle/>
          <a:p>
            <a:r>
              <a:rPr lang="en-US" altLang="zh-TW" sz="3200" dirty="0">
                <a:cs typeface="Calibri" panose="020F0702030404030204" pitchFamily="34" charset="0"/>
                <a:sym typeface="+mn-ea"/>
              </a:rPr>
              <a:t>Data Path</a:t>
            </a:r>
          </a:p>
          <a:p>
            <a:pPr lvl="1"/>
            <a:r>
              <a:rPr lang="en-US" sz="2800" dirty="0"/>
              <a:t>handles the actual processing of data (arithmetic operations, data movement, etc.)</a:t>
            </a:r>
            <a:endParaRPr lang="en-US" altLang="zh-TW" sz="2800" dirty="0">
              <a:cs typeface="Calibri" panose="020F0702030404030204" pitchFamily="34" charset="0"/>
              <a:sym typeface="+mn-ea"/>
            </a:endParaRPr>
          </a:p>
          <a:p>
            <a:pPr lvl="0"/>
            <a:r>
              <a:rPr lang="en-US" altLang="zh-CN" sz="3200" dirty="0">
                <a:cs typeface="Courier New" panose="02070309020205020404" pitchFamily="49" charset="0"/>
                <a:sym typeface="+mn-ea"/>
              </a:rPr>
              <a:t>Control</a:t>
            </a:r>
          </a:p>
          <a:p>
            <a:pPr lvl="1"/>
            <a:r>
              <a:rPr lang="en-US" sz="2800" dirty="0"/>
              <a:t>manages the flow of instructions and signals within the processor</a:t>
            </a:r>
          </a:p>
          <a:p>
            <a:pPr marL="457176" lvl="1" indent="0">
              <a:buNone/>
            </a:pPr>
            <a:endParaRPr lang="en-US" sz="2800" dirty="0"/>
          </a:p>
          <a:p>
            <a:pPr marL="0" indent="0">
              <a:buNone/>
            </a:pPr>
            <a:r>
              <a:rPr lang="en-US" altLang="zh-CN" sz="3333" dirty="0">
                <a:cs typeface="Courier New" panose="02070309020205020404" pitchFamily="49" charset="0"/>
                <a:sym typeface="+mn-ea"/>
              </a:rPr>
              <a:t>The separation makes the design more modular, easier to design, reusable, and scalable.</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3</a:t>
            </a:fld>
            <a:endParaRPr lang="zh-TW" altLang="en-US">
              <a:solidFill>
                <a:prstClr val="white"/>
              </a:solidFill>
            </a:endParaRPr>
          </a:p>
        </p:txBody>
      </p:sp>
    </p:spTree>
    <p:extLst>
      <p:ext uri="{BB962C8B-B14F-4D97-AF65-F5344CB8AC3E}">
        <p14:creationId xmlns:p14="http://schemas.microsoft.com/office/powerpoint/2010/main" val="136838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Simplified View: Datapath &amp; Control</a:t>
            </a:r>
          </a:p>
        </p:txBody>
      </p:sp>
      <p:sp>
        <p:nvSpPr>
          <p:cNvPr id="6" name="内容占位符 5"/>
          <p:cNvSpPr>
            <a:spLocks noGrp="1"/>
          </p:cNvSpPr>
          <p:nvPr>
            <p:ph idx="1"/>
          </p:nvPr>
        </p:nvSpPr>
        <p:spPr/>
        <p:txBody>
          <a:bodyPr/>
          <a:lstStyle/>
          <a:p>
            <a:r>
              <a:rPr lang="en-US" altLang="zh-TW" sz="3200" dirty="0">
                <a:cs typeface="Calibri" panose="020F0702030404030204" pitchFamily="34" charset="0"/>
                <a:sym typeface="+mn-ea"/>
              </a:rPr>
              <a:t>Data Path</a:t>
            </a:r>
          </a:p>
          <a:p>
            <a:pPr lvl="1"/>
            <a:r>
              <a:rPr lang="en-US" altLang="zh-TW" sz="2667" dirty="0">
                <a:cs typeface="Calibri" panose="020F0702030404030204" pitchFamily="34" charset="0"/>
                <a:sym typeface="+mn-ea"/>
              </a:rPr>
              <a:t>Manages </a:t>
            </a:r>
            <a:r>
              <a:rPr lang="en-US" altLang="zh-TW" sz="2667" dirty="0">
                <a:solidFill>
                  <a:srgbClr val="FF0000"/>
                </a:solidFill>
                <a:cs typeface="Calibri" panose="020F0702030404030204" pitchFamily="34" charset="0"/>
                <a:sym typeface="+mn-ea"/>
              </a:rPr>
              <a:t>data</a:t>
            </a:r>
            <a:r>
              <a:rPr lang="en-US" altLang="zh-TW" sz="2667" dirty="0">
                <a:cs typeface="Calibri" panose="020F0702030404030204" pitchFamily="34" charset="0"/>
                <a:sym typeface="+mn-ea"/>
              </a:rPr>
              <a:t> flow</a:t>
            </a:r>
          </a:p>
          <a:p>
            <a:pPr lvl="0"/>
            <a:r>
              <a:rPr lang="en-US" altLang="zh-CN" sz="3200" dirty="0">
                <a:cs typeface="Courier New" panose="02070309020205020404" pitchFamily="49" charset="0"/>
                <a:sym typeface="+mn-ea"/>
              </a:rPr>
              <a:t>Control</a:t>
            </a:r>
          </a:p>
          <a:p>
            <a:pPr lvl="1"/>
            <a:r>
              <a:rPr lang="en-US" sz="2800" dirty="0"/>
              <a:t>Manages </a:t>
            </a:r>
            <a:r>
              <a:rPr lang="en-US" sz="2800" dirty="0">
                <a:solidFill>
                  <a:srgbClr val="FF0000"/>
                </a:solidFill>
              </a:rPr>
              <a:t>instruction</a:t>
            </a:r>
            <a:r>
              <a:rPr lang="en-US" sz="2800" dirty="0"/>
              <a:t> flow</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4</a:t>
            </a:fld>
            <a:endParaRPr lang="zh-TW" altLang="en-US">
              <a:solidFill>
                <a:prstClr val="white"/>
              </a:solidFill>
            </a:endParaRPr>
          </a:p>
        </p:txBody>
      </p:sp>
    </p:spTree>
    <p:extLst>
      <p:ext uri="{BB962C8B-B14F-4D97-AF65-F5344CB8AC3E}">
        <p14:creationId xmlns:p14="http://schemas.microsoft.com/office/powerpoint/2010/main" val="2751643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Simplified View: Datapath &amp; Control</a:t>
            </a:r>
          </a:p>
        </p:txBody>
      </p:sp>
      <p:sp>
        <p:nvSpPr>
          <p:cNvPr id="6" name="内容占位符 5"/>
          <p:cNvSpPr>
            <a:spLocks noGrp="1"/>
          </p:cNvSpPr>
          <p:nvPr>
            <p:ph idx="1"/>
          </p:nvPr>
        </p:nvSpPr>
        <p:spPr/>
        <p:txBody>
          <a:bodyPr/>
          <a:lstStyle/>
          <a:p>
            <a:r>
              <a:rPr lang="en-US" altLang="zh-TW" sz="3200" dirty="0">
                <a:cs typeface="Calibri" panose="020F0702030404030204" pitchFamily="34" charset="0"/>
                <a:sym typeface="+mn-ea"/>
              </a:rPr>
              <a:t>Data Path</a:t>
            </a:r>
          </a:p>
          <a:p>
            <a:pPr lvl="1"/>
            <a:r>
              <a:rPr lang="en-US" altLang="zh-TW" sz="2667" dirty="0">
                <a:cs typeface="Calibri" panose="020F0702030404030204" pitchFamily="34" charset="0"/>
                <a:sym typeface="+mn-ea"/>
              </a:rPr>
              <a:t>Manages </a:t>
            </a:r>
            <a:r>
              <a:rPr lang="en-US" altLang="zh-TW" sz="2667" dirty="0">
                <a:solidFill>
                  <a:srgbClr val="FF0000"/>
                </a:solidFill>
                <a:cs typeface="Calibri" panose="020F0702030404030204" pitchFamily="34" charset="0"/>
                <a:sym typeface="+mn-ea"/>
              </a:rPr>
              <a:t>data</a:t>
            </a:r>
            <a:r>
              <a:rPr lang="en-US" altLang="zh-TW" sz="2667" dirty="0">
                <a:cs typeface="Calibri" panose="020F0702030404030204" pitchFamily="34" charset="0"/>
                <a:sym typeface="+mn-ea"/>
              </a:rPr>
              <a:t> flow</a:t>
            </a:r>
          </a:p>
          <a:p>
            <a:pPr lvl="2"/>
            <a:r>
              <a:rPr lang="en-US" altLang="zh-TW" sz="2134" dirty="0">
                <a:sym typeface="+mn-ea"/>
              </a:rPr>
              <a:t>ALU, Register, Memory interface, buses</a:t>
            </a:r>
          </a:p>
          <a:p>
            <a:pPr lvl="2"/>
            <a:r>
              <a:rPr lang="en-US" altLang="zh-TW" sz="2134" dirty="0">
                <a:cs typeface="Calibri" panose="020F0702030404030204" pitchFamily="34" charset="0"/>
                <a:sym typeface="+mn-ea"/>
              </a:rPr>
              <a:t>Handles the actual data process </a:t>
            </a:r>
          </a:p>
          <a:p>
            <a:pPr lvl="2"/>
            <a:r>
              <a:rPr lang="en-US" altLang="zh-TW" sz="2134" dirty="0">
                <a:sym typeface="+mn-ea"/>
              </a:rPr>
              <a:t>The “brawn”</a:t>
            </a:r>
            <a:endParaRPr lang="en-US" altLang="zh-TW" sz="2134" dirty="0">
              <a:cs typeface="Calibri" panose="020F0702030404030204" pitchFamily="34" charset="0"/>
              <a:sym typeface="+mn-ea"/>
            </a:endParaRPr>
          </a:p>
          <a:p>
            <a:pPr lvl="0"/>
            <a:r>
              <a:rPr lang="en-US" altLang="zh-CN" sz="3200" dirty="0">
                <a:cs typeface="Courier New" panose="02070309020205020404" pitchFamily="49" charset="0"/>
                <a:sym typeface="+mn-ea"/>
              </a:rPr>
              <a:t>Control</a:t>
            </a:r>
          </a:p>
          <a:p>
            <a:pPr lvl="1"/>
            <a:r>
              <a:rPr lang="en-US" sz="2800" dirty="0"/>
              <a:t>Manages </a:t>
            </a:r>
            <a:r>
              <a:rPr lang="en-US" sz="2800" dirty="0">
                <a:solidFill>
                  <a:srgbClr val="FF0000"/>
                </a:solidFill>
              </a:rPr>
              <a:t>instruction</a:t>
            </a:r>
            <a:r>
              <a:rPr lang="en-US" sz="2800" dirty="0"/>
              <a:t> flow</a:t>
            </a:r>
          </a:p>
          <a:p>
            <a:pPr lvl="2"/>
            <a:r>
              <a:rPr lang="en-US" sz="2267" dirty="0"/>
              <a:t>PC, instruction fetch, control signal generation</a:t>
            </a:r>
          </a:p>
          <a:p>
            <a:pPr lvl="2"/>
            <a:r>
              <a:rPr lang="en-US" sz="2267" dirty="0"/>
              <a:t>Directs the operations of the data path</a:t>
            </a:r>
          </a:p>
          <a:p>
            <a:pPr lvl="2"/>
            <a:r>
              <a:rPr lang="en-US" sz="2267" dirty="0"/>
              <a:t>The “brain”</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5</a:t>
            </a:fld>
            <a:endParaRPr lang="zh-TW" altLang="en-US">
              <a:solidFill>
                <a:prstClr val="white"/>
              </a:solidFill>
            </a:endParaRPr>
          </a:p>
        </p:txBody>
      </p:sp>
    </p:spTree>
    <p:extLst>
      <p:ext uri="{BB962C8B-B14F-4D97-AF65-F5344CB8AC3E}">
        <p14:creationId xmlns:p14="http://schemas.microsoft.com/office/powerpoint/2010/main" val="66530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RV32I Data Path and Control</a:t>
            </a:r>
          </a:p>
        </p:txBody>
      </p:sp>
      <p:sp>
        <p:nvSpPr>
          <p:cNvPr id="6" name="内容占位符 5"/>
          <p:cNvSpPr>
            <a:spLocks noGrp="1"/>
          </p:cNvSpPr>
          <p:nvPr>
            <p:ph idx="1"/>
          </p:nvPr>
        </p:nvSpPr>
        <p:spPr/>
        <p:txBody>
          <a:bodyPr/>
          <a:lstStyle/>
          <a:p>
            <a:r>
              <a:rPr lang="en-US" altLang="zh-CN" sz="3200" dirty="0"/>
              <a:t>We focus on the implementation of a subset of the RV32I core:</a:t>
            </a:r>
          </a:p>
          <a:p>
            <a:pPr lvl="1"/>
            <a:r>
              <a:rPr lang="en-US" altLang="zh-TW" sz="2400" dirty="0">
                <a:cs typeface="Calibri" panose="020F0702030404030204" pitchFamily="34" charset="0"/>
                <a:sym typeface="+mn-ea"/>
              </a:rPr>
              <a:t>Memory reference instructions: </a:t>
            </a:r>
            <a:r>
              <a:rPr lang="en-US" altLang="zh-TW" sz="2400" dirty="0" err="1">
                <a:solidFill>
                  <a:schemeClr val="accent1"/>
                </a:solidFill>
                <a:cs typeface="Calibri" panose="020F0702030404030204" pitchFamily="34" charset="0"/>
                <a:sym typeface="+mn-ea"/>
              </a:rPr>
              <a:t>lw</a:t>
            </a:r>
            <a:r>
              <a:rPr lang="en-US" altLang="zh-TW" sz="2400" dirty="0">
                <a:cs typeface="Calibri" panose="020F0702030404030204" pitchFamily="34" charset="0"/>
                <a:sym typeface="+mn-ea"/>
              </a:rPr>
              <a:t>, </a:t>
            </a:r>
            <a:r>
              <a:rPr lang="en-US" altLang="zh-TW" sz="2400" dirty="0" err="1">
                <a:solidFill>
                  <a:schemeClr val="accent1"/>
                </a:solidFill>
                <a:cs typeface="Calibri" panose="020F0702030404030204" pitchFamily="34" charset="0"/>
                <a:sym typeface="+mn-ea"/>
              </a:rPr>
              <a:t>sw</a:t>
            </a:r>
            <a:endParaRPr lang="en-US" altLang="zh-TW" sz="2400" dirty="0">
              <a:cs typeface="Calibri" panose="020F0702030404030204" pitchFamily="34" charset="0"/>
            </a:endParaRPr>
          </a:p>
          <a:p>
            <a:pPr lvl="1"/>
            <a:r>
              <a:rPr lang="en-US" altLang="zh-TW" sz="2400" dirty="0">
                <a:cs typeface="Calibri" panose="020F0702030404030204" pitchFamily="34" charset="0"/>
                <a:sym typeface="+mn-ea"/>
              </a:rPr>
              <a:t>Arithmetic/logical instructions: </a:t>
            </a:r>
            <a:r>
              <a:rPr lang="en-US" altLang="zh-TW" sz="2400" dirty="0">
                <a:solidFill>
                  <a:schemeClr val="accent1"/>
                </a:solidFill>
                <a:cs typeface="Calibri" panose="020F0702030404030204" pitchFamily="34" charset="0"/>
                <a:sym typeface="+mn-ea"/>
              </a:rPr>
              <a:t>add</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sub</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and</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or</a:t>
            </a:r>
            <a:endParaRPr lang="en-US" altLang="zh-TW" sz="2400" dirty="0">
              <a:cs typeface="Calibri" panose="020F0702030404030204" pitchFamily="34" charset="0"/>
            </a:endParaRPr>
          </a:p>
          <a:p>
            <a:pPr lvl="1"/>
            <a:r>
              <a:rPr lang="en-US" altLang="zh-TW" sz="2400" dirty="0">
                <a:cs typeface="Calibri" panose="020F0702030404030204" pitchFamily="34" charset="0"/>
                <a:sym typeface="+mn-ea"/>
              </a:rPr>
              <a:t>Control flow instructions: </a:t>
            </a:r>
            <a:r>
              <a:rPr lang="en-US" altLang="zh-TW" sz="2400" dirty="0" err="1">
                <a:solidFill>
                  <a:schemeClr val="accent1"/>
                </a:solidFill>
                <a:cs typeface="Calibri" panose="020F0702030404030204" pitchFamily="34" charset="0"/>
                <a:sym typeface="+mn-ea"/>
              </a:rPr>
              <a:t>beq</a:t>
            </a:r>
            <a:r>
              <a:rPr lang="en-US" altLang="zh-TW" sz="2400" dirty="0">
                <a:cs typeface="Calibri" panose="020F0702030404030204" pitchFamily="34" charset="0"/>
                <a:sym typeface="+mn-ea"/>
              </a:rPr>
              <a:t>, </a:t>
            </a:r>
            <a:r>
              <a:rPr lang="en-US" altLang="zh-TW" sz="2400" dirty="0" err="1">
                <a:solidFill>
                  <a:schemeClr val="accent1"/>
                </a:solidFill>
                <a:cs typeface="Calibri" panose="020F0702030404030204" pitchFamily="34" charset="0"/>
                <a:sym typeface="+mn-ea"/>
              </a:rPr>
              <a:t>jal</a:t>
            </a:r>
            <a:endParaRPr lang="en-US" altLang="zh-TW" sz="2400" dirty="0">
              <a:solidFill>
                <a:schemeClr val="accent1"/>
              </a:solidFill>
              <a:cs typeface="Calibri" panose="020F0702030404030204" pitchFamily="34" charset="0"/>
              <a:sym typeface="+mn-ea"/>
            </a:endParaRPr>
          </a:p>
          <a:p>
            <a:r>
              <a:rPr lang="en-US" altLang="zh-TW" sz="3200" dirty="0">
                <a:cs typeface="Calibri" panose="020F0702030404030204" pitchFamily="34" charset="0"/>
                <a:sym typeface="+mn-ea"/>
              </a:rPr>
              <a:t>A subset, but sufficient to illustrate the key principles in creating a data path and designing the control.</a:t>
            </a:r>
            <a:endParaRPr lang="en-US" altLang="zh-TW" sz="3200" dirty="0">
              <a:cs typeface="Calibri" panose="020F0702030404030204" pitchFamily="34" charset="0"/>
            </a:endParaRPr>
          </a:p>
          <a:p>
            <a:pPr lvl="0"/>
            <a:endParaRPr lang="en-US" altLang="zh-CN" sz="24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6</a:t>
            </a:fld>
            <a:endParaRPr lang="zh-TW" altLang="en-US">
              <a:solidFill>
                <a:prstClr val="whit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270427" y="1125537"/>
            <a:ext cx="10311973" cy="4765555"/>
          </a:xfrm>
        </p:spPr>
        <p:txBody>
          <a:bodyPr/>
          <a:lstStyle/>
          <a:p>
            <a:r>
              <a:rPr lang="en-US" altLang="zh-CN" sz="2667" dirty="0">
                <a:cs typeface="Courier New" panose="02070309020205020404" pitchFamily="49" charset="0"/>
              </a:rPr>
              <a:t>Use the program counter (PC) to supply the instruction address and </a:t>
            </a:r>
            <a:r>
              <a:rPr lang="en-US" altLang="zh-CN" sz="2667" dirty="0">
                <a:solidFill>
                  <a:srgbClr val="FF0000"/>
                </a:solidFill>
                <a:cs typeface="Courier New" panose="02070309020205020404" pitchFamily="49" charset="0"/>
              </a:rPr>
              <a:t>fetch</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from memory </a:t>
            </a:r>
          </a:p>
          <a:p>
            <a:r>
              <a:rPr lang="en-US" altLang="zh-CN" sz="2667" dirty="0">
                <a:solidFill>
                  <a:srgbClr val="FF0000"/>
                </a:solidFill>
                <a:cs typeface="Courier New" panose="02070309020205020404" pitchFamily="49" charset="0"/>
              </a:rPr>
              <a:t>Decode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(and read registers)</a:t>
            </a:r>
          </a:p>
          <a:p>
            <a:r>
              <a:rPr lang="en-US" altLang="zh-CN" sz="2667" dirty="0">
                <a:solidFill>
                  <a:srgbClr val="FF0000"/>
                </a:solidFill>
                <a:cs typeface="Courier New" panose="02070309020205020404" pitchFamily="49" charset="0"/>
              </a:rPr>
              <a:t>Execute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a:t>
            </a:r>
          </a:p>
          <a:p>
            <a:pPr lvl="1"/>
            <a:r>
              <a:rPr lang="en-US" altLang="zh-TW" sz="2400" dirty="0">
                <a:sym typeface="Symbol" panose="05050102010706020507" pitchFamily="18" charset="2"/>
              </a:rPr>
              <a:t>Use ALU to calculate</a:t>
            </a:r>
          </a:p>
          <a:p>
            <a:pPr lvl="2"/>
            <a:r>
              <a:rPr lang="en-US" altLang="zh-TW" sz="2133" dirty="0">
                <a:sym typeface="Symbol" panose="05050102010706020507" pitchFamily="18" charset="2"/>
              </a:rPr>
              <a:t>Arithmetic result</a:t>
            </a:r>
          </a:p>
          <a:p>
            <a:pPr lvl="2"/>
            <a:r>
              <a:rPr lang="en-US" altLang="zh-TW" sz="2133" dirty="0">
                <a:sym typeface="Symbol" panose="05050102010706020507" pitchFamily="18" charset="2"/>
              </a:rPr>
              <a:t>Memory address for load/store</a:t>
            </a:r>
          </a:p>
          <a:p>
            <a:pPr lvl="2"/>
            <a:r>
              <a:rPr lang="en-US" altLang="zh-TW" sz="2133" dirty="0">
                <a:sym typeface="Symbol" panose="05050102010706020507" pitchFamily="18" charset="2"/>
              </a:rPr>
              <a:t>Branch target address</a:t>
            </a:r>
          </a:p>
          <a:p>
            <a:pPr lvl="1"/>
            <a:r>
              <a:rPr lang="en-US" altLang="zh-TW" sz="2400" dirty="0">
                <a:sym typeface="Symbol" panose="05050102010706020507" pitchFamily="18" charset="2"/>
              </a:rPr>
              <a:t>Access data memory for load/store</a:t>
            </a:r>
          </a:p>
          <a:p>
            <a:pPr lvl="1"/>
            <a:r>
              <a:rPr lang="en-US" altLang="zh-TW" sz="2400" dirty="0">
                <a:sym typeface="Symbol" panose="05050102010706020507" pitchFamily="18" charset="2"/>
              </a:rPr>
              <a:t>PC  target address or PC + 4</a:t>
            </a:r>
          </a:p>
        </p:txBody>
      </p:sp>
      <p:sp>
        <p:nvSpPr>
          <p:cNvPr id="9218" name="Rectangle 2"/>
          <p:cNvSpPr>
            <a:spLocks noGrp="1" noChangeArrowheads="1"/>
          </p:cNvSpPr>
          <p:nvPr>
            <p:ph type="title"/>
          </p:nvPr>
        </p:nvSpPr>
        <p:spPr>
          <a:xfrm>
            <a:off x="1219201" y="235644"/>
            <a:ext cx="9086851" cy="543005"/>
          </a:xfrm>
        </p:spPr>
        <p:txBody>
          <a:bodyPr/>
          <a:lstStyle/>
          <a:p>
            <a:r>
              <a:rPr lang="en-US" altLang="zh-TW" dirty="0"/>
              <a:t>Instruction Execution Cycle</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7</a:t>
            </a:fld>
            <a:endParaRPr lang="zh-TW" altLang="en-US">
              <a:solidFill>
                <a:prstClr val="white"/>
              </a:solidFill>
            </a:endParaRPr>
          </a:p>
        </p:txBody>
      </p:sp>
      <p:grpSp>
        <p:nvGrpSpPr>
          <p:cNvPr id="6" name="Group 32"/>
          <p:cNvGrpSpPr/>
          <p:nvPr/>
        </p:nvGrpSpPr>
        <p:grpSpPr>
          <a:xfrm>
            <a:off x="7852134" y="3167257"/>
            <a:ext cx="3467973" cy="2171244"/>
            <a:chOff x="5911650" y="2785163"/>
            <a:chExt cx="2439000" cy="1452343"/>
          </a:xfrm>
        </p:grpSpPr>
        <p:sp>
          <p:nvSpPr>
            <p:cNvPr id="7" name="Oval 5"/>
            <p:cNvSpPr/>
            <p:nvPr/>
          </p:nvSpPr>
          <p:spPr>
            <a:xfrm>
              <a:off x="6554803" y="2785163"/>
              <a:ext cx="1152000" cy="64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defTabSz="1219170"/>
              <a:r>
                <a:rPr lang="en-US" sz="1600" dirty="0">
                  <a:solidFill>
                    <a:prstClr val="black"/>
                  </a:solidFill>
                  <a:latin typeface="Arial"/>
                  <a:ea typeface="新細明體"/>
                </a:rPr>
                <a:t>Fetch</a:t>
              </a:r>
              <a:br>
                <a:rPr lang="en-US" sz="1600" dirty="0">
                  <a:solidFill>
                    <a:prstClr val="black"/>
                  </a:solidFill>
                  <a:latin typeface="Arial"/>
                  <a:ea typeface="新細明體"/>
                </a:rPr>
              </a:br>
              <a:r>
                <a:rPr lang="en-US" sz="1600" dirty="0">
                  <a:solidFill>
                    <a:prstClr val="black"/>
                  </a:solidFill>
                  <a:latin typeface="Arial"/>
                  <a:ea typeface="新細明體"/>
                </a:rPr>
                <a:t>PC=PC+4</a:t>
              </a:r>
            </a:p>
          </p:txBody>
        </p:sp>
        <p:sp>
          <p:nvSpPr>
            <p:cNvPr id="8" name="Oval 6"/>
            <p:cNvSpPr/>
            <p:nvPr/>
          </p:nvSpPr>
          <p:spPr>
            <a:xfrm>
              <a:off x="7486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Decode</a:t>
              </a:r>
            </a:p>
          </p:txBody>
        </p:sp>
        <p:sp>
          <p:nvSpPr>
            <p:cNvPr id="9" name="Oval 7"/>
            <p:cNvSpPr/>
            <p:nvPr/>
          </p:nvSpPr>
          <p:spPr>
            <a:xfrm>
              <a:off x="5911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Execute</a:t>
              </a:r>
            </a:p>
          </p:txBody>
        </p:sp>
        <p:cxnSp>
          <p:nvCxnSpPr>
            <p:cNvPr id="10" name="Straight Arrow Connector 9"/>
            <p:cNvCxnSpPr>
              <a:stCxn id="7" idx="6"/>
              <a:endCxn id="8" idx="0"/>
            </p:cNvCxnSpPr>
            <p:nvPr/>
          </p:nvCxnSpPr>
          <p:spPr>
            <a:xfrm>
              <a:off x="7706803" y="3109163"/>
              <a:ext cx="211847" cy="68999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9"/>
            <p:cNvCxnSpPr>
              <a:stCxn id="8" idx="4"/>
              <a:endCxn id="9" idx="4"/>
            </p:cNvCxnSpPr>
            <p:nvPr/>
          </p:nvCxnSpPr>
          <p:spPr>
            <a:xfrm rot="5400000">
              <a:off x="7131150" y="3443656"/>
              <a:ext cx="12700" cy="1575000"/>
            </a:xfrm>
            <a:prstGeom prst="curvedConnector3">
              <a:avLst>
                <a:gd name="adj1" fmla="val 18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9"/>
            <p:cNvCxnSpPr>
              <a:stCxn id="9" idx="0"/>
              <a:endCxn id="7" idx="2"/>
            </p:cNvCxnSpPr>
            <p:nvPr/>
          </p:nvCxnSpPr>
          <p:spPr>
            <a:xfrm rot="5400000" flipH="1" flipV="1">
              <a:off x="6104230" y="3348584"/>
              <a:ext cx="689993" cy="21115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1DC247E5-121F-42AB-9DE3-D1D41ED9BF99}"/>
              </a:ext>
            </a:extLst>
          </p:cNvPr>
          <p:cNvSpPr txBox="1"/>
          <p:nvPr/>
        </p:nvSpPr>
        <p:spPr>
          <a:xfrm>
            <a:off x="7852134" y="2205214"/>
            <a:ext cx="3334567" cy="892552"/>
          </a:xfrm>
          <a:prstGeom prst="rect">
            <a:avLst/>
          </a:prstGeom>
          <a:noFill/>
        </p:spPr>
        <p:txBody>
          <a:bodyPr wrap="none" rtlCol="0" anchor="ctr" anchorCtr="1">
            <a:spAutoFit/>
          </a:bodyPr>
          <a:lstStyle/>
          <a:p>
            <a:pPr algn="ctr"/>
            <a:r>
              <a:rPr lang="en-US" sz="2800" b="1" dirty="0">
                <a:solidFill>
                  <a:srgbClr val="FF0000"/>
                </a:solidFill>
                <a:ea typeface="標楷體" pitchFamily="65" charset="-120"/>
                <a:cs typeface="Calibri" pitchFamily="34" charset="0"/>
              </a:rPr>
              <a:t>Cycle:</a:t>
            </a:r>
          </a:p>
          <a:p>
            <a:r>
              <a:rPr lang="en-US" sz="2400" dirty="0">
                <a:solidFill>
                  <a:srgbClr val="FF0000"/>
                </a:solidFill>
                <a:ea typeface="標楷體" pitchFamily="65" charset="-120"/>
                <a:cs typeface="Calibri" pitchFamily="34" charset="0"/>
              </a:rPr>
              <a:t>Fetch-Decode-Execute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270427" y="1125537"/>
            <a:ext cx="10311973" cy="4765555"/>
          </a:xfrm>
        </p:spPr>
        <p:txBody>
          <a:bodyPr/>
          <a:lstStyle/>
          <a:p>
            <a:r>
              <a:rPr lang="en-US" altLang="zh-CN" sz="2667" dirty="0">
                <a:cs typeface="Courier New" panose="02070309020205020404" pitchFamily="49" charset="0"/>
              </a:rPr>
              <a:t>Use the program counter (PC) to supply the instruction address and </a:t>
            </a:r>
            <a:r>
              <a:rPr lang="en-US" altLang="zh-CN" sz="2667" dirty="0">
                <a:solidFill>
                  <a:srgbClr val="FF0000"/>
                </a:solidFill>
                <a:cs typeface="Courier New" panose="02070309020205020404" pitchFamily="49" charset="0"/>
              </a:rPr>
              <a:t>fetch</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from memory </a:t>
            </a:r>
          </a:p>
          <a:p>
            <a:r>
              <a:rPr lang="en-US" altLang="zh-CN" sz="2667" dirty="0">
                <a:solidFill>
                  <a:srgbClr val="FF0000"/>
                </a:solidFill>
                <a:cs typeface="Courier New" panose="02070309020205020404" pitchFamily="49" charset="0"/>
              </a:rPr>
              <a:t>Decode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(and read registers)</a:t>
            </a:r>
          </a:p>
          <a:p>
            <a:r>
              <a:rPr lang="en-US" altLang="zh-CN" sz="2667" dirty="0">
                <a:solidFill>
                  <a:srgbClr val="FF0000"/>
                </a:solidFill>
                <a:cs typeface="Courier New" panose="02070309020205020404" pitchFamily="49" charset="0"/>
              </a:rPr>
              <a:t>Execute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a:t>
            </a:r>
          </a:p>
          <a:p>
            <a:pPr lvl="1"/>
            <a:r>
              <a:rPr lang="en-US" altLang="zh-TW" sz="2400" dirty="0">
                <a:sym typeface="Symbol" panose="05050102010706020507" pitchFamily="18" charset="2"/>
              </a:rPr>
              <a:t>Use ALU to calculate</a:t>
            </a:r>
          </a:p>
          <a:p>
            <a:pPr lvl="2"/>
            <a:r>
              <a:rPr lang="en-US" altLang="zh-TW" sz="2133" dirty="0">
                <a:sym typeface="Symbol" panose="05050102010706020507" pitchFamily="18" charset="2"/>
              </a:rPr>
              <a:t>Arithmetic result</a:t>
            </a:r>
          </a:p>
          <a:p>
            <a:pPr lvl="2"/>
            <a:r>
              <a:rPr lang="en-US" altLang="zh-TW" sz="2133" dirty="0">
                <a:sym typeface="Symbol" panose="05050102010706020507" pitchFamily="18" charset="2"/>
              </a:rPr>
              <a:t>Memory address for load/store</a:t>
            </a:r>
          </a:p>
          <a:p>
            <a:pPr lvl="2"/>
            <a:r>
              <a:rPr lang="en-US" altLang="zh-TW" sz="2133" dirty="0">
                <a:sym typeface="Symbol" panose="05050102010706020507" pitchFamily="18" charset="2"/>
              </a:rPr>
              <a:t>Branch target address</a:t>
            </a:r>
          </a:p>
          <a:p>
            <a:pPr lvl="1"/>
            <a:r>
              <a:rPr lang="en-US" altLang="zh-TW" sz="2400" dirty="0">
                <a:sym typeface="Symbol" panose="05050102010706020507" pitchFamily="18" charset="2"/>
              </a:rPr>
              <a:t>Access data memory for load/store</a:t>
            </a:r>
          </a:p>
          <a:p>
            <a:pPr lvl="1"/>
            <a:r>
              <a:rPr lang="en-US" altLang="zh-TW" sz="2400" dirty="0">
                <a:sym typeface="Symbol" panose="05050102010706020507" pitchFamily="18" charset="2"/>
              </a:rPr>
              <a:t>PC  target address or PC + 4</a:t>
            </a:r>
          </a:p>
        </p:txBody>
      </p:sp>
      <p:sp>
        <p:nvSpPr>
          <p:cNvPr id="9218" name="Rectangle 2"/>
          <p:cNvSpPr>
            <a:spLocks noGrp="1" noChangeArrowheads="1"/>
          </p:cNvSpPr>
          <p:nvPr>
            <p:ph type="title"/>
          </p:nvPr>
        </p:nvSpPr>
        <p:spPr>
          <a:xfrm>
            <a:off x="1219201" y="235644"/>
            <a:ext cx="9086851" cy="543005"/>
          </a:xfrm>
        </p:spPr>
        <p:txBody>
          <a:bodyPr/>
          <a:lstStyle/>
          <a:p>
            <a:r>
              <a:rPr lang="en-US" altLang="zh-TW" dirty="0"/>
              <a:t>Instruction Execution</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8</a:t>
            </a:fld>
            <a:endParaRPr lang="zh-TW" altLang="en-US">
              <a:solidFill>
                <a:prstClr val="white"/>
              </a:solidFill>
            </a:endParaRPr>
          </a:p>
        </p:txBody>
      </p:sp>
      <p:grpSp>
        <p:nvGrpSpPr>
          <p:cNvPr id="6" name="Group 32"/>
          <p:cNvGrpSpPr/>
          <p:nvPr/>
        </p:nvGrpSpPr>
        <p:grpSpPr>
          <a:xfrm>
            <a:off x="8466386" y="3167257"/>
            <a:ext cx="2853719" cy="2171244"/>
            <a:chOff x="6343650" y="2785163"/>
            <a:chExt cx="2007000" cy="1452343"/>
          </a:xfrm>
        </p:grpSpPr>
        <p:sp>
          <p:nvSpPr>
            <p:cNvPr id="7" name="Oval 5"/>
            <p:cNvSpPr/>
            <p:nvPr/>
          </p:nvSpPr>
          <p:spPr>
            <a:xfrm>
              <a:off x="6554803" y="2785163"/>
              <a:ext cx="1152000" cy="64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defTabSz="1219170"/>
              <a:r>
                <a:rPr lang="en-US" sz="1600" dirty="0">
                  <a:solidFill>
                    <a:prstClr val="black"/>
                  </a:solidFill>
                  <a:latin typeface="Arial"/>
                  <a:ea typeface="新細明體"/>
                </a:rPr>
                <a:t>Fetch</a:t>
              </a:r>
              <a:br>
                <a:rPr lang="en-US" sz="1600" dirty="0">
                  <a:solidFill>
                    <a:prstClr val="black"/>
                  </a:solidFill>
                  <a:latin typeface="Arial"/>
                  <a:ea typeface="新細明體"/>
                </a:rPr>
              </a:br>
              <a:r>
                <a:rPr lang="en-US" sz="1600" dirty="0">
                  <a:solidFill>
                    <a:prstClr val="black"/>
                  </a:solidFill>
                  <a:latin typeface="Arial"/>
                  <a:ea typeface="新細明體"/>
                </a:rPr>
                <a:t>PC=PC+4</a:t>
              </a:r>
            </a:p>
          </p:txBody>
        </p:sp>
        <p:sp>
          <p:nvSpPr>
            <p:cNvPr id="8" name="Oval 6"/>
            <p:cNvSpPr/>
            <p:nvPr/>
          </p:nvSpPr>
          <p:spPr>
            <a:xfrm>
              <a:off x="7486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Decode</a:t>
              </a:r>
            </a:p>
          </p:txBody>
        </p:sp>
        <p:cxnSp>
          <p:nvCxnSpPr>
            <p:cNvPr id="10" name="Straight Arrow Connector 9"/>
            <p:cNvCxnSpPr>
              <a:stCxn id="7" idx="6"/>
              <a:endCxn id="8" idx="0"/>
            </p:cNvCxnSpPr>
            <p:nvPr/>
          </p:nvCxnSpPr>
          <p:spPr>
            <a:xfrm>
              <a:off x="7706803" y="3109163"/>
              <a:ext cx="211847" cy="68999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9"/>
            <p:cNvCxnSpPr>
              <a:cxnSpLocks/>
              <a:stCxn id="8" idx="4"/>
            </p:cNvCxnSpPr>
            <p:nvPr/>
          </p:nvCxnSpPr>
          <p:spPr>
            <a:xfrm rot="5400000">
              <a:off x="7131150" y="3443656"/>
              <a:ext cx="12700" cy="1575000"/>
            </a:xfrm>
            <a:prstGeom prst="curvedConnector3">
              <a:avLst>
                <a:gd name="adj1" fmla="val 18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9"/>
            <p:cNvCxnSpPr>
              <a:cxnSpLocks/>
              <a:endCxn id="7" idx="2"/>
            </p:cNvCxnSpPr>
            <p:nvPr/>
          </p:nvCxnSpPr>
          <p:spPr>
            <a:xfrm rot="5400000" flipH="1" flipV="1">
              <a:off x="6104230" y="3348584"/>
              <a:ext cx="689993" cy="21115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1DC247E5-121F-42AB-9DE3-D1D41ED9BF99}"/>
              </a:ext>
            </a:extLst>
          </p:cNvPr>
          <p:cNvSpPr txBox="1"/>
          <p:nvPr/>
        </p:nvSpPr>
        <p:spPr>
          <a:xfrm>
            <a:off x="7852134" y="2205214"/>
            <a:ext cx="3334567" cy="892552"/>
          </a:xfrm>
          <a:prstGeom prst="rect">
            <a:avLst/>
          </a:prstGeom>
          <a:noFill/>
        </p:spPr>
        <p:txBody>
          <a:bodyPr wrap="none" rtlCol="0" anchor="ctr" anchorCtr="1">
            <a:spAutoFit/>
          </a:bodyPr>
          <a:lstStyle/>
          <a:p>
            <a:pPr algn="ctr"/>
            <a:r>
              <a:rPr lang="en-US" sz="2800" b="1" dirty="0">
                <a:solidFill>
                  <a:srgbClr val="FF0000"/>
                </a:solidFill>
                <a:ea typeface="標楷體" pitchFamily="65" charset="-120"/>
                <a:cs typeface="Calibri" pitchFamily="34" charset="0"/>
              </a:rPr>
              <a:t>Cycle:</a:t>
            </a:r>
          </a:p>
          <a:p>
            <a:r>
              <a:rPr lang="en-US" sz="2400" dirty="0">
                <a:solidFill>
                  <a:srgbClr val="FF0000"/>
                </a:solidFill>
                <a:ea typeface="標楷體" pitchFamily="65" charset="-120"/>
                <a:cs typeface="Calibri" pitchFamily="34" charset="0"/>
              </a:rPr>
              <a:t>Fetch-Decode-Execute</a:t>
            </a:r>
          </a:p>
        </p:txBody>
      </p:sp>
      <p:sp>
        <p:nvSpPr>
          <p:cNvPr id="13" name="TextBox 12">
            <a:extLst>
              <a:ext uri="{FF2B5EF4-FFF2-40B4-BE49-F238E27FC236}">
                <a16:creationId xmlns:a16="http://schemas.microsoft.com/office/drawing/2014/main" id="{9B414743-3E85-436B-8421-E0642C4F9892}"/>
              </a:ext>
            </a:extLst>
          </p:cNvPr>
          <p:cNvSpPr txBox="1"/>
          <p:nvPr/>
        </p:nvSpPr>
        <p:spPr>
          <a:xfrm>
            <a:off x="7298259" y="4816677"/>
            <a:ext cx="723275" cy="369332"/>
          </a:xfrm>
          <a:prstGeom prst="rect">
            <a:avLst/>
          </a:prstGeom>
          <a:solidFill>
            <a:srgbClr val="FFFF00"/>
          </a:solidFill>
          <a:ln>
            <a:solidFill>
              <a:srgbClr val="FF0000"/>
            </a:solidFill>
          </a:ln>
        </p:spPr>
        <p:txBody>
          <a:bodyPr wrap="none" rtlCol="0" anchor="ctr" anchorCtr="1">
            <a:spAutoFit/>
          </a:bodyPr>
          <a:lstStyle/>
          <a:p>
            <a:r>
              <a:rPr lang="en-US" dirty="0" err="1">
                <a:ea typeface="標楷體" pitchFamily="65" charset="-120"/>
                <a:cs typeface="Calibri" pitchFamily="34" charset="0"/>
              </a:rPr>
              <a:t>Ld</a:t>
            </a:r>
            <a:r>
              <a:rPr lang="en-US" dirty="0">
                <a:ea typeface="標楷體" pitchFamily="65" charset="-120"/>
                <a:cs typeface="Calibri" pitchFamily="34" charset="0"/>
              </a:rPr>
              <a:t>/St</a:t>
            </a:r>
          </a:p>
        </p:txBody>
      </p:sp>
      <p:sp>
        <p:nvSpPr>
          <p:cNvPr id="16" name="TextBox 15">
            <a:extLst>
              <a:ext uri="{FF2B5EF4-FFF2-40B4-BE49-F238E27FC236}">
                <a16:creationId xmlns:a16="http://schemas.microsoft.com/office/drawing/2014/main" id="{4BE958C8-952E-4041-959D-84D3FB0A1306}"/>
              </a:ext>
            </a:extLst>
          </p:cNvPr>
          <p:cNvSpPr txBox="1"/>
          <p:nvPr/>
        </p:nvSpPr>
        <p:spPr>
          <a:xfrm>
            <a:off x="8036242" y="4821422"/>
            <a:ext cx="9156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Branch</a:t>
            </a:r>
          </a:p>
        </p:txBody>
      </p:sp>
      <p:sp>
        <p:nvSpPr>
          <p:cNvPr id="17" name="TextBox 16">
            <a:extLst>
              <a:ext uri="{FF2B5EF4-FFF2-40B4-BE49-F238E27FC236}">
                <a16:creationId xmlns:a16="http://schemas.microsoft.com/office/drawing/2014/main" id="{989020B9-A389-4FDA-AE5F-6C611917EA02}"/>
              </a:ext>
            </a:extLst>
          </p:cNvPr>
          <p:cNvSpPr txBox="1"/>
          <p:nvPr/>
        </p:nvSpPr>
        <p:spPr>
          <a:xfrm>
            <a:off x="8966585" y="4827890"/>
            <a:ext cx="633507"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ALU</a:t>
            </a:r>
          </a:p>
        </p:txBody>
      </p:sp>
      <p:sp>
        <p:nvSpPr>
          <p:cNvPr id="14" name="Oval 13">
            <a:extLst>
              <a:ext uri="{FF2B5EF4-FFF2-40B4-BE49-F238E27FC236}">
                <a16:creationId xmlns:a16="http://schemas.microsoft.com/office/drawing/2014/main" id="{7A8FEDBF-18A0-4A26-9173-E4FDEA60D5C5}"/>
              </a:ext>
            </a:extLst>
          </p:cNvPr>
          <p:cNvSpPr/>
          <p:nvPr/>
        </p:nvSpPr>
        <p:spPr bwMode="auto">
          <a:xfrm>
            <a:off x="7049640" y="4620393"/>
            <a:ext cx="2796205" cy="708614"/>
          </a:xfrm>
          <a:prstGeom prst="ellipse">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3645544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Single Cycle vs. Multi-Cycles</a:t>
            </a:r>
          </a:p>
        </p:txBody>
      </p:sp>
      <p:sp>
        <p:nvSpPr>
          <p:cNvPr id="6" name="内容占位符 5"/>
          <p:cNvSpPr>
            <a:spLocks noGrp="1"/>
          </p:cNvSpPr>
          <p:nvPr>
            <p:ph idx="1"/>
          </p:nvPr>
        </p:nvSpPr>
        <p:spPr>
          <a:xfrm>
            <a:off x="194553" y="1125537"/>
            <a:ext cx="11892672" cy="4895851"/>
          </a:xfrm>
        </p:spPr>
        <p:txBody>
          <a:bodyPr/>
          <a:lstStyle/>
          <a:p>
            <a:pPr marL="0" lvl="0" indent="0">
              <a:buNone/>
            </a:pPr>
            <a:r>
              <a:rPr lang="en-AU" altLang="zh-CN" sz="3200" b="1" dirty="0">
                <a:solidFill>
                  <a:srgbClr val="00B050"/>
                </a:solidFill>
                <a:ea typeface="新細明體" panose="02020500000000000000" pitchFamily="18" charset="-120"/>
                <a:cs typeface="Courier New" panose="02070309020205020404" pitchFamily="49" charset="0"/>
                <a:sym typeface="+mn-ea"/>
              </a:rPr>
              <a:t>Single cycle</a:t>
            </a:r>
            <a:r>
              <a:rPr lang="en-AU" altLang="zh-CN" sz="2800" b="1" dirty="0">
                <a:solidFill>
                  <a:srgbClr val="00B050"/>
                </a:solidFill>
                <a:ea typeface="新細明體" panose="02020500000000000000" pitchFamily="18" charset="-120"/>
                <a:cs typeface="Courier New" panose="02070309020205020404" pitchFamily="49" charset="0"/>
                <a:sym typeface="+mn-ea"/>
              </a:rPr>
              <a:t>: </a:t>
            </a:r>
            <a:r>
              <a:rPr lang="en-US" altLang="zh-CN" sz="2800" b="1" dirty="0">
                <a:ea typeface="新細明體" panose="02020500000000000000" pitchFamily="18" charset="-120"/>
                <a:cs typeface="Courier New" panose="02070309020205020404" pitchFamily="49" charset="0"/>
                <a:sym typeface="+mn-ea"/>
              </a:rPr>
              <a:t>Each instruction executes in a single clock cycle, meaning that all operations—fetching, decoding, executing, accessing memory, and writing back—occur within that one cycle. This requirement leads to a longer clock cycle to accommodate the slowest instruction, which often results in a lower clock frequency. </a:t>
            </a:r>
            <a:r>
              <a:rPr lang="en-US" altLang="zh-CN" sz="2800" b="1" i="1" dirty="0">
                <a:solidFill>
                  <a:srgbClr val="FF0000"/>
                </a:solidFill>
                <a:ea typeface="新細明體" panose="02020500000000000000" pitchFamily="18" charset="-120"/>
                <a:cs typeface="Courier New" panose="02070309020205020404" pitchFamily="49" charset="0"/>
                <a:sym typeface="+mn-ea"/>
              </a:rPr>
              <a:t>The complexity of a given instruction can influence the cycle time</a:t>
            </a:r>
            <a:r>
              <a:rPr lang="en-US" sz="2800" b="1" i="1" dirty="0">
                <a:solidFill>
                  <a:srgbClr val="FF0000"/>
                </a:solidFill>
              </a:rPr>
              <a:t>.	</a:t>
            </a:r>
            <a:r>
              <a:rPr lang="en-US" sz="2800" b="1" dirty="0"/>
              <a:t>		</a:t>
            </a:r>
            <a:r>
              <a:rPr lang="en-US" sz="2400" b="1" dirty="0"/>
              <a:t>(</a:t>
            </a:r>
            <a:r>
              <a:rPr lang="en-US" sz="2400" b="1" i="1" dirty="0">
                <a:solidFill>
                  <a:srgbClr val="00B050"/>
                </a:solidFill>
              </a:rPr>
              <a:t>This leads to the revolution of RISC architecture</a:t>
            </a:r>
            <a:r>
              <a:rPr lang="en-US" sz="2400" b="1" dirty="0"/>
              <a:t>)</a:t>
            </a:r>
          </a:p>
          <a:p>
            <a:pPr marL="0" lvl="0" indent="0">
              <a:buNone/>
            </a:pPr>
            <a:endParaRPr lang="en-US" sz="2400" b="1" dirty="0"/>
          </a:p>
          <a:p>
            <a:pPr marL="0" lvl="0" indent="0">
              <a:buNone/>
            </a:pPr>
            <a:r>
              <a:rPr lang="en-AU" altLang="zh-CN" sz="3200" b="1" dirty="0">
                <a:solidFill>
                  <a:srgbClr val="FF0000"/>
                </a:solidFill>
                <a:ea typeface="新細明體" panose="02020500000000000000" pitchFamily="18" charset="-120"/>
                <a:cs typeface="Courier New" panose="02070309020205020404" pitchFamily="49" charset="0"/>
                <a:sym typeface="+mn-ea"/>
              </a:rPr>
              <a:t>Multi-cycle</a:t>
            </a:r>
            <a:r>
              <a:rPr lang="en-AU" altLang="zh-CN" sz="3200" dirty="0">
                <a:ea typeface="新細明體" panose="02020500000000000000" pitchFamily="18" charset="-120"/>
                <a:cs typeface="Courier New" panose="02070309020205020404" pitchFamily="49" charset="0"/>
                <a:sym typeface="+mn-ea"/>
              </a:rPr>
              <a:t>: </a:t>
            </a:r>
            <a:r>
              <a:rPr lang="en-US" sz="2800" b="1" dirty="0">
                <a:solidFill>
                  <a:schemeClr val="tx1">
                    <a:lumMod val="95000"/>
                    <a:lumOff val="5000"/>
                  </a:schemeClr>
                </a:solidFill>
              </a:rPr>
              <a:t>Instructions are broken down into multiple steps, each taking one clock cycle. </a:t>
            </a:r>
            <a:r>
              <a:rPr lang="en-US" sz="2800" b="1" dirty="0">
                <a:solidFill>
                  <a:prstClr val="black">
                    <a:lumMod val="95000"/>
                    <a:lumOff val="5000"/>
                  </a:prstClr>
                </a:solidFill>
              </a:rPr>
              <a:t>This allows for a shorter clock cycle, higher clock frequency, and more efficient use of hardware resources. </a:t>
            </a:r>
            <a:endParaRPr lang="en-AU" altLang="zh-CN" sz="2800" b="1" dirty="0">
              <a:solidFill>
                <a:schemeClr val="tx1">
                  <a:lumMod val="95000"/>
                  <a:lumOff val="5000"/>
                </a:schemeClr>
              </a:solidFill>
              <a:ea typeface="新細明體" panose="02020500000000000000" pitchFamily="18" charset="-120"/>
              <a:cs typeface="Courier New" panose="02070309020205020404" pitchFamily="49" charset="0"/>
              <a:sym typeface="+mn-ea"/>
            </a:endParaRPr>
          </a:p>
          <a:p>
            <a:pPr marL="0" lvl="0" indent="0">
              <a:buNone/>
            </a:pPr>
            <a:endParaRPr lang="en-AU" altLang="zh-CN" sz="3200" dirty="0">
              <a:ea typeface="新細明體" panose="02020500000000000000" pitchFamily="18" charset="-12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9</a:t>
            </a:fld>
            <a:endParaRPr lang="zh-TW" altLang="en-US">
              <a:solidFill>
                <a:prstClr val="white"/>
              </a:solidFill>
            </a:endParaRPr>
          </a:p>
        </p:txBody>
      </p:sp>
      <p:sp>
        <p:nvSpPr>
          <p:cNvPr id="2" name="TextBox 1">
            <a:extLst>
              <a:ext uri="{FF2B5EF4-FFF2-40B4-BE49-F238E27FC236}">
                <a16:creationId xmlns:a16="http://schemas.microsoft.com/office/drawing/2014/main" id="{AF01B806-C1ED-4EDF-934F-C799CBFB5E69}"/>
              </a:ext>
            </a:extLst>
          </p:cNvPr>
          <p:cNvSpPr txBox="1"/>
          <p:nvPr/>
        </p:nvSpPr>
        <p:spPr>
          <a:xfrm>
            <a:off x="2993300" y="3687063"/>
            <a:ext cx="6630854" cy="646331"/>
          </a:xfrm>
          <a:prstGeom prst="rect">
            <a:avLst/>
          </a:prstGeom>
          <a:noFill/>
        </p:spPr>
        <p:txBody>
          <a:bodyPr wrap="none" rtlCol="0" anchor="ctr" anchorCtr="1">
            <a:spAutoFit/>
          </a:bodyPr>
          <a:lstStyle/>
          <a:p>
            <a:r>
              <a:rPr lang="en-US" dirty="0">
                <a:ea typeface="標楷體" pitchFamily="65" charset="-120"/>
                <a:cs typeface="Calibri" pitchFamily="34" charset="0"/>
              </a:rPr>
              <a:t>By the way, before RISC, cycle time was about </a:t>
            </a:r>
            <a:r>
              <a:rPr lang="en-US" i="1" dirty="0">
                <a:ea typeface="標楷體" pitchFamily="65" charset="-120"/>
                <a:cs typeface="Calibri" pitchFamily="34" charset="0"/>
              </a:rPr>
              <a:t>1us in late 70’s</a:t>
            </a:r>
          </a:p>
          <a:p>
            <a:r>
              <a:rPr lang="en-US" dirty="0">
                <a:ea typeface="標楷體" pitchFamily="65" charset="-120"/>
                <a:cs typeface="Calibri" pitchFamily="34" charset="0"/>
              </a:rPr>
              <a:t>After RISC</a:t>
            </a:r>
            <a:r>
              <a:rPr lang="en-US" i="1" dirty="0">
                <a:ea typeface="標楷體" pitchFamily="65" charset="-120"/>
                <a:cs typeface="Calibri" pitchFamily="34" charset="0"/>
              </a:rPr>
              <a:t>, MIPS(1985) cycle time 40 ns, SPARC(1987), 28ns </a:t>
            </a:r>
          </a:p>
        </p:txBody>
      </p:sp>
    </p:spTree>
    <p:extLst>
      <p:ext uri="{BB962C8B-B14F-4D97-AF65-F5344CB8AC3E}">
        <p14:creationId xmlns:p14="http://schemas.microsoft.com/office/powerpoint/2010/main" val="415394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32548" y="179553"/>
            <a:ext cx="10779554" cy="543005"/>
          </a:xfrm>
        </p:spPr>
        <p:txBody>
          <a:bodyPr/>
          <a:lstStyle/>
          <a:p>
            <a:r>
              <a:rPr lang="en-AU" altLang="zh-TW" sz="4000" dirty="0">
                <a:ea typeface="新細明體" panose="02020500000000000000" pitchFamily="18" charset="-120"/>
              </a:rPr>
              <a:t>CPU Time = </a:t>
            </a:r>
            <a:r>
              <a:rPr lang="en-AU" altLang="zh-TW" sz="4000" dirty="0">
                <a:solidFill>
                  <a:srgbClr val="FF0000"/>
                </a:solidFill>
                <a:ea typeface="新細明體" panose="02020500000000000000" pitchFamily="18" charset="-120"/>
              </a:rPr>
              <a:t>Inst count </a:t>
            </a:r>
            <a:r>
              <a:rPr lang="en-AU" altLang="zh-TW" sz="4000" b="0" dirty="0">
                <a:solidFill>
                  <a:schemeClr val="tx1"/>
                </a:solidFill>
                <a:ea typeface="新細明體" panose="02020500000000000000" pitchFamily="18" charset="-120"/>
              </a:rPr>
              <a:t>X</a:t>
            </a:r>
            <a:r>
              <a:rPr lang="en-AU" altLang="zh-TW" sz="4000" dirty="0">
                <a:ea typeface="新細明體" panose="02020500000000000000" pitchFamily="18" charset="-120"/>
              </a:rPr>
              <a:t> CPI </a:t>
            </a:r>
            <a:r>
              <a:rPr lang="en-AU" altLang="zh-TW" sz="4000" b="0" dirty="0">
                <a:solidFill>
                  <a:schemeClr val="tx1"/>
                </a:solidFill>
                <a:ea typeface="新細明體" panose="02020500000000000000" pitchFamily="18" charset="-120"/>
              </a:rPr>
              <a:t>X</a:t>
            </a:r>
            <a:r>
              <a:rPr lang="en-AU" altLang="zh-TW" sz="4000" dirty="0">
                <a:ea typeface="新細明體" panose="02020500000000000000" pitchFamily="18" charset="-120"/>
              </a:rPr>
              <a:t> </a:t>
            </a:r>
            <a:r>
              <a:rPr lang="en-AU" altLang="zh-TW" sz="4000" dirty="0">
                <a:solidFill>
                  <a:srgbClr val="00B050"/>
                </a:solidFill>
                <a:ea typeface="新細明體" panose="02020500000000000000" pitchFamily="18" charset="-120"/>
              </a:rPr>
              <a:t>Clock cycle time</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10</a:t>
            </a:fld>
            <a:endParaRPr lang="zh-TW" altLang="en-US">
              <a:solidFill>
                <a:prstClr val="white"/>
              </a:solidFill>
            </a:endParaRPr>
          </a:p>
        </p:txBody>
      </p:sp>
      <p:pic>
        <p:nvPicPr>
          <p:cNvPr id="6" name="Picture 5">
            <a:extLst>
              <a:ext uri="{FF2B5EF4-FFF2-40B4-BE49-F238E27FC236}">
                <a16:creationId xmlns:a16="http://schemas.microsoft.com/office/drawing/2014/main" id="{CC45852A-5078-4795-B0E5-A2F7244B020E}"/>
              </a:ext>
            </a:extLst>
          </p:cNvPr>
          <p:cNvPicPr>
            <a:picLocks noChangeAspect="1"/>
          </p:cNvPicPr>
          <p:nvPr/>
        </p:nvPicPr>
        <p:blipFill>
          <a:blip r:embed="rId3"/>
          <a:stretch>
            <a:fillRect/>
          </a:stretch>
        </p:blipFill>
        <p:spPr>
          <a:xfrm>
            <a:off x="0" y="1120587"/>
            <a:ext cx="12192000" cy="5244353"/>
          </a:xfrm>
          <a:prstGeom prst="rect">
            <a:avLst/>
          </a:prstGeom>
        </p:spPr>
      </p:pic>
    </p:spTree>
    <p:extLst>
      <p:ext uri="{BB962C8B-B14F-4D97-AF65-F5344CB8AC3E}">
        <p14:creationId xmlns:p14="http://schemas.microsoft.com/office/powerpoint/2010/main" val="39944263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CISC vs RISC Examples </a:t>
            </a:r>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rPr>
              <a:t>Clock cycle time</a:t>
            </a:r>
          </a:p>
          <a:p>
            <a:pPr marL="0" lvl="0" indent="0">
              <a:buNone/>
            </a:pPr>
            <a:endParaRPr lang="en-AU" altLang="zh-CN" sz="4000" b="1" dirty="0">
              <a:solidFill>
                <a:srgbClr val="00B050"/>
              </a:solidFill>
              <a:ea typeface="新細明體" panose="02020500000000000000" pitchFamily="18" charset="-120"/>
              <a:cs typeface="Courier New" panose="02070309020205020404" pitchFamily="49" charset="0"/>
              <a:sym typeface="+mn-ea"/>
            </a:endParaRPr>
          </a:p>
          <a:p>
            <a:pPr marL="0" lvl="0" indent="0">
              <a:buNone/>
            </a:pPr>
            <a:r>
              <a:rPr lang="en-AU" altLang="zh-CN" sz="3200" b="1" dirty="0">
                <a:solidFill>
                  <a:srgbClr val="00B050"/>
                </a:solidFill>
                <a:ea typeface="新細明體" panose="02020500000000000000" pitchFamily="18" charset="-120"/>
                <a:cs typeface="Courier New" panose="02070309020205020404" pitchFamily="49" charset="0"/>
                <a:sym typeface="+mn-ea"/>
              </a:rPr>
              <a:t>CISC machines: </a:t>
            </a:r>
            <a:r>
              <a:rPr lang="en-AU" altLang="zh-CN" sz="3200" dirty="0">
                <a:ea typeface="新細明體" panose="02020500000000000000" pitchFamily="18" charset="-120"/>
                <a:cs typeface="Courier New" panose="02070309020205020404" pitchFamily="49" charset="0"/>
                <a:sym typeface="+mn-ea"/>
              </a:rPr>
              <a:t>Lower instruction count, higher CPI, longer cycle time</a:t>
            </a:r>
          </a:p>
          <a:p>
            <a:pPr marL="0" lvl="0" indent="0">
              <a:buNone/>
            </a:pPr>
            <a:r>
              <a:rPr lang="en-AU" altLang="zh-CN" sz="3200" dirty="0">
                <a:solidFill>
                  <a:srgbClr val="FF0000"/>
                </a:solidFill>
                <a:ea typeface="新細明體" panose="02020500000000000000" pitchFamily="18" charset="-120"/>
                <a:cs typeface="Courier New" panose="02070309020205020404" pitchFamily="49" charset="0"/>
                <a:sym typeface="+mn-ea"/>
              </a:rPr>
              <a:t>RISC machines</a:t>
            </a:r>
            <a:r>
              <a:rPr lang="en-AU" altLang="zh-CN" sz="3200" dirty="0">
                <a:ea typeface="新細明體" panose="02020500000000000000" pitchFamily="18" charset="-120"/>
                <a:cs typeface="Courier New" panose="02070309020205020404" pitchFamily="49" charset="0"/>
                <a:sym typeface="+mn-ea"/>
              </a:rPr>
              <a:t>: higher instruction count, lower CPI, shorter cycle time</a:t>
            </a:r>
          </a:p>
          <a:p>
            <a:pPr marL="0" lvl="0" indent="0">
              <a:buNone/>
            </a:pPr>
            <a:endParaRPr lang="en-AU" altLang="zh-CN" sz="3200" dirty="0">
              <a:ea typeface="新細明體" panose="02020500000000000000" pitchFamily="18" charset="-120"/>
              <a:cs typeface="Courier New" panose="02070309020205020404" pitchFamily="49" charset="0"/>
              <a:sym typeface="+mn-ea"/>
            </a:endParaRPr>
          </a:p>
          <a:p>
            <a:pPr marL="0" lvl="0" indent="0">
              <a:buNone/>
            </a:pPr>
            <a:r>
              <a:rPr lang="en-AU" altLang="zh-CN" sz="3200" dirty="0">
                <a:ea typeface="新細明體" panose="02020500000000000000" pitchFamily="18" charset="-120"/>
                <a:cs typeface="Courier New" panose="02070309020205020404" pitchFamily="49" charset="0"/>
                <a:sym typeface="+mn-ea"/>
              </a:rPr>
              <a:t>How about modern x86 processors? Their cycle times are pretty short.</a:t>
            </a:r>
          </a:p>
          <a:p>
            <a:pPr marL="0" lvl="0" indent="0">
              <a:buNone/>
            </a:pPr>
            <a:r>
              <a:rPr lang="en-AU" altLang="zh-CN" sz="2800" dirty="0">
                <a:ea typeface="新細明體" panose="02020500000000000000" pitchFamily="18" charset="-120"/>
                <a:cs typeface="Courier New" panose="02070309020205020404" pitchFamily="49" charset="0"/>
                <a:sym typeface="+mn-ea"/>
              </a:rPr>
              <a:t>Modern x86 processors take x86 instructions in, translate in hardware into micro-operations for execution (and cached). Those micro-operations are RISC.</a:t>
            </a:r>
            <a:endParaRPr lang="en-US" altLang="zh-CN" sz="28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11</a:t>
            </a:fld>
            <a:endParaRPr lang="zh-TW" altLang="en-US">
              <a:solidFill>
                <a:prstClr val="white"/>
              </a:solidFill>
            </a:endParaRPr>
          </a:p>
        </p:txBody>
      </p:sp>
    </p:spTree>
    <p:extLst>
      <p:ext uri="{BB962C8B-B14F-4D97-AF65-F5344CB8AC3E}">
        <p14:creationId xmlns:p14="http://schemas.microsoft.com/office/powerpoint/2010/main" val="39978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More Examples</a:t>
            </a:r>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rPr>
              <a:t>Clock cycle time</a:t>
            </a:r>
            <a:endParaRPr lang="en-AU" altLang="zh-TW" sz="4000" b="1" noProof="0" dirty="0">
              <a:solidFill>
                <a:srgbClr val="00B050"/>
              </a:solidFill>
              <a:ea typeface="新細明體" panose="02020500000000000000" pitchFamily="18" charset="-120"/>
              <a:cs typeface="Courier New" panose="02070309020205020404" pitchFamily="49" charset="0"/>
              <a:sym typeface="+mn-ea"/>
            </a:endParaRPr>
          </a:p>
          <a:p>
            <a:pPr marL="0" lvl="0" indent="0">
              <a:buNone/>
            </a:pPr>
            <a:endParaRPr kumimoji="1" lang="en-AU" altLang="zh-TW" sz="4000" b="1" i="0" u="none" strike="noStrike" kern="0" cap="none" spc="0" normalizeH="0" baseline="0" dirty="0">
              <a:ln>
                <a:noFill/>
              </a:ln>
              <a:solidFill>
                <a:srgbClr val="00B050"/>
              </a:solidFill>
              <a:effectLst/>
              <a:uLnTx/>
              <a:uFillTx/>
              <a:latin typeface="Calibri" pitchFamily="34" charset="0"/>
              <a:ea typeface="新細明體" panose="02020500000000000000" pitchFamily="18" charset="-120"/>
              <a:cs typeface="Courier New" panose="02070309020205020404" pitchFamily="49" charset="0"/>
              <a:sym typeface="+mn-ea"/>
            </a:endParaRPr>
          </a:p>
          <a:p>
            <a:pPr marL="0" lvl="0" indent="0">
              <a:buNone/>
            </a:pPr>
            <a:r>
              <a:rPr lang="en-AU" altLang="zh-TW" sz="3200" b="1" noProof="0" dirty="0">
                <a:solidFill>
                  <a:srgbClr val="FF0000"/>
                </a:solidFill>
                <a:ea typeface="新細明體" panose="02020500000000000000" pitchFamily="18" charset="-120"/>
                <a:cs typeface="Courier New" panose="02070309020205020404" pitchFamily="49" charset="0"/>
                <a:sym typeface="+mn-ea"/>
              </a:rPr>
              <a:t>FMA X1, X2*X3+X4, </a:t>
            </a:r>
            <a:r>
              <a:rPr lang="en-AU" altLang="zh-TW" sz="2800" b="1" noProof="0" dirty="0">
                <a:solidFill>
                  <a:srgbClr val="00B050"/>
                </a:solidFill>
                <a:ea typeface="新細明體" panose="02020500000000000000" pitchFamily="18" charset="-120"/>
                <a:cs typeface="Courier New" panose="02070309020205020404" pitchFamily="49" charset="0"/>
                <a:sym typeface="+mn-ea"/>
              </a:rPr>
              <a:t>Fused multiply and Add</a:t>
            </a:r>
          </a:p>
          <a:p>
            <a:pPr marL="0" lvl="0" indent="0">
              <a:buNone/>
            </a:pPr>
            <a:r>
              <a:rPr kumimoji="1" lang="en-AU" altLang="zh-TW" sz="2800" b="1" i="0" u="none" strike="noStrike" kern="0" cap="none" spc="0" normalizeH="0" baseline="0" dirty="0">
                <a:ln>
                  <a:noFill/>
                </a:ln>
                <a:solidFill>
                  <a:srgbClr val="00B050"/>
                </a:solidFill>
                <a:effectLst/>
                <a:uLnTx/>
                <a:uFillTx/>
                <a:ea typeface="新細明體" panose="02020500000000000000" pitchFamily="18" charset="-120"/>
                <a:cs typeface="Courier New" panose="02070309020205020404" pitchFamily="49" charset="0"/>
                <a:sym typeface="+mn-ea"/>
              </a:rPr>
              <a:t>			</a:t>
            </a:r>
            <a:r>
              <a:rPr kumimoji="1" lang="en-AU" altLang="zh-TW" sz="2800" b="1" i="0" u="none" strike="noStrike" kern="0" cap="none" spc="0" normalizeH="0" baseline="0" dirty="0">
                <a:ln>
                  <a:noFill/>
                </a:ln>
                <a:solidFill>
                  <a:srgbClr val="FF0000"/>
                </a:solidFill>
                <a:effectLst/>
                <a:uLnTx/>
                <a:uFillTx/>
                <a:ea typeface="新細明體" panose="02020500000000000000" pitchFamily="18" charset="-120"/>
                <a:cs typeface="Courier New" panose="02070309020205020404" pitchFamily="49" charset="0"/>
                <a:sym typeface="+mn-ea"/>
              </a:rPr>
              <a:t>Inst count 	</a:t>
            </a:r>
            <a:r>
              <a:rPr kumimoji="1" lang="en-AU" altLang="zh-TW" sz="2800" b="1" i="0" u="none" strike="noStrike" kern="0" cap="none" spc="0" normalizeH="0" dirty="0">
                <a:ln>
                  <a:noFill/>
                </a:ln>
                <a:solidFill>
                  <a:srgbClr val="FF0000"/>
                </a:solidFill>
                <a:effectLst/>
                <a:uLnTx/>
                <a:uFillTx/>
                <a:ea typeface="新細明體" panose="02020500000000000000" pitchFamily="18" charset="-120"/>
                <a:cs typeface="Courier New" panose="02070309020205020404" pitchFamily="49" charset="0"/>
                <a:sym typeface="+mn-ea"/>
              </a:rPr>
              <a:t>   </a:t>
            </a:r>
            <a:r>
              <a:rPr lang="en-AU" altLang="zh-TW" sz="3200" b="1" dirty="0">
                <a:solidFill>
                  <a:srgbClr val="1F497D"/>
                </a:solidFill>
                <a:ea typeface="新細明體" panose="02020500000000000000" pitchFamily="18" charset="-120"/>
              </a:rPr>
              <a:t>CPI	     </a:t>
            </a:r>
            <a:r>
              <a:rPr lang="en-AU" altLang="zh-TW" sz="3200" b="1" dirty="0">
                <a:solidFill>
                  <a:srgbClr val="00B050"/>
                </a:solidFill>
                <a:ea typeface="新細明體" panose="02020500000000000000" pitchFamily="18" charset="-120"/>
              </a:rPr>
              <a:t>Clock cycle time</a:t>
            </a:r>
          </a:p>
          <a:p>
            <a:pPr marL="0" lvl="0" indent="0">
              <a:buNone/>
            </a:pPr>
            <a:r>
              <a:rPr lang="en-AU" altLang="zh-TW" sz="3200" b="1" noProof="0" dirty="0">
                <a:ea typeface="新細明體" panose="02020500000000000000" pitchFamily="18" charset="-120"/>
              </a:rPr>
              <a:t>Micro-architectures:</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Single cycle: CPI = 1, long cycle time</a:t>
            </a:r>
          </a:p>
          <a:p>
            <a:pPr marL="0" lvl="0" indent="0">
              <a:buNone/>
            </a:pPr>
            <a:r>
              <a:rPr lang="en-AU" altLang="zh-TW" sz="3200" b="1" noProof="0" dirty="0">
                <a:ea typeface="新細明體" panose="02020500000000000000" pitchFamily="18" charset="-120"/>
              </a:rPr>
              <a:t>	Multi-cycle: CPI = m, short cycle time</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Pipelining:</a:t>
            </a:r>
            <a:r>
              <a:rPr kumimoji="1" lang="en-AU" altLang="zh-TW" sz="3200" b="1" i="0" u="none" strike="noStrike" kern="0" cap="none" spc="0" normalizeH="0" dirty="0">
                <a:ln>
                  <a:noFill/>
                </a:ln>
                <a:effectLst/>
                <a:uLnTx/>
                <a:uFillTx/>
                <a:ea typeface="新細明體" panose="02020500000000000000" pitchFamily="18" charset="-120"/>
              </a:rPr>
              <a:t> CPI = ~1, short cycle time </a:t>
            </a:r>
            <a:endParaRPr kumimoji="1" lang="en-AU" altLang="zh-TW" sz="3200" b="1" i="0" u="none" strike="noStrike" kern="0" cap="none" spc="0" normalizeH="0" baseline="0" noProof="0" dirty="0">
              <a:ln>
                <a:noFill/>
              </a:ln>
              <a:effectLst/>
              <a:uLnTx/>
              <a:uFillTx/>
              <a:ea typeface="新細明體" panose="02020500000000000000" pitchFamily="18" charset="-120"/>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12</a:t>
            </a:fld>
            <a:endParaRPr lang="zh-TW" altLang="en-US">
              <a:solidFill>
                <a:prstClr val="white"/>
              </a:solidFill>
            </a:endParaRPr>
          </a:p>
        </p:txBody>
      </p:sp>
      <p:sp>
        <p:nvSpPr>
          <p:cNvPr id="2" name="Arrow: Down 1">
            <a:extLst>
              <a:ext uri="{FF2B5EF4-FFF2-40B4-BE49-F238E27FC236}">
                <a16:creationId xmlns:a16="http://schemas.microsoft.com/office/drawing/2014/main" id="{A5FD78E5-F07D-47E8-B9A4-40329552632D}"/>
              </a:ext>
            </a:extLst>
          </p:cNvPr>
          <p:cNvSpPr/>
          <p:nvPr/>
        </p:nvSpPr>
        <p:spPr bwMode="auto">
          <a:xfrm>
            <a:off x="4572001" y="3257313"/>
            <a:ext cx="301556" cy="575385"/>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Arrow: Down 6">
            <a:extLst>
              <a:ext uri="{FF2B5EF4-FFF2-40B4-BE49-F238E27FC236}">
                <a16:creationId xmlns:a16="http://schemas.microsoft.com/office/drawing/2014/main" id="{293E2404-E5D8-415F-8E72-3815237B35E7}"/>
              </a:ext>
            </a:extLst>
          </p:cNvPr>
          <p:cNvSpPr/>
          <p:nvPr/>
        </p:nvSpPr>
        <p:spPr bwMode="auto">
          <a:xfrm rot="10800000">
            <a:off x="5727118" y="3155173"/>
            <a:ext cx="301556" cy="273827"/>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Arrow: Down 7">
            <a:extLst>
              <a:ext uri="{FF2B5EF4-FFF2-40B4-BE49-F238E27FC236}">
                <a16:creationId xmlns:a16="http://schemas.microsoft.com/office/drawing/2014/main" id="{9AC176BC-5824-430C-90E9-F672EFC512AC}"/>
              </a:ext>
            </a:extLst>
          </p:cNvPr>
          <p:cNvSpPr/>
          <p:nvPr/>
        </p:nvSpPr>
        <p:spPr bwMode="auto">
          <a:xfrm rot="10800000">
            <a:off x="9100227" y="3198947"/>
            <a:ext cx="301556" cy="273827"/>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4E07BE92-F426-4E1D-BB92-03CBE4FCFFB1}"/>
              </a:ext>
            </a:extLst>
          </p:cNvPr>
          <p:cNvSpPr txBox="1"/>
          <p:nvPr/>
        </p:nvSpPr>
        <p:spPr>
          <a:xfrm>
            <a:off x="9379854" y="3149608"/>
            <a:ext cx="2787943" cy="646331"/>
          </a:xfrm>
          <a:prstGeom prst="rect">
            <a:avLst/>
          </a:prstGeom>
          <a:noFill/>
        </p:spPr>
        <p:txBody>
          <a:bodyPr wrap="none" rtlCol="0" anchor="ctr" anchorCtr="1">
            <a:spAutoFit/>
          </a:bodyPr>
          <a:lstStyle/>
          <a:p>
            <a:r>
              <a:rPr lang="en-US" dirty="0">
                <a:ea typeface="標楷體" pitchFamily="65" charset="-120"/>
                <a:cs typeface="Calibri" pitchFamily="34" charset="0"/>
              </a:rPr>
              <a:t>for single cycle</a:t>
            </a:r>
          </a:p>
          <a:p>
            <a:r>
              <a:rPr lang="en-US" dirty="0">
                <a:ea typeface="標楷體" pitchFamily="65" charset="-120"/>
                <a:cs typeface="Calibri" pitchFamily="34" charset="0"/>
              </a:rPr>
              <a:t>No change for multi-cycle</a:t>
            </a:r>
          </a:p>
        </p:txBody>
      </p:sp>
      <p:sp>
        <p:nvSpPr>
          <p:cNvPr id="9" name="TextBox 8">
            <a:extLst>
              <a:ext uri="{FF2B5EF4-FFF2-40B4-BE49-F238E27FC236}">
                <a16:creationId xmlns:a16="http://schemas.microsoft.com/office/drawing/2014/main" id="{C7AD54DC-6DA4-4941-A000-1665CACE3042}"/>
              </a:ext>
            </a:extLst>
          </p:cNvPr>
          <p:cNvSpPr txBox="1"/>
          <p:nvPr/>
        </p:nvSpPr>
        <p:spPr>
          <a:xfrm>
            <a:off x="7943850" y="4145897"/>
            <a:ext cx="3858749" cy="646331"/>
          </a:xfrm>
          <a:prstGeom prst="rect">
            <a:avLst/>
          </a:prstGeom>
          <a:noFill/>
        </p:spPr>
        <p:txBody>
          <a:bodyPr wrap="none" rtlCol="0" anchor="ctr" anchorCtr="1">
            <a:spAutoFit/>
          </a:bodyPr>
          <a:lstStyle/>
          <a:p>
            <a:r>
              <a:rPr lang="en-US" dirty="0" err="1">
                <a:ea typeface="標楷體" pitchFamily="65" charset="-120"/>
                <a:cs typeface="Calibri" pitchFamily="34" charset="0"/>
              </a:rPr>
              <a:t>fma</a:t>
            </a:r>
            <a:r>
              <a:rPr lang="en-US" dirty="0">
                <a:ea typeface="標楷體" pitchFamily="65" charset="-120"/>
                <a:cs typeface="Calibri" pitchFamily="34" charset="0"/>
              </a:rPr>
              <a:t> x1,x2,x3,x4 vs  </a:t>
            </a:r>
            <a:r>
              <a:rPr lang="en-US" dirty="0" err="1">
                <a:ea typeface="標楷體" pitchFamily="65" charset="-120"/>
                <a:cs typeface="Calibri" pitchFamily="34" charset="0"/>
              </a:rPr>
              <a:t>fmul</a:t>
            </a:r>
            <a:r>
              <a:rPr lang="en-US" dirty="0">
                <a:ea typeface="標楷體" pitchFamily="65" charset="-120"/>
                <a:cs typeface="Calibri" pitchFamily="34" charset="0"/>
              </a:rPr>
              <a:t> x2, x2,x3</a:t>
            </a:r>
          </a:p>
          <a:p>
            <a:r>
              <a:rPr lang="en-US" dirty="0">
                <a:ea typeface="標楷體" pitchFamily="65" charset="-120"/>
                <a:cs typeface="Calibri" pitchFamily="34" charset="0"/>
              </a:rPr>
              <a:t>		    </a:t>
            </a:r>
            <a:r>
              <a:rPr lang="en-US" dirty="0" err="1">
                <a:ea typeface="標楷體" pitchFamily="65" charset="-120"/>
                <a:cs typeface="Calibri" pitchFamily="34" charset="0"/>
              </a:rPr>
              <a:t>fadd</a:t>
            </a:r>
            <a:r>
              <a:rPr lang="en-US" dirty="0">
                <a:ea typeface="標楷體" pitchFamily="65" charset="-120"/>
                <a:cs typeface="Calibri" pitchFamily="34" charset="0"/>
              </a:rPr>
              <a:t>  x1, x2,x4</a:t>
            </a:r>
          </a:p>
        </p:txBody>
      </p:sp>
      <p:sp>
        <p:nvSpPr>
          <p:cNvPr id="10" name="TextBox 9">
            <a:extLst>
              <a:ext uri="{FF2B5EF4-FFF2-40B4-BE49-F238E27FC236}">
                <a16:creationId xmlns:a16="http://schemas.microsoft.com/office/drawing/2014/main" id="{6E9BB6F9-AF4A-4651-9735-81D8510610FC}"/>
              </a:ext>
            </a:extLst>
          </p:cNvPr>
          <p:cNvSpPr txBox="1"/>
          <p:nvPr/>
        </p:nvSpPr>
        <p:spPr>
          <a:xfrm>
            <a:off x="7943850" y="4896681"/>
            <a:ext cx="3121367" cy="1200329"/>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1 </a:t>
            </a:r>
            <a:r>
              <a:rPr lang="en-US" dirty="0" err="1">
                <a:solidFill>
                  <a:srgbClr val="FF0000"/>
                </a:solidFill>
                <a:ea typeface="標楷體" pitchFamily="65" charset="-120"/>
                <a:cs typeface="Calibri" pitchFamily="34" charset="0"/>
              </a:rPr>
              <a:t>instr</a:t>
            </a:r>
            <a:r>
              <a:rPr lang="en-US" dirty="0">
                <a:solidFill>
                  <a:srgbClr val="FF0000"/>
                </a:solidFill>
                <a:ea typeface="標楷體" pitchFamily="65" charset="-120"/>
                <a:cs typeface="Calibri" pitchFamily="34" charset="0"/>
              </a:rPr>
              <a:t>		     2 </a:t>
            </a:r>
            <a:r>
              <a:rPr lang="en-US" dirty="0" err="1">
                <a:solidFill>
                  <a:srgbClr val="FF0000"/>
                </a:solidFill>
                <a:ea typeface="標楷體" pitchFamily="65" charset="-120"/>
                <a:cs typeface="Calibri" pitchFamily="34" charset="0"/>
              </a:rPr>
              <a:t>insts</a:t>
            </a:r>
            <a:endParaRPr lang="en-US" dirty="0">
              <a:solidFill>
                <a:srgbClr val="FF0000"/>
              </a:solidFill>
              <a:ea typeface="標楷體" pitchFamily="65" charset="-120"/>
              <a:cs typeface="Calibri" pitchFamily="34" charset="0"/>
            </a:endParaRPr>
          </a:p>
          <a:p>
            <a:r>
              <a:rPr lang="en-US" dirty="0">
                <a:solidFill>
                  <a:srgbClr val="FF0000"/>
                </a:solidFill>
                <a:ea typeface="標楷體" pitchFamily="65" charset="-120"/>
                <a:cs typeface="Calibri" pitchFamily="34" charset="0"/>
              </a:rPr>
              <a:t>CPI=5		     CPI=4</a:t>
            </a:r>
          </a:p>
          <a:p>
            <a:r>
              <a:rPr lang="en-US" dirty="0">
                <a:solidFill>
                  <a:srgbClr val="FF0000"/>
                </a:solidFill>
                <a:ea typeface="標楷體" pitchFamily="65" charset="-120"/>
                <a:cs typeface="Calibri" pitchFamily="34" charset="0"/>
              </a:rPr>
              <a:t>same clock cycle </a:t>
            </a:r>
            <a:r>
              <a:rPr lang="en-US" dirty="0" err="1">
                <a:solidFill>
                  <a:srgbClr val="FF0000"/>
                </a:solidFill>
                <a:ea typeface="標楷體" pitchFamily="65" charset="-120"/>
                <a:cs typeface="Calibri" pitchFamily="34" charset="0"/>
              </a:rPr>
              <a:t>clk</a:t>
            </a:r>
            <a:endParaRPr lang="en-US" dirty="0">
              <a:solidFill>
                <a:srgbClr val="FF0000"/>
              </a:solidFill>
              <a:ea typeface="標楷體" pitchFamily="65" charset="-120"/>
              <a:cs typeface="Calibri" pitchFamily="34" charset="0"/>
            </a:endParaRPr>
          </a:p>
          <a:p>
            <a:r>
              <a:rPr lang="en-US" dirty="0">
                <a:solidFill>
                  <a:srgbClr val="FF0000"/>
                </a:solidFill>
                <a:ea typeface="標楷體" pitchFamily="65" charset="-120"/>
                <a:cs typeface="Calibri" pitchFamily="34" charset="0"/>
              </a:rPr>
              <a:t>1x5xclk		     2x4xclk</a:t>
            </a:r>
          </a:p>
        </p:txBody>
      </p:sp>
    </p:spTree>
    <p:extLst>
      <p:ext uri="{BB962C8B-B14F-4D97-AF65-F5344CB8AC3E}">
        <p14:creationId xmlns:p14="http://schemas.microsoft.com/office/powerpoint/2010/main" val="896092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348948" y="-175618"/>
            <a:ext cx="10603869" cy="1864908"/>
          </a:xfrm>
        </p:spPr>
        <p:txBody>
          <a:bodyPr/>
          <a:lstStyle/>
          <a:p>
            <a:pPr marL="0" marR="0" lvl="0" indent="0" defTabSz="914400" rtl="0" eaLnBrk="1" fontAlgn="base" latinLnBrk="0" hangingPunct="1">
              <a:lnSpc>
                <a:spcPct val="100000"/>
              </a:lnSpc>
              <a:spcBef>
                <a:spcPct val="20000"/>
              </a:spcBef>
              <a:spcAft>
                <a:spcPct val="0"/>
              </a:spcAft>
              <a:tabLst/>
              <a:defRPr/>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cs typeface="+mn-cs"/>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mn-cs"/>
              </a:rPr>
              <a:t>Clock cycle time</a:t>
            </a:r>
            <a:b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Courier New" panose="02070309020205020404" pitchFamily="49" charset="0"/>
                <a:sym typeface="+mn-ea"/>
              </a:rPr>
            </a:br>
            <a:endParaRPr lang="en-US" altLang="zh-CN" dirty="0"/>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Assuming we have 4 instructions to execute, </a:t>
            </a:r>
            <a:r>
              <a:rPr kumimoji="1" lang="en-AU" altLang="zh-TW" sz="3200" b="1" i="0" u="none" strike="noStrike" kern="0" cap="none" spc="0" normalizeH="0" baseline="0" dirty="0" err="1">
                <a:ln>
                  <a:noFill/>
                </a:ln>
                <a:effectLst/>
                <a:uLnTx/>
                <a:uFillTx/>
                <a:ea typeface="新細明體" panose="02020500000000000000" pitchFamily="18" charset="-120"/>
              </a:rPr>
              <a:t>w,x,y</a:t>
            </a:r>
            <a:r>
              <a:rPr kumimoji="1" lang="en-AU" altLang="zh-TW" sz="3200" b="1" i="0" u="none" strike="noStrike" kern="0" cap="none" spc="0" normalizeH="0" baseline="0" dirty="0">
                <a:ln>
                  <a:noFill/>
                </a:ln>
                <a:effectLst/>
                <a:uLnTx/>
                <a:uFillTx/>
                <a:ea typeface="新細明體" panose="02020500000000000000" pitchFamily="18" charset="-120"/>
              </a:rPr>
              <a:t>, and z,:</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Single cycle: CPI = 1, long cycle time</a:t>
            </a:r>
          </a:p>
          <a:p>
            <a:pPr marL="0" lvl="0" indent="0">
              <a:buNone/>
            </a:pPr>
            <a:endParaRPr kumimoji="1" lang="en-AU" altLang="zh-TW" sz="3200" b="1" i="0" u="none" strike="noStrike" kern="0" cap="none" spc="0" normalizeH="0" baseline="0" dirty="0">
              <a:ln>
                <a:noFill/>
              </a:ln>
              <a:effectLst/>
              <a:uLnTx/>
              <a:uFillTx/>
              <a:ea typeface="新細明體" panose="02020500000000000000" pitchFamily="18" charset="-120"/>
            </a:endParaRPr>
          </a:p>
          <a:p>
            <a:pPr marL="0" lvl="0" indent="0">
              <a:buNone/>
            </a:pPr>
            <a:r>
              <a:rPr lang="en-AU" altLang="zh-TW" sz="3200" b="1" noProof="0" dirty="0">
                <a:ea typeface="新細明體" panose="02020500000000000000" pitchFamily="18" charset="-120"/>
              </a:rPr>
              <a:t>	Multi-cycle: CPI = m, short cycle time</a:t>
            </a:r>
          </a:p>
          <a:p>
            <a:pPr marL="0" lvl="0" indent="0">
              <a:buNone/>
            </a:pPr>
            <a:endParaRPr lang="en-AU" altLang="zh-TW" sz="3200" b="1" noProof="0" dirty="0">
              <a:ea typeface="新細明體" panose="02020500000000000000" pitchFamily="18" charset="-120"/>
            </a:endParaRP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Pipelining:</a:t>
            </a:r>
            <a:r>
              <a:rPr kumimoji="1" lang="en-AU" altLang="zh-TW" sz="3200" b="1" i="0" u="none" strike="noStrike" kern="0" cap="none" spc="0" normalizeH="0" dirty="0">
                <a:ln>
                  <a:noFill/>
                </a:ln>
                <a:effectLst/>
                <a:uLnTx/>
                <a:uFillTx/>
                <a:ea typeface="新細明體" panose="02020500000000000000" pitchFamily="18" charset="-120"/>
              </a:rPr>
              <a:t> CPI = ~1, short cycle time </a:t>
            </a:r>
            <a:endParaRPr kumimoji="1" lang="en-AU" altLang="zh-TW" sz="3200" b="1" i="0" u="none" strike="noStrike" kern="0" cap="none" spc="0" normalizeH="0" baseline="0" noProof="0" dirty="0">
              <a:ln>
                <a:noFill/>
              </a:ln>
              <a:effectLst/>
              <a:uLnTx/>
              <a:uFillTx/>
              <a:ea typeface="新細明體" panose="02020500000000000000" pitchFamily="18" charset="-120"/>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13</a:t>
            </a:fld>
            <a:endParaRPr lang="zh-TW" altLang="en-US">
              <a:solidFill>
                <a:prstClr val="white"/>
              </a:solidFill>
            </a:endParaRPr>
          </a:p>
        </p:txBody>
      </p:sp>
      <p:sp>
        <p:nvSpPr>
          <p:cNvPr id="9" name="TextBox 8">
            <a:extLst>
              <a:ext uri="{FF2B5EF4-FFF2-40B4-BE49-F238E27FC236}">
                <a16:creationId xmlns:a16="http://schemas.microsoft.com/office/drawing/2014/main" id="{EDB40349-EE74-4750-8D21-31C3F9CBCD9C}"/>
              </a:ext>
            </a:extLst>
          </p:cNvPr>
          <p:cNvSpPr txBox="1"/>
          <p:nvPr/>
        </p:nvSpPr>
        <p:spPr>
          <a:xfrm>
            <a:off x="8599250" y="2315343"/>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a:t>
            </a:r>
          </a:p>
        </p:txBody>
      </p:sp>
      <p:sp>
        <p:nvSpPr>
          <p:cNvPr id="10" name="TextBox 9">
            <a:extLst>
              <a:ext uri="{FF2B5EF4-FFF2-40B4-BE49-F238E27FC236}">
                <a16:creationId xmlns:a16="http://schemas.microsoft.com/office/drawing/2014/main" id="{06401CBC-4AE9-43ED-AC8C-747931A9BB37}"/>
              </a:ext>
            </a:extLst>
          </p:cNvPr>
          <p:cNvSpPr txBox="1"/>
          <p:nvPr/>
        </p:nvSpPr>
        <p:spPr>
          <a:xfrm>
            <a:off x="6293794" y="231534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a:t>
            </a:r>
          </a:p>
        </p:txBody>
      </p:sp>
      <p:sp>
        <p:nvSpPr>
          <p:cNvPr id="11" name="TextBox 10">
            <a:extLst>
              <a:ext uri="{FF2B5EF4-FFF2-40B4-BE49-F238E27FC236}">
                <a16:creationId xmlns:a16="http://schemas.microsoft.com/office/drawing/2014/main" id="{2FB9C702-ABCB-4A86-9EAB-DB4AF70910E2}"/>
              </a:ext>
            </a:extLst>
          </p:cNvPr>
          <p:cNvSpPr txBox="1"/>
          <p:nvPr/>
        </p:nvSpPr>
        <p:spPr>
          <a:xfrm>
            <a:off x="3988338" y="2315343"/>
            <a:ext cx="2305456"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a:t>
            </a:r>
          </a:p>
        </p:txBody>
      </p:sp>
      <p:sp>
        <p:nvSpPr>
          <p:cNvPr id="12" name="TextBox 11">
            <a:extLst>
              <a:ext uri="{FF2B5EF4-FFF2-40B4-BE49-F238E27FC236}">
                <a16:creationId xmlns:a16="http://schemas.microsoft.com/office/drawing/2014/main" id="{88DC50DD-0D4D-4A73-8A9A-F0FDCCA21B3D}"/>
              </a:ext>
            </a:extLst>
          </p:cNvPr>
          <p:cNvSpPr txBox="1"/>
          <p:nvPr/>
        </p:nvSpPr>
        <p:spPr>
          <a:xfrm>
            <a:off x="1682882" y="231534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a:t>
            </a:r>
          </a:p>
        </p:txBody>
      </p:sp>
      <p:sp>
        <p:nvSpPr>
          <p:cNvPr id="13" name="TextBox 12">
            <a:extLst>
              <a:ext uri="{FF2B5EF4-FFF2-40B4-BE49-F238E27FC236}">
                <a16:creationId xmlns:a16="http://schemas.microsoft.com/office/drawing/2014/main" id="{62552B82-794E-4C74-B5CD-167AA17ED652}"/>
              </a:ext>
            </a:extLst>
          </p:cNvPr>
          <p:cNvSpPr txBox="1"/>
          <p:nvPr/>
        </p:nvSpPr>
        <p:spPr>
          <a:xfrm>
            <a:off x="8599250" y="3544060"/>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5" name="TextBox 14">
            <a:extLst>
              <a:ext uri="{FF2B5EF4-FFF2-40B4-BE49-F238E27FC236}">
                <a16:creationId xmlns:a16="http://schemas.microsoft.com/office/drawing/2014/main" id="{0545C70D-0C85-4466-9845-F7CC320642D3}"/>
              </a:ext>
            </a:extLst>
          </p:cNvPr>
          <p:cNvSpPr txBox="1"/>
          <p:nvPr/>
        </p:nvSpPr>
        <p:spPr>
          <a:xfrm>
            <a:off x="5671225" y="3557358"/>
            <a:ext cx="1555187"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16" name="TextBox 15">
            <a:extLst>
              <a:ext uri="{FF2B5EF4-FFF2-40B4-BE49-F238E27FC236}">
                <a16:creationId xmlns:a16="http://schemas.microsoft.com/office/drawing/2014/main" id="{6FA8DB08-EF07-4F02-A635-384D882A7730}"/>
              </a:ext>
            </a:extLst>
          </p:cNvPr>
          <p:cNvSpPr txBox="1"/>
          <p:nvPr/>
        </p:nvSpPr>
        <p:spPr>
          <a:xfrm>
            <a:off x="3354802" y="3573462"/>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17" name="TextBox 16">
            <a:extLst>
              <a:ext uri="{FF2B5EF4-FFF2-40B4-BE49-F238E27FC236}">
                <a16:creationId xmlns:a16="http://schemas.microsoft.com/office/drawing/2014/main" id="{D1FC6AA0-ED57-4618-B173-7921DEBA55D6}"/>
              </a:ext>
            </a:extLst>
          </p:cNvPr>
          <p:cNvSpPr txBox="1"/>
          <p:nvPr/>
        </p:nvSpPr>
        <p:spPr>
          <a:xfrm>
            <a:off x="7237379" y="3554166"/>
            <a:ext cx="136187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18" name="TextBox 17">
            <a:extLst>
              <a:ext uri="{FF2B5EF4-FFF2-40B4-BE49-F238E27FC236}">
                <a16:creationId xmlns:a16="http://schemas.microsoft.com/office/drawing/2014/main" id="{F2FF8466-C90E-425C-828C-1710254917E1}"/>
              </a:ext>
            </a:extLst>
          </p:cNvPr>
          <p:cNvSpPr txBox="1"/>
          <p:nvPr/>
        </p:nvSpPr>
        <p:spPr>
          <a:xfrm>
            <a:off x="6448818" y="4588111"/>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9" name="TextBox 18">
            <a:extLst>
              <a:ext uri="{FF2B5EF4-FFF2-40B4-BE49-F238E27FC236}">
                <a16:creationId xmlns:a16="http://schemas.microsoft.com/office/drawing/2014/main" id="{90075B8D-5102-478B-9828-A54BA9331BF7}"/>
              </a:ext>
            </a:extLst>
          </p:cNvPr>
          <p:cNvSpPr txBox="1"/>
          <p:nvPr/>
        </p:nvSpPr>
        <p:spPr>
          <a:xfrm>
            <a:off x="6115454" y="497020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20" name="TextBox 19">
            <a:extLst>
              <a:ext uri="{FF2B5EF4-FFF2-40B4-BE49-F238E27FC236}">
                <a16:creationId xmlns:a16="http://schemas.microsoft.com/office/drawing/2014/main" id="{96EFC5A5-0174-415C-B644-DB957A1CF3A1}"/>
              </a:ext>
            </a:extLst>
          </p:cNvPr>
          <p:cNvSpPr txBox="1"/>
          <p:nvPr/>
        </p:nvSpPr>
        <p:spPr>
          <a:xfrm>
            <a:off x="5709517" y="5346087"/>
            <a:ext cx="2305455"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22" name="TextBox 21">
            <a:extLst>
              <a:ext uri="{FF2B5EF4-FFF2-40B4-BE49-F238E27FC236}">
                <a16:creationId xmlns:a16="http://schemas.microsoft.com/office/drawing/2014/main" id="{75219495-6C61-417A-8DEE-6310126D97B6}"/>
              </a:ext>
            </a:extLst>
          </p:cNvPr>
          <p:cNvSpPr txBox="1"/>
          <p:nvPr/>
        </p:nvSpPr>
        <p:spPr>
          <a:xfrm>
            <a:off x="5296090" y="573246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23" name="TextBox 22">
            <a:extLst>
              <a:ext uri="{FF2B5EF4-FFF2-40B4-BE49-F238E27FC236}">
                <a16:creationId xmlns:a16="http://schemas.microsoft.com/office/drawing/2014/main" id="{BA5AC090-4DAA-43A8-93CE-1A3541660C03}"/>
              </a:ext>
            </a:extLst>
          </p:cNvPr>
          <p:cNvSpPr txBox="1"/>
          <p:nvPr/>
        </p:nvSpPr>
        <p:spPr>
          <a:xfrm>
            <a:off x="2514990" y="5153919"/>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Fully overlapped</a:t>
            </a:r>
          </a:p>
        </p:txBody>
      </p:sp>
    </p:spTree>
    <p:extLst>
      <p:ext uri="{BB962C8B-B14F-4D97-AF65-F5344CB8AC3E}">
        <p14:creationId xmlns:p14="http://schemas.microsoft.com/office/powerpoint/2010/main" val="3647049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348948" y="-175618"/>
            <a:ext cx="10603869" cy="1864908"/>
          </a:xfrm>
        </p:spPr>
        <p:txBody>
          <a:bodyPr/>
          <a:lstStyle/>
          <a:p>
            <a:pPr marL="0" marR="0" lvl="0" indent="0" defTabSz="914400" rtl="0" eaLnBrk="1" fontAlgn="base" latinLnBrk="0" hangingPunct="1">
              <a:lnSpc>
                <a:spcPct val="100000"/>
              </a:lnSpc>
              <a:spcBef>
                <a:spcPct val="20000"/>
              </a:spcBef>
              <a:spcAft>
                <a:spcPct val="0"/>
              </a:spcAft>
              <a:tabLst/>
              <a:defRPr/>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cs typeface="+mn-cs"/>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mn-cs"/>
              </a:rPr>
              <a:t>Clock cycle time</a:t>
            </a:r>
            <a:b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Courier New" panose="02070309020205020404" pitchFamily="49" charset="0"/>
                <a:sym typeface="+mn-ea"/>
              </a:rPr>
            </a:br>
            <a:endParaRPr lang="en-US" altLang="zh-CN" dirty="0"/>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Assuming we have 4 instructions to execute, </a:t>
            </a:r>
            <a:r>
              <a:rPr kumimoji="1" lang="en-AU" altLang="zh-TW" sz="3200" b="1" i="0" u="none" strike="noStrike" kern="0" cap="none" spc="0" normalizeH="0" baseline="0" dirty="0" err="1">
                <a:ln>
                  <a:noFill/>
                </a:ln>
                <a:effectLst/>
                <a:uLnTx/>
                <a:uFillTx/>
                <a:ea typeface="新細明體" panose="02020500000000000000" pitchFamily="18" charset="-120"/>
              </a:rPr>
              <a:t>w,x,y</a:t>
            </a:r>
            <a:r>
              <a:rPr kumimoji="1" lang="en-AU" altLang="zh-TW" sz="3200" b="1" i="0" u="none" strike="noStrike" kern="0" cap="none" spc="0" normalizeH="0" baseline="0" dirty="0">
                <a:ln>
                  <a:noFill/>
                </a:ln>
                <a:effectLst/>
                <a:uLnTx/>
                <a:uFillTx/>
                <a:ea typeface="新細明體" panose="02020500000000000000" pitchFamily="18" charset="-120"/>
              </a:rPr>
              <a:t>, and z,:</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Single cycle: CPI = 1, long cycle time</a:t>
            </a:r>
          </a:p>
          <a:p>
            <a:pPr marL="0" lvl="0" indent="0">
              <a:buNone/>
            </a:pPr>
            <a:endParaRPr kumimoji="1" lang="en-AU" altLang="zh-TW" sz="3200" b="1" i="0" u="none" strike="noStrike" kern="0" cap="none" spc="0" normalizeH="0" baseline="0" dirty="0">
              <a:ln>
                <a:noFill/>
              </a:ln>
              <a:effectLst/>
              <a:uLnTx/>
              <a:uFillTx/>
              <a:ea typeface="新細明體" panose="02020500000000000000" pitchFamily="18" charset="-120"/>
            </a:endParaRPr>
          </a:p>
          <a:p>
            <a:pPr marL="0" lvl="0" indent="0">
              <a:buNone/>
            </a:pPr>
            <a:r>
              <a:rPr lang="en-AU" altLang="zh-TW" sz="3200" b="1" noProof="0" dirty="0">
                <a:ea typeface="新細明體" panose="02020500000000000000" pitchFamily="18" charset="-120"/>
              </a:rPr>
              <a:t>	Multi-cycle: CPI = m, short cycle time</a:t>
            </a:r>
          </a:p>
          <a:p>
            <a:pPr marL="0" lvl="0" indent="0">
              <a:buNone/>
            </a:pPr>
            <a:endParaRPr lang="en-AU" altLang="zh-TW" sz="3200" b="1" noProof="0" dirty="0">
              <a:ea typeface="新細明體" panose="02020500000000000000" pitchFamily="18" charset="-120"/>
            </a:endParaRP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Pipelining:</a:t>
            </a:r>
            <a:r>
              <a:rPr kumimoji="1" lang="en-AU" altLang="zh-TW" sz="3200" b="1" i="0" u="none" strike="noStrike" kern="0" cap="none" spc="0" normalizeH="0" dirty="0">
                <a:ln>
                  <a:noFill/>
                </a:ln>
                <a:effectLst/>
                <a:uLnTx/>
                <a:uFillTx/>
                <a:ea typeface="新細明體" panose="02020500000000000000" pitchFamily="18" charset="-120"/>
              </a:rPr>
              <a:t> CPI = ~1, short cycle time </a:t>
            </a:r>
            <a:endParaRPr kumimoji="1" lang="en-AU" altLang="zh-TW" sz="3200" b="1" i="0" u="none" strike="noStrike" kern="0" cap="none" spc="0" normalizeH="0" baseline="0" noProof="0" dirty="0">
              <a:ln>
                <a:noFill/>
              </a:ln>
              <a:effectLst/>
              <a:uLnTx/>
              <a:uFillTx/>
              <a:ea typeface="新細明體" panose="02020500000000000000" pitchFamily="18" charset="-120"/>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14</a:t>
            </a:fld>
            <a:endParaRPr lang="zh-TW" altLang="en-US">
              <a:solidFill>
                <a:prstClr val="white"/>
              </a:solidFill>
            </a:endParaRPr>
          </a:p>
        </p:txBody>
      </p:sp>
      <p:sp>
        <p:nvSpPr>
          <p:cNvPr id="9" name="TextBox 8">
            <a:extLst>
              <a:ext uri="{FF2B5EF4-FFF2-40B4-BE49-F238E27FC236}">
                <a16:creationId xmlns:a16="http://schemas.microsoft.com/office/drawing/2014/main" id="{EDB40349-EE74-4750-8D21-31C3F9CBCD9C}"/>
              </a:ext>
            </a:extLst>
          </p:cNvPr>
          <p:cNvSpPr txBox="1"/>
          <p:nvPr/>
        </p:nvSpPr>
        <p:spPr>
          <a:xfrm>
            <a:off x="8599250" y="2315343"/>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a:t>
            </a:r>
          </a:p>
        </p:txBody>
      </p:sp>
      <p:sp>
        <p:nvSpPr>
          <p:cNvPr id="10" name="TextBox 9">
            <a:extLst>
              <a:ext uri="{FF2B5EF4-FFF2-40B4-BE49-F238E27FC236}">
                <a16:creationId xmlns:a16="http://schemas.microsoft.com/office/drawing/2014/main" id="{06401CBC-4AE9-43ED-AC8C-747931A9BB37}"/>
              </a:ext>
            </a:extLst>
          </p:cNvPr>
          <p:cNvSpPr txBox="1"/>
          <p:nvPr/>
        </p:nvSpPr>
        <p:spPr>
          <a:xfrm>
            <a:off x="6293794" y="231534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a:t>
            </a:r>
          </a:p>
        </p:txBody>
      </p:sp>
      <p:sp>
        <p:nvSpPr>
          <p:cNvPr id="11" name="TextBox 10">
            <a:extLst>
              <a:ext uri="{FF2B5EF4-FFF2-40B4-BE49-F238E27FC236}">
                <a16:creationId xmlns:a16="http://schemas.microsoft.com/office/drawing/2014/main" id="{2FB9C702-ABCB-4A86-9EAB-DB4AF70910E2}"/>
              </a:ext>
            </a:extLst>
          </p:cNvPr>
          <p:cNvSpPr txBox="1"/>
          <p:nvPr/>
        </p:nvSpPr>
        <p:spPr>
          <a:xfrm>
            <a:off x="3988338" y="2315343"/>
            <a:ext cx="2305456"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a:t>
            </a:r>
          </a:p>
        </p:txBody>
      </p:sp>
      <p:sp>
        <p:nvSpPr>
          <p:cNvPr id="12" name="TextBox 11">
            <a:extLst>
              <a:ext uri="{FF2B5EF4-FFF2-40B4-BE49-F238E27FC236}">
                <a16:creationId xmlns:a16="http://schemas.microsoft.com/office/drawing/2014/main" id="{88DC50DD-0D4D-4A73-8A9A-F0FDCCA21B3D}"/>
              </a:ext>
            </a:extLst>
          </p:cNvPr>
          <p:cNvSpPr txBox="1"/>
          <p:nvPr/>
        </p:nvSpPr>
        <p:spPr>
          <a:xfrm>
            <a:off x="1682882" y="231534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a:t>
            </a:r>
          </a:p>
        </p:txBody>
      </p:sp>
      <p:sp>
        <p:nvSpPr>
          <p:cNvPr id="13" name="TextBox 12">
            <a:extLst>
              <a:ext uri="{FF2B5EF4-FFF2-40B4-BE49-F238E27FC236}">
                <a16:creationId xmlns:a16="http://schemas.microsoft.com/office/drawing/2014/main" id="{62552B82-794E-4C74-B5CD-167AA17ED652}"/>
              </a:ext>
            </a:extLst>
          </p:cNvPr>
          <p:cNvSpPr txBox="1"/>
          <p:nvPr/>
        </p:nvSpPr>
        <p:spPr>
          <a:xfrm>
            <a:off x="8599250" y="3544060"/>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5" name="TextBox 14">
            <a:extLst>
              <a:ext uri="{FF2B5EF4-FFF2-40B4-BE49-F238E27FC236}">
                <a16:creationId xmlns:a16="http://schemas.microsoft.com/office/drawing/2014/main" id="{0545C70D-0C85-4466-9845-F7CC320642D3}"/>
              </a:ext>
            </a:extLst>
          </p:cNvPr>
          <p:cNvSpPr txBox="1"/>
          <p:nvPr/>
        </p:nvSpPr>
        <p:spPr>
          <a:xfrm>
            <a:off x="5671225" y="3557358"/>
            <a:ext cx="1555187"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16" name="TextBox 15">
            <a:extLst>
              <a:ext uri="{FF2B5EF4-FFF2-40B4-BE49-F238E27FC236}">
                <a16:creationId xmlns:a16="http://schemas.microsoft.com/office/drawing/2014/main" id="{6FA8DB08-EF07-4F02-A635-384D882A7730}"/>
              </a:ext>
            </a:extLst>
          </p:cNvPr>
          <p:cNvSpPr txBox="1"/>
          <p:nvPr/>
        </p:nvSpPr>
        <p:spPr>
          <a:xfrm>
            <a:off x="3354802" y="3573462"/>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17" name="TextBox 16">
            <a:extLst>
              <a:ext uri="{FF2B5EF4-FFF2-40B4-BE49-F238E27FC236}">
                <a16:creationId xmlns:a16="http://schemas.microsoft.com/office/drawing/2014/main" id="{D1FC6AA0-ED57-4618-B173-7921DEBA55D6}"/>
              </a:ext>
            </a:extLst>
          </p:cNvPr>
          <p:cNvSpPr txBox="1"/>
          <p:nvPr/>
        </p:nvSpPr>
        <p:spPr>
          <a:xfrm>
            <a:off x="7237379" y="3554166"/>
            <a:ext cx="136187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18" name="TextBox 17">
            <a:extLst>
              <a:ext uri="{FF2B5EF4-FFF2-40B4-BE49-F238E27FC236}">
                <a16:creationId xmlns:a16="http://schemas.microsoft.com/office/drawing/2014/main" id="{F2FF8466-C90E-425C-828C-1710254917E1}"/>
              </a:ext>
            </a:extLst>
          </p:cNvPr>
          <p:cNvSpPr txBox="1"/>
          <p:nvPr/>
        </p:nvSpPr>
        <p:spPr>
          <a:xfrm>
            <a:off x="6448818" y="4588111"/>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9" name="TextBox 18">
            <a:extLst>
              <a:ext uri="{FF2B5EF4-FFF2-40B4-BE49-F238E27FC236}">
                <a16:creationId xmlns:a16="http://schemas.microsoft.com/office/drawing/2014/main" id="{90075B8D-5102-478B-9828-A54BA9331BF7}"/>
              </a:ext>
            </a:extLst>
          </p:cNvPr>
          <p:cNvSpPr txBox="1"/>
          <p:nvPr/>
        </p:nvSpPr>
        <p:spPr>
          <a:xfrm>
            <a:off x="6115454" y="497020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20" name="TextBox 19">
            <a:extLst>
              <a:ext uri="{FF2B5EF4-FFF2-40B4-BE49-F238E27FC236}">
                <a16:creationId xmlns:a16="http://schemas.microsoft.com/office/drawing/2014/main" id="{96EFC5A5-0174-415C-B644-DB957A1CF3A1}"/>
              </a:ext>
            </a:extLst>
          </p:cNvPr>
          <p:cNvSpPr txBox="1"/>
          <p:nvPr/>
        </p:nvSpPr>
        <p:spPr>
          <a:xfrm>
            <a:off x="5709517" y="5346087"/>
            <a:ext cx="2305455"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22" name="TextBox 21">
            <a:extLst>
              <a:ext uri="{FF2B5EF4-FFF2-40B4-BE49-F238E27FC236}">
                <a16:creationId xmlns:a16="http://schemas.microsoft.com/office/drawing/2014/main" id="{75219495-6C61-417A-8DEE-6310126D97B6}"/>
              </a:ext>
            </a:extLst>
          </p:cNvPr>
          <p:cNvSpPr txBox="1"/>
          <p:nvPr/>
        </p:nvSpPr>
        <p:spPr>
          <a:xfrm>
            <a:off x="5296090" y="573246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23" name="TextBox 22">
            <a:extLst>
              <a:ext uri="{FF2B5EF4-FFF2-40B4-BE49-F238E27FC236}">
                <a16:creationId xmlns:a16="http://schemas.microsoft.com/office/drawing/2014/main" id="{BA5AC090-4DAA-43A8-93CE-1A3541660C03}"/>
              </a:ext>
            </a:extLst>
          </p:cNvPr>
          <p:cNvSpPr txBox="1"/>
          <p:nvPr/>
        </p:nvSpPr>
        <p:spPr>
          <a:xfrm>
            <a:off x="2514990" y="5153919"/>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Fully overlapped</a:t>
            </a:r>
          </a:p>
        </p:txBody>
      </p:sp>
      <p:sp>
        <p:nvSpPr>
          <p:cNvPr id="2" name="TextBox 1">
            <a:extLst>
              <a:ext uri="{FF2B5EF4-FFF2-40B4-BE49-F238E27FC236}">
                <a16:creationId xmlns:a16="http://schemas.microsoft.com/office/drawing/2014/main" id="{9AF7490B-1ACA-4EC6-802F-A4046183F03E}"/>
              </a:ext>
            </a:extLst>
          </p:cNvPr>
          <p:cNvSpPr txBox="1"/>
          <p:nvPr/>
        </p:nvSpPr>
        <p:spPr>
          <a:xfrm>
            <a:off x="491032" y="1211828"/>
            <a:ext cx="6157418" cy="461665"/>
          </a:xfrm>
          <a:prstGeom prst="rect">
            <a:avLst/>
          </a:prstGeom>
          <a:solidFill>
            <a:srgbClr val="FFC000"/>
          </a:solidFill>
          <a:ln>
            <a:solidFill>
              <a:schemeClr val="accent1"/>
            </a:solidFill>
          </a:ln>
        </p:spPr>
        <p:txBody>
          <a:bodyPr wrap="square" rtlCol="0" anchor="ctr" anchorCtr="1">
            <a:spAutoFit/>
          </a:bodyPr>
          <a:lstStyle/>
          <a:p>
            <a:r>
              <a:rPr lang="en-US" sz="2400" dirty="0">
                <a:ea typeface="標楷體" pitchFamily="65" charset="-120"/>
                <a:cs typeface="Calibri" pitchFamily="34" charset="0"/>
              </a:rPr>
              <a:t>Assume 1 long cycle = 4 short cycles</a:t>
            </a:r>
          </a:p>
        </p:txBody>
      </p:sp>
      <p:sp>
        <p:nvSpPr>
          <p:cNvPr id="3" name="TextBox 2">
            <a:extLst>
              <a:ext uri="{FF2B5EF4-FFF2-40B4-BE49-F238E27FC236}">
                <a16:creationId xmlns:a16="http://schemas.microsoft.com/office/drawing/2014/main" id="{7320D4EB-B596-46AF-A886-7E282FB254A0}"/>
              </a:ext>
            </a:extLst>
          </p:cNvPr>
          <p:cNvSpPr txBox="1"/>
          <p:nvPr/>
        </p:nvSpPr>
        <p:spPr>
          <a:xfrm>
            <a:off x="9894037" y="2691177"/>
            <a:ext cx="1893467"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16 short cycles</a:t>
            </a:r>
          </a:p>
        </p:txBody>
      </p:sp>
      <p:sp>
        <p:nvSpPr>
          <p:cNvPr id="21" name="TextBox 20">
            <a:extLst>
              <a:ext uri="{FF2B5EF4-FFF2-40B4-BE49-F238E27FC236}">
                <a16:creationId xmlns:a16="http://schemas.microsoft.com/office/drawing/2014/main" id="{E5552BDE-1C4E-44E0-A0F5-1D14325BC714}"/>
              </a:ext>
            </a:extLst>
          </p:cNvPr>
          <p:cNvSpPr txBox="1"/>
          <p:nvPr/>
        </p:nvSpPr>
        <p:spPr>
          <a:xfrm>
            <a:off x="9894036" y="3913392"/>
            <a:ext cx="1893467"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13 short cycles</a:t>
            </a:r>
          </a:p>
        </p:txBody>
      </p:sp>
      <p:sp>
        <p:nvSpPr>
          <p:cNvPr id="24" name="TextBox 23">
            <a:extLst>
              <a:ext uri="{FF2B5EF4-FFF2-40B4-BE49-F238E27FC236}">
                <a16:creationId xmlns:a16="http://schemas.microsoft.com/office/drawing/2014/main" id="{8F707A2A-A450-410B-AABA-3030D2C30733}"/>
              </a:ext>
            </a:extLst>
          </p:cNvPr>
          <p:cNvSpPr txBox="1"/>
          <p:nvPr/>
        </p:nvSpPr>
        <p:spPr>
          <a:xfrm>
            <a:off x="9907391" y="5123141"/>
            <a:ext cx="1750800"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7 short cycles</a:t>
            </a:r>
          </a:p>
        </p:txBody>
      </p:sp>
    </p:spTree>
    <p:extLst>
      <p:ext uri="{BB962C8B-B14F-4D97-AF65-F5344CB8AC3E}">
        <p14:creationId xmlns:p14="http://schemas.microsoft.com/office/powerpoint/2010/main" val="72965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413863" y="163927"/>
            <a:ext cx="8892188" cy="706931"/>
          </a:xfrm>
        </p:spPr>
        <p:txBody>
          <a:bodyPr/>
          <a:lstStyle/>
          <a:p>
            <a:r>
              <a:rPr lang="en-US" altLang="zh-TW" dirty="0"/>
              <a:t>Abstract View of RV32I Subset</a:t>
            </a:r>
            <a:endParaRPr lang="en-US" altLang="zh-CN"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15</a:t>
            </a:fld>
            <a:endParaRPr lang="zh-TW" altLang="en-US">
              <a:solidFill>
                <a:prstClr val="white"/>
              </a:solidFill>
            </a:endParaRPr>
          </a:p>
        </p:txBody>
      </p:sp>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0867" y="1496061"/>
            <a:ext cx="8784167" cy="443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title"/>
          </p:nvPr>
        </p:nvSpPr>
        <p:spPr>
          <a:xfrm>
            <a:off x="1362636" y="194663"/>
            <a:ext cx="8943416" cy="614723"/>
          </a:xfrm>
        </p:spPr>
        <p:txBody>
          <a:bodyPr/>
          <a:lstStyle/>
          <a:p>
            <a:r>
              <a:rPr lang="en-US" altLang="zh-TW" dirty="0"/>
              <a:t>Multiplexers Required</a:t>
            </a:r>
            <a:endParaRPr lang="en-AU" altLang="zh-TW" dirty="0">
              <a:ea typeface="新細明體" panose="02020500000000000000" pitchFamily="18" charset="-120"/>
            </a:endParaRPr>
          </a:p>
        </p:txBody>
      </p:sp>
      <p:grpSp>
        <p:nvGrpSpPr>
          <p:cNvPr id="3" name="组合 2"/>
          <p:cNvGrpSpPr/>
          <p:nvPr/>
        </p:nvGrpSpPr>
        <p:grpSpPr>
          <a:xfrm>
            <a:off x="1431285" y="1113426"/>
            <a:ext cx="8783359" cy="4818647"/>
            <a:chOff x="1588294" y="896542"/>
            <a:chExt cx="6288881" cy="3415902"/>
          </a:xfrm>
        </p:grpSpPr>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294" y="1168004"/>
              <a:ext cx="6288881" cy="314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Oval 3"/>
            <p:cNvSpPr>
              <a:spLocks noChangeArrowheads="1"/>
            </p:cNvSpPr>
            <p:nvPr/>
          </p:nvSpPr>
          <p:spPr bwMode="auto">
            <a:xfrm>
              <a:off x="5887641" y="2246710"/>
              <a:ext cx="760809"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68" name="Oval 4"/>
            <p:cNvSpPr>
              <a:spLocks noChangeArrowheads="1"/>
            </p:cNvSpPr>
            <p:nvPr/>
          </p:nvSpPr>
          <p:spPr bwMode="auto">
            <a:xfrm>
              <a:off x="3401616" y="896542"/>
              <a:ext cx="762000"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0" name="Line 6"/>
            <p:cNvSpPr>
              <a:spLocks noChangeShapeType="1"/>
            </p:cNvSpPr>
            <p:nvPr/>
          </p:nvSpPr>
          <p:spPr bwMode="auto">
            <a:xfrm flipH="1">
              <a:off x="3577829" y="1113235"/>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1" name="Arc 7"/>
            <p:cNvSpPr/>
            <p:nvPr/>
          </p:nvSpPr>
          <p:spPr bwMode="auto">
            <a:xfrm rot="10800000" flipH="1" flipV="1">
              <a:off x="3577828" y="1275160"/>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2" name="Line 8"/>
            <p:cNvSpPr>
              <a:spLocks noChangeShapeType="1"/>
            </p:cNvSpPr>
            <p:nvPr/>
          </p:nvSpPr>
          <p:spPr bwMode="auto">
            <a:xfrm flipH="1">
              <a:off x="6035279" y="2463404"/>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3" name="Arc 9"/>
            <p:cNvSpPr/>
            <p:nvPr/>
          </p:nvSpPr>
          <p:spPr bwMode="auto">
            <a:xfrm rot="10800000" flipH="1" flipV="1">
              <a:off x="6035278" y="2625329"/>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4" name="Oval 10"/>
            <p:cNvSpPr>
              <a:spLocks noChangeArrowheads="1"/>
            </p:cNvSpPr>
            <p:nvPr/>
          </p:nvSpPr>
          <p:spPr bwMode="auto">
            <a:xfrm>
              <a:off x="5214938" y="3436144"/>
              <a:ext cx="760810" cy="64889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5" name="Line 11"/>
            <p:cNvSpPr>
              <a:spLocks noChangeShapeType="1"/>
            </p:cNvSpPr>
            <p:nvPr/>
          </p:nvSpPr>
          <p:spPr bwMode="auto">
            <a:xfrm>
              <a:off x="5449491" y="3598069"/>
              <a:ext cx="291703"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6" name="Arc 12"/>
            <p:cNvSpPr/>
            <p:nvPr/>
          </p:nvSpPr>
          <p:spPr bwMode="auto">
            <a:xfrm rot="10800000" flipV="1">
              <a:off x="5650707" y="3759994"/>
              <a:ext cx="116681" cy="21669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11277" name="Rectangle 13"/>
          <p:cNvSpPr>
            <a:spLocks noChangeArrowheads="1"/>
          </p:cNvSpPr>
          <p:nvPr/>
        </p:nvSpPr>
        <p:spPr bwMode="auto">
          <a:xfrm>
            <a:off x="7028329" y="1196977"/>
            <a:ext cx="4671892" cy="88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b="0" dirty="0">
                <a:solidFill>
                  <a:prstClr val="black"/>
                </a:solidFill>
                <a:latin typeface="Calibri" panose="020F0702030404030204" pitchFamily="34" charset="0"/>
                <a:cs typeface="Calibri" panose="020F0702030404030204" pitchFamily="34" charset="0"/>
              </a:rPr>
              <a:t>Can’t just join wires together</a:t>
            </a:r>
          </a:p>
          <a:p>
            <a:pPr marL="990575" lvl="1" indent="-380990" defTabSz="1219170">
              <a:buClr>
                <a:srgbClr val="8064A2"/>
              </a:buClr>
              <a:buFont typeface="Wingdings" panose="05000000000000000000" pitchFamily="2" charset="2"/>
              <a:buChar char="Ø"/>
            </a:pPr>
            <a:r>
              <a:rPr lang="en-AU" altLang="zh-TW" sz="2133" b="0" dirty="0">
                <a:solidFill>
                  <a:prstClr val="black"/>
                </a:solidFill>
                <a:latin typeface="Calibri" panose="020F0702030404030204" pitchFamily="34" charset="0"/>
                <a:ea typeface="新細明體" panose="02020500000000000000" pitchFamily="18" charset="-120"/>
                <a:cs typeface="Calibri" panose="020F0702030404030204" pitchFamily="34" charset="0"/>
              </a:rPr>
              <a:t>Must use multiplexers</a:t>
            </a:r>
          </a:p>
        </p:txBody>
      </p:sp>
      <p:sp>
        <p:nvSpPr>
          <p:cNvPr id="1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16</a:t>
            </a:fld>
            <a:endParaRPr lang="zh-TW" altLang="en-US">
              <a:solidFill>
                <a:prstClr val="whit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title"/>
          </p:nvPr>
        </p:nvSpPr>
        <p:spPr>
          <a:xfrm>
            <a:off x="1362636" y="194663"/>
            <a:ext cx="8943416" cy="614723"/>
          </a:xfrm>
        </p:spPr>
        <p:txBody>
          <a:bodyPr/>
          <a:lstStyle/>
          <a:p>
            <a:endParaRPr lang="en-AU" altLang="zh-TW" dirty="0">
              <a:ea typeface="新細明體" panose="02020500000000000000" pitchFamily="18" charset="-120"/>
            </a:endParaRPr>
          </a:p>
        </p:txBody>
      </p:sp>
      <p:grpSp>
        <p:nvGrpSpPr>
          <p:cNvPr id="3" name="组合 2"/>
          <p:cNvGrpSpPr/>
          <p:nvPr/>
        </p:nvGrpSpPr>
        <p:grpSpPr>
          <a:xfrm>
            <a:off x="1431285" y="1113426"/>
            <a:ext cx="8783359" cy="4818647"/>
            <a:chOff x="1588294" y="896542"/>
            <a:chExt cx="6288881" cy="3415902"/>
          </a:xfrm>
        </p:grpSpPr>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294" y="1168004"/>
              <a:ext cx="6288881" cy="314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Oval 3"/>
            <p:cNvSpPr>
              <a:spLocks noChangeArrowheads="1"/>
            </p:cNvSpPr>
            <p:nvPr/>
          </p:nvSpPr>
          <p:spPr bwMode="auto">
            <a:xfrm>
              <a:off x="5887641" y="2246710"/>
              <a:ext cx="760809"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68" name="Oval 4"/>
            <p:cNvSpPr>
              <a:spLocks noChangeArrowheads="1"/>
            </p:cNvSpPr>
            <p:nvPr/>
          </p:nvSpPr>
          <p:spPr bwMode="auto">
            <a:xfrm>
              <a:off x="3401616" y="896542"/>
              <a:ext cx="762000"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0" name="Line 6"/>
            <p:cNvSpPr>
              <a:spLocks noChangeShapeType="1"/>
            </p:cNvSpPr>
            <p:nvPr/>
          </p:nvSpPr>
          <p:spPr bwMode="auto">
            <a:xfrm flipH="1">
              <a:off x="3577829" y="1113235"/>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1" name="Arc 7"/>
            <p:cNvSpPr/>
            <p:nvPr/>
          </p:nvSpPr>
          <p:spPr bwMode="auto">
            <a:xfrm rot="10800000" flipH="1" flipV="1">
              <a:off x="3577828" y="1275160"/>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2" name="Line 8"/>
            <p:cNvSpPr>
              <a:spLocks noChangeShapeType="1"/>
            </p:cNvSpPr>
            <p:nvPr/>
          </p:nvSpPr>
          <p:spPr bwMode="auto">
            <a:xfrm flipH="1">
              <a:off x="6035279" y="2463404"/>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3" name="Arc 9"/>
            <p:cNvSpPr/>
            <p:nvPr/>
          </p:nvSpPr>
          <p:spPr bwMode="auto">
            <a:xfrm rot="10800000" flipH="1" flipV="1">
              <a:off x="6035278" y="2625329"/>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4" name="Oval 10"/>
            <p:cNvSpPr>
              <a:spLocks noChangeArrowheads="1"/>
            </p:cNvSpPr>
            <p:nvPr/>
          </p:nvSpPr>
          <p:spPr bwMode="auto">
            <a:xfrm>
              <a:off x="5214938" y="3436144"/>
              <a:ext cx="760810" cy="64889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5" name="Line 11"/>
            <p:cNvSpPr>
              <a:spLocks noChangeShapeType="1"/>
            </p:cNvSpPr>
            <p:nvPr/>
          </p:nvSpPr>
          <p:spPr bwMode="auto">
            <a:xfrm>
              <a:off x="5449491" y="3598069"/>
              <a:ext cx="291703"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6" name="Arc 12"/>
            <p:cNvSpPr/>
            <p:nvPr/>
          </p:nvSpPr>
          <p:spPr bwMode="auto">
            <a:xfrm rot="10800000" flipV="1">
              <a:off x="5650707" y="3759994"/>
              <a:ext cx="116681" cy="21669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11277" name="Rectangle 13"/>
          <p:cNvSpPr>
            <a:spLocks noChangeArrowheads="1"/>
          </p:cNvSpPr>
          <p:nvPr/>
        </p:nvSpPr>
        <p:spPr bwMode="auto">
          <a:xfrm>
            <a:off x="7028329" y="1196977"/>
            <a:ext cx="4671892" cy="88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b="0" dirty="0">
                <a:solidFill>
                  <a:prstClr val="black"/>
                </a:solidFill>
                <a:latin typeface="Calibri" panose="020F0702030404030204" pitchFamily="34" charset="0"/>
                <a:cs typeface="Calibri" panose="020F0702030404030204" pitchFamily="34" charset="0"/>
              </a:rPr>
              <a:t>Can’t just join wires together</a:t>
            </a:r>
          </a:p>
          <a:p>
            <a:pPr marL="990575" lvl="1" indent="-380990" defTabSz="1219170">
              <a:buClr>
                <a:srgbClr val="8064A2"/>
              </a:buClr>
              <a:buFont typeface="Wingdings" panose="05000000000000000000" pitchFamily="2" charset="2"/>
              <a:buChar char="Ø"/>
            </a:pPr>
            <a:r>
              <a:rPr lang="en-AU" altLang="zh-TW" sz="2133" b="0" dirty="0">
                <a:solidFill>
                  <a:prstClr val="black"/>
                </a:solidFill>
                <a:latin typeface="Calibri" panose="020F0702030404030204" pitchFamily="34" charset="0"/>
                <a:ea typeface="新細明體" panose="02020500000000000000" pitchFamily="18" charset="-120"/>
                <a:cs typeface="Calibri" panose="020F0702030404030204" pitchFamily="34" charset="0"/>
              </a:rPr>
              <a:t>Must use multiplexers</a:t>
            </a:r>
          </a:p>
        </p:txBody>
      </p:sp>
      <p:sp>
        <p:nvSpPr>
          <p:cNvPr id="1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17</a:t>
            </a:fld>
            <a:endParaRPr lang="zh-TW" altLang="en-US">
              <a:solidFill>
                <a:prstClr val="white"/>
              </a:solidFill>
            </a:endParaRPr>
          </a:p>
        </p:txBody>
      </p:sp>
      <p:sp>
        <p:nvSpPr>
          <p:cNvPr id="2" name="TextBox 1">
            <a:extLst>
              <a:ext uri="{FF2B5EF4-FFF2-40B4-BE49-F238E27FC236}">
                <a16:creationId xmlns:a16="http://schemas.microsoft.com/office/drawing/2014/main" id="{82574A22-E74A-42C2-81AB-683093E44A65}"/>
              </a:ext>
            </a:extLst>
          </p:cNvPr>
          <p:cNvSpPr txBox="1"/>
          <p:nvPr/>
        </p:nvSpPr>
        <p:spPr>
          <a:xfrm>
            <a:off x="6717619" y="2209357"/>
            <a:ext cx="3127779"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What are these data?</a:t>
            </a:r>
          </a:p>
        </p:txBody>
      </p:sp>
      <p:cxnSp>
        <p:nvCxnSpPr>
          <p:cNvPr id="5" name="Straight Arrow Connector 4">
            <a:extLst>
              <a:ext uri="{FF2B5EF4-FFF2-40B4-BE49-F238E27FC236}">
                <a16:creationId xmlns:a16="http://schemas.microsoft.com/office/drawing/2014/main" id="{C81ACF4B-1DFE-4082-A8B7-60D8F8F875F1}"/>
              </a:ext>
            </a:extLst>
          </p:cNvPr>
          <p:cNvCxnSpPr>
            <a:stCxn id="2" idx="1"/>
          </p:cNvCxnSpPr>
          <p:nvPr/>
        </p:nvCxnSpPr>
        <p:spPr bwMode="auto">
          <a:xfrm flipH="1">
            <a:off x="4535893" y="2440190"/>
            <a:ext cx="2181726" cy="730694"/>
          </a:xfrm>
          <a:prstGeom prst="straightConnector1">
            <a:avLst/>
          </a:prstGeom>
          <a:noFill/>
          <a:ln w="15875" cap="flat" cmpd="sng" algn="ctr">
            <a:solidFill>
              <a:srgbClr val="FF0000"/>
            </a:solidFill>
            <a:prstDash val="solid"/>
            <a:round/>
            <a:headEnd type="none" w="lg" len="lg"/>
            <a:tailEnd type="stealth" w="lg" len="lg"/>
          </a:ln>
          <a:effectLst/>
        </p:spPr>
      </p:cxnSp>
      <p:cxnSp>
        <p:nvCxnSpPr>
          <p:cNvPr id="7" name="Straight Arrow Connector 6">
            <a:extLst>
              <a:ext uri="{FF2B5EF4-FFF2-40B4-BE49-F238E27FC236}">
                <a16:creationId xmlns:a16="http://schemas.microsoft.com/office/drawing/2014/main" id="{7C354931-126A-43E4-A2B5-3838E14126A4}"/>
              </a:ext>
            </a:extLst>
          </p:cNvPr>
          <p:cNvCxnSpPr/>
          <p:nvPr/>
        </p:nvCxnSpPr>
        <p:spPr bwMode="auto">
          <a:xfrm flipH="1">
            <a:off x="6096000" y="2456101"/>
            <a:ext cx="621619" cy="3368309"/>
          </a:xfrm>
          <a:prstGeom prst="straightConnector1">
            <a:avLst/>
          </a:prstGeom>
          <a:noFill/>
          <a:ln w="15875" cap="flat" cmpd="sng" algn="ctr">
            <a:solidFill>
              <a:srgbClr val="FF0000"/>
            </a:solidFill>
            <a:prstDash val="solid"/>
            <a:round/>
            <a:headEnd type="none" w="lg" len="lg"/>
            <a:tailEnd type="stealth" w="lg" len="lg"/>
          </a:ln>
          <a:effectLst/>
        </p:spPr>
      </p:cxnSp>
      <p:sp>
        <p:nvSpPr>
          <p:cNvPr id="19" name="TextBox 18">
            <a:extLst>
              <a:ext uri="{FF2B5EF4-FFF2-40B4-BE49-F238E27FC236}">
                <a16:creationId xmlns:a16="http://schemas.microsoft.com/office/drawing/2014/main" id="{7758F8E6-1C25-4CCC-A746-7F423E533286}"/>
              </a:ext>
            </a:extLst>
          </p:cNvPr>
          <p:cNvSpPr txBox="1"/>
          <p:nvPr/>
        </p:nvSpPr>
        <p:spPr>
          <a:xfrm>
            <a:off x="8874926" y="2731012"/>
            <a:ext cx="1760418" cy="461665"/>
          </a:xfrm>
          <a:prstGeom prst="rect">
            <a:avLst/>
          </a:prstGeom>
          <a:solidFill>
            <a:srgbClr val="FFFF00"/>
          </a:solidFill>
          <a:ln>
            <a:solidFill>
              <a:srgbClr val="FF0000"/>
            </a:solidFill>
          </a:ln>
        </p:spPr>
        <p:txBody>
          <a:bodyPr wrap="none" rtlCol="0" anchor="ctr" anchorCtr="1">
            <a:spAutoFit/>
          </a:bodyPr>
          <a:lstStyle/>
          <a:p>
            <a:r>
              <a:rPr lang="en-US" sz="2400" dirty="0" err="1">
                <a:ea typeface="標楷體" pitchFamily="65" charset="-120"/>
                <a:cs typeface="Calibri" pitchFamily="34" charset="0"/>
              </a:rPr>
              <a:t>immediates</a:t>
            </a:r>
            <a:endParaRPr lang="en-US" sz="2400" dirty="0">
              <a:ea typeface="標楷體" pitchFamily="65" charset="-120"/>
              <a:cs typeface="Calibri" pitchFamily="34" charset="0"/>
            </a:endParaRPr>
          </a:p>
        </p:txBody>
      </p:sp>
    </p:spTree>
    <p:extLst>
      <p:ext uri="{BB962C8B-B14F-4D97-AF65-F5344CB8AC3E}">
        <p14:creationId xmlns:p14="http://schemas.microsoft.com/office/powerpoint/2010/main" val="174223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4965" y="1105048"/>
            <a:ext cx="7203532" cy="500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p:cNvSpPr>
            <a:spLocks noGrp="1" noChangeArrowheads="1"/>
          </p:cNvSpPr>
          <p:nvPr>
            <p:ph type="title"/>
          </p:nvPr>
        </p:nvSpPr>
        <p:spPr>
          <a:xfrm>
            <a:off x="1311409" y="58739"/>
            <a:ext cx="8994643" cy="901700"/>
          </a:xfrm>
        </p:spPr>
        <p:txBody>
          <a:bodyPr/>
          <a:lstStyle/>
          <a:p>
            <a:r>
              <a:rPr lang="en-US" altLang="zh-TW" dirty="0"/>
              <a:t>Control</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18</a:t>
            </a:fld>
            <a:endParaRPr lang="zh-TW" altLang="en-US">
              <a:solidFill>
                <a:prstClr val="whit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4965" y="966273"/>
            <a:ext cx="7203532" cy="500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p:cNvSpPr>
            <a:spLocks noGrp="1" noChangeArrowheads="1"/>
          </p:cNvSpPr>
          <p:nvPr>
            <p:ph type="title"/>
          </p:nvPr>
        </p:nvSpPr>
        <p:spPr>
          <a:xfrm>
            <a:off x="1311409" y="58739"/>
            <a:ext cx="8994643" cy="901700"/>
          </a:xfrm>
        </p:spPr>
        <p:txBody>
          <a:bodyPr/>
          <a:lstStyle/>
          <a:p>
            <a:r>
              <a:rPr lang="en-US" altLang="zh-TW" dirty="0"/>
              <a:t>Control Signals</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19</a:t>
            </a:fld>
            <a:endParaRPr lang="zh-TW" altLang="en-US">
              <a:solidFill>
                <a:prstClr val="white"/>
              </a:solidFill>
            </a:endParaRPr>
          </a:p>
        </p:txBody>
      </p:sp>
      <p:sp>
        <p:nvSpPr>
          <p:cNvPr id="2" name="TextBox 1">
            <a:extLst>
              <a:ext uri="{FF2B5EF4-FFF2-40B4-BE49-F238E27FC236}">
                <a16:creationId xmlns:a16="http://schemas.microsoft.com/office/drawing/2014/main" id="{DB87C510-0090-4D00-AF2A-1A16A1FDFB99}"/>
              </a:ext>
            </a:extLst>
          </p:cNvPr>
          <p:cNvSpPr txBox="1"/>
          <p:nvPr/>
        </p:nvSpPr>
        <p:spPr>
          <a:xfrm>
            <a:off x="479289" y="1139309"/>
            <a:ext cx="332655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PC+4 or </a:t>
            </a:r>
            <a:r>
              <a:rPr lang="en-US" dirty="0" err="1">
                <a:ea typeface="標楷體" pitchFamily="65" charset="-120"/>
                <a:cs typeface="Calibri" pitchFamily="34" charset="0"/>
              </a:rPr>
              <a:t>PC+immediate</a:t>
            </a:r>
            <a:endParaRPr lang="en-US" dirty="0">
              <a:ea typeface="標楷體" pitchFamily="65" charset="-120"/>
              <a:cs typeface="Calibri" pitchFamily="34" charset="0"/>
            </a:endParaRPr>
          </a:p>
        </p:txBody>
      </p:sp>
      <p:cxnSp>
        <p:nvCxnSpPr>
          <p:cNvPr id="4" name="Straight Arrow Connector 3">
            <a:extLst>
              <a:ext uri="{FF2B5EF4-FFF2-40B4-BE49-F238E27FC236}">
                <a16:creationId xmlns:a16="http://schemas.microsoft.com/office/drawing/2014/main" id="{5696D335-689C-49BA-B183-695303260730}"/>
              </a:ext>
            </a:extLst>
          </p:cNvPr>
          <p:cNvCxnSpPr>
            <a:stCxn id="2" idx="3"/>
          </p:cNvCxnSpPr>
          <p:nvPr/>
        </p:nvCxnSpPr>
        <p:spPr bwMode="auto">
          <a:xfrm>
            <a:off x="3805841" y="1323975"/>
            <a:ext cx="213709" cy="276225"/>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E4E78DEB-23AD-4C24-A864-7AD771E3D427}"/>
              </a:ext>
            </a:extLst>
          </p:cNvPr>
          <p:cNvSpPr txBox="1"/>
          <p:nvPr/>
        </p:nvSpPr>
        <p:spPr>
          <a:xfrm>
            <a:off x="5743328" y="1462087"/>
            <a:ext cx="203139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ALU output</a:t>
            </a:r>
          </a:p>
          <a:p>
            <a:r>
              <a:rPr lang="en-US" dirty="0">
                <a:ea typeface="標楷體" pitchFamily="65" charset="-120"/>
                <a:cs typeface="Calibri" pitchFamily="34" charset="0"/>
              </a:rPr>
              <a:t>or memory</a:t>
            </a:r>
          </a:p>
        </p:txBody>
      </p:sp>
      <p:cxnSp>
        <p:nvCxnSpPr>
          <p:cNvPr id="9" name="Straight Arrow Connector 8">
            <a:extLst>
              <a:ext uri="{FF2B5EF4-FFF2-40B4-BE49-F238E27FC236}">
                <a16:creationId xmlns:a16="http://schemas.microsoft.com/office/drawing/2014/main" id="{84FAD9B6-DCFF-458B-84B4-3E6DA1D17006}"/>
              </a:ext>
            </a:extLst>
          </p:cNvPr>
          <p:cNvCxnSpPr>
            <a:cxnSpLocks/>
          </p:cNvCxnSpPr>
          <p:nvPr/>
        </p:nvCxnSpPr>
        <p:spPr bwMode="auto">
          <a:xfrm>
            <a:off x="6652168" y="2110771"/>
            <a:ext cx="0" cy="280004"/>
          </a:xfrm>
          <a:prstGeom prst="straightConnector1">
            <a:avLst/>
          </a:prstGeom>
          <a:noFill/>
          <a:ln w="15875" cap="flat" cmpd="sng" algn="ctr">
            <a:solidFill>
              <a:srgbClr val="FF0000"/>
            </a:solidFill>
            <a:prstDash val="solid"/>
            <a:round/>
            <a:headEnd type="none" w="med" len="med"/>
            <a:tailEnd type="triangle"/>
          </a:ln>
          <a:effectLst/>
        </p:spPr>
      </p:cxnSp>
      <p:sp>
        <p:nvSpPr>
          <p:cNvPr id="11" name="TextBox 10">
            <a:extLst>
              <a:ext uri="{FF2B5EF4-FFF2-40B4-BE49-F238E27FC236}">
                <a16:creationId xmlns:a16="http://schemas.microsoft.com/office/drawing/2014/main" id="{A9CD07B8-7B4B-4CC9-87BD-6EC176920859}"/>
              </a:ext>
            </a:extLst>
          </p:cNvPr>
          <p:cNvSpPr txBox="1"/>
          <p:nvPr/>
        </p:nvSpPr>
        <p:spPr>
          <a:xfrm>
            <a:off x="6855190" y="4980100"/>
            <a:ext cx="217239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register data</a:t>
            </a:r>
          </a:p>
          <a:p>
            <a:r>
              <a:rPr lang="en-US" dirty="0">
                <a:ea typeface="標楷體" pitchFamily="65" charset="-120"/>
                <a:cs typeface="Calibri" pitchFamily="34" charset="0"/>
              </a:rPr>
              <a:t>or </a:t>
            </a:r>
            <a:r>
              <a:rPr lang="en-US" dirty="0" err="1">
                <a:ea typeface="標楷體" pitchFamily="65" charset="-120"/>
                <a:cs typeface="Calibri" pitchFamily="34" charset="0"/>
              </a:rPr>
              <a:t>immediates</a:t>
            </a:r>
            <a:endParaRPr lang="en-US" dirty="0">
              <a:ea typeface="標楷體" pitchFamily="65" charset="-120"/>
              <a:cs typeface="Calibri" pitchFamily="34" charset="0"/>
            </a:endParaRPr>
          </a:p>
        </p:txBody>
      </p:sp>
      <p:cxnSp>
        <p:nvCxnSpPr>
          <p:cNvPr id="12" name="Straight Arrow Connector 11">
            <a:extLst>
              <a:ext uri="{FF2B5EF4-FFF2-40B4-BE49-F238E27FC236}">
                <a16:creationId xmlns:a16="http://schemas.microsoft.com/office/drawing/2014/main" id="{472AD762-4770-450D-BF0E-3B133E530053}"/>
              </a:ext>
            </a:extLst>
          </p:cNvPr>
          <p:cNvCxnSpPr>
            <a:cxnSpLocks/>
            <a:stCxn id="11" idx="0"/>
          </p:cNvCxnSpPr>
          <p:nvPr/>
        </p:nvCxnSpPr>
        <p:spPr bwMode="auto">
          <a:xfrm flipH="1" flipV="1">
            <a:off x="6759023" y="4419600"/>
            <a:ext cx="1182362" cy="560500"/>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25330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9937" y="58739"/>
            <a:ext cx="9056115" cy="901700"/>
          </a:xfrm>
        </p:spPr>
        <p:txBody>
          <a:bodyPr/>
          <a:lstStyle/>
          <a:p>
            <a:r>
              <a:rPr lang="en-US" altLang="zh-TW" dirty="0"/>
              <a:t>Logic Design Basics</a:t>
            </a:r>
            <a:endParaRPr lang="en-AU" altLang="zh-TW" dirty="0">
              <a:ea typeface="新細明體" panose="02020500000000000000" pitchFamily="18" charset="-120"/>
            </a:endParaRPr>
          </a:p>
        </p:txBody>
      </p:sp>
      <p:sp>
        <p:nvSpPr>
          <p:cNvPr id="13315" name="Rectangle 4"/>
          <p:cNvSpPr>
            <a:spLocks noGrp="1" noChangeArrowheads="1"/>
          </p:cNvSpPr>
          <p:nvPr>
            <p:ph type="body" idx="1"/>
          </p:nvPr>
        </p:nvSpPr>
        <p:spPr>
          <a:xfrm>
            <a:off x="439271" y="981074"/>
            <a:ext cx="11421035" cy="5204573"/>
          </a:xfrm>
        </p:spPr>
        <p:txBody>
          <a:bodyPr/>
          <a:lstStyle/>
          <a:p>
            <a:r>
              <a:rPr lang="en-US" altLang="zh-TW" sz="3000" dirty="0">
                <a:solidFill>
                  <a:srgbClr val="FF0000"/>
                </a:solidFill>
              </a:rPr>
              <a:t>IF you have no background on logic designs, please read Appendix A</a:t>
            </a:r>
          </a:p>
          <a:p>
            <a:r>
              <a:rPr lang="en-US" altLang="zh-TW" sz="3000" dirty="0"/>
              <a:t>Information encoded in binary</a:t>
            </a:r>
          </a:p>
          <a:p>
            <a:pPr lvl="1"/>
            <a:r>
              <a:rPr lang="en-US" altLang="zh-TW" sz="2400" dirty="0"/>
              <a:t>Low voltage = 0, High voltage = 1</a:t>
            </a:r>
          </a:p>
          <a:p>
            <a:pPr lvl="1"/>
            <a:r>
              <a:rPr lang="en-US" altLang="zh-TW" sz="2400" dirty="0"/>
              <a:t>One wire per bit</a:t>
            </a:r>
          </a:p>
          <a:p>
            <a:pPr lvl="1"/>
            <a:r>
              <a:rPr lang="en-US" altLang="zh-TW" sz="2400" dirty="0"/>
              <a:t>Multi-bit data encoded on multi-wire buses</a:t>
            </a:r>
          </a:p>
          <a:p>
            <a:r>
              <a:rPr lang="en-US" altLang="zh-TW" sz="3000" dirty="0"/>
              <a:t>Combinational element</a:t>
            </a:r>
          </a:p>
          <a:p>
            <a:pPr lvl="1"/>
            <a:r>
              <a:rPr lang="en-US" altLang="zh-TW" sz="2400" dirty="0"/>
              <a:t>Operate on data</a:t>
            </a:r>
          </a:p>
          <a:p>
            <a:pPr lvl="1"/>
            <a:r>
              <a:rPr lang="en-US" altLang="zh-TW" sz="2400" dirty="0"/>
              <a:t>Output is a function of input</a:t>
            </a:r>
          </a:p>
          <a:p>
            <a:r>
              <a:rPr lang="en-US" altLang="zh-TW" sz="3000" dirty="0"/>
              <a:t>State (sequential) elements</a:t>
            </a:r>
          </a:p>
          <a:p>
            <a:pPr lvl="1"/>
            <a:r>
              <a:rPr lang="en-US" altLang="zh-TW" sz="2400" dirty="0"/>
              <a:t>Store information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20</a:t>
            </a:fld>
            <a:endParaRPr lang="zh-TW" altLang="en-US">
              <a:solidFill>
                <a:prstClr val="whit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9937" y="58739"/>
            <a:ext cx="9056115" cy="901700"/>
          </a:xfrm>
        </p:spPr>
        <p:txBody>
          <a:bodyPr/>
          <a:lstStyle/>
          <a:p>
            <a:r>
              <a:rPr lang="en-US" altLang="zh-TW" dirty="0"/>
              <a:t>Logic Design Basics</a:t>
            </a:r>
            <a:endParaRPr lang="en-AU" altLang="zh-TW" dirty="0">
              <a:ea typeface="新細明體" panose="02020500000000000000" pitchFamily="18" charset="-120"/>
            </a:endParaRPr>
          </a:p>
        </p:txBody>
      </p:sp>
      <p:sp>
        <p:nvSpPr>
          <p:cNvPr id="13315" name="Rectangle 4"/>
          <p:cNvSpPr>
            <a:spLocks noGrp="1" noChangeArrowheads="1"/>
          </p:cNvSpPr>
          <p:nvPr>
            <p:ph type="body" idx="1"/>
          </p:nvPr>
        </p:nvSpPr>
        <p:spPr>
          <a:xfrm>
            <a:off x="996949" y="981074"/>
            <a:ext cx="10955867" cy="5081419"/>
          </a:xfrm>
        </p:spPr>
        <p:txBody>
          <a:bodyPr/>
          <a:lstStyle/>
          <a:p>
            <a:r>
              <a:rPr lang="en-US" altLang="zh-TW" dirty="0"/>
              <a:t>Information encoded in binary</a:t>
            </a:r>
          </a:p>
          <a:p>
            <a:pPr lvl="1"/>
            <a:r>
              <a:rPr lang="en-US" altLang="zh-TW" sz="2800" dirty="0"/>
              <a:t>Low voltage = 0, High voltage = 1</a:t>
            </a:r>
          </a:p>
          <a:p>
            <a:pPr lvl="1"/>
            <a:r>
              <a:rPr lang="en-US" altLang="zh-TW" sz="2800" dirty="0"/>
              <a:t>One wire per bit</a:t>
            </a:r>
          </a:p>
          <a:p>
            <a:pPr lvl="1"/>
            <a:r>
              <a:rPr lang="en-US" altLang="zh-TW" sz="2800" dirty="0"/>
              <a:t>Multi-bit data encoded on multi-wire buses</a:t>
            </a:r>
          </a:p>
          <a:p>
            <a:r>
              <a:rPr lang="en-US" altLang="zh-TW" dirty="0"/>
              <a:t>Combinational element</a:t>
            </a:r>
          </a:p>
          <a:p>
            <a:pPr lvl="1"/>
            <a:r>
              <a:rPr lang="en-US" altLang="zh-TW" sz="2800" dirty="0"/>
              <a:t>Operate on data</a:t>
            </a:r>
          </a:p>
          <a:p>
            <a:pPr lvl="1"/>
            <a:r>
              <a:rPr lang="en-US" altLang="zh-TW" sz="2800" dirty="0"/>
              <a:t>Output is a function of input</a:t>
            </a:r>
          </a:p>
          <a:p>
            <a:r>
              <a:rPr lang="en-US" altLang="zh-TW" dirty="0"/>
              <a:t>State (sequential) elements</a:t>
            </a:r>
          </a:p>
          <a:p>
            <a:pPr lvl="1"/>
            <a:r>
              <a:rPr lang="en-US" altLang="zh-TW" sz="2800" dirty="0"/>
              <a:t>Store information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21</a:t>
            </a:fld>
            <a:endParaRPr lang="zh-TW" altLang="en-US">
              <a:solidFill>
                <a:prstClr val="white"/>
              </a:solidFill>
            </a:endParaRPr>
          </a:p>
        </p:txBody>
      </p:sp>
      <p:sp>
        <p:nvSpPr>
          <p:cNvPr id="2" name="文本框 1"/>
          <p:cNvSpPr txBox="1"/>
          <p:nvPr/>
        </p:nvSpPr>
        <p:spPr>
          <a:xfrm>
            <a:off x="7020983" y="3415410"/>
            <a:ext cx="4174067" cy="1200329"/>
          </a:xfrm>
          <a:prstGeom prst="rect">
            <a:avLst/>
          </a:prstGeom>
          <a:noFill/>
        </p:spPr>
        <p:txBody>
          <a:bodyPr wrap="square" rtlCol="0" anchor="ctr" anchorCtr="1">
            <a:spAutoFit/>
          </a:bodyPr>
          <a:lstStyle/>
          <a:p>
            <a:pPr defTabSz="1219170"/>
            <a:r>
              <a:rPr lang="en-US" altLang="zh-CN" sz="2400" dirty="0">
                <a:solidFill>
                  <a:srgbClr val="C00000"/>
                </a:solidFill>
                <a:latin typeface="Arial"/>
                <a:ea typeface="標楷體" panose="02010601000101010101" pitchFamily="65" charset="-120"/>
                <a:cs typeface="Calibri" panose="020F0702030404030204" pitchFamily="34" charset="0"/>
              </a:rPr>
              <a:t>What is the difference between </a:t>
            </a:r>
            <a:r>
              <a:rPr lang="en-US" altLang="zh-CN" sz="2400" dirty="0">
                <a:solidFill>
                  <a:srgbClr val="0070C0"/>
                </a:solidFill>
                <a:latin typeface="Arial"/>
                <a:ea typeface="標楷體" panose="02010601000101010101" pitchFamily="65" charset="-120"/>
                <a:cs typeface="Calibri" panose="020F0702030404030204" pitchFamily="34" charset="0"/>
              </a:rPr>
              <a:t>combinational</a:t>
            </a:r>
            <a:r>
              <a:rPr lang="en-US" altLang="zh-CN" sz="2400" dirty="0">
                <a:solidFill>
                  <a:srgbClr val="C00000"/>
                </a:solidFill>
                <a:latin typeface="Arial"/>
                <a:ea typeface="標楷體" panose="02010601000101010101" pitchFamily="65" charset="-120"/>
                <a:cs typeface="Calibri" panose="020F0702030404030204" pitchFamily="34" charset="0"/>
              </a:rPr>
              <a:t> logic and </a:t>
            </a:r>
            <a:r>
              <a:rPr lang="en-US" altLang="zh-CN" sz="2400" dirty="0">
                <a:solidFill>
                  <a:srgbClr val="0070C0"/>
                </a:solidFill>
                <a:latin typeface="Arial"/>
                <a:ea typeface="標楷體" panose="02010601000101010101" pitchFamily="65" charset="-120"/>
                <a:cs typeface="Calibri" panose="020F0702030404030204" pitchFamily="34" charset="0"/>
              </a:rPr>
              <a:t>sequential</a:t>
            </a:r>
            <a:r>
              <a:rPr lang="en-US" altLang="zh-CN" sz="2400" dirty="0">
                <a:solidFill>
                  <a:srgbClr val="C00000"/>
                </a:solidFill>
                <a:latin typeface="Arial"/>
                <a:ea typeface="標楷體" panose="02010601000101010101" pitchFamily="65" charset="-120"/>
                <a:cs typeface="Calibri" panose="020F0702030404030204" pitchFamily="34" charset="0"/>
              </a:rPr>
              <a:t> logic?</a:t>
            </a:r>
          </a:p>
        </p:txBody>
      </p:sp>
      <p:sp>
        <p:nvSpPr>
          <p:cNvPr id="6" name="文本框 1">
            <a:extLst>
              <a:ext uri="{FF2B5EF4-FFF2-40B4-BE49-F238E27FC236}">
                <a16:creationId xmlns:a16="http://schemas.microsoft.com/office/drawing/2014/main" id="{A70520EC-1FB2-4992-B374-A1EBE328A59F}"/>
              </a:ext>
            </a:extLst>
          </p:cNvPr>
          <p:cNvSpPr txBox="1"/>
          <p:nvPr/>
        </p:nvSpPr>
        <p:spPr>
          <a:xfrm>
            <a:off x="7072010" y="4739054"/>
            <a:ext cx="4880807" cy="1323439"/>
          </a:xfrm>
          <a:prstGeom prst="rect">
            <a:avLst/>
          </a:prstGeom>
          <a:solidFill>
            <a:srgbClr val="FFFF00"/>
          </a:solidFill>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One is </a:t>
            </a:r>
            <a:r>
              <a:rPr lang="en-US" altLang="zh-CN" sz="2000" b="1" dirty="0">
                <a:solidFill>
                  <a:srgbClr val="C00000"/>
                </a:solidFill>
                <a:latin typeface="Arial"/>
                <a:ea typeface="標楷體" panose="02010601000101010101" pitchFamily="65" charset="-120"/>
                <a:cs typeface="Calibri" panose="020F0702030404030204" pitchFamily="34" charset="0"/>
              </a:rPr>
              <a:t>stateless</a:t>
            </a:r>
            <a:r>
              <a:rPr lang="en-US" altLang="zh-CN" sz="2000" dirty="0">
                <a:solidFill>
                  <a:srgbClr val="C00000"/>
                </a:solidFill>
                <a:latin typeface="Arial"/>
                <a:ea typeface="標楷體" panose="02010601000101010101" pitchFamily="65" charset="-120"/>
                <a:cs typeface="Calibri" panose="020F0702030404030204" pitchFamily="34" charset="0"/>
              </a:rPr>
              <a:t>, output purely depends on the inputs. e.g. ALU</a:t>
            </a:r>
          </a:p>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The other has </a:t>
            </a:r>
            <a:r>
              <a:rPr lang="en-US" altLang="zh-CN" sz="2000" b="1" dirty="0">
                <a:solidFill>
                  <a:srgbClr val="C00000"/>
                </a:solidFill>
                <a:latin typeface="Arial"/>
                <a:ea typeface="標楷體" panose="02010601000101010101" pitchFamily="65" charset="-120"/>
                <a:cs typeface="Calibri" panose="020F0702030404030204" pitchFamily="34" charset="0"/>
              </a:rPr>
              <a:t>states</a:t>
            </a:r>
            <a:r>
              <a:rPr lang="en-US" altLang="zh-CN" sz="2000" dirty="0">
                <a:solidFill>
                  <a:srgbClr val="C00000"/>
                </a:solidFill>
                <a:latin typeface="Arial"/>
                <a:ea typeface="標楷體" panose="02010601000101010101" pitchFamily="65" charset="-120"/>
                <a:cs typeface="Calibri" panose="020F0702030404030204" pitchFamily="34" charset="0"/>
              </a:rPr>
              <a:t>, output depends on the inputs and the states, e.g. register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321655" y="58739"/>
            <a:ext cx="8984397" cy="901700"/>
          </a:xfrm>
        </p:spPr>
        <p:txBody>
          <a:bodyPr/>
          <a:lstStyle/>
          <a:p>
            <a:r>
              <a:rPr lang="en-US" altLang="zh-TW" dirty="0"/>
              <a:t>Combinational Elements</a:t>
            </a:r>
            <a:endParaRPr lang="en-AU" altLang="zh-TW" dirty="0">
              <a:ea typeface="新細明體" panose="02020500000000000000" pitchFamily="18" charset="-120"/>
            </a:endParaRPr>
          </a:p>
        </p:txBody>
      </p:sp>
      <p:sp>
        <p:nvSpPr>
          <p:cNvPr id="14339" name="Rectangle 3"/>
          <p:cNvSpPr>
            <a:spLocks noGrp="1" noChangeArrowheads="1"/>
          </p:cNvSpPr>
          <p:nvPr>
            <p:ph type="body" idx="1"/>
          </p:nvPr>
        </p:nvSpPr>
        <p:spPr>
          <a:xfrm>
            <a:off x="1935165" y="1091963"/>
            <a:ext cx="3157537" cy="967359"/>
          </a:xfrm>
        </p:spPr>
        <p:txBody>
          <a:bodyPr/>
          <a:lstStyle/>
          <a:p>
            <a:r>
              <a:rPr lang="en-US" altLang="zh-TW" sz="2400" b="1" dirty="0"/>
              <a:t>AND-gate</a:t>
            </a:r>
          </a:p>
          <a:p>
            <a:pPr lvl="1">
              <a:buFont typeface="Arial" panose="020B0604020202090204" pitchFamily="34" charset="0"/>
              <a:buChar char="–"/>
            </a:pPr>
            <a:r>
              <a:rPr lang="en-US" altLang="zh-TW" sz="2133" b="1" dirty="0"/>
              <a:t>Y = A &amp; B</a:t>
            </a:r>
          </a:p>
        </p:txBody>
      </p:sp>
      <p:grpSp>
        <p:nvGrpSpPr>
          <p:cNvPr id="14340" name="Group 4"/>
          <p:cNvGrpSpPr/>
          <p:nvPr/>
        </p:nvGrpSpPr>
        <p:grpSpPr bwMode="auto">
          <a:xfrm>
            <a:off x="2449513" y="2218195"/>
            <a:ext cx="1850763" cy="790944"/>
            <a:chOff x="249" y="2299"/>
            <a:chExt cx="944" cy="361"/>
          </a:xfrm>
        </p:grpSpPr>
        <p:grpSp>
          <p:nvGrpSpPr>
            <p:cNvPr id="14393" name="Group 5"/>
            <p:cNvGrpSpPr/>
            <p:nvPr/>
          </p:nvGrpSpPr>
          <p:grpSpPr bwMode="auto">
            <a:xfrm>
              <a:off x="476" y="2387"/>
              <a:ext cx="544" cy="273"/>
              <a:chOff x="431" y="1888"/>
              <a:chExt cx="544" cy="273"/>
            </a:xfrm>
          </p:grpSpPr>
          <p:sp>
            <p:nvSpPr>
              <p:cNvPr id="14397" name="Arc 6"/>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b="1">
                  <a:solidFill>
                    <a:prstClr val="black"/>
                  </a:solidFill>
                  <a:latin typeface="Arial"/>
                  <a:ea typeface="新細明體"/>
                </a:endParaRPr>
              </a:p>
            </p:txBody>
          </p:sp>
          <p:sp>
            <p:nvSpPr>
              <p:cNvPr id="14398" name="Line 7"/>
              <p:cNvSpPr>
                <a:spLocks noChangeShapeType="1"/>
              </p:cNvSpPr>
              <p:nvPr/>
            </p:nvSpPr>
            <p:spPr bwMode="auto">
              <a:xfrm>
                <a:off x="567" y="1888"/>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99" name="Line 8"/>
              <p:cNvSpPr>
                <a:spLocks noChangeShapeType="1"/>
              </p:cNvSpPr>
              <p:nvPr/>
            </p:nvSpPr>
            <p:spPr bwMode="auto">
              <a:xfrm>
                <a:off x="567" y="1888"/>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0" name="Line 9"/>
              <p:cNvSpPr>
                <a:spLocks noChangeShapeType="1"/>
              </p:cNvSpPr>
              <p:nvPr/>
            </p:nvSpPr>
            <p:spPr bwMode="auto">
              <a:xfrm>
                <a:off x="567" y="2160"/>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1" name="Line 10"/>
              <p:cNvSpPr>
                <a:spLocks noChangeShapeType="1"/>
              </p:cNvSpPr>
              <p:nvPr/>
            </p:nvSpPr>
            <p:spPr bwMode="auto">
              <a:xfrm>
                <a:off x="431" y="1933"/>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2" name="Line 11"/>
              <p:cNvSpPr>
                <a:spLocks noChangeShapeType="1"/>
              </p:cNvSpPr>
              <p:nvPr/>
            </p:nvSpPr>
            <p:spPr bwMode="auto">
              <a:xfrm>
                <a:off x="431" y="2115"/>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3" name="Line 12"/>
              <p:cNvSpPr>
                <a:spLocks noChangeShapeType="1"/>
              </p:cNvSpPr>
              <p:nvPr/>
            </p:nvSpPr>
            <p:spPr bwMode="auto">
              <a:xfrm>
                <a:off x="839" y="2024"/>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grpSp>
        <p:sp>
          <p:nvSpPr>
            <p:cNvPr id="14394" name="Text Box 13"/>
            <p:cNvSpPr txBox="1">
              <a:spLocks noChangeArrowheads="1"/>
            </p:cNvSpPr>
            <p:nvPr/>
          </p:nvSpPr>
          <p:spPr bwMode="auto">
            <a:xfrm>
              <a:off x="249" y="2299"/>
              <a:ext cx="17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A</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95" name="Text Box 14"/>
            <p:cNvSpPr txBox="1">
              <a:spLocks noChangeArrowheads="1"/>
            </p:cNvSpPr>
            <p:nvPr/>
          </p:nvSpPr>
          <p:spPr bwMode="auto">
            <a:xfrm>
              <a:off x="249" y="2481"/>
              <a:ext cx="17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B</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96" name="Text Box 15"/>
            <p:cNvSpPr txBox="1">
              <a:spLocks noChangeArrowheads="1"/>
            </p:cNvSpPr>
            <p:nvPr/>
          </p:nvSpPr>
          <p:spPr bwMode="auto">
            <a:xfrm>
              <a:off x="1020" y="2390"/>
              <a:ext cx="17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Y</a:t>
              </a:r>
              <a:endParaRPr lang="en-AU" altLang="zh-TW" sz="1800">
                <a:solidFill>
                  <a:prstClr val="black"/>
                </a:solidFill>
                <a:latin typeface="Arial" panose="020B0604020202090204" pitchFamily="34" charset="0"/>
                <a:ea typeface="新細明體" panose="02020500000000000000" pitchFamily="18" charset="-120"/>
              </a:endParaRPr>
            </a:p>
          </p:txBody>
        </p:sp>
      </p:grpSp>
      <p:grpSp>
        <p:nvGrpSpPr>
          <p:cNvPr id="14341" name="Group 16"/>
          <p:cNvGrpSpPr/>
          <p:nvPr/>
        </p:nvGrpSpPr>
        <p:grpSpPr bwMode="auto">
          <a:xfrm>
            <a:off x="2528020" y="4548951"/>
            <a:ext cx="1855777" cy="1445318"/>
            <a:chOff x="113" y="2840"/>
            <a:chExt cx="822" cy="774"/>
          </a:xfrm>
        </p:grpSpPr>
        <p:sp>
          <p:nvSpPr>
            <p:cNvPr id="14378" name="Line 17"/>
            <p:cNvSpPr>
              <a:spLocks noChangeShapeType="1"/>
            </p:cNvSpPr>
            <p:nvPr/>
          </p:nvSpPr>
          <p:spPr bwMode="auto">
            <a:xfrm>
              <a:off x="340"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79" name="Line 18"/>
            <p:cNvSpPr>
              <a:spLocks noChangeShapeType="1"/>
            </p:cNvSpPr>
            <p:nvPr/>
          </p:nvSpPr>
          <p:spPr bwMode="auto">
            <a:xfrm>
              <a:off x="340"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0" name="Line 19"/>
            <p:cNvSpPr>
              <a:spLocks noChangeShapeType="1"/>
            </p:cNvSpPr>
            <p:nvPr/>
          </p:nvSpPr>
          <p:spPr bwMode="auto">
            <a:xfrm>
              <a:off x="657" y="3067"/>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1" name="Text Box 20"/>
            <p:cNvSpPr txBox="1">
              <a:spLocks noChangeArrowheads="1"/>
            </p:cNvSpPr>
            <p:nvPr/>
          </p:nvSpPr>
          <p:spPr bwMode="auto">
            <a:xfrm>
              <a:off x="113" y="2843"/>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I0</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2" name="Text Box 21"/>
            <p:cNvSpPr txBox="1">
              <a:spLocks noChangeArrowheads="1"/>
            </p:cNvSpPr>
            <p:nvPr/>
          </p:nvSpPr>
          <p:spPr bwMode="auto">
            <a:xfrm>
              <a:off x="113" y="3025"/>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I1</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3" name="Text Box 22"/>
            <p:cNvSpPr txBox="1">
              <a:spLocks noChangeArrowheads="1"/>
            </p:cNvSpPr>
            <p:nvPr/>
          </p:nvSpPr>
          <p:spPr bwMode="auto">
            <a:xfrm>
              <a:off x="793" y="2934"/>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4" name="Line 23"/>
            <p:cNvSpPr>
              <a:spLocks noChangeShapeType="1"/>
            </p:cNvSpPr>
            <p:nvPr/>
          </p:nvSpPr>
          <p:spPr bwMode="auto">
            <a:xfrm>
              <a:off x="476"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5" name="Arc 24"/>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6" name="Arc 25"/>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7" name="Arc 26"/>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8" name="Arc 27"/>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9" name="Line 28"/>
            <p:cNvSpPr>
              <a:spLocks noChangeShapeType="1"/>
            </p:cNvSpPr>
            <p:nvPr/>
          </p:nvSpPr>
          <p:spPr bwMode="auto">
            <a:xfrm>
              <a:off x="657"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0" name="Text Box 29"/>
            <p:cNvSpPr txBox="1">
              <a:spLocks noChangeArrowheads="1"/>
            </p:cNvSpPr>
            <p:nvPr/>
          </p:nvSpPr>
          <p:spPr bwMode="auto">
            <a:xfrm>
              <a:off x="476" y="2840"/>
              <a:ext cx="181"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M</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u</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x</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91" name="Line 30"/>
            <p:cNvSpPr>
              <a:spLocks noChangeShapeType="1"/>
            </p:cNvSpPr>
            <p:nvPr/>
          </p:nvSpPr>
          <p:spPr bwMode="auto">
            <a:xfrm flipV="1">
              <a:off x="567" y="3294"/>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2" name="Text Box 31"/>
            <p:cNvSpPr txBox="1">
              <a:spLocks noChangeArrowheads="1"/>
            </p:cNvSpPr>
            <p:nvPr/>
          </p:nvSpPr>
          <p:spPr bwMode="auto">
            <a:xfrm>
              <a:off x="461" y="3433"/>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S</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2" name="Rectangle 32"/>
          <p:cNvSpPr>
            <a:spLocks noChangeArrowheads="1"/>
          </p:cNvSpPr>
          <p:nvPr/>
        </p:nvSpPr>
        <p:spPr bwMode="auto">
          <a:xfrm>
            <a:off x="1884363" y="3542447"/>
            <a:ext cx="3509963" cy="78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Multiplexer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S ? I1 : I0</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grpSp>
        <p:nvGrpSpPr>
          <p:cNvPr id="14343" name="Group 33"/>
          <p:cNvGrpSpPr/>
          <p:nvPr/>
        </p:nvGrpSpPr>
        <p:grpSpPr bwMode="auto">
          <a:xfrm>
            <a:off x="7007878" y="2088324"/>
            <a:ext cx="1714085" cy="1031875"/>
            <a:chOff x="1111" y="2649"/>
            <a:chExt cx="996" cy="650"/>
          </a:xfrm>
        </p:grpSpPr>
        <p:sp>
          <p:nvSpPr>
            <p:cNvPr id="14364" name="Line 34"/>
            <p:cNvSpPr>
              <a:spLocks noChangeShapeType="1"/>
            </p:cNvSpPr>
            <p:nvPr/>
          </p:nvSpPr>
          <p:spPr bwMode="auto">
            <a:xfrm>
              <a:off x="1338" y="2795"/>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5" name="Line 35"/>
            <p:cNvSpPr>
              <a:spLocks noChangeShapeType="1"/>
            </p:cNvSpPr>
            <p:nvPr/>
          </p:nvSpPr>
          <p:spPr bwMode="auto">
            <a:xfrm>
              <a:off x="1338"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6" name="Line 36"/>
            <p:cNvSpPr>
              <a:spLocks noChangeShapeType="1"/>
            </p:cNvSpPr>
            <p:nvPr/>
          </p:nvSpPr>
          <p:spPr bwMode="auto">
            <a:xfrm>
              <a:off x="1791"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7" name="Text Box 37"/>
            <p:cNvSpPr txBox="1">
              <a:spLocks noChangeArrowheads="1"/>
            </p:cNvSpPr>
            <p:nvPr/>
          </p:nvSpPr>
          <p:spPr bwMode="auto">
            <a:xfrm>
              <a:off x="1111" y="2662"/>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A</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8" name="Text Box 38"/>
            <p:cNvSpPr txBox="1">
              <a:spLocks noChangeArrowheads="1"/>
            </p:cNvSpPr>
            <p:nvPr/>
          </p:nvSpPr>
          <p:spPr bwMode="auto">
            <a:xfrm>
              <a:off x="1111" y="3066"/>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B</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9" name="Text Box 39"/>
            <p:cNvSpPr txBox="1">
              <a:spLocks noChangeArrowheads="1"/>
            </p:cNvSpPr>
            <p:nvPr/>
          </p:nvSpPr>
          <p:spPr bwMode="auto">
            <a:xfrm>
              <a:off x="1910" y="2843"/>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Y</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70" name="Line 40"/>
            <p:cNvSpPr>
              <a:spLocks noChangeShapeType="1"/>
            </p:cNvSpPr>
            <p:nvPr/>
          </p:nvSpPr>
          <p:spPr bwMode="auto">
            <a:xfrm>
              <a:off x="1474" y="2659"/>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1" name="Line 41"/>
            <p:cNvSpPr>
              <a:spLocks noChangeShapeType="1"/>
            </p:cNvSpPr>
            <p:nvPr/>
          </p:nvSpPr>
          <p:spPr bwMode="auto">
            <a:xfrm>
              <a:off x="1474" y="3067"/>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2" name="Line 42"/>
            <p:cNvSpPr>
              <a:spLocks noChangeShapeType="1"/>
            </p:cNvSpPr>
            <p:nvPr/>
          </p:nvSpPr>
          <p:spPr bwMode="auto">
            <a:xfrm>
              <a:off x="1474" y="2886"/>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3" name="Line 43"/>
            <p:cNvSpPr>
              <a:spLocks noChangeShapeType="1"/>
            </p:cNvSpPr>
            <p:nvPr/>
          </p:nvSpPr>
          <p:spPr bwMode="auto">
            <a:xfrm flipH="1">
              <a:off x="1474" y="2976"/>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4" name="Line 44"/>
            <p:cNvSpPr>
              <a:spLocks noChangeShapeType="1"/>
            </p:cNvSpPr>
            <p:nvPr/>
          </p:nvSpPr>
          <p:spPr bwMode="auto">
            <a:xfrm>
              <a:off x="1479" y="2649"/>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5" name="Line 45"/>
            <p:cNvSpPr>
              <a:spLocks noChangeShapeType="1"/>
            </p:cNvSpPr>
            <p:nvPr/>
          </p:nvSpPr>
          <p:spPr bwMode="auto">
            <a:xfrm flipV="1">
              <a:off x="1474" y="3113"/>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6" name="Line 46"/>
            <p:cNvSpPr>
              <a:spLocks noChangeShapeType="1"/>
            </p:cNvSpPr>
            <p:nvPr/>
          </p:nvSpPr>
          <p:spPr bwMode="auto">
            <a:xfrm>
              <a:off x="1791" y="2840"/>
              <a:ext cx="0" cy="27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7" name="Text Box 47"/>
            <p:cNvSpPr txBox="1">
              <a:spLocks noChangeArrowheads="1"/>
            </p:cNvSpPr>
            <p:nvPr/>
          </p:nvSpPr>
          <p:spPr bwMode="auto">
            <a:xfrm>
              <a:off x="1620" y="2889"/>
              <a:ext cx="7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t>
              </a:r>
              <a:endParaRPr lang="en-AU" altLang="zh-TW" sz="1800" dirty="0">
                <a:solidFill>
                  <a:prstClr val="black"/>
                </a:solidFill>
                <a:latin typeface="Arial" panose="020B0604020202090204" pitchFamily="34" charset="0"/>
                <a:ea typeface="新細明體" panose="02020500000000000000" pitchFamily="18" charset="-120"/>
              </a:endParaRPr>
            </a:p>
          </p:txBody>
        </p:sp>
      </p:grpSp>
      <p:grpSp>
        <p:nvGrpSpPr>
          <p:cNvPr id="14344" name="Group 48"/>
          <p:cNvGrpSpPr/>
          <p:nvPr/>
        </p:nvGrpSpPr>
        <p:grpSpPr bwMode="auto">
          <a:xfrm>
            <a:off x="7110289" y="4525259"/>
            <a:ext cx="1668820" cy="1521802"/>
            <a:chOff x="2699" y="2750"/>
            <a:chExt cx="1045" cy="995"/>
          </a:xfrm>
        </p:grpSpPr>
        <p:sp>
          <p:nvSpPr>
            <p:cNvPr id="14348" name="Line 49"/>
            <p:cNvSpPr>
              <a:spLocks noChangeShapeType="1"/>
            </p:cNvSpPr>
            <p:nvPr/>
          </p:nvSpPr>
          <p:spPr bwMode="auto">
            <a:xfrm>
              <a:off x="2926" y="288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49" name="Line 50"/>
            <p:cNvSpPr>
              <a:spLocks noChangeShapeType="1"/>
            </p:cNvSpPr>
            <p:nvPr/>
          </p:nvSpPr>
          <p:spPr bwMode="auto">
            <a:xfrm>
              <a:off x="2926" y="3339"/>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0" name="Line 51"/>
            <p:cNvSpPr>
              <a:spLocks noChangeShapeType="1"/>
            </p:cNvSpPr>
            <p:nvPr/>
          </p:nvSpPr>
          <p:spPr bwMode="auto">
            <a:xfrm>
              <a:off x="3424" y="3113"/>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1" name="Text Box 52"/>
            <p:cNvSpPr txBox="1">
              <a:spLocks noChangeArrowheads="1"/>
            </p:cNvSpPr>
            <p:nvPr/>
          </p:nvSpPr>
          <p:spPr bwMode="auto">
            <a:xfrm>
              <a:off x="2699" y="2753"/>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A</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2" name="Text Box 53"/>
            <p:cNvSpPr txBox="1">
              <a:spLocks noChangeArrowheads="1"/>
            </p:cNvSpPr>
            <p:nvPr/>
          </p:nvSpPr>
          <p:spPr bwMode="auto">
            <a:xfrm>
              <a:off x="2699" y="3247"/>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B</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3" name="Text Box 54"/>
            <p:cNvSpPr txBox="1">
              <a:spLocks noChangeArrowheads="1"/>
            </p:cNvSpPr>
            <p:nvPr/>
          </p:nvSpPr>
          <p:spPr bwMode="auto">
            <a:xfrm>
              <a:off x="3543" y="2979"/>
              <a:ext cx="2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4" name="Line 55"/>
            <p:cNvSpPr>
              <a:spLocks noChangeShapeType="1"/>
            </p:cNvSpPr>
            <p:nvPr/>
          </p:nvSpPr>
          <p:spPr bwMode="auto">
            <a:xfrm>
              <a:off x="3061" y="2750"/>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5" name="Line 56"/>
            <p:cNvSpPr>
              <a:spLocks noChangeShapeType="1"/>
            </p:cNvSpPr>
            <p:nvPr/>
          </p:nvSpPr>
          <p:spPr bwMode="auto">
            <a:xfrm flipH="1">
              <a:off x="3061" y="3203"/>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6" name="Line 57"/>
            <p:cNvSpPr>
              <a:spLocks noChangeShapeType="1"/>
            </p:cNvSpPr>
            <p:nvPr/>
          </p:nvSpPr>
          <p:spPr bwMode="auto">
            <a:xfrm>
              <a:off x="3062" y="3022"/>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7" name="Line 58"/>
            <p:cNvSpPr>
              <a:spLocks noChangeShapeType="1"/>
            </p:cNvSpPr>
            <p:nvPr/>
          </p:nvSpPr>
          <p:spPr bwMode="auto">
            <a:xfrm flipH="1">
              <a:off x="3062" y="3112"/>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8" name="Line 59"/>
            <p:cNvSpPr>
              <a:spLocks noChangeShapeType="1"/>
            </p:cNvSpPr>
            <p:nvPr/>
          </p:nvSpPr>
          <p:spPr bwMode="auto">
            <a:xfrm>
              <a:off x="3061" y="2750"/>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9" name="Line 60"/>
            <p:cNvSpPr>
              <a:spLocks noChangeShapeType="1"/>
            </p:cNvSpPr>
            <p:nvPr/>
          </p:nvSpPr>
          <p:spPr bwMode="auto">
            <a:xfrm flipV="1">
              <a:off x="3061" y="3294"/>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0" name="Line 61"/>
            <p:cNvSpPr>
              <a:spLocks noChangeShapeType="1"/>
            </p:cNvSpPr>
            <p:nvPr/>
          </p:nvSpPr>
          <p:spPr bwMode="auto">
            <a:xfrm>
              <a:off x="3424" y="2931"/>
              <a:ext cx="0" cy="36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1" name="Text Box 62"/>
            <p:cNvSpPr txBox="1">
              <a:spLocks noChangeArrowheads="1"/>
            </p:cNvSpPr>
            <p:nvPr/>
          </p:nvSpPr>
          <p:spPr bwMode="auto">
            <a:xfrm>
              <a:off x="3152" y="3025"/>
              <a:ext cx="26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ALU</a:t>
              </a:r>
              <a:endParaRPr lang="en-AU" altLang="zh-TW" sz="1600" dirty="0">
                <a:solidFill>
                  <a:prstClr val="black"/>
                </a:solidFill>
                <a:latin typeface="Arial" panose="020B0604020202090204" pitchFamily="34" charset="0"/>
                <a:ea typeface="新細明體" panose="02020500000000000000" pitchFamily="18" charset="-120"/>
              </a:endParaRPr>
            </a:p>
          </p:txBody>
        </p:sp>
        <p:sp>
          <p:nvSpPr>
            <p:cNvPr id="14362" name="Line 63"/>
            <p:cNvSpPr>
              <a:spLocks noChangeShapeType="1"/>
            </p:cNvSpPr>
            <p:nvPr/>
          </p:nvSpPr>
          <p:spPr bwMode="auto">
            <a:xfrm>
              <a:off x="3243" y="3385"/>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3" name="Text Box 64"/>
            <p:cNvSpPr txBox="1">
              <a:spLocks noChangeArrowheads="1"/>
            </p:cNvSpPr>
            <p:nvPr/>
          </p:nvSpPr>
          <p:spPr bwMode="auto">
            <a:xfrm>
              <a:off x="3152" y="3524"/>
              <a:ext cx="19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F</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5" name="Rectangle 65"/>
          <p:cNvSpPr>
            <a:spLocks noChangeArrowheads="1"/>
          </p:cNvSpPr>
          <p:nvPr/>
        </p:nvSpPr>
        <p:spPr bwMode="auto">
          <a:xfrm>
            <a:off x="6303028" y="1101487"/>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Adder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A + B</a:t>
            </a:r>
          </a:p>
        </p:txBody>
      </p:sp>
      <p:sp>
        <p:nvSpPr>
          <p:cNvPr id="14346" name="Rectangle 66"/>
          <p:cNvSpPr>
            <a:spLocks noChangeArrowheads="1"/>
          </p:cNvSpPr>
          <p:nvPr/>
        </p:nvSpPr>
        <p:spPr bwMode="auto">
          <a:xfrm>
            <a:off x="6230002" y="3524986"/>
            <a:ext cx="4679951" cy="9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Arithmetic/Logic Unit</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F(A, B)</a:t>
            </a:r>
          </a:p>
        </p:txBody>
      </p:sp>
      <p:sp>
        <p:nvSpPr>
          <p:cNvPr id="6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22</a:t>
            </a:fld>
            <a:endParaRPr lang="zh-TW" altLang="en-US">
              <a:solidFill>
                <a:prstClr val="white"/>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70428" y="58739"/>
            <a:ext cx="9035624" cy="901700"/>
          </a:xfrm>
        </p:spPr>
        <p:txBody>
          <a:bodyPr/>
          <a:lstStyle/>
          <a:p>
            <a:r>
              <a:rPr lang="en-US" altLang="zh-TW" dirty="0"/>
              <a:t>Sequential Elements</a:t>
            </a:r>
            <a:r>
              <a:rPr lang="zh-CN" altLang="en-US" dirty="0"/>
              <a:t>（</a:t>
            </a:r>
            <a:r>
              <a:rPr lang="en-US" altLang="zh-CN" dirty="0"/>
              <a:t>1</a:t>
            </a:r>
            <a:r>
              <a:rPr lang="zh-CN" altLang="en-US" dirty="0"/>
              <a:t>）</a:t>
            </a:r>
            <a:endParaRPr lang="en-AU" altLang="zh-TW" dirty="0">
              <a:ea typeface="新細明體" panose="02020500000000000000" pitchFamily="18" charset="-120"/>
            </a:endParaRPr>
          </a:p>
        </p:txBody>
      </p:sp>
      <p:sp>
        <p:nvSpPr>
          <p:cNvPr id="15363" name="Rectangle 3"/>
          <p:cNvSpPr>
            <a:spLocks noGrp="1" noChangeArrowheads="1"/>
          </p:cNvSpPr>
          <p:nvPr>
            <p:ph type="body" idx="1"/>
          </p:nvPr>
        </p:nvSpPr>
        <p:spPr>
          <a:xfrm>
            <a:off x="1229447" y="1086012"/>
            <a:ext cx="10614211" cy="1649505"/>
          </a:xfrm>
        </p:spPr>
        <p:txBody>
          <a:bodyPr/>
          <a:lstStyle/>
          <a:p>
            <a:r>
              <a:rPr lang="en-US" altLang="zh-TW" dirty="0"/>
              <a:t>Register: stores data in a circuit</a:t>
            </a:r>
          </a:p>
          <a:p>
            <a:pPr lvl="1"/>
            <a:r>
              <a:rPr lang="en-US" altLang="zh-TW" dirty="0"/>
              <a:t>Use a clock signal to determine when to update the stored value</a:t>
            </a:r>
          </a:p>
          <a:p>
            <a:pPr lvl="1"/>
            <a:r>
              <a:rPr lang="en-US" altLang="zh-TW" dirty="0"/>
              <a:t>Edge-triggered: update when </a:t>
            </a:r>
            <a:r>
              <a:rPr lang="en-US" altLang="zh-TW" dirty="0" err="1"/>
              <a:t>Clk</a:t>
            </a:r>
            <a:r>
              <a:rPr lang="en-US" altLang="zh-TW" dirty="0"/>
              <a:t> changes from 0 to 1</a:t>
            </a:r>
            <a:endParaRPr lang="en-AU" altLang="zh-TW" dirty="0">
              <a:ea typeface="新細明體" panose="02020500000000000000" pitchFamily="18" charset="-120"/>
            </a:endParaRPr>
          </a:p>
        </p:txBody>
      </p:sp>
      <p:grpSp>
        <p:nvGrpSpPr>
          <p:cNvPr id="15364" name="Group 4"/>
          <p:cNvGrpSpPr/>
          <p:nvPr/>
        </p:nvGrpSpPr>
        <p:grpSpPr bwMode="auto">
          <a:xfrm>
            <a:off x="1767489" y="3483501"/>
            <a:ext cx="2566096" cy="1745012"/>
            <a:chOff x="657" y="2296"/>
            <a:chExt cx="1269" cy="771"/>
          </a:xfrm>
        </p:grpSpPr>
        <p:sp>
          <p:nvSpPr>
            <p:cNvPr id="15396" name="Rectangle 5"/>
            <p:cNvSpPr>
              <a:spLocks noChangeArrowheads="1"/>
            </p:cNvSpPr>
            <p:nvPr/>
          </p:nvSpPr>
          <p:spPr bwMode="auto">
            <a:xfrm>
              <a:off x="1111" y="2296"/>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5397" name="Line 6"/>
            <p:cNvSpPr>
              <a:spLocks noChangeShapeType="1"/>
            </p:cNvSpPr>
            <p:nvPr/>
          </p:nvSpPr>
          <p:spPr bwMode="auto">
            <a:xfrm>
              <a:off x="975"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8" name="Line 7"/>
            <p:cNvSpPr>
              <a:spLocks noChangeShapeType="1"/>
            </p:cNvSpPr>
            <p:nvPr/>
          </p:nvSpPr>
          <p:spPr bwMode="auto">
            <a:xfrm>
              <a:off x="975" y="2886"/>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9" name="Line 8"/>
            <p:cNvSpPr>
              <a:spLocks noChangeShapeType="1"/>
            </p:cNvSpPr>
            <p:nvPr/>
          </p:nvSpPr>
          <p:spPr bwMode="auto">
            <a:xfrm>
              <a:off x="1610"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400" name="Text Box 9"/>
            <p:cNvSpPr txBox="1">
              <a:spLocks noChangeArrowheads="1"/>
            </p:cNvSpPr>
            <p:nvPr/>
          </p:nvSpPr>
          <p:spPr bwMode="auto">
            <a:xfrm>
              <a:off x="748" y="2345"/>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D</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1" name="Text Box 10"/>
            <p:cNvSpPr txBox="1">
              <a:spLocks noChangeArrowheads="1"/>
            </p:cNvSpPr>
            <p:nvPr/>
          </p:nvSpPr>
          <p:spPr bwMode="auto">
            <a:xfrm>
              <a:off x="657" y="2753"/>
              <a:ext cx="25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Clk</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2" name="Text Box 11"/>
            <p:cNvSpPr txBox="1">
              <a:spLocks noChangeArrowheads="1"/>
            </p:cNvSpPr>
            <p:nvPr/>
          </p:nvSpPr>
          <p:spPr bwMode="auto">
            <a:xfrm>
              <a:off x="1746" y="2345"/>
              <a:ext cx="18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Q</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3" name="Line 12"/>
            <p:cNvSpPr>
              <a:spLocks noChangeShapeType="1"/>
            </p:cNvSpPr>
            <p:nvPr/>
          </p:nvSpPr>
          <p:spPr bwMode="auto">
            <a:xfrm>
              <a:off x="1111" y="2840"/>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404" name="Line 13"/>
            <p:cNvSpPr>
              <a:spLocks noChangeShapeType="1"/>
            </p:cNvSpPr>
            <p:nvPr/>
          </p:nvSpPr>
          <p:spPr bwMode="auto">
            <a:xfrm flipV="1">
              <a:off x="1111" y="2886"/>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grpSp>
        <p:nvGrpSpPr>
          <p:cNvPr id="15365" name="Group 14"/>
          <p:cNvGrpSpPr/>
          <p:nvPr/>
        </p:nvGrpSpPr>
        <p:grpSpPr bwMode="auto">
          <a:xfrm>
            <a:off x="4848225" y="3267601"/>
            <a:ext cx="5704515" cy="2295641"/>
            <a:chOff x="2154" y="2523"/>
            <a:chExt cx="3008" cy="1134"/>
          </a:xfrm>
        </p:grpSpPr>
        <p:sp>
          <p:nvSpPr>
            <p:cNvPr id="15367" name="Line 15"/>
            <p:cNvSpPr>
              <a:spLocks noChangeShapeType="1"/>
            </p:cNvSpPr>
            <p:nvPr/>
          </p:nvSpPr>
          <p:spPr bwMode="auto">
            <a:xfrm>
              <a:off x="2712"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68" name="Line 16"/>
            <p:cNvSpPr>
              <a:spLocks noChangeShapeType="1"/>
            </p:cNvSpPr>
            <p:nvPr/>
          </p:nvSpPr>
          <p:spPr bwMode="auto">
            <a:xfrm>
              <a:off x="2712"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69" name="Line 17"/>
            <p:cNvSpPr>
              <a:spLocks noChangeShapeType="1"/>
            </p:cNvSpPr>
            <p:nvPr/>
          </p:nvSpPr>
          <p:spPr bwMode="auto">
            <a:xfrm>
              <a:off x="3256"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0" name="Line 18"/>
            <p:cNvSpPr>
              <a:spLocks noChangeShapeType="1"/>
            </p:cNvSpPr>
            <p:nvPr/>
          </p:nvSpPr>
          <p:spPr bwMode="auto">
            <a:xfrm>
              <a:off x="3256"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1" name="Line 19"/>
            <p:cNvSpPr>
              <a:spLocks noChangeShapeType="1"/>
            </p:cNvSpPr>
            <p:nvPr/>
          </p:nvSpPr>
          <p:spPr bwMode="auto">
            <a:xfrm>
              <a:off x="2531" y="2795"/>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2" name="Line 20"/>
            <p:cNvSpPr>
              <a:spLocks noChangeShapeType="1"/>
            </p:cNvSpPr>
            <p:nvPr/>
          </p:nvSpPr>
          <p:spPr bwMode="auto">
            <a:xfrm>
              <a:off x="3801"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3" name="Line 21"/>
            <p:cNvSpPr>
              <a:spLocks noChangeShapeType="1"/>
            </p:cNvSpPr>
            <p:nvPr/>
          </p:nvSpPr>
          <p:spPr bwMode="auto">
            <a:xfrm>
              <a:off x="3801"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4" name="Line 22"/>
            <p:cNvSpPr>
              <a:spLocks noChangeShapeType="1"/>
            </p:cNvSpPr>
            <p:nvPr/>
          </p:nvSpPr>
          <p:spPr bwMode="auto">
            <a:xfrm>
              <a:off x="4345"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5" name="Line 23"/>
            <p:cNvSpPr>
              <a:spLocks noChangeShapeType="1"/>
            </p:cNvSpPr>
            <p:nvPr/>
          </p:nvSpPr>
          <p:spPr bwMode="auto">
            <a:xfrm>
              <a:off x="4345"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6" name="Line 24"/>
            <p:cNvSpPr>
              <a:spLocks noChangeShapeType="1"/>
            </p:cNvSpPr>
            <p:nvPr/>
          </p:nvSpPr>
          <p:spPr bwMode="auto">
            <a:xfrm>
              <a:off x="4889"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7" name="Line 25"/>
            <p:cNvSpPr>
              <a:spLocks noChangeShapeType="1"/>
            </p:cNvSpPr>
            <p:nvPr/>
          </p:nvSpPr>
          <p:spPr bwMode="auto">
            <a:xfrm flipV="1">
              <a:off x="4890" y="2613"/>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8" name="Line 26"/>
            <p:cNvSpPr>
              <a:spLocks noChangeShapeType="1"/>
            </p:cNvSpPr>
            <p:nvPr/>
          </p:nvSpPr>
          <p:spPr bwMode="auto">
            <a:xfrm>
              <a:off x="2531" y="3657"/>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9" name="Line 27"/>
            <p:cNvSpPr>
              <a:spLocks noChangeShapeType="1"/>
            </p:cNvSpPr>
            <p:nvPr/>
          </p:nvSpPr>
          <p:spPr bwMode="auto">
            <a:xfrm flipV="1">
              <a:off x="2531" y="2523"/>
              <a:ext cx="0" cy="1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80" name="Text Box 28"/>
            <p:cNvSpPr txBox="1">
              <a:spLocks noChangeArrowheads="1"/>
            </p:cNvSpPr>
            <p:nvPr/>
          </p:nvSpPr>
          <p:spPr bwMode="auto">
            <a:xfrm>
              <a:off x="2154" y="2617"/>
              <a:ext cx="253"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Clk</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1" name="Text Box 29"/>
            <p:cNvSpPr txBox="1">
              <a:spLocks noChangeArrowheads="1"/>
            </p:cNvSpPr>
            <p:nvPr/>
          </p:nvSpPr>
          <p:spPr bwMode="auto">
            <a:xfrm>
              <a:off x="2154" y="2949"/>
              <a:ext cx="17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D</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2" name="Text Box 30"/>
            <p:cNvSpPr txBox="1">
              <a:spLocks noChangeArrowheads="1"/>
            </p:cNvSpPr>
            <p:nvPr/>
          </p:nvSpPr>
          <p:spPr bwMode="auto">
            <a:xfrm>
              <a:off x="2154" y="3297"/>
              <a:ext cx="18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Q</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3" name="Freeform 31"/>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4" name="Freeform 32"/>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5" name="Freeform 33"/>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6" name="Freeform 34"/>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7" name="Freeform 35"/>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8" name="Freeform 36"/>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89" name="Freeform 37"/>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90" name="Freeform 38"/>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91" name="Freeform 39"/>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92" name="Freeform 40"/>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93" name="Line 41"/>
            <p:cNvSpPr>
              <a:spLocks noChangeShapeType="1"/>
            </p:cNvSpPr>
            <p:nvPr/>
          </p:nvSpPr>
          <p:spPr bwMode="auto">
            <a:xfrm>
              <a:off x="2712"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4" name="Line 42"/>
            <p:cNvSpPr>
              <a:spLocks noChangeShapeType="1"/>
            </p:cNvSpPr>
            <p:nvPr/>
          </p:nvSpPr>
          <p:spPr bwMode="auto">
            <a:xfrm>
              <a:off x="3801"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5" name="Line 43"/>
            <p:cNvSpPr>
              <a:spLocks noChangeShapeType="1"/>
            </p:cNvSpPr>
            <p:nvPr/>
          </p:nvSpPr>
          <p:spPr bwMode="auto">
            <a:xfrm>
              <a:off x="4889" y="2523"/>
              <a:ext cx="1"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sp>
        <p:nvSpPr>
          <p:cNvPr id="4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23</a:t>
            </a:fld>
            <a:endParaRPr lang="zh-TW" altLang="en-US">
              <a:solidFill>
                <a:prstClr val="whit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08954" y="58739"/>
            <a:ext cx="9097097" cy="901700"/>
          </a:xfrm>
        </p:spPr>
        <p:txBody>
          <a:bodyPr/>
          <a:lstStyle/>
          <a:p>
            <a:r>
              <a:rPr lang="en-US" altLang="zh-TW" dirty="0"/>
              <a:t>Sequential Elements</a:t>
            </a:r>
            <a:r>
              <a:rPr lang="zh-CN" altLang="en-US" dirty="0"/>
              <a:t>（</a:t>
            </a:r>
            <a:r>
              <a:rPr lang="en-US" altLang="zh-CN" dirty="0"/>
              <a:t>2</a:t>
            </a:r>
            <a:r>
              <a:rPr lang="zh-CN" altLang="en-US" dirty="0"/>
              <a:t>）</a:t>
            </a:r>
            <a:endParaRPr lang="en-AU" altLang="zh-TW" dirty="0">
              <a:ea typeface="新細明體" panose="02020500000000000000" pitchFamily="18" charset="-120"/>
            </a:endParaRPr>
          </a:p>
        </p:txBody>
      </p:sp>
      <p:sp>
        <p:nvSpPr>
          <p:cNvPr id="16387" name="Rectangle 3"/>
          <p:cNvSpPr>
            <a:spLocks noGrp="1" noChangeArrowheads="1"/>
          </p:cNvSpPr>
          <p:nvPr>
            <p:ph type="body" idx="1"/>
          </p:nvPr>
        </p:nvSpPr>
        <p:spPr>
          <a:xfrm>
            <a:off x="1188465" y="1078221"/>
            <a:ext cx="9035624" cy="1739259"/>
          </a:xfrm>
        </p:spPr>
        <p:txBody>
          <a:bodyPr/>
          <a:lstStyle/>
          <a:p>
            <a:r>
              <a:rPr lang="en-US" altLang="zh-TW" dirty="0"/>
              <a:t>Register with write control</a:t>
            </a:r>
          </a:p>
          <a:p>
            <a:pPr lvl="1"/>
            <a:r>
              <a:rPr lang="en-US" altLang="zh-TW" dirty="0"/>
              <a:t>Only updates on clock edge when write control input is 1</a:t>
            </a:r>
          </a:p>
          <a:p>
            <a:pPr lvl="1"/>
            <a:r>
              <a:rPr lang="en-US" altLang="zh-TW" dirty="0"/>
              <a:t>Used when stored value is required later</a:t>
            </a:r>
            <a:endParaRPr lang="en-AU" altLang="zh-TW" dirty="0">
              <a:ea typeface="新細明體" panose="02020500000000000000" pitchFamily="18" charset="-120"/>
            </a:endParaRPr>
          </a:p>
        </p:txBody>
      </p:sp>
      <p:grpSp>
        <p:nvGrpSpPr>
          <p:cNvPr id="16388" name="Group 4"/>
          <p:cNvGrpSpPr/>
          <p:nvPr/>
        </p:nvGrpSpPr>
        <p:grpSpPr bwMode="auto">
          <a:xfrm>
            <a:off x="1208956" y="3739564"/>
            <a:ext cx="3134724" cy="1624601"/>
            <a:chOff x="340" y="2750"/>
            <a:chExt cx="1386" cy="771"/>
          </a:xfrm>
        </p:grpSpPr>
        <p:sp>
          <p:nvSpPr>
            <p:cNvPr id="16426" name="Rectangle 5"/>
            <p:cNvSpPr>
              <a:spLocks noChangeArrowheads="1"/>
            </p:cNvSpPr>
            <p:nvPr/>
          </p:nvSpPr>
          <p:spPr bwMode="auto">
            <a:xfrm>
              <a:off x="930" y="2750"/>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6427" name="Line 6"/>
            <p:cNvSpPr>
              <a:spLocks noChangeShapeType="1"/>
            </p:cNvSpPr>
            <p:nvPr/>
          </p:nvSpPr>
          <p:spPr bwMode="auto">
            <a:xfrm>
              <a:off x="794"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8" name="Line 7"/>
            <p:cNvSpPr>
              <a:spLocks noChangeShapeType="1"/>
            </p:cNvSpPr>
            <p:nvPr/>
          </p:nvSpPr>
          <p:spPr bwMode="auto">
            <a:xfrm>
              <a:off x="794" y="3340"/>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9" name="Line 8"/>
            <p:cNvSpPr>
              <a:spLocks noChangeShapeType="1"/>
            </p:cNvSpPr>
            <p:nvPr/>
          </p:nvSpPr>
          <p:spPr bwMode="auto">
            <a:xfrm>
              <a:off x="1429"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0" name="Text Box 9"/>
            <p:cNvSpPr txBox="1">
              <a:spLocks noChangeArrowheads="1"/>
            </p:cNvSpPr>
            <p:nvPr/>
          </p:nvSpPr>
          <p:spPr bwMode="auto">
            <a:xfrm>
              <a:off x="567" y="2799"/>
              <a:ext cx="15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D</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1" name="Text Box 10"/>
            <p:cNvSpPr txBox="1">
              <a:spLocks noChangeArrowheads="1"/>
            </p:cNvSpPr>
            <p:nvPr/>
          </p:nvSpPr>
          <p:spPr bwMode="auto">
            <a:xfrm>
              <a:off x="476" y="3207"/>
              <a:ext cx="229"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Clk</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2" name="Text Box 11"/>
            <p:cNvSpPr txBox="1">
              <a:spLocks noChangeArrowheads="1"/>
            </p:cNvSpPr>
            <p:nvPr/>
          </p:nvSpPr>
          <p:spPr bwMode="auto">
            <a:xfrm>
              <a:off x="1565" y="2799"/>
              <a:ext cx="16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Q</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3" name="Line 12"/>
            <p:cNvSpPr>
              <a:spLocks noChangeShapeType="1"/>
            </p:cNvSpPr>
            <p:nvPr/>
          </p:nvSpPr>
          <p:spPr bwMode="auto">
            <a:xfrm>
              <a:off x="930" y="3294"/>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4" name="Line 13"/>
            <p:cNvSpPr>
              <a:spLocks noChangeShapeType="1"/>
            </p:cNvSpPr>
            <p:nvPr/>
          </p:nvSpPr>
          <p:spPr bwMode="auto">
            <a:xfrm flipV="1">
              <a:off x="930" y="3340"/>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5" name="Line 14"/>
            <p:cNvSpPr>
              <a:spLocks noChangeShapeType="1"/>
            </p:cNvSpPr>
            <p:nvPr/>
          </p:nvSpPr>
          <p:spPr bwMode="auto">
            <a:xfrm>
              <a:off x="793" y="3154"/>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6" name="Text Box 15"/>
            <p:cNvSpPr txBox="1">
              <a:spLocks noChangeArrowheads="1"/>
            </p:cNvSpPr>
            <p:nvPr/>
          </p:nvSpPr>
          <p:spPr bwMode="auto">
            <a:xfrm>
              <a:off x="340" y="3021"/>
              <a:ext cx="318"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Write</a:t>
              </a:r>
              <a:endParaRPr lang="en-AU" altLang="zh-TW" sz="1800" b="0">
                <a:solidFill>
                  <a:prstClr val="black"/>
                </a:solidFill>
                <a:latin typeface="Arial" panose="020B0604020202090204" pitchFamily="34" charset="0"/>
                <a:ea typeface="新細明體" panose="02020500000000000000" pitchFamily="18" charset="-120"/>
              </a:endParaRPr>
            </a:p>
          </p:txBody>
        </p:sp>
      </p:grpSp>
      <p:grpSp>
        <p:nvGrpSpPr>
          <p:cNvPr id="16389" name="Group 16"/>
          <p:cNvGrpSpPr/>
          <p:nvPr/>
        </p:nvGrpSpPr>
        <p:grpSpPr bwMode="auto">
          <a:xfrm>
            <a:off x="4917974" y="3372977"/>
            <a:ext cx="5841020" cy="2440448"/>
            <a:chOff x="2004" y="2387"/>
            <a:chExt cx="3144" cy="1497"/>
          </a:xfrm>
        </p:grpSpPr>
        <p:sp>
          <p:nvSpPr>
            <p:cNvPr id="16391" name="Line 17"/>
            <p:cNvSpPr>
              <a:spLocks noChangeShapeType="1"/>
            </p:cNvSpPr>
            <p:nvPr/>
          </p:nvSpPr>
          <p:spPr bwMode="auto">
            <a:xfrm>
              <a:off x="2517" y="2840"/>
              <a:ext cx="81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2" name="Line 18"/>
            <p:cNvSpPr>
              <a:spLocks noChangeShapeType="1"/>
            </p:cNvSpPr>
            <p:nvPr/>
          </p:nvSpPr>
          <p:spPr bwMode="auto">
            <a:xfrm>
              <a:off x="3334"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3" name="Line 19"/>
            <p:cNvSpPr>
              <a:spLocks noChangeShapeType="1"/>
            </p:cNvSpPr>
            <p:nvPr/>
          </p:nvSpPr>
          <p:spPr bwMode="auto">
            <a:xfrm>
              <a:off x="3334" y="3022"/>
              <a:ext cx="122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4" name="Line 20"/>
            <p:cNvSpPr>
              <a:spLocks noChangeShapeType="1"/>
            </p:cNvSpPr>
            <p:nvPr/>
          </p:nvSpPr>
          <p:spPr bwMode="auto">
            <a:xfrm>
              <a:off x="4558"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5" name="Line 21"/>
            <p:cNvSpPr>
              <a:spLocks noChangeShapeType="1"/>
            </p:cNvSpPr>
            <p:nvPr/>
          </p:nvSpPr>
          <p:spPr bwMode="auto">
            <a:xfrm flipV="1">
              <a:off x="4558" y="2840"/>
              <a:ext cx="54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6" name="Line 22"/>
            <p:cNvSpPr>
              <a:spLocks noChangeShapeType="1"/>
            </p:cNvSpPr>
            <p:nvPr/>
          </p:nvSpPr>
          <p:spPr bwMode="auto">
            <a:xfrm>
              <a:off x="2517" y="3884"/>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7" name="Line 23"/>
            <p:cNvSpPr>
              <a:spLocks noChangeShapeType="1"/>
            </p:cNvSpPr>
            <p:nvPr/>
          </p:nvSpPr>
          <p:spPr bwMode="auto">
            <a:xfrm flipH="1" flipV="1">
              <a:off x="2503" y="2387"/>
              <a:ext cx="14" cy="14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8" name="Text Box 24"/>
            <p:cNvSpPr txBox="1">
              <a:spLocks noChangeArrowheads="1"/>
            </p:cNvSpPr>
            <p:nvPr/>
          </p:nvSpPr>
          <p:spPr bwMode="auto">
            <a:xfrm>
              <a:off x="2004" y="2844"/>
              <a:ext cx="35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Write</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399" name="Text Box 25"/>
            <p:cNvSpPr txBox="1">
              <a:spLocks noChangeArrowheads="1"/>
            </p:cNvSpPr>
            <p:nvPr/>
          </p:nvSpPr>
          <p:spPr bwMode="auto">
            <a:xfrm>
              <a:off x="2140" y="3176"/>
              <a:ext cx="17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D</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00" name="Text Box 26"/>
            <p:cNvSpPr txBox="1">
              <a:spLocks noChangeArrowheads="1"/>
            </p:cNvSpPr>
            <p:nvPr/>
          </p:nvSpPr>
          <p:spPr bwMode="auto">
            <a:xfrm>
              <a:off x="2140" y="3524"/>
              <a:ext cx="18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Q</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01" name="Freeform 27"/>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2" name="Freeform 28"/>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3" name="Freeform 29"/>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4" name="Freeform 30"/>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05" name="Freeform 31"/>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06" name="Freeform 32"/>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7" name="Freeform 33"/>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8" name="Line 34"/>
            <p:cNvSpPr>
              <a:spLocks noChangeShapeType="1"/>
            </p:cNvSpPr>
            <p:nvPr/>
          </p:nvSpPr>
          <p:spPr bwMode="auto">
            <a:xfrm>
              <a:off x="2698"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09" name="Line 35"/>
            <p:cNvSpPr>
              <a:spLocks noChangeShapeType="1"/>
            </p:cNvSpPr>
            <p:nvPr/>
          </p:nvSpPr>
          <p:spPr bwMode="auto">
            <a:xfrm>
              <a:off x="2698"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0" name="Line 36"/>
            <p:cNvSpPr>
              <a:spLocks noChangeShapeType="1"/>
            </p:cNvSpPr>
            <p:nvPr/>
          </p:nvSpPr>
          <p:spPr bwMode="auto">
            <a:xfrm>
              <a:off x="3242"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1" name="Line 37"/>
            <p:cNvSpPr>
              <a:spLocks noChangeShapeType="1"/>
            </p:cNvSpPr>
            <p:nvPr/>
          </p:nvSpPr>
          <p:spPr bwMode="auto">
            <a:xfrm>
              <a:off x="3242"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2" name="Line 38"/>
            <p:cNvSpPr>
              <a:spLocks noChangeShapeType="1"/>
            </p:cNvSpPr>
            <p:nvPr/>
          </p:nvSpPr>
          <p:spPr bwMode="auto">
            <a:xfrm>
              <a:off x="2517" y="2659"/>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3" name="Line 39"/>
            <p:cNvSpPr>
              <a:spLocks noChangeShapeType="1"/>
            </p:cNvSpPr>
            <p:nvPr/>
          </p:nvSpPr>
          <p:spPr bwMode="auto">
            <a:xfrm>
              <a:off x="3787"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4" name="Line 40"/>
            <p:cNvSpPr>
              <a:spLocks noChangeShapeType="1"/>
            </p:cNvSpPr>
            <p:nvPr/>
          </p:nvSpPr>
          <p:spPr bwMode="auto">
            <a:xfrm>
              <a:off x="3787"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5" name="Line 41"/>
            <p:cNvSpPr>
              <a:spLocks noChangeShapeType="1"/>
            </p:cNvSpPr>
            <p:nvPr/>
          </p:nvSpPr>
          <p:spPr bwMode="auto">
            <a:xfrm>
              <a:off x="4331"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6" name="Line 42"/>
            <p:cNvSpPr>
              <a:spLocks noChangeShapeType="1"/>
            </p:cNvSpPr>
            <p:nvPr/>
          </p:nvSpPr>
          <p:spPr bwMode="auto">
            <a:xfrm>
              <a:off x="4331"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7" name="Line 43"/>
            <p:cNvSpPr>
              <a:spLocks noChangeShapeType="1"/>
            </p:cNvSpPr>
            <p:nvPr/>
          </p:nvSpPr>
          <p:spPr bwMode="auto">
            <a:xfrm>
              <a:off x="4875"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8" name="Line 44"/>
            <p:cNvSpPr>
              <a:spLocks noChangeShapeType="1"/>
            </p:cNvSpPr>
            <p:nvPr/>
          </p:nvSpPr>
          <p:spPr bwMode="auto">
            <a:xfrm flipV="1">
              <a:off x="4876" y="2477"/>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9" name="Text Box 45"/>
            <p:cNvSpPr txBox="1">
              <a:spLocks noChangeArrowheads="1"/>
            </p:cNvSpPr>
            <p:nvPr/>
          </p:nvSpPr>
          <p:spPr bwMode="auto">
            <a:xfrm>
              <a:off x="2140" y="2481"/>
              <a:ext cx="25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Clk</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20" name="Freeform 46"/>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21" name="Freeform 47"/>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22" name="Freeform 48"/>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23" name="Line 49"/>
            <p:cNvSpPr>
              <a:spLocks noChangeShapeType="1"/>
            </p:cNvSpPr>
            <p:nvPr/>
          </p:nvSpPr>
          <p:spPr bwMode="auto">
            <a:xfrm>
              <a:off x="2698"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4" name="Line 50"/>
            <p:cNvSpPr>
              <a:spLocks noChangeShapeType="1"/>
            </p:cNvSpPr>
            <p:nvPr/>
          </p:nvSpPr>
          <p:spPr bwMode="auto">
            <a:xfrm>
              <a:off x="3787"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5" name="Line 51"/>
            <p:cNvSpPr>
              <a:spLocks noChangeShapeType="1"/>
            </p:cNvSpPr>
            <p:nvPr/>
          </p:nvSpPr>
          <p:spPr bwMode="auto">
            <a:xfrm>
              <a:off x="4875" y="2387"/>
              <a:ext cx="1"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sp>
        <p:nvSpPr>
          <p:cNvPr id="53"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24</a:t>
            </a:fld>
            <a:endParaRPr lang="zh-TW" altLang="en-US">
              <a:solidFill>
                <a:prstClr val="white"/>
              </a:solidFill>
            </a:endParaRPr>
          </a:p>
        </p:txBody>
      </p:sp>
      <p:cxnSp>
        <p:nvCxnSpPr>
          <p:cNvPr id="3" name="Straight Arrow Connector 2">
            <a:extLst>
              <a:ext uri="{FF2B5EF4-FFF2-40B4-BE49-F238E27FC236}">
                <a16:creationId xmlns:a16="http://schemas.microsoft.com/office/drawing/2014/main" id="{03D4EA1F-C166-4300-8C0C-234A87BE64B8}"/>
              </a:ext>
            </a:extLst>
          </p:cNvPr>
          <p:cNvCxnSpPr>
            <a:cxnSpLocks/>
          </p:cNvCxnSpPr>
          <p:nvPr/>
        </p:nvCxnSpPr>
        <p:spPr bwMode="auto">
          <a:xfrm flipH="1">
            <a:off x="8315017" y="4145170"/>
            <a:ext cx="361917" cy="379283"/>
          </a:xfrm>
          <a:prstGeom prst="straightConnector1">
            <a:avLst/>
          </a:prstGeom>
          <a:noFill/>
          <a:ln w="57150" cap="flat" cmpd="sng" algn="ctr">
            <a:solidFill>
              <a:srgbClr val="FF0000"/>
            </a:solidFill>
            <a:prstDash val="solid"/>
            <a:round/>
            <a:headEnd type="none" w="med" len="med"/>
            <a:tailEnd type="triangle"/>
          </a:ln>
          <a:effectLst/>
        </p:spPr>
      </p:cxnSp>
      <p:sp>
        <p:nvSpPr>
          <p:cNvPr id="54" name="文本框 1">
            <a:extLst>
              <a:ext uri="{FF2B5EF4-FFF2-40B4-BE49-F238E27FC236}">
                <a16:creationId xmlns:a16="http://schemas.microsoft.com/office/drawing/2014/main" id="{056754F6-E234-4FDE-8A91-1D144CD3C47E}"/>
              </a:ext>
            </a:extLst>
          </p:cNvPr>
          <p:cNvSpPr txBox="1"/>
          <p:nvPr/>
        </p:nvSpPr>
        <p:spPr>
          <a:xfrm>
            <a:off x="6867922" y="1114753"/>
            <a:ext cx="4880807" cy="400110"/>
          </a:xfrm>
          <a:prstGeom prst="rect">
            <a:avLst/>
          </a:prstGeom>
          <a:solidFill>
            <a:srgbClr val="FFFF00"/>
          </a:solidFill>
          <a:ln>
            <a:solidFill>
              <a:srgbClr val="FF0000"/>
            </a:solidFill>
          </a:ln>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Write is 0 for what instructions?</a:t>
            </a:r>
          </a:p>
        </p:txBody>
      </p:sp>
      <p:sp>
        <p:nvSpPr>
          <p:cNvPr id="55" name="文本框 1">
            <a:extLst>
              <a:ext uri="{FF2B5EF4-FFF2-40B4-BE49-F238E27FC236}">
                <a16:creationId xmlns:a16="http://schemas.microsoft.com/office/drawing/2014/main" id="{4E95A905-2A1A-4CB8-ACCB-87AC331CC42B}"/>
              </a:ext>
            </a:extLst>
          </p:cNvPr>
          <p:cNvSpPr txBox="1"/>
          <p:nvPr/>
        </p:nvSpPr>
        <p:spPr>
          <a:xfrm>
            <a:off x="6874063" y="2324242"/>
            <a:ext cx="2574737" cy="400110"/>
          </a:xfrm>
          <a:prstGeom prst="rect">
            <a:avLst/>
          </a:prstGeom>
          <a:solidFill>
            <a:srgbClr val="FFFF00"/>
          </a:solidFill>
          <a:ln>
            <a:solidFill>
              <a:srgbClr val="FF0000"/>
            </a:solidFill>
          </a:ln>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Branches and Stores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60183" y="58739"/>
            <a:ext cx="9045869" cy="901700"/>
          </a:xfrm>
        </p:spPr>
        <p:txBody>
          <a:bodyPr/>
          <a:lstStyle/>
          <a:p>
            <a:r>
              <a:rPr lang="en-US" altLang="zh-TW" dirty="0"/>
              <a:t>Clocking Methodology</a:t>
            </a:r>
            <a:endParaRPr lang="en-AU" altLang="zh-TW" dirty="0">
              <a:ea typeface="新細明體" panose="02020500000000000000" pitchFamily="18" charset="-120"/>
            </a:endParaRPr>
          </a:p>
        </p:txBody>
      </p:sp>
      <p:sp>
        <p:nvSpPr>
          <p:cNvPr id="17411" name="Rectangle 3"/>
          <p:cNvSpPr>
            <a:spLocks noGrp="1" noChangeArrowheads="1"/>
          </p:cNvSpPr>
          <p:nvPr>
            <p:ph type="body" idx="1"/>
          </p:nvPr>
        </p:nvSpPr>
        <p:spPr>
          <a:xfrm>
            <a:off x="1111625" y="1078220"/>
            <a:ext cx="10322218" cy="2824163"/>
          </a:xfrm>
        </p:spPr>
        <p:txBody>
          <a:bodyPr/>
          <a:lstStyle/>
          <a:p>
            <a:r>
              <a:rPr lang="en-US" altLang="zh-TW" sz="3200" dirty="0"/>
              <a:t>Combinational logic transforms data during clock cycles</a:t>
            </a:r>
          </a:p>
          <a:p>
            <a:pPr lvl="1"/>
            <a:r>
              <a:rPr lang="en-US" altLang="zh-TW" dirty="0"/>
              <a:t>Between clock edges, </a:t>
            </a:r>
            <a:r>
              <a:rPr lang="en-US" altLang="zh-TW" dirty="0">
                <a:solidFill>
                  <a:schemeClr val="accent1"/>
                </a:solidFill>
              </a:rPr>
              <a:t>edge triggered clocking</a:t>
            </a:r>
            <a:endParaRPr lang="en-US" altLang="zh-TW" dirty="0"/>
          </a:p>
          <a:p>
            <a:pPr lvl="1"/>
            <a:r>
              <a:rPr lang="en-US" altLang="zh-TW" dirty="0"/>
              <a:t>Input from state elements, output to state element</a:t>
            </a:r>
          </a:p>
          <a:p>
            <a:pPr lvl="1"/>
            <a:r>
              <a:rPr lang="en-US" altLang="zh-TW" dirty="0"/>
              <a:t>Longest delay determines clock period</a:t>
            </a:r>
            <a:endParaRPr lang="en-AU" altLang="zh-TW" dirty="0">
              <a:ea typeface="新細明體" panose="02020500000000000000" pitchFamily="18" charset="-120"/>
            </a:endParaRPr>
          </a:p>
        </p:txBody>
      </p:sp>
      <p:pic>
        <p:nvPicPr>
          <p:cNvPr id="17412" name="Picture 4" descr="f04-04-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3704" y="4134259"/>
            <a:ext cx="5355291" cy="115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descr="f04-03-P3744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9683" y="4064666"/>
            <a:ext cx="4967773" cy="1353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25</a:t>
            </a:fld>
            <a:endParaRPr lang="zh-TW" altLang="en-US">
              <a:solidFill>
                <a:prstClr val="white"/>
              </a:solidFill>
            </a:endParaRPr>
          </a:p>
        </p:txBody>
      </p:sp>
      <p:sp>
        <p:nvSpPr>
          <p:cNvPr id="2" name="文本框 1"/>
          <p:cNvSpPr txBox="1"/>
          <p:nvPr/>
        </p:nvSpPr>
        <p:spPr>
          <a:xfrm>
            <a:off x="6291581" y="5496869"/>
            <a:ext cx="5355953" cy="461665"/>
          </a:xfrm>
          <a:prstGeom prst="rect">
            <a:avLst/>
          </a:prstGeom>
          <a:noFill/>
        </p:spPr>
        <p:txBody>
          <a:bodyPr wrap="none" rtlCol="0" anchor="ctr" anchorCtr="1">
            <a:spAutoFit/>
          </a:bodyPr>
          <a:lstStyle/>
          <a:p>
            <a:pPr defTabSz="1219170"/>
            <a:r>
              <a:rPr lang="en-US" altLang="zh-CN" sz="2400" dirty="0">
                <a:solidFill>
                  <a:srgbClr val="4F81BD"/>
                </a:solidFill>
                <a:latin typeface="Arial"/>
                <a:ea typeface="標楷體" panose="02010601000101010101" pitchFamily="65" charset="-120"/>
                <a:cs typeface="Calibri" panose="020F0702030404030204" pitchFamily="34" charset="0"/>
              </a:rPr>
              <a:t>enable read and write in a same clock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How to Design a Processor</a:t>
            </a:r>
          </a:p>
        </p:txBody>
      </p:sp>
      <p:sp>
        <p:nvSpPr>
          <p:cNvPr id="18435" name="Rectangle 3"/>
          <p:cNvSpPr>
            <a:spLocks noGrp="1" noChangeArrowheads="1"/>
          </p:cNvSpPr>
          <p:nvPr>
            <p:ph type="body" idx="1"/>
          </p:nvPr>
        </p:nvSpPr>
        <p:spPr>
          <a:xfrm>
            <a:off x="1321654" y="1094801"/>
            <a:ext cx="9702373" cy="4714328"/>
          </a:xfrm>
        </p:spPr>
        <p:txBody>
          <a:bodyPr/>
          <a:lstStyle/>
          <a:p>
            <a:pPr>
              <a:buFont typeface="Wingdings" panose="05000000000000000000" pitchFamily="2" charset="2"/>
              <a:buNone/>
            </a:pPr>
            <a:r>
              <a:rPr lang="zh-TW" altLang="en-US" dirty="0"/>
              <a:t>1</a:t>
            </a:r>
            <a:r>
              <a:rPr lang="zh-TW" altLang="en-US" sz="2667" dirty="0"/>
              <a:t>. </a:t>
            </a:r>
            <a:r>
              <a:rPr lang="en-US" altLang="zh-TW" sz="2667" dirty="0"/>
              <a:t>Analyze the required instruction set (data path requirements)</a:t>
            </a:r>
            <a:endParaRPr lang="en-US" altLang="zh-TW" sz="2667" u="sng" dirty="0"/>
          </a:p>
          <a:p>
            <a:pPr lvl="1"/>
            <a:r>
              <a:rPr lang="en-US" altLang="zh-TW" sz="2400" dirty="0"/>
              <a:t> The register transfers give the meaning of each instruction Datapath must include a storage element</a:t>
            </a:r>
          </a:p>
          <a:p>
            <a:pPr lvl="1"/>
            <a:r>
              <a:rPr lang="en-US" altLang="zh-TW" sz="2400" dirty="0"/>
              <a:t>Datapath must support each register transfer</a:t>
            </a:r>
          </a:p>
          <a:p>
            <a:pPr>
              <a:buFont typeface="Wingdings" panose="05000000000000000000" pitchFamily="2" charset="2"/>
              <a:buNone/>
            </a:pPr>
            <a:r>
              <a:rPr lang="en-US" altLang="zh-TW" sz="2667" dirty="0"/>
              <a:t>2. Select a set of data path components and establish a clocking methodology</a:t>
            </a:r>
          </a:p>
          <a:p>
            <a:pPr>
              <a:buFont typeface="Wingdings" panose="05000000000000000000" pitchFamily="2" charset="2"/>
              <a:buNone/>
            </a:pPr>
            <a:r>
              <a:rPr lang="en-US" altLang="zh-TW" sz="2667" dirty="0"/>
              <a:t>3. Assemble data path meeting the requirements</a:t>
            </a:r>
          </a:p>
          <a:p>
            <a:pPr>
              <a:buFont typeface="Wingdings" panose="05000000000000000000" pitchFamily="2" charset="2"/>
              <a:buNone/>
            </a:pPr>
            <a:r>
              <a:rPr lang="en-US" altLang="zh-TW" sz="2667" dirty="0"/>
              <a:t>4. Analyze the implementation of each instruction to determine the setting of control points affecting register transfers</a:t>
            </a:r>
          </a:p>
          <a:p>
            <a:pPr>
              <a:buFont typeface="Wingdings" panose="05000000000000000000" pitchFamily="2" charset="2"/>
              <a:buNone/>
            </a:pPr>
            <a:r>
              <a:rPr lang="en-US" altLang="zh-TW" sz="2667" dirty="0"/>
              <a:t>5. Assemble the control logic</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26</a:t>
            </a:fld>
            <a:endParaRPr lang="zh-TW" altLang="en-US">
              <a:solidFill>
                <a:prstClr val="white"/>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1347263" y="1105046"/>
            <a:ext cx="8773890" cy="4970463"/>
          </a:xfrm>
        </p:spPr>
        <p:txBody>
          <a:bodyPr/>
          <a:lstStyle/>
          <a:p>
            <a:pPr>
              <a:lnSpc>
                <a:spcPct val="80000"/>
              </a:lnSpc>
            </a:pPr>
            <a:r>
              <a:rPr lang="en-US" altLang="zh-TW" sz="2400" dirty="0"/>
              <a:t>Subset of RISC-V instructions are 32 bits long with 4 formats</a:t>
            </a:r>
          </a:p>
          <a:p>
            <a:pPr lvl="1">
              <a:lnSpc>
                <a:spcPct val="80000"/>
              </a:lnSpc>
            </a:pPr>
            <a:endParaRPr lang="en-US" altLang="zh-TW" sz="2133" dirty="0"/>
          </a:p>
          <a:p>
            <a:pPr marL="457189" lvl="1" indent="0">
              <a:lnSpc>
                <a:spcPct val="80000"/>
              </a:lnSpc>
              <a:buNone/>
            </a:pPr>
            <a:r>
              <a:rPr lang="en-US" altLang="zh-TW" sz="2133" dirty="0">
                <a:solidFill>
                  <a:srgbClr val="0000FF"/>
                </a:solidFill>
              </a:rPr>
              <a:t>         R-type</a:t>
            </a:r>
            <a:br>
              <a:rPr lang="en-US" altLang="zh-TW" sz="2133" dirty="0"/>
            </a:br>
            <a:endParaRPr lang="en-US" altLang="zh-TW" sz="2133" dirty="0"/>
          </a:p>
          <a:p>
            <a:pPr marL="457189" lvl="1" indent="0">
              <a:lnSpc>
                <a:spcPct val="80000"/>
              </a:lnSpc>
              <a:spcBef>
                <a:spcPts val="2000"/>
              </a:spcBef>
              <a:buNone/>
            </a:pPr>
            <a:r>
              <a:rPr lang="en-US" altLang="zh-TW" sz="2133" dirty="0">
                <a:solidFill>
                  <a:srgbClr val="0000FF"/>
                </a:solidFill>
              </a:rPr>
              <a:t>         I-type</a:t>
            </a:r>
            <a:br>
              <a:rPr lang="en-US" altLang="zh-TW" sz="2133" dirty="0"/>
            </a:br>
            <a:endParaRPr lang="en-US" altLang="zh-TW" sz="2133" dirty="0"/>
          </a:p>
          <a:p>
            <a:pPr marL="457189" lvl="1" indent="0">
              <a:lnSpc>
                <a:spcPct val="80000"/>
              </a:lnSpc>
              <a:spcBef>
                <a:spcPts val="2000"/>
              </a:spcBef>
              <a:buNone/>
            </a:pPr>
            <a:r>
              <a:rPr lang="en-US" altLang="zh-TW" sz="2133" dirty="0">
                <a:solidFill>
                  <a:srgbClr val="0000FF"/>
                </a:solidFill>
              </a:rPr>
              <a:t>  S-type/B-type</a:t>
            </a:r>
          </a:p>
          <a:p>
            <a:pPr marL="457189" lvl="1" indent="0">
              <a:lnSpc>
                <a:spcPct val="80000"/>
              </a:lnSpc>
              <a:spcBef>
                <a:spcPts val="2000"/>
              </a:spcBef>
              <a:buNone/>
            </a:pPr>
            <a:r>
              <a:rPr lang="en-US" altLang="zh-TW" sz="2133" dirty="0">
                <a:solidFill>
                  <a:srgbClr val="0000FF"/>
                </a:solidFill>
              </a:rPr>
              <a:t>	 J-type</a:t>
            </a:r>
            <a:br>
              <a:rPr lang="en-US" altLang="zh-TW" sz="2133" dirty="0"/>
            </a:br>
            <a:endParaRPr lang="en-US" altLang="zh-TW" sz="2133" dirty="0"/>
          </a:p>
          <a:p>
            <a:pPr>
              <a:lnSpc>
                <a:spcPct val="80000"/>
              </a:lnSpc>
            </a:pPr>
            <a:r>
              <a:rPr lang="en-US" altLang="zh-TW" sz="2400" dirty="0"/>
              <a:t>The different fields are:</a:t>
            </a:r>
          </a:p>
          <a:p>
            <a:pPr lvl="1">
              <a:lnSpc>
                <a:spcPct val="80000"/>
              </a:lnSpc>
              <a:spcBef>
                <a:spcPct val="10000"/>
              </a:spcBef>
            </a:pPr>
            <a:r>
              <a:rPr lang="en-US" altLang="zh-TW" sz="2133" dirty="0"/>
              <a:t>opcode: Operation of the instruction</a:t>
            </a:r>
          </a:p>
          <a:p>
            <a:pPr lvl="1">
              <a:lnSpc>
                <a:spcPct val="80000"/>
              </a:lnSpc>
              <a:spcBef>
                <a:spcPct val="10000"/>
              </a:spcBef>
            </a:pPr>
            <a:r>
              <a:rPr lang="en-US" altLang="zh-TW" sz="2133" dirty="0"/>
              <a:t>rs1,rs2, </a:t>
            </a:r>
            <a:r>
              <a:rPr lang="en-US" altLang="zh-TW" sz="2133" dirty="0" err="1"/>
              <a:t>rd</a:t>
            </a:r>
            <a:r>
              <a:rPr lang="en-US" altLang="zh-TW" sz="2133" dirty="0"/>
              <a:t>: Source and destination registers</a:t>
            </a:r>
          </a:p>
          <a:p>
            <a:pPr lvl="1">
              <a:lnSpc>
                <a:spcPct val="80000"/>
              </a:lnSpc>
              <a:spcBef>
                <a:spcPct val="10000"/>
              </a:spcBef>
            </a:pPr>
            <a:r>
              <a:rPr lang="en-US" altLang="zh-TW" sz="2133" dirty="0"/>
              <a:t>funct3: Selects variant of the “opcode” field</a:t>
            </a:r>
          </a:p>
          <a:p>
            <a:pPr lvl="1">
              <a:lnSpc>
                <a:spcPct val="80000"/>
              </a:lnSpc>
              <a:spcBef>
                <a:spcPct val="10000"/>
              </a:spcBef>
            </a:pPr>
            <a:r>
              <a:rPr lang="en-US" altLang="zh-TW" sz="2133" dirty="0"/>
              <a:t>Immediate: for computing memory addresses (data and instruction)</a:t>
            </a:r>
          </a:p>
        </p:txBody>
      </p:sp>
      <p:sp>
        <p:nvSpPr>
          <p:cNvPr id="20486" name="Rectangle 73"/>
          <p:cNvSpPr>
            <a:spLocks noGrp="1" noChangeArrowheads="1"/>
          </p:cNvSpPr>
          <p:nvPr>
            <p:ph type="title"/>
          </p:nvPr>
        </p:nvSpPr>
        <p:spPr>
          <a:xfrm>
            <a:off x="1270428" y="143436"/>
            <a:ext cx="9035624" cy="717177"/>
          </a:xfrm>
        </p:spPr>
        <p:txBody>
          <a:bodyPr/>
          <a:lstStyle/>
          <a:p>
            <a:r>
              <a:rPr lang="en-US" altLang="zh-TW" dirty="0"/>
              <a:t>Step 1 - Analyze Instruction Set</a:t>
            </a:r>
          </a:p>
        </p:txBody>
      </p:sp>
      <p:sp>
        <p:nvSpPr>
          <p:cNvPr id="7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27</a:t>
            </a:fld>
            <a:endParaRPr lang="zh-TW" altLang="en-US">
              <a:solidFill>
                <a:prstClr val="white"/>
              </a:solidFill>
            </a:endParaRPr>
          </a:p>
        </p:txBody>
      </p:sp>
      <p:grpSp>
        <p:nvGrpSpPr>
          <p:cNvPr id="89" name="Group 88">
            <a:extLst>
              <a:ext uri="{FF2B5EF4-FFF2-40B4-BE49-F238E27FC236}">
                <a16:creationId xmlns:a16="http://schemas.microsoft.com/office/drawing/2014/main" id="{E5849F33-64BB-48BC-89A2-4D30CADBE076}"/>
              </a:ext>
            </a:extLst>
          </p:cNvPr>
          <p:cNvGrpSpPr/>
          <p:nvPr/>
        </p:nvGrpSpPr>
        <p:grpSpPr>
          <a:xfrm>
            <a:off x="3576619" y="1541890"/>
            <a:ext cx="8078703" cy="646103"/>
            <a:chOff x="723900" y="2124293"/>
            <a:chExt cx="8078703" cy="646103"/>
          </a:xfrm>
        </p:grpSpPr>
        <p:sp>
          <p:nvSpPr>
            <p:cNvPr id="90" name="TextBox 89">
              <a:extLst>
                <a:ext uri="{FF2B5EF4-FFF2-40B4-BE49-F238E27FC236}">
                  <a16:creationId xmlns:a16="http://schemas.microsoft.com/office/drawing/2014/main" id="{785ADFAA-4A36-4EF4-8BC8-0B72653B8FB3}"/>
                </a:ext>
              </a:extLst>
            </p:cNvPr>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91" name="TextBox 90">
              <a:extLst>
                <a:ext uri="{FF2B5EF4-FFF2-40B4-BE49-F238E27FC236}">
                  <a16:creationId xmlns:a16="http://schemas.microsoft.com/office/drawing/2014/main" id="{3890E847-60D7-476A-A059-F50C4F4733F3}"/>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92" name="TextBox 91">
              <a:extLst>
                <a:ext uri="{FF2B5EF4-FFF2-40B4-BE49-F238E27FC236}">
                  <a16:creationId xmlns:a16="http://schemas.microsoft.com/office/drawing/2014/main" id="{907DF1B0-C98A-4B83-BFE4-74AB61C6C2EE}"/>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93" name="TextBox 92">
              <a:extLst>
                <a:ext uri="{FF2B5EF4-FFF2-40B4-BE49-F238E27FC236}">
                  <a16:creationId xmlns:a16="http://schemas.microsoft.com/office/drawing/2014/main" id="{7F9FE862-51B1-4413-9D60-84552A9A98E4}"/>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94" name="TextBox 93">
              <a:extLst>
                <a:ext uri="{FF2B5EF4-FFF2-40B4-BE49-F238E27FC236}">
                  <a16:creationId xmlns:a16="http://schemas.microsoft.com/office/drawing/2014/main" id="{C29EDD69-5323-446A-AC8A-C636E13C7147}"/>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95" name="TextBox 94">
              <a:extLst>
                <a:ext uri="{FF2B5EF4-FFF2-40B4-BE49-F238E27FC236}">
                  <a16:creationId xmlns:a16="http://schemas.microsoft.com/office/drawing/2014/main" id="{B4F4980A-6F02-42D6-B981-36729F8ED4DB}"/>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96" name="TextBox 95">
              <a:extLst>
                <a:ext uri="{FF2B5EF4-FFF2-40B4-BE49-F238E27FC236}">
                  <a16:creationId xmlns:a16="http://schemas.microsoft.com/office/drawing/2014/main" id="{3ACE45C1-CAD5-4ABC-9677-66038BBD2504}"/>
                </a:ext>
              </a:extLst>
            </p:cNvPr>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97" name="TextBox 96">
              <a:extLst>
                <a:ext uri="{FF2B5EF4-FFF2-40B4-BE49-F238E27FC236}">
                  <a16:creationId xmlns:a16="http://schemas.microsoft.com/office/drawing/2014/main" id="{068A4487-ADF3-460E-B47C-0B743667A54E}"/>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98" name="TextBox 97">
              <a:extLst>
                <a:ext uri="{FF2B5EF4-FFF2-40B4-BE49-F238E27FC236}">
                  <a16:creationId xmlns:a16="http://schemas.microsoft.com/office/drawing/2014/main" id="{BD7EF3C7-5F23-40DC-81F5-1AAA29A1BA67}"/>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99" name="TextBox 98">
              <a:extLst>
                <a:ext uri="{FF2B5EF4-FFF2-40B4-BE49-F238E27FC236}">
                  <a16:creationId xmlns:a16="http://schemas.microsoft.com/office/drawing/2014/main" id="{1F8C2834-45B3-4E07-8DD2-3FC63F922C62}"/>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00" name="TextBox 99">
              <a:extLst>
                <a:ext uri="{FF2B5EF4-FFF2-40B4-BE49-F238E27FC236}">
                  <a16:creationId xmlns:a16="http://schemas.microsoft.com/office/drawing/2014/main" id="{9295470D-3E7A-4D45-A871-B3473BEDEFDC}"/>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101" name="TextBox 100">
              <a:extLst>
                <a:ext uri="{FF2B5EF4-FFF2-40B4-BE49-F238E27FC236}">
                  <a16:creationId xmlns:a16="http://schemas.microsoft.com/office/drawing/2014/main" id="{43A9D690-EC13-4D5A-9FAF-ABA6CD56C711}"/>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grpSp>
        <p:nvGrpSpPr>
          <p:cNvPr id="102" name="Group 101">
            <a:extLst>
              <a:ext uri="{FF2B5EF4-FFF2-40B4-BE49-F238E27FC236}">
                <a16:creationId xmlns:a16="http://schemas.microsoft.com/office/drawing/2014/main" id="{DF1B0622-7649-409F-B715-FCA3DD1390D5}"/>
              </a:ext>
            </a:extLst>
          </p:cNvPr>
          <p:cNvGrpSpPr/>
          <p:nvPr/>
        </p:nvGrpSpPr>
        <p:grpSpPr>
          <a:xfrm>
            <a:off x="3576619" y="2139328"/>
            <a:ext cx="8078703" cy="646103"/>
            <a:chOff x="723900" y="3317566"/>
            <a:chExt cx="8078703" cy="646103"/>
          </a:xfrm>
        </p:grpSpPr>
        <p:sp>
          <p:nvSpPr>
            <p:cNvPr id="103" name="TextBox 102">
              <a:extLst>
                <a:ext uri="{FF2B5EF4-FFF2-40B4-BE49-F238E27FC236}">
                  <a16:creationId xmlns:a16="http://schemas.microsoft.com/office/drawing/2014/main" id="{0EE1C994-FE04-4E4D-B252-101A4D5FBBCE}"/>
                </a:ext>
              </a:extLst>
            </p:cNvPr>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04" name="TextBox 103">
              <a:extLst>
                <a:ext uri="{FF2B5EF4-FFF2-40B4-BE49-F238E27FC236}">
                  <a16:creationId xmlns:a16="http://schemas.microsoft.com/office/drawing/2014/main" id="{77C310AA-10E8-475A-82D5-962EC841D6E2}"/>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05" name="TextBox 104">
              <a:extLst>
                <a:ext uri="{FF2B5EF4-FFF2-40B4-BE49-F238E27FC236}">
                  <a16:creationId xmlns:a16="http://schemas.microsoft.com/office/drawing/2014/main" id="{A2E6CA56-DBDA-4F54-83AD-5FF11BE22DAE}"/>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06" name="TextBox 105">
              <a:extLst>
                <a:ext uri="{FF2B5EF4-FFF2-40B4-BE49-F238E27FC236}">
                  <a16:creationId xmlns:a16="http://schemas.microsoft.com/office/drawing/2014/main" id="{DDB94E9C-4845-4519-AF0D-8FA427C4D7EC}"/>
                </a:ext>
              </a:extLst>
            </p:cNvPr>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07" name="TextBox 106">
              <a:extLst>
                <a:ext uri="{FF2B5EF4-FFF2-40B4-BE49-F238E27FC236}">
                  <a16:creationId xmlns:a16="http://schemas.microsoft.com/office/drawing/2014/main" id="{AD15A69F-F436-494B-A472-85CE27E5B8CB}"/>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08" name="TextBox 107">
              <a:extLst>
                <a:ext uri="{FF2B5EF4-FFF2-40B4-BE49-F238E27FC236}">
                  <a16:creationId xmlns:a16="http://schemas.microsoft.com/office/drawing/2014/main" id="{586356FD-92AF-49F0-99BA-18CA37AD3ABF}"/>
                </a:ext>
              </a:extLst>
            </p:cNvPr>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09" name="TextBox 108">
              <a:extLst>
                <a:ext uri="{FF2B5EF4-FFF2-40B4-BE49-F238E27FC236}">
                  <a16:creationId xmlns:a16="http://schemas.microsoft.com/office/drawing/2014/main" id="{224A7825-D6C6-4B50-8C14-47E5A7D66386}"/>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10" name="TextBox 109">
              <a:extLst>
                <a:ext uri="{FF2B5EF4-FFF2-40B4-BE49-F238E27FC236}">
                  <a16:creationId xmlns:a16="http://schemas.microsoft.com/office/drawing/2014/main" id="{E99D2115-BFBA-4DFC-BDF6-27106FD1CDE9}"/>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11" name="TextBox 110">
              <a:extLst>
                <a:ext uri="{FF2B5EF4-FFF2-40B4-BE49-F238E27FC236}">
                  <a16:creationId xmlns:a16="http://schemas.microsoft.com/office/drawing/2014/main" id="{2746A7AF-3F6E-4A6C-8681-5C49E2B5185F}"/>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12" name="TextBox 111">
              <a:extLst>
                <a:ext uri="{FF2B5EF4-FFF2-40B4-BE49-F238E27FC236}">
                  <a16:creationId xmlns:a16="http://schemas.microsoft.com/office/drawing/2014/main" id="{2FA22EA7-68F2-4A22-997E-91EE8851D224}"/>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grpSp>
        <p:nvGrpSpPr>
          <p:cNvPr id="136" name="Group 135">
            <a:extLst>
              <a:ext uri="{FF2B5EF4-FFF2-40B4-BE49-F238E27FC236}">
                <a16:creationId xmlns:a16="http://schemas.microsoft.com/office/drawing/2014/main" id="{C9FADF62-119F-4810-9D15-C5356941EFFA}"/>
              </a:ext>
            </a:extLst>
          </p:cNvPr>
          <p:cNvGrpSpPr/>
          <p:nvPr/>
        </p:nvGrpSpPr>
        <p:grpSpPr>
          <a:xfrm>
            <a:off x="3576619" y="3466708"/>
            <a:ext cx="8078701" cy="743606"/>
            <a:chOff x="721855" y="5296661"/>
            <a:chExt cx="8078701" cy="743606"/>
          </a:xfrm>
        </p:grpSpPr>
        <p:sp>
          <p:nvSpPr>
            <p:cNvPr id="139" name="TextBox 138">
              <a:extLst>
                <a:ext uri="{FF2B5EF4-FFF2-40B4-BE49-F238E27FC236}">
                  <a16:creationId xmlns:a16="http://schemas.microsoft.com/office/drawing/2014/main" id="{7B7BD68A-295E-44D5-8DEC-77E337953FE7}"/>
                </a:ext>
              </a:extLst>
            </p:cNvPr>
            <p:cNvSpPr txBox="1"/>
            <p:nvPr/>
          </p:nvSpPr>
          <p:spPr>
            <a:xfrm>
              <a:off x="5870794" y="5678432"/>
              <a:ext cx="122041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0" name="TextBox 139">
              <a:extLst>
                <a:ext uri="{FF2B5EF4-FFF2-40B4-BE49-F238E27FC236}">
                  <a16:creationId xmlns:a16="http://schemas.microsoft.com/office/drawing/2014/main" id="{6EC5A15B-A764-44FF-917E-48BB13C0E936}"/>
                </a:ext>
              </a:extLst>
            </p:cNvPr>
            <p:cNvSpPr txBox="1"/>
            <p:nvPr/>
          </p:nvSpPr>
          <p:spPr>
            <a:xfrm>
              <a:off x="721855" y="5686324"/>
              <a:ext cx="5110159"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142" name="TextBox 141">
              <a:extLst>
                <a:ext uri="{FF2B5EF4-FFF2-40B4-BE49-F238E27FC236}">
                  <a16:creationId xmlns:a16="http://schemas.microsoft.com/office/drawing/2014/main" id="{27AC4122-4251-4988-98EF-01D5C742D3A7}"/>
                </a:ext>
              </a:extLst>
            </p:cNvPr>
            <p:cNvSpPr txBox="1"/>
            <p:nvPr/>
          </p:nvSpPr>
          <p:spPr>
            <a:xfrm>
              <a:off x="7108325" y="5678884"/>
              <a:ext cx="16922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6" name="TextBox 145">
              <a:extLst>
                <a:ext uri="{FF2B5EF4-FFF2-40B4-BE49-F238E27FC236}">
                  <a16:creationId xmlns:a16="http://schemas.microsoft.com/office/drawing/2014/main" id="{783199F9-4902-4E24-8E3C-09938019A083}"/>
                </a:ext>
              </a:extLst>
            </p:cNvPr>
            <p:cNvSpPr txBox="1"/>
            <p:nvPr/>
          </p:nvSpPr>
          <p:spPr>
            <a:xfrm>
              <a:off x="3090803" y="5371010"/>
              <a:ext cx="428323" cy="353943"/>
            </a:xfrm>
            <a:prstGeom prst="rect">
              <a:avLst/>
            </a:prstGeom>
            <a:noFill/>
          </p:spPr>
          <p:txBody>
            <a:bodyPr wrap="none" rtlCol="0">
              <a:spAutoFit/>
            </a:bodyPr>
            <a:lstStyle/>
            <a:p>
              <a:pPr algn="ctr"/>
              <a:r>
                <a:rPr lang="en-US" sz="1700" dirty="0"/>
                <a:t>20</a:t>
              </a:r>
            </a:p>
          </p:txBody>
        </p:sp>
        <p:sp>
          <p:nvSpPr>
            <p:cNvPr id="147" name="TextBox 146">
              <a:extLst>
                <a:ext uri="{FF2B5EF4-FFF2-40B4-BE49-F238E27FC236}">
                  <a16:creationId xmlns:a16="http://schemas.microsoft.com/office/drawing/2014/main" id="{DA19F38A-1C70-41E7-B760-02617A45206F}"/>
                </a:ext>
              </a:extLst>
            </p:cNvPr>
            <p:cNvSpPr txBox="1"/>
            <p:nvPr/>
          </p:nvSpPr>
          <p:spPr>
            <a:xfrm>
              <a:off x="6309142" y="5296661"/>
              <a:ext cx="306494" cy="353943"/>
            </a:xfrm>
            <a:prstGeom prst="rect">
              <a:avLst/>
            </a:prstGeom>
            <a:noFill/>
          </p:spPr>
          <p:txBody>
            <a:bodyPr wrap="none" rtlCol="0">
              <a:spAutoFit/>
            </a:bodyPr>
            <a:lstStyle/>
            <a:p>
              <a:pPr algn="ctr"/>
              <a:r>
                <a:rPr lang="en-US" sz="1700" dirty="0"/>
                <a:t>5</a:t>
              </a:r>
            </a:p>
          </p:txBody>
        </p:sp>
        <p:sp>
          <p:nvSpPr>
            <p:cNvPr id="148" name="TextBox 147">
              <a:extLst>
                <a:ext uri="{FF2B5EF4-FFF2-40B4-BE49-F238E27FC236}">
                  <a16:creationId xmlns:a16="http://schemas.microsoft.com/office/drawing/2014/main" id="{63211E16-33FE-41F3-813A-7580EEB9F1DF}"/>
                </a:ext>
              </a:extLst>
            </p:cNvPr>
            <p:cNvSpPr txBox="1"/>
            <p:nvPr/>
          </p:nvSpPr>
          <p:spPr>
            <a:xfrm>
              <a:off x="7776169" y="5360348"/>
              <a:ext cx="306494" cy="353943"/>
            </a:xfrm>
            <a:prstGeom prst="rect">
              <a:avLst/>
            </a:prstGeom>
            <a:noFill/>
          </p:spPr>
          <p:txBody>
            <a:bodyPr wrap="none" rtlCol="0">
              <a:spAutoFit/>
            </a:bodyPr>
            <a:lstStyle/>
            <a:p>
              <a:pPr algn="ctr"/>
              <a:r>
                <a:rPr lang="en-US" sz="1700" dirty="0"/>
                <a:t>7</a:t>
              </a:r>
            </a:p>
          </p:txBody>
        </p:sp>
      </p:grpSp>
      <p:grpSp>
        <p:nvGrpSpPr>
          <p:cNvPr id="149" name="Group 148">
            <a:extLst>
              <a:ext uri="{FF2B5EF4-FFF2-40B4-BE49-F238E27FC236}">
                <a16:creationId xmlns:a16="http://schemas.microsoft.com/office/drawing/2014/main" id="{E7CDDE85-59CD-4BE7-909E-CC5CB455AF9E}"/>
              </a:ext>
            </a:extLst>
          </p:cNvPr>
          <p:cNvGrpSpPr/>
          <p:nvPr/>
        </p:nvGrpSpPr>
        <p:grpSpPr>
          <a:xfrm>
            <a:off x="3576619" y="2884292"/>
            <a:ext cx="8078703" cy="646103"/>
            <a:chOff x="723900" y="3317566"/>
            <a:chExt cx="8078703" cy="646103"/>
          </a:xfrm>
        </p:grpSpPr>
        <p:sp>
          <p:nvSpPr>
            <p:cNvPr id="150" name="TextBox 149">
              <a:extLst>
                <a:ext uri="{FF2B5EF4-FFF2-40B4-BE49-F238E27FC236}">
                  <a16:creationId xmlns:a16="http://schemas.microsoft.com/office/drawing/2014/main" id="{ED2DAB9D-1FD3-4E70-9EB9-ACC7F78E0E3E}"/>
                </a:ext>
              </a:extLst>
            </p:cNvPr>
            <p:cNvSpPr txBox="1"/>
            <p:nvPr/>
          </p:nvSpPr>
          <p:spPr>
            <a:xfrm>
              <a:off x="723900" y="3609726"/>
              <a:ext cx="174228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151" name="TextBox 150">
              <a:extLst>
                <a:ext uri="{FF2B5EF4-FFF2-40B4-BE49-F238E27FC236}">
                  <a16:creationId xmlns:a16="http://schemas.microsoft.com/office/drawing/2014/main" id="{D2BDE4A9-D2C7-4E60-A60E-6B10F3E3B825}"/>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52" name="TextBox 151">
              <a:extLst>
                <a:ext uri="{FF2B5EF4-FFF2-40B4-BE49-F238E27FC236}">
                  <a16:creationId xmlns:a16="http://schemas.microsoft.com/office/drawing/2014/main" id="{727989F3-E7D9-4FEA-BDBA-DE1014C40857}"/>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54" name="TextBox 153">
              <a:extLst>
                <a:ext uri="{FF2B5EF4-FFF2-40B4-BE49-F238E27FC236}">
                  <a16:creationId xmlns:a16="http://schemas.microsoft.com/office/drawing/2014/main" id="{89AF86A6-F038-4FDD-9525-DA341817D0CF}"/>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6" name="TextBox 155">
              <a:extLst>
                <a:ext uri="{FF2B5EF4-FFF2-40B4-BE49-F238E27FC236}">
                  <a16:creationId xmlns:a16="http://schemas.microsoft.com/office/drawing/2014/main" id="{F36E8086-4BE4-4B90-A601-E665CE705463}"/>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57" name="TextBox 156">
              <a:extLst>
                <a:ext uri="{FF2B5EF4-FFF2-40B4-BE49-F238E27FC236}">
                  <a16:creationId xmlns:a16="http://schemas.microsoft.com/office/drawing/2014/main" id="{31EC5627-6922-4A5D-8873-F17978B70E15}"/>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58" name="TextBox 157">
              <a:extLst>
                <a:ext uri="{FF2B5EF4-FFF2-40B4-BE49-F238E27FC236}">
                  <a16:creationId xmlns:a16="http://schemas.microsoft.com/office/drawing/2014/main" id="{43C8E487-1FC8-4F9D-8FB2-744E0487F0BC}"/>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59" name="TextBox 158">
              <a:extLst>
                <a:ext uri="{FF2B5EF4-FFF2-40B4-BE49-F238E27FC236}">
                  <a16:creationId xmlns:a16="http://schemas.microsoft.com/office/drawing/2014/main" id="{41D4F403-AC2E-4802-A7F4-6173EE8662A4}"/>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160" name="TextBox 159">
            <a:extLst>
              <a:ext uri="{FF2B5EF4-FFF2-40B4-BE49-F238E27FC236}">
                <a16:creationId xmlns:a16="http://schemas.microsoft.com/office/drawing/2014/main" id="{0F716A08-4825-4E52-9E47-37BE1CCBA434}"/>
              </a:ext>
            </a:extLst>
          </p:cNvPr>
          <p:cNvSpPr txBox="1"/>
          <p:nvPr/>
        </p:nvSpPr>
        <p:spPr>
          <a:xfrm>
            <a:off x="5326412" y="3176451"/>
            <a:ext cx="1220417"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61" name="TextBox 160">
            <a:extLst>
              <a:ext uri="{FF2B5EF4-FFF2-40B4-BE49-F238E27FC236}">
                <a16:creationId xmlns:a16="http://schemas.microsoft.com/office/drawing/2014/main" id="{8BEF2140-B173-4900-96D5-67A85470A85F}"/>
              </a:ext>
            </a:extLst>
          </p:cNvPr>
          <p:cNvSpPr txBox="1"/>
          <p:nvPr/>
        </p:nvSpPr>
        <p:spPr>
          <a:xfrm>
            <a:off x="5728537" y="2854829"/>
            <a:ext cx="306494" cy="353943"/>
          </a:xfrm>
          <a:prstGeom prst="rect">
            <a:avLst/>
          </a:prstGeom>
          <a:noFill/>
        </p:spPr>
        <p:txBody>
          <a:bodyPr wrap="none" rtlCol="0">
            <a:spAutoFit/>
          </a:bodyPr>
          <a:lstStyle/>
          <a:p>
            <a:pPr algn="ctr"/>
            <a:r>
              <a:rPr lang="en-US" sz="1700" dirty="0"/>
              <a:t>5</a:t>
            </a:r>
          </a:p>
        </p:txBody>
      </p:sp>
      <p:sp>
        <p:nvSpPr>
          <p:cNvPr id="164" name="TextBox 163">
            <a:extLst>
              <a:ext uri="{FF2B5EF4-FFF2-40B4-BE49-F238E27FC236}">
                <a16:creationId xmlns:a16="http://schemas.microsoft.com/office/drawing/2014/main" id="{9303939F-68A8-400A-8D2B-77C226F2E559}"/>
              </a:ext>
            </a:extLst>
          </p:cNvPr>
          <p:cNvSpPr txBox="1"/>
          <p:nvPr/>
        </p:nvSpPr>
        <p:spPr>
          <a:xfrm>
            <a:off x="8678840" y="3160124"/>
            <a:ext cx="123587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165" name="TextBox 164">
            <a:extLst>
              <a:ext uri="{FF2B5EF4-FFF2-40B4-BE49-F238E27FC236}">
                <a16:creationId xmlns:a16="http://schemas.microsoft.com/office/drawing/2014/main" id="{65452534-DAC5-4E4F-BB1A-B0061F08EF9A}"/>
              </a:ext>
            </a:extLst>
          </p:cNvPr>
          <p:cNvSpPr txBox="1"/>
          <p:nvPr/>
        </p:nvSpPr>
        <p:spPr>
          <a:xfrm>
            <a:off x="4360666" y="2851954"/>
            <a:ext cx="306494" cy="353943"/>
          </a:xfrm>
          <a:prstGeom prst="rect">
            <a:avLst/>
          </a:prstGeom>
          <a:noFill/>
        </p:spPr>
        <p:txBody>
          <a:bodyPr wrap="none" rtlCol="0">
            <a:spAutoFit/>
          </a:bodyPr>
          <a:lstStyle/>
          <a:p>
            <a:pPr algn="ctr"/>
            <a:r>
              <a:rPr lang="en-US" sz="1700" dirty="0"/>
              <a:t>7</a:t>
            </a:r>
          </a:p>
        </p:txBody>
      </p:sp>
      <p:sp>
        <p:nvSpPr>
          <p:cNvPr id="2" name="TextBox 1">
            <a:extLst>
              <a:ext uri="{FF2B5EF4-FFF2-40B4-BE49-F238E27FC236}">
                <a16:creationId xmlns:a16="http://schemas.microsoft.com/office/drawing/2014/main" id="{ADD71E34-B0FF-47C1-B2E5-923BE5A212D7}"/>
              </a:ext>
            </a:extLst>
          </p:cNvPr>
          <p:cNvSpPr txBox="1"/>
          <p:nvPr/>
        </p:nvSpPr>
        <p:spPr>
          <a:xfrm>
            <a:off x="404453" y="2007129"/>
            <a:ext cx="1133644" cy="1754326"/>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Subset:</a:t>
            </a:r>
          </a:p>
          <a:p>
            <a:endParaRPr lang="en-US" dirty="0">
              <a:ea typeface="標楷體" pitchFamily="65" charset="-120"/>
              <a:cs typeface="Calibri" pitchFamily="34" charset="0"/>
            </a:endParaRPr>
          </a:p>
          <a:p>
            <a:r>
              <a:rPr lang="en-US" b="1" dirty="0" err="1">
                <a:ea typeface="標楷體" pitchFamily="65" charset="-120"/>
                <a:cs typeface="Calibri" pitchFamily="34" charset="0"/>
              </a:rPr>
              <a:t>Lw</a:t>
            </a:r>
            <a:r>
              <a:rPr lang="en-US" b="1" dirty="0">
                <a:ea typeface="標楷體" pitchFamily="65" charset="-120"/>
                <a:cs typeface="Calibri" pitchFamily="34" charset="0"/>
              </a:rPr>
              <a:t>/</a:t>
            </a:r>
            <a:r>
              <a:rPr lang="en-US" b="1" dirty="0" err="1">
                <a:ea typeface="標楷體" pitchFamily="65" charset="-120"/>
                <a:cs typeface="Calibri" pitchFamily="34" charset="0"/>
              </a:rPr>
              <a:t>Sw</a:t>
            </a:r>
            <a:endParaRPr lang="en-US" b="1" dirty="0">
              <a:ea typeface="標楷體" pitchFamily="65" charset="-120"/>
              <a:cs typeface="Calibri" pitchFamily="34" charset="0"/>
            </a:endParaRPr>
          </a:p>
          <a:p>
            <a:r>
              <a:rPr lang="en-US" b="1" dirty="0">
                <a:ea typeface="標楷體" pitchFamily="65" charset="-120"/>
                <a:cs typeface="Calibri" pitchFamily="34" charset="0"/>
              </a:rPr>
              <a:t>Add/Sub</a:t>
            </a:r>
          </a:p>
          <a:p>
            <a:r>
              <a:rPr lang="en-US" b="1" dirty="0" err="1">
                <a:ea typeface="標楷體" pitchFamily="65" charset="-120"/>
                <a:cs typeface="Calibri" pitchFamily="34" charset="0"/>
              </a:rPr>
              <a:t>And/Or</a:t>
            </a:r>
            <a:endParaRPr lang="en-US" b="1" dirty="0">
              <a:ea typeface="標楷體" pitchFamily="65" charset="-120"/>
              <a:cs typeface="Calibri" pitchFamily="34" charset="0"/>
            </a:endParaRPr>
          </a:p>
          <a:p>
            <a:r>
              <a:rPr lang="en-US" b="1" dirty="0" err="1">
                <a:ea typeface="標楷體" pitchFamily="65" charset="-120"/>
                <a:cs typeface="Calibri" pitchFamily="34" charset="0"/>
              </a:rPr>
              <a:t>Beq</a:t>
            </a:r>
            <a:r>
              <a:rPr lang="en-US" b="1" dirty="0">
                <a:ea typeface="標楷體" pitchFamily="65" charset="-120"/>
                <a:cs typeface="Calibri" pitchFamily="34" charset="0"/>
              </a:rPr>
              <a:t>/Jal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94"/>
          <p:cNvSpPr>
            <a:spLocks noGrp="1" noChangeArrowheads="1"/>
          </p:cNvSpPr>
          <p:nvPr>
            <p:ph type="title"/>
          </p:nvPr>
        </p:nvSpPr>
        <p:spPr>
          <a:xfrm>
            <a:off x="1198709" y="102454"/>
            <a:ext cx="9107343" cy="747913"/>
          </a:xfrm>
        </p:spPr>
        <p:txBody>
          <a:bodyPr/>
          <a:lstStyle/>
          <a:p>
            <a:r>
              <a:rPr lang="en-US" altLang="zh-TW" dirty="0"/>
              <a:t>Our Example: RV32I Subset</a:t>
            </a:r>
          </a:p>
        </p:txBody>
      </p:sp>
      <p:sp>
        <p:nvSpPr>
          <p:cNvPr id="21510" name="Rectangle 95"/>
          <p:cNvSpPr>
            <a:spLocks noGrp="1" noChangeArrowheads="1"/>
          </p:cNvSpPr>
          <p:nvPr>
            <p:ph type="body" idx="1"/>
          </p:nvPr>
        </p:nvSpPr>
        <p:spPr>
          <a:xfrm>
            <a:off x="1072856" y="1045028"/>
            <a:ext cx="3342903" cy="4876800"/>
          </a:xfrm>
        </p:spPr>
        <p:txBody>
          <a:bodyPr/>
          <a:lstStyle/>
          <a:p>
            <a:r>
              <a:rPr lang="en-US" altLang="zh-TW" sz="2133" dirty="0"/>
              <a:t>R-Type</a:t>
            </a:r>
          </a:p>
          <a:p>
            <a:pPr lvl="1">
              <a:spcBef>
                <a:spcPts val="0"/>
              </a:spcBef>
            </a:pPr>
            <a:r>
              <a:rPr lang="en-US" altLang="zh-TW" sz="1867" dirty="0"/>
              <a:t>add </a:t>
            </a:r>
            <a:r>
              <a:rPr lang="en-US" altLang="zh-TW" sz="1867" dirty="0" err="1"/>
              <a:t>rd</a:t>
            </a:r>
            <a:r>
              <a:rPr lang="en-US" altLang="zh-TW" sz="1867" dirty="0"/>
              <a:t>, rs1, rs2</a:t>
            </a:r>
          </a:p>
          <a:p>
            <a:pPr lvl="1">
              <a:spcBef>
                <a:spcPts val="0"/>
              </a:spcBef>
            </a:pPr>
            <a:r>
              <a:rPr lang="en-US" altLang="zh-TW" sz="1867" dirty="0"/>
              <a:t>sub </a:t>
            </a:r>
            <a:r>
              <a:rPr lang="en-US" altLang="zh-TW" sz="1867" dirty="0" err="1"/>
              <a:t>rd</a:t>
            </a:r>
            <a:r>
              <a:rPr lang="en-US" altLang="zh-TW" sz="1867" dirty="0"/>
              <a:t>, rs1, rs2</a:t>
            </a:r>
          </a:p>
          <a:p>
            <a:pPr lvl="1">
              <a:spcBef>
                <a:spcPts val="0"/>
              </a:spcBef>
            </a:pPr>
            <a:r>
              <a:rPr lang="en-US" altLang="zh-TW" sz="1867" dirty="0"/>
              <a:t>and </a:t>
            </a:r>
            <a:r>
              <a:rPr lang="en-US" altLang="zh-TW" sz="1867" dirty="0" err="1"/>
              <a:t>rd</a:t>
            </a:r>
            <a:r>
              <a:rPr lang="en-US" altLang="zh-TW" sz="1867" dirty="0"/>
              <a:t>, rs1, rs2</a:t>
            </a:r>
          </a:p>
          <a:p>
            <a:pPr lvl="1">
              <a:spcBef>
                <a:spcPts val="0"/>
              </a:spcBef>
            </a:pPr>
            <a:r>
              <a:rPr lang="en-US" altLang="zh-TW" sz="1867" dirty="0"/>
              <a:t>or    </a:t>
            </a:r>
            <a:r>
              <a:rPr lang="en-US" altLang="zh-TW" sz="1867" dirty="0" err="1"/>
              <a:t>rd</a:t>
            </a:r>
            <a:r>
              <a:rPr lang="en-US" altLang="zh-TW" sz="1867" dirty="0"/>
              <a:t>, rs1, rs2</a:t>
            </a:r>
          </a:p>
          <a:p>
            <a:r>
              <a:rPr lang="en-US" altLang="zh-TW" sz="2133" dirty="0"/>
              <a:t>Load/Store</a:t>
            </a:r>
          </a:p>
          <a:p>
            <a:pPr lvl="1">
              <a:spcBef>
                <a:spcPts val="0"/>
              </a:spcBef>
            </a:pPr>
            <a:r>
              <a:rPr lang="en-US" altLang="zh-TW" sz="1867" dirty="0" err="1"/>
              <a:t>lw</a:t>
            </a:r>
            <a:r>
              <a:rPr lang="en-US" altLang="zh-TW" sz="1867" dirty="0"/>
              <a:t> rd,rs1,imm12</a:t>
            </a:r>
          </a:p>
          <a:p>
            <a:pPr lvl="1">
              <a:spcBef>
                <a:spcPts val="0"/>
              </a:spcBef>
            </a:pPr>
            <a:r>
              <a:rPr lang="en-US" altLang="zh-TW" sz="1867" dirty="0" err="1"/>
              <a:t>sw</a:t>
            </a:r>
            <a:r>
              <a:rPr lang="en-US" altLang="zh-TW" sz="1867" dirty="0"/>
              <a:t> rs2,rs1,imm12</a:t>
            </a:r>
          </a:p>
          <a:p>
            <a:r>
              <a:rPr lang="en-US" altLang="zh-TW" sz="2133" dirty="0"/>
              <a:t>Immediate operand</a:t>
            </a:r>
          </a:p>
          <a:p>
            <a:pPr lvl="1">
              <a:spcBef>
                <a:spcPts val="0"/>
              </a:spcBef>
            </a:pPr>
            <a:r>
              <a:rPr lang="en-US" altLang="zh-TW" sz="1867" dirty="0" err="1"/>
              <a:t>addi</a:t>
            </a:r>
            <a:r>
              <a:rPr lang="en-US" altLang="zh-TW" sz="1867" dirty="0"/>
              <a:t>   rd,rs1,imm12</a:t>
            </a:r>
          </a:p>
          <a:p>
            <a:r>
              <a:rPr lang="en-US" altLang="zh-TW" sz="2133" dirty="0"/>
              <a:t>Branch</a:t>
            </a:r>
          </a:p>
          <a:p>
            <a:pPr lvl="1">
              <a:spcBef>
                <a:spcPts val="0"/>
              </a:spcBef>
            </a:pPr>
            <a:r>
              <a:rPr lang="en-US" altLang="zh-TW" sz="1867" dirty="0" err="1"/>
              <a:t>beq</a:t>
            </a:r>
            <a:r>
              <a:rPr lang="en-US" altLang="zh-TW" sz="1867" dirty="0"/>
              <a:t> rs1,rs2,imm12</a:t>
            </a:r>
          </a:p>
          <a:p>
            <a:r>
              <a:rPr lang="en-US" altLang="zh-TW" sz="2133" dirty="0"/>
              <a:t>Jump</a:t>
            </a:r>
          </a:p>
          <a:p>
            <a:pPr lvl="1">
              <a:spcBef>
                <a:spcPts val="0"/>
              </a:spcBef>
            </a:pPr>
            <a:r>
              <a:rPr lang="en-US" altLang="zh-TW" sz="1867" dirty="0" err="1"/>
              <a:t>jal</a:t>
            </a:r>
            <a:r>
              <a:rPr lang="en-US" altLang="zh-TW" sz="1867" dirty="0"/>
              <a:t> </a:t>
            </a:r>
            <a:r>
              <a:rPr lang="en-US" altLang="zh-TW" sz="1867" dirty="0" err="1"/>
              <a:t>rd</a:t>
            </a:r>
            <a:r>
              <a:rPr lang="en-US" altLang="zh-TW" sz="1867" dirty="0"/>
              <a:t>, target</a:t>
            </a:r>
          </a:p>
        </p:txBody>
      </p:sp>
      <p:sp>
        <p:nvSpPr>
          <p:cNvPr id="7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28</a:t>
            </a:fld>
            <a:endParaRPr lang="zh-TW" altLang="en-US">
              <a:solidFill>
                <a:prstClr val="white"/>
              </a:solidFill>
            </a:endParaRPr>
          </a:p>
        </p:txBody>
      </p:sp>
      <p:grpSp>
        <p:nvGrpSpPr>
          <p:cNvPr id="77" name="Group 76">
            <a:extLst>
              <a:ext uri="{FF2B5EF4-FFF2-40B4-BE49-F238E27FC236}">
                <a16:creationId xmlns:a16="http://schemas.microsoft.com/office/drawing/2014/main" id="{E3347384-9FB0-45AC-BD28-F8054C68B5F5}"/>
              </a:ext>
            </a:extLst>
          </p:cNvPr>
          <p:cNvGrpSpPr/>
          <p:nvPr/>
        </p:nvGrpSpPr>
        <p:grpSpPr>
          <a:xfrm>
            <a:off x="3980031" y="1156642"/>
            <a:ext cx="8078703" cy="646103"/>
            <a:chOff x="723900" y="2124293"/>
            <a:chExt cx="8078703" cy="646103"/>
          </a:xfrm>
        </p:grpSpPr>
        <p:sp>
          <p:nvSpPr>
            <p:cNvPr id="78" name="TextBox 77">
              <a:extLst>
                <a:ext uri="{FF2B5EF4-FFF2-40B4-BE49-F238E27FC236}">
                  <a16:creationId xmlns:a16="http://schemas.microsoft.com/office/drawing/2014/main" id="{D1FAF7CC-483C-40DE-A9F5-030AF7C570B7}"/>
                </a:ext>
              </a:extLst>
            </p:cNvPr>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79" name="TextBox 78">
              <a:extLst>
                <a:ext uri="{FF2B5EF4-FFF2-40B4-BE49-F238E27FC236}">
                  <a16:creationId xmlns:a16="http://schemas.microsoft.com/office/drawing/2014/main" id="{3EE22483-E112-4BEB-A06E-0FA20E8384ED}"/>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80" name="TextBox 79">
              <a:extLst>
                <a:ext uri="{FF2B5EF4-FFF2-40B4-BE49-F238E27FC236}">
                  <a16:creationId xmlns:a16="http://schemas.microsoft.com/office/drawing/2014/main" id="{C00DED39-582C-4BBA-BF64-3666CA99C47D}"/>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81" name="TextBox 80">
              <a:extLst>
                <a:ext uri="{FF2B5EF4-FFF2-40B4-BE49-F238E27FC236}">
                  <a16:creationId xmlns:a16="http://schemas.microsoft.com/office/drawing/2014/main" id="{E21A8AE8-F670-4343-BFE4-853FD3DC0428}"/>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82" name="TextBox 81">
              <a:extLst>
                <a:ext uri="{FF2B5EF4-FFF2-40B4-BE49-F238E27FC236}">
                  <a16:creationId xmlns:a16="http://schemas.microsoft.com/office/drawing/2014/main" id="{EDDF063F-6207-411E-8F04-31E8183232DE}"/>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83" name="TextBox 82">
              <a:extLst>
                <a:ext uri="{FF2B5EF4-FFF2-40B4-BE49-F238E27FC236}">
                  <a16:creationId xmlns:a16="http://schemas.microsoft.com/office/drawing/2014/main" id="{6C0A0278-5DC9-4DDC-814F-27174F8779DA}"/>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84" name="TextBox 83">
              <a:extLst>
                <a:ext uri="{FF2B5EF4-FFF2-40B4-BE49-F238E27FC236}">
                  <a16:creationId xmlns:a16="http://schemas.microsoft.com/office/drawing/2014/main" id="{92C4E13A-FB1F-4B37-9452-48EAE8B9E05B}"/>
                </a:ext>
              </a:extLst>
            </p:cNvPr>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85" name="TextBox 84">
              <a:extLst>
                <a:ext uri="{FF2B5EF4-FFF2-40B4-BE49-F238E27FC236}">
                  <a16:creationId xmlns:a16="http://schemas.microsoft.com/office/drawing/2014/main" id="{1948C57E-A400-4B4F-9908-1A99D96CA3A9}"/>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86" name="TextBox 85">
              <a:extLst>
                <a:ext uri="{FF2B5EF4-FFF2-40B4-BE49-F238E27FC236}">
                  <a16:creationId xmlns:a16="http://schemas.microsoft.com/office/drawing/2014/main" id="{11F39364-28D3-482E-81BD-83E82F4CB548}"/>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87" name="TextBox 86">
              <a:extLst>
                <a:ext uri="{FF2B5EF4-FFF2-40B4-BE49-F238E27FC236}">
                  <a16:creationId xmlns:a16="http://schemas.microsoft.com/office/drawing/2014/main" id="{7BF3A80D-C1DD-436E-918F-38EE29774646}"/>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88" name="TextBox 87">
              <a:extLst>
                <a:ext uri="{FF2B5EF4-FFF2-40B4-BE49-F238E27FC236}">
                  <a16:creationId xmlns:a16="http://schemas.microsoft.com/office/drawing/2014/main" id="{53C3FF45-8652-4F5C-837E-D03189D407E7}"/>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89" name="TextBox 88">
              <a:extLst>
                <a:ext uri="{FF2B5EF4-FFF2-40B4-BE49-F238E27FC236}">
                  <a16:creationId xmlns:a16="http://schemas.microsoft.com/office/drawing/2014/main" id="{71FF312F-3C0D-44D8-9845-D440A81C9B94}"/>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grpSp>
        <p:nvGrpSpPr>
          <p:cNvPr id="90" name="Group 89">
            <a:extLst>
              <a:ext uri="{FF2B5EF4-FFF2-40B4-BE49-F238E27FC236}">
                <a16:creationId xmlns:a16="http://schemas.microsoft.com/office/drawing/2014/main" id="{A9E0F0AC-89BF-4301-A809-583BA1D155BE}"/>
              </a:ext>
            </a:extLst>
          </p:cNvPr>
          <p:cNvGrpSpPr/>
          <p:nvPr/>
        </p:nvGrpSpPr>
        <p:grpSpPr>
          <a:xfrm>
            <a:off x="4033937" y="2508973"/>
            <a:ext cx="8078703" cy="646103"/>
            <a:chOff x="723900" y="3317566"/>
            <a:chExt cx="8078703" cy="646103"/>
          </a:xfrm>
        </p:grpSpPr>
        <p:sp>
          <p:nvSpPr>
            <p:cNvPr id="91" name="TextBox 90">
              <a:extLst>
                <a:ext uri="{FF2B5EF4-FFF2-40B4-BE49-F238E27FC236}">
                  <a16:creationId xmlns:a16="http://schemas.microsoft.com/office/drawing/2014/main" id="{D0FB2E1A-32C0-4E04-8DF2-A9281416E7EB}"/>
                </a:ext>
              </a:extLst>
            </p:cNvPr>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92" name="TextBox 91">
              <a:extLst>
                <a:ext uri="{FF2B5EF4-FFF2-40B4-BE49-F238E27FC236}">
                  <a16:creationId xmlns:a16="http://schemas.microsoft.com/office/drawing/2014/main" id="{39FACB78-A892-4322-ABFB-E7749D10A20F}"/>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93" name="TextBox 92">
              <a:extLst>
                <a:ext uri="{FF2B5EF4-FFF2-40B4-BE49-F238E27FC236}">
                  <a16:creationId xmlns:a16="http://schemas.microsoft.com/office/drawing/2014/main" id="{6A0CC748-CA4A-41C8-A893-030E7D5BD28E}"/>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94" name="TextBox 93">
              <a:extLst>
                <a:ext uri="{FF2B5EF4-FFF2-40B4-BE49-F238E27FC236}">
                  <a16:creationId xmlns:a16="http://schemas.microsoft.com/office/drawing/2014/main" id="{40D5D804-B94E-4138-97B3-5673E4B05614}"/>
                </a:ext>
              </a:extLst>
            </p:cNvPr>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95" name="TextBox 94">
              <a:extLst>
                <a:ext uri="{FF2B5EF4-FFF2-40B4-BE49-F238E27FC236}">
                  <a16:creationId xmlns:a16="http://schemas.microsoft.com/office/drawing/2014/main" id="{FA8B6037-5DFD-49D0-8A1B-5A0A37F9ECBC}"/>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96" name="TextBox 95">
              <a:extLst>
                <a:ext uri="{FF2B5EF4-FFF2-40B4-BE49-F238E27FC236}">
                  <a16:creationId xmlns:a16="http://schemas.microsoft.com/office/drawing/2014/main" id="{1F766DA3-A778-42E2-A942-CB3275189068}"/>
                </a:ext>
              </a:extLst>
            </p:cNvPr>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97" name="TextBox 96">
              <a:extLst>
                <a:ext uri="{FF2B5EF4-FFF2-40B4-BE49-F238E27FC236}">
                  <a16:creationId xmlns:a16="http://schemas.microsoft.com/office/drawing/2014/main" id="{6EBC75EF-2054-4798-9D35-1178CF89A091}"/>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98" name="TextBox 97">
              <a:extLst>
                <a:ext uri="{FF2B5EF4-FFF2-40B4-BE49-F238E27FC236}">
                  <a16:creationId xmlns:a16="http://schemas.microsoft.com/office/drawing/2014/main" id="{608473A2-03DB-421D-9238-4F2654135B59}"/>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99" name="TextBox 98">
              <a:extLst>
                <a:ext uri="{FF2B5EF4-FFF2-40B4-BE49-F238E27FC236}">
                  <a16:creationId xmlns:a16="http://schemas.microsoft.com/office/drawing/2014/main" id="{3898BA22-6D5B-406F-80E3-3C72E1BDE58F}"/>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00" name="TextBox 99">
              <a:extLst>
                <a:ext uri="{FF2B5EF4-FFF2-40B4-BE49-F238E27FC236}">
                  <a16:creationId xmlns:a16="http://schemas.microsoft.com/office/drawing/2014/main" id="{4E9939EB-5737-4F0E-A855-4668C6894F92}"/>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grpSp>
        <p:nvGrpSpPr>
          <p:cNvPr id="101" name="Group 100">
            <a:extLst>
              <a:ext uri="{FF2B5EF4-FFF2-40B4-BE49-F238E27FC236}">
                <a16:creationId xmlns:a16="http://schemas.microsoft.com/office/drawing/2014/main" id="{4BE47435-323F-493C-8CED-6C60EA7FEAF5}"/>
              </a:ext>
            </a:extLst>
          </p:cNvPr>
          <p:cNvGrpSpPr/>
          <p:nvPr/>
        </p:nvGrpSpPr>
        <p:grpSpPr>
          <a:xfrm>
            <a:off x="4032224" y="5011612"/>
            <a:ext cx="8078701" cy="745766"/>
            <a:chOff x="721855" y="5296661"/>
            <a:chExt cx="8078701" cy="745766"/>
          </a:xfrm>
        </p:grpSpPr>
        <p:sp>
          <p:nvSpPr>
            <p:cNvPr id="102" name="TextBox 101">
              <a:extLst>
                <a:ext uri="{FF2B5EF4-FFF2-40B4-BE49-F238E27FC236}">
                  <a16:creationId xmlns:a16="http://schemas.microsoft.com/office/drawing/2014/main" id="{64EBBE90-95CD-42F0-A33D-ADEEE0E848E3}"/>
                </a:ext>
              </a:extLst>
            </p:cNvPr>
            <p:cNvSpPr txBox="1"/>
            <p:nvPr/>
          </p:nvSpPr>
          <p:spPr>
            <a:xfrm>
              <a:off x="721855" y="5708993"/>
              <a:ext cx="742280" cy="276999"/>
            </a:xfrm>
            <a:prstGeom prst="rect">
              <a:avLst/>
            </a:prstGeom>
            <a:noFill/>
            <a:ln w="12700">
              <a:solidFill>
                <a:schemeClr val="tx1"/>
              </a:solidFill>
            </a:ln>
          </p:spPr>
          <p:txBody>
            <a:bodyPr wrap="square" rtlCol="0">
              <a:spAutoFit/>
            </a:bodyPr>
            <a:lstStyle/>
            <a:p>
              <a:pPr algn="ctr"/>
              <a:r>
                <a:rPr lang="en-US" sz="1200" dirty="0" err="1">
                  <a:solidFill>
                    <a:srgbClr val="56127A"/>
                  </a:solidFill>
                </a:rPr>
                <a:t>imm</a:t>
              </a:r>
              <a:r>
                <a:rPr lang="en-US" sz="1200" dirty="0">
                  <a:solidFill>
                    <a:srgbClr val="56127A"/>
                  </a:solidFill>
                </a:rPr>
                <a:t>[20]</a:t>
              </a:r>
            </a:p>
          </p:txBody>
        </p:sp>
        <p:sp>
          <p:nvSpPr>
            <p:cNvPr id="103" name="TextBox 102">
              <a:extLst>
                <a:ext uri="{FF2B5EF4-FFF2-40B4-BE49-F238E27FC236}">
                  <a16:creationId xmlns:a16="http://schemas.microsoft.com/office/drawing/2014/main" id="{02A8EF24-1726-40F0-815E-8EC722C7EB7A}"/>
                </a:ext>
              </a:extLst>
            </p:cNvPr>
            <p:cNvSpPr txBox="1"/>
            <p:nvPr/>
          </p:nvSpPr>
          <p:spPr>
            <a:xfrm>
              <a:off x="1485860" y="5688484"/>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104" name="TextBox 103">
              <a:extLst>
                <a:ext uri="{FF2B5EF4-FFF2-40B4-BE49-F238E27FC236}">
                  <a16:creationId xmlns:a16="http://schemas.microsoft.com/office/drawing/2014/main" id="{47C78F04-8A37-4321-92EB-CFDF249F297C}"/>
                </a:ext>
              </a:extLst>
            </p:cNvPr>
            <p:cNvSpPr txBox="1"/>
            <p:nvPr/>
          </p:nvSpPr>
          <p:spPr>
            <a:xfrm>
              <a:off x="5870794" y="5678432"/>
              <a:ext cx="122041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05" name="TextBox 104">
              <a:extLst>
                <a:ext uri="{FF2B5EF4-FFF2-40B4-BE49-F238E27FC236}">
                  <a16:creationId xmlns:a16="http://schemas.microsoft.com/office/drawing/2014/main" id="{86D482D7-F511-4FA3-B913-BC11AC37578B}"/>
                </a:ext>
              </a:extLst>
            </p:cNvPr>
            <p:cNvSpPr txBox="1"/>
            <p:nvPr/>
          </p:nvSpPr>
          <p:spPr>
            <a:xfrm>
              <a:off x="3689950" y="5686324"/>
              <a:ext cx="214206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106" name="TextBox 105">
              <a:extLst>
                <a:ext uri="{FF2B5EF4-FFF2-40B4-BE49-F238E27FC236}">
                  <a16:creationId xmlns:a16="http://schemas.microsoft.com/office/drawing/2014/main" id="{AC8E98CC-F59B-405E-84E3-C12002EF04CD}"/>
                </a:ext>
              </a:extLst>
            </p:cNvPr>
            <p:cNvSpPr txBox="1"/>
            <p:nvPr/>
          </p:nvSpPr>
          <p:spPr>
            <a:xfrm>
              <a:off x="3141559" y="5700502"/>
              <a:ext cx="509611" cy="276999"/>
            </a:xfrm>
            <a:prstGeom prst="rect">
              <a:avLst/>
            </a:prstGeom>
            <a:noFill/>
            <a:ln w="12700">
              <a:solidFill>
                <a:schemeClr val="tx1"/>
              </a:solidFill>
            </a:ln>
          </p:spPr>
          <p:txBody>
            <a:bodyPr wrap="square" rtlCol="0">
              <a:spAutoFit/>
            </a:bodyPr>
            <a:lstStyle/>
            <a:p>
              <a:pPr algn="ctr"/>
              <a:r>
                <a:rPr lang="en-US" sz="1200" dirty="0" err="1">
                  <a:solidFill>
                    <a:srgbClr val="56127A"/>
                  </a:solidFill>
                </a:rPr>
                <a:t>imm</a:t>
              </a:r>
              <a:endParaRPr lang="en-US" sz="1200" dirty="0">
                <a:solidFill>
                  <a:srgbClr val="56127A"/>
                </a:solidFill>
              </a:endParaRPr>
            </a:p>
          </p:txBody>
        </p:sp>
        <p:sp>
          <p:nvSpPr>
            <p:cNvPr id="107" name="TextBox 106">
              <a:extLst>
                <a:ext uri="{FF2B5EF4-FFF2-40B4-BE49-F238E27FC236}">
                  <a16:creationId xmlns:a16="http://schemas.microsoft.com/office/drawing/2014/main" id="{09439397-AF14-4187-9563-95195D25624E}"/>
                </a:ext>
              </a:extLst>
            </p:cNvPr>
            <p:cNvSpPr txBox="1"/>
            <p:nvPr/>
          </p:nvSpPr>
          <p:spPr>
            <a:xfrm>
              <a:off x="7108325" y="5678884"/>
              <a:ext cx="16922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08" name="TextBox 107">
              <a:extLst>
                <a:ext uri="{FF2B5EF4-FFF2-40B4-BE49-F238E27FC236}">
                  <a16:creationId xmlns:a16="http://schemas.microsoft.com/office/drawing/2014/main" id="{44B9D5AD-DE43-48AC-86BF-4A89938AC883}"/>
                </a:ext>
              </a:extLst>
            </p:cNvPr>
            <p:cNvSpPr txBox="1"/>
            <p:nvPr/>
          </p:nvSpPr>
          <p:spPr>
            <a:xfrm>
              <a:off x="939748" y="5395393"/>
              <a:ext cx="306494" cy="353943"/>
            </a:xfrm>
            <a:prstGeom prst="rect">
              <a:avLst/>
            </a:prstGeom>
            <a:noFill/>
          </p:spPr>
          <p:txBody>
            <a:bodyPr wrap="none" rtlCol="0">
              <a:spAutoFit/>
            </a:bodyPr>
            <a:lstStyle/>
            <a:p>
              <a:pPr algn="ctr"/>
              <a:r>
                <a:rPr lang="en-US" sz="1700" dirty="0"/>
                <a:t>1</a:t>
              </a:r>
            </a:p>
          </p:txBody>
        </p:sp>
        <p:sp>
          <p:nvSpPr>
            <p:cNvPr id="109" name="TextBox 108">
              <a:extLst>
                <a:ext uri="{FF2B5EF4-FFF2-40B4-BE49-F238E27FC236}">
                  <a16:creationId xmlns:a16="http://schemas.microsoft.com/office/drawing/2014/main" id="{BB54BF9B-D721-4615-A1F9-09B3243A5E80}"/>
                </a:ext>
              </a:extLst>
            </p:cNvPr>
            <p:cNvSpPr txBox="1"/>
            <p:nvPr/>
          </p:nvSpPr>
          <p:spPr>
            <a:xfrm>
              <a:off x="1950531" y="5395393"/>
              <a:ext cx="428322" cy="353943"/>
            </a:xfrm>
            <a:prstGeom prst="rect">
              <a:avLst/>
            </a:prstGeom>
            <a:noFill/>
          </p:spPr>
          <p:txBody>
            <a:bodyPr wrap="none" rtlCol="0">
              <a:spAutoFit/>
            </a:bodyPr>
            <a:lstStyle/>
            <a:p>
              <a:pPr algn="ctr"/>
              <a:r>
                <a:rPr lang="en-US" sz="1700" dirty="0"/>
                <a:t>10</a:t>
              </a:r>
            </a:p>
          </p:txBody>
        </p:sp>
        <p:sp>
          <p:nvSpPr>
            <p:cNvPr id="110" name="TextBox 109">
              <a:extLst>
                <a:ext uri="{FF2B5EF4-FFF2-40B4-BE49-F238E27FC236}">
                  <a16:creationId xmlns:a16="http://schemas.microsoft.com/office/drawing/2014/main" id="{32C30B28-5047-437D-986A-DDB7BE1F10F0}"/>
                </a:ext>
              </a:extLst>
            </p:cNvPr>
            <p:cNvSpPr txBox="1"/>
            <p:nvPr/>
          </p:nvSpPr>
          <p:spPr>
            <a:xfrm>
              <a:off x="3344676" y="5365109"/>
              <a:ext cx="306494" cy="353943"/>
            </a:xfrm>
            <a:prstGeom prst="rect">
              <a:avLst/>
            </a:prstGeom>
            <a:noFill/>
          </p:spPr>
          <p:txBody>
            <a:bodyPr wrap="none" rtlCol="0">
              <a:spAutoFit/>
            </a:bodyPr>
            <a:lstStyle/>
            <a:p>
              <a:pPr algn="ctr"/>
              <a:r>
                <a:rPr lang="en-US" sz="1700" dirty="0"/>
                <a:t>1</a:t>
              </a:r>
            </a:p>
          </p:txBody>
        </p:sp>
        <p:sp>
          <p:nvSpPr>
            <p:cNvPr id="111" name="TextBox 110">
              <a:extLst>
                <a:ext uri="{FF2B5EF4-FFF2-40B4-BE49-F238E27FC236}">
                  <a16:creationId xmlns:a16="http://schemas.microsoft.com/office/drawing/2014/main" id="{E58C2C58-A926-423A-A5C8-F8CA00AE5C62}"/>
                </a:ext>
              </a:extLst>
            </p:cNvPr>
            <p:cNvSpPr txBox="1"/>
            <p:nvPr/>
          </p:nvSpPr>
          <p:spPr>
            <a:xfrm>
              <a:off x="4310499" y="5395393"/>
              <a:ext cx="306494" cy="353943"/>
            </a:xfrm>
            <a:prstGeom prst="rect">
              <a:avLst/>
            </a:prstGeom>
            <a:noFill/>
          </p:spPr>
          <p:txBody>
            <a:bodyPr wrap="none" rtlCol="0">
              <a:spAutoFit/>
            </a:bodyPr>
            <a:lstStyle/>
            <a:p>
              <a:pPr algn="ctr"/>
              <a:r>
                <a:rPr lang="en-US" sz="1700" dirty="0"/>
                <a:t>8</a:t>
              </a:r>
            </a:p>
          </p:txBody>
        </p:sp>
        <p:sp>
          <p:nvSpPr>
            <p:cNvPr id="112" name="TextBox 111">
              <a:extLst>
                <a:ext uri="{FF2B5EF4-FFF2-40B4-BE49-F238E27FC236}">
                  <a16:creationId xmlns:a16="http://schemas.microsoft.com/office/drawing/2014/main" id="{C4F042E8-9D7D-45B9-A863-2E5514CEA120}"/>
                </a:ext>
              </a:extLst>
            </p:cNvPr>
            <p:cNvSpPr txBox="1"/>
            <p:nvPr/>
          </p:nvSpPr>
          <p:spPr>
            <a:xfrm>
              <a:off x="6309142" y="5296661"/>
              <a:ext cx="306494" cy="353943"/>
            </a:xfrm>
            <a:prstGeom prst="rect">
              <a:avLst/>
            </a:prstGeom>
            <a:noFill/>
          </p:spPr>
          <p:txBody>
            <a:bodyPr wrap="none" rtlCol="0">
              <a:spAutoFit/>
            </a:bodyPr>
            <a:lstStyle/>
            <a:p>
              <a:pPr algn="ctr"/>
              <a:r>
                <a:rPr lang="en-US" sz="1700" dirty="0"/>
                <a:t>5</a:t>
              </a:r>
            </a:p>
          </p:txBody>
        </p:sp>
        <p:sp>
          <p:nvSpPr>
            <p:cNvPr id="113" name="TextBox 112">
              <a:extLst>
                <a:ext uri="{FF2B5EF4-FFF2-40B4-BE49-F238E27FC236}">
                  <a16:creationId xmlns:a16="http://schemas.microsoft.com/office/drawing/2014/main" id="{DF53E426-3FB4-411A-B088-89EAF7C0C807}"/>
                </a:ext>
              </a:extLst>
            </p:cNvPr>
            <p:cNvSpPr txBox="1"/>
            <p:nvPr/>
          </p:nvSpPr>
          <p:spPr>
            <a:xfrm>
              <a:off x="7776169" y="5360348"/>
              <a:ext cx="306494" cy="353943"/>
            </a:xfrm>
            <a:prstGeom prst="rect">
              <a:avLst/>
            </a:prstGeom>
            <a:noFill/>
          </p:spPr>
          <p:txBody>
            <a:bodyPr wrap="none" rtlCol="0">
              <a:spAutoFit/>
            </a:bodyPr>
            <a:lstStyle/>
            <a:p>
              <a:pPr algn="ctr"/>
              <a:r>
                <a:rPr lang="en-US" sz="1700" dirty="0"/>
                <a:t>7</a:t>
              </a:r>
            </a:p>
          </p:txBody>
        </p:sp>
      </p:grpSp>
      <p:grpSp>
        <p:nvGrpSpPr>
          <p:cNvPr id="114" name="Group 113">
            <a:extLst>
              <a:ext uri="{FF2B5EF4-FFF2-40B4-BE49-F238E27FC236}">
                <a16:creationId xmlns:a16="http://schemas.microsoft.com/office/drawing/2014/main" id="{16B873FB-20AE-4C37-BDCF-1E02904D5C47}"/>
              </a:ext>
            </a:extLst>
          </p:cNvPr>
          <p:cNvGrpSpPr/>
          <p:nvPr/>
        </p:nvGrpSpPr>
        <p:grpSpPr>
          <a:xfrm>
            <a:off x="4029098" y="3156007"/>
            <a:ext cx="8081827" cy="646103"/>
            <a:chOff x="896575" y="2124293"/>
            <a:chExt cx="7729174" cy="646103"/>
          </a:xfrm>
        </p:grpSpPr>
        <p:sp>
          <p:nvSpPr>
            <p:cNvPr id="115" name="TextBox 114">
              <a:extLst>
                <a:ext uri="{FF2B5EF4-FFF2-40B4-BE49-F238E27FC236}">
                  <a16:creationId xmlns:a16="http://schemas.microsoft.com/office/drawing/2014/main" id="{16DC1066-C875-462C-99D4-022887133EE3}"/>
                </a:ext>
              </a:extLst>
            </p:cNvPr>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116" name="TextBox 115">
              <a:extLst>
                <a:ext uri="{FF2B5EF4-FFF2-40B4-BE49-F238E27FC236}">
                  <a16:creationId xmlns:a16="http://schemas.microsoft.com/office/drawing/2014/main" id="{E00D7867-E93A-4153-9730-A0B760CC452E}"/>
                </a:ext>
              </a:extLst>
            </p:cNvPr>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7" name="TextBox 116">
              <a:extLst>
                <a:ext uri="{FF2B5EF4-FFF2-40B4-BE49-F238E27FC236}">
                  <a16:creationId xmlns:a16="http://schemas.microsoft.com/office/drawing/2014/main" id="{8797C0A5-DC30-4968-A909-85C7A2308250}"/>
                </a:ext>
              </a:extLst>
            </p:cNvPr>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8" name="TextBox 117">
              <a:extLst>
                <a:ext uri="{FF2B5EF4-FFF2-40B4-BE49-F238E27FC236}">
                  <a16:creationId xmlns:a16="http://schemas.microsoft.com/office/drawing/2014/main" id="{17973397-11FA-49DD-A616-C11DAC4CE564}"/>
                </a:ext>
              </a:extLst>
            </p:cNvPr>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19" name="TextBox 118">
              <a:extLst>
                <a:ext uri="{FF2B5EF4-FFF2-40B4-BE49-F238E27FC236}">
                  <a16:creationId xmlns:a16="http://schemas.microsoft.com/office/drawing/2014/main" id="{3732C1C2-6D5C-4654-8A82-7655AB640CEA}"/>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120" name="TextBox 119">
              <a:extLst>
                <a:ext uri="{FF2B5EF4-FFF2-40B4-BE49-F238E27FC236}">
                  <a16:creationId xmlns:a16="http://schemas.microsoft.com/office/drawing/2014/main" id="{1CA0A995-7619-4B07-B466-0B01FF7B1DE6}"/>
                </a:ext>
              </a:extLst>
            </p:cNvPr>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21" name="TextBox 120">
              <a:extLst>
                <a:ext uri="{FF2B5EF4-FFF2-40B4-BE49-F238E27FC236}">
                  <a16:creationId xmlns:a16="http://schemas.microsoft.com/office/drawing/2014/main" id="{789B5774-E32E-4FEA-8F99-2EE27DBBEE6D}"/>
                </a:ext>
              </a:extLst>
            </p:cNvPr>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122" name="TextBox 121">
              <a:extLst>
                <a:ext uri="{FF2B5EF4-FFF2-40B4-BE49-F238E27FC236}">
                  <a16:creationId xmlns:a16="http://schemas.microsoft.com/office/drawing/2014/main" id="{17369B75-1422-4FE9-8D6B-89FE6B5BB7A0}"/>
                </a:ext>
              </a:extLst>
            </p:cNvPr>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123" name="TextBox 122">
              <a:extLst>
                <a:ext uri="{FF2B5EF4-FFF2-40B4-BE49-F238E27FC236}">
                  <a16:creationId xmlns:a16="http://schemas.microsoft.com/office/drawing/2014/main" id="{23F0985F-B3B6-4818-97F7-F14005C5C437}"/>
                </a:ext>
              </a:extLst>
            </p:cNvPr>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124" name="TextBox 123">
              <a:extLst>
                <a:ext uri="{FF2B5EF4-FFF2-40B4-BE49-F238E27FC236}">
                  <a16:creationId xmlns:a16="http://schemas.microsoft.com/office/drawing/2014/main" id="{341B6108-98C4-4140-A307-47917F4EED76}"/>
                </a:ext>
              </a:extLst>
            </p:cNvPr>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125" name="TextBox 124">
              <a:extLst>
                <a:ext uri="{FF2B5EF4-FFF2-40B4-BE49-F238E27FC236}">
                  <a16:creationId xmlns:a16="http://schemas.microsoft.com/office/drawing/2014/main" id="{B050E1D5-72F7-4276-8C0B-8B66EAE6EDBC}"/>
                </a:ext>
              </a:extLst>
            </p:cNvPr>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126" name="TextBox 125">
              <a:extLst>
                <a:ext uri="{FF2B5EF4-FFF2-40B4-BE49-F238E27FC236}">
                  <a16:creationId xmlns:a16="http://schemas.microsoft.com/office/drawing/2014/main" id="{A61FBB00-F085-434F-9847-116EE3AF2792}"/>
                </a:ext>
              </a:extLst>
            </p:cNvPr>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grpSp>
        <p:nvGrpSpPr>
          <p:cNvPr id="127" name="Group 126">
            <a:extLst>
              <a:ext uri="{FF2B5EF4-FFF2-40B4-BE49-F238E27FC236}">
                <a16:creationId xmlns:a16="http://schemas.microsoft.com/office/drawing/2014/main" id="{D73545EA-EBE3-4F63-8333-A4CD0666B60E}"/>
              </a:ext>
            </a:extLst>
          </p:cNvPr>
          <p:cNvGrpSpPr/>
          <p:nvPr/>
        </p:nvGrpSpPr>
        <p:grpSpPr>
          <a:xfrm>
            <a:off x="3924793" y="4252336"/>
            <a:ext cx="8267207" cy="656641"/>
            <a:chOff x="721854" y="2240557"/>
            <a:chExt cx="8267206" cy="656639"/>
          </a:xfrm>
        </p:grpSpPr>
        <p:sp>
          <p:nvSpPr>
            <p:cNvPr id="128" name="TextBox 127">
              <a:extLst>
                <a:ext uri="{FF2B5EF4-FFF2-40B4-BE49-F238E27FC236}">
                  <a16:creationId xmlns:a16="http://schemas.microsoft.com/office/drawing/2014/main" id="{DF9A2E78-B5D6-4F5E-90D7-16EECA5485DD}"/>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29" name="TextBox 128">
              <a:extLst>
                <a:ext uri="{FF2B5EF4-FFF2-40B4-BE49-F238E27FC236}">
                  <a16:creationId xmlns:a16="http://schemas.microsoft.com/office/drawing/2014/main" id="{BF361ED6-CB9B-4039-9F09-8D6EB9FDB14D}"/>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30" name="TextBox 129">
              <a:extLst>
                <a:ext uri="{FF2B5EF4-FFF2-40B4-BE49-F238E27FC236}">
                  <a16:creationId xmlns:a16="http://schemas.microsoft.com/office/drawing/2014/main" id="{7B83A673-F936-487D-BD0D-BCC8592B482A}"/>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31" name="TextBox 130">
              <a:extLst>
                <a:ext uri="{FF2B5EF4-FFF2-40B4-BE49-F238E27FC236}">
                  <a16:creationId xmlns:a16="http://schemas.microsoft.com/office/drawing/2014/main" id="{49D32948-6D7C-4A7F-85BC-F6076FA12AB1}"/>
                </a:ext>
              </a:extLst>
            </p:cNvPr>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2" name="TextBox 131">
              <a:extLst>
                <a:ext uri="{FF2B5EF4-FFF2-40B4-BE49-F238E27FC236}">
                  <a16:creationId xmlns:a16="http://schemas.microsoft.com/office/drawing/2014/main" id="{3F7A9315-6477-4E61-819D-6BC1A9DD6111}"/>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3" name="TextBox 132">
              <a:extLst>
                <a:ext uri="{FF2B5EF4-FFF2-40B4-BE49-F238E27FC236}">
                  <a16:creationId xmlns:a16="http://schemas.microsoft.com/office/drawing/2014/main" id="{85E81E3C-3A6C-4C3E-8734-2D4E87845A26}"/>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34" name="TextBox 133">
              <a:extLst>
                <a:ext uri="{FF2B5EF4-FFF2-40B4-BE49-F238E27FC236}">
                  <a16:creationId xmlns:a16="http://schemas.microsoft.com/office/drawing/2014/main" id="{52D769A1-28C5-44BD-ACDB-6B0F6523AC56}"/>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35" name="TextBox 134">
              <a:extLst>
                <a:ext uri="{FF2B5EF4-FFF2-40B4-BE49-F238E27FC236}">
                  <a16:creationId xmlns:a16="http://schemas.microsoft.com/office/drawing/2014/main" id="{E07749B8-389E-481D-AC1C-23C3806EB863}"/>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36" name="TextBox 135">
              <a:extLst>
                <a:ext uri="{FF2B5EF4-FFF2-40B4-BE49-F238E27FC236}">
                  <a16:creationId xmlns:a16="http://schemas.microsoft.com/office/drawing/2014/main" id="{AE3550E6-E8C0-43AB-A7C7-CDAE44A46061}"/>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37" name="TextBox 136">
              <a:extLst>
                <a:ext uri="{FF2B5EF4-FFF2-40B4-BE49-F238E27FC236}">
                  <a16:creationId xmlns:a16="http://schemas.microsoft.com/office/drawing/2014/main" id="{163E203F-93F4-419E-A53E-3D03225699BA}"/>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38" name="TextBox 137">
              <a:extLst>
                <a:ext uri="{FF2B5EF4-FFF2-40B4-BE49-F238E27FC236}">
                  <a16:creationId xmlns:a16="http://schemas.microsoft.com/office/drawing/2014/main" id="{0D30FB8A-502C-4539-A482-277313FFCC25}"/>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39" name="TextBox 138">
              <a:extLst>
                <a:ext uri="{FF2B5EF4-FFF2-40B4-BE49-F238E27FC236}">
                  <a16:creationId xmlns:a16="http://schemas.microsoft.com/office/drawing/2014/main" id="{59D91C25-CC66-40C0-9968-4A50597D6861}"/>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140" name="TextBox 139">
              <a:extLst>
                <a:ext uri="{FF2B5EF4-FFF2-40B4-BE49-F238E27FC236}">
                  <a16:creationId xmlns:a16="http://schemas.microsoft.com/office/drawing/2014/main" id="{0B0B068C-EE05-4B2E-84FB-91D7C34A19F2}"/>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141" name="TextBox 140">
              <a:extLst>
                <a:ext uri="{FF2B5EF4-FFF2-40B4-BE49-F238E27FC236}">
                  <a16:creationId xmlns:a16="http://schemas.microsoft.com/office/drawing/2014/main" id="{85AA6CFD-3473-4F61-909E-62973F66B351}"/>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142" name="TextBox 141">
              <a:extLst>
                <a:ext uri="{FF2B5EF4-FFF2-40B4-BE49-F238E27FC236}">
                  <a16:creationId xmlns:a16="http://schemas.microsoft.com/office/drawing/2014/main" id="{C66A4035-4149-40D7-BC19-CCF2B769331D}"/>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143" name="TextBox 142">
              <a:extLst>
                <a:ext uri="{FF2B5EF4-FFF2-40B4-BE49-F238E27FC236}">
                  <a16:creationId xmlns:a16="http://schemas.microsoft.com/office/drawing/2014/main" id="{7AA82792-CCA3-4995-9497-7A11B27B4662}"/>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403617" y="257175"/>
            <a:ext cx="8819883" cy="531720"/>
          </a:xfrm>
          <a:noFill/>
        </p:spPr>
        <p:txBody>
          <a:bodyPr vert="horz" wrap="square" lIns="92075" tIns="46039" rIns="92075" bIns="46039" numCol="1" anchor="ctr" anchorCtr="0" compatLnSpc="1"/>
          <a:lstStyle/>
          <a:p>
            <a:r>
              <a:rPr lang="en-US" altLang="zh-TW" dirty="0"/>
              <a:t>Logical Register Transfer</a:t>
            </a:r>
          </a:p>
        </p:txBody>
      </p:sp>
      <p:sp>
        <p:nvSpPr>
          <p:cNvPr id="22531" name="Rectangle 3"/>
          <p:cNvSpPr>
            <a:spLocks noChangeArrowheads="1"/>
          </p:cNvSpPr>
          <p:nvPr/>
        </p:nvSpPr>
        <p:spPr bwMode="auto">
          <a:xfrm>
            <a:off x="1807315" y="2273006"/>
            <a:ext cx="9315873" cy="374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tabLst>
                <a:tab pos="1143000" algn="l"/>
                <a:tab pos="5367020" algn="l"/>
              </a:tabLs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tabLst>
                <a:tab pos="1143000" algn="l"/>
                <a:tab pos="5367020" algn="l"/>
              </a:tabLst>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tabLst>
                <a:tab pos="1143000" algn="l"/>
                <a:tab pos="5367020" algn="l"/>
              </a:tabLst>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50000"/>
              </a:spcBef>
              <a:buClrTx/>
              <a:buSzTx/>
              <a:buNone/>
              <a:tabLst>
                <a:tab pos="1523962" algn="l"/>
                <a:tab pos="7155848" algn="l"/>
              </a:tabLst>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format   = op | rs1 | rs2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funct</a:t>
            </a:r>
            <a:b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b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or       = op | rs1 | rs2 |   Imm12</a:t>
            </a:r>
            <a:b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b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or       = op | Imm20 </a:t>
            </a:r>
          </a:p>
          <a:p>
            <a:pPr defTabSz="1219170">
              <a:lnSpc>
                <a:spcPct val="100000"/>
              </a:lnSpc>
              <a:spcBef>
                <a:spcPct val="50000"/>
              </a:spcBef>
              <a:buClrTx/>
              <a:buSzTx/>
              <a:buNone/>
              <a:tabLst>
                <a:tab pos="1523962" algn="l"/>
                <a:tab pos="7155848" algn="l"/>
              </a:tabLst>
            </a:pPr>
            <a:r>
              <a:rPr kumimoji="1" lang="en-US" altLang="zh-TW" sz="2000" u="sng" dirty="0">
                <a:solidFill>
                  <a:prstClr val="black"/>
                </a:solidFill>
                <a:latin typeface="Calibri" panose="020F0702030404030204" pitchFamily="34" charset="0"/>
                <a:ea typeface="新細明體" panose="02020500000000000000" pitchFamily="18" charset="-120"/>
                <a:cs typeface="Calibri" panose="020F0702030404030204" pitchFamily="34" charset="0"/>
              </a:rPr>
              <a:t>Inst 	Register transfers</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R[rs2];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SUB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R[rs2];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LOAD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MEM[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STORE	MEM[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 &lt;-R[rs2];     PC &lt;- PC + 4</a:t>
            </a:r>
          </a:p>
          <a:p>
            <a:pPr defTabSz="1219170">
              <a:lnSpc>
                <a:spcPct val="85000"/>
              </a:lnSpc>
              <a:spcBef>
                <a:spcPct val="20000"/>
              </a:spcBef>
              <a:buClrTx/>
              <a:buSzTx/>
              <a:buNone/>
              <a:tabLst>
                <a:tab pos="1523962" algn="l"/>
                <a:tab pos="7155848" algn="l"/>
              </a:tabLst>
            </a:pPr>
            <a:r>
              <a:rPr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ADDI 	</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BEQ	 if (R[rs1] == R[rs2]) then PC &lt;- PC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else PC &lt;- PC + 4</a:t>
            </a:r>
          </a:p>
        </p:txBody>
      </p:sp>
      <p:sp>
        <p:nvSpPr>
          <p:cNvPr id="22532" name="Rectangle 4"/>
          <p:cNvSpPr>
            <a:spLocks noGrp="1" noChangeArrowheads="1"/>
          </p:cNvSpPr>
          <p:nvPr>
            <p:ph type="body" idx="1"/>
          </p:nvPr>
        </p:nvSpPr>
        <p:spPr>
          <a:xfrm>
            <a:off x="1403774" y="1410547"/>
            <a:ext cx="9315873" cy="966047"/>
          </a:xfrm>
        </p:spPr>
        <p:txBody>
          <a:bodyPr/>
          <a:lstStyle/>
          <a:p>
            <a:r>
              <a:rPr lang="en-US" altLang="zh-TW" sz="2400" dirty="0"/>
              <a:t>All start by fetching the instruction, reading registers, then use ALU =&gt; simplicity and regularity help</a:t>
            </a:r>
          </a:p>
        </p:txBody>
      </p:sp>
      <p:sp>
        <p:nvSpPr>
          <p:cNvPr id="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29</a:t>
            </a:fld>
            <a:endParaRPr lang="zh-TW" altLang="en-US">
              <a:solidFill>
                <a:prstClr val="white"/>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10530776" cy="901700"/>
          </a:xfrm>
        </p:spPr>
        <p:txBody>
          <a:bodyPr/>
          <a:lstStyle/>
          <a:p>
            <a:r>
              <a:rPr lang="en-US" altLang="zh-TW" dirty="0"/>
              <a:t>Regularity in RISC-V Instruction Format</a:t>
            </a:r>
          </a:p>
        </p:txBody>
      </p:sp>
      <p:sp>
        <p:nvSpPr>
          <p:cNvPr id="18435" name="Rectangle 3"/>
          <p:cNvSpPr>
            <a:spLocks noGrp="1" noChangeArrowheads="1"/>
          </p:cNvSpPr>
          <p:nvPr>
            <p:ph type="body" idx="1"/>
          </p:nvPr>
        </p:nvSpPr>
        <p:spPr>
          <a:xfrm>
            <a:off x="418290" y="1094801"/>
            <a:ext cx="10605738" cy="4714328"/>
          </a:xfrm>
        </p:spPr>
        <p:txBody>
          <a:bodyPr/>
          <a:lstStyle/>
          <a:p>
            <a:pPr>
              <a:buFont typeface="Wingdings" panose="05000000000000000000" pitchFamily="2" charset="2"/>
              <a:buNone/>
            </a:pPr>
            <a:r>
              <a:rPr lang="en-US" altLang="zh-TW" sz="2800" dirty="0"/>
              <a:t>Opcode: The major opcode is always in bits 0-6.</a:t>
            </a:r>
          </a:p>
          <a:p>
            <a:pPr>
              <a:buFont typeface="Wingdings" panose="05000000000000000000" pitchFamily="2" charset="2"/>
              <a:buNone/>
            </a:pPr>
            <a:r>
              <a:rPr lang="en-US" altLang="zh-TW" sz="2800" dirty="0"/>
              <a:t>Destination register (</a:t>
            </a:r>
            <a:r>
              <a:rPr lang="en-US" altLang="zh-TW" sz="2800" dirty="0" err="1"/>
              <a:t>rd</a:t>
            </a:r>
            <a:r>
              <a:rPr lang="en-US" altLang="zh-TW" sz="2800" dirty="0"/>
              <a:t>): when present, is always in bits 7-11.</a:t>
            </a:r>
          </a:p>
          <a:p>
            <a:pPr>
              <a:buFont typeface="Wingdings" panose="05000000000000000000" pitchFamily="2" charset="2"/>
              <a:buNone/>
            </a:pPr>
            <a:r>
              <a:rPr lang="en-US" altLang="zh-TW" sz="2800" dirty="0"/>
              <a:t>First source register (rs1): when present, is always in bits 15-19.</a:t>
            </a:r>
          </a:p>
          <a:p>
            <a:pPr>
              <a:buFont typeface="Wingdings" panose="05000000000000000000" pitchFamily="2" charset="2"/>
              <a:buNone/>
            </a:pPr>
            <a:r>
              <a:rPr lang="en-US" altLang="zh-TW" sz="2800" dirty="0"/>
              <a:t>Second source register (rs2): when present, is always in bits 20-24.</a:t>
            </a:r>
          </a:p>
          <a:p>
            <a:pPr>
              <a:buFont typeface="Wingdings" panose="05000000000000000000" pitchFamily="2" charset="2"/>
              <a:buNone/>
            </a:pPr>
            <a:r>
              <a:rPr lang="en-US" altLang="zh-TW" sz="2800" dirty="0"/>
              <a:t>Instructions are fixed length: 16 or 32 </a:t>
            </a:r>
          </a:p>
          <a:p>
            <a:pPr>
              <a:buFont typeface="Wingdings" panose="05000000000000000000" pitchFamily="2" charset="2"/>
              <a:buNone/>
            </a:pPr>
            <a:r>
              <a:rPr lang="en-US" altLang="zh-TW" sz="2800" dirty="0"/>
              <a:t>Immediate values are placed in the high bits of the instructions (branch and store have some bits use the “</a:t>
            </a:r>
            <a:r>
              <a:rPr lang="en-US" altLang="zh-TW" sz="2800" dirty="0" err="1"/>
              <a:t>rd</a:t>
            </a:r>
            <a:r>
              <a:rPr lang="en-US" altLang="zh-TW" sz="2800" dirty="0"/>
              <a:t>” field)</a:t>
            </a: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30</a:t>
            </a:fld>
            <a:endParaRPr lang="zh-TW" altLang="en-US">
              <a:solidFill>
                <a:prstClr val="white"/>
              </a:solidFill>
            </a:endParaRPr>
          </a:p>
        </p:txBody>
      </p:sp>
    </p:spTree>
    <p:extLst>
      <p:ext uri="{BB962C8B-B14F-4D97-AF65-F5344CB8AC3E}">
        <p14:creationId xmlns:p14="http://schemas.microsoft.com/office/powerpoint/2010/main" val="2113456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Data Path Requirements</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31</a:t>
            </a:fld>
            <a:endParaRPr lang="zh-TW" altLang="en-US">
              <a:solidFill>
                <a:prstClr val="white"/>
              </a:solidFill>
            </a:endParaRPr>
          </a:p>
        </p:txBody>
      </p:sp>
      <p:sp>
        <p:nvSpPr>
          <p:cNvPr id="8" name="Rectangle 3"/>
          <p:cNvSpPr txBox="1">
            <a:spLocks noChangeArrowheads="1"/>
          </p:cNvSpPr>
          <p:nvPr/>
        </p:nvSpPr>
        <p:spPr bwMode="auto">
          <a:xfrm>
            <a:off x="1372880" y="1053819"/>
            <a:ext cx="9804829"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667" kern="0" dirty="0">
                <a:solidFill>
                  <a:prstClr val="black"/>
                </a:solidFill>
              </a:rPr>
              <a:t>After checking the register transfers, we can see that data path needs the followings:</a:t>
            </a:r>
          </a:p>
          <a:p>
            <a:pPr marL="742508" lvl="1" indent="-285320" defTabSz="1219170"/>
            <a:r>
              <a:rPr lang="en-US" altLang="zh-TW" sz="2400" kern="0" dirty="0">
                <a:solidFill>
                  <a:prstClr val="black"/>
                </a:solidFill>
              </a:rPr>
              <a:t>Memory</a:t>
            </a:r>
          </a:p>
          <a:p>
            <a:pPr marL="1142971" lvl="2" indent="-228594" defTabSz="1219170"/>
            <a:r>
              <a:rPr lang="en-US" altLang="zh-TW" sz="2133" kern="0" dirty="0">
                <a:solidFill>
                  <a:prstClr val="black"/>
                </a:solidFill>
              </a:rPr>
              <a:t>Store instructions and data	(we have I-cache and D-cache)</a:t>
            </a:r>
          </a:p>
          <a:p>
            <a:pPr marL="742508" lvl="1" indent="-285320" defTabSz="1219170"/>
            <a:r>
              <a:rPr lang="en-US" altLang="zh-TW" sz="2400" kern="0" dirty="0">
                <a:solidFill>
                  <a:prstClr val="black"/>
                </a:solidFill>
              </a:rPr>
              <a:t>Registers (32 x 32b)</a:t>
            </a:r>
          </a:p>
          <a:p>
            <a:pPr marL="1142971" lvl="2" indent="-228594" defTabSz="1219170"/>
            <a:r>
              <a:rPr lang="en-US" altLang="zh-TW" sz="2133" kern="0" dirty="0">
                <a:solidFill>
                  <a:prstClr val="black"/>
                </a:solidFill>
              </a:rPr>
              <a:t>Read RS1</a:t>
            </a:r>
          </a:p>
          <a:p>
            <a:pPr marL="1142971" lvl="2" indent="-228594" defTabSz="1219170"/>
            <a:r>
              <a:rPr lang="en-US" altLang="zh-TW" sz="2133" kern="0" dirty="0">
                <a:solidFill>
                  <a:prstClr val="black"/>
                </a:solidFill>
              </a:rPr>
              <a:t>Read RS2</a:t>
            </a:r>
          </a:p>
          <a:p>
            <a:pPr marL="1142971" lvl="2" indent="-228594" defTabSz="1219170"/>
            <a:r>
              <a:rPr lang="en-US" altLang="zh-TW" sz="2133" kern="0" dirty="0">
                <a:solidFill>
                  <a:prstClr val="black"/>
                </a:solidFill>
              </a:rPr>
              <a:t>Write RD</a:t>
            </a:r>
          </a:p>
          <a:p>
            <a:pPr marL="742508" lvl="1" indent="-285320" defTabSz="1219170"/>
            <a:r>
              <a:rPr lang="en-US" altLang="zh-TW" sz="2400" kern="0" dirty="0">
                <a:solidFill>
                  <a:prstClr val="black"/>
                </a:solidFill>
              </a:rPr>
              <a:t>PC</a:t>
            </a:r>
          </a:p>
          <a:p>
            <a:pPr marL="742508" lvl="1" indent="-285320" defTabSz="1219170"/>
            <a:r>
              <a:rPr lang="en-US" altLang="zh-TW" sz="2400" kern="0" dirty="0">
                <a:solidFill>
                  <a:prstClr val="black"/>
                </a:solidFill>
              </a:rPr>
              <a:t>Extender for zero- or sign-extension</a:t>
            </a:r>
          </a:p>
          <a:p>
            <a:pPr marL="742508" lvl="1" indent="-285320" defTabSz="1219170"/>
            <a:r>
              <a:rPr lang="en-US" altLang="zh-TW" sz="2400" kern="0" dirty="0">
                <a:solidFill>
                  <a:prstClr val="black"/>
                </a:solidFill>
              </a:rPr>
              <a:t>Add and sub register or extended immediate (ALU)</a:t>
            </a:r>
          </a:p>
          <a:p>
            <a:pPr marL="742508" lvl="1" indent="-285320" defTabSz="1219170"/>
            <a:r>
              <a:rPr lang="en-US" altLang="zh-TW" sz="2400" kern="0" dirty="0">
                <a:solidFill>
                  <a:prstClr val="black"/>
                </a:solidFill>
              </a:rPr>
              <a:t>Add 4 or extended immediate to PC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1301163" y="1125538"/>
            <a:ext cx="10281237" cy="564951"/>
          </a:xfrm>
          <a:noFill/>
        </p:spPr>
        <p:txBody>
          <a:bodyPr vert="horz" wrap="square" lIns="92075" tIns="46039" rIns="92075" bIns="46039" numCol="1" anchor="t" anchorCtr="0" compatLnSpc="1"/>
          <a:lstStyle/>
          <a:p>
            <a:r>
              <a:rPr lang="en-US" altLang="zh-TW" sz="2667" dirty="0">
                <a:cs typeface="Calibri" panose="020F0702030404030204" pitchFamily="34" charset="0"/>
              </a:rPr>
              <a:t>Basic building blocks of combinational logic elements </a:t>
            </a:r>
          </a:p>
        </p:txBody>
      </p:sp>
      <p:sp>
        <p:nvSpPr>
          <p:cNvPr id="25603" name="Line 3"/>
          <p:cNvSpPr>
            <a:spLocks noChangeShapeType="1"/>
          </p:cNvSpPr>
          <p:nvPr/>
        </p:nvSpPr>
        <p:spPr bwMode="auto">
          <a:xfrm flipH="1">
            <a:off x="2876551" y="22983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nvGrpSpPr>
          <p:cNvPr id="25604" name="Group 4"/>
          <p:cNvGrpSpPr/>
          <p:nvPr/>
        </p:nvGrpSpPr>
        <p:grpSpPr bwMode="auto">
          <a:xfrm>
            <a:off x="3702051" y="2145901"/>
            <a:ext cx="495300" cy="1219200"/>
            <a:chOff x="1488" y="1056"/>
            <a:chExt cx="288" cy="768"/>
          </a:xfrm>
        </p:grpSpPr>
        <p:sp>
          <p:nvSpPr>
            <p:cNvPr id="25672" name="Line 5"/>
            <p:cNvSpPr>
              <a:spLocks noChangeShapeType="1"/>
            </p:cNvSpPr>
            <p:nvPr/>
          </p:nvSpPr>
          <p:spPr bwMode="auto">
            <a:xfrm>
              <a:off x="1488" y="105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3" name="Line 6"/>
            <p:cNvSpPr>
              <a:spLocks noChangeShapeType="1"/>
            </p:cNvSpPr>
            <p:nvPr/>
          </p:nvSpPr>
          <p:spPr bwMode="auto">
            <a:xfrm>
              <a:off x="1488" y="1056"/>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4" name="Line 7"/>
            <p:cNvSpPr>
              <a:spLocks noChangeShapeType="1"/>
            </p:cNvSpPr>
            <p:nvPr/>
          </p:nvSpPr>
          <p:spPr bwMode="auto">
            <a:xfrm>
              <a:off x="1488" y="124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5" name="Line 8"/>
            <p:cNvSpPr>
              <a:spLocks noChangeShapeType="1"/>
            </p:cNvSpPr>
            <p:nvPr/>
          </p:nvSpPr>
          <p:spPr bwMode="auto">
            <a:xfrm>
              <a:off x="163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6" name="Line 9"/>
            <p:cNvSpPr>
              <a:spLocks noChangeShapeType="1"/>
            </p:cNvSpPr>
            <p:nvPr/>
          </p:nvSpPr>
          <p:spPr bwMode="auto">
            <a:xfrm>
              <a:off x="1776" y="124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7" name="Line 10"/>
            <p:cNvSpPr>
              <a:spLocks noChangeShapeType="1"/>
            </p:cNvSpPr>
            <p:nvPr/>
          </p:nvSpPr>
          <p:spPr bwMode="auto">
            <a:xfrm flipV="1">
              <a:off x="1488" y="1536"/>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8" name="Line 11"/>
            <p:cNvSpPr>
              <a:spLocks noChangeShapeType="1"/>
            </p:cNvSpPr>
            <p:nvPr/>
          </p:nvSpPr>
          <p:spPr bwMode="auto">
            <a:xfrm>
              <a:off x="1488" y="163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9" name="Line 12"/>
            <p:cNvSpPr>
              <a:spLocks noChangeShapeType="1"/>
            </p:cNvSpPr>
            <p:nvPr/>
          </p:nvSpPr>
          <p:spPr bwMode="auto">
            <a:xfrm flipV="1">
              <a:off x="1488" y="163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05" name="Line 13"/>
          <p:cNvSpPr>
            <a:spLocks noChangeShapeType="1"/>
          </p:cNvSpPr>
          <p:nvPr/>
        </p:nvSpPr>
        <p:spPr bwMode="auto">
          <a:xfrm flipH="1">
            <a:off x="3289301" y="22221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6" name="Rectangle 14"/>
          <p:cNvSpPr>
            <a:spLocks noChangeArrowheads="1"/>
          </p:cNvSpPr>
          <p:nvPr/>
        </p:nvSpPr>
        <p:spPr bwMode="auto">
          <a:xfrm>
            <a:off x="2941639" y="22681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07" name="Line 15"/>
          <p:cNvSpPr>
            <a:spLocks noChangeShapeType="1"/>
          </p:cNvSpPr>
          <p:nvPr/>
        </p:nvSpPr>
        <p:spPr bwMode="auto">
          <a:xfrm flipH="1">
            <a:off x="2876551" y="32127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8" name="Line 16"/>
          <p:cNvSpPr>
            <a:spLocks noChangeShapeType="1"/>
          </p:cNvSpPr>
          <p:nvPr/>
        </p:nvSpPr>
        <p:spPr bwMode="auto">
          <a:xfrm flipH="1">
            <a:off x="3289301" y="31365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9" name="Rectangle 17"/>
          <p:cNvSpPr>
            <a:spLocks noChangeArrowheads="1"/>
          </p:cNvSpPr>
          <p:nvPr/>
        </p:nvSpPr>
        <p:spPr bwMode="auto">
          <a:xfrm>
            <a:off x="2941639" y="31825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10" name="Rectangle 18"/>
          <p:cNvSpPr>
            <a:spLocks noChangeArrowheads="1"/>
          </p:cNvSpPr>
          <p:nvPr/>
        </p:nvSpPr>
        <p:spPr bwMode="auto">
          <a:xfrm>
            <a:off x="2528889" y="2115740"/>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11" name="Rectangle 19"/>
          <p:cNvSpPr>
            <a:spLocks noChangeArrowheads="1"/>
          </p:cNvSpPr>
          <p:nvPr/>
        </p:nvSpPr>
        <p:spPr bwMode="auto">
          <a:xfrm>
            <a:off x="2528889" y="3030140"/>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12" name="Line 20"/>
          <p:cNvSpPr>
            <a:spLocks noChangeShapeType="1"/>
          </p:cNvSpPr>
          <p:nvPr/>
        </p:nvSpPr>
        <p:spPr bwMode="auto">
          <a:xfrm flipH="1">
            <a:off x="4197351" y="27555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3" name="Line 21"/>
          <p:cNvSpPr>
            <a:spLocks noChangeShapeType="1"/>
          </p:cNvSpPr>
          <p:nvPr/>
        </p:nvSpPr>
        <p:spPr bwMode="auto">
          <a:xfrm flipH="1">
            <a:off x="4610101" y="26793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4" name="Rectangle 22"/>
          <p:cNvSpPr>
            <a:spLocks noChangeArrowheads="1"/>
          </p:cNvSpPr>
          <p:nvPr/>
        </p:nvSpPr>
        <p:spPr bwMode="auto">
          <a:xfrm>
            <a:off x="4262439" y="27253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15" name="Rectangle 23"/>
          <p:cNvSpPr>
            <a:spLocks noChangeArrowheads="1"/>
          </p:cNvSpPr>
          <p:nvPr/>
        </p:nvSpPr>
        <p:spPr bwMode="auto">
          <a:xfrm>
            <a:off x="5005388" y="2572940"/>
            <a:ext cx="65402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Sum</a:t>
            </a:r>
          </a:p>
        </p:txBody>
      </p:sp>
      <p:sp>
        <p:nvSpPr>
          <p:cNvPr id="25616" name="Line 24"/>
          <p:cNvSpPr>
            <a:spLocks noChangeShapeType="1"/>
          </p:cNvSpPr>
          <p:nvPr/>
        </p:nvSpPr>
        <p:spPr bwMode="auto">
          <a:xfrm>
            <a:off x="3949701" y="3212701"/>
            <a:ext cx="1073151"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7" name="Rectangle 25"/>
          <p:cNvSpPr>
            <a:spLocks noChangeArrowheads="1"/>
          </p:cNvSpPr>
          <p:nvPr/>
        </p:nvSpPr>
        <p:spPr bwMode="auto">
          <a:xfrm>
            <a:off x="5005390" y="3030140"/>
            <a:ext cx="1153714"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CarryOut</a:t>
            </a:r>
          </a:p>
        </p:txBody>
      </p:sp>
      <p:sp>
        <p:nvSpPr>
          <p:cNvPr id="25618" name="Line 26"/>
          <p:cNvSpPr>
            <a:spLocks noChangeShapeType="1"/>
          </p:cNvSpPr>
          <p:nvPr/>
        </p:nvSpPr>
        <p:spPr bwMode="auto">
          <a:xfrm flipH="1">
            <a:off x="5187951" y="46906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nvGrpSpPr>
          <p:cNvPr id="25619" name="Group 27"/>
          <p:cNvGrpSpPr/>
          <p:nvPr/>
        </p:nvGrpSpPr>
        <p:grpSpPr bwMode="auto">
          <a:xfrm>
            <a:off x="6013451" y="4538264"/>
            <a:ext cx="495300" cy="1219200"/>
            <a:chOff x="2832" y="2688"/>
            <a:chExt cx="288" cy="768"/>
          </a:xfrm>
        </p:grpSpPr>
        <p:sp>
          <p:nvSpPr>
            <p:cNvPr id="25664" name="Line 28"/>
            <p:cNvSpPr>
              <a:spLocks noChangeShapeType="1"/>
            </p:cNvSpPr>
            <p:nvPr/>
          </p:nvSpPr>
          <p:spPr bwMode="auto">
            <a:xfrm>
              <a:off x="2832" y="268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5" name="Line 29"/>
            <p:cNvSpPr>
              <a:spLocks noChangeShapeType="1"/>
            </p:cNvSpPr>
            <p:nvPr/>
          </p:nvSpPr>
          <p:spPr bwMode="auto">
            <a:xfrm>
              <a:off x="2832" y="268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6" name="Line 30"/>
            <p:cNvSpPr>
              <a:spLocks noChangeShapeType="1"/>
            </p:cNvSpPr>
            <p:nvPr/>
          </p:nvSpPr>
          <p:spPr bwMode="auto">
            <a:xfrm>
              <a:off x="2832" y="2880"/>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7" name="Line 31"/>
            <p:cNvSpPr>
              <a:spLocks noChangeShapeType="1"/>
            </p:cNvSpPr>
            <p:nvPr/>
          </p:nvSpPr>
          <p:spPr bwMode="auto">
            <a:xfrm>
              <a:off x="2976" y="297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8" name="Line 32"/>
            <p:cNvSpPr>
              <a:spLocks noChangeShapeType="1"/>
            </p:cNvSpPr>
            <p:nvPr/>
          </p:nvSpPr>
          <p:spPr bwMode="auto">
            <a:xfrm>
              <a:off x="3120" y="2880"/>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9" name="Line 33"/>
            <p:cNvSpPr>
              <a:spLocks noChangeShapeType="1"/>
            </p:cNvSpPr>
            <p:nvPr/>
          </p:nvSpPr>
          <p:spPr bwMode="auto">
            <a:xfrm flipV="1">
              <a:off x="2832" y="316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0" name="Line 34"/>
            <p:cNvSpPr>
              <a:spLocks noChangeShapeType="1"/>
            </p:cNvSpPr>
            <p:nvPr/>
          </p:nvSpPr>
          <p:spPr bwMode="auto">
            <a:xfrm>
              <a:off x="2832" y="326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1" name="Line 35"/>
            <p:cNvSpPr>
              <a:spLocks noChangeShapeType="1"/>
            </p:cNvSpPr>
            <p:nvPr/>
          </p:nvSpPr>
          <p:spPr bwMode="auto">
            <a:xfrm flipV="1">
              <a:off x="2832" y="3264"/>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20" name="Line 36"/>
          <p:cNvSpPr>
            <a:spLocks noChangeShapeType="1"/>
          </p:cNvSpPr>
          <p:nvPr/>
        </p:nvSpPr>
        <p:spPr bwMode="auto">
          <a:xfrm flipH="1">
            <a:off x="5600701" y="46144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1" name="Rectangle 37"/>
          <p:cNvSpPr>
            <a:spLocks noChangeArrowheads="1"/>
          </p:cNvSpPr>
          <p:nvPr/>
        </p:nvSpPr>
        <p:spPr bwMode="auto">
          <a:xfrm>
            <a:off x="5253039" y="46605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22" name="Line 38"/>
          <p:cNvSpPr>
            <a:spLocks noChangeShapeType="1"/>
          </p:cNvSpPr>
          <p:nvPr/>
        </p:nvSpPr>
        <p:spPr bwMode="auto">
          <a:xfrm flipH="1">
            <a:off x="5187951" y="56050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3" name="Line 39"/>
          <p:cNvSpPr>
            <a:spLocks noChangeShapeType="1"/>
          </p:cNvSpPr>
          <p:nvPr/>
        </p:nvSpPr>
        <p:spPr bwMode="auto">
          <a:xfrm flipH="1">
            <a:off x="5600701" y="55288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4" name="Rectangle 40"/>
          <p:cNvSpPr>
            <a:spLocks noChangeArrowheads="1"/>
          </p:cNvSpPr>
          <p:nvPr/>
        </p:nvSpPr>
        <p:spPr bwMode="auto">
          <a:xfrm>
            <a:off x="5253039" y="55749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25" name="Rectangle 41"/>
          <p:cNvSpPr>
            <a:spLocks noChangeArrowheads="1"/>
          </p:cNvSpPr>
          <p:nvPr/>
        </p:nvSpPr>
        <p:spPr bwMode="auto">
          <a:xfrm>
            <a:off x="4840289" y="4508102"/>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26" name="Rectangle 42"/>
          <p:cNvSpPr>
            <a:spLocks noChangeArrowheads="1"/>
          </p:cNvSpPr>
          <p:nvPr/>
        </p:nvSpPr>
        <p:spPr bwMode="auto">
          <a:xfrm>
            <a:off x="4840289" y="5422502"/>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27" name="Line 43"/>
          <p:cNvSpPr>
            <a:spLocks noChangeShapeType="1"/>
          </p:cNvSpPr>
          <p:nvPr/>
        </p:nvSpPr>
        <p:spPr bwMode="auto">
          <a:xfrm flipH="1">
            <a:off x="6508751" y="51478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8" name="Line 44"/>
          <p:cNvSpPr>
            <a:spLocks noChangeShapeType="1"/>
          </p:cNvSpPr>
          <p:nvPr/>
        </p:nvSpPr>
        <p:spPr bwMode="auto">
          <a:xfrm flipH="1">
            <a:off x="6921501" y="50716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9" name="Rectangle 45"/>
          <p:cNvSpPr>
            <a:spLocks noChangeArrowheads="1"/>
          </p:cNvSpPr>
          <p:nvPr/>
        </p:nvSpPr>
        <p:spPr bwMode="auto">
          <a:xfrm>
            <a:off x="6573839" y="51177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30" name="Rectangle 46"/>
          <p:cNvSpPr>
            <a:spLocks noChangeArrowheads="1"/>
          </p:cNvSpPr>
          <p:nvPr/>
        </p:nvSpPr>
        <p:spPr bwMode="auto">
          <a:xfrm>
            <a:off x="7316789" y="4965302"/>
            <a:ext cx="847411"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Result</a:t>
            </a:r>
          </a:p>
        </p:txBody>
      </p:sp>
      <p:sp>
        <p:nvSpPr>
          <p:cNvPr id="25631" name="Line 47"/>
          <p:cNvSpPr>
            <a:spLocks noChangeShapeType="1"/>
          </p:cNvSpPr>
          <p:nvPr/>
        </p:nvSpPr>
        <p:spPr bwMode="auto">
          <a:xfrm>
            <a:off x="6261100" y="423346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2" name="Rectangle 48"/>
          <p:cNvSpPr>
            <a:spLocks noChangeArrowheads="1"/>
          </p:cNvSpPr>
          <p:nvPr/>
        </p:nvSpPr>
        <p:spPr bwMode="auto">
          <a:xfrm>
            <a:off x="5435601" y="3901676"/>
            <a:ext cx="181610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ALU control</a:t>
            </a:r>
          </a:p>
        </p:txBody>
      </p:sp>
      <p:grpSp>
        <p:nvGrpSpPr>
          <p:cNvPr id="25633" name="Group 49"/>
          <p:cNvGrpSpPr/>
          <p:nvPr/>
        </p:nvGrpSpPr>
        <p:grpSpPr bwMode="auto">
          <a:xfrm>
            <a:off x="8159751" y="2298301"/>
            <a:ext cx="330200" cy="1143000"/>
            <a:chOff x="4080" y="1152"/>
            <a:chExt cx="192" cy="720"/>
          </a:xfrm>
        </p:grpSpPr>
        <p:sp>
          <p:nvSpPr>
            <p:cNvPr id="25660" name="Line 50"/>
            <p:cNvSpPr>
              <a:spLocks noChangeShapeType="1"/>
            </p:cNvSpPr>
            <p:nvPr/>
          </p:nvSpPr>
          <p:spPr bwMode="auto">
            <a:xfrm>
              <a:off x="4080" y="1152"/>
              <a:ext cx="0" cy="7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1" name="Line 51"/>
            <p:cNvSpPr>
              <a:spLocks noChangeShapeType="1"/>
            </p:cNvSpPr>
            <p:nvPr/>
          </p:nvSpPr>
          <p:spPr bwMode="auto">
            <a:xfrm>
              <a:off x="4080" y="1152"/>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2" name="Line 52"/>
            <p:cNvSpPr>
              <a:spLocks noChangeShapeType="1"/>
            </p:cNvSpPr>
            <p:nvPr/>
          </p:nvSpPr>
          <p:spPr bwMode="auto">
            <a:xfrm flipV="1">
              <a:off x="4080" y="177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3" name="Line 53"/>
            <p:cNvSpPr>
              <a:spLocks noChangeShapeType="1"/>
            </p:cNvSpPr>
            <p:nvPr/>
          </p:nvSpPr>
          <p:spPr bwMode="auto">
            <a:xfrm>
              <a:off x="4272" y="1248"/>
              <a:ext cx="0" cy="52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34" name="Line 54"/>
          <p:cNvSpPr>
            <a:spLocks noChangeShapeType="1"/>
          </p:cNvSpPr>
          <p:nvPr/>
        </p:nvSpPr>
        <p:spPr bwMode="auto">
          <a:xfrm flipH="1">
            <a:off x="7334251" y="25269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5" name="Line 55"/>
          <p:cNvSpPr>
            <a:spLocks noChangeShapeType="1"/>
          </p:cNvSpPr>
          <p:nvPr/>
        </p:nvSpPr>
        <p:spPr bwMode="auto">
          <a:xfrm flipH="1">
            <a:off x="7747001" y="24507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6" name="Rectangle 56"/>
          <p:cNvSpPr>
            <a:spLocks noChangeArrowheads="1"/>
          </p:cNvSpPr>
          <p:nvPr/>
        </p:nvSpPr>
        <p:spPr bwMode="auto">
          <a:xfrm>
            <a:off x="7399339" y="24967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37" name="Line 57"/>
          <p:cNvSpPr>
            <a:spLocks noChangeShapeType="1"/>
          </p:cNvSpPr>
          <p:nvPr/>
        </p:nvSpPr>
        <p:spPr bwMode="auto">
          <a:xfrm flipH="1">
            <a:off x="7334251" y="32127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8" name="Line 58"/>
          <p:cNvSpPr>
            <a:spLocks noChangeShapeType="1"/>
          </p:cNvSpPr>
          <p:nvPr/>
        </p:nvSpPr>
        <p:spPr bwMode="auto">
          <a:xfrm flipH="1">
            <a:off x="7747001" y="31365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9" name="Rectangle 59"/>
          <p:cNvSpPr>
            <a:spLocks noChangeArrowheads="1"/>
          </p:cNvSpPr>
          <p:nvPr/>
        </p:nvSpPr>
        <p:spPr bwMode="auto">
          <a:xfrm>
            <a:off x="6986589" y="2344340"/>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40" name="Rectangle 60"/>
          <p:cNvSpPr>
            <a:spLocks noChangeArrowheads="1"/>
          </p:cNvSpPr>
          <p:nvPr/>
        </p:nvSpPr>
        <p:spPr bwMode="auto">
          <a:xfrm>
            <a:off x="6986589" y="3030140"/>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41" name="Rectangle 61"/>
          <p:cNvSpPr>
            <a:spLocks noChangeArrowheads="1"/>
          </p:cNvSpPr>
          <p:nvPr/>
        </p:nvSpPr>
        <p:spPr bwMode="auto">
          <a:xfrm>
            <a:off x="7399339" y="31825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42" name="Line 62"/>
          <p:cNvSpPr>
            <a:spLocks noChangeShapeType="1"/>
          </p:cNvSpPr>
          <p:nvPr/>
        </p:nvSpPr>
        <p:spPr bwMode="auto">
          <a:xfrm flipH="1">
            <a:off x="8489951" y="29079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3" name="Line 63"/>
          <p:cNvSpPr>
            <a:spLocks noChangeShapeType="1"/>
          </p:cNvSpPr>
          <p:nvPr/>
        </p:nvSpPr>
        <p:spPr bwMode="auto">
          <a:xfrm flipH="1">
            <a:off x="8902701" y="28317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4" name="Rectangle 64"/>
          <p:cNvSpPr>
            <a:spLocks noChangeArrowheads="1"/>
          </p:cNvSpPr>
          <p:nvPr/>
        </p:nvSpPr>
        <p:spPr bwMode="auto">
          <a:xfrm>
            <a:off x="9297988" y="2725340"/>
            <a:ext cx="318998"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Y</a:t>
            </a:r>
          </a:p>
        </p:txBody>
      </p:sp>
      <p:sp>
        <p:nvSpPr>
          <p:cNvPr id="25645" name="Rectangle 65"/>
          <p:cNvSpPr>
            <a:spLocks noChangeArrowheads="1"/>
          </p:cNvSpPr>
          <p:nvPr/>
        </p:nvSpPr>
        <p:spPr bwMode="auto">
          <a:xfrm>
            <a:off x="8555039" y="28777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46" name="Line 66"/>
          <p:cNvSpPr>
            <a:spLocks noChangeShapeType="1"/>
          </p:cNvSpPr>
          <p:nvPr/>
        </p:nvSpPr>
        <p:spPr bwMode="auto">
          <a:xfrm>
            <a:off x="8324851" y="1917301"/>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7" name="Rectangle 67"/>
          <p:cNvSpPr>
            <a:spLocks noChangeArrowheads="1"/>
          </p:cNvSpPr>
          <p:nvPr/>
        </p:nvSpPr>
        <p:spPr bwMode="auto">
          <a:xfrm>
            <a:off x="7334250" y="1839516"/>
            <a:ext cx="1073151"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Select</a:t>
            </a:r>
          </a:p>
        </p:txBody>
      </p:sp>
      <p:sp>
        <p:nvSpPr>
          <p:cNvPr id="25648" name="Rectangle 68"/>
          <p:cNvSpPr>
            <a:spLocks noChangeArrowheads="1"/>
          </p:cNvSpPr>
          <p:nvPr/>
        </p:nvSpPr>
        <p:spPr bwMode="auto">
          <a:xfrm rot="5400000">
            <a:off x="3741121" y="2619609"/>
            <a:ext cx="70852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Adder</a:t>
            </a:r>
          </a:p>
        </p:txBody>
      </p:sp>
      <p:sp>
        <p:nvSpPr>
          <p:cNvPr id="25649" name="Rectangle 69"/>
          <p:cNvSpPr>
            <a:spLocks noChangeArrowheads="1"/>
          </p:cNvSpPr>
          <p:nvPr/>
        </p:nvSpPr>
        <p:spPr bwMode="auto">
          <a:xfrm rot="5400000">
            <a:off x="8023213" y="2720841"/>
            <a:ext cx="6139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Calibri" panose="020F0702030404030204" pitchFamily="34" charset="0"/>
                <a:ea typeface="新細明體" panose="02020500000000000000" pitchFamily="18" charset="-120"/>
                <a:cs typeface="Calibri" panose="020F0702030404030204" pitchFamily="34" charset="0"/>
              </a:rPr>
              <a:t>MUX</a:t>
            </a:r>
          </a:p>
        </p:txBody>
      </p:sp>
      <p:sp>
        <p:nvSpPr>
          <p:cNvPr id="25650" name="Rectangle 70"/>
          <p:cNvSpPr>
            <a:spLocks noChangeArrowheads="1"/>
          </p:cNvSpPr>
          <p:nvPr/>
        </p:nvSpPr>
        <p:spPr bwMode="auto">
          <a:xfrm rot="5400000">
            <a:off x="6129839" y="4967301"/>
            <a:ext cx="52719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Calibri" panose="020F0702030404030204" pitchFamily="34" charset="0"/>
                <a:ea typeface="新細明體" panose="02020500000000000000" pitchFamily="18" charset="-120"/>
                <a:cs typeface="Calibri" panose="020F0702030404030204" pitchFamily="34" charset="0"/>
              </a:rPr>
              <a:t>ALU</a:t>
            </a:r>
          </a:p>
        </p:txBody>
      </p:sp>
      <p:sp>
        <p:nvSpPr>
          <p:cNvPr id="25651" name="Line 71"/>
          <p:cNvSpPr>
            <a:spLocks noChangeShapeType="1"/>
          </p:cNvSpPr>
          <p:nvPr/>
        </p:nvSpPr>
        <p:spPr bwMode="auto">
          <a:xfrm>
            <a:off x="4032251" y="1917301"/>
            <a:ext cx="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52" name="Rectangle 72"/>
          <p:cNvSpPr>
            <a:spLocks noChangeArrowheads="1"/>
          </p:cNvSpPr>
          <p:nvPr/>
        </p:nvSpPr>
        <p:spPr bwMode="auto">
          <a:xfrm>
            <a:off x="4014788" y="1810940"/>
            <a:ext cx="961353"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CarryIn</a:t>
            </a:r>
          </a:p>
        </p:txBody>
      </p:sp>
      <p:sp>
        <p:nvSpPr>
          <p:cNvPr id="25653" name="Rectangle 73"/>
          <p:cNvSpPr>
            <a:spLocks noChangeArrowheads="1"/>
          </p:cNvSpPr>
          <p:nvPr/>
        </p:nvSpPr>
        <p:spPr bwMode="auto">
          <a:xfrm>
            <a:off x="3436937" y="3596876"/>
            <a:ext cx="966611"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dirty="0">
                <a:solidFill>
                  <a:prstClr val="black"/>
                </a:solidFill>
                <a:latin typeface="Calibri" panose="020F0702030404030204" pitchFamily="34" charset="0"/>
                <a:ea typeface="新細明體" panose="02020500000000000000" pitchFamily="18" charset="-120"/>
                <a:cs typeface="Calibri" panose="020F0702030404030204" pitchFamily="34" charset="0"/>
              </a:rPr>
              <a:t>Adder</a:t>
            </a:r>
          </a:p>
        </p:txBody>
      </p:sp>
      <p:sp>
        <p:nvSpPr>
          <p:cNvPr id="25654" name="Rectangle 74"/>
          <p:cNvSpPr>
            <a:spLocks noChangeArrowheads="1"/>
          </p:cNvSpPr>
          <p:nvPr/>
        </p:nvSpPr>
        <p:spPr bwMode="auto">
          <a:xfrm>
            <a:off x="7894640" y="3520676"/>
            <a:ext cx="825547"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dirty="0">
                <a:solidFill>
                  <a:prstClr val="black"/>
                </a:solidFill>
                <a:latin typeface="Calibri" panose="020F0702030404030204" pitchFamily="34" charset="0"/>
                <a:ea typeface="新細明體" panose="02020500000000000000" pitchFamily="18" charset="-120"/>
                <a:cs typeface="Calibri" panose="020F0702030404030204" pitchFamily="34" charset="0"/>
              </a:rPr>
              <a:t>MUX</a:t>
            </a:r>
          </a:p>
        </p:txBody>
      </p:sp>
      <p:sp>
        <p:nvSpPr>
          <p:cNvPr id="25655" name="Rectangle 75"/>
          <p:cNvSpPr>
            <a:spLocks noChangeArrowheads="1"/>
          </p:cNvSpPr>
          <p:nvPr/>
        </p:nvSpPr>
        <p:spPr bwMode="auto">
          <a:xfrm>
            <a:off x="5748339" y="5743176"/>
            <a:ext cx="694614"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latin typeface="Calibri" panose="020F0702030404030204" pitchFamily="34" charset="0"/>
                <a:ea typeface="新細明體" panose="02020500000000000000" pitchFamily="18" charset="-120"/>
                <a:cs typeface="Calibri" panose="020F0702030404030204" pitchFamily="34" charset="0"/>
              </a:rPr>
              <a:t>ALU</a:t>
            </a:r>
          </a:p>
        </p:txBody>
      </p:sp>
      <p:sp>
        <p:nvSpPr>
          <p:cNvPr id="25656" name="Line 76"/>
          <p:cNvSpPr>
            <a:spLocks noChangeShapeType="1"/>
          </p:cNvSpPr>
          <p:nvPr/>
        </p:nvSpPr>
        <p:spPr bwMode="auto">
          <a:xfrm flipH="1">
            <a:off x="6178551" y="4358876"/>
            <a:ext cx="1651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57" name="Rectangle 77"/>
          <p:cNvSpPr>
            <a:spLocks noChangeArrowheads="1"/>
          </p:cNvSpPr>
          <p:nvPr/>
        </p:nvSpPr>
        <p:spPr bwMode="auto">
          <a:xfrm>
            <a:off x="6426200" y="4282677"/>
            <a:ext cx="315792"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4</a:t>
            </a:r>
          </a:p>
        </p:txBody>
      </p:sp>
      <p:sp>
        <p:nvSpPr>
          <p:cNvPr id="25658" name="Rectangle 78"/>
          <p:cNvSpPr>
            <a:spLocks noGrp="1" noChangeArrowheads="1"/>
          </p:cNvSpPr>
          <p:nvPr>
            <p:ph type="title"/>
          </p:nvPr>
        </p:nvSpPr>
        <p:spPr>
          <a:xfrm>
            <a:off x="1290919" y="204908"/>
            <a:ext cx="10522003" cy="583987"/>
          </a:xfrm>
        </p:spPr>
        <p:txBody>
          <a:bodyPr/>
          <a:lstStyle/>
          <a:p>
            <a:r>
              <a:rPr lang="en-US" altLang="zh-TW" sz="3733" dirty="0"/>
              <a:t>Step 2a - Combinational Components for Datapath</a:t>
            </a:r>
          </a:p>
        </p:txBody>
      </p:sp>
      <p:sp>
        <p:nvSpPr>
          <p:cNvPr id="80"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32</a:t>
            </a:fld>
            <a:endParaRPr lang="zh-TW" altLang="en-US">
              <a:solidFill>
                <a:prstClr val="white"/>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33</a:t>
            </a:fld>
            <a:endParaRPr lang="zh-TW" altLang="en-US">
              <a:solidFill>
                <a:prstClr val="white"/>
              </a:solidFill>
            </a:endParaRPr>
          </a:p>
        </p:txBody>
      </p:sp>
      <mc:AlternateContent xmlns:mc="http://schemas.openxmlformats.org/markup-compatibility/2006">
        <mc:Choice xmlns:a14="http://schemas.microsoft.com/office/drawing/2010/main" Requires="a14">
          <p:sp>
            <p:nvSpPr>
              <p:cNvPr id="8" name="Rectangle 3"/>
              <p:cNvSpPr txBox="1">
                <a:spLocks noChangeArrowheads="1"/>
              </p:cNvSpPr>
              <p:nvPr/>
            </p:nvSpPr>
            <p:spPr bwMode="auto">
              <a:xfrm>
                <a:off x="781050" y="1053819"/>
                <a:ext cx="10639425"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400" kern="0" dirty="0">
                    <a:solidFill>
                      <a:prstClr val="black"/>
                    </a:solidFill>
                  </a:rPr>
                  <a:t>In a ripple-carry adder, the carry bit from each stage must propagate to the next stage before the sum can be calculated. This carry propagation delay can become significant for large binary numbers (e.g. 64b adder), slowing down the overall addition process.</a:t>
                </a:r>
              </a:p>
              <a:p>
                <a:pPr marL="342891" indent="-342891" defTabSz="1219170">
                  <a:buClr>
                    <a:srgbClr val="8064A2"/>
                  </a:buClr>
                </a:pPr>
                <a:r>
                  <a:rPr lang="en-US" altLang="zh-TW" kern="0" dirty="0">
                    <a:solidFill>
                      <a:prstClr val="black"/>
                    </a:solidFill>
                  </a:rPr>
                  <a:t>In a ripple-carry adder</a:t>
                </a:r>
              </a:p>
              <a:p>
                <a:pPr marL="299720" lvl="1" indent="0" defTabSz="1219170">
                  <a:buClr>
                    <a:srgbClr val="8064A2"/>
                  </a:buClr>
                  <a:buNone/>
                </a:pP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p>
              <a:p>
                <a:pPr defTabSz="1219170">
                  <a:buClrTx/>
                  <a:buSzPct val="200000"/>
                  <a:buFont typeface="Arial" panose="020B0604020202020204" pitchFamily="34" charset="0"/>
                  <a:buChar char="•"/>
                </a:pPr>
                <a:r>
                  <a:rPr lang="pt-BR" altLang="zh-TW" kern="0" dirty="0">
                    <a:solidFill>
                      <a:prstClr val="black"/>
                    </a:solidFill>
                  </a:rPr>
                  <a:t> In a carry lookahead adder</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smtClea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xor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e>
                      <m:sub/>
                    </m:sSub>
                  </m:oMath>
                </a14:m>
                <a:endParaRPr lang="pt-BR" altLang="zh-TW" kern="0" dirty="0">
                  <a:solidFill>
                    <a:prstClr val="black"/>
                  </a:solidFill>
                </a:endParaRP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3</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e>
                      <m:sub/>
                    </m:sSub>
                  </m:oMath>
                </a14:m>
                <a:endParaRPr lang="pt-BR" altLang="zh-TW" kern="0" dirty="0">
                  <a:solidFill>
                    <a:prstClr val="black"/>
                  </a:solidFill>
                </a:endParaRPr>
              </a:p>
            </p:txBody>
          </p:sp>
        </mc:Choice>
        <mc:Fallback>
          <p:sp>
            <p:nvSpPr>
              <p:cNvPr id="8" name="Rectangle 3"/>
              <p:cNvSpPr txBox="1">
                <a:spLocks noRot="1" noChangeAspect="1" noMove="1" noResize="1" noEditPoints="1" noAdjustHandles="1" noChangeArrowheads="1" noChangeShapeType="1" noTextEdit="1"/>
              </p:cNvSpPr>
              <p:nvPr/>
            </p:nvSpPr>
            <p:spPr bwMode="auto">
              <a:xfrm>
                <a:off x="781050" y="1053819"/>
                <a:ext cx="10639425" cy="5062672"/>
              </a:xfrm>
              <a:prstGeom prst="rect">
                <a:avLst/>
              </a:prstGeom>
              <a:blipFill>
                <a:blip r:embed="rId3"/>
                <a:stretch>
                  <a:fillRect l="-2063" t="-723" r="-57" b="-1687"/>
                </a:stretch>
              </a:blipFill>
              <a:ln w="9525">
                <a:noFill/>
                <a:miter lim="800000"/>
              </a:ln>
            </p:spPr>
            <p:txBody>
              <a:bodyPr/>
              <a:lstStyle/>
              <a:p>
                <a:r>
                  <a:rPr lang="en-US">
                    <a:noFill/>
                  </a:rPr>
                  <a:t> </a:t>
                </a:r>
              </a:p>
            </p:txBody>
          </p:sp>
        </mc:Fallback>
      </mc:AlternateContent>
      <p:sp>
        <p:nvSpPr>
          <p:cNvPr id="2" name="TextBox 1">
            <a:extLst>
              <a:ext uri="{FF2B5EF4-FFF2-40B4-BE49-F238E27FC236}">
                <a16:creationId xmlns:a16="http://schemas.microsoft.com/office/drawing/2014/main" id="{F607D960-9D8D-4EE4-AF20-8C4878FF969E}"/>
              </a:ext>
            </a:extLst>
          </p:cNvPr>
          <p:cNvSpPr txBox="1"/>
          <p:nvPr/>
        </p:nvSpPr>
        <p:spPr>
          <a:xfrm>
            <a:off x="6566733" y="5105370"/>
            <a:ext cx="5256824" cy="400110"/>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Now, the carry propagation chain disappears</a:t>
            </a:r>
          </a:p>
        </p:txBody>
      </p:sp>
      <p:pic>
        <p:nvPicPr>
          <p:cNvPr id="3" name="Picture 2">
            <a:extLst>
              <a:ext uri="{FF2B5EF4-FFF2-40B4-BE49-F238E27FC236}">
                <a16:creationId xmlns:a16="http://schemas.microsoft.com/office/drawing/2014/main" id="{4EC144F9-2AD8-4631-AAEB-E2A40EDA6AC8}"/>
              </a:ext>
            </a:extLst>
          </p:cNvPr>
          <p:cNvPicPr>
            <a:picLocks noChangeAspect="1"/>
          </p:cNvPicPr>
          <p:nvPr/>
        </p:nvPicPr>
        <p:blipFill>
          <a:blip r:embed="rId4"/>
          <a:stretch>
            <a:fillRect/>
          </a:stretch>
        </p:blipFill>
        <p:spPr>
          <a:xfrm>
            <a:off x="9134391" y="2408901"/>
            <a:ext cx="2636492" cy="1776779"/>
          </a:xfrm>
          <a:prstGeom prst="rect">
            <a:avLst/>
          </a:prstGeom>
        </p:spPr>
      </p:pic>
      <p:sp>
        <p:nvSpPr>
          <p:cNvPr id="4" name="Oval 3">
            <a:extLst>
              <a:ext uri="{FF2B5EF4-FFF2-40B4-BE49-F238E27FC236}">
                <a16:creationId xmlns:a16="http://schemas.microsoft.com/office/drawing/2014/main" id="{8815ABB8-A878-47DC-86C0-A24CFBE09FB6}"/>
              </a:ext>
            </a:extLst>
          </p:cNvPr>
          <p:cNvSpPr/>
          <p:nvPr/>
        </p:nvSpPr>
        <p:spPr bwMode="auto">
          <a:xfrm>
            <a:off x="854209"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2" name="Oval 61">
            <a:extLst>
              <a:ext uri="{FF2B5EF4-FFF2-40B4-BE49-F238E27FC236}">
                <a16:creationId xmlns:a16="http://schemas.microsoft.com/office/drawing/2014/main" id="{0F5AD2FD-EA06-43DD-9851-51926B29B21B}"/>
              </a:ext>
            </a:extLst>
          </p:cNvPr>
          <p:cNvSpPr/>
          <p:nvPr/>
        </p:nvSpPr>
        <p:spPr bwMode="auto">
          <a:xfrm>
            <a:off x="5181600"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Oval 64">
            <a:extLst>
              <a:ext uri="{FF2B5EF4-FFF2-40B4-BE49-F238E27FC236}">
                <a16:creationId xmlns:a16="http://schemas.microsoft.com/office/drawing/2014/main" id="{70908B4E-2F91-4F93-BE47-91DAF2BBC924}"/>
              </a:ext>
            </a:extLst>
          </p:cNvPr>
          <p:cNvSpPr/>
          <p:nvPr/>
        </p:nvSpPr>
        <p:spPr bwMode="auto">
          <a:xfrm>
            <a:off x="3586121"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47252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2" grpId="0" animBg="1"/>
      <p:bldP spid="6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A Practical 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34</a:t>
            </a:fld>
            <a:endParaRPr lang="zh-TW" altLang="en-US">
              <a:solidFill>
                <a:prstClr val="white"/>
              </a:solidFill>
            </a:endParaRPr>
          </a:p>
        </p:txBody>
      </p:sp>
      <p:pic>
        <p:nvPicPr>
          <p:cNvPr id="4" name="Picture 3">
            <a:extLst>
              <a:ext uri="{FF2B5EF4-FFF2-40B4-BE49-F238E27FC236}">
                <a16:creationId xmlns:a16="http://schemas.microsoft.com/office/drawing/2014/main" id="{9A6CA6AB-DD46-4C5B-96B6-174232B465AC}"/>
              </a:ext>
            </a:extLst>
          </p:cNvPr>
          <p:cNvPicPr>
            <a:picLocks noChangeAspect="1"/>
          </p:cNvPicPr>
          <p:nvPr/>
        </p:nvPicPr>
        <p:blipFill>
          <a:blip r:embed="rId3"/>
          <a:stretch>
            <a:fillRect/>
          </a:stretch>
        </p:blipFill>
        <p:spPr>
          <a:xfrm>
            <a:off x="1219200" y="1228725"/>
            <a:ext cx="9486900" cy="4124325"/>
          </a:xfrm>
          <a:prstGeom prst="rect">
            <a:avLst/>
          </a:prstGeom>
        </p:spPr>
      </p:pic>
    </p:spTree>
    <p:extLst>
      <p:ext uri="{BB962C8B-B14F-4D97-AF65-F5344CB8AC3E}">
        <p14:creationId xmlns:p14="http://schemas.microsoft.com/office/powerpoint/2010/main" val="2833754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1362634" y="1115293"/>
            <a:ext cx="9845809" cy="3648809"/>
          </a:xfrm>
        </p:spPr>
        <p:txBody>
          <a:bodyPr/>
          <a:lstStyle/>
          <a:p>
            <a:r>
              <a:rPr lang="en-US" altLang="zh-TW" dirty="0"/>
              <a:t>Register</a:t>
            </a:r>
          </a:p>
          <a:p>
            <a:pPr lvl="1"/>
            <a:r>
              <a:rPr lang="en-US" altLang="zh-TW" dirty="0"/>
              <a:t>Similar to the D Flip Flop except</a:t>
            </a:r>
          </a:p>
          <a:p>
            <a:pPr lvl="2"/>
            <a:r>
              <a:rPr lang="en-US" altLang="zh-TW" dirty="0"/>
              <a:t>N-bit input and output</a:t>
            </a:r>
          </a:p>
          <a:p>
            <a:pPr lvl="2"/>
            <a:r>
              <a:rPr lang="en-US" altLang="zh-TW" dirty="0"/>
              <a:t>Write Enable input</a:t>
            </a:r>
            <a:endParaRPr lang="en-US" altLang="zh-TW" sz="2200" dirty="0"/>
          </a:p>
          <a:p>
            <a:pPr lvl="1"/>
            <a:r>
              <a:rPr lang="en-US" altLang="zh-TW" dirty="0"/>
              <a:t>Write Enable</a:t>
            </a:r>
          </a:p>
          <a:p>
            <a:pPr lvl="2"/>
            <a:r>
              <a:rPr lang="en-US" altLang="zh-TW" dirty="0"/>
              <a:t>negated (0): Data Out will not change</a:t>
            </a:r>
          </a:p>
          <a:p>
            <a:pPr lvl="2"/>
            <a:r>
              <a:rPr lang="en-US" altLang="zh-TW" dirty="0"/>
              <a:t>asserted (1): Data Out will become Data In</a:t>
            </a:r>
          </a:p>
        </p:txBody>
      </p:sp>
      <p:grpSp>
        <p:nvGrpSpPr>
          <p:cNvPr id="4" name="组合 3"/>
          <p:cNvGrpSpPr/>
          <p:nvPr/>
        </p:nvGrpSpPr>
        <p:grpSpPr>
          <a:xfrm>
            <a:off x="8290992" y="2358226"/>
            <a:ext cx="2987097" cy="2887313"/>
            <a:chOff x="6218244" y="1930033"/>
            <a:chExt cx="2240323" cy="2165485"/>
          </a:xfrm>
        </p:grpSpPr>
        <p:sp>
          <p:nvSpPr>
            <p:cNvPr id="26633" name="Line 9"/>
            <p:cNvSpPr>
              <a:spLocks noChangeShapeType="1"/>
            </p:cNvSpPr>
            <p:nvPr/>
          </p:nvSpPr>
          <p:spPr bwMode="auto">
            <a:xfrm flipH="1">
              <a:off x="7328018" y="3535857"/>
              <a:ext cx="7144" cy="2595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nvGrpSpPr>
            <p:cNvPr id="3" name="组合 2"/>
            <p:cNvGrpSpPr/>
            <p:nvPr/>
          </p:nvGrpSpPr>
          <p:grpSpPr>
            <a:xfrm>
              <a:off x="6218244" y="1930033"/>
              <a:ext cx="2240323" cy="2165485"/>
              <a:chOff x="6218244" y="1930033"/>
              <a:chExt cx="2240323" cy="2165485"/>
            </a:xfrm>
          </p:grpSpPr>
          <p:sp>
            <p:nvSpPr>
              <p:cNvPr id="26627" name="Rectangle 3"/>
              <p:cNvSpPr>
                <a:spLocks noChangeArrowheads="1"/>
              </p:cNvSpPr>
              <p:nvPr/>
            </p:nvSpPr>
            <p:spPr bwMode="auto">
              <a:xfrm>
                <a:off x="7160439" y="3794952"/>
                <a:ext cx="4392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err="1">
                    <a:solidFill>
                      <a:prstClr val="black"/>
                    </a:solidFill>
                    <a:latin typeface="Arial" panose="020B0604020202090204" pitchFamily="34" charset="0"/>
                    <a:ea typeface="新細明體" panose="02020500000000000000" pitchFamily="18" charset="-120"/>
                  </a:rPr>
                  <a:t>Clk</a:t>
                </a:r>
                <a:endParaRPr kumimoji="1" lang="en-US" altLang="zh-TW" sz="2000" dirty="0">
                  <a:solidFill>
                    <a:prstClr val="black"/>
                  </a:solidFill>
                  <a:latin typeface="Arial" panose="020B0604020202090204" pitchFamily="34" charset="0"/>
                  <a:ea typeface="新細明體" panose="02020500000000000000" pitchFamily="18" charset="-120"/>
                </a:endParaRPr>
              </a:p>
            </p:txBody>
          </p:sp>
          <p:grpSp>
            <p:nvGrpSpPr>
              <p:cNvPr id="2" name="组合 1"/>
              <p:cNvGrpSpPr/>
              <p:nvPr/>
            </p:nvGrpSpPr>
            <p:grpSpPr>
              <a:xfrm>
                <a:off x="6218244" y="1930033"/>
                <a:ext cx="2240323" cy="1551385"/>
                <a:chOff x="4750594" y="3098006"/>
                <a:chExt cx="2240323" cy="1551385"/>
              </a:xfrm>
            </p:grpSpPr>
            <p:sp>
              <p:nvSpPr>
                <p:cNvPr id="26628" name="Rectangle 4"/>
                <p:cNvSpPr>
                  <a:spLocks noChangeArrowheads="1"/>
                </p:cNvSpPr>
                <p:nvPr/>
              </p:nvSpPr>
              <p:spPr bwMode="auto">
                <a:xfrm>
                  <a:off x="4750594" y="3764756"/>
                  <a:ext cx="780262"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Data In</a:t>
                  </a:r>
                </a:p>
              </p:txBody>
            </p:sp>
            <p:sp>
              <p:nvSpPr>
                <p:cNvPr id="26629" name="Rectangle 5"/>
                <p:cNvSpPr>
                  <a:spLocks noChangeArrowheads="1"/>
                </p:cNvSpPr>
                <p:nvPr/>
              </p:nvSpPr>
              <p:spPr bwMode="auto">
                <a:xfrm>
                  <a:off x="5766197" y="3634978"/>
                  <a:ext cx="214313"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6630" name="Line 6"/>
                <p:cNvSpPr>
                  <a:spLocks noChangeShapeType="1"/>
                </p:cNvSpPr>
                <p:nvPr/>
              </p:nvSpPr>
              <p:spPr bwMode="auto">
                <a:xfrm flipV="1">
                  <a:off x="5807869"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1" name="Line 7"/>
                <p:cNvSpPr>
                  <a:spLocks noChangeShapeType="1"/>
                </p:cNvSpPr>
                <p:nvPr/>
              </p:nvSpPr>
              <p:spPr bwMode="auto">
                <a:xfrm>
                  <a:off x="5869781"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2" name="Oval 8"/>
                <p:cNvSpPr>
                  <a:spLocks noChangeArrowheads="1"/>
                </p:cNvSpPr>
                <p:nvPr/>
              </p:nvSpPr>
              <p:spPr bwMode="auto">
                <a:xfrm>
                  <a:off x="5818585" y="4554141"/>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6634" name="Rectangle 10"/>
                <p:cNvSpPr>
                  <a:spLocks noChangeArrowheads="1"/>
                </p:cNvSpPr>
                <p:nvPr/>
              </p:nvSpPr>
              <p:spPr bwMode="auto">
                <a:xfrm>
                  <a:off x="4872037" y="3098006"/>
                  <a:ext cx="1299779"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Write Enable</a:t>
                  </a:r>
                </a:p>
              </p:txBody>
            </p:sp>
            <p:sp>
              <p:nvSpPr>
                <p:cNvPr id="26635" name="Line 11"/>
                <p:cNvSpPr>
                  <a:spLocks noChangeShapeType="1"/>
                </p:cNvSpPr>
                <p:nvPr/>
              </p:nvSpPr>
              <p:spPr bwMode="auto">
                <a:xfrm flipH="1">
                  <a:off x="4824412" y="4073129"/>
                  <a:ext cx="9286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6" name="Line 12"/>
                <p:cNvSpPr>
                  <a:spLocks noChangeShapeType="1"/>
                </p:cNvSpPr>
                <p:nvPr/>
              </p:nvSpPr>
              <p:spPr bwMode="auto">
                <a:xfrm flipH="1">
                  <a:off x="5257800"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7" name="Rectangle 13"/>
                <p:cNvSpPr>
                  <a:spLocks noChangeArrowheads="1"/>
                </p:cNvSpPr>
                <p:nvPr/>
              </p:nvSpPr>
              <p:spPr bwMode="auto">
                <a:xfrm>
                  <a:off x="4998244" y="4050506"/>
                  <a:ext cx="2789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N</a:t>
                  </a:r>
                </a:p>
              </p:txBody>
            </p:sp>
            <p:sp>
              <p:nvSpPr>
                <p:cNvPr id="26638" name="Line 14"/>
                <p:cNvSpPr>
                  <a:spLocks noChangeShapeType="1"/>
                </p:cNvSpPr>
                <p:nvPr/>
              </p:nvSpPr>
              <p:spPr bwMode="auto">
                <a:xfrm>
                  <a:off x="6000750" y="4073129"/>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9" name="Line 15"/>
                <p:cNvSpPr>
                  <a:spLocks noChangeShapeType="1"/>
                </p:cNvSpPr>
                <p:nvPr/>
              </p:nvSpPr>
              <p:spPr bwMode="auto">
                <a:xfrm flipH="1">
                  <a:off x="6434137"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40" name="Rectangle 16"/>
                <p:cNvSpPr>
                  <a:spLocks noChangeArrowheads="1"/>
                </p:cNvSpPr>
                <p:nvPr/>
              </p:nvSpPr>
              <p:spPr bwMode="auto">
                <a:xfrm>
                  <a:off x="6174581" y="4050506"/>
                  <a:ext cx="2789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N</a:t>
                  </a:r>
                </a:p>
              </p:txBody>
            </p:sp>
            <p:sp>
              <p:nvSpPr>
                <p:cNvPr id="26641" name="Rectangle 17"/>
                <p:cNvSpPr>
                  <a:spLocks noChangeArrowheads="1"/>
                </p:cNvSpPr>
                <p:nvPr/>
              </p:nvSpPr>
              <p:spPr bwMode="auto">
                <a:xfrm>
                  <a:off x="6050756" y="3764756"/>
                  <a:ext cx="940161"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Data Out</a:t>
                  </a:r>
                </a:p>
              </p:txBody>
            </p:sp>
            <p:sp>
              <p:nvSpPr>
                <p:cNvPr id="26642" name="Line 18"/>
                <p:cNvSpPr>
                  <a:spLocks noChangeShapeType="1"/>
                </p:cNvSpPr>
                <p:nvPr/>
              </p:nvSpPr>
              <p:spPr bwMode="auto">
                <a:xfrm flipV="1">
                  <a:off x="5876925" y="3394473"/>
                  <a:ext cx="0" cy="2214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grpSp>
      </p:grpSp>
      <p:sp>
        <p:nvSpPr>
          <p:cNvPr id="26643" name="Rectangle 19"/>
          <p:cNvSpPr>
            <a:spLocks noGrp="1" noChangeArrowheads="1"/>
          </p:cNvSpPr>
          <p:nvPr>
            <p:ph type="title"/>
          </p:nvPr>
        </p:nvSpPr>
        <p:spPr>
          <a:xfrm>
            <a:off x="1290919" y="225399"/>
            <a:ext cx="10511757" cy="532760"/>
          </a:xfrm>
        </p:spPr>
        <p:txBody>
          <a:bodyPr/>
          <a:lstStyle/>
          <a:p>
            <a:r>
              <a:rPr lang="en-US" altLang="zh-TW" sz="3733" dirty="0"/>
              <a:t>Step 2b - Sequential Components for Datapath</a:t>
            </a:r>
          </a:p>
        </p:txBody>
      </p:sp>
      <p:sp>
        <p:nvSpPr>
          <p:cNvPr id="2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35</a:t>
            </a:fld>
            <a:endParaRPr lang="zh-TW" altLang="en-US">
              <a:solidFill>
                <a:prstClr val="white"/>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4" name="Rectangle 36"/>
          <p:cNvSpPr>
            <a:spLocks noGrp="1" noChangeArrowheads="1"/>
          </p:cNvSpPr>
          <p:nvPr>
            <p:ph type="body" idx="1"/>
          </p:nvPr>
        </p:nvSpPr>
        <p:spPr>
          <a:xfrm>
            <a:off x="1219200" y="1074310"/>
            <a:ext cx="9630656" cy="5042180"/>
          </a:xfrm>
        </p:spPr>
        <p:txBody>
          <a:bodyPr/>
          <a:lstStyle/>
          <a:p>
            <a:r>
              <a:rPr lang="en-US" altLang="zh-TW" sz="2667" dirty="0"/>
              <a:t>Consists of 32 registers</a:t>
            </a:r>
          </a:p>
          <a:p>
            <a:pPr lvl="1"/>
            <a:r>
              <a:rPr lang="en-US" altLang="zh-TW" sz="2133" dirty="0"/>
              <a:t>Two 32-bit output buses (</a:t>
            </a:r>
            <a:r>
              <a:rPr lang="en-US" altLang="zh-TW" sz="2133" dirty="0" err="1"/>
              <a:t>busA</a:t>
            </a:r>
            <a:r>
              <a:rPr lang="en-US" altLang="zh-TW" sz="2133" dirty="0"/>
              <a:t> and </a:t>
            </a:r>
            <a:r>
              <a:rPr lang="en-US" altLang="zh-TW" sz="2133" dirty="0" err="1"/>
              <a:t>busB</a:t>
            </a:r>
            <a:r>
              <a:rPr lang="en-US" altLang="zh-TW" sz="2133" dirty="0"/>
              <a:t>)</a:t>
            </a:r>
          </a:p>
          <a:p>
            <a:pPr lvl="1"/>
            <a:r>
              <a:rPr lang="en-US" altLang="zh-TW" sz="2133" dirty="0"/>
              <a:t>Two output buses are usually called two read ports</a:t>
            </a:r>
          </a:p>
          <a:p>
            <a:pPr lvl="1"/>
            <a:r>
              <a:rPr lang="en-US" altLang="zh-TW" sz="2133" dirty="0"/>
              <a:t>One 32-bit input bus: </a:t>
            </a:r>
            <a:r>
              <a:rPr lang="en-US" altLang="zh-TW" sz="2133" dirty="0" err="1"/>
              <a:t>busW</a:t>
            </a:r>
            <a:r>
              <a:rPr lang="en-US" altLang="zh-TW" sz="2133" dirty="0"/>
              <a:t> (one write port)</a:t>
            </a:r>
          </a:p>
          <a:p>
            <a:r>
              <a:rPr lang="en-US" altLang="zh-TW" sz="2667" dirty="0"/>
              <a:t>Register is selected by</a:t>
            </a:r>
          </a:p>
          <a:p>
            <a:pPr lvl="1"/>
            <a:r>
              <a:rPr lang="en-US" altLang="zh-TW" sz="2133" dirty="0"/>
              <a:t>RA selects the register to put on </a:t>
            </a:r>
            <a:r>
              <a:rPr lang="en-US" altLang="zh-TW" sz="2133" dirty="0" err="1"/>
              <a:t>busA</a:t>
            </a:r>
            <a:r>
              <a:rPr lang="en-US" altLang="zh-TW" sz="2133" dirty="0"/>
              <a:t> (data)</a:t>
            </a:r>
          </a:p>
          <a:p>
            <a:pPr lvl="1"/>
            <a:r>
              <a:rPr lang="en-US" altLang="zh-TW" sz="2133" dirty="0"/>
              <a:t>RB selects the register to put on </a:t>
            </a:r>
            <a:r>
              <a:rPr lang="en-US" altLang="zh-TW" sz="2133" dirty="0" err="1"/>
              <a:t>busB</a:t>
            </a:r>
            <a:r>
              <a:rPr lang="en-US" altLang="zh-TW" sz="2133" dirty="0"/>
              <a:t> (data)</a:t>
            </a:r>
          </a:p>
          <a:p>
            <a:pPr lvl="1"/>
            <a:r>
              <a:rPr lang="en-US" altLang="zh-TW" sz="2133" dirty="0"/>
              <a:t>RW selects the register to be  written via </a:t>
            </a:r>
            <a:r>
              <a:rPr lang="en-US" altLang="zh-TW" sz="2133" dirty="0" err="1"/>
              <a:t>busW</a:t>
            </a:r>
            <a:r>
              <a:rPr lang="en-US" altLang="zh-TW" sz="2133" dirty="0"/>
              <a:t> (data) when Write Enable is 1</a:t>
            </a:r>
          </a:p>
          <a:p>
            <a:r>
              <a:rPr lang="en-US" altLang="zh-TW" sz="2667" dirty="0"/>
              <a:t>Clock input (CLK) </a:t>
            </a:r>
          </a:p>
          <a:p>
            <a:pPr lvl="1"/>
            <a:r>
              <a:rPr lang="en-US" altLang="zh-TW" sz="2133" dirty="0"/>
              <a:t>The CLK input is a factor ONLY during write operation</a:t>
            </a:r>
          </a:p>
          <a:p>
            <a:pPr lvl="1"/>
            <a:r>
              <a:rPr lang="en-US" altLang="zh-TW" sz="2133" dirty="0"/>
              <a:t>During read, behaves as a combinational circuit</a:t>
            </a:r>
          </a:p>
        </p:txBody>
      </p:sp>
      <p:grpSp>
        <p:nvGrpSpPr>
          <p:cNvPr id="2" name="组合 1"/>
          <p:cNvGrpSpPr/>
          <p:nvPr/>
        </p:nvGrpSpPr>
        <p:grpSpPr>
          <a:xfrm>
            <a:off x="7365654" y="1568557"/>
            <a:ext cx="4355057" cy="2433268"/>
            <a:chOff x="5155407" y="938213"/>
            <a:chExt cx="2971800" cy="1550148"/>
          </a:xfrm>
        </p:grpSpPr>
        <p:sp>
          <p:nvSpPr>
            <p:cNvPr id="27650" name="Rectangle 2"/>
            <p:cNvSpPr>
              <a:spLocks noChangeArrowheads="1"/>
            </p:cNvSpPr>
            <p:nvPr/>
          </p:nvSpPr>
          <p:spPr bwMode="auto">
            <a:xfrm>
              <a:off x="5582841" y="2088356"/>
              <a:ext cx="371911"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Clk</a:t>
              </a:r>
            </a:p>
          </p:txBody>
        </p:sp>
        <p:sp>
          <p:nvSpPr>
            <p:cNvPr id="27651" name="Rectangle 3"/>
            <p:cNvSpPr>
              <a:spLocks noChangeArrowheads="1"/>
            </p:cNvSpPr>
            <p:nvPr/>
          </p:nvSpPr>
          <p:spPr bwMode="auto">
            <a:xfrm>
              <a:off x="5266135" y="1681163"/>
              <a:ext cx="555678"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busW</a:t>
              </a:r>
            </a:p>
          </p:txBody>
        </p:sp>
        <p:sp>
          <p:nvSpPr>
            <p:cNvPr id="27652" name="Rectangle 4"/>
            <p:cNvSpPr>
              <a:spLocks noChangeArrowheads="1"/>
            </p:cNvSpPr>
            <p:nvPr/>
          </p:nvSpPr>
          <p:spPr bwMode="auto">
            <a:xfrm>
              <a:off x="6159104" y="1551385"/>
              <a:ext cx="1141809"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7653" name="Line 5"/>
            <p:cNvSpPr>
              <a:spLocks noChangeShapeType="1"/>
            </p:cNvSpPr>
            <p:nvPr/>
          </p:nvSpPr>
          <p:spPr bwMode="auto">
            <a:xfrm>
              <a:off x="6168629" y="2260997"/>
              <a:ext cx="225028" cy="714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4" name="Line 6"/>
            <p:cNvSpPr>
              <a:spLocks noChangeShapeType="1"/>
            </p:cNvSpPr>
            <p:nvPr/>
          </p:nvSpPr>
          <p:spPr bwMode="auto">
            <a:xfrm flipH="1">
              <a:off x="6168629" y="2332435"/>
              <a:ext cx="225028" cy="1000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5" name="Oval 7"/>
            <p:cNvSpPr>
              <a:spLocks noChangeArrowheads="1"/>
            </p:cNvSpPr>
            <p:nvPr/>
          </p:nvSpPr>
          <p:spPr bwMode="auto">
            <a:xfrm>
              <a:off x="6024563" y="2299097"/>
              <a:ext cx="103585"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7656" name="Rectangle 8"/>
            <p:cNvSpPr>
              <a:spLocks noChangeArrowheads="1"/>
            </p:cNvSpPr>
            <p:nvPr/>
          </p:nvSpPr>
          <p:spPr bwMode="auto">
            <a:xfrm>
              <a:off x="5155407" y="1042988"/>
              <a:ext cx="107788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Write Enable</a:t>
              </a:r>
            </a:p>
          </p:txBody>
        </p:sp>
        <p:sp>
          <p:nvSpPr>
            <p:cNvPr id="27657" name="Line 9"/>
            <p:cNvSpPr>
              <a:spLocks noChangeShapeType="1"/>
            </p:cNvSpPr>
            <p:nvPr/>
          </p:nvSpPr>
          <p:spPr bwMode="auto">
            <a:xfrm flipH="1">
              <a:off x="5341144" y="1932385"/>
              <a:ext cx="8048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8" name="Line 10"/>
            <p:cNvSpPr>
              <a:spLocks noChangeShapeType="1"/>
            </p:cNvSpPr>
            <p:nvPr/>
          </p:nvSpPr>
          <p:spPr bwMode="auto">
            <a:xfrm flipH="1">
              <a:off x="5774531" y="18752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9" name="Rectangle 11"/>
            <p:cNvSpPr>
              <a:spLocks noChangeArrowheads="1"/>
            </p:cNvSpPr>
            <p:nvPr/>
          </p:nvSpPr>
          <p:spPr bwMode="auto">
            <a:xfrm>
              <a:off x="5513785" y="19097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0" name="Line 12"/>
            <p:cNvSpPr>
              <a:spLocks noChangeShapeType="1"/>
            </p:cNvSpPr>
            <p:nvPr/>
          </p:nvSpPr>
          <p:spPr bwMode="auto">
            <a:xfrm>
              <a:off x="7322344" y="17037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1" name="Line 13"/>
            <p:cNvSpPr>
              <a:spLocks noChangeShapeType="1"/>
            </p:cNvSpPr>
            <p:nvPr/>
          </p:nvSpPr>
          <p:spPr bwMode="auto">
            <a:xfrm flipH="1">
              <a:off x="7817644" y="16466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2" name="Rectangle 14"/>
            <p:cNvSpPr>
              <a:spLocks noChangeArrowheads="1"/>
            </p:cNvSpPr>
            <p:nvPr/>
          </p:nvSpPr>
          <p:spPr bwMode="auto">
            <a:xfrm>
              <a:off x="7556898" y="16811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3" name="Rectangle 15"/>
            <p:cNvSpPr>
              <a:spLocks noChangeArrowheads="1"/>
            </p:cNvSpPr>
            <p:nvPr/>
          </p:nvSpPr>
          <p:spPr bwMode="auto">
            <a:xfrm>
              <a:off x="7309248" y="1452563"/>
              <a:ext cx="520675"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busA</a:t>
              </a:r>
            </a:p>
          </p:txBody>
        </p:sp>
        <p:sp>
          <p:nvSpPr>
            <p:cNvPr id="27664" name="Line 16"/>
            <p:cNvSpPr>
              <a:spLocks noChangeShapeType="1"/>
            </p:cNvSpPr>
            <p:nvPr/>
          </p:nvSpPr>
          <p:spPr bwMode="auto">
            <a:xfrm flipV="1">
              <a:off x="6269831" y="1360885"/>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5" name="Line 17"/>
            <p:cNvSpPr>
              <a:spLocks noChangeShapeType="1"/>
            </p:cNvSpPr>
            <p:nvPr/>
          </p:nvSpPr>
          <p:spPr bwMode="auto">
            <a:xfrm>
              <a:off x="7322344" y="22752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6" name="Line 18"/>
            <p:cNvSpPr>
              <a:spLocks noChangeShapeType="1"/>
            </p:cNvSpPr>
            <p:nvPr/>
          </p:nvSpPr>
          <p:spPr bwMode="auto">
            <a:xfrm flipH="1">
              <a:off x="7817644" y="22181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7" name="Rectangle 19"/>
            <p:cNvSpPr>
              <a:spLocks noChangeArrowheads="1"/>
            </p:cNvSpPr>
            <p:nvPr/>
          </p:nvSpPr>
          <p:spPr bwMode="auto">
            <a:xfrm>
              <a:off x="7556898" y="22526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8" name="Rectangle 20"/>
            <p:cNvSpPr>
              <a:spLocks noChangeArrowheads="1"/>
            </p:cNvSpPr>
            <p:nvPr/>
          </p:nvSpPr>
          <p:spPr bwMode="auto">
            <a:xfrm>
              <a:off x="7309248" y="2024063"/>
              <a:ext cx="520675"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busB</a:t>
              </a:r>
            </a:p>
          </p:txBody>
        </p:sp>
        <p:sp>
          <p:nvSpPr>
            <p:cNvPr id="27669" name="Line 21"/>
            <p:cNvSpPr>
              <a:spLocks noChangeShapeType="1"/>
            </p:cNvSpPr>
            <p:nvPr/>
          </p:nvSpPr>
          <p:spPr bwMode="auto">
            <a:xfrm flipH="1">
              <a:off x="5650706" y="2332435"/>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0" name="Line 22"/>
            <p:cNvSpPr>
              <a:spLocks noChangeShapeType="1"/>
            </p:cNvSpPr>
            <p:nvPr/>
          </p:nvSpPr>
          <p:spPr bwMode="auto">
            <a:xfrm>
              <a:off x="6517481"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1" name="Line 23"/>
            <p:cNvSpPr>
              <a:spLocks noChangeShapeType="1"/>
            </p:cNvSpPr>
            <p:nvPr/>
          </p:nvSpPr>
          <p:spPr bwMode="auto">
            <a:xfrm flipV="1">
              <a:off x="6455569"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2" name="Rectangle 24"/>
            <p:cNvSpPr>
              <a:spLocks noChangeArrowheads="1"/>
            </p:cNvSpPr>
            <p:nvPr/>
          </p:nvSpPr>
          <p:spPr bwMode="auto">
            <a:xfrm>
              <a:off x="6318648"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3" name="Line 25"/>
            <p:cNvSpPr>
              <a:spLocks noChangeShapeType="1"/>
            </p:cNvSpPr>
            <p:nvPr/>
          </p:nvSpPr>
          <p:spPr bwMode="auto">
            <a:xfrm>
              <a:off x="6827044"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4" name="Line 26"/>
            <p:cNvSpPr>
              <a:spLocks noChangeShapeType="1"/>
            </p:cNvSpPr>
            <p:nvPr/>
          </p:nvSpPr>
          <p:spPr bwMode="auto">
            <a:xfrm flipV="1">
              <a:off x="6765131"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5" name="Rectangle 27"/>
            <p:cNvSpPr>
              <a:spLocks noChangeArrowheads="1"/>
            </p:cNvSpPr>
            <p:nvPr/>
          </p:nvSpPr>
          <p:spPr bwMode="auto">
            <a:xfrm>
              <a:off x="6628210"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6" name="Line 28"/>
            <p:cNvSpPr>
              <a:spLocks noChangeShapeType="1"/>
            </p:cNvSpPr>
            <p:nvPr/>
          </p:nvSpPr>
          <p:spPr bwMode="auto">
            <a:xfrm>
              <a:off x="7198519"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7" name="Line 29"/>
            <p:cNvSpPr>
              <a:spLocks noChangeShapeType="1"/>
            </p:cNvSpPr>
            <p:nvPr/>
          </p:nvSpPr>
          <p:spPr bwMode="auto">
            <a:xfrm flipV="1">
              <a:off x="7136606"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8" name="Rectangle 30"/>
            <p:cNvSpPr>
              <a:spLocks noChangeArrowheads="1"/>
            </p:cNvSpPr>
            <p:nvPr/>
          </p:nvSpPr>
          <p:spPr bwMode="auto">
            <a:xfrm>
              <a:off x="6999685"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9" name="Rectangle 31"/>
            <p:cNvSpPr>
              <a:spLocks noChangeArrowheads="1"/>
            </p:cNvSpPr>
            <p:nvPr/>
          </p:nvSpPr>
          <p:spPr bwMode="auto">
            <a:xfrm>
              <a:off x="6318648" y="938213"/>
              <a:ext cx="38656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RW</a:t>
              </a:r>
            </a:p>
          </p:txBody>
        </p:sp>
        <p:sp>
          <p:nvSpPr>
            <p:cNvPr id="27680" name="Rectangle 32"/>
            <p:cNvSpPr>
              <a:spLocks noChangeArrowheads="1"/>
            </p:cNvSpPr>
            <p:nvPr/>
          </p:nvSpPr>
          <p:spPr bwMode="auto">
            <a:xfrm>
              <a:off x="6690123" y="938213"/>
              <a:ext cx="35440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RA</a:t>
              </a:r>
            </a:p>
          </p:txBody>
        </p:sp>
        <p:sp>
          <p:nvSpPr>
            <p:cNvPr id="27681" name="Rectangle 33"/>
            <p:cNvSpPr>
              <a:spLocks noChangeArrowheads="1"/>
            </p:cNvSpPr>
            <p:nvPr/>
          </p:nvSpPr>
          <p:spPr bwMode="auto">
            <a:xfrm>
              <a:off x="6999685" y="938213"/>
              <a:ext cx="35440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RB</a:t>
              </a:r>
            </a:p>
          </p:txBody>
        </p:sp>
        <p:sp>
          <p:nvSpPr>
            <p:cNvPr id="27682" name="Rectangle 34"/>
            <p:cNvSpPr>
              <a:spLocks noChangeArrowheads="1"/>
            </p:cNvSpPr>
            <p:nvPr/>
          </p:nvSpPr>
          <p:spPr bwMode="auto">
            <a:xfrm>
              <a:off x="6318647" y="1738312"/>
              <a:ext cx="844456" cy="41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r>
                <a:rPr kumimoji="1" lang="en-US" altLang="zh-TW" sz="1800">
                  <a:solidFill>
                    <a:prstClr val="black"/>
                  </a:solidFill>
                  <a:latin typeface="Arial" panose="020B0604020202090204" pitchFamily="34" charset="0"/>
                  <a:ea typeface="新細明體" panose="02020500000000000000" pitchFamily="18" charset="-120"/>
                </a:rPr>
                <a:t>bit</a:t>
              </a:r>
            </a:p>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Registers</a:t>
              </a:r>
            </a:p>
          </p:txBody>
        </p:sp>
      </p:grpSp>
      <p:sp>
        <p:nvSpPr>
          <p:cNvPr id="27683" name="Rectangle 35"/>
          <p:cNvSpPr>
            <a:spLocks noGrp="1" noChangeArrowheads="1"/>
          </p:cNvSpPr>
          <p:nvPr>
            <p:ph type="title"/>
          </p:nvPr>
        </p:nvSpPr>
        <p:spPr>
          <a:xfrm>
            <a:off x="1219201" y="133190"/>
            <a:ext cx="9086851" cy="676196"/>
          </a:xfrm>
        </p:spPr>
        <p:txBody>
          <a:bodyPr/>
          <a:lstStyle/>
          <a:p>
            <a:r>
              <a:rPr lang="en-US" altLang="zh-TW" dirty="0"/>
              <a:t>Storage Element - Register File</a:t>
            </a:r>
          </a:p>
        </p:txBody>
      </p:sp>
      <p:sp>
        <p:nvSpPr>
          <p:cNvPr id="3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36</a:t>
            </a:fld>
            <a:endParaRPr lang="zh-TW" altLang="en-US">
              <a:solidFill>
                <a:prstClr val="white"/>
              </a:solidFill>
            </a:endParaRPr>
          </a:p>
        </p:txBody>
      </p:sp>
      <p:sp>
        <p:nvSpPr>
          <p:cNvPr id="3" name="TextBox 2">
            <a:extLst>
              <a:ext uri="{FF2B5EF4-FFF2-40B4-BE49-F238E27FC236}">
                <a16:creationId xmlns:a16="http://schemas.microsoft.com/office/drawing/2014/main" id="{6AA6D763-767C-49F7-9AB2-5C8C1E4D9308}"/>
              </a:ext>
            </a:extLst>
          </p:cNvPr>
          <p:cNvSpPr txBox="1"/>
          <p:nvPr/>
        </p:nvSpPr>
        <p:spPr>
          <a:xfrm>
            <a:off x="7967654" y="4406519"/>
            <a:ext cx="354456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 many read ports needed for</a:t>
            </a:r>
          </a:p>
          <a:p>
            <a:r>
              <a:rPr lang="en-US" dirty="0">
                <a:ea typeface="標楷體" pitchFamily="65" charset="-120"/>
                <a:cs typeface="Calibri" pitchFamily="34" charset="0"/>
              </a:rPr>
              <a:t>a 2-wide </a:t>
            </a:r>
            <a:r>
              <a:rPr lang="en-US">
                <a:ea typeface="標楷體" pitchFamily="65" charset="-120"/>
                <a:cs typeface="Calibri" pitchFamily="34" charset="0"/>
              </a:rPr>
              <a:t>superscalar processor?</a:t>
            </a:r>
            <a:endParaRPr lang="en-US" dirty="0">
              <a:ea typeface="標楷體" pitchFamily="65" charset="-120"/>
              <a:cs typeface="Calibri" pitchFamily="34" charset="0"/>
            </a:endParaRPr>
          </a:p>
        </p:txBody>
      </p:sp>
      <p:sp>
        <p:nvSpPr>
          <p:cNvPr id="40" name="TextBox 39">
            <a:extLst>
              <a:ext uri="{FF2B5EF4-FFF2-40B4-BE49-F238E27FC236}">
                <a16:creationId xmlns:a16="http://schemas.microsoft.com/office/drawing/2014/main" id="{9EDB697C-7ED0-40DE-803B-398C6DE6544A}"/>
              </a:ext>
            </a:extLst>
          </p:cNvPr>
          <p:cNvSpPr txBox="1"/>
          <p:nvPr/>
        </p:nvSpPr>
        <p:spPr>
          <a:xfrm>
            <a:off x="7992778" y="5443254"/>
            <a:ext cx="3942105"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 many read ports are needed for</a:t>
            </a:r>
          </a:p>
          <a:p>
            <a:r>
              <a:rPr lang="en-US" dirty="0" err="1">
                <a:ea typeface="標楷體" pitchFamily="65" charset="-120"/>
                <a:cs typeface="Calibri" pitchFamily="34" charset="0"/>
              </a:rPr>
              <a:t>fma</a:t>
            </a:r>
            <a:r>
              <a:rPr lang="en-US" dirty="0">
                <a:ea typeface="標楷體" pitchFamily="65" charset="-120"/>
                <a:cs typeface="Calibri" pitchFamily="34" charset="0"/>
              </a:rPr>
              <a:t> (fused </a:t>
            </a:r>
            <a:r>
              <a:rPr lang="en-US" dirty="0" err="1">
                <a:ea typeface="標楷體" pitchFamily="65" charset="-120"/>
                <a:cs typeface="Calibri" pitchFamily="34" charset="0"/>
              </a:rPr>
              <a:t>mul</a:t>
            </a:r>
            <a:r>
              <a:rPr lang="en-US" dirty="0">
                <a:ea typeface="標楷體" pitchFamily="65" charset="-120"/>
                <a:cs typeface="Calibri" pitchFamily="34" charset="0"/>
              </a:rPr>
              <a:t>-add) instruction?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2" name="Rectangle 20"/>
          <p:cNvSpPr>
            <a:spLocks noGrp="1" noChangeArrowheads="1"/>
          </p:cNvSpPr>
          <p:nvPr>
            <p:ph type="title"/>
          </p:nvPr>
        </p:nvSpPr>
        <p:spPr>
          <a:xfrm>
            <a:off x="1280673" y="225399"/>
            <a:ext cx="9025379" cy="563496"/>
          </a:xfrm>
        </p:spPr>
        <p:txBody>
          <a:bodyPr/>
          <a:lstStyle/>
          <a:p>
            <a:r>
              <a:rPr lang="en-US" altLang="zh-TW" dirty="0"/>
              <a:t>Storage Element - Memory</a:t>
            </a:r>
          </a:p>
        </p:txBody>
      </p:sp>
      <p:sp>
        <p:nvSpPr>
          <p:cNvPr id="28693" name="Rectangle 21"/>
          <p:cNvSpPr>
            <a:spLocks noGrp="1" noChangeArrowheads="1"/>
          </p:cNvSpPr>
          <p:nvPr>
            <p:ph type="body" idx="1"/>
          </p:nvPr>
        </p:nvSpPr>
        <p:spPr>
          <a:xfrm>
            <a:off x="1311488" y="1176867"/>
            <a:ext cx="7578513" cy="4895427"/>
          </a:xfrm>
        </p:spPr>
        <p:txBody>
          <a:bodyPr/>
          <a:lstStyle/>
          <a:p>
            <a:pPr>
              <a:lnSpc>
                <a:spcPct val="80000"/>
              </a:lnSpc>
            </a:pPr>
            <a:r>
              <a:rPr lang="en-US" altLang="zh-TW" sz="2667" dirty="0"/>
              <a:t>Memory </a:t>
            </a:r>
          </a:p>
          <a:p>
            <a:pPr lvl="1">
              <a:lnSpc>
                <a:spcPct val="80000"/>
              </a:lnSpc>
            </a:pPr>
            <a:r>
              <a:rPr lang="en-US" altLang="zh-TW" sz="2400" dirty="0"/>
              <a:t>One input bus: Data In</a:t>
            </a:r>
          </a:p>
          <a:p>
            <a:pPr lvl="1">
              <a:lnSpc>
                <a:spcPct val="80000"/>
              </a:lnSpc>
            </a:pPr>
            <a:r>
              <a:rPr lang="en-US" altLang="zh-TW" sz="2400" dirty="0"/>
              <a:t>One output bus: Data Out</a:t>
            </a:r>
          </a:p>
          <a:p>
            <a:pPr>
              <a:lnSpc>
                <a:spcPct val="80000"/>
              </a:lnSpc>
            </a:pPr>
            <a:r>
              <a:rPr lang="en-US" altLang="zh-TW" sz="2667" dirty="0"/>
              <a:t>Word is selected by</a:t>
            </a:r>
          </a:p>
          <a:p>
            <a:pPr lvl="1">
              <a:lnSpc>
                <a:spcPct val="80000"/>
              </a:lnSpc>
            </a:pPr>
            <a:r>
              <a:rPr lang="en-US" altLang="zh-TW" sz="2400" dirty="0"/>
              <a:t>Address selects the word to put on Data Out</a:t>
            </a:r>
          </a:p>
          <a:p>
            <a:pPr lvl="1">
              <a:lnSpc>
                <a:spcPct val="80000"/>
              </a:lnSpc>
            </a:pPr>
            <a:r>
              <a:rPr lang="en-US" altLang="zh-TW" sz="2400" dirty="0"/>
              <a:t>Write Enable = 1: address selects the memory</a:t>
            </a:r>
            <a:br>
              <a:rPr lang="en-US" altLang="zh-TW" sz="2400" dirty="0"/>
            </a:br>
            <a:r>
              <a:rPr lang="en-US" altLang="zh-TW" sz="2400" dirty="0"/>
              <a:t>word to be written via the Data In bus</a:t>
            </a:r>
          </a:p>
          <a:p>
            <a:pPr>
              <a:lnSpc>
                <a:spcPct val="80000"/>
              </a:lnSpc>
            </a:pPr>
            <a:endParaRPr lang="en-US" altLang="zh-TW" sz="2133" dirty="0"/>
          </a:p>
        </p:txBody>
      </p:sp>
      <p:sp>
        <p:nvSpPr>
          <p:cNvPr id="2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37</a:t>
            </a:fld>
            <a:endParaRPr lang="zh-TW" altLang="en-US">
              <a:solidFill>
                <a:prstClr val="white"/>
              </a:solidFill>
            </a:endParaRPr>
          </a:p>
        </p:txBody>
      </p:sp>
      <p:grpSp>
        <p:nvGrpSpPr>
          <p:cNvPr id="4" name="组合 3"/>
          <p:cNvGrpSpPr/>
          <p:nvPr/>
        </p:nvGrpSpPr>
        <p:grpSpPr>
          <a:xfrm>
            <a:off x="7783407" y="1385993"/>
            <a:ext cx="3916680" cy="2473113"/>
            <a:chOff x="9711" y="2020"/>
            <a:chExt cx="4626" cy="2921"/>
          </a:xfrm>
        </p:grpSpPr>
        <p:sp>
          <p:nvSpPr>
            <p:cNvPr id="28675" name="Rectangle 3"/>
            <p:cNvSpPr>
              <a:spLocks noChangeArrowheads="1"/>
            </p:cNvSpPr>
            <p:nvPr/>
          </p:nvSpPr>
          <p:spPr bwMode="auto">
            <a:xfrm>
              <a:off x="9711" y="2920"/>
              <a:ext cx="1128"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Data In</a:t>
              </a:r>
            </a:p>
          </p:txBody>
        </p:sp>
        <p:sp>
          <p:nvSpPr>
            <p:cNvPr id="28676" name="Rectangle 4"/>
            <p:cNvSpPr>
              <a:spLocks noChangeArrowheads="1"/>
            </p:cNvSpPr>
            <p:nvPr/>
          </p:nvSpPr>
          <p:spPr bwMode="auto">
            <a:xfrm>
              <a:off x="11101" y="2700"/>
              <a:ext cx="1831" cy="1433"/>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8680" name="Rectangle 8"/>
            <p:cNvSpPr>
              <a:spLocks noChangeArrowheads="1"/>
            </p:cNvSpPr>
            <p:nvPr/>
          </p:nvSpPr>
          <p:spPr bwMode="auto">
            <a:xfrm>
              <a:off x="10624" y="2022"/>
              <a:ext cx="159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Mem Write</a:t>
              </a:r>
            </a:p>
          </p:txBody>
        </p:sp>
        <p:sp>
          <p:nvSpPr>
            <p:cNvPr id="28681" name="Line 9"/>
            <p:cNvSpPr>
              <a:spLocks noChangeShapeType="1"/>
            </p:cNvSpPr>
            <p:nvPr/>
          </p:nvSpPr>
          <p:spPr bwMode="auto">
            <a:xfrm flipH="1">
              <a:off x="9829" y="3315"/>
              <a:ext cx="126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2" name="Line 10"/>
            <p:cNvSpPr>
              <a:spLocks noChangeShapeType="1"/>
            </p:cNvSpPr>
            <p:nvPr/>
          </p:nvSpPr>
          <p:spPr bwMode="auto">
            <a:xfrm flipH="1">
              <a:off x="10512" y="3225"/>
              <a:ext cx="97" cy="1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3" name="Rectangle 11"/>
            <p:cNvSpPr>
              <a:spLocks noChangeArrowheads="1"/>
            </p:cNvSpPr>
            <p:nvPr/>
          </p:nvSpPr>
          <p:spPr bwMode="auto">
            <a:xfrm>
              <a:off x="10101" y="3280"/>
              <a:ext cx="52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8684" name="Line 12"/>
            <p:cNvSpPr>
              <a:spLocks noChangeShapeType="1"/>
            </p:cNvSpPr>
            <p:nvPr/>
          </p:nvSpPr>
          <p:spPr bwMode="auto">
            <a:xfrm>
              <a:off x="12949" y="3280"/>
              <a:ext cx="1388" cy="1"/>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5" name="Line 13"/>
            <p:cNvSpPr>
              <a:spLocks noChangeShapeType="1"/>
            </p:cNvSpPr>
            <p:nvPr/>
          </p:nvSpPr>
          <p:spPr bwMode="auto">
            <a:xfrm flipH="1">
              <a:off x="14022" y="3225"/>
              <a:ext cx="97" cy="1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6" name="Rectangle 14"/>
            <p:cNvSpPr>
              <a:spLocks noChangeArrowheads="1"/>
            </p:cNvSpPr>
            <p:nvPr/>
          </p:nvSpPr>
          <p:spPr bwMode="auto">
            <a:xfrm>
              <a:off x="13514" y="3280"/>
              <a:ext cx="52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8687" name="Rectangle 15"/>
            <p:cNvSpPr>
              <a:spLocks noChangeArrowheads="1"/>
            </p:cNvSpPr>
            <p:nvPr/>
          </p:nvSpPr>
          <p:spPr bwMode="auto">
            <a:xfrm>
              <a:off x="12929" y="2920"/>
              <a:ext cx="128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DataOut</a:t>
              </a:r>
            </a:p>
          </p:txBody>
        </p:sp>
        <p:sp>
          <p:nvSpPr>
            <p:cNvPr id="28688" name="Line 16"/>
            <p:cNvSpPr>
              <a:spLocks noChangeShapeType="1"/>
            </p:cNvSpPr>
            <p:nvPr/>
          </p:nvSpPr>
          <p:spPr bwMode="auto">
            <a:xfrm flipV="1">
              <a:off x="11487" y="2415"/>
              <a:ext cx="0" cy="27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9" name="Line 17"/>
            <p:cNvSpPr>
              <a:spLocks noChangeShapeType="1"/>
            </p:cNvSpPr>
            <p:nvPr/>
          </p:nvSpPr>
          <p:spPr bwMode="auto">
            <a:xfrm flipH="1">
              <a:off x="11475" y="4133"/>
              <a:ext cx="11" cy="37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90" name="Line 18"/>
            <p:cNvSpPr>
              <a:spLocks noChangeShapeType="1"/>
            </p:cNvSpPr>
            <p:nvPr/>
          </p:nvSpPr>
          <p:spPr bwMode="auto">
            <a:xfrm>
              <a:off x="12169" y="2145"/>
              <a:ext cx="0" cy="5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91" name="Rectangle 19"/>
            <p:cNvSpPr>
              <a:spLocks noChangeArrowheads="1"/>
            </p:cNvSpPr>
            <p:nvPr/>
          </p:nvSpPr>
          <p:spPr bwMode="auto">
            <a:xfrm>
              <a:off x="12149" y="2020"/>
              <a:ext cx="131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Address</a:t>
              </a:r>
            </a:p>
          </p:txBody>
        </p:sp>
        <p:sp>
          <p:nvSpPr>
            <p:cNvPr id="3" name="Rectangle 8"/>
            <p:cNvSpPr>
              <a:spLocks noChangeArrowheads="1"/>
            </p:cNvSpPr>
            <p:nvPr/>
          </p:nvSpPr>
          <p:spPr bwMode="auto">
            <a:xfrm>
              <a:off x="10758" y="4504"/>
              <a:ext cx="158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Mem Read</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632815" y="1997208"/>
            <a:ext cx="5169861" cy="4037320"/>
            <a:chOff x="5635438" y="2089577"/>
            <a:chExt cx="3064669" cy="2428875"/>
          </a:xfrm>
        </p:grpSpPr>
        <p:pic>
          <p:nvPicPr>
            <p:cNvPr id="296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5438" y="2089577"/>
              <a:ext cx="3064669"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29699" name="Line 3"/>
            <p:cNvSpPr>
              <a:spLocks noChangeShapeType="1"/>
            </p:cNvSpPr>
            <p:nvPr/>
          </p:nvSpPr>
          <p:spPr bwMode="auto">
            <a:xfrm>
              <a:off x="6424933" y="4512929"/>
              <a:ext cx="1362075"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29700" name="Rectangle 4"/>
          <p:cNvSpPr>
            <a:spLocks noGrp="1" noChangeArrowheads="1"/>
          </p:cNvSpPr>
          <p:nvPr>
            <p:ph type="body" idx="1"/>
          </p:nvPr>
        </p:nvSpPr>
        <p:spPr>
          <a:xfrm>
            <a:off x="297180" y="1125220"/>
            <a:ext cx="6680200" cy="3263053"/>
          </a:xfrm>
        </p:spPr>
        <p:txBody>
          <a:bodyPr/>
          <a:lstStyle/>
          <a:p>
            <a:r>
              <a:rPr lang="en-US" altLang="zh-TW" sz="2667" dirty="0"/>
              <a:t>Instruction fetch unit: common operations</a:t>
            </a:r>
            <a:endParaRPr lang="en-US" altLang="zh-TW" sz="2400" dirty="0"/>
          </a:p>
          <a:p>
            <a:pPr lvl="1"/>
            <a:r>
              <a:rPr lang="en-US" altLang="zh-TW" sz="2400" dirty="0"/>
              <a:t>Fetch the instruction: mem[PC]</a:t>
            </a:r>
          </a:p>
          <a:p>
            <a:pPr lvl="1"/>
            <a:r>
              <a:rPr lang="en-US" altLang="zh-TW" sz="2400" dirty="0"/>
              <a:t>Update the program counter</a:t>
            </a:r>
          </a:p>
          <a:p>
            <a:pPr lvl="2">
              <a:spcBef>
                <a:spcPct val="10000"/>
              </a:spcBef>
            </a:pPr>
            <a:r>
              <a:rPr lang="en-US" altLang="zh-TW" sz="2133" dirty="0"/>
              <a:t>Sequential code: PC &lt;- PC + 4 </a:t>
            </a:r>
          </a:p>
          <a:p>
            <a:pPr lvl="2">
              <a:spcBef>
                <a:spcPct val="10000"/>
              </a:spcBef>
            </a:pPr>
            <a:r>
              <a:rPr lang="en-US" altLang="zh-TW" sz="2133" dirty="0"/>
              <a:t>Branch and Jump:   PC &lt;- “Something else”</a:t>
            </a:r>
          </a:p>
        </p:txBody>
      </p:sp>
      <p:sp>
        <p:nvSpPr>
          <p:cNvPr id="29701" name="Rectangle 5"/>
          <p:cNvSpPr>
            <a:spLocks noGrp="1" noChangeArrowheads="1"/>
          </p:cNvSpPr>
          <p:nvPr>
            <p:ph type="title"/>
          </p:nvPr>
        </p:nvSpPr>
        <p:spPr>
          <a:xfrm>
            <a:off x="1249937" y="143435"/>
            <a:ext cx="9056115" cy="645460"/>
          </a:xfrm>
        </p:spPr>
        <p:txBody>
          <a:bodyPr/>
          <a:lstStyle/>
          <a:p>
            <a:r>
              <a:rPr lang="en-US" altLang="zh-TW" dirty="0"/>
              <a:t>Step 3a - Datapath Assembly</a:t>
            </a:r>
          </a:p>
        </p:txBody>
      </p:sp>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38</a:t>
            </a:fld>
            <a:endParaRPr lang="zh-TW" altLang="en-US">
              <a:solidFill>
                <a:prstClr val="white"/>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783826" y="1018351"/>
            <a:ext cx="10250501" cy="3577091"/>
          </a:xfrm>
        </p:spPr>
        <p:txBody>
          <a:bodyPr/>
          <a:lstStyle/>
          <a:p>
            <a:pPr marL="286166" indent="-286166">
              <a:spcBef>
                <a:spcPts val="0"/>
              </a:spcBef>
              <a:spcAft>
                <a:spcPts val="1600"/>
              </a:spcAft>
            </a:pPr>
            <a:r>
              <a:rPr lang="en-US" altLang="zh-TW" sz="2400" dirty="0" err="1"/>
              <a:t>beq</a:t>
            </a:r>
            <a:r>
              <a:rPr lang="en-US" altLang="zh-TW" sz="2400" dirty="0"/>
              <a:t>  rs1, rs2, imm12</a:t>
            </a:r>
          </a:p>
          <a:p>
            <a:pPr marL="685783" lvl="1" indent="-228594">
              <a:buNone/>
            </a:pPr>
            <a:r>
              <a:rPr lang="en-US" altLang="zh-TW" sz="2400" dirty="0"/>
              <a:t>mem[PC]                             /*Fetch inst. from memory */</a:t>
            </a:r>
          </a:p>
          <a:p>
            <a:pPr marL="685783" lvl="1" indent="-228594">
              <a:buNone/>
            </a:pPr>
            <a:r>
              <a:rPr lang="en-US" altLang="zh-TW" sz="2400" dirty="0"/>
              <a:t>Equal &lt;- R[rs1] == R[rs2]	/* Calculate branch condition */</a:t>
            </a:r>
          </a:p>
          <a:p>
            <a:pPr marL="685783" lvl="1" indent="-228594">
              <a:buNone/>
            </a:pPr>
            <a:r>
              <a:rPr lang="en-US" altLang="zh-TW" sz="2400" dirty="0"/>
              <a:t>if (Equal)			/* Calculate next inst. Address */</a:t>
            </a:r>
          </a:p>
          <a:p>
            <a:pPr marL="1104872" lvl="2">
              <a:buNone/>
            </a:pPr>
            <a:r>
              <a:rPr lang="en-US" altLang="zh-TW" dirty="0"/>
              <a:t>PC  </a:t>
            </a:r>
            <a:r>
              <a:rPr lang="en-US" altLang="zh-TW"/>
              <a:t>&lt;-  PC </a:t>
            </a:r>
            <a:r>
              <a:rPr lang="en-US" altLang="zh-TW" dirty="0"/>
              <a:t>+ ( </a:t>
            </a:r>
            <a:r>
              <a:rPr lang="en-US" altLang="zh-TW" dirty="0" err="1"/>
              <a:t>SignExt</a:t>
            </a:r>
            <a:r>
              <a:rPr lang="en-US" altLang="zh-TW" dirty="0"/>
              <a:t>(imm12) x 2 )</a:t>
            </a:r>
          </a:p>
          <a:p>
            <a:pPr marL="685783" lvl="1" indent="-228594">
              <a:buNone/>
            </a:pPr>
            <a:r>
              <a:rPr lang="en-US" altLang="zh-TW" sz="2400" dirty="0"/>
              <a:t>else</a:t>
            </a:r>
          </a:p>
          <a:p>
            <a:pPr marL="1104872" lvl="2">
              <a:buNone/>
            </a:pPr>
            <a:r>
              <a:rPr lang="en-US" altLang="zh-TW" dirty="0"/>
              <a:t>PC  &lt;-  PC + 4</a:t>
            </a:r>
          </a:p>
        </p:txBody>
      </p:sp>
      <p:sp>
        <p:nvSpPr>
          <p:cNvPr id="33796" name="Rectangle 25"/>
          <p:cNvSpPr>
            <a:spLocks noGrp="1" noChangeArrowheads="1"/>
          </p:cNvSpPr>
          <p:nvPr>
            <p:ph type="title"/>
          </p:nvPr>
        </p:nvSpPr>
        <p:spPr>
          <a:xfrm>
            <a:off x="1208956" y="143435"/>
            <a:ext cx="9097096" cy="696687"/>
          </a:xfrm>
        </p:spPr>
        <p:txBody>
          <a:bodyPr/>
          <a:lstStyle/>
          <a:p>
            <a:r>
              <a:rPr lang="en-US" altLang="zh-TW" dirty="0"/>
              <a:t>Step 3b - Branch Operations</a:t>
            </a:r>
          </a:p>
        </p:txBody>
      </p:sp>
      <p:sp>
        <p:nvSpPr>
          <p:cNvPr id="2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39</a:t>
            </a:fld>
            <a:endParaRPr lang="zh-TW" altLang="en-US">
              <a:solidFill>
                <a:prstClr val="white"/>
              </a:solidFill>
            </a:endParaRPr>
          </a:p>
        </p:txBody>
      </p:sp>
      <p:grpSp>
        <p:nvGrpSpPr>
          <p:cNvPr id="28" name="Group 27">
            <a:extLst>
              <a:ext uri="{FF2B5EF4-FFF2-40B4-BE49-F238E27FC236}">
                <a16:creationId xmlns:a16="http://schemas.microsoft.com/office/drawing/2014/main" id="{2208E059-A2C1-47A0-80A9-2C26CC0694A2}"/>
              </a:ext>
            </a:extLst>
          </p:cNvPr>
          <p:cNvGrpSpPr/>
          <p:nvPr/>
        </p:nvGrpSpPr>
        <p:grpSpPr>
          <a:xfrm>
            <a:off x="2571123" y="4903393"/>
            <a:ext cx="8267207" cy="656641"/>
            <a:chOff x="721854" y="2240557"/>
            <a:chExt cx="8267206" cy="656639"/>
          </a:xfrm>
        </p:grpSpPr>
        <p:sp>
          <p:nvSpPr>
            <p:cNvPr id="29" name="TextBox 28">
              <a:extLst>
                <a:ext uri="{FF2B5EF4-FFF2-40B4-BE49-F238E27FC236}">
                  <a16:creationId xmlns:a16="http://schemas.microsoft.com/office/drawing/2014/main" id="{965127CB-10BD-481A-A89A-0550D8B9FF95}"/>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30" name="TextBox 29">
              <a:extLst>
                <a:ext uri="{FF2B5EF4-FFF2-40B4-BE49-F238E27FC236}">
                  <a16:creationId xmlns:a16="http://schemas.microsoft.com/office/drawing/2014/main" id="{AA8A1A34-940B-4D1F-ADA8-4E46C0E298EF}"/>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31" name="TextBox 30">
              <a:extLst>
                <a:ext uri="{FF2B5EF4-FFF2-40B4-BE49-F238E27FC236}">
                  <a16:creationId xmlns:a16="http://schemas.microsoft.com/office/drawing/2014/main" id="{2A2BE916-48AB-4D68-B7D4-EFC3ED9086FF}"/>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32" name="TextBox 31">
              <a:extLst>
                <a:ext uri="{FF2B5EF4-FFF2-40B4-BE49-F238E27FC236}">
                  <a16:creationId xmlns:a16="http://schemas.microsoft.com/office/drawing/2014/main" id="{975C3F3A-52FB-41A7-BFF0-DE4BAD193D5A}"/>
                </a:ext>
              </a:extLst>
            </p:cNvPr>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33" name="TextBox 32">
              <a:extLst>
                <a:ext uri="{FF2B5EF4-FFF2-40B4-BE49-F238E27FC236}">
                  <a16:creationId xmlns:a16="http://schemas.microsoft.com/office/drawing/2014/main" id="{E3B6DCF6-FD58-4C1D-9378-45F7F92B393A}"/>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34" name="TextBox 33">
              <a:extLst>
                <a:ext uri="{FF2B5EF4-FFF2-40B4-BE49-F238E27FC236}">
                  <a16:creationId xmlns:a16="http://schemas.microsoft.com/office/drawing/2014/main" id="{3AFD21C4-4EE1-4764-86CC-2987ED828F2D}"/>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35" name="TextBox 34">
              <a:extLst>
                <a:ext uri="{FF2B5EF4-FFF2-40B4-BE49-F238E27FC236}">
                  <a16:creationId xmlns:a16="http://schemas.microsoft.com/office/drawing/2014/main" id="{DD995F8F-7E6B-4200-8C19-87A30B0E9EF0}"/>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36" name="TextBox 35">
              <a:extLst>
                <a:ext uri="{FF2B5EF4-FFF2-40B4-BE49-F238E27FC236}">
                  <a16:creationId xmlns:a16="http://schemas.microsoft.com/office/drawing/2014/main" id="{379F8AAF-04B9-4E4D-9E43-02A582BECE85}"/>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37" name="TextBox 36">
              <a:extLst>
                <a:ext uri="{FF2B5EF4-FFF2-40B4-BE49-F238E27FC236}">
                  <a16:creationId xmlns:a16="http://schemas.microsoft.com/office/drawing/2014/main" id="{C4F984FC-821E-4683-B1B8-463737DD9C2C}"/>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38" name="TextBox 37">
              <a:extLst>
                <a:ext uri="{FF2B5EF4-FFF2-40B4-BE49-F238E27FC236}">
                  <a16:creationId xmlns:a16="http://schemas.microsoft.com/office/drawing/2014/main" id="{29CBF288-B73B-40EF-991B-ADFD113430A6}"/>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39" name="TextBox 38">
              <a:extLst>
                <a:ext uri="{FF2B5EF4-FFF2-40B4-BE49-F238E27FC236}">
                  <a16:creationId xmlns:a16="http://schemas.microsoft.com/office/drawing/2014/main" id="{0C9C7351-05A4-4AEC-8BC3-62ED177AB773}"/>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40" name="TextBox 39">
              <a:extLst>
                <a:ext uri="{FF2B5EF4-FFF2-40B4-BE49-F238E27FC236}">
                  <a16:creationId xmlns:a16="http://schemas.microsoft.com/office/drawing/2014/main" id="{2832A871-F6C2-40AC-B934-5E1E0F4C6959}"/>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41" name="TextBox 40">
              <a:extLst>
                <a:ext uri="{FF2B5EF4-FFF2-40B4-BE49-F238E27FC236}">
                  <a16:creationId xmlns:a16="http://schemas.microsoft.com/office/drawing/2014/main" id="{8F11DBB2-A0C4-41A3-A052-0097311868CD}"/>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42" name="TextBox 41">
              <a:extLst>
                <a:ext uri="{FF2B5EF4-FFF2-40B4-BE49-F238E27FC236}">
                  <a16:creationId xmlns:a16="http://schemas.microsoft.com/office/drawing/2014/main" id="{3596228A-AA48-404F-B19F-54646B9C1D38}"/>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43" name="TextBox 42">
              <a:extLst>
                <a:ext uri="{FF2B5EF4-FFF2-40B4-BE49-F238E27FC236}">
                  <a16:creationId xmlns:a16="http://schemas.microsoft.com/office/drawing/2014/main" id="{600D5881-058A-4FF4-9F2A-40109901E229}"/>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44" name="TextBox 43">
              <a:extLst>
                <a:ext uri="{FF2B5EF4-FFF2-40B4-BE49-F238E27FC236}">
                  <a16:creationId xmlns:a16="http://schemas.microsoft.com/office/drawing/2014/main" id="{29BAAB5B-2E31-4FFD-84D5-D7116039F5C2}"/>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xfrm>
            <a:off x="1270428" y="112700"/>
            <a:ext cx="9035624" cy="717177"/>
          </a:xfrm>
        </p:spPr>
        <p:txBody>
          <a:bodyPr/>
          <a:lstStyle/>
          <a:p>
            <a:r>
              <a:rPr lang="en-US" altLang="zh-TW" dirty="0"/>
              <a:t>Datapath for Branch Operations</a:t>
            </a:r>
          </a:p>
        </p:txBody>
      </p:sp>
      <p:sp>
        <p:nvSpPr>
          <p:cNvPr id="34820" name="Rectangle 4"/>
          <p:cNvSpPr>
            <a:spLocks noGrp="1" noChangeArrowheads="1"/>
          </p:cNvSpPr>
          <p:nvPr>
            <p:ph type="body" idx="1"/>
          </p:nvPr>
        </p:nvSpPr>
        <p:spPr>
          <a:xfrm>
            <a:off x="753036" y="1125539"/>
            <a:ext cx="3734442" cy="523968"/>
          </a:xfrm>
        </p:spPr>
        <p:txBody>
          <a:bodyPr/>
          <a:lstStyle/>
          <a:p>
            <a:r>
              <a:rPr lang="en-US" altLang="zh-TW" sz="2667" dirty="0" err="1"/>
              <a:t>beq</a:t>
            </a:r>
            <a:r>
              <a:rPr lang="en-US" altLang="zh-TW" sz="2667" dirty="0"/>
              <a:t>   rs1, rs2, imm12</a:t>
            </a:r>
          </a:p>
        </p:txBody>
      </p:sp>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40</a:t>
            </a:fld>
            <a:endParaRPr lang="zh-TW" altLang="en-US">
              <a:solidFill>
                <a:prstClr val="white"/>
              </a:solidFill>
            </a:endParaRPr>
          </a:p>
        </p:txBody>
      </p:sp>
      <p:pic>
        <p:nvPicPr>
          <p:cNvPr id="4" name="Picture 3">
            <a:extLst>
              <a:ext uri="{FF2B5EF4-FFF2-40B4-BE49-F238E27FC236}">
                <a16:creationId xmlns:a16="http://schemas.microsoft.com/office/drawing/2014/main" id="{CC3F9BBD-578C-4247-BDC6-5150E9BAA827}"/>
              </a:ext>
            </a:extLst>
          </p:cNvPr>
          <p:cNvPicPr>
            <a:picLocks noChangeAspect="1"/>
          </p:cNvPicPr>
          <p:nvPr/>
        </p:nvPicPr>
        <p:blipFill>
          <a:blip r:embed="rId3"/>
          <a:stretch>
            <a:fillRect/>
          </a:stretch>
        </p:blipFill>
        <p:spPr>
          <a:xfrm>
            <a:off x="2537656" y="1649507"/>
            <a:ext cx="8298958" cy="4255182"/>
          </a:xfrm>
          <a:prstGeom prst="rect">
            <a:avLst/>
          </a:prstGeom>
        </p:spPr>
      </p:pic>
      <p:sp>
        <p:nvSpPr>
          <p:cNvPr id="8" name="TextBox 7">
            <a:extLst>
              <a:ext uri="{FF2B5EF4-FFF2-40B4-BE49-F238E27FC236}">
                <a16:creationId xmlns:a16="http://schemas.microsoft.com/office/drawing/2014/main" id="{63E09D51-5D04-453B-9BC9-DB7DFBFD60A3}"/>
              </a:ext>
            </a:extLst>
          </p:cNvPr>
          <p:cNvSpPr txBox="1"/>
          <p:nvPr/>
        </p:nvSpPr>
        <p:spPr>
          <a:xfrm>
            <a:off x="6668887" y="5463532"/>
            <a:ext cx="4878259"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Why do we need two adders? Is one enough?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Alert: Branch with Subtraction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41</a:t>
            </a:fld>
            <a:endParaRPr lang="zh-TW" altLang="en-US">
              <a:solidFill>
                <a:prstClr val="white"/>
              </a:solidFill>
            </a:endParaRPr>
          </a:p>
        </p:txBody>
      </p:sp>
      <p:sp>
        <p:nvSpPr>
          <p:cNvPr id="8" name="Rectangle 3"/>
          <p:cNvSpPr txBox="1">
            <a:spLocks noChangeArrowheads="1"/>
          </p:cNvSpPr>
          <p:nvPr/>
        </p:nvSpPr>
        <p:spPr bwMode="auto">
          <a:xfrm>
            <a:off x="0" y="1053819"/>
            <a:ext cx="12106275"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400" kern="0" dirty="0">
                <a:solidFill>
                  <a:prstClr val="black"/>
                </a:solidFill>
              </a:rPr>
              <a:t>Intuitively, a </a:t>
            </a:r>
            <a:r>
              <a:rPr lang="en-US" altLang="zh-TW" sz="2400" b="1" kern="0" dirty="0">
                <a:solidFill>
                  <a:prstClr val="black"/>
                </a:solidFill>
              </a:rPr>
              <a:t>compare and branch </a:t>
            </a:r>
            <a:r>
              <a:rPr lang="en-US" altLang="zh-TW" sz="2400" kern="0" dirty="0">
                <a:solidFill>
                  <a:prstClr val="black"/>
                </a:solidFill>
              </a:rPr>
              <a:t>instruction could be handled by a subtraction. The output condition is positive, 0, or negative. This output can be used to guide the branch direction.</a:t>
            </a:r>
          </a:p>
          <a:p>
            <a:pPr marL="342891" indent="-342891" defTabSz="1219170">
              <a:buClr>
                <a:srgbClr val="8064A2"/>
              </a:buClr>
            </a:pPr>
            <a:r>
              <a:rPr lang="en-US" altLang="zh-TW" kern="0" dirty="0">
                <a:solidFill>
                  <a:prstClr val="black"/>
                </a:solidFill>
              </a:rPr>
              <a:t>The above implementation is cost-effective because we have the ALU to support ADD/SUB operations. The same ALU could be used.</a:t>
            </a:r>
          </a:p>
          <a:p>
            <a:pPr marL="342891" indent="-342891" defTabSz="1219170">
              <a:buClr>
                <a:srgbClr val="8064A2"/>
              </a:buClr>
            </a:pPr>
            <a:r>
              <a:rPr lang="en-US" altLang="zh-TW" sz="2400" kern="0" dirty="0">
                <a:solidFill>
                  <a:prstClr val="black"/>
                </a:solidFill>
              </a:rPr>
              <a:t>The trouble is, what if the subtraction caused an overflow? So, the sign of the result is incorrect, and cannot be used to decide the branch outcome.</a:t>
            </a:r>
          </a:p>
          <a:p>
            <a:pPr marL="342891" indent="-342891" defTabSz="1219170">
              <a:buClr>
                <a:srgbClr val="8064A2"/>
              </a:buClr>
            </a:pPr>
            <a:r>
              <a:rPr lang="en-US" altLang="zh-TW" kern="0" dirty="0">
                <a:solidFill>
                  <a:prstClr val="black"/>
                </a:solidFill>
              </a:rPr>
              <a:t>If overflow, the trap handler can handle this, but RISC-V does not support such hardware traps. It requires explicit software checks. Does that mean we always generate a check for overflow for each compare and branch?</a:t>
            </a:r>
          </a:p>
          <a:p>
            <a:pPr marL="342891" indent="-342891" defTabSz="1219170">
              <a:buClr>
                <a:srgbClr val="8064A2"/>
              </a:buClr>
            </a:pPr>
            <a:r>
              <a:rPr lang="en-US" altLang="zh-TW" sz="2400" kern="0" dirty="0">
                <a:solidFill>
                  <a:prstClr val="black"/>
                </a:solidFill>
              </a:rPr>
              <a:t>One way to handle this correctly is to use a true comparison operation </a:t>
            </a:r>
            <a:r>
              <a:rPr lang="en-US" altLang="zh-TW" kern="0" dirty="0">
                <a:solidFill>
                  <a:prstClr val="black"/>
                </a:solidFill>
              </a:rPr>
              <a:t>instead of the subtraction. However, this increases the cost and the complexity of the design. In practice, most RV processor implementations will include V (overflow) and C (Carry) flags in a temporary status register if they use subtraction to determine conditions.</a:t>
            </a:r>
            <a:endParaRPr lang="en-US" altLang="zh-TW" sz="2400" kern="0" dirty="0">
              <a:solidFill>
                <a:prstClr val="black"/>
              </a:solidFill>
            </a:endParaRPr>
          </a:p>
        </p:txBody>
      </p:sp>
    </p:spTree>
    <p:extLst>
      <p:ext uri="{BB962C8B-B14F-4D97-AF65-F5344CB8AC3E}">
        <p14:creationId xmlns:p14="http://schemas.microsoft.com/office/powerpoint/2010/main" val="3052975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40"/>
          <p:cNvSpPr>
            <a:spLocks noGrp="1" noChangeArrowheads="1"/>
          </p:cNvSpPr>
          <p:nvPr>
            <p:ph type="title"/>
          </p:nvPr>
        </p:nvSpPr>
        <p:spPr>
          <a:xfrm>
            <a:off x="1290919" y="174172"/>
            <a:ext cx="9015133" cy="645459"/>
          </a:xfrm>
        </p:spPr>
        <p:txBody>
          <a:bodyPr/>
          <a:lstStyle/>
          <a:p>
            <a:r>
              <a:rPr lang="en-US" altLang="zh-TW" dirty="0"/>
              <a:t>Step 3b - Add and Subtract</a:t>
            </a:r>
          </a:p>
        </p:txBody>
      </p:sp>
      <p:sp>
        <p:nvSpPr>
          <p:cNvPr id="30727" name="Rectangle 41"/>
          <p:cNvSpPr>
            <a:spLocks noGrp="1" noChangeArrowheads="1"/>
          </p:cNvSpPr>
          <p:nvPr>
            <p:ph type="body" idx="1"/>
          </p:nvPr>
        </p:nvSpPr>
        <p:spPr>
          <a:xfrm>
            <a:off x="456604" y="1072831"/>
            <a:ext cx="10230011" cy="1261636"/>
          </a:xfrm>
        </p:spPr>
        <p:txBody>
          <a:bodyPr/>
          <a:lstStyle/>
          <a:p>
            <a:r>
              <a:rPr lang="en-US" altLang="zh-TW" sz="2400" dirty="0"/>
              <a:t>R[</a:t>
            </a:r>
            <a:r>
              <a:rPr lang="en-US" altLang="zh-TW" sz="2400" dirty="0" err="1"/>
              <a:t>rd</a:t>
            </a:r>
            <a:r>
              <a:rPr lang="en-US" altLang="zh-TW" sz="2400" dirty="0"/>
              <a:t>] &lt;- R[rs1] op R[rs2] 	Ex: add  </a:t>
            </a:r>
            <a:r>
              <a:rPr lang="en-US" altLang="zh-TW" sz="2400" dirty="0" err="1"/>
              <a:t>rd</a:t>
            </a:r>
            <a:r>
              <a:rPr lang="en-US" altLang="zh-TW" sz="2400" dirty="0"/>
              <a:t>, rs1, rs2</a:t>
            </a:r>
          </a:p>
          <a:p>
            <a:pPr lvl="1"/>
            <a:r>
              <a:rPr lang="en-US" altLang="zh-TW" sz="2133" dirty="0"/>
              <a:t>Ra, Rb, </a:t>
            </a:r>
            <a:r>
              <a:rPr lang="en-US" altLang="zh-TW" sz="2133" dirty="0" err="1"/>
              <a:t>Rw</a:t>
            </a:r>
            <a:r>
              <a:rPr lang="en-US" altLang="zh-TW" sz="2133" dirty="0"/>
              <a:t> come from inst</a:t>
            </a:r>
            <a:r>
              <a:rPr lang="en-US" altLang="zh-CN" sz="2133" dirty="0"/>
              <a:t>ruction</a:t>
            </a:r>
            <a:r>
              <a:rPr lang="en-US" altLang="zh-TW" sz="2133" dirty="0"/>
              <a:t>’s rs1, rs2, and </a:t>
            </a:r>
            <a:r>
              <a:rPr lang="en-US" altLang="zh-TW" sz="2133" dirty="0" err="1"/>
              <a:t>rd</a:t>
            </a:r>
            <a:r>
              <a:rPr lang="en-US" altLang="zh-TW" sz="2133" dirty="0"/>
              <a:t> fields</a:t>
            </a:r>
          </a:p>
          <a:p>
            <a:pPr lvl="1"/>
            <a:r>
              <a:rPr lang="en-US" altLang="zh-TW" sz="2133" dirty="0"/>
              <a:t>ALU and </a:t>
            </a:r>
            <a:r>
              <a:rPr lang="en-US" altLang="zh-TW" sz="2133" dirty="0" err="1"/>
              <a:t>RegWrite</a:t>
            </a:r>
            <a:r>
              <a:rPr lang="en-US" altLang="zh-TW" sz="2133" dirty="0"/>
              <a:t>: control logic after decode </a:t>
            </a:r>
          </a:p>
        </p:txBody>
      </p:sp>
      <p:grpSp>
        <p:nvGrpSpPr>
          <p:cNvPr id="2" name="组合 1"/>
          <p:cNvGrpSpPr/>
          <p:nvPr/>
        </p:nvGrpSpPr>
        <p:grpSpPr>
          <a:xfrm>
            <a:off x="2823881" y="2731804"/>
            <a:ext cx="6670851" cy="2834336"/>
            <a:chOff x="1328738" y="2446735"/>
            <a:chExt cx="6195660" cy="2299097"/>
          </a:xfrm>
        </p:grpSpPr>
        <p:sp>
          <p:nvSpPr>
            <p:cNvPr id="30723" name="Text Box 37"/>
            <p:cNvSpPr txBox="1">
              <a:spLocks noChangeArrowheads="1"/>
            </p:cNvSpPr>
            <p:nvPr/>
          </p:nvSpPr>
          <p:spPr bwMode="auto">
            <a:xfrm>
              <a:off x="2253873" y="2537365"/>
              <a:ext cx="433542"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009E00"/>
                  </a:solidFill>
                  <a:latin typeface="Arial" panose="020B0604020202090204" pitchFamily="34" charset="0"/>
                  <a:ea typeface="新細明體" panose="02020500000000000000" pitchFamily="18" charset="-120"/>
                </a:rPr>
                <a:t>rs1</a:t>
              </a:r>
              <a:endParaRPr kumimoji="1" lang="en-US" altLang="zh-TW" sz="1467" dirty="0">
                <a:solidFill>
                  <a:prstClr val="black"/>
                </a:solidFill>
                <a:latin typeface="Arial" panose="020B0604020202090204" pitchFamily="34" charset="0"/>
                <a:ea typeface="新細明體" panose="02020500000000000000" pitchFamily="18" charset="-120"/>
              </a:endParaRPr>
            </a:p>
          </p:txBody>
        </p:sp>
        <p:sp>
          <p:nvSpPr>
            <p:cNvPr id="30724" name="Text Box 38"/>
            <p:cNvSpPr txBox="1">
              <a:spLocks noChangeArrowheads="1"/>
            </p:cNvSpPr>
            <p:nvPr/>
          </p:nvSpPr>
          <p:spPr bwMode="auto">
            <a:xfrm>
              <a:off x="2272904" y="2987278"/>
              <a:ext cx="433542"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009E00"/>
                  </a:solidFill>
                  <a:latin typeface="Arial" panose="020B0604020202090204" pitchFamily="34" charset="0"/>
                  <a:ea typeface="新細明體" panose="02020500000000000000" pitchFamily="18" charset="-120"/>
                </a:rPr>
                <a:t>rs2</a:t>
              </a:r>
              <a:endParaRPr kumimoji="1" lang="en-US" altLang="zh-TW" sz="1467" dirty="0">
                <a:solidFill>
                  <a:prstClr val="black"/>
                </a:solidFill>
                <a:latin typeface="Arial" panose="020B0604020202090204" pitchFamily="34" charset="0"/>
                <a:ea typeface="新細明體" panose="02020500000000000000" pitchFamily="18" charset="-120"/>
              </a:endParaRPr>
            </a:p>
          </p:txBody>
        </p:sp>
        <p:sp>
          <p:nvSpPr>
            <p:cNvPr id="30725" name="Text Box 39"/>
            <p:cNvSpPr txBox="1">
              <a:spLocks noChangeArrowheads="1"/>
            </p:cNvSpPr>
            <p:nvPr/>
          </p:nvSpPr>
          <p:spPr bwMode="auto">
            <a:xfrm>
              <a:off x="2272903" y="3444478"/>
              <a:ext cx="347191"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009E00"/>
                  </a:solidFill>
                  <a:latin typeface="Arial" panose="020B0604020202090204" pitchFamily="34" charset="0"/>
                  <a:ea typeface="新細明體" panose="02020500000000000000" pitchFamily="18" charset="-120"/>
                </a:rPr>
                <a:t>rd</a:t>
              </a:r>
              <a:endParaRPr kumimoji="1" lang="en-US" altLang="zh-TW" sz="1467">
                <a:solidFill>
                  <a:prstClr val="black"/>
                </a:solidFill>
                <a:latin typeface="Arial" panose="020B0604020202090204" pitchFamily="34" charset="0"/>
                <a:ea typeface="新細明體" panose="02020500000000000000" pitchFamily="18" charset="-120"/>
              </a:endParaRPr>
            </a:p>
          </p:txBody>
        </p:sp>
        <p:sp>
          <p:nvSpPr>
            <p:cNvPr id="30728" name="Text Box 43"/>
            <p:cNvSpPr txBox="1">
              <a:spLocks noChangeArrowheads="1"/>
            </p:cNvSpPr>
            <p:nvPr/>
          </p:nvSpPr>
          <p:spPr bwMode="auto">
            <a:xfrm>
              <a:off x="5335191" y="2500313"/>
              <a:ext cx="176213" cy="25803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FF6600"/>
                  </a:solidFill>
                  <a:latin typeface="Times New Roman" panose="02020703060505090304" pitchFamily="18" charset="0"/>
                  <a:ea typeface="新細明體" panose="02020500000000000000" pitchFamily="18" charset="-120"/>
                </a:rPr>
                <a:t>4</a:t>
              </a:r>
            </a:p>
          </p:txBody>
        </p:sp>
        <p:grpSp>
          <p:nvGrpSpPr>
            <p:cNvPr id="30729" name="Group 45"/>
            <p:cNvGrpSpPr>
              <a:grpSpLocks noChangeAspect="1"/>
            </p:cNvGrpSpPr>
            <p:nvPr/>
          </p:nvGrpSpPr>
          <p:grpSpPr bwMode="auto">
            <a:xfrm>
              <a:off x="1328738" y="2538413"/>
              <a:ext cx="5445918" cy="2207419"/>
              <a:chOff x="396" y="2132"/>
              <a:chExt cx="4574" cy="1854"/>
            </a:xfrm>
          </p:grpSpPr>
          <p:sp>
            <p:nvSpPr>
              <p:cNvPr id="30732" name="AutoShape 44"/>
              <p:cNvSpPr>
                <a:spLocks noChangeAspect="1" noChangeArrowheads="1" noTextEdit="1"/>
              </p:cNvSpPr>
              <p:nvPr/>
            </p:nvSpPr>
            <p:spPr bwMode="auto">
              <a:xfrm>
                <a:off x="396" y="2136"/>
                <a:ext cx="4562"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1219170"/>
                <a:endParaRPr lang="zh-CN" altLang="en-US" sz="1467">
                  <a:solidFill>
                    <a:prstClr val="black"/>
                  </a:solidFill>
                  <a:latin typeface="Arial"/>
                  <a:ea typeface="新細明體"/>
                </a:endParaRPr>
              </a:p>
            </p:txBody>
          </p:sp>
          <p:sp>
            <p:nvSpPr>
              <p:cNvPr id="30733" name="Line 46"/>
              <p:cNvSpPr>
                <a:spLocks noChangeShapeType="1"/>
              </p:cNvSpPr>
              <p:nvPr/>
            </p:nvSpPr>
            <p:spPr bwMode="auto">
              <a:xfrm flipH="1">
                <a:off x="3016" y="2542"/>
                <a:ext cx="555"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734" name="Freeform 47"/>
              <p:cNvSpPr/>
              <p:nvPr/>
            </p:nvSpPr>
            <p:spPr bwMode="auto">
              <a:xfrm>
                <a:off x="1418" y="3072"/>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35" name="Rectangle 48"/>
              <p:cNvSpPr>
                <a:spLocks noChangeArrowheads="1"/>
              </p:cNvSpPr>
              <p:nvPr/>
            </p:nvSpPr>
            <p:spPr bwMode="auto">
              <a:xfrm>
                <a:off x="465"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6" name="Rectangle 49"/>
              <p:cNvSpPr>
                <a:spLocks noChangeArrowheads="1"/>
              </p:cNvSpPr>
              <p:nvPr/>
            </p:nvSpPr>
            <p:spPr bwMode="auto">
              <a:xfrm>
                <a:off x="501"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7" name="Rectangle 50"/>
              <p:cNvSpPr>
                <a:spLocks noChangeArrowheads="1"/>
              </p:cNvSpPr>
              <p:nvPr/>
            </p:nvSpPr>
            <p:spPr bwMode="auto">
              <a:xfrm>
                <a:off x="578" y="2737"/>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8" name="Rectangle 51"/>
              <p:cNvSpPr>
                <a:spLocks noChangeArrowheads="1"/>
              </p:cNvSpPr>
              <p:nvPr/>
            </p:nvSpPr>
            <p:spPr bwMode="auto">
              <a:xfrm>
                <a:off x="643"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9" name="Rectangle 52"/>
              <p:cNvSpPr>
                <a:spLocks noChangeArrowheads="1"/>
              </p:cNvSpPr>
              <p:nvPr/>
            </p:nvSpPr>
            <p:spPr bwMode="auto">
              <a:xfrm>
                <a:off x="680" y="2737"/>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0" name="Rectangle 53"/>
              <p:cNvSpPr>
                <a:spLocks noChangeArrowheads="1"/>
              </p:cNvSpPr>
              <p:nvPr/>
            </p:nvSpPr>
            <p:spPr bwMode="auto">
              <a:xfrm>
                <a:off x="729"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1" name="Rectangle 54"/>
              <p:cNvSpPr>
                <a:spLocks noChangeArrowheads="1"/>
              </p:cNvSpPr>
              <p:nvPr/>
            </p:nvSpPr>
            <p:spPr bwMode="auto">
              <a:xfrm>
                <a:off x="802" y="2737"/>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c</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2" name="Rectangle 55"/>
              <p:cNvSpPr>
                <a:spLocks noChangeArrowheads="1"/>
              </p:cNvSpPr>
              <p:nvPr/>
            </p:nvSpPr>
            <p:spPr bwMode="auto">
              <a:xfrm>
                <a:off x="870"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3" name="Rectangle 56"/>
              <p:cNvSpPr>
                <a:spLocks noChangeArrowheads="1"/>
              </p:cNvSpPr>
              <p:nvPr/>
            </p:nvSpPr>
            <p:spPr bwMode="auto">
              <a:xfrm>
                <a:off x="907" y="2737"/>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4" name="Rectangle 57"/>
              <p:cNvSpPr>
                <a:spLocks noChangeArrowheads="1"/>
              </p:cNvSpPr>
              <p:nvPr/>
            </p:nvSpPr>
            <p:spPr bwMode="auto">
              <a:xfrm>
                <a:off x="935"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5" name="Rectangle 58"/>
              <p:cNvSpPr>
                <a:spLocks noChangeArrowheads="1"/>
              </p:cNvSpPr>
              <p:nvPr/>
            </p:nvSpPr>
            <p:spPr bwMode="auto">
              <a:xfrm>
                <a:off x="1012"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6" name="Freeform 59"/>
              <p:cNvSpPr/>
              <p:nvPr/>
            </p:nvSpPr>
            <p:spPr bwMode="auto">
              <a:xfrm>
                <a:off x="1418" y="2320"/>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7" name="Freeform 60"/>
              <p:cNvSpPr/>
              <p:nvPr/>
            </p:nvSpPr>
            <p:spPr bwMode="auto">
              <a:xfrm>
                <a:off x="1418" y="3448"/>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8" name="Freeform 61"/>
              <p:cNvSpPr/>
              <p:nvPr/>
            </p:nvSpPr>
            <p:spPr bwMode="auto">
              <a:xfrm>
                <a:off x="3547" y="3260"/>
                <a:ext cx="69" cy="64"/>
              </a:xfrm>
              <a:custGeom>
                <a:avLst/>
                <a:gdLst>
                  <a:gd name="T0" fmla="*/ 0 w 69"/>
                  <a:gd name="T1" fmla="*/ 0 h 64"/>
                  <a:gd name="T2" fmla="*/ 4 w 69"/>
                  <a:gd name="T3" fmla="*/ 64 h 64"/>
                  <a:gd name="T4" fmla="*/ 69 w 69"/>
                  <a:gd name="T5" fmla="*/ 34 h 64"/>
                  <a:gd name="T6" fmla="*/ 4 w 69"/>
                  <a:gd name="T7" fmla="*/ 4 h 64"/>
                  <a:gd name="T8" fmla="*/ 4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4"/>
                    </a:lnTo>
                    <a:lnTo>
                      <a:pt x="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9" name="Freeform 62"/>
              <p:cNvSpPr/>
              <p:nvPr/>
            </p:nvSpPr>
            <p:spPr bwMode="auto">
              <a:xfrm>
                <a:off x="3547" y="2512"/>
                <a:ext cx="69" cy="64"/>
              </a:xfrm>
              <a:custGeom>
                <a:avLst/>
                <a:gdLst>
                  <a:gd name="T0" fmla="*/ 0 w 69"/>
                  <a:gd name="T1" fmla="*/ 0 h 64"/>
                  <a:gd name="T2" fmla="*/ 4 w 69"/>
                  <a:gd name="T3" fmla="*/ 64 h 64"/>
                  <a:gd name="T4" fmla="*/ 69 w 69"/>
                  <a:gd name="T5" fmla="*/ 30 h 64"/>
                  <a:gd name="T6" fmla="*/ 4 w 69"/>
                  <a:gd name="T7" fmla="*/ 0 h 64"/>
                  <a:gd name="T8" fmla="*/ 4 w 69"/>
                  <a:gd name="T9" fmla="*/ 0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0"/>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0" name="Freeform 63"/>
              <p:cNvSpPr/>
              <p:nvPr/>
            </p:nvSpPr>
            <p:spPr bwMode="auto">
              <a:xfrm>
                <a:off x="1418" y="2696"/>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1" name="Freeform 64"/>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2" name="Freeform 65"/>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753" name="Rectangle 66"/>
              <p:cNvSpPr>
                <a:spLocks noChangeArrowheads="1"/>
              </p:cNvSpPr>
              <p:nvPr/>
            </p:nvSpPr>
            <p:spPr bwMode="auto">
              <a:xfrm>
                <a:off x="1965" y="284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R</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54" name="Rectangle 67"/>
              <p:cNvSpPr>
                <a:spLocks noChangeArrowheads="1"/>
              </p:cNvSpPr>
              <p:nvPr/>
            </p:nvSpPr>
            <p:spPr bwMode="auto">
              <a:xfrm>
                <a:off x="2063"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5" name="Rectangle 68"/>
              <p:cNvSpPr>
                <a:spLocks noChangeArrowheads="1"/>
              </p:cNvSpPr>
              <p:nvPr/>
            </p:nvSpPr>
            <p:spPr bwMode="auto">
              <a:xfrm>
                <a:off x="2140"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6" name="Rectangle 69"/>
              <p:cNvSpPr>
                <a:spLocks noChangeArrowheads="1"/>
              </p:cNvSpPr>
              <p:nvPr/>
            </p:nvSpPr>
            <p:spPr bwMode="auto">
              <a:xfrm>
                <a:off x="2213" y="284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7" name="Rectangle 70"/>
              <p:cNvSpPr>
                <a:spLocks noChangeArrowheads="1"/>
              </p:cNvSpPr>
              <p:nvPr/>
            </p:nvSpPr>
            <p:spPr bwMode="auto">
              <a:xfrm>
                <a:off x="2241" y="28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8" name="Rectangle 71"/>
              <p:cNvSpPr>
                <a:spLocks noChangeArrowheads="1"/>
              </p:cNvSpPr>
              <p:nvPr/>
            </p:nvSpPr>
            <p:spPr bwMode="auto">
              <a:xfrm>
                <a:off x="2310" y="28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t</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59" name="Rectangle 72"/>
              <p:cNvSpPr>
                <a:spLocks noChangeArrowheads="1"/>
              </p:cNvSpPr>
              <p:nvPr/>
            </p:nvSpPr>
            <p:spPr bwMode="auto">
              <a:xfrm>
                <a:off x="2347"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60" name="Rectangle 73"/>
              <p:cNvSpPr>
                <a:spLocks noChangeArrowheads="1"/>
              </p:cNvSpPr>
              <p:nvPr/>
            </p:nvSpPr>
            <p:spPr bwMode="auto">
              <a:xfrm>
                <a:off x="2424" y="28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1" name="Rectangle 74"/>
              <p:cNvSpPr>
                <a:spLocks noChangeArrowheads="1"/>
              </p:cNvSpPr>
              <p:nvPr/>
            </p:nvSpPr>
            <p:spPr bwMode="auto">
              <a:xfrm>
                <a:off x="2468" y="28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s</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62" name="Rectangle 75"/>
              <p:cNvSpPr>
                <a:spLocks noChangeArrowheads="1"/>
              </p:cNvSpPr>
              <p:nvPr/>
            </p:nvSpPr>
            <p:spPr bwMode="auto">
              <a:xfrm>
                <a:off x="1552" y="2967"/>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W</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3" name="Rectangle 76"/>
              <p:cNvSpPr>
                <a:spLocks noChangeArrowheads="1"/>
              </p:cNvSpPr>
              <p:nvPr/>
            </p:nvSpPr>
            <p:spPr bwMode="auto">
              <a:xfrm>
                <a:off x="1681" y="2967"/>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4" name="Rectangle 77"/>
              <p:cNvSpPr>
                <a:spLocks noChangeArrowheads="1"/>
              </p:cNvSpPr>
              <p:nvPr/>
            </p:nvSpPr>
            <p:spPr bwMode="auto">
              <a:xfrm>
                <a:off x="1726" y="2967"/>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5" name="Rectangle 78"/>
              <p:cNvSpPr>
                <a:spLocks noChangeArrowheads="1"/>
              </p:cNvSpPr>
              <p:nvPr/>
            </p:nvSpPr>
            <p:spPr bwMode="auto">
              <a:xfrm>
                <a:off x="1754" y="296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6" name="Rectangle 79"/>
              <p:cNvSpPr>
                <a:spLocks noChangeArrowheads="1"/>
              </p:cNvSpPr>
              <p:nvPr/>
            </p:nvSpPr>
            <p:spPr bwMode="auto">
              <a:xfrm>
                <a:off x="1791" y="296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7" name="Rectangle 80"/>
              <p:cNvSpPr>
                <a:spLocks noChangeArrowheads="1"/>
              </p:cNvSpPr>
              <p:nvPr/>
            </p:nvSpPr>
            <p:spPr bwMode="auto">
              <a:xfrm>
                <a:off x="1868" y="2967"/>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68" name="Rectangle 81"/>
              <p:cNvSpPr>
                <a:spLocks noChangeArrowheads="1"/>
              </p:cNvSpPr>
              <p:nvPr/>
            </p:nvSpPr>
            <p:spPr bwMode="auto">
              <a:xfrm>
                <a:off x="1552" y="309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9" name="Rectangle 82"/>
              <p:cNvSpPr>
                <a:spLocks noChangeArrowheads="1"/>
              </p:cNvSpPr>
              <p:nvPr/>
            </p:nvSpPr>
            <p:spPr bwMode="auto">
              <a:xfrm>
                <a:off x="1596"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0" name="Rectangle 83"/>
              <p:cNvSpPr>
                <a:spLocks noChangeArrowheads="1"/>
              </p:cNvSpPr>
              <p:nvPr/>
            </p:nvSpPr>
            <p:spPr bwMode="auto">
              <a:xfrm>
                <a:off x="1673"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1" name="Rectangle 84"/>
              <p:cNvSpPr>
                <a:spLocks noChangeArrowheads="1"/>
              </p:cNvSpPr>
              <p:nvPr/>
            </p:nvSpPr>
            <p:spPr bwMode="auto">
              <a:xfrm>
                <a:off x="1746" y="3094"/>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2" name="Rectangle 85"/>
              <p:cNvSpPr>
                <a:spLocks noChangeArrowheads="1"/>
              </p:cNvSpPr>
              <p:nvPr/>
            </p:nvSpPr>
            <p:spPr bwMode="auto">
              <a:xfrm>
                <a:off x="1779" y="3094"/>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3" name="Rectangle 86"/>
              <p:cNvSpPr>
                <a:spLocks noChangeArrowheads="1"/>
              </p:cNvSpPr>
              <p:nvPr/>
            </p:nvSpPr>
            <p:spPr bwMode="auto">
              <a:xfrm>
                <a:off x="1848" y="3094"/>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4" name="Rectangle 87"/>
              <p:cNvSpPr>
                <a:spLocks noChangeArrowheads="1"/>
              </p:cNvSpPr>
              <p:nvPr/>
            </p:nvSpPr>
            <p:spPr bwMode="auto">
              <a:xfrm>
                <a:off x="1884"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5" name="Rectangle 88"/>
              <p:cNvSpPr>
                <a:spLocks noChangeArrowheads="1"/>
              </p:cNvSpPr>
              <p:nvPr/>
            </p:nvSpPr>
            <p:spPr bwMode="auto">
              <a:xfrm>
                <a:off x="1957" y="309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6" name="Rectangle 89"/>
              <p:cNvSpPr>
                <a:spLocks noChangeArrowheads="1"/>
              </p:cNvSpPr>
              <p:nvPr/>
            </p:nvSpPr>
            <p:spPr bwMode="auto">
              <a:xfrm>
                <a:off x="2651" y="2403"/>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7" name="Rectangle 90"/>
              <p:cNvSpPr>
                <a:spLocks noChangeArrowheads="1"/>
              </p:cNvSpPr>
              <p:nvPr/>
            </p:nvSpPr>
            <p:spPr bwMode="auto">
              <a:xfrm>
                <a:off x="2752"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8" name="Rectangle 91"/>
              <p:cNvSpPr>
                <a:spLocks noChangeArrowheads="1"/>
              </p:cNvSpPr>
              <p:nvPr/>
            </p:nvSpPr>
            <p:spPr bwMode="auto">
              <a:xfrm>
                <a:off x="2825"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9" name="Rectangle 92"/>
              <p:cNvSpPr>
                <a:spLocks noChangeArrowheads="1"/>
              </p:cNvSpPr>
              <p:nvPr/>
            </p:nvSpPr>
            <p:spPr bwMode="auto">
              <a:xfrm>
                <a:off x="2902"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d</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80" name="Rectangle 93"/>
              <p:cNvSpPr>
                <a:spLocks noChangeArrowheads="1"/>
              </p:cNvSpPr>
              <p:nvPr/>
            </p:nvSpPr>
            <p:spPr bwMode="auto">
              <a:xfrm>
                <a:off x="2975" y="240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81" name="Rectangle 94"/>
              <p:cNvSpPr>
                <a:spLocks noChangeArrowheads="1"/>
              </p:cNvSpPr>
              <p:nvPr/>
            </p:nvSpPr>
            <p:spPr bwMode="auto">
              <a:xfrm>
                <a:off x="2574"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2" name="Rectangle 95"/>
              <p:cNvSpPr>
                <a:spLocks noChangeArrowheads="1"/>
              </p:cNvSpPr>
              <p:nvPr/>
            </p:nvSpPr>
            <p:spPr bwMode="auto">
              <a:xfrm>
                <a:off x="2647"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3" name="Rectangle 96"/>
              <p:cNvSpPr>
                <a:spLocks noChangeArrowheads="1"/>
              </p:cNvSpPr>
              <p:nvPr/>
            </p:nvSpPr>
            <p:spPr bwMode="auto">
              <a:xfrm>
                <a:off x="2724" y="253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4" name="Rectangle 97"/>
              <p:cNvSpPr>
                <a:spLocks noChangeArrowheads="1"/>
              </p:cNvSpPr>
              <p:nvPr/>
            </p:nvSpPr>
            <p:spPr bwMode="auto">
              <a:xfrm>
                <a:off x="2760"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5" name="Rectangle 98"/>
              <p:cNvSpPr>
                <a:spLocks noChangeArrowheads="1"/>
              </p:cNvSpPr>
              <p:nvPr/>
            </p:nvSpPr>
            <p:spPr bwMode="auto">
              <a:xfrm>
                <a:off x="2833" y="253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86" name="Rectangle 99"/>
              <p:cNvSpPr>
                <a:spLocks noChangeArrowheads="1"/>
              </p:cNvSpPr>
              <p:nvPr/>
            </p:nvSpPr>
            <p:spPr bwMode="auto">
              <a:xfrm>
                <a:off x="2874"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1</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7" name="Rectangle 100"/>
              <p:cNvSpPr>
                <a:spLocks noChangeArrowheads="1"/>
              </p:cNvSpPr>
              <p:nvPr/>
            </p:nvSpPr>
            <p:spPr bwMode="auto">
              <a:xfrm>
                <a:off x="2651" y="3158"/>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8" name="Rectangle 101"/>
              <p:cNvSpPr>
                <a:spLocks noChangeArrowheads="1"/>
              </p:cNvSpPr>
              <p:nvPr/>
            </p:nvSpPr>
            <p:spPr bwMode="auto">
              <a:xfrm>
                <a:off x="2752"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9" name="Rectangle 102"/>
              <p:cNvSpPr>
                <a:spLocks noChangeArrowheads="1"/>
              </p:cNvSpPr>
              <p:nvPr/>
            </p:nvSpPr>
            <p:spPr bwMode="auto">
              <a:xfrm>
                <a:off x="2825"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0" name="Rectangle 103"/>
              <p:cNvSpPr>
                <a:spLocks noChangeArrowheads="1"/>
              </p:cNvSpPr>
              <p:nvPr/>
            </p:nvSpPr>
            <p:spPr bwMode="auto">
              <a:xfrm>
                <a:off x="2902"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1" name="Rectangle 104"/>
              <p:cNvSpPr>
                <a:spLocks noChangeArrowheads="1"/>
              </p:cNvSpPr>
              <p:nvPr/>
            </p:nvSpPr>
            <p:spPr bwMode="auto">
              <a:xfrm>
                <a:off x="2975" y="3158"/>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92" name="Rectangle 105"/>
              <p:cNvSpPr>
                <a:spLocks noChangeArrowheads="1"/>
              </p:cNvSpPr>
              <p:nvPr/>
            </p:nvSpPr>
            <p:spPr bwMode="auto">
              <a:xfrm>
                <a:off x="2574"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3" name="Rectangle 106"/>
              <p:cNvSpPr>
                <a:spLocks noChangeArrowheads="1"/>
              </p:cNvSpPr>
              <p:nvPr/>
            </p:nvSpPr>
            <p:spPr bwMode="auto">
              <a:xfrm>
                <a:off x="2647"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4" name="Rectangle 107"/>
              <p:cNvSpPr>
                <a:spLocks noChangeArrowheads="1"/>
              </p:cNvSpPr>
              <p:nvPr/>
            </p:nvSpPr>
            <p:spPr bwMode="auto">
              <a:xfrm>
                <a:off x="2724" y="328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5" name="Rectangle 108"/>
              <p:cNvSpPr>
                <a:spLocks noChangeArrowheads="1"/>
              </p:cNvSpPr>
              <p:nvPr/>
            </p:nvSpPr>
            <p:spPr bwMode="auto">
              <a:xfrm>
                <a:off x="2760"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6" name="Rectangle 109"/>
              <p:cNvSpPr>
                <a:spLocks noChangeArrowheads="1"/>
              </p:cNvSpPr>
              <p:nvPr/>
            </p:nvSpPr>
            <p:spPr bwMode="auto">
              <a:xfrm>
                <a:off x="2833" y="328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97" name="Rectangle 110"/>
              <p:cNvSpPr>
                <a:spLocks noChangeArrowheads="1"/>
              </p:cNvSpPr>
              <p:nvPr/>
            </p:nvSpPr>
            <p:spPr bwMode="auto">
              <a:xfrm>
                <a:off x="2874"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2</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8" name="Rectangle 111"/>
              <p:cNvSpPr>
                <a:spLocks noChangeArrowheads="1"/>
              </p:cNvSpPr>
              <p:nvPr/>
            </p:nvSpPr>
            <p:spPr bwMode="auto">
              <a:xfrm>
                <a:off x="1552" y="2215"/>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9" name="Rectangle 112"/>
              <p:cNvSpPr>
                <a:spLocks noChangeArrowheads="1"/>
              </p:cNvSpPr>
              <p:nvPr/>
            </p:nvSpPr>
            <p:spPr bwMode="auto">
              <a:xfrm>
                <a:off x="1649"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0" name="Rectangle 113"/>
              <p:cNvSpPr>
                <a:spLocks noChangeArrowheads="1"/>
              </p:cNvSpPr>
              <p:nvPr/>
            </p:nvSpPr>
            <p:spPr bwMode="auto">
              <a:xfrm>
                <a:off x="1726"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1" name="Rectangle 114"/>
              <p:cNvSpPr>
                <a:spLocks noChangeArrowheads="1"/>
              </p:cNvSpPr>
              <p:nvPr/>
            </p:nvSpPr>
            <p:spPr bwMode="auto">
              <a:xfrm>
                <a:off x="1799"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2" name="Rectangle 115"/>
              <p:cNvSpPr>
                <a:spLocks noChangeArrowheads="1"/>
              </p:cNvSpPr>
              <p:nvPr/>
            </p:nvSpPr>
            <p:spPr bwMode="auto">
              <a:xfrm>
                <a:off x="1876" y="2215"/>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03" name="Rectangle 116"/>
              <p:cNvSpPr>
                <a:spLocks noChangeArrowheads="1"/>
              </p:cNvSpPr>
              <p:nvPr/>
            </p:nvSpPr>
            <p:spPr bwMode="auto">
              <a:xfrm>
                <a:off x="1552" y="23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4" name="Rectangle 117"/>
              <p:cNvSpPr>
                <a:spLocks noChangeArrowheads="1"/>
              </p:cNvSpPr>
              <p:nvPr/>
            </p:nvSpPr>
            <p:spPr bwMode="auto">
              <a:xfrm>
                <a:off x="1596"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5" name="Rectangle 118"/>
              <p:cNvSpPr>
                <a:spLocks noChangeArrowheads="1"/>
              </p:cNvSpPr>
              <p:nvPr/>
            </p:nvSpPr>
            <p:spPr bwMode="auto">
              <a:xfrm>
                <a:off x="1673"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6" name="Rectangle 119"/>
              <p:cNvSpPr>
                <a:spLocks noChangeArrowheads="1"/>
              </p:cNvSpPr>
              <p:nvPr/>
            </p:nvSpPr>
            <p:spPr bwMode="auto">
              <a:xfrm>
                <a:off x="1746" y="234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7" name="Rectangle 120"/>
              <p:cNvSpPr>
                <a:spLocks noChangeArrowheads="1"/>
              </p:cNvSpPr>
              <p:nvPr/>
            </p:nvSpPr>
            <p:spPr bwMode="auto">
              <a:xfrm>
                <a:off x="1779" y="23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8" name="Rectangle 121"/>
              <p:cNvSpPr>
                <a:spLocks noChangeArrowheads="1"/>
              </p:cNvSpPr>
              <p:nvPr/>
            </p:nvSpPr>
            <p:spPr bwMode="auto">
              <a:xfrm>
                <a:off x="1848" y="23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9" name="Rectangle 122"/>
              <p:cNvSpPr>
                <a:spLocks noChangeArrowheads="1"/>
              </p:cNvSpPr>
              <p:nvPr/>
            </p:nvSpPr>
            <p:spPr bwMode="auto">
              <a:xfrm>
                <a:off x="1884"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0" name="Rectangle 123"/>
              <p:cNvSpPr>
                <a:spLocks noChangeArrowheads="1"/>
              </p:cNvSpPr>
              <p:nvPr/>
            </p:nvSpPr>
            <p:spPr bwMode="auto">
              <a:xfrm>
                <a:off x="1957" y="23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1" name="Rectangle 124"/>
              <p:cNvSpPr>
                <a:spLocks noChangeArrowheads="1"/>
              </p:cNvSpPr>
              <p:nvPr/>
            </p:nvSpPr>
            <p:spPr bwMode="auto">
              <a:xfrm>
                <a:off x="2002" y="23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12" name="Rectangle 125"/>
              <p:cNvSpPr>
                <a:spLocks noChangeArrowheads="1"/>
              </p:cNvSpPr>
              <p:nvPr/>
            </p:nvSpPr>
            <p:spPr bwMode="auto">
              <a:xfrm>
                <a:off x="2042"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1</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3" name="Rectangle 126"/>
              <p:cNvSpPr>
                <a:spLocks noChangeArrowheads="1"/>
              </p:cNvSpPr>
              <p:nvPr/>
            </p:nvSpPr>
            <p:spPr bwMode="auto">
              <a:xfrm>
                <a:off x="1552" y="2591"/>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4" name="Rectangle 127"/>
              <p:cNvSpPr>
                <a:spLocks noChangeArrowheads="1"/>
              </p:cNvSpPr>
              <p:nvPr/>
            </p:nvSpPr>
            <p:spPr bwMode="auto">
              <a:xfrm>
                <a:off x="1649"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5" name="Rectangle 128"/>
              <p:cNvSpPr>
                <a:spLocks noChangeArrowheads="1"/>
              </p:cNvSpPr>
              <p:nvPr/>
            </p:nvSpPr>
            <p:spPr bwMode="auto">
              <a:xfrm>
                <a:off x="1726"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6" name="Rectangle 129"/>
              <p:cNvSpPr>
                <a:spLocks noChangeArrowheads="1"/>
              </p:cNvSpPr>
              <p:nvPr/>
            </p:nvSpPr>
            <p:spPr bwMode="auto">
              <a:xfrm>
                <a:off x="1799"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7" name="Rectangle 130"/>
              <p:cNvSpPr>
                <a:spLocks noChangeArrowheads="1"/>
              </p:cNvSpPr>
              <p:nvPr/>
            </p:nvSpPr>
            <p:spPr bwMode="auto">
              <a:xfrm>
                <a:off x="1876" y="2591"/>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18" name="Rectangle 131"/>
              <p:cNvSpPr>
                <a:spLocks noChangeArrowheads="1"/>
              </p:cNvSpPr>
              <p:nvPr/>
            </p:nvSpPr>
            <p:spPr bwMode="auto">
              <a:xfrm>
                <a:off x="1552" y="2718"/>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9" name="Rectangle 132"/>
              <p:cNvSpPr>
                <a:spLocks noChangeArrowheads="1"/>
              </p:cNvSpPr>
              <p:nvPr/>
            </p:nvSpPr>
            <p:spPr bwMode="auto">
              <a:xfrm>
                <a:off x="1596"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0" name="Rectangle 133"/>
              <p:cNvSpPr>
                <a:spLocks noChangeArrowheads="1"/>
              </p:cNvSpPr>
              <p:nvPr/>
            </p:nvSpPr>
            <p:spPr bwMode="auto">
              <a:xfrm>
                <a:off x="1673"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1" name="Rectangle 134"/>
              <p:cNvSpPr>
                <a:spLocks noChangeArrowheads="1"/>
              </p:cNvSpPr>
              <p:nvPr/>
            </p:nvSpPr>
            <p:spPr bwMode="auto">
              <a:xfrm>
                <a:off x="1746" y="2718"/>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2" name="Rectangle 135"/>
              <p:cNvSpPr>
                <a:spLocks noChangeArrowheads="1"/>
              </p:cNvSpPr>
              <p:nvPr/>
            </p:nvSpPr>
            <p:spPr bwMode="auto">
              <a:xfrm>
                <a:off x="1779" y="2718"/>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3" name="Rectangle 136"/>
              <p:cNvSpPr>
                <a:spLocks noChangeArrowheads="1"/>
              </p:cNvSpPr>
              <p:nvPr/>
            </p:nvSpPr>
            <p:spPr bwMode="auto">
              <a:xfrm>
                <a:off x="1848" y="2718"/>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4" name="Rectangle 137"/>
              <p:cNvSpPr>
                <a:spLocks noChangeArrowheads="1"/>
              </p:cNvSpPr>
              <p:nvPr/>
            </p:nvSpPr>
            <p:spPr bwMode="auto">
              <a:xfrm>
                <a:off x="1884"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5" name="Rectangle 138"/>
              <p:cNvSpPr>
                <a:spLocks noChangeArrowheads="1"/>
              </p:cNvSpPr>
              <p:nvPr/>
            </p:nvSpPr>
            <p:spPr bwMode="auto">
              <a:xfrm>
                <a:off x="1957" y="2718"/>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6" name="Rectangle 139"/>
              <p:cNvSpPr>
                <a:spLocks noChangeArrowheads="1"/>
              </p:cNvSpPr>
              <p:nvPr/>
            </p:nvSpPr>
            <p:spPr bwMode="auto">
              <a:xfrm>
                <a:off x="2002" y="2718"/>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27" name="Rectangle 140"/>
              <p:cNvSpPr>
                <a:spLocks noChangeArrowheads="1"/>
              </p:cNvSpPr>
              <p:nvPr/>
            </p:nvSpPr>
            <p:spPr bwMode="auto">
              <a:xfrm>
                <a:off x="2042"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2</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8" name="Freeform 141"/>
              <p:cNvSpPr/>
              <p:nvPr/>
            </p:nvSpPr>
            <p:spPr bwMode="auto">
              <a:xfrm>
                <a:off x="1191" y="2354"/>
                <a:ext cx="251" cy="752"/>
              </a:xfrm>
              <a:custGeom>
                <a:avLst/>
                <a:gdLst>
                  <a:gd name="T0" fmla="*/ 251 w 251"/>
                  <a:gd name="T1" fmla="*/ 752 h 752"/>
                  <a:gd name="T2" fmla="*/ 0 w 251"/>
                  <a:gd name="T3" fmla="*/ 752 h 752"/>
                  <a:gd name="T4" fmla="*/ 0 w 251"/>
                  <a:gd name="T5" fmla="*/ 0 h 752"/>
                  <a:gd name="T6" fmla="*/ 243 w 251"/>
                  <a:gd name="T7" fmla="*/ 0 h 752"/>
                  <a:gd name="T8" fmla="*/ 0 60000 65536"/>
                  <a:gd name="T9" fmla="*/ 0 60000 65536"/>
                  <a:gd name="T10" fmla="*/ 0 60000 65536"/>
                  <a:gd name="T11" fmla="*/ 0 60000 65536"/>
                  <a:gd name="T12" fmla="*/ 0 w 251"/>
                  <a:gd name="T13" fmla="*/ 0 h 752"/>
                  <a:gd name="T14" fmla="*/ 251 w 251"/>
                  <a:gd name="T15" fmla="*/ 752 h 752"/>
                </a:gdLst>
                <a:ahLst/>
                <a:cxnLst>
                  <a:cxn ang="T8">
                    <a:pos x="T0" y="T1"/>
                  </a:cxn>
                  <a:cxn ang="T9">
                    <a:pos x="T2" y="T3"/>
                  </a:cxn>
                  <a:cxn ang="T10">
                    <a:pos x="T4" y="T5"/>
                  </a:cxn>
                  <a:cxn ang="T11">
                    <a:pos x="T6" y="T7"/>
                  </a:cxn>
                </a:cxnLst>
                <a:rect l="T12" t="T13" r="T14" b="T15"/>
                <a:pathLst>
                  <a:path w="251" h="752">
                    <a:moveTo>
                      <a:pt x="251" y="752"/>
                    </a:moveTo>
                    <a:lnTo>
                      <a:pt x="0" y="752"/>
                    </a:lnTo>
                    <a:lnTo>
                      <a:pt x="0" y="0"/>
                    </a:lnTo>
                    <a:lnTo>
                      <a:pt x="243" y="0"/>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29" name="Line 142"/>
              <p:cNvSpPr>
                <a:spLocks noChangeShapeType="1"/>
              </p:cNvSpPr>
              <p:nvPr/>
            </p:nvSpPr>
            <p:spPr bwMode="auto">
              <a:xfrm>
                <a:off x="1191" y="2730"/>
                <a:ext cx="251"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30" name="Line 143"/>
              <p:cNvSpPr>
                <a:spLocks noChangeShapeType="1"/>
              </p:cNvSpPr>
              <p:nvPr/>
            </p:nvSpPr>
            <p:spPr bwMode="auto">
              <a:xfrm>
                <a:off x="396" y="2918"/>
                <a:ext cx="795"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31" name="Freeform 144"/>
              <p:cNvSpPr/>
              <p:nvPr/>
            </p:nvSpPr>
            <p:spPr bwMode="auto">
              <a:xfrm>
                <a:off x="1191" y="3080"/>
                <a:ext cx="3580" cy="883"/>
              </a:xfrm>
              <a:custGeom>
                <a:avLst/>
                <a:gdLst>
                  <a:gd name="T0" fmla="*/ 3276 w 3580"/>
                  <a:gd name="T1" fmla="*/ 0 h 883"/>
                  <a:gd name="T2" fmla="*/ 3580 w 3580"/>
                  <a:gd name="T3" fmla="*/ 4 h 883"/>
                  <a:gd name="T4" fmla="*/ 3580 w 3580"/>
                  <a:gd name="T5" fmla="*/ 883 h 883"/>
                  <a:gd name="T6" fmla="*/ 0 w 3580"/>
                  <a:gd name="T7" fmla="*/ 883 h 883"/>
                  <a:gd name="T8" fmla="*/ 0 w 3580"/>
                  <a:gd name="T9" fmla="*/ 402 h 883"/>
                  <a:gd name="T10" fmla="*/ 251 w 3580"/>
                  <a:gd name="T11" fmla="*/ 402 h 883"/>
                  <a:gd name="T12" fmla="*/ 0 60000 65536"/>
                  <a:gd name="T13" fmla="*/ 0 60000 65536"/>
                  <a:gd name="T14" fmla="*/ 0 60000 65536"/>
                  <a:gd name="T15" fmla="*/ 0 60000 65536"/>
                  <a:gd name="T16" fmla="*/ 0 60000 65536"/>
                  <a:gd name="T17" fmla="*/ 0 60000 65536"/>
                  <a:gd name="T18" fmla="*/ 0 w 3580"/>
                  <a:gd name="T19" fmla="*/ 0 h 883"/>
                  <a:gd name="T20" fmla="*/ 3580 w 3580"/>
                  <a:gd name="T21" fmla="*/ 883 h 883"/>
                </a:gdLst>
                <a:ahLst/>
                <a:cxnLst>
                  <a:cxn ang="T12">
                    <a:pos x="T0" y="T1"/>
                  </a:cxn>
                  <a:cxn ang="T13">
                    <a:pos x="T2" y="T3"/>
                  </a:cxn>
                  <a:cxn ang="T14">
                    <a:pos x="T4" y="T5"/>
                  </a:cxn>
                  <a:cxn ang="T15">
                    <a:pos x="T6" y="T7"/>
                  </a:cxn>
                  <a:cxn ang="T16">
                    <a:pos x="T8" y="T9"/>
                  </a:cxn>
                  <a:cxn ang="T17">
                    <a:pos x="T10" y="T11"/>
                  </a:cxn>
                </a:cxnLst>
                <a:rect l="T18" t="T19" r="T20" b="T21"/>
                <a:pathLst>
                  <a:path w="3580" h="883">
                    <a:moveTo>
                      <a:pt x="3276" y="0"/>
                    </a:moveTo>
                    <a:lnTo>
                      <a:pt x="3580" y="4"/>
                    </a:lnTo>
                    <a:lnTo>
                      <a:pt x="3580" y="883"/>
                    </a:lnTo>
                    <a:lnTo>
                      <a:pt x="0" y="883"/>
                    </a:lnTo>
                    <a:lnTo>
                      <a:pt x="0" y="402"/>
                    </a:lnTo>
                    <a:lnTo>
                      <a:pt x="251" y="402"/>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32" name="Rectangle 145"/>
              <p:cNvSpPr>
                <a:spLocks noChangeArrowheads="1"/>
              </p:cNvSpPr>
              <p:nvPr/>
            </p:nvSpPr>
            <p:spPr bwMode="auto">
              <a:xfrm>
                <a:off x="1552" y="3343"/>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W</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3" name="Rectangle 146"/>
              <p:cNvSpPr>
                <a:spLocks noChangeArrowheads="1"/>
              </p:cNvSpPr>
              <p:nvPr/>
            </p:nvSpPr>
            <p:spPr bwMode="auto">
              <a:xfrm>
                <a:off x="1681" y="3343"/>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4" name="Rectangle 147"/>
              <p:cNvSpPr>
                <a:spLocks noChangeArrowheads="1"/>
              </p:cNvSpPr>
              <p:nvPr/>
            </p:nvSpPr>
            <p:spPr bwMode="auto">
              <a:xfrm>
                <a:off x="1726" y="3343"/>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5" name="Rectangle 148"/>
              <p:cNvSpPr>
                <a:spLocks noChangeArrowheads="1"/>
              </p:cNvSpPr>
              <p:nvPr/>
            </p:nvSpPr>
            <p:spPr bwMode="auto">
              <a:xfrm>
                <a:off x="1754" y="3343"/>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6" name="Rectangle 149"/>
              <p:cNvSpPr>
                <a:spLocks noChangeArrowheads="1"/>
              </p:cNvSpPr>
              <p:nvPr/>
            </p:nvSpPr>
            <p:spPr bwMode="auto">
              <a:xfrm>
                <a:off x="1791" y="334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7" name="Rectangle 150"/>
              <p:cNvSpPr>
                <a:spLocks noChangeArrowheads="1"/>
              </p:cNvSpPr>
              <p:nvPr/>
            </p:nvSpPr>
            <p:spPr bwMode="auto">
              <a:xfrm>
                <a:off x="1868" y="334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38" name="Rectangle 151"/>
              <p:cNvSpPr>
                <a:spLocks noChangeArrowheads="1"/>
              </p:cNvSpPr>
              <p:nvPr/>
            </p:nvSpPr>
            <p:spPr bwMode="auto">
              <a:xfrm>
                <a:off x="1552"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9" name="Rectangle 152"/>
              <p:cNvSpPr>
                <a:spLocks noChangeArrowheads="1"/>
              </p:cNvSpPr>
              <p:nvPr/>
            </p:nvSpPr>
            <p:spPr bwMode="auto">
              <a:xfrm>
                <a:off x="1629"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0" name="Rectangle 153"/>
              <p:cNvSpPr>
                <a:spLocks noChangeArrowheads="1"/>
              </p:cNvSpPr>
              <p:nvPr/>
            </p:nvSpPr>
            <p:spPr bwMode="auto">
              <a:xfrm>
                <a:off x="1702" y="347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1" name="Rectangle 154"/>
              <p:cNvSpPr>
                <a:spLocks noChangeArrowheads="1"/>
              </p:cNvSpPr>
              <p:nvPr/>
            </p:nvSpPr>
            <p:spPr bwMode="auto">
              <a:xfrm>
                <a:off x="1742"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2" name="Freeform 155"/>
              <p:cNvSpPr/>
              <p:nvPr/>
            </p:nvSpPr>
            <p:spPr bwMode="auto">
              <a:xfrm>
                <a:off x="3016" y="3294"/>
                <a:ext cx="547" cy="1"/>
              </a:xfrm>
              <a:custGeom>
                <a:avLst/>
                <a:gdLst>
                  <a:gd name="T0" fmla="*/ 0 w 547"/>
                  <a:gd name="T1" fmla="*/ 0 h 1"/>
                  <a:gd name="T2" fmla="*/ 16 w 547"/>
                  <a:gd name="T3" fmla="*/ 0 h 1"/>
                  <a:gd name="T4" fmla="*/ 56 w 547"/>
                  <a:gd name="T5" fmla="*/ 0 h 1"/>
                  <a:gd name="T6" fmla="*/ 117 w 547"/>
                  <a:gd name="T7" fmla="*/ 0 h 1"/>
                  <a:gd name="T8" fmla="*/ 194 w 547"/>
                  <a:gd name="T9" fmla="*/ 0 h 1"/>
                  <a:gd name="T10" fmla="*/ 275 w 547"/>
                  <a:gd name="T11" fmla="*/ 0 h 1"/>
                  <a:gd name="T12" fmla="*/ 356 w 547"/>
                  <a:gd name="T13" fmla="*/ 0 h 1"/>
                  <a:gd name="T14" fmla="*/ 429 w 547"/>
                  <a:gd name="T15" fmla="*/ 0 h 1"/>
                  <a:gd name="T16" fmla="*/ 490 w 547"/>
                  <a:gd name="T17" fmla="*/ 0 h 1"/>
                  <a:gd name="T18" fmla="*/ 531 w 547"/>
                  <a:gd name="T19" fmla="*/ 0 h 1"/>
                  <a:gd name="T20" fmla="*/ 547 w 547"/>
                  <a:gd name="T21" fmla="*/ 0 h 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47"/>
                  <a:gd name="T34" fmla="*/ 0 h 1"/>
                  <a:gd name="T35" fmla="*/ 547 w 547"/>
                  <a:gd name="T36" fmla="*/ 1 h 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47" h="1">
                    <a:moveTo>
                      <a:pt x="0" y="0"/>
                    </a:moveTo>
                    <a:lnTo>
                      <a:pt x="16" y="0"/>
                    </a:lnTo>
                    <a:lnTo>
                      <a:pt x="56" y="0"/>
                    </a:lnTo>
                    <a:lnTo>
                      <a:pt x="117" y="0"/>
                    </a:lnTo>
                    <a:lnTo>
                      <a:pt x="194" y="0"/>
                    </a:lnTo>
                    <a:lnTo>
                      <a:pt x="275" y="0"/>
                    </a:lnTo>
                    <a:lnTo>
                      <a:pt x="356" y="0"/>
                    </a:lnTo>
                    <a:lnTo>
                      <a:pt x="429" y="0"/>
                    </a:lnTo>
                    <a:lnTo>
                      <a:pt x="490" y="0"/>
                    </a:lnTo>
                    <a:lnTo>
                      <a:pt x="531" y="0"/>
                    </a:lnTo>
                    <a:lnTo>
                      <a:pt x="547" y="0"/>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43" name="Freeform 156"/>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w 843"/>
                  <a:gd name="T19" fmla="*/ 0 h 12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43"/>
                  <a:gd name="T31" fmla="*/ 0 h 1264"/>
                  <a:gd name="T32" fmla="*/ 843 w 843"/>
                  <a:gd name="T33" fmla="*/ 1264 h 12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43" h="1264">
                    <a:moveTo>
                      <a:pt x="0" y="0"/>
                    </a:moveTo>
                    <a:lnTo>
                      <a:pt x="0" y="512"/>
                    </a:lnTo>
                    <a:lnTo>
                      <a:pt x="142" y="632"/>
                    </a:lnTo>
                    <a:lnTo>
                      <a:pt x="0" y="756"/>
                    </a:lnTo>
                    <a:lnTo>
                      <a:pt x="0" y="1264"/>
                    </a:lnTo>
                    <a:lnTo>
                      <a:pt x="843" y="877"/>
                    </a:lnTo>
                    <a:lnTo>
                      <a:pt x="843" y="388"/>
                    </a:lnTo>
                    <a:lnTo>
                      <a:pt x="0" y="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44" name="Freeform 157"/>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43"/>
                  <a:gd name="T28" fmla="*/ 0 h 1264"/>
                  <a:gd name="T29" fmla="*/ 843 w 843"/>
                  <a:gd name="T30" fmla="*/ 1264 h 12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43" h="1264">
                    <a:moveTo>
                      <a:pt x="0" y="0"/>
                    </a:moveTo>
                    <a:lnTo>
                      <a:pt x="0" y="512"/>
                    </a:lnTo>
                    <a:lnTo>
                      <a:pt x="142" y="632"/>
                    </a:lnTo>
                    <a:lnTo>
                      <a:pt x="0" y="756"/>
                    </a:lnTo>
                    <a:lnTo>
                      <a:pt x="0" y="1264"/>
                    </a:lnTo>
                    <a:lnTo>
                      <a:pt x="843" y="877"/>
                    </a:lnTo>
                    <a:lnTo>
                      <a:pt x="843" y="388"/>
                    </a:lnTo>
                    <a:lnTo>
                      <a:pt x="0" y="4"/>
                    </a:ln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45" name="Rectangle 158"/>
              <p:cNvSpPr>
                <a:spLocks noChangeArrowheads="1"/>
              </p:cNvSpPr>
              <p:nvPr/>
            </p:nvSpPr>
            <p:spPr bwMode="auto">
              <a:xfrm>
                <a:off x="4188" y="2880"/>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6" name="Rectangle 159"/>
              <p:cNvSpPr>
                <a:spLocks noChangeArrowheads="1"/>
              </p:cNvSpPr>
              <p:nvPr/>
            </p:nvSpPr>
            <p:spPr bwMode="auto">
              <a:xfrm>
                <a:off x="4277" y="288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7" name="Rectangle 160"/>
              <p:cNvSpPr>
                <a:spLocks noChangeArrowheads="1"/>
              </p:cNvSpPr>
              <p:nvPr/>
            </p:nvSpPr>
            <p:spPr bwMode="auto">
              <a:xfrm>
                <a:off x="4354" y="2880"/>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8" name="Rectangle 161"/>
              <p:cNvSpPr>
                <a:spLocks noChangeArrowheads="1"/>
              </p:cNvSpPr>
              <p:nvPr/>
            </p:nvSpPr>
            <p:spPr bwMode="auto">
              <a:xfrm>
                <a:off x="4451" y="2880"/>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49" name="Rectangle 162"/>
              <p:cNvSpPr>
                <a:spLocks noChangeArrowheads="1"/>
              </p:cNvSpPr>
              <p:nvPr/>
            </p:nvSpPr>
            <p:spPr bwMode="auto">
              <a:xfrm>
                <a:off x="4082" y="300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0" name="Rectangle 163"/>
              <p:cNvSpPr>
                <a:spLocks noChangeArrowheads="1"/>
              </p:cNvSpPr>
              <p:nvPr/>
            </p:nvSpPr>
            <p:spPr bwMode="auto">
              <a:xfrm>
                <a:off x="4127" y="300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1" name="Rectangle 164"/>
              <p:cNvSpPr>
                <a:spLocks noChangeArrowheads="1"/>
              </p:cNvSpPr>
              <p:nvPr/>
            </p:nvSpPr>
            <p:spPr bwMode="auto">
              <a:xfrm>
                <a:off x="4200" y="3004"/>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2" name="Rectangle 165"/>
              <p:cNvSpPr>
                <a:spLocks noChangeArrowheads="1"/>
              </p:cNvSpPr>
              <p:nvPr/>
            </p:nvSpPr>
            <p:spPr bwMode="auto">
              <a:xfrm>
                <a:off x="4269" y="300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3" name="Rectangle 166"/>
              <p:cNvSpPr>
                <a:spLocks noChangeArrowheads="1"/>
              </p:cNvSpPr>
              <p:nvPr/>
            </p:nvSpPr>
            <p:spPr bwMode="auto">
              <a:xfrm>
                <a:off x="4346" y="3004"/>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4" name="Rectangle 167"/>
              <p:cNvSpPr>
                <a:spLocks noChangeArrowheads="1"/>
              </p:cNvSpPr>
              <p:nvPr/>
            </p:nvSpPr>
            <p:spPr bwMode="auto">
              <a:xfrm>
                <a:off x="4374" y="3004"/>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5" name="Rectangle 168"/>
              <p:cNvSpPr>
                <a:spLocks noChangeArrowheads="1"/>
              </p:cNvSpPr>
              <p:nvPr/>
            </p:nvSpPr>
            <p:spPr bwMode="auto">
              <a:xfrm>
                <a:off x="3798" y="2842"/>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6" name="Rectangle 169"/>
              <p:cNvSpPr>
                <a:spLocks noChangeArrowheads="1"/>
              </p:cNvSpPr>
              <p:nvPr/>
            </p:nvSpPr>
            <p:spPr bwMode="auto">
              <a:xfrm>
                <a:off x="3887"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7" name="Rectangle 170"/>
              <p:cNvSpPr>
                <a:spLocks noChangeArrowheads="1"/>
              </p:cNvSpPr>
              <p:nvPr/>
            </p:nvSpPr>
            <p:spPr bwMode="auto">
              <a:xfrm>
                <a:off x="3964" y="284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8" name="Freeform 171"/>
              <p:cNvSpPr/>
              <p:nvPr/>
            </p:nvSpPr>
            <p:spPr bwMode="auto">
              <a:xfrm>
                <a:off x="1158" y="2700"/>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59" name="Freeform 172"/>
              <p:cNvSpPr/>
              <p:nvPr/>
            </p:nvSpPr>
            <p:spPr bwMode="auto">
              <a:xfrm>
                <a:off x="1158" y="2888"/>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0" name="Freeform 173"/>
              <p:cNvSpPr/>
              <p:nvPr/>
            </p:nvSpPr>
            <p:spPr bwMode="auto">
              <a:xfrm>
                <a:off x="4634" y="2745"/>
                <a:ext cx="24" cy="1"/>
              </a:xfrm>
              <a:custGeom>
                <a:avLst/>
                <a:gdLst>
                  <a:gd name="T0" fmla="*/ 24 w 24"/>
                  <a:gd name="T1" fmla="*/ 0 h 1"/>
                  <a:gd name="T2" fmla="*/ 0 w 24"/>
                  <a:gd name="T3" fmla="*/ 0 h 1"/>
                  <a:gd name="T4" fmla="*/ 24 w 24"/>
                  <a:gd name="T5" fmla="*/ 0 h 1"/>
                  <a:gd name="T6" fmla="*/ 0 60000 65536"/>
                  <a:gd name="T7" fmla="*/ 0 60000 65536"/>
                  <a:gd name="T8" fmla="*/ 0 60000 65536"/>
                  <a:gd name="T9" fmla="*/ 0 w 24"/>
                  <a:gd name="T10" fmla="*/ 0 h 1"/>
                  <a:gd name="T11" fmla="*/ 24 w 24"/>
                  <a:gd name="T12" fmla="*/ 1 h 1"/>
                </a:gdLst>
                <a:ahLst/>
                <a:cxnLst>
                  <a:cxn ang="T6">
                    <a:pos x="T0" y="T1"/>
                  </a:cxn>
                  <a:cxn ang="T7">
                    <a:pos x="T2" y="T3"/>
                  </a:cxn>
                  <a:cxn ang="T8">
                    <a:pos x="T4" y="T5"/>
                  </a:cxn>
                </a:cxnLst>
                <a:rect l="T9" t="T10" r="T11" b="T12"/>
                <a:pathLst>
                  <a:path w="24" h="1">
                    <a:moveTo>
                      <a:pt x="24" y="0"/>
                    </a:moveTo>
                    <a:lnTo>
                      <a:pt x="0" y="0"/>
                    </a:lnTo>
                    <a:lnTo>
                      <a:pt x="24"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1" name="Line 174"/>
              <p:cNvSpPr>
                <a:spLocks noChangeShapeType="1"/>
              </p:cNvSpPr>
              <p:nvPr/>
            </p:nvSpPr>
            <p:spPr bwMode="auto">
              <a:xfrm flipH="1">
                <a:off x="4634" y="2745"/>
                <a:ext cx="24" cy="1"/>
              </a:xfrm>
              <a:prstGeom prst="line">
                <a:avLst/>
              </a:prstGeom>
              <a:noFill/>
              <a:ln w="25400">
                <a:solidFill>
                  <a:srgbClr val="666666"/>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62" name="Freeform 175"/>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w 60"/>
                  <a:gd name="T11" fmla="*/ 0 h 56"/>
                  <a:gd name="T12" fmla="*/ 0 60000 65536"/>
                  <a:gd name="T13" fmla="*/ 0 60000 65536"/>
                  <a:gd name="T14" fmla="*/ 0 60000 65536"/>
                  <a:gd name="T15" fmla="*/ 0 60000 65536"/>
                  <a:gd name="T16" fmla="*/ 0 60000 65536"/>
                  <a:gd name="T17" fmla="*/ 0 60000 65536"/>
                  <a:gd name="T18" fmla="*/ 0 w 60"/>
                  <a:gd name="T19" fmla="*/ 0 h 56"/>
                  <a:gd name="T20" fmla="*/ 60 w 60"/>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60" h="56">
                    <a:moveTo>
                      <a:pt x="0" y="0"/>
                    </a:moveTo>
                    <a:lnTo>
                      <a:pt x="0" y="56"/>
                    </a:lnTo>
                    <a:lnTo>
                      <a:pt x="60" y="30"/>
                    </a:lnTo>
                    <a:lnTo>
                      <a:pt x="0" y="4"/>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3" name="Freeform 176"/>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60000 65536"/>
                  <a:gd name="T11" fmla="*/ 0 60000 65536"/>
                  <a:gd name="T12" fmla="*/ 0 60000 65536"/>
                  <a:gd name="T13" fmla="*/ 0 60000 65536"/>
                  <a:gd name="T14" fmla="*/ 0 60000 65536"/>
                  <a:gd name="T15" fmla="*/ 0 w 60"/>
                  <a:gd name="T16" fmla="*/ 0 h 56"/>
                  <a:gd name="T17" fmla="*/ 60 w 60"/>
                  <a:gd name="T18" fmla="*/ 56 h 56"/>
                </a:gdLst>
                <a:ahLst/>
                <a:cxnLst>
                  <a:cxn ang="T10">
                    <a:pos x="T0" y="T1"/>
                  </a:cxn>
                  <a:cxn ang="T11">
                    <a:pos x="T2" y="T3"/>
                  </a:cxn>
                  <a:cxn ang="T12">
                    <a:pos x="T4" y="T5"/>
                  </a:cxn>
                  <a:cxn ang="T13">
                    <a:pos x="T6" y="T7"/>
                  </a:cxn>
                  <a:cxn ang="T14">
                    <a:pos x="T8" y="T9"/>
                  </a:cxn>
                </a:cxnLst>
                <a:rect l="T15" t="T16" r="T17" b="T18"/>
                <a:pathLst>
                  <a:path w="60" h="56">
                    <a:moveTo>
                      <a:pt x="0" y="0"/>
                    </a:moveTo>
                    <a:lnTo>
                      <a:pt x="0" y="56"/>
                    </a:lnTo>
                    <a:lnTo>
                      <a:pt x="60" y="30"/>
                    </a:lnTo>
                    <a:lnTo>
                      <a:pt x="0" y="4"/>
                    </a:lnTo>
                  </a:path>
                </a:pathLst>
              </a:custGeom>
              <a:noFill/>
              <a:ln w="25400">
                <a:solidFill>
                  <a:srgbClr val="666666"/>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64" name="Line 177"/>
              <p:cNvSpPr>
                <a:spLocks noChangeShapeType="1"/>
              </p:cNvSpPr>
              <p:nvPr/>
            </p:nvSpPr>
            <p:spPr bwMode="auto">
              <a:xfrm>
                <a:off x="4471" y="2745"/>
                <a:ext cx="179" cy="1"/>
              </a:xfrm>
              <a:prstGeom prst="line">
                <a:avLst/>
              </a:prstGeom>
              <a:noFill/>
              <a:ln w="25400">
                <a:solidFill>
                  <a:srgbClr val="666666"/>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65" name="Rectangle 178"/>
              <p:cNvSpPr>
                <a:spLocks noChangeArrowheads="1"/>
              </p:cNvSpPr>
              <p:nvPr/>
            </p:nvSpPr>
            <p:spPr bwMode="auto">
              <a:xfrm>
                <a:off x="4179" y="2662"/>
                <a:ext cx="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Z</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6" name="Rectangle 179"/>
              <p:cNvSpPr>
                <a:spLocks noChangeArrowheads="1"/>
              </p:cNvSpPr>
              <p:nvPr/>
            </p:nvSpPr>
            <p:spPr bwMode="auto">
              <a:xfrm>
                <a:off x="4261" y="266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7" name="Rectangle 180"/>
              <p:cNvSpPr>
                <a:spLocks noChangeArrowheads="1"/>
              </p:cNvSpPr>
              <p:nvPr/>
            </p:nvSpPr>
            <p:spPr bwMode="auto">
              <a:xfrm>
                <a:off x="4338" y="266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8" name="Rectangle 181"/>
              <p:cNvSpPr>
                <a:spLocks noChangeArrowheads="1"/>
              </p:cNvSpPr>
              <p:nvPr/>
            </p:nvSpPr>
            <p:spPr bwMode="auto">
              <a:xfrm>
                <a:off x="4382" y="266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9" name="Line 182"/>
              <p:cNvSpPr>
                <a:spLocks noChangeShapeType="1"/>
              </p:cNvSpPr>
              <p:nvPr/>
            </p:nvSpPr>
            <p:spPr bwMode="auto">
              <a:xfrm flipV="1">
                <a:off x="2168" y="3666"/>
                <a:ext cx="4" cy="177"/>
              </a:xfrm>
              <a:prstGeom prst="line">
                <a:avLst/>
              </a:prstGeom>
              <a:noFill/>
              <a:ln w="254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70" name="Rectangle 183"/>
              <p:cNvSpPr>
                <a:spLocks noChangeArrowheads="1"/>
              </p:cNvSpPr>
              <p:nvPr/>
            </p:nvSpPr>
            <p:spPr bwMode="auto">
              <a:xfrm>
                <a:off x="2237" y="372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1" name="Rectangle 184"/>
              <p:cNvSpPr>
                <a:spLocks noChangeArrowheads="1"/>
              </p:cNvSpPr>
              <p:nvPr/>
            </p:nvSpPr>
            <p:spPr bwMode="auto">
              <a:xfrm>
                <a:off x="2334"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2" name="Rectangle 185"/>
              <p:cNvSpPr>
                <a:spLocks noChangeArrowheads="1"/>
              </p:cNvSpPr>
              <p:nvPr/>
            </p:nvSpPr>
            <p:spPr bwMode="auto">
              <a:xfrm>
                <a:off x="2411"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3" name="Rectangle 186"/>
              <p:cNvSpPr>
                <a:spLocks noChangeArrowheads="1"/>
              </p:cNvSpPr>
              <p:nvPr/>
            </p:nvSpPr>
            <p:spPr bwMode="auto">
              <a:xfrm>
                <a:off x="2484" y="3722"/>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W</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4" name="Rectangle 187"/>
              <p:cNvSpPr>
                <a:spLocks noChangeArrowheads="1"/>
              </p:cNvSpPr>
              <p:nvPr/>
            </p:nvSpPr>
            <p:spPr bwMode="auto">
              <a:xfrm>
                <a:off x="2614" y="372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5" name="Rectangle 188"/>
              <p:cNvSpPr>
                <a:spLocks noChangeArrowheads="1"/>
              </p:cNvSpPr>
              <p:nvPr/>
            </p:nvSpPr>
            <p:spPr bwMode="auto">
              <a:xfrm>
                <a:off x="2659" y="372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6" name="Rectangle 189"/>
              <p:cNvSpPr>
                <a:spLocks noChangeArrowheads="1"/>
              </p:cNvSpPr>
              <p:nvPr/>
            </p:nvSpPr>
            <p:spPr bwMode="auto">
              <a:xfrm>
                <a:off x="2687" y="372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7" name="Rectangle 190"/>
              <p:cNvSpPr>
                <a:spLocks noChangeArrowheads="1"/>
              </p:cNvSpPr>
              <p:nvPr/>
            </p:nvSpPr>
            <p:spPr bwMode="auto">
              <a:xfrm>
                <a:off x="2724"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8" name="Line 191"/>
              <p:cNvSpPr>
                <a:spLocks noChangeShapeType="1"/>
              </p:cNvSpPr>
              <p:nvPr/>
            </p:nvSpPr>
            <p:spPr bwMode="auto">
              <a:xfrm flipV="1">
                <a:off x="4021" y="2174"/>
                <a:ext cx="4" cy="282"/>
              </a:xfrm>
              <a:prstGeom prst="line">
                <a:avLst/>
              </a:prstGeom>
              <a:noFill/>
              <a:ln w="381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srgbClr val="FF0000"/>
                  </a:solidFill>
                  <a:latin typeface="Arial"/>
                  <a:ea typeface="新細明體"/>
                </a:endParaRPr>
              </a:p>
            </p:txBody>
          </p:sp>
          <p:sp>
            <p:nvSpPr>
              <p:cNvPr id="30879" name="Rectangle 192"/>
              <p:cNvSpPr>
                <a:spLocks noChangeArrowheads="1"/>
              </p:cNvSpPr>
              <p:nvPr/>
            </p:nvSpPr>
            <p:spPr bwMode="auto">
              <a:xfrm>
                <a:off x="4102" y="2132"/>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0" name="Rectangle 193"/>
              <p:cNvSpPr>
                <a:spLocks noChangeArrowheads="1"/>
              </p:cNvSpPr>
              <p:nvPr/>
            </p:nvSpPr>
            <p:spPr bwMode="auto">
              <a:xfrm>
                <a:off x="419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L</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1" name="Rectangle 194"/>
              <p:cNvSpPr>
                <a:spLocks noChangeArrowheads="1"/>
              </p:cNvSpPr>
              <p:nvPr/>
            </p:nvSpPr>
            <p:spPr bwMode="auto">
              <a:xfrm>
                <a:off x="4265" y="213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2" name="Rectangle 195"/>
              <p:cNvSpPr>
                <a:spLocks noChangeArrowheads="1"/>
              </p:cNvSpPr>
              <p:nvPr/>
            </p:nvSpPr>
            <p:spPr bwMode="auto">
              <a:xfrm>
                <a:off x="4362" y="213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EB75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83" name="Rectangle 196"/>
              <p:cNvSpPr>
                <a:spLocks noChangeArrowheads="1"/>
              </p:cNvSpPr>
              <p:nvPr/>
            </p:nvSpPr>
            <p:spPr bwMode="auto">
              <a:xfrm>
                <a:off x="440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o</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4" name="Rectangle 197"/>
              <p:cNvSpPr>
                <a:spLocks noChangeArrowheads="1"/>
              </p:cNvSpPr>
              <p:nvPr/>
            </p:nvSpPr>
            <p:spPr bwMode="auto">
              <a:xfrm>
                <a:off x="4475"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p</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5" name="Rectangle 198"/>
              <p:cNvSpPr>
                <a:spLocks noChangeArrowheads="1"/>
              </p:cNvSpPr>
              <p:nvPr/>
            </p:nvSpPr>
            <p:spPr bwMode="auto">
              <a:xfrm>
                <a:off x="455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FF0000"/>
                    </a:solidFill>
                    <a:latin typeface="Arial" panose="020B0604020202090204" pitchFamily="34" charset="0"/>
                    <a:ea typeface="新細明體" panose="02020500000000000000" pitchFamily="18" charset="-120"/>
                  </a:rPr>
                  <a:t>e</a:t>
                </a:r>
                <a:endParaRPr lang="en-US" altLang="zh-TW" sz="1467" b="0" dirty="0">
                  <a:solidFill>
                    <a:srgbClr val="FF0000"/>
                  </a:solidFill>
                  <a:latin typeface="Times New Roman" panose="02020703060505090304" pitchFamily="18" charset="0"/>
                  <a:ea typeface="新細明體" panose="02020500000000000000" pitchFamily="18" charset="-120"/>
                </a:endParaRPr>
              </a:p>
            </p:txBody>
          </p:sp>
          <p:sp>
            <p:nvSpPr>
              <p:cNvPr id="30886" name="Rectangle 199"/>
              <p:cNvSpPr>
                <a:spLocks noChangeArrowheads="1"/>
              </p:cNvSpPr>
              <p:nvPr/>
            </p:nvSpPr>
            <p:spPr bwMode="auto">
              <a:xfrm>
                <a:off x="4625" y="213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7" name="Rectangle 200"/>
              <p:cNvSpPr>
                <a:spLocks noChangeArrowheads="1"/>
              </p:cNvSpPr>
              <p:nvPr/>
            </p:nvSpPr>
            <p:spPr bwMode="auto">
              <a:xfrm>
                <a:off x="4670"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a</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88" name="Rectangle 201"/>
              <p:cNvSpPr>
                <a:spLocks noChangeArrowheads="1"/>
              </p:cNvSpPr>
              <p:nvPr/>
            </p:nvSpPr>
            <p:spPr bwMode="auto">
              <a:xfrm>
                <a:off x="4747" y="213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t</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9" name="Rectangle 202"/>
              <p:cNvSpPr>
                <a:spLocks noChangeArrowheads="1"/>
              </p:cNvSpPr>
              <p:nvPr/>
            </p:nvSpPr>
            <p:spPr bwMode="auto">
              <a:xfrm>
                <a:off x="4784" y="213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0" name="Rectangle 203"/>
              <p:cNvSpPr>
                <a:spLocks noChangeArrowheads="1"/>
              </p:cNvSpPr>
              <p:nvPr/>
            </p:nvSpPr>
            <p:spPr bwMode="auto">
              <a:xfrm>
                <a:off x="4816"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1" name="Rectangle 204"/>
              <p:cNvSpPr>
                <a:spLocks noChangeArrowheads="1"/>
              </p:cNvSpPr>
              <p:nvPr/>
            </p:nvSpPr>
            <p:spPr bwMode="auto">
              <a:xfrm>
                <a:off x="4889"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2" name="Rectangle 205"/>
              <p:cNvSpPr>
                <a:spLocks noChangeArrowheads="1"/>
              </p:cNvSpPr>
              <p:nvPr/>
            </p:nvSpPr>
            <p:spPr bwMode="auto">
              <a:xfrm>
                <a:off x="3827" y="220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3" name="Line 206"/>
              <p:cNvSpPr>
                <a:spLocks noChangeShapeType="1"/>
              </p:cNvSpPr>
              <p:nvPr/>
            </p:nvSpPr>
            <p:spPr bwMode="auto">
              <a:xfrm>
                <a:off x="3964" y="2268"/>
                <a:ext cx="110" cy="105"/>
              </a:xfrm>
              <a:prstGeom prst="line">
                <a:avLst/>
              </a:prstGeom>
              <a:noFill/>
              <a:ln w="254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srgbClr val="FF0000"/>
                  </a:solidFill>
                  <a:latin typeface="Arial"/>
                  <a:ea typeface="新細明體"/>
                </a:endParaRPr>
              </a:p>
            </p:txBody>
          </p:sp>
        </p:grpSp>
        <p:sp>
          <p:nvSpPr>
            <p:cNvPr id="30730" name="Rectangle 207"/>
            <p:cNvSpPr>
              <a:spLocks noChangeArrowheads="1"/>
            </p:cNvSpPr>
            <p:nvPr/>
          </p:nvSpPr>
          <p:spPr bwMode="auto">
            <a:xfrm>
              <a:off x="6849667" y="2446735"/>
              <a:ext cx="674731"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Times New Roman" panose="02020703060505090304" pitchFamily="18" charset="0"/>
                  <a:ea typeface="新細明體" panose="02020500000000000000" pitchFamily="18" charset="-120"/>
                </a:rPr>
                <a:t>(funct)</a:t>
              </a:r>
            </a:p>
          </p:txBody>
        </p:sp>
      </p:grpSp>
      <p:sp>
        <p:nvSpPr>
          <p:cNvPr id="20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42</a:t>
            </a:fld>
            <a:endParaRPr lang="zh-TW" altLang="en-US">
              <a:solidFill>
                <a:prstClr val="white"/>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title"/>
          </p:nvPr>
        </p:nvSpPr>
        <p:spPr>
          <a:xfrm>
            <a:off x="1239692" y="58739"/>
            <a:ext cx="9066360" cy="901700"/>
          </a:xfrm>
        </p:spPr>
        <p:txBody>
          <a:bodyPr/>
          <a:lstStyle/>
          <a:p>
            <a:r>
              <a:rPr lang="en-US" altLang="zh-TW" dirty="0"/>
              <a:t>Step 3c - Load/Store Operations</a:t>
            </a:r>
          </a:p>
        </p:txBody>
      </p:sp>
      <p:sp>
        <p:nvSpPr>
          <p:cNvPr id="31748" name="Rectangle 4"/>
          <p:cNvSpPr>
            <a:spLocks noGrp="1" noChangeArrowheads="1"/>
          </p:cNvSpPr>
          <p:nvPr>
            <p:ph type="body" idx="1"/>
          </p:nvPr>
        </p:nvSpPr>
        <p:spPr>
          <a:xfrm>
            <a:off x="1321653" y="1084556"/>
            <a:ext cx="10240256" cy="493233"/>
          </a:xfrm>
        </p:spPr>
        <p:txBody>
          <a:bodyPr/>
          <a:lstStyle/>
          <a:p>
            <a:r>
              <a:rPr lang="en-US" altLang="zh-TW" sz="2667" dirty="0"/>
              <a:t>R[</a:t>
            </a:r>
            <a:r>
              <a:rPr lang="en-US" altLang="zh-TW" sz="2667" dirty="0" err="1"/>
              <a:t>rd</a:t>
            </a:r>
            <a:r>
              <a:rPr lang="en-US" altLang="zh-TW" sz="2667" dirty="0"/>
              <a:t>]&lt;-Mem[R[rs1]+</a:t>
            </a:r>
            <a:r>
              <a:rPr lang="en-US" altLang="zh-TW" sz="2667" dirty="0" err="1"/>
              <a:t>SignExt</a:t>
            </a:r>
            <a:r>
              <a:rPr lang="en-US" altLang="zh-TW" sz="2667" dirty="0"/>
              <a:t>[imm12]]   Ex: </a:t>
            </a:r>
            <a:r>
              <a:rPr lang="en-US" altLang="zh-TW" sz="2667" dirty="0" err="1"/>
              <a:t>lw</a:t>
            </a:r>
            <a:r>
              <a:rPr lang="en-US" altLang="zh-TW" sz="2667" dirty="0"/>
              <a:t> rd,rs1,imm12</a:t>
            </a:r>
          </a:p>
        </p:txBody>
      </p:sp>
      <p:sp>
        <p:nvSpPr>
          <p:cNvPr id="3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43</a:t>
            </a:fld>
            <a:endParaRPr lang="zh-TW" altLang="en-US">
              <a:solidFill>
                <a:prstClr val="white"/>
              </a:solidFill>
            </a:endParaRPr>
          </a:p>
        </p:txBody>
      </p:sp>
      <p:grpSp>
        <p:nvGrpSpPr>
          <p:cNvPr id="5" name="组合 1">
            <a:extLst>
              <a:ext uri="{FF2B5EF4-FFF2-40B4-BE49-F238E27FC236}">
                <a16:creationId xmlns:a16="http://schemas.microsoft.com/office/drawing/2014/main" id="{A3CB97E8-8C36-4F29-A344-AA86BF640C13}"/>
              </a:ext>
            </a:extLst>
          </p:cNvPr>
          <p:cNvGrpSpPr/>
          <p:nvPr/>
        </p:nvGrpSpPr>
        <p:grpSpPr>
          <a:xfrm>
            <a:off x="1938937" y="1701906"/>
            <a:ext cx="7919679" cy="4440478"/>
            <a:chOff x="1352550" y="1909762"/>
            <a:chExt cx="6438900" cy="2738438"/>
          </a:xfrm>
        </p:grpSpPr>
        <p:pic>
          <p:nvPicPr>
            <p:cNvPr id="6" name="Picture 2">
              <a:extLst>
                <a:ext uri="{FF2B5EF4-FFF2-40B4-BE49-F238E27FC236}">
                  <a16:creationId xmlns:a16="http://schemas.microsoft.com/office/drawing/2014/main" id="{E234AC53-66BA-4049-A513-38E00A2B99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2057400"/>
              <a:ext cx="64389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7" name="Text Box 6">
              <a:extLst>
                <a:ext uri="{FF2B5EF4-FFF2-40B4-BE49-F238E27FC236}">
                  <a16:creationId xmlns:a16="http://schemas.microsoft.com/office/drawing/2014/main" id="{BEC234D2-F864-4243-9FF8-6C355D84B274}"/>
                </a:ext>
              </a:extLst>
            </p:cNvPr>
            <p:cNvSpPr txBox="1">
              <a:spLocks noChangeArrowheads="1"/>
            </p:cNvSpPr>
            <p:nvPr/>
          </p:nvSpPr>
          <p:spPr bwMode="auto">
            <a:xfrm>
              <a:off x="2158603" y="1909762"/>
              <a:ext cx="400369" cy="20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srgbClr val="0000FF"/>
                  </a:solidFill>
                  <a:latin typeface="Arial" panose="020B0604020202090204" pitchFamily="34" charset="0"/>
                  <a:ea typeface="新細明體" panose="02020500000000000000" pitchFamily="18" charset="-120"/>
                </a:rPr>
                <a:t>rs1</a:t>
              </a:r>
            </a:p>
          </p:txBody>
        </p:sp>
        <p:sp>
          <p:nvSpPr>
            <p:cNvPr id="8" name="Text Box 8">
              <a:extLst>
                <a:ext uri="{FF2B5EF4-FFF2-40B4-BE49-F238E27FC236}">
                  <a16:creationId xmlns:a16="http://schemas.microsoft.com/office/drawing/2014/main" id="{1714B030-618C-46F6-8E1B-33F5C4FAEA82}"/>
                </a:ext>
              </a:extLst>
            </p:cNvPr>
            <p:cNvSpPr txBox="1">
              <a:spLocks noChangeArrowheads="1"/>
            </p:cNvSpPr>
            <p:nvPr/>
          </p:nvSpPr>
          <p:spPr bwMode="auto">
            <a:xfrm>
              <a:off x="2158603" y="2681287"/>
              <a:ext cx="316958" cy="20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C0504D"/>
                  </a:solidFill>
                  <a:latin typeface="Arial" panose="020B0604020202090204" pitchFamily="34" charset="0"/>
                  <a:ea typeface="新細明體" panose="02020500000000000000" pitchFamily="18" charset="-120"/>
                </a:rPr>
                <a:t>rd</a:t>
              </a:r>
              <a:endParaRPr kumimoji="1" lang="en-US" altLang="zh-TW" sz="1600" dirty="0">
                <a:solidFill>
                  <a:srgbClr val="C0504D"/>
                </a:solidFill>
                <a:latin typeface="Arial" panose="020B0604020202090204" pitchFamily="34" charset="0"/>
                <a:ea typeface="新細明體" panose="02020500000000000000" pitchFamily="18" charset="-120"/>
              </a:endParaRPr>
            </a:p>
          </p:txBody>
        </p:sp>
        <p:sp>
          <p:nvSpPr>
            <p:cNvPr id="9" name="Text Box 34">
              <a:extLst>
                <a:ext uri="{FF2B5EF4-FFF2-40B4-BE49-F238E27FC236}">
                  <a16:creationId xmlns:a16="http://schemas.microsoft.com/office/drawing/2014/main" id="{6E47B91C-7C1B-46E3-9263-370CA580F9C4}"/>
                </a:ext>
              </a:extLst>
            </p:cNvPr>
            <p:cNvSpPr txBox="1">
              <a:spLocks noChangeArrowheads="1"/>
            </p:cNvSpPr>
            <p:nvPr/>
          </p:nvSpPr>
          <p:spPr bwMode="auto">
            <a:xfrm>
              <a:off x="4683919" y="1972866"/>
              <a:ext cx="176213" cy="27858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srgbClr val="FF6600"/>
                  </a:solidFill>
                  <a:latin typeface="Times New Roman" panose="02020703060505090304" pitchFamily="18" charset="0"/>
                  <a:ea typeface="新細明體" panose="02020500000000000000" pitchFamily="18" charset="-120"/>
                </a:rPr>
                <a:t>4</a:t>
              </a:r>
            </a:p>
          </p:txBody>
        </p:sp>
      </p:grpSp>
      <p:sp>
        <p:nvSpPr>
          <p:cNvPr id="2" name="TextBox 1">
            <a:extLst>
              <a:ext uri="{FF2B5EF4-FFF2-40B4-BE49-F238E27FC236}">
                <a16:creationId xmlns:a16="http://schemas.microsoft.com/office/drawing/2014/main" id="{21022017-817A-444E-B297-E4DFB7442846}"/>
              </a:ext>
            </a:extLst>
          </p:cNvPr>
          <p:cNvSpPr txBox="1"/>
          <p:nvPr/>
        </p:nvSpPr>
        <p:spPr>
          <a:xfrm>
            <a:off x="4066162" y="4673502"/>
            <a:ext cx="470000" cy="400110"/>
          </a:xfrm>
          <a:prstGeom prst="rect">
            <a:avLst/>
          </a:prstGeom>
          <a:noFill/>
        </p:spPr>
        <p:txBody>
          <a:bodyPr wrap="none" rtlCol="0" anchor="ctr" anchorCtr="1">
            <a:spAutoFit/>
          </a:bodyPr>
          <a:lstStyle/>
          <a:p>
            <a:r>
              <a:rPr lang="en-US" sz="2000" b="1" dirty="0">
                <a:ea typeface="標楷體" pitchFamily="65" charset="-120"/>
                <a:cs typeface="Calibri" pitchFamily="34" charset="0"/>
              </a:rPr>
              <a:t>12</a:t>
            </a:r>
          </a:p>
        </p:txBody>
      </p:sp>
      <p:sp>
        <p:nvSpPr>
          <p:cNvPr id="11" name="Text Box 6">
            <a:extLst>
              <a:ext uri="{FF2B5EF4-FFF2-40B4-BE49-F238E27FC236}">
                <a16:creationId xmlns:a16="http://schemas.microsoft.com/office/drawing/2014/main" id="{3B473E44-ACE6-43FC-9327-F895140131FA}"/>
              </a:ext>
            </a:extLst>
          </p:cNvPr>
          <p:cNvSpPr txBox="1">
            <a:spLocks noChangeArrowheads="1"/>
          </p:cNvSpPr>
          <p:nvPr/>
        </p:nvSpPr>
        <p:spPr bwMode="auto">
          <a:xfrm>
            <a:off x="2930361" y="2455994"/>
            <a:ext cx="4924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srgbClr val="0000FF"/>
                </a:solidFill>
                <a:latin typeface="Arial" panose="020B0604020202090204" pitchFamily="34" charset="0"/>
                <a:ea typeface="新細明體" panose="02020500000000000000" pitchFamily="18" charset="-120"/>
              </a:rPr>
              <a:t>rs2</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title"/>
          </p:nvPr>
        </p:nvSpPr>
        <p:spPr>
          <a:xfrm>
            <a:off x="1290917" y="163927"/>
            <a:ext cx="9015135" cy="614723"/>
          </a:xfrm>
        </p:spPr>
        <p:txBody>
          <a:bodyPr/>
          <a:lstStyle/>
          <a:p>
            <a:r>
              <a:rPr lang="en-US" altLang="zh-TW" sz="4000" dirty="0"/>
              <a:t>Combine Mem and R-type Instructions</a:t>
            </a:r>
            <a:endParaRPr lang="en-AU" altLang="zh-TW" sz="4000"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44</a:t>
            </a:fld>
            <a:endParaRPr lang="zh-TW" altLang="en-US">
              <a:solidFill>
                <a:prstClr val="white"/>
              </a:solidFill>
            </a:endParaRPr>
          </a:p>
        </p:txBody>
      </p:sp>
      <p:pic>
        <p:nvPicPr>
          <p:cNvPr id="3" name="Picture 2">
            <a:extLst>
              <a:ext uri="{FF2B5EF4-FFF2-40B4-BE49-F238E27FC236}">
                <a16:creationId xmlns:a16="http://schemas.microsoft.com/office/drawing/2014/main" id="{766B905F-0223-47B6-87FE-E478406F64D8}"/>
              </a:ext>
            </a:extLst>
          </p:cNvPr>
          <p:cNvPicPr>
            <a:picLocks noChangeAspect="1"/>
          </p:cNvPicPr>
          <p:nvPr/>
        </p:nvPicPr>
        <p:blipFill>
          <a:blip r:embed="rId3"/>
          <a:stretch>
            <a:fillRect/>
          </a:stretch>
        </p:blipFill>
        <p:spPr>
          <a:xfrm>
            <a:off x="1318456" y="1227188"/>
            <a:ext cx="9211961" cy="4848902"/>
          </a:xfrm>
          <a:prstGeom prst="rect">
            <a:avLst/>
          </a:prstGeom>
        </p:spPr>
      </p:pic>
      <p:sp>
        <p:nvSpPr>
          <p:cNvPr id="2" name="Oval 1">
            <a:extLst>
              <a:ext uri="{FF2B5EF4-FFF2-40B4-BE49-F238E27FC236}">
                <a16:creationId xmlns:a16="http://schemas.microsoft.com/office/drawing/2014/main" id="{6498E48E-8588-40F0-8083-33AE96DB69B9}"/>
              </a:ext>
            </a:extLst>
          </p:cNvPr>
          <p:cNvSpPr/>
          <p:nvPr/>
        </p:nvSpPr>
        <p:spPr bwMode="auto">
          <a:xfrm>
            <a:off x="5095314" y="2334639"/>
            <a:ext cx="914400" cy="2062264"/>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Oval 5">
            <a:extLst>
              <a:ext uri="{FF2B5EF4-FFF2-40B4-BE49-F238E27FC236}">
                <a16:creationId xmlns:a16="http://schemas.microsoft.com/office/drawing/2014/main" id="{5E5DBC3B-E7D9-4BE2-BE9B-AD1CC80C3C7E}"/>
              </a:ext>
            </a:extLst>
          </p:cNvPr>
          <p:cNvSpPr/>
          <p:nvPr/>
        </p:nvSpPr>
        <p:spPr bwMode="auto">
          <a:xfrm>
            <a:off x="9236055" y="2175754"/>
            <a:ext cx="914400" cy="2062264"/>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Combinational vs. Sequential Logic</a:t>
            </a:r>
          </a:p>
        </p:txBody>
      </p:sp>
      <p:sp>
        <p:nvSpPr>
          <p:cNvPr id="18435" name="Rectangle 3"/>
          <p:cNvSpPr>
            <a:spLocks noGrp="1" noChangeArrowheads="1"/>
          </p:cNvSpPr>
          <p:nvPr>
            <p:ph type="body" idx="1"/>
          </p:nvPr>
        </p:nvSpPr>
        <p:spPr>
          <a:xfrm>
            <a:off x="418290" y="1094801"/>
            <a:ext cx="10605738" cy="4714328"/>
          </a:xfrm>
        </p:spPr>
        <p:txBody>
          <a:bodyPr/>
          <a:lstStyle/>
          <a:p>
            <a:pPr>
              <a:buFont typeface="Wingdings" panose="05000000000000000000" pitchFamily="2" charset="2"/>
              <a:buNone/>
            </a:pPr>
            <a:r>
              <a:rPr lang="en-US" altLang="zh-TW" sz="2667" dirty="0"/>
              <a:t>Sequential logic circuits have </a:t>
            </a:r>
            <a:r>
              <a:rPr lang="en-US" altLang="zh-TW" sz="2800" b="1" dirty="0">
                <a:solidFill>
                  <a:srgbClr val="FF0000"/>
                </a:solidFill>
              </a:rPr>
              <a:t>states</a:t>
            </a:r>
            <a:r>
              <a:rPr lang="en-US" altLang="zh-TW" sz="2667" dirty="0"/>
              <a:t> and their output depends on both current inputs and states, while combinational logic circuits depend solely on the current inputs.</a:t>
            </a:r>
          </a:p>
          <a:p>
            <a:pPr>
              <a:buFont typeface="Wingdings" panose="05000000000000000000" pitchFamily="2" charset="2"/>
              <a:buNone/>
            </a:pPr>
            <a:r>
              <a:rPr lang="en-US" altLang="zh-TW" sz="2667" dirty="0">
                <a:solidFill>
                  <a:srgbClr val="FF0000"/>
                </a:solidFill>
              </a:rPr>
              <a:t>Combinational circuit examples:</a:t>
            </a:r>
          </a:p>
          <a:p>
            <a:pPr>
              <a:buFont typeface="Wingdings" panose="05000000000000000000" pitchFamily="2" charset="2"/>
              <a:buNone/>
            </a:pPr>
            <a:r>
              <a:rPr lang="en-US" altLang="zh-TW" sz="2667" dirty="0"/>
              <a:t>	Adder, Encoder/Decoder, Mux (multiplexer), Comparators, Parity generators.</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None/>
              <a:tabLst/>
              <a:defRPr/>
            </a:pPr>
            <a:r>
              <a:rPr kumimoji="1" lang="en-US" altLang="zh-TW" sz="2667"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Sequential circuit examples:</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None/>
              <a:tabLst/>
              <a:defRPr/>
            </a:pPr>
            <a:r>
              <a:rPr kumimoji="1" lang="en-US" altLang="zh-TW" sz="26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Registers, Counters, FSM (Finite State Machines): branch predictors, cache coherence protocols.</a:t>
            </a:r>
          </a:p>
          <a:p>
            <a:pPr>
              <a:buFont typeface="Wingdings" panose="05000000000000000000" pitchFamily="2" charset="2"/>
              <a:buNone/>
            </a:pP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45</a:t>
            </a:fld>
            <a:endParaRPr lang="zh-TW" altLang="en-US">
              <a:solidFill>
                <a:prstClr val="white"/>
              </a:solidFill>
            </a:endParaRPr>
          </a:p>
        </p:txBody>
      </p:sp>
    </p:spTree>
    <p:extLst>
      <p:ext uri="{BB962C8B-B14F-4D97-AF65-F5344CB8AC3E}">
        <p14:creationId xmlns:p14="http://schemas.microsoft.com/office/powerpoint/2010/main" val="211343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Architecture States</a:t>
            </a:r>
          </a:p>
        </p:txBody>
      </p:sp>
      <p:sp>
        <p:nvSpPr>
          <p:cNvPr id="18435" name="Rectangle 3"/>
          <p:cNvSpPr>
            <a:spLocks noGrp="1" noChangeArrowheads="1"/>
          </p:cNvSpPr>
          <p:nvPr>
            <p:ph type="body" idx="1"/>
          </p:nvPr>
        </p:nvSpPr>
        <p:spPr>
          <a:xfrm>
            <a:off x="418290" y="1094801"/>
            <a:ext cx="5972782" cy="4714328"/>
          </a:xfrm>
        </p:spPr>
        <p:txBody>
          <a:bodyPr/>
          <a:lstStyle/>
          <a:p>
            <a:pPr>
              <a:buFont typeface="Wingdings" panose="05000000000000000000" pitchFamily="2" charset="2"/>
              <a:buChar char="§"/>
            </a:pPr>
            <a:r>
              <a:rPr lang="en-US" altLang="zh-TW" sz="2667" dirty="0"/>
              <a:t>Processor registers</a:t>
            </a:r>
          </a:p>
          <a:p>
            <a:pPr lvl="1">
              <a:buFont typeface="Wingdings" panose="05000000000000000000" pitchFamily="2" charset="2"/>
              <a:buChar char="§"/>
            </a:pPr>
            <a:r>
              <a:rPr lang="en-US" altLang="zh-TW" sz="2134" dirty="0"/>
              <a:t>PC</a:t>
            </a:r>
          </a:p>
          <a:p>
            <a:pPr lvl="1">
              <a:buFont typeface="Wingdings" panose="05000000000000000000" pitchFamily="2" charset="2"/>
              <a:buChar char="§"/>
            </a:pPr>
            <a:r>
              <a:rPr lang="en-US" altLang="zh-TW" sz="2134" dirty="0"/>
              <a:t>Integer registers</a:t>
            </a:r>
          </a:p>
          <a:p>
            <a:pPr lvl="1">
              <a:buFont typeface="Wingdings" panose="05000000000000000000" pitchFamily="2" charset="2"/>
              <a:buChar char="§"/>
            </a:pPr>
            <a:r>
              <a:rPr lang="en-US" altLang="zh-TW" sz="2134" dirty="0"/>
              <a:t>FP registers</a:t>
            </a:r>
          </a:p>
          <a:p>
            <a:pPr lvl="1">
              <a:buFont typeface="Wingdings" panose="05000000000000000000" pitchFamily="2" charset="2"/>
              <a:buChar char="§"/>
            </a:pPr>
            <a:r>
              <a:rPr lang="en-US" altLang="zh-TW" sz="2134" dirty="0"/>
              <a:t>Vector registers</a:t>
            </a:r>
          </a:p>
          <a:p>
            <a:pPr lvl="1">
              <a:buFont typeface="Wingdings" panose="05000000000000000000" pitchFamily="2" charset="2"/>
              <a:buChar char="§"/>
            </a:pPr>
            <a:r>
              <a:rPr lang="en-US" altLang="zh-TW" sz="2134" dirty="0"/>
              <a:t>Status registers (flags)</a:t>
            </a:r>
          </a:p>
          <a:p>
            <a:pPr lvl="1">
              <a:buFont typeface="Wingdings" panose="05000000000000000000" pitchFamily="2" charset="2"/>
              <a:buChar char="§"/>
            </a:pPr>
            <a:r>
              <a:rPr lang="en-US" altLang="zh-TW" sz="2134" dirty="0"/>
              <a:t>Pointer to the page table</a:t>
            </a:r>
          </a:p>
          <a:p>
            <a:pPr>
              <a:buFont typeface="Wingdings" panose="05000000000000000000" pitchFamily="2" charset="2"/>
              <a:buChar char="§"/>
            </a:pPr>
            <a:r>
              <a:rPr lang="en-US" altLang="zh-TW" sz="2667" dirty="0"/>
              <a:t>Memory</a:t>
            </a:r>
          </a:p>
          <a:p>
            <a:pPr>
              <a:buFont typeface="Wingdings" panose="05000000000000000000" pitchFamily="2" charset="2"/>
              <a:buChar char="§"/>
            </a:pPr>
            <a:r>
              <a:rPr lang="en-US" altLang="zh-TW" sz="2667" dirty="0"/>
              <a:t>Cache</a:t>
            </a:r>
          </a:p>
          <a:p>
            <a:pPr>
              <a:buFont typeface="Wingdings" panose="05000000000000000000" pitchFamily="2" charset="2"/>
              <a:buChar char="§"/>
            </a:pPr>
            <a:r>
              <a:rPr lang="en-US" altLang="zh-TW" sz="2667" dirty="0"/>
              <a:t>I/O device (status and buffers)</a:t>
            </a:r>
          </a:p>
          <a:p>
            <a:pPr>
              <a:buFont typeface="Wingdings" panose="05000000000000000000" pitchFamily="2" charset="2"/>
              <a:buChar char="§"/>
            </a:pPr>
            <a:r>
              <a:rPr lang="en-US" altLang="zh-TW" sz="2667" dirty="0"/>
              <a:t>Control signals</a:t>
            </a:r>
          </a:p>
          <a:p>
            <a:pPr>
              <a:buFont typeface="Wingdings" panose="05000000000000000000" pitchFamily="2" charset="2"/>
              <a:buChar char="§"/>
            </a:pPr>
            <a:endParaRPr lang="en-US" altLang="zh-TW" sz="2667" dirty="0"/>
          </a:p>
          <a:p>
            <a:pPr>
              <a:buFont typeface="Wingdings" panose="05000000000000000000" pitchFamily="2" charset="2"/>
              <a:buChar char="§"/>
            </a:pP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46</a:t>
            </a:fld>
            <a:endParaRPr lang="zh-TW" altLang="en-US">
              <a:solidFill>
                <a:prstClr val="white"/>
              </a:solidFill>
            </a:endParaRPr>
          </a:p>
        </p:txBody>
      </p:sp>
      <p:sp>
        <p:nvSpPr>
          <p:cNvPr id="6" name="Rectangle 3">
            <a:extLst>
              <a:ext uri="{FF2B5EF4-FFF2-40B4-BE49-F238E27FC236}">
                <a16:creationId xmlns:a16="http://schemas.microsoft.com/office/drawing/2014/main" id="{B568887A-668A-428E-89A9-450DE47DD9DD}"/>
              </a:ext>
            </a:extLst>
          </p:cNvPr>
          <p:cNvSpPr txBox="1">
            <a:spLocks noChangeArrowheads="1"/>
          </p:cNvSpPr>
          <p:nvPr/>
        </p:nvSpPr>
        <p:spPr bwMode="auto">
          <a:xfrm>
            <a:off x="5642043" y="1044445"/>
            <a:ext cx="6310774" cy="52201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00" kern="0" dirty="0"/>
              <a:t>At a </a:t>
            </a:r>
            <a:r>
              <a:rPr lang="en-US" altLang="zh-TW" sz="2600" kern="0" dirty="0">
                <a:solidFill>
                  <a:srgbClr val="FF0000"/>
                </a:solidFill>
              </a:rPr>
              <a:t>context switch </a:t>
            </a:r>
            <a:r>
              <a:rPr lang="en-US" altLang="zh-TW" sz="2600" kern="0" dirty="0"/>
              <a:t>(thread switch or process switch), what state information must be saved?</a:t>
            </a:r>
          </a:p>
          <a:p>
            <a:pPr lvl="1">
              <a:buFont typeface="Wingdings" panose="05000000000000000000" pitchFamily="2" charset="2"/>
              <a:buChar char="§"/>
            </a:pPr>
            <a:r>
              <a:rPr lang="en-US" altLang="zh-TW" sz="2400" kern="0" dirty="0">
                <a:solidFill>
                  <a:srgbClr val="FF0000"/>
                </a:solidFill>
              </a:rPr>
              <a:t>Processor registers for threads</a:t>
            </a:r>
          </a:p>
          <a:p>
            <a:pPr lvl="1">
              <a:buFont typeface="Wingdings" panose="05000000000000000000" pitchFamily="2" charset="2"/>
              <a:buChar char="§"/>
            </a:pPr>
            <a:r>
              <a:rPr lang="en-US" altLang="zh-TW" sz="2400" kern="0" dirty="0"/>
              <a:t>PCB (Process Control Block) for processes. PCB includes registers.</a:t>
            </a:r>
          </a:p>
          <a:p>
            <a:pPr>
              <a:buFont typeface="Wingdings" panose="05000000000000000000" pitchFamily="2" charset="2"/>
              <a:buChar char="§"/>
            </a:pPr>
            <a:r>
              <a:rPr lang="en-US" altLang="zh-TW" sz="2600" kern="0" dirty="0"/>
              <a:t>Other information, such as the cache or control signals, either stays the same, is maintained by the OS, or can be reproduced.</a:t>
            </a:r>
          </a:p>
          <a:p>
            <a:pPr>
              <a:buFont typeface="Wingdings" panose="05000000000000000000" pitchFamily="2" charset="2"/>
              <a:buChar char="§"/>
            </a:pPr>
            <a:r>
              <a:rPr lang="en-US" altLang="zh-TW" sz="2600" kern="0" dirty="0"/>
              <a:t>To resume a program, just restore its </a:t>
            </a:r>
            <a:r>
              <a:rPr lang="en-US" altLang="zh-TW" sz="3200" b="1" kern="0" dirty="0">
                <a:solidFill>
                  <a:srgbClr val="FF0000"/>
                </a:solidFill>
              </a:rPr>
              <a:t>states.</a:t>
            </a:r>
          </a:p>
          <a:p>
            <a:pPr>
              <a:buFont typeface="Wingdings" panose="05000000000000000000" pitchFamily="2" charset="2"/>
              <a:buChar char="§"/>
            </a:pPr>
            <a:endParaRPr lang="en-US" altLang="zh-TW" sz="2933" kern="0" dirty="0"/>
          </a:p>
          <a:p>
            <a:pPr>
              <a:buFont typeface="Wingdings" panose="05000000000000000000" pitchFamily="2" charset="2"/>
              <a:buChar char="§"/>
            </a:pPr>
            <a:endParaRPr lang="en-US" altLang="zh-TW" sz="2667" kern="0" dirty="0"/>
          </a:p>
          <a:p>
            <a:pPr>
              <a:buFont typeface="Wingdings" pitchFamily="2" charset="2"/>
              <a:buNone/>
            </a:pPr>
            <a:endParaRPr lang="en-US" altLang="zh-TW" sz="2667" kern="0" dirty="0"/>
          </a:p>
        </p:txBody>
      </p:sp>
    </p:spTree>
    <p:extLst>
      <p:ext uri="{BB962C8B-B14F-4D97-AF65-F5344CB8AC3E}">
        <p14:creationId xmlns:p14="http://schemas.microsoft.com/office/powerpoint/2010/main" val="304678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Computer Simulation</a:t>
            </a:r>
          </a:p>
        </p:txBody>
      </p:sp>
      <p:sp>
        <p:nvSpPr>
          <p:cNvPr id="18435" name="Rectangle 3"/>
          <p:cNvSpPr>
            <a:spLocks noGrp="1" noChangeArrowheads="1"/>
          </p:cNvSpPr>
          <p:nvPr>
            <p:ph type="body" idx="1"/>
          </p:nvPr>
        </p:nvSpPr>
        <p:spPr>
          <a:xfrm>
            <a:off x="328736" y="1174447"/>
            <a:ext cx="11534527" cy="5041527"/>
          </a:xfrm>
        </p:spPr>
        <p:txBody>
          <a:bodyPr/>
          <a:lstStyle/>
          <a:p>
            <a:pPr>
              <a:buFont typeface="Wingdings" panose="05000000000000000000" pitchFamily="2" charset="2"/>
              <a:buChar char="§"/>
            </a:pPr>
            <a:r>
              <a:rPr lang="en-US" altLang="zh-TW" sz="2667" dirty="0"/>
              <a:t>Computer simulation is like creating a virtual version of a real-world process. </a:t>
            </a:r>
          </a:p>
          <a:p>
            <a:pPr>
              <a:buFont typeface="Wingdings" panose="05000000000000000000" pitchFamily="2" charset="2"/>
              <a:buChar char="§"/>
            </a:pPr>
            <a:r>
              <a:rPr lang="en-US" altLang="zh-TW" sz="2667" dirty="0"/>
              <a:t>We may view computer simulation as the simulation of computer architecture state changes:</a:t>
            </a:r>
          </a:p>
          <a:p>
            <a:pPr lvl="1">
              <a:buFont typeface="Wingdings" panose="05000000000000000000" pitchFamily="2" charset="2"/>
              <a:buChar char="§"/>
            </a:pPr>
            <a:r>
              <a:rPr lang="en-US" altLang="zh-TW" sz="2200" dirty="0">
                <a:solidFill>
                  <a:srgbClr val="FF0000"/>
                </a:solidFill>
              </a:rPr>
              <a:t>States as the Foundation</a:t>
            </a:r>
            <a:r>
              <a:rPr lang="en-US" altLang="zh-TW" sz="2200" dirty="0"/>
              <a:t>: registers, memory, …. define the current configuration and behavior of the system.</a:t>
            </a:r>
          </a:p>
          <a:p>
            <a:pPr lvl="1">
              <a:buFont typeface="Wingdings" panose="05000000000000000000" pitchFamily="2" charset="2"/>
              <a:buChar char="§"/>
            </a:pPr>
            <a:r>
              <a:rPr lang="en-US" altLang="zh-TW" sz="2200" dirty="0">
                <a:solidFill>
                  <a:srgbClr val="FF0000"/>
                </a:solidFill>
              </a:rPr>
              <a:t>Simulation as State Evolution</a:t>
            </a:r>
            <a:r>
              <a:rPr lang="en-US" altLang="zh-TW" sz="2200" dirty="0"/>
              <a:t>: A computer simulation models how these states change over time in response to instructions, inputs, and internal events. The single stepping in your debugging process is observing the state changes!!</a:t>
            </a:r>
          </a:p>
          <a:p>
            <a:pPr lvl="1">
              <a:buFont typeface="Wingdings" panose="05000000000000000000" pitchFamily="2" charset="2"/>
              <a:buChar char="§"/>
            </a:pPr>
            <a:r>
              <a:rPr lang="en-US" altLang="zh-TW" sz="2200" dirty="0">
                <a:solidFill>
                  <a:srgbClr val="FF0000"/>
                </a:solidFill>
              </a:rPr>
              <a:t>Instruction Execution</a:t>
            </a:r>
            <a:r>
              <a:rPr lang="en-US" altLang="zh-TW" sz="2200" dirty="0"/>
              <a:t>: Each instruction executed by the processor causes a change in the system's state. Registers are updated</a:t>
            </a:r>
            <a:r>
              <a:rPr lang="en-US" altLang="zh-TW" sz="2667" dirty="0"/>
              <a:t>!</a:t>
            </a:r>
          </a:p>
          <a:p>
            <a:pPr lvl="1">
              <a:buFont typeface="Wingdings" panose="05000000000000000000" pitchFamily="2" charset="2"/>
              <a:buChar char="§"/>
            </a:pPr>
            <a:r>
              <a:rPr lang="en-US" altLang="zh-TW" sz="2200" dirty="0"/>
              <a:t>External events: I/O and interrupts</a:t>
            </a:r>
          </a:p>
          <a:p>
            <a:pPr lvl="1">
              <a:buFont typeface="Wingdings" panose="05000000000000000000" pitchFamily="2" charset="2"/>
              <a:buChar char="§"/>
            </a:pPr>
            <a:r>
              <a:rPr lang="en-US" altLang="zh-TW" sz="2200" dirty="0">
                <a:solidFill>
                  <a:srgbClr val="FF0000"/>
                </a:solidFill>
              </a:rPr>
              <a:t>Micro-architectural modeling</a:t>
            </a:r>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47</a:t>
            </a:fld>
            <a:endParaRPr lang="zh-TW" altLang="en-US">
              <a:solidFill>
                <a:prstClr val="white"/>
              </a:solidFill>
            </a:endParaRPr>
          </a:p>
        </p:txBody>
      </p:sp>
    </p:spTree>
    <p:extLst>
      <p:ext uri="{BB962C8B-B14F-4D97-AF65-F5344CB8AC3E}">
        <p14:creationId xmlns:p14="http://schemas.microsoft.com/office/powerpoint/2010/main" val="9678882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60183" y="58739"/>
            <a:ext cx="9045869" cy="901700"/>
          </a:xfrm>
        </p:spPr>
        <p:txBody>
          <a:bodyPr/>
          <a:lstStyle/>
          <a:p>
            <a:r>
              <a:rPr lang="en-US" altLang="zh-TW" dirty="0"/>
              <a:t>A Single Cycle RISC-V Processor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48</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67" kern="0" dirty="0"/>
              <a:t> </a:t>
            </a:r>
            <a:r>
              <a:rPr lang="en-US" altLang="zh-TW" sz="3200" kern="0" dirty="0"/>
              <a:t>On every tick of the clock, the processor executes one instruction</a:t>
            </a:r>
          </a:p>
          <a:p>
            <a:pPr lvl="1">
              <a:buFont typeface="Wingdings" panose="05000000000000000000" pitchFamily="2" charset="2"/>
              <a:buChar char="Ø"/>
            </a:pPr>
            <a:r>
              <a:rPr lang="en-US" altLang="zh-TW" sz="2800" kern="0" dirty="0"/>
              <a:t>Current outputs of the state elements drive the inputs to the combinational logic.</a:t>
            </a:r>
          </a:p>
          <a:p>
            <a:pPr lvl="1">
              <a:buFont typeface="Wingdings" panose="05000000000000000000" pitchFamily="2" charset="2"/>
              <a:buChar char="Ø"/>
            </a:pPr>
            <a:r>
              <a:rPr lang="en-US" altLang="zh-TW" sz="2800" kern="0" dirty="0"/>
              <a:t>The outputs of the combinational logic settle at the inputs to the state elements before the rising of the next clock edge.</a:t>
            </a:r>
          </a:p>
          <a:p>
            <a:pPr>
              <a:buFont typeface="Wingdings" panose="05000000000000000000" pitchFamily="2" charset="2"/>
              <a:buChar char="§"/>
            </a:pPr>
            <a:r>
              <a:rPr lang="en-US" altLang="zh-TW" sz="3333" kern="0" dirty="0"/>
              <a:t>At the next rising edge of the clock</a:t>
            </a:r>
          </a:p>
          <a:p>
            <a:pPr lvl="1">
              <a:buFont typeface="Wingdings" panose="05000000000000000000" pitchFamily="2" charset="2"/>
              <a:buChar char="Ø"/>
            </a:pPr>
            <a:r>
              <a:rPr lang="en-US" altLang="zh-TW" sz="2800" kern="0" dirty="0"/>
              <a:t>All state elements are updated with the combinational logic outputs </a:t>
            </a:r>
          </a:p>
          <a:p>
            <a:pPr lvl="1">
              <a:buFont typeface="Wingdings" panose="05000000000000000000" pitchFamily="2" charset="2"/>
              <a:buChar char="Ø"/>
            </a:pPr>
            <a:r>
              <a:rPr lang="en-US" altLang="zh-TW" sz="2800" kern="0" dirty="0"/>
              <a:t>The execution moves to the next clock cycle</a:t>
            </a:r>
          </a:p>
        </p:txBody>
      </p:sp>
    </p:spTree>
    <p:extLst>
      <p:ext uri="{BB962C8B-B14F-4D97-AF65-F5344CB8AC3E}">
        <p14:creationId xmlns:p14="http://schemas.microsoft.com/office/powerpoint/2010/main" val="2215590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1270428" y="143436"/>
            <a:ext cx="9035624" cy="686441"/>
          </a:xfrm>
        </p:spPr>
        <p:txBody>
          <a:bodyPr/>
          <a:lstStyle/>
          <a:p>
            <a:r>
              <a:rPr lang="en-US" altLang="zh-TW" dirty="0">
                <a:cs typeface="Calibri" panose="020F0702030404030204" pitchFamily="34" charset="0"/>
              </a:rPr>
              <a:t>A Single Cycle Data Path</a:t>
            </a:r>
          </a:p>
        </p:txBody>
      </p:sp>
      <p:sp>
        <p:nvSpPr>
          <p:cNvPr id="4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49</a:t>
            </a:fld>
            <a:endParaRPr lang="zh-TW" altLang="en-US">
              <a:solidFill>
                <a:prstClr val="white"/>
              </a:solidFill>
            </a:endParaRPr>
          </a:p>
        </p:txBody>
      </p:sp>
      <p:pic>
        <p:nvPicPr>
          <p:cNvPr id="3" name="Picture 2">
            <a:extLst>
              <a:ext uri="{FF2B5EF4-FFF2-40B4-BE49-F238E27FC236}">
                <a16:creationId xmlns:a16="http://schemas.microsoft.com/office/drawing/2014/main" id="{263FBB95-9019-4710-8035-BBBCDDE7F1DE}"/>
              </a:ext>
            </a:extLst>
          </p:cNvPr>
          <p:cNvPicPr>
            <a:picLocks noChangeAspect="1"/>
          </p:cNvPicPr>
          <p:nvPr/>
        </p:nvPicPr>
        <p:blipFill>
          <a:blip r:embed="rId2"/>
          <a:stretch>
            <a:fillRect/>
          </a:stretch>
        </p:blipFill>
        <p:spPr>
          <a:xfrm>
            <a:off x="1099227" y="1044380"/>
            <a:ext cx="10359956" cy="5210899"/>
          </a:xfrm>
          <a:prstGeom prst="rect">
            <a:avLst/>
          </a:prstGeom>
        </p:spPr>
      </p:pic>
      <p:cxnSp>
        <p:nvCxnSpPr>
          <p:cNvPr id="5" name="Straight Arrow Connector 4">
            <a:extLst>
              <a:ext uri="{FF2B5EF4-FFF2-40B4-BE49-F238E27FC236}">
                <a16:creationId xmlns:a16="http://schemas.microsoft.com/office/drawing/2014/main" id="{814C2BC3-0A79-41B4-B81E-475315D5FA5C}"/>
              </a:ext>
            </a:extLst>
          </p:cNvPr>
          <p:cNvCxnSpPr/>
          <p:nvPr/>
        </p:nvCxnSpPr>
        <p:spPr bwMode="auto">
          <a:xfrm>
            <a:off x="8686800" y="1643974"/>
            <a:ext cx="0" cy="1313235"/>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6" name="Straight Connector 5">
            <a:extLst>
              <a:ext uri="{FF2B5EF4-FFF2-40B4-BE49-F238E27FC236}">
                <a16:creationId xmlns:a16="http://schemas.microsoft.com/office/drawing/2014/main" id="{1B229E37-0E09-494F-9475-999ACAED3B72}"/>
              </a:ext>
            </a:extLst>
          </p:cNvPr>
          <p:cNvCxnSpPr/>
          <p:nvPr/>
        </p:nvCxnSpPr>
        <p:spPr bwMode="auto">
          <a:xfrm>
            <a:off x="8677072" y="2957209"/>
            <a:ext cx="1945532" cy="0"/>
          </a:xfrm>
          <a:prstGeom prst="line">
            <a:avLst/>
          </a:prstGeom>
          <a:noFill/>
          <a:ln w="15875" cap="flat" cmpd="sng" algn="ctr">
            <a:solidFill>
              <a:srgbClr val="FF0000"/>
            </a:solidFill>
            <a:prstDash val="solid"/>
            <a:round/>
            <a:headEnd type="none" w="med" len="med"/>
            <a:tailEnd type="none" w="med" len="med"/>
          </a:ln>
          <a:effectLst/>
        </p:spPr>
      </p:cxnSp>
      <p:cxnSp>
        <p:nvCxnSpPr>
          <p:cNvPr id="7" name="Straight Arrow Connector 6">
            <a:extLst>
              <a:ext uri="{FF2B5EF4-FFF2-40B4-BE49-F238E27FC236}">
                <a16:creationId xmlns:a16="http://schemas.microsoft.com/office/drawing/2014/main" id="{3357E3F5-011A-4201-B600-0AAE30DAB884}"/>
              </a:ext>
            </a:extLst>
          </p:cNvPr>
          <p:cNvCxnSpPr/>
          <p:nvPr/>
        </p:nvCxnSpPr>
        <p:spPr bwMode="auto">
          <a:xfrm>
            <a:off x="10612877" y="2957209"/>
            <a:ext cx="0" cy="982493"/>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E3FEBB76-B293-40A6-8740-EB6D10184C4D}"/>
              </a:ext>
            </a:extLst>
          </p:cNvPr>
          <p:cNvSpPr txBox="1"/>
          <p:nvPr/>
        </p:nvSpPr>
        <p:spPr>
          <a:xfrm>
            <a:off x="8822987" y="2591388"/>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9" name="TextBox 8">
            <a:extLst>
              <a:ext uri="{FF2B5EF4-FFF2-40B4-BE49-F238E27FC236}">
                <a16:creationId xmlns:a16="http://schemas.microsoft.com/office/drawing/2014/main" id="{A551E6B6-4B44-456F-9E9C-32B8B7EC2157}"/>
              </a:ext>
            </a:extLst>
          </p:cNvPr>
          <p:cNvSpPr txBox="1"/>
          <p:nvPr/>
        </p:nvSpPr>
        <p:spPr>
          <a:xfrm>
            <a:off x="10622604" y="3448455"/>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10" name="Straight Arrow Connector 9">
            <a:extLst>
              <a:ext uri="{FF2B5EF4-FFF2-40B4-BE49-F238E27FC236}">
                <a16:creationId xmlns:a16="http://schemas.microsoft.com/office/drawing/2014/main" id="{58773836-BA0C-43AF-9804-618CA579B359}"/>
              </a:ext>
            </a:extLst>
          </p:cNvPr>
          <p:cNvCxnSpPr>
            <a:cxnSpLocks/>
          </p:cNvCxnSpPr>
          <p:nvPr/>
        </p:nvCxnSpPr>
        <p:spPr bwMode="auto">
          <a:xfrm>
            <a:off x="10807430" y="3659557"/>
            <a:ext cx="0" cy="280145"/>
          </a:xfrm>
          <a:prstGeom prst="straightConnector1">
            <a:avLst/>
          </a:prstGeom>
          <a:noFill/>
          <a:ln w="28575" cap="flat" cmpd="sng" algn="ctr">
            <a:solidFill>
              <a:srgbClr val="FF0000"/>
            </a:solidFill>
            <a:prstDash val="solid"/>
            <a:round/>
            <a:headEnd type="none" w="med" len="med"/>
            <a:tailEnd type="triangle"/>
          </a:ln>
          <a:effectLst/>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14400" y="58739"/>
            <a:ext cx="11038417" cy="901700"/>
          </a:xfrm>
        </p:spPr>
        <p:txBody>
          <a:bodyPr/>
          <a:lstStyle/>
          <a:p>
            <a:r>
              <a:rPr lang="en-US" altLang="zh-TW" sz="4000" dirty="0"/>
              <a:t>Limitations of a Single-Cycle Implementation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50</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67" kern="0" dirty="0"/>
              <a:t>Resources cannot be reused. So there are multiple adders – for PC updates, and for ALU.</a:t>
            </a:r>
          </a:p>
          <a:p>
            <a:pPr>
              <a:buFont typeface="Wingdings" panose="05000000000000000000" pitchFamily="2" charset="2"/>
              <a:buChar char="§"/>
            </a:pPr>
            <a:r>
              <a:rPr lang="en-US" altLang="zh-TW" sz="2667" kern="0" dirty="0"/>
              <a:t>Instruction memory and data memory are separated. In a single cycle, you may not go through the same combinational logic or the state more than once.</a:t>
            </a:r>
          </a:p>
          <a:p>
            <a:pPr>
              <a:buFont typeface="Wingdings" panose="05000000000000000000" pitchFamily="2" charset="2"/>
              <a:buChar char="§"/>
            </a:pPr>
            <a:r>
              <a:rPr lang="en-US" altLang="zh-TW" sz="2667" kern="0" dirty="0"/>
              <a:t>Do we need duplicated register file? How to read two registers, and write one at the same time?  We will need two </a:t>
            </a:r>
            <a:r>
              <a:rPr lang="en-US" altLang="zh-TW" sz="2667" kern="0" dirty="0">
                <a:solidFill>
                  <a:srgbClr val="FF0000"/>
                </a:solidFill>
              </a:rPr>
              <a:t>read ports</a:t>
            </a:r>
            <a:r>
              <a:rPr lang="en-US" altLang="zh-TW" sz="2667" kern="0" dirty="0"/>
              <a:t> and one </a:t>
            </a:r>
            <a:r>
              <a:rPr lang="en-US" altLang="zh-TW" sz="2667" kern="0" dirty="0">
                <a:solidFill>
                  <a:srgbClr val="FF0000"/>
                </a:solidFill>
              </a:rPr>
              <a:t>write port</a:t>
            </a:r>
            <a:r>
              <a:rPr lang="en-US" altLang="zh-TW" sz="2667" kern="0" dirty="0"/>
              <a:t>.</a:t>
            </a:r>
          </a:p>
          <a:p>
            <a:pPr>
              <a:buFont typeface="Wingdings" panose="05000000000000000000" pitchFamily="2" charset="2"/>
              <a:buChar char="§"/>
            </a:pPr>
            <a:r>
              <a:rPr lang="en-US" altLang="zh-TW" sz="2667" kern="0" dirty="0"/>
              <a:t>A single cycle design, registers are updated at the rise of the clock, and the registers are updated, and then the outputs from registers are send to the combinational logic. </a:t>
            </a:r>
            <a:endParaRPr lang="en-US" altLang="zh-TW" sz="2800" kern="0" dirty="0"/>
          </a:p>
        </p:txBody>
      </p:sp>
    </p:spTree>
    <p:extLst>
      <p:ext uri="{BB962C8B-B14F-4D97-AF65-F5344CB8AC3E}">
        <p14:creationId xmlns:p14="http://schemas.microsoft.com/office/powerpoint/2010/main" val="20599399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60183" y="58739"/>
            <a:ext cx="10692634" cy="901700"/>
          </a:xfrm>
        </p:spPr>
        <p:txBody>
          <a:bodyPr/>
          <a:lstStyle/>
          <a:p>
            <a:r>
              <a:rPr lang="en-US" altLang="zh-TW" sz="4000" dirty="0"/>
              <a:t>Inefficiency in a Single Cycle Implementation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51</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800" kern="0" dirty="0"/>
              <a:t>Some computations are iterative such as multiply and divide.</a:t>
            </a:r>
          </a:p>
          <a:p>
            <a:pPr>
              <a:buFont typeface="Wingdings" panose="05000000000000000000" pitchFamily="2" charset="2"/>
              <a:buChar char="§"/>
            </a:pPr>
            <a:r>
              <a:rPr lang="en-US" altLang="zh-TW" sz="2800" kern="0" dirty="0"/>
              <a:t>Multiply and divide may need to iterate through the same combinational logic resources many times. In a single-cycle implementation, the logic must be replicated many times.</a:t>
            </a:r>
          </a:p>
          <a:p>
            <a:pPr>
              <a:buFont typeface="Wingdings" panose="05000000000000000000" pitchFamily="2" charset="2"/>
              <a:buChar char="§"/>
            </a:pPr>
            <a:r>
              <a:rPr lang="en-US" altLang="zh-TW" sz="2800" kern="0" dirty="0"/>
              <a:t>The above implementation is way too expensive. So, one way to reduce the cost is to allow the implementation to iterate through the same resource using a counter. However, that means we need to use a faster clock to sync each step. Such instructions then become multi-cycle instructions.</a:t>
            </a:r>
          </a:p>
          <a:p>
            <a:pPr>
              <a:buFont typeface="Wingdings" panose="05000000000000000000" pitchFamily="2" charset="2"/>
              <a:buChar char="§"/>
            </a:pPr>
            <a:r>
              <a:rPr lang="en-US" altLang="zh-TW" sz="2800" kern="0" dirty="0"/>
              <a:t>Multi-cycle implementation is one step between single-cycle implementation and pipelined implementation.</a:t>
            </a:r>
          </a:p>
        </p:txBody>
      </p:sp>
    </p:spTree>
    <p:extLst>
      <p:ext uri="{BB962C8B-B14F-4D97-AF65-F5344CB8AC3E}">
        <p14:creationId xmlns:p14="http://schemas.microsoft.com/office/powerpoint/2010/main" val="28339512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6677" y="1330265"/>
            <a:ext cx="9575800" cy="460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37891" name="Rectangle 3"/>
          <p:cNvSpPr>
            <a:spLocks noGrp="1" noChangeArrowheads="1"/>
          </p:cNvSpPr>
          <p:nvPr>
            <p:ph type="title"/>
          </p:nvPr>
        </p:nvSpPr>
        <p:spPr>
          <a:xfrm>
            <a:off x="1270428" y="143436"/>
            <a:ext cx="9035624" cy="686441"/>
          </a:xfrm>
        </p:spPr>
        <p:txBody>
          <a:bodyPr/>
          <a:lstStyle/>
          <a:p>
            <a:r>
              <a:rPr lang="en-US" altLang="zh-TW" dirty="0">
                <a:cs typeface="Calibri" panose="020F0702030404030204" pitchFamily="34" charset="0"/>
              </a:rPr>
              <a:t>Data Flow during add </a:t>
            </a:r>
            <a:r>
              <a:rPr lang="en-US" altLang="zh-TW" dirty="0" err="1">
                <a:cs typeface="Calibri" panose="020F0702030404030204" pitchFamily="34" charset="0"/>
              </a:rPr>
              <a:t>rd</a:t>
            </a:r>
            <a:r>
              <a:rPr lang="en-US" altLang="zh-TW" dirty="0">
                <a:cs typeface="Calibri" panose="020F0702030404030204" pitchFamily="34" charset="0"/>
              </a:rPr>
              <a:t>, rs1, rs2</a:t>
            </a:r>
          </a:p>
        </p:txBody>
      </p:sp>
      <p:sp>
        <p:nvSpPr>
          <p:cNvPr id="37893" name="Text Box 6"/>
          <p:cNvSpPr txBox="1">
            <a:spLocks noChangeArrowheads="1"/>
          </p:cNvSpPr>
          <p:nvPr/>
        </p:nvSpPr>
        <p:spPr bwMode="auto">
          <a:xfrm rot="5400000" flipH="1">
            <a:off x="1021817" y="4359374"/>
            <a:ext cx="13520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50000"/>
              </a:spcBef>
              <a:buClrTx/>
              <a:buSzTx/>
              <a:buNone/>
            </a:pPr>
            <a:r>
              <a:rPr kumimoji="1" lang="zh-TW" altLang="en-US" sz="1600" dirty="0">
                <a:solidFill>
                  <a:srgbClr val="4F81BD"/>
                </a:solidFill>
                <a:latin typeface="Courier New" panose="02070309020205020404" pitchFamily="49" charset="0"/>
                <a:ea typeface="新細明體" panose="02020500000000000000" pitchFamily="18" charset="-120"/>
              </a:rPr>
              <a:t>100..0100</a:t>
            </a:r>
            <a:endParaRPr kumimoji="1" lang="zh-TW" altLang="en-US" sz="1800" b="0" dirty="0">
              <a:solidFill>
                <a:srgbClr val="4F81BD"/>
              </a:solidFill>
              <a:latin typeface="Arial" panose="020B0604020202090204" pitchFamily="34" charset="0"/>
              <a:ea typeface="新細明體" panose="02020500000000000000" pitchFamily="18" charset="-120"/>
            </a:endParaRPr>
          </a:p>
        </p:txBody>
      </p:sp>
      <p:sp>
        <p:nvSpPr>
          <p:cNvPr id="376839" name="Line 7"/>
          <p:cNvSpPr>
            <a:spLocks noChangeShapeType="1"/>
          </p:cNvSpPr>
          <p:nvPr/>
        </p:nvSpPr>
        <p:spPr bwMode="auto">
          <a:xfrm>
            <a:off x="1885951" y="3555147"/>
            <a:ext cx="9906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0" name="Freeform 8"/>
          <p:cNvSpPr/>
          <p:nvPr/>
        </p:nvSpPr>
        <p:spPr bwMode="auto">
          <a:xfrm>
            <a:off x="2876551" y="4013936"/>
            <a:ext cx="1095375" cy="7937"/>
          </a:xfrm>
          <a:custGeom>
            <a:avLst/>
            <a:gdLst>
              <a:gd name="T0" fmla="*/ 2147483647 w 637"/>
              <a:gd name="T1" fmla="*/ 2147483647 h 5"/>
              <a:gd name="T2" fmla="*/ 0 w 637"/>
              <a:gd name="T3" fmla="*/ 0 h 5"/>
              <a:gd name="T4" fmla="*/ 0 60000 65536"/>
              <a:gd name="T5" fmla="*/ 0 60000 65536"/>
              <a:gd name="T6" fmla="*/ 0 w 637"/>
              <a:gd name="T7" fmla="*/ 0 h 5"/>
              <a:gd name="T8" fmla="*/ 637 w 637"/>
              <a:gd name="T9" fmla="*/ 5 h 5"/>
            </a:gdLst>
            <a:ahLst/>
            <a:cxnLst>
              <a:cxn ang="T4">
                <a:pos x="T0" y="T1"/>
              </a:cxn>
              <a:cxn ang="T5">
                <a:pos x="T2" y="T3"/>
              </a:cxn>
            </a:cxnLst>
            <a:rect l="T6" t="T7" r="T8" b="T9"/>
            <a:pathLst>
              <a:path w="637" h="5">
                <a:moveTo>
                  <a:pt x="637" y="5"/>
                </a:move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1" name="Line 9"/>
          <p:cNvSpPr>
            <a:spLocks noChangeShapeType="1"/>
          </p:cNvSpPr>
          <p:nvPr/>
        </p:nvSpPr>
        <p:spPr bwMode="auto">
          <a:xfrm>
            <a:off x="2876551" y="3555147"/>
            <a:ext cx="0" cy="4572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2" name="Line 10"/>
          <p:cNvSpPr>
            <a:spLocks noChangeShapeType="1"/>
          </p:cNvSpPr>
          <p:nvPr/>
        </p:nvSpPr>
        <p:spPr bwMode="auto">
          <a:xfrm>
            <a:off x="2051051" y="1726347"/>
            <a:ext cx="0" cy="1828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3" name="Line 11"/>
          <p:cNvSpPr>
            <a:spLocks noChangeShapeType="1"/>
          </p:cNvSpPr>
          <p:nvPr/>
        </p:nvSpPr>
        <p:spPr bwMode="auto">
          <a:xfrm flipH="1">
            <a:off x="2051051" y="1726347"/>
            <a:ext cx="6604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4" name="Line 12"/>
          <p:cNvSpPr>
            <a:spLocks noChangeShapeType="1"/>
          </p:cNvSpPr>
          <p:nvPr/>
        </p:nvSpPr>
        <p:spPr bwMode="auto">
          <a:xfrm flipH="1">
            <a:off x="3929064" y="3478947"/>
            <a:ext cx="20637" cy="725488"/>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5" name="Line 13"/>
          <p:cNvSpPr>
            <a:spLocks noChangeShapeType="1"/>
          </p:cNvSpPr>
          <p:nvPr/>
        </p:nvSpPr>
        <p:spPr bwMode="auto">
          <a:xfrm flipH="1">
            <a:off x="3949701" y="3478947"/>
            <a:ext cx="4127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6" name="Line 14"/>
          <p:cNvSpPr>
            <a:spLocks noChangeShapeType="1"/>
          </p:cNvSpPr>
          <p:nvPr/>
        </p:nvSpPr>
        <p:spPr bwMode="auto">
          <a:xfrm flipH="1">
            <a:off x="3949701" y="3859947"/>
            <a:ext cx="4127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7" name="Freeform 15"/>
          <p:cNvSpPr/>
          <p:nvPr/>
        </p:nvSpPr>
        <p:spPr bwMode="auto">
          <a:xfrm>
            <a:off x="2711451" y="1726347"/>
            <a:ext cx="498475" cy="387351"/>
          </a:xfrm>
          <a:custGeom>
            <a:avLst/>
            <a:gdLst>
              <a:gd name="T0" fmla="*/ 2147483647 w 290"/>
              <a:gd name="T1" fmla="*/ 2147483647 h 244"/>
              <a:gd name="T2" fmla="*/ 2147483647 w 290"/>
              <a:gd name="T3" fmla="*/ 2147483647 h 244"/>
              <a:gd name="T4" fmla="*/ 0 w 290"/>
              <a:gd name="T5" fmla="*/ 0 h 244"/>
              <a:gd name="T6" fmla="*/ 0 60000 65536"/>
              <a:gd name="T7" fmla="*/ 0 60000 65536"/>
              <a:gd name="T8" fmla="*/ 0 60000 65536"/>
              <a:gd name="T9" fmla="*/ 0 w 290"/>
              <a:gd name="T10" fmla="*/ 0 h 244"/>
              <a:gd name="T11" fmla="*/ 290 w 290"/>
              <a:gd name="T12" fmla="*/ 244 h 244"/>
            </a:gdLst>
            <a:ahLst/>
            <a:cxnLst>
              <a:cxn ang="T6">
                <a:pos x="T0" y="T1"/>
              </a:cxn>
              <a:cxn ang="T7">
                <a:pos x="T2" y="T3"/>
              </a:cxn>
              <a:cxn ang="T8">
                <a:pos x="T4" y="T5"/>
              </a:cxn>
            </a:cxnLst>
            <a:rect l="T9" t="T10" r="T11" b="T12"/>
            <a:pathLst>
              <a:path w="290" h="244">
                <a:moveTo>
                  <a:pt x="288" y="192"/>
                </a:moveTo>
                <a:lnTo>
                  <a:pt x="290" y="244"/>
                </a:ln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8" name="Freeform 16"/>
          <p:cNvSpPr/>
          <p:nvPr/>
        </p:nvSpPr>
        <p:spPr bwMode="auto">
          <a:xfrm>
            <a:off x="3197226" y="2107347"/>
            <a:ext cx="2651125" cy="6351"/>
          </a:xfrm>
          <a:custGeom>
            <a:avLst/>
            <a:gdLst>
              <a:gd name="T0" fmla="*/ 2147483647 w 1542"/>
              <a:gd name="T1" fmla="*/ 0 h 4"/>
              <a:gd name="T2" fmla="*/ 0 w 1542"/>
              <a:gd name="T3" fmla="*/ 2147483647 h 4"/>
              <a:gd name="T4" fmla="*/ 0 60000 65536"/>
              <a:gd name="T5" fmla="*/ 0 60000 65536"/>
              <a:gd name="T6" fmla="*/ 0 w 1542"/>
              <a:gd name="T7" fmla="*/ 0 h 4"/>
              <a:gd name="T8" fmla="*/ 1542 w 1542"/>
              <a:gd name="T9" fmla="*/ 4 h 4"/>
            </a:gdLst>
            <a:ahLst/>
            <a:cxnLst>
              <a:cxn ang="T4">
                <a:pos x="T0" y="T1"/>
              </a:cxn>
              <a:cxn ang="T5">
                <a:pos x="T2" y="T3"/>
              </a:cxn>
            </a:cxnLst>
            <a:rect l="T6" t="T7" r="T8" b="T9"/>
            <a:pathLst>
              <a:path w="1542" h="4">
                <a:moveTo>
                  <a:pt x="1542" y="0"/>
                </a:moveTo>
                <a:lnTo>
                  <a:pt x="0" y="4"/>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9" name="Line 17"/>
          <p:cNvSpPr>
            <a:spLocks noChangeShapeType="1"/>
          </p:cNvSpPr>
          <p:nvPr/>
        </p:nvSpPr>
        <p:spPr bwMode="auto">
          <a:xfrm>
            <a:off x="5848351" y="1802547"/>
            <a:ext cx="0"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0" name="Line 18"/>
          <p:cNvSpPr>
            <a:spLocks noChangeShapeType="1"/>
          </p:cNvSpPr>
          <p:nvPr/>
        </p:nvSpPr>
        <p:spPr bwMode="auto">
          <a:xfrm flipH="1">
            <a:off x="5848351" y="1802547"/>
            <a:ext cx="31369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1" name="Line 19"/>
          <p:cNvSpPr>
            <a:spLocks noChangeShapeType="1"/>
          </p:cNvSpPr>
          <p:nvPr/>
        </p:nvSpPr>
        <p:spPr bwMode="auto">
          <a:xfrm>
            <a:off x="4279900" y="3478947"/>
            <a:ext cx="1568451" cy="152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2" name="Line 20"/>
          <p:cNvSpPr>
            <a:spLocks noChangeShapeType="1"/>
          </p:cNvSpPr>
          <p:nvPr/>
        </p:nvSpPr>
        <p:spPr bwMode="auto">
          <a:xfrm>
            <a:off x="5848351" y="3631347"/>
            <a:ext cx="13208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3" name="Line 21"/>
          <p:cNvSpPr>
            <a:spLocks noChangeShapeType="1"/>
          </p:cNvSpPr>
          <p:nvPr/>
        </p:nvSpPr>
        <p:spPr bwMode="auto">
          <a:xfrm>
            <a:off x="4362451" y="3859947"/>
            <a:ext cx="1485900"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4" name="Line 22"/>
          <p:cNvSpPr>
            <a:spLocks noChangeShapeType="1"/>
          </p:cNvSpPr>
          <p:nvPr/>
        </p:nvSpPr>
        <p:spPr bwMode="auto">
          <a:xfrm>
            <a:off x="5848351" y="4164747"/>
            <a:ext cx="24765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5" name="Line 23"/>
          <p:cNvSpPr>
            <a:spLocks noChangeShapeType="1"/>
          </p:cNvSpPr>
          <p:nvPr/>
        </p:nvSpPr>
        <p:spPr bwMode="auto">
          <a:xfrm>
            <a:off x="7169149" y="3631347"/>
            <a:ext cx="908051" cy="533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6" name="Line 24"/>
          <p:cNvSpPr>
            <a:spLocks noChangeShapeType="1"/>
          </p:cNvSpPr>
          <p:nvPr/>
        </p:nvSpPr>
        <p:spPr bwMode="auto">
          <a:xfrm>
            <a:off x="8324851" y="4164747"/>
            <a:ext cx="0" cy="1524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7" name="Freeform 25"/>
          <p:cNvSpPr/>
          <p:nvPr/>
        </p:nvSpPr>
        <p:spPr bwMode="auto">
          <a:xfrm>
            <a:off x="8324851" y="5674461"/>
            <a:ext cx="1752600" cy="14287"/>
          </a:xfrm>
          <a:custGeom>
            <a:avLst/>
            <a:gdLst>
              <a:gd name="T0" fmla="*/ 0 w 1019"/>
              <a:gd name="T1" fmla="*/ 2147483647 h 9"/>
              <a:gd name="T2" fmla="*/ 2147483647 w 1019"/>
              <a:gd name="T3" fmla="*/ 0 h 9"/>
              <a:gd name="T4" fmla="*/ 0 60000 65536"/>
              <a:gd name="T5" fmla="*/ 0 60000 65536"/>
              <a:gd name="T6" fmla="*/ 0 w 1019"/>
              <a:gd name="T7" fmla="*/ 0 h 9"/>
              <a:gd name="T8" fmla="*/ 1019 w 1019"/>
              <a:gd name="T9" fmla="*/ 9 h 9"/>
            </a:gdLst>
            <a:ahLst/>
            <a:cxnLst>
              <a:cxn ang="T4">
                <a:pos x="T0" y="T1"/>
              </a:cxn>
              <a:cxn ang="T5">
                <a:pos x="T2" y="T3"/>
              </a:cxn>
            </a:cxnLst>
            <a:rect l="T6" t="T7" r="T8" b="T9"/>
            <a:pathLst>
              <a:path w="1019" h="9">
                <a:moveTo>
                  <a:pt x="0" y="9"/>
                </a:moveTo>
                <a:lnTo>
                  <a:pt x="1019"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58" name="Line 26"/>
          <p:cNvSpPr>
            <a:spLocks noChangeShapeType="1"/>
          </p:cNvSpPr>
          <p:nvPr/>
        </p:nvSpPr>
        <p:spPr bwMode="auto">
          <a:xfrm>
            <a:off x="10058400" y="4698147"/>
            <a:ext cx="0" cy="990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9" name="Line 27"/>
          <p:cNvSpPr>
            <a:spLocks noChangeShapeType="1"/>
          </p:cNvSpPr>
          <p:nvPr/>
        </p:nvSpPr>
        <p:spPr bwMode="auto">
          <a:xfrm>
            <a:off x="10058401" y="4698147"/>
            <a:ext cx="1651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1" name="Line 29"/>
          <p:cNvSpPr>
            <a:spLocks noChangeShapeType="1"/>
          </p:cNvSpPr>
          <p:nvPr/>
        </p:nvSpPr>
        <p:spPr bwMode="auto">
          <a:xfrm flipV="1">
            <a:off x="10223500" y="4393347"/>
            <a:ext cx="247651"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2" name="Line 30"/>
          <p:cNvSpPr>
            <a:spLocks noChangeShapeType="1"/>
          </p:cNvSpPr>
          <p:nvPr/>
        </p:nvSpPr>
        <p:spPr bwMode="auto">
          <a:xfrm>
            <a:off x="10471151" y="4393347"/>
            <a:ext cx="1651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4" name="Line 32"/>
          <p:cNvSpPr>
            <a:spLocks noChangeShapeType="1"/>
          </p:cNvSpPr>
          <p:nvPr/>
        </p:nvSpPr>
        <p:spPr bwMode="auto">
          <a:xfrm>
            <a:off x="10636251" y="4393347"/>
            <a:ext cx="0" cy="1524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5" name="Line 33"/>
          <p:cNvSpPr>
            <a:spLocks noChangeShapeType="1"/>
          </p:cNvSpPr>
          <p:nvPr/>
        </p:nvSpPr>
        <p:spPr bwMode="auto">
          <a:xfrm flipH="1">
            <a:off x="4114800" y="5917347"/>
            <a:ext cx="65214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6" name="Line 34"/>
          <p:cNvSpPr>
            <a:spLocks noChangeShapeType="1"/>
          </p:cNvSpPr>
          <p:nvPr/>
        </p:nvSpPr>
        <p:spPr bwMode="auto">
          <a:xfrm flipH="1" flipV="1">
            <a:off x="4114800" y="4545747"/>
            <a:ext cx="0" cy="1371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7" name="Line 35"/>
          <p:cNvSpPr>
            <a:spLocks noChangeShapeType="1"/>
          </p:cNvSpPr>
          <p:nvPr/>
        </p:nvSpPr>
        <p:spPr bwMode="auto">
          <a:xfrm flipH="1" flipV="1">
            <a:off x="8985249" y="1802547"/>
            <a:ext cx="247651"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8" name="Line 36"/>
          <p:cNvSpPr>
            <a:spLocks noChangeShapeType="1"/>
          </p:cNvSpPr>
          <p:nvPr/>
        </p:nvSpPr>
        <p:spPr bwMode="auto">
          <a:xfrm flipH="1" flipV="1">
            <a:off x="9232901" y="2107347"/>
            <a:ext cx="825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9" name="Line 37"/>
          <p:cNvSpPr>
            <a:spLocks noChangeShapeType="1"/>
          </p:cNvSpPr>
          <p:nvPr/>
        </p:nvSpPr>
        <p:spPr bwMode="auto">
          <a:xfrm flipH="1">
            <a:off x="9315451" y="1345347"/>
            <a:ext cx="0" cy="762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70" name="Freeform 38"/>
          <p:cNvSpPr/>
          <p:nvPr/>
        </p:nvSpPr>
        <p:spPr bwMode="auto">
          <a:xfrm>
            <a:off x="1336677" y="1348523"/>
            <a:ext cx="7978775" cy="9525"/>
          </a:xfrm>
          <a:custGeom>
            <a:avLst/>
            <a:gdLst>
              <a:gd name="T0" fmla="*/ 2147483647 w 4639"/>
              <a:gd name="T1" fmla="*/ 0 h 6"/>
              <a:gd name="T2" fmla="*/ 0 w 4639"/>
              <a:gd name="T3" fmla="*/ 2147483647 h 6"/>
              <a:gd name="T4" fmla="*/ 0 60000 65536"/>
              <a:gd name="T5" fmla="*/ 0 60000 65536"/>
              <a:gd name="T6" fmla="*/ 0 w 4639"/>
              <a:gd name="T7" fmla="*/ 0 h 6"/>
              <a:gd name="T8" fmla="*/ 4639 w 4639"/>
              <a:gd name="T9" fmla="*/ 6 h 6"/>
            </a:gdLst>
            <a:ahLst/>
            <a:cxnLst>
              <a:cxn ang="T4">
                <a:pos x="T0" y="T1"/>
              </a:cxn>
              <a:cxn ang="T5">
                <a:pos x="T2" y="T3"/>
              </a:cxn>
            </a:cxnLst>
            <a:rect l="T6" t="T7" r="T8" b="T9"/>
            <a:pathLst>
              <a:path w="4639" h="6">
                <a:moveTo>
                  <a:pt x="4639" y="0"/>
                </a:moveTo>
                <a:lnTo>
                  <a:pt x="0" y="6"/>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71" name="Line 39"/>
          <p:cNvSpPr>
            <a:spLocks noChangeShapeType="1"/>
          </p:cNvSpPr>
          <p:nvPr/>
        </p:nvSpPr>
        <p:spPr bwMode="auto">
          <a:xfrm flipV="1">
            <a:off x="1308100" y="1345347"/>
            <a:ext cx="0" cy="2209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72" name="AutoShape 40"/>
          <p:cNvSpPr>
            <a:spLocks noChangeArrowheads="1"/>
          </p:cNvSpPr>
          <p:nvPr/>
        </p:nvSpPr>
        <p:spPr bwMode="auto">
          <a:xfrm>
            <a:off x="4197351" y="4393347"/>
            <a:ext cx="165100" cy="38100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376873" name="AutoShape 41"/>
          <p:cNvSpPr>
            <a:spLocks noChangeArrowheads="1"/>
          </p:cNvSpPr>
          <p:nvPr/>
        </p:nvSpPr>
        <p:spPr bwMode="auto">
          <a:xfrm>
            <a:off x="1390651" y="3402747"/>
            <a:ext cx="165100" cy="38100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37929" name="Text Box 43"/>
          <p:cNvSpPr txBox="1">
            <a:spLocks noChangeArrowheads="1"/>
          </p:cNvSpPr>
          <p:nvPr/>
        </p:nvSpPr>
        <p:spPr bwMode="auto">
          <a:xfrm>
            <a:off x="7208838" y="3088423"/>
            <a:ext cx="234951" cy="338554"/>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en-US" altLang="zh-TW" sz="1600" b="0" dirty="0">
              <a:solidFill>
                <a:srgbClr val="FF6600"/>
              </a:solidFill>
              <a:latin typeface="Times New Roman" panose="02020703060505090304" pitchFamily="18" charset="0"/>
              <a:ea typeface="新細明體" panose="02020500000000000000" pitchFamily="18" charset="-120"/>
            </a:endParaRPr>
          </a:p>
        </p:txBody>
      </p:sp>
      <p:sp>
        <p:nvSpPr>
          <p:cNvPr id="376876" name="Line 44"/>
          <p:cNvSpPr>
            <a:spLocks noChangeShapeType="1"/>
          </p:cNvSpPr>
          <p:nvPr/>
        </p:nvSpPr>
        <p:spPr bwMode="auto">
          <a:xfrm>
            <a:off x="3971926" y="4213960"/>
            <a:ext cx="339725"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4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52</a:t>
            </a:fld>
            <a:endParaRPr lang="zh-TW" altLang="en-US">
              <a:solidFill>
                <a:prstClr val="white"/>
              </a:solidFill>
            </a:endParaRPr>
          </a:p>
        </p:txBody>
      </p:sp>
      <p:sp>
        <p:nvSpPr>
          <p:cNvPr id="45" name="TextBox 44">
            <a:extLst>
              <a:ext uri="{FF2B5EF4-FFF2-40B4-BE49-F238E27FC236}">
                <a16:creationId xmlns:a16="http://schemas.microsoft.com/office/drawing/2014/main" id="{7BBB5C04-E989-4B87-9971-2B9FE408D426}"/>
              </a:ext>
            </a:extLst>
          </p:cNvPr>
          <p:cNvSpPr txBox="1"/>
          <p:nvPr/>
        </p:nvSpPr>
        <p:spPr>
          <a:xfrm>
            <a:off x="6660268" y="2672150"/>
            <a:ext cx="356188"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1</a:t>
            </a:r>
          </a:p>
        </p:txBody>
      </p:sp>
      <p:sp>
        <p:nvSpPr>
          <p:cNvPr id="46" name="TextBox 45">
            <a:extLst>
              <a:ext uri="{FF2B5EF4-FFF2-40B4-BE49-F238E27FC236}">
                <a16:creationId xmlns:a16="http://schemas.microsoft.com/office/drawing/2014/main" id="{0C4DFCCF-7B98-4B25-BE80-6A88BCD6626B}"/>
              </a:ext>
            </a:extLst>
          </p:cNvPr>
          <p:cNvSpPr txBox="1"/>
          <p:nvPr/>
        </p:nvSpPr>
        <p:spPr>
          <a:xfrm>
            <a:off x="4675762" y="4895731"/>
            <a:ext cx="527709"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12</a:t>
            </a:r>
          </a:p>
        </p:txBody>
      </p:sp>
      <p:cxnSp>
        <p:nvCxnSpPr>
          <p:cNvPr id="47" name="Straight Arrow Connector 46">
            <a:extLst>
              <a:ext uri="{FF2B5EF4-FFF2-40B4-BE49-F238E27FC236}">
                <a16:creationId xmlns:a16="http://schemas.microsoft.com/office/drawing/2014/main" id="{73A1EFB7-F697-4209-973A-E2C28922F1B6}"/>
              </a:ext>
            </a:extLst>
          </p:cNvPr>
          <p:cNvCxnSpPr/>
          <p:nvPr/>
        </p:nvCxnSpPr>
        <p:spPr bwMode="auto">
          <a:xfrm>
            <a:off x="8693797" y="1796835"/>
            <a:ext cx="0" cy="1313235"/>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48" name="Straight Connector 47">
            <a:extLst>
              <a:ext uri="{FF2B5EF4-FFF2-40B4-BE49-F238E27FC236}">
                <a16:creationId xmlns:a16="http://schemas.microsoft.com/office/drawing/2014/main" id="{97ACBCF0-4550-4445-B860-1C62D2F911F1}"/>
              </a:ext>
            </a:extLst>
          </p:cNvPr>
          <p:cNvCxnSpPr>
            <a:cxnSpLocks/>
          </p:cNvCxnSpPr>
          <p:nvPr/>
        </p:nvCxnSpPr>
        <p:spPr bwMode="auto">
          <a:xfrm>
            <a:off x="8684069" y="3110070"/>
            <a:ext cx="1705071" cy="0"/>
          </a:xfrm>
          <a:prstGeom prst="line">
            <a:avLst/>
          </a:prstGeom>
          <a:noFill/>
          <a:ln w="15875" cap="flat" cmpd="sng" algn="ctr">
            <a:solidFill>
              <a:srgbClr val="FF0000"/>
            </a:solidFill>
            <a:prstDash val="solid"/>
            <a:round/>
            <a:headEnd type="none" w="med" len="med"/>
            <a:tailEnd type="none" w="med" len="med"/>
          </a:ln>
          <a:effectLst/>
        </p:spPr>
      </p:cxnSp>
      <p:cxnSp>
        <p:nvCxnSpPr>
          <p:cNvPr id="49" name="Straight Arrow Connector 48">
            <a:extLst>
              <a:ext uri="{FF2B5EF4-FFF2-40B4-BE49-F238E27FC236}">
                <a16:creationId xmlns:a16="http://schemas.microsoft.com/office/drawing/2014/main" id="{0A02DEC6-450E-44A0-9652-371B8A52BB53}"/>
              </a:ext>
            </a:extLst>
          </p:cNvPr>
          <p:cNvCxnSpPr>
            <a:cxnSpLocks/>
          </p:cNvCxnSpPr>
          <p:nvPr/>
        </p:nvCxnSpPr>
        <p:spPr bwMode="auto">
          <a:xfrm>
            <a:off x="10389140" y="3088423"/>
            <a:ext cx="0" cy="933450"/>
          </a:xfrm>
          <a:prstGeom prst="straightConnector1">
            <a:avLst/>
          </a:prstGeom>
          <a:noFill/>
          <a:ln w="15875" cap="flat" cmpd="sng" algn="ctr">
            <a:solidFill>
              <a:srgbClr val="FF0000"/>
            </a:solidFill>
            <a:prstDash val="solid"/>
            <a:round/>
            <a:headEnd type="none" w="med" len="med"/>
            <a:tailEnd type="triangle"/>
          </a:ln>
          <a:effectLst/>
        </p:spPr>
      </p:cxnSp>
      <p:sp>
        <p:nvSpPr>
          <p:cNvPr id="50" name="TextBox 49">
            <a:extLst>
              <a:ext uri="{FF2B5EF4-FFF2-40B4-BE49-F238E27FC236}">
                <a16:creationId xmlns:a16="http://schemas.microsoft.com/office/drawing/2014/main" id="{6BF4A7D9-6183-489B-90C4-C7A11111A9FD}"/>
              </a:ext>
            </a:extLst>
          </p:cNvPr>
          <p:cNvSpPr txBox="1"/>
          <p:nvPr/>
        </p:nvSpPr>
        <p:spPr>
          <a:xfrm>
            <a:off x="8829984" y="2744249"/>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51" name="TextBox 50">
            <a:extLst>
              <a:ext uri="{FF2B5EF4-FFF2-40B4-BE49-F238E27FC236}">
                <a16:creationId xmlns:a16="http://schemas.microsoft.com/office/drawing/2014/main" id="{AB68EA72-8041-4F83-A293-D56DB90B25C3}"/>
              </a:ext>
            </a:extLst>
          </p:cNvPr>
          <p:cNvSpPr txBox="1"/>
          <p:nvPr/>
        </p:nvSpPr>
        <p:spPr>
          <a:xfrm>
            <a:off x="10085423" y="3513452"/>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52" name="Straight Arrow Connector 51">
            <a:extLst>
              <a:ext uri="{FF2B5EF4-FFF2-40B4-BE49-F238E27FC236}">
                <a16:creationId xmlns:a16="http://schemas.microsoft.com/office/drawing/2014/main" id="{04F4144B-1604-48C9-B173-0B6E73352F64}"/>
              </a:ext>
            </a:extLst>
          </p:cNvPr>
          <p:cNvCxnSpPr>
            <a:cxnSpLocks/>
          </p:cNvCxnSpPr>
          <p:nvPr/>
        </p:nvCxnSpPr>
        <p:spPr bwMode="auto">
          <a:xfrm>
            <a:off x="10471151" y="3826697"/>
            <a:ext cx="0" cy="280145"/>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13679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76839"/>
                                        </p:tgtEl>
                                        <p:attrNameLst>
                                          <p:attrName>style.visibility</p:attrName>
                                        </p:attrNameLst>
                                      </p:cBhvr>
                                      <p:to>
                                        <p:strVal val="visible"/>
                                      </p:to>
                                    </p:set>
                                    <p:anim calcmode="lin" valueType="num">
                                      <p:cBhvr>
                                        <p:cTn id="7" dur="500" fill="hold"/>
                                        <p:tgtEl>
                                          <p:spTgt spid="376839"/>
                                        </p:tgtEl>
                                        <p:attrNameLst>
                                          <p:attrName>ppt_x</p:attrName>
                                        </p:attrNameLst>
                                      </p:cBhvr>
                                      <p:tavLst>
                                        <p:tav tm="0">
                                          <p:val>
                                            <p:strVal val="#ppt_x-#ppt_w/2"/>
                                          </p:val>
                                        </p:tav>
                                        <p:tav tm="100000">
                                          <p:val>
                                            <p:strVal val="#ppt_x"/>
                                          </p:val>
                                        </p:tav>
                                      </p:tavLst>
                                    </p:anim>
                                    <p:anim calcmode="lin" valueType="num">
                                      <p:cBhvr>
                                        <p:cTn id="8" dur="500" fill="hold"/>
                                        <p:tgtEl>
                                          <p:spTgt spid="376839"/>
                                        </p:tgtEl>
                                        <p:attrNameLst>
                                          <p:attrName>ppt_y</p:attrName>
                                        </p:attrNameLst>
                                      </p:cBhvr>
                                      <p:tavLst>
                                        <p:tav tm="0">
                                          <p:val>
                                            <p:strVal val="#ppt_y"/>
                                          </p:val>
                                        </p:tav>
                                        <p:tav tm="100000">
                                          <p:val>
                                            <p:strVal val="#ppt_y"/>
                                          </p:val>
                                        </p:tav>
                                      </p:tavLst>
                                    </p:anim>
                                    <p:anim calcmode="lin" valueType="num">
                                      <p:cBhvr>
                                        <p:cTn id="9" dur="500" fill="hold"/>
                                        <p:tgtEl>
                                          <p:spTgt spid="376839"/>
                                        </p:tgtEl>
                                        <p:attrNameLst>
                                          <p:attrName>ppt_w</p:attrName>
                                        </p:attrNameLst>
                                      </p:cBhvr>
                                      <p:tavLst>
                                        <p:tav tm="0">
                                          <p:val>
                                            <p:fltVal val="0"/>
                                          </p:val>
                                        </p:tav>
                                        <p:tav tm="100000">
                                          <p:val>
                                            <p:strVal val="#ppt_w"/>
                                          </p:val>
                                        </p:tav>
                                      </p:tavLst>
                                    </p:anim>
                                    <p:anim calcmode="lin" valueType="num">
                                      <p:cBhvr>
                                        <p:cTn id="10" dur="500" fill="hold"/>
                                        <p:tgtEl>
                                          <p:spTgt spid="37683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1" fill="hold" nodeType="afterEffect">
                                  <p:stCondLst>
                                    <p:cond delay="0"/>
                                  </p:stCondLst>
                                  <p:childTnLst>
                                    <p:set>
                                      <p:cBhvr>
                                        <p:cTn id="13" dur="1" fill="hold">
                                          <p:stCondLst>
                                            <p:cond delay="0"/>
                                          </p:stCondLst>
                                        </p:cTn>
                                        <p:tgtEl>
                                          <p:spTgt spid="376841"/>
                                        </p:tgtEl>
                                        <p:attrNameLst>
                                          <p:attrName>style.visibility</p:attrName>
                                        </p:attrNameLst>
                                      </p:cBhvr>
                                      <p:to>
                                        <p:strVal val="visible"/>
                                      </p:to>
                                    </p:set>
                                    <p:anim calcmode="lin" valueType="num">
                                      <p:cBhvr>
                                        <p:cTn id="14" dur="500" fill="hold"/>
                                        <p:tgtEl>
                                          <p:spTgt spid="376841"/>
                                        </p:tgtEl>
                                        <p:attrNameLst>
                                          <p:attrName>ppt_x</p:attrName>
                                        </p:attrNameLst>
                                      </p:cBhvr>
                                      <p:tavLst>
                                        <p:tav tm="0">
                                          <p:val>
                                            <p:strVal val="#ppt_x"/>
                                          </p:val>
                                        </p:tav>
                                        <p:tav tm="100000">
                                          <p:val>
                                            <p:strVal val="#ppt_x"/>
                                          </p:val>
                                        </p:tav>
                                      </p:tavLst>
                                    </p:anim>
                                    <p:anim calcmode="lin" valueType="num">
                                      <p:cBhvr>
                                        <p:cTn id="15" dur="500" fill="hold"/>
                                        <p:tgtEl>
                                          <p:spTgt spid="376841"/>
                                        </p:tgtEl>
                                        <p:attrNameLst>
                                          <p:attrName>ppt_y</p:attrName>
                                        </p:attrNameLst>
                                      </p:cBhvr>
                                      <p:tavLst>
                                        <p:tav tm="0">
                                          <p:val>
                                            <p:strVal val="#ppt_y-#ppt_h/2"/>
                                          </p:val>
                                        </p:tav>
                                        <p:tav tm="100000">
                                          <p:val>
                                            <p:strVal val="#ppt_y"/>
                                          </p:val>
                                        </p:tav>
                                      </p:tavLst>
                                    </p:anim>
                                    <p:anim calcmode="lin" valueType="num">
                                      <p:cBhvr>
                                        <p:cTn id="16" dur="500" fill="hold"/>
                                        <p:tgtEl>
                                          <p:spTgt spid="376841"/>
                                        </p:tgtEl>
                                        <p:attrNameLst>
                                          <p:attrName>ppt_w</p:attrName>
                                        </p:attrNameLst>
                                      </p:cBhvr>
                                      <p:tavLst>
                                        <p:tav tm="0">
                                          <p:val>
                                            <p:strVal val="#ppt_w"/>
                                          </p:val>
                                        </p:tav>
                                        <p:tav tm="100000">
                                          <p:val>
                                            <p:strVal val="#ppt_w"/>
                                          </p:val>
                                        </p:tav>
                                      </p:tavLst>
                                    </p:anim>
                                    <p:anim calcmode="lin" valueType="num">
                                      <p:cBhvr>
                                        <p:cTn id="17" dur="500" fill="hold"/>
                                        <p:tgtEl>
                                          <p:spTgt spid="376841"/>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8" fill="hold" nodeType="afterEffect">
                                  <p:stCondLst>
                                    <p:cond delay="0"/>
                                  </p:stCondLst>
                                  <p:childTnLst>
                                    <p:set>
                                      <p:cBhvr>
                                        <p:cTn id="20" dur="1" fill="hold">
                                          <p:stCondLst>
                                            <p:cond delay="0"/>
                                          </p:stCondLst>
                                        </p:cTn>
                                        <p:tgtEl>
                                          <p:spTgt spid="376840"/>
                                        </p:tgtEl>
                                        <p:attrNameLst>
                                          <p:attrName>style.visibility</p:attrName>
                                        </p:attrNameLst>
                                      </p:cBhvr>
                                      <p:to>
                                        <p:strVal val="visible"/>
                                      </p:to>
                                    </p:set>
                                    <p:anim calcmode="lin" valueType="num">
                                      <p:cBhvr>
                                        <p:cTn id="21" dur="500" fill="hold"/>
                                        <p:tgtEl>
                                          <p:spTgt spid="376840"/>
                                        </p:tgtEl>
                                        <p:attrNameLst>
                                          <p:attrName>ppt_x</p:attrName>
                                        </p:attrNameLst>
                                      </p:cBhvr>
                                      <p:tavLst>
                                        <p:tav tm="0">
                                          <p:val>
                                            <p:strVal val="#ppt_x-#ppt_w/2"/>
                                          </p:val>
                                        </p:tav>
                                        <p:tav tm="100000">
                                          <p:val>
                                            <p:strVal val="#ppt_x"/>
                                          </p:val>
                                        </p:tav>
                                      </p:tavLst>
                                    </p:anim>
                                    <p:anim calcmode="lin" valueType="num">
                                      <p:cBhvr>
                                        <p:cTn id="22" dur="500" fill="hold"/>
                                        <p:tgtEl>
                                          <p:spTgt spid="376840"/>
                                        </p:tgtEl>
                                        <p:attrNameLst>
                                          <p:attrName>ppt_y</p:attrName>
                                        </p:attrNameLst>
                                      </p:cBhvr>
                                      <p:tavLst>
                                        <p:tav tm="0">
                                          <p:val>
                                            <p:strVal val="#ppt_y"/>
                                          </p:val>
                                        </p:tav>
                                        <p:tav tm="100000">
                                          <p:val>
                                            <p:strVal val="#ppt_y"/>
                                          </p:val>
                                        </p:tav>
                                      </p:tavLst>
                                    </p:anim>
                                    <p:anim calcmode="lin" valueType="num">
                                      <p:cBhvr>
                                        <p:cTn id="23" dur="500" fill="hold"/>
                                        <p:tgtEl>
                                          <p:spTgt spid="376840"/>
                                        </p:tgtEl>
                                        <p:attrNameLst>
                                          <p:attrName>ppt_w</p:attrName>
                                        </p:attrNameLst>
                                      </p:cBhvr>
                                      <p:tavLst>
                                        <p:tav tm="0">
                                          <p:val>
                                            <p:fltVal val="0"/>
                                          </p:val>
                                        </p:tav>
                                        <p:tav tm="100000">
                                          <p:val>
                                            <p:strVal val="#ppt_w"/>
                                          </p:val>
                                        </p:tav>
                                      </p:tavLst>
                                    </p:anim>
                                    <p:anim calcmode="lin" valueType="num">
                                      <p:cBhvr>
                                        <p:cTn id="24" dur="500" fill="hold"/>
                                        <p:tgtEl>
                                          <p:spTgt spid="376840"/>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7" presetClass="entr" presetSubtype="4" fill="hold" nodeType="afterEffect">
                                  <p:stCondLst>
                                    <p:cond delay="0"/>
                                  </p:stCondLst>
                                  <p:childTnLst>
                                    <p:set>
                                      <p:cBhvr>
                                        <p:cTn id="27" dur="1" fill="hold">
                                          <p:stCondLst>
                                            <p:cond delay="0"/>
                                          </p:stCondLst>
                                        </p:cTn>
                                        <p:tgtEl>
                                          <p:spTgt spid="376844"/>
                                        </p:tgtEl>
                                        <p:attrNameLst>
                                          <p:attrName>style.visibility</p:attrName>
                                        </p:attrNameLst>
                                      </p:cBhvr>
                                      <p:to>
                                        <p:strVal val="visible"/>
                                      </p:to>
                                    </p:set>
                                    <p:anim calcmode="lin" valueType="num">
                                      <p:cBhvr>
                                        <p:cTn id="28" dur="500" fill="hold"/>
                                        <p:tgtEl>
                                          <p:spTgt spid="376844"/>
                                        </p:tgtEl>
                                        <p:attrNameLst>
                                          <p:attrName>ppt_x</p:attrName>
                                        </p:attrNameLst>
                                      </p:cBhvr>
                                      <p:tavLst>
                                        <p:tav tm="0">
                                          <p:val>
                                            <p:strVal val="#ppt_x"/>
                                          </p:val>
                                        </p:tav>
                                        <p:tav tm="100000">
                                          <p:val>
                                            <p:strVal val="#ppt_x"/>
                                          </p:val>
                                        </p:tav>
                                      </p:tavLst>
                                    </p:anim>
                                    <p:anim calcmode="lin" valueType="num">
                                      <p:cBhvr>
                                        <p:cTn id="29" dur="500" fill="hold"/>
                                        <p:tgtEl>
                                          <p:spTgt spid="376844"/>
                                        </p:tgtEl>
                                        <p:attrNameLst>
                                          <p:attrName>ppt_y</p:attrName>
                                        </p:attrNameLst>
                                      </p:cBhvr>
                                      <p:tavLst>
                                        <p:tav tm="0">
                                          <p:val>
                                            <p:strVal val="#ppt_y+#ppt_h/2"/>
                                          </p:val>
                                        </p:tav>
                                        <p:tav tm="100000">
                                          <p:val>
                                            <p:strVal val="#ppt_y"/>
                                          </p:val>
                                        </p:tav>
                                      </p:tavLst>
                                    </p:anim>
                                    <p:anim calcmode="lin" valueType="num">
                                      <p:cBhvr>
                                        <p:cTn id="30" dur="500" fill="hold"/>
                                        <p:tgtEl>
                                          <p:spTgt spid="376844"/>
                                        </p:tgtEl>
                                        <p:attrNameLst>
                                          <p:attrName>ppt_w</p:attrName>
                                        </p:attrNameLst>
                                      </p:cBhvr>
                                      <p:tavLst>
                                        <p:tav tm="0">
                                          <p:val>
                                            <p:strVal val="#ppt_w"/>
                                          </p:val>
                                        </p:tav>
                                        <p:tav tm="100000">
                                          <p:val>
                                            <p:strVal val="#ppt_w"/>
                                          </p:val>
                                        </p:tav>
                                      </p:tavLst>
                                    </p:anim>
                                    <p:anim calcmode="lin" valueType="num">
                                      <p:cBhvr>
                                        <p:cTn id="31" dur="500" fill="hold"/>
                                        <p:tgtEl>
                                          <p:spTgt spid="376844"/>
                                        </p:tgtEl>
                                        <p:attrNameLst>
                                          <p:attrName>ppt_h</p:attrName>
                                        </p:attrNameLst>
                                      </p:cBhvr>
                                      <p:tavLst>
                                        <p:tav tm="0">
                                          <p:val>
                                            <p:fltVal val="0"/>
                                          </p:val>
                                        </p:tav>
                                        <p:tav tm="100000">
                                          <p:val>
                                            <p:strVal val="#ppt_h"/>
                                          </p:val>
                                        </p:tav>
                                      </p:tavLst>
                                    </p:anim>
                                  </p:childTnLst>
                                </p:cTn>
                              </p:par>
                            </p:childTnLst>
                          </p:cTn>
                        </p:par>
                        <p:par>
                          <p:cTn id="32" fill="hold">
                            <p:stCondLst>
                              <p:cond delay="2000"/>
                            </p:stCondLst>
                            <p:childTnLst>
                              <p:par>
                                <p:cTn id="33" presetID="17" presetClass="entr" presetSubtype="8" fill="hold" nodeType="afterEffect">
                                  <p:stCondLst>
                                    <p:cond delay="0"/>
                                  </p:stCondLst>
                                  <p:childTnLst>
                                    <p:set>
                                      <p:cBhvr>
                                        <p:cTn id="34" dur="1" fill="hold">
                                          <p:stCondLst>
                                            <p:cond delay="0"/>
                                          </p:stCondLst>
                                        </p:cTn>
                                        <p:tgtEl>
                                          <p:spTgt spid="376845"/>
                                        </p:tgtEl>
                                        <p:attrNameLst>
                                          <p:attrName>style.visibility</p:attrName>
                                        </p:attrNameLst>
                                      </p:cBhvr>
                                      <p:to>
                                        <p:strVal val="visible"/>
                                      </p:to>
                                    </p:set>
                                    <p:anim calcmode="lin" valueType="num">
                                      <p:cBhvr>
                                        <p:cTn id="35" dur="500" fill="hold"/>
                                        <p:tgtEl>
                                          <p:spTgt spid="376845"/>
                                        </p:tgtEl>
                                        <p:attrNameLst>
                                          <p:attrName>ppt_x</p:attrName>
                                        </p:attrNameLst>
                                      </p:cBhvr>
                                      <p:tavLst>
                                        <p:tav tm="0">
                                          <p:val>
                                            <p:strVal val="#ppt_x-#ppt_w/2"/>
                                          </p:val>
                                        </p:tav>
                                        <p:tav tm="100000">
                                          <p:val>
                                            <p:strVal val="#ppt_x"/>
                                          </p:val>
                                        </p:tav>
                                      </p:tavLst>
                                    </p:anim>
                                    <p:anim calcmode="lin" valueType="num">
                                      <p:cBhvr>
                                        <p:cTn id="36" dur="500" fill="hold"/>
                                        <p:tgtEl>
                                          <p:spTgt spid="376845"/>
                                        </p:tgtEl>
                                        <p:attrNameLst>
                                          <p:attrName>ppt_y</p:attrName>
                                        </p:attrNameLst>
                                      </p:cBhvr>
                                      <p:tavLst>
                                        <p:tav tm="0">
                                          <p:val>
                                            <p:strVal val="#ppt_y"/>
                                          </p:val>
                                        </p:tav>
                                        <p:tav tm="100000">
                                          <p:val>
                                            <p:strVal val="#ppt_y"/>
                                          </p:val>
                                        </p:tav>
                                      </p:tavLst>
                                    </p:anim>
                                    <p:anim calcmode="lin" valueType="num">
                                      <p:cBhvr>
                                        <p:cTn id="37" dur="500" fill="hold"/>
                                        <p:tgtEl>
                                          <p:spTgt spid="376845"/>
                                        </p:tgtEl>
                                        <p:attrNameLst>
                                          <p:attrName>ppt_w</p:attrName>
                                        </p:attrNameLst>
                                      </p:cBhvr>
                                      <p:tavLst>
                                        <p:tav tm="0">
                                          <p:val>
                                            <p:fltVal val="0"/>
                                          </p:val>
                                        </p:tav>
                                        <p:tav tm="100000">
                                          <p:val>
                                            <p:strVal val="#ppt_w"/>
                                          </p:val>
                                        </p:tav>
                                      </p:tavLst>
                                    </p:anim>
                                    <p:anim calcmode="lin" valueType="num">
                                      <p:cBhvr>
                                        <p:cTn id="38" dur="500" fill="hold"/>
                                        <p:tgtEl>
                                          <p:spTgt spid="376845"/>
                                        </p:tgtEl>
                                        <p:attrNameLst>
                                          <p:attrName>ppt_h</p:attrName>
                                        </p:attrNameLst>
                                      </p:cBhvr>
                                      <p:tavLst>
                                        <p:tav tm="0">
                                          <p:val>
                                            <p:strVal val="#ppt_h"/>
                                          </p:val>
                                        </p:tav>
                                        <p:tav tm="100000">
                                          <p:val>
                                            <p:strVal val="#ppt_h"/>
                                          </p:val>
                                        </p:tav>
                                      </p:tavLst>
                                    </p:anim>
                                  </p:childTnLst>
                                </p:cTn>
                              </p:par>
                            </p:childTnLst>
                          </p:cTn>
                        </p:par>
                        <p:par>
                          <p:cTn id="39" fill="hold">
                            <p:stCondLst>
                              <p:cond delay="2500"/>
                            </p:stCondLst>
                            <p:childTnLst>
                              <p:par>
                                <p:cTn id="40" presetID="1" presetClass="entr" presetSubtype="0" fill="hold" nodeType="afterEffect">
                                  <p:stCondLst>
                                    <p:cond delay="0"/>
                                  </p:stCondLst>
                                  <p:childTnLst>
                                    <p:set>
                                      <p:cBhvr>
                                        <p:cTn id="41" dur="1" fill="hold">
                                          <p:stCondLst>
                                            <p:cond delay="0"/>
                                          </p:stCondLst>
                                        </p:cTn>
                                        <p:tgtEl>
                                          <p:spTgt spid="376876"/>
                                        </p:tgtEl>
                                        <p:attrNameLst>
                                          <p:attrName>style.visibility</p:attrName>
                                        </p:attrNameLst>
                                      </p:cBhvr>
                                      <p:to>
                                        <p:strVal val="visible"/>
                                      </p:to>
                                    </p:set>
                                  </p:childTnLst>
                                </p:cTn>
                              </p:par>
                            </p:childTnLst>
                          </p:cTn>
                        </p:par>
                        <p:par>
                          <p:cTn id="42" fill="hold">
                            <p:stCondLst>
                              <p:cond delay="2500"/>
                            </p:stCondLst>
                            <p:childTnLst>
                              <p:par>
                                <p:cTn id="43" presetID="17" presetClass="entr" presetSubtype="8" fill="hold" nodeType="afterEffect">
                                  <p:stCondLst>
                                    <p:cond delay="0"/>
                                  </p:stCondLst>
                                  <p:childTnLst>
                                    <p:set>
                                      <p:cBhvr>
                                        <p:cTn id="44" dur="1" fill="hold">
                                          <p:stCondLst>
                                            <p:cond delay="0"/>
                                          </p:stCondLst>
                                        </p:cTn>
                                        <p:tgtEl>
                                          <p:spTgt spid="376846"/>
                                        </p:tgtEl>
                                        <p:attrNameLst>
                                          <p:attrName>style.visibility</p:attrName>
                                        </p:attrNameLst>
                                      </p:cBhvr>
                                      <p:to>
                                        <p:strVal val="visible"/>
                                      </p:to>
                                    </p:set>
                                    <p:anim calcmode="lin" valueType="num">
                                      <p:cBhvr>
                                        <p:cTn id="45" dur="500" fill="hold"/>
                                        <p:tgtEl>
                                          <p:spTgt spid="376846"/>
                                        </p:tgtEl>
                                        <p:attrNameLst>
                                          <p:attrName>ppt_x</p:attrName>
                                        </p:attrNameLst>
                                      </p:cBhvr>
                                      <p:tavLst>
                                        <p:tav tm="0">
                                          <p:val>
                                            <p:strVal val="#ppt_x-#ppt_w/2"/>
                                          </p:val>
                                        </p:tav>
                                        <p:tav tm="100000">
                                          <p:val>
                                            <p:strVal val="#ppt_x"/>
                                          </p:val>
                                        </p:tav>
                                      </p:tavLst>
                                    </p:anim>
                                    <p:anim calcmode="lin" valueType="num">
                                      <p:cBhvr>
                                        <p:cTn id="46" dur="500" fill="hold"/>
                                        <p:tgtEl>
                                          <p:spTgt spid="376846"/>
                                        </p:tgtEl>
                                        <p:attrNameLst>
                                          <p:attrName>ppt_y</p:attrName>
                                        </p:attrNameLst>
                                      </p:cBhvr>
                                      <p:tavLst>
                                        <p:tav tm="0">
                                          <p:val>
                                            <p:strVal val="#ppt_y"/>
                                          </p:val>
                                        </p:tav>
                                        <p:tav tm="100000">
                                          <p:val>
                                            <p:strVal val="#ppt_y"/>
                                          </p:val>
                                        </p:tav>
                                      </p:tavLst>
                                    </p:anim>
                                    <p:anim calcmode="lin" valueType="num">
                                      <p:cBhvr>
                                        <p:cTn id="47" dur="500" fill="hold"/>
                                        <p:tgtEl>
                                          <p:spTgt spid="376846"/>
                                        </p:tgtEl>
                                        <p:attrNameLst>
                                          <p:attrName>ppt_w</p:attrName>
                                        </p:attrNameLst>
                                      </p:cBhvr>
                                      <p:tavLst>
                                        <p:tav tm="0">
                                          <p:val>
                                            <p:fltVal val="0"/>
                                          </p:val>
                                        </p:tav>
                                        <p:tav tm="100000">
                                          <p:val>
                                            <p:strVal val="#ppt_w"/>
                                          </p:val>
                                        </p:tav>
                                      </p:tavLst>
                                    </p:anim>
                                    <p:anim calcmode="lin" valueType="num">
                                      <p:cBhvr>
                                        <p:cTn id="48" dur="500" fill="hold"/>
                                        <p:tgtEl>
                                          <p:spTgt spid="376846"/>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nodeType="clickEffect">
                                  <p:stCondLst>
                                    <p:cond delay="0"/>
                                  </p:stCondLst>
                                  <p:childTnLst>
                                    <p:set>
                                      <p:cBhvr>
                                        <p:cTn id="52" dur="1" fill="hold">
                                          <p:stCondLst>
                                            <p:cond delay="0"/>
                                          </p:stCondLst>
                                        </p:cTn>
                                        <p:tgtEl>
                                          <p:spTgt spid="376842"/>
                                        </p:tgtEl>
                                        <p:attrNameLst>
                                          <p:attrName>style.visibility</p:attrName>
                                        </p:attrNameLst>
                                      </p:cBhvr>
                                      <p:to>
                                        <p:strVal val="visible"/>
                                      </p:to>
                                    </p:set>
                                    <p:anim calcmode="lin" valueType="num">
                                      <p:cBhvr>
                                        <p:cTn id="53" dur="500" fill="hold"/>
                                        <p:tgtEl>
                                          <p:spTgt spid="376842"/>
                                        </p:tgtEl>
                                        <p:attrNameLst>
                                          <p:attrName>ppt_x</p:attrName>
                                        </p:attrNameLst>
                                      </p:cBhvr>
                                      <p:tavLst>
                                        <p:tav tm="0">
                                          <p:val>
                                            <p:strVal val="#ppt_x"/>
                                          </p:val>
                                        </p:tav>
                                        <p:tav tm="100000">
                                          <p:val>
                                            <p:strVal val="#ppt_x"/>
                                          </p:val>
                                        </p:tav>
                                      </p:tavLst>
                                    </p:anim>
                                    <p:anim calcmode="lin" valueType="num">
                                      <p:cBhvr>
                                        <p:cTn id="54" dur="500" fill="hold"/>
                                        <p:tgtEl>
                                          <p:spTgt spid="376842"/>
                                        </p:tgtEl>
                                        <p:attrNameLst>
                                          <p:attrName>ppt_y</p:attrName>
                                        </p:attrNameLst>
                                      </p:cBhvr>
                                      <p:tavLst>
                                        <p:tav tm="0">
                                          <p:val>
                                            <p:strVal val="#ppt_y+#ppt_h/2"/>
                                          </p:val>
                                        </p:tav>
                                        <p:tav tm="100000">
                                          <p:val>
                                            <p:strVal val="#ppt_y"/>
                                          </p:val>
                                        </p:tav>
                                      </p:tavLst>
                                    </p:anim>
                                    <p:anim calcmode="lin" valueType="num">
                                      <p:cBhvr>
                                        <p:cTn id="55" dur="500" fill="hold"/>
                                        <p:tgtEl>
                                          <p:spTgt spid="376842"/>
                                        </p:tgtEl>
                                        <p:attrNameLst>
                                          <p:attrName>ppt_w</p:attrName>
                                        </p:attrNameLst>
                                      </p:cBhvr>
                                      <p:tavLst>
                                        <p:tav tm="0">
                                          <p:val>
                                            <p:strVal val="#ppt_w"/>
                                          </p:val>
                                        </p:tav>
                                        <p:tav tm="100000">
                                          <p:val>
                                            <p:strVal val="#ppt_w"/>
                                          </p:val>
                                        </p:tav>
                                      </p:tavLst>
                                    </p:anim>
                                    <p:anim calcmode="lin" valueType="num">
                                      <p:cBhvr>
                                        <p:cTn id="56" dur="500" fill="hold"/>
                                        <p:tgtEl>
                                          <p:spTgt spid="376842"/>
                                        </p:tgtEl>
                                        <p:attrNameLst>
                                          <p:attrName>ppt_h</p:attrName>
                                        </p:attrNameLst>
                                      </p:cBhvr>
                                      <p:tavLst>
                                        <p:tav tm="0">
                                          <p:val>
                                            <p:fltVal val="0"/>
                                          </p:val>
                                        </p:tav>
                                        <p:tav tm="100000">
                                          <p:val>
                                            <p:strVal val="#ppt_h"/>
                                          </p:val>
                                        </p:tav>
                                      </p:tavLst>
                                    </p:anim>
                                  </p:childTnLst>
                                </p:cTn>
                              </p:par>
                            </p:childTnLst>
                          </p:cTn>
                        </p:par>
                        <p:par>
                          <p:cTn id="57" fill="hold">
                            <p:stCondLst>
                              <p:cond delay="500"/>
                            </p:stCondLst>
                            <p:childTnLst>
                              <p:par>
                                <p:cTn id="58" presetID="17" presetClass="entr" presetSubtype="8" fill="hold" nodeType="afterEffect">
                                  <p:stCondLst>
                                    <p:cond delay="0"/>
                                  </p:stCondLst>
                                  <p:childTnLst>
                                    <p:set>
                                      <p:cBhvr>
                                        <p:cTn id="59" dur="1" fill="hold">
                                          <p:stCondLst>
                                            <p:cond delay="0"/>
                                          </p:stCondLst>
                                        </p:cTn>
                                        <p:tgtEl>
                                          <p:spTgt spid="376843"/>
                                        </p:tgtEl>
                                        <p:attrNameLst>
                                          <p:attrName>style.visibility</p:attrName>
                                        </p:attrNameLst>
                                      </p:cBhvr>
                                      <p:to>
                                        <p:strVal val="visible"/>
                                      </p:to>
                                    </p:set>
                                    <p:anim calcmode="lin" valueType="num">
                                      <p:cBhvr>
                                        <p:cTn id="60" dur="500" fill="hold"/>
                                        <p:tgtEl>
                                          <p:spTgt spid="376843"/>
                                        </p:tgtEl>
                                        <p:attrNameLst>
                                          <p:attrName>ppt_x</p:attrName>
                                        </p:attrNameLst>
                                      </p:cBhvr>
                                      <p:tavLst>
                                        <p:tav tm="0">
                                          <p:val>
                                            <p:strVal val="#ppt_x-#ppt_w/2"/>
                                          </p:val>
                                        </p:tav>
                                        <p:tav tm="100000">
                                          <p:val>
                                            <p:strVal val="#ppt_x"/>
                                          </p:val>
                                        </p:tav>
                                      </p:tavLst>
                                    </p:anim>
                                    <p:anim calcmode="lin" valueType="num">
                                      <p:cBhvr>
                                        <p:cTn id="61" dur="500" fill="hold"/>
                                        <p:tgtEl>
                                          <p:spTgt spid="376843"/>
                                        </p:tgtEl>
                                        <p:attrNameLst>
                                          <p:attrName>ppt_y</p:attrName>
                                        </p:attrNameLst>
                                      </p:cBhvr>
                                      <p:tavLst>
                                        <p:tav tm="0">
                                          <p:val>
                                            <p:strVal val="#ppt_y"/>
                                          </p:val>
                                        </p:tav>
                                        <p:tav tm="100000">
                                          <p:val>
                                            <p:strVal val="#ppt_y"/>
                                          </p:val>
                                        </p:tav>
                                      </p:tavLst>
                                    </p:anim>
                                    <p:anim calcmode="lin" valueType="num">
                                      <p:cBhvr>
                                        <p:cTn id="62" dur="500" fill="hold"/>
                                        <p:tgtEl>
                                          <p:spTgt spid="376843"/>
                                        </p:tgtEl>
                                        <p:attrNameLst>
                                          <p:attrName>ppt_w</p:attrName>
                                        </p:attrNameLst>
                                      </p:cBhvr>
                                      <p:tavLst>
                                        <p:tav tm="0">
                                          <p:val>
                                            <p:fltVal val="0"/>
                                          </p:val>
                                        </p:tav>
                                        <p:tav tm="100000">
                                          <p:val>
                                            <p:strVal val="#ppt_w"/>
                                          </p:val>
                                        </p:tav>
                                      </p:tavLst>
                                    </p:anim>
                                    <p:anim calcmode="lin" valueType="num">
                                      <p:cBhvr>
                                        <p:cTn id="63" dur="500" fill="hold"/>
                                        <p:tgtEl>
                                          <p:spTgt spid="376843"/>
                                        </p:tgtEl>
                                        <p:attrNameLst>
                                          <p:attrName>ppt_h</p:attrName>
                                        </p:attrNameLst>
                                      </p:cBhvr>
                                      <p:tavLst>
                                        <p:tav tm="0">
                                          <p:val>
                                            <p:strVal val="#ppt_h"/>
                                          </p:val>
                                        </p:tav>
                                        <p:tav tm="100000">
                                          <p:val>
                                            <p:strVal val="#ppt_h"/>
                                          </p:val>
                                        </p:tav>
                                      </p:tavLst>
                                    </p:anim>
                                  </p:childTnLst>
                                </p:cTn>
                              </p:par>
                            </p:childTnLst>
                          </p:cTn>
                        </p:par>
                        <p:par>
                          <p:cTn id="64" fill="hold">
                            <p:stCondLst>
                              <p:cond delay="1000"/>
                            </p:stCondLst>
                            <p:childTnLst>
                              <p:par>
                                <p:cTn id="65" presetID="17" presetClass="entr" presetSubtype="8" fill="hold" nodeType="afterEffect">
                                  <p:stCondLst>
                                    <p:cond delay="0"/>
                                  </p:stCondLst>
                                  <p:childTnLst>
                                    <p:set>
                                      <p:cBhvr>
                                        <p:cTn id="66" dur="1" fill="hold">
                                          <p:stCondLst>
                                            <p:cond delay="0"/>
                                          </p:stCondLst>
                                        </p:cTn>
                                        <p:tgtEl>
                                          <p:spTgt spid="376847"/>
                                        </p:tgtEl>
                                        <p:attrNameLst>
                                          <p:attrName>style.visibility</p:attrName>
                                        </p:attrNameLst>
                                      </p:cBhvr>
                                      <p:to>
                                        <p:strVal val="visible"/>
                                      </p:to>
                                    </p:set>
                                    <p:anim calcmode="lin" valueType="num">
                                      <p:cBhvr>
                                        <p:cTn id="67" dur="500" fill="hold"/>
                                        <p:tgtEl>
                                          <p:spTgt spid="376847"/>
                                        </p:tgtEl>
                                        <p:attrNameLst>
                                          <p:attrName>ppt_x</p:attrName>
                                        </p:attrNameLst>
                                      </p:cBhvr>
                                      <p:tavLst>
                                        <p:tav tm="0">
                                          <p:val>
                                            <p:strVal val="#ppt_x-#ppt_w/2"/>
                                          </p:val>
                                        </p:tav>
                                        <p:tav tm="100000">
                                          <p:val>
                                            <p:strVal val="#ppt_x"/>
                                          </p:val>
                                        </p:tav>
                                      </p:tavLst>
                                    </p:anim>
                                    <p:anim calcmode="lin" valueType="num">
                                      <p:cBhvr>
                                        <p:cTn id="68" dur="500" fill="hold"/>
                                        <p:tgtEl>
                                          <p:spTgt spid="376847"/>
                                        </p:tgtEl>
                                        <p:attrNameLst>
                                          <p:attrName>ppt_y</p:attrName>
                                        </p:attrNameLst>
                                      </p:cBhvr>
                                      <p:tavLst>
                                        <p:tav tm="0">
                                          <p:val>
                                            <p:strVal val="#ppt_y"/>
                                          </p:val>
                                        </p:tav>
                                        <p:tav tm="100000">
                                          <p:val>
                                            <p:strVal val="#ppt_y"/>
                                          </p:val>
                                        </p:tav>
                                      </p:tavLst>
                                    </p:anim>
                                    <p:anim calcmode="lin" valueType="num">
                                      <p:cBhvr>
                                        <p:cTn id="69" dur="500" fill="hold"/>
                                        <p:tgtEl>
                                          <p:spTgt spid="376847"/>
                                        </p:tgtEl>
                                        <p:attrNameLst>
                                          <p:attrName>ppt_w</p:attrName>
                                        </p:attrNameLst>
                                      </p:cBhvr>
                                      <p:tavLst>
                                        <p:tav tm="0">
                                          <p:val>
                                            <p:fltVal val="0"/>
                                          </p:val>
                                        </p:tav>
                                        <p:tav tm="100000">
                                          <p:val>
                                            <p:strVal val="#ppt_w"/>
                                          </p:val>
                                        </p:tav>
                                      </p:tavLst>
                                    </p:anim>
                                    <p:anim calcmode="lin" valueType="num">
                                      <p:cBhvr>
                                        <p:cTn id="70" dur="500" fill="hold"/>
                                        <p:tgtEl>
                                          <p:spTgt spid="376847"/>
                                        </p:tgtEl>
                                        <p:attrNameLst>
                                          <p:attrName>ppt_h</p:attrName>
                                        </p:attrNameLst>
                                      </p:cBhvr>
                                      <p:tavLst>
                                        <p:tav tm="0">
                                          <p:val>
                                            <p:strVal val="#ppt_h"/>
                                          </p:val>
                                        </p:tav>
                                        <p:tav tm="100000">
                                          <p:val>
                                            <p:strVal val="#ppt_h"/>
                                          </p:val>
                                        </p:tav>
                                      </p:tavLst>
                                    </p:anim>
                                  </p:childTnLst>
                                </p:cTn>
                              </p:par>
                            </p:childTnLst>
                          </p:cTn>
                        </p:par>
                        <p:par>
                          <p:cTn id="71" fill="hold">
                            <p:stCondLst>
                              <p:cond delay="1500"/>
                            </p:stCondLst>
                            <p:childTnLst>
                              <p:par>
                                <p:cTn id="72" presetID="17" presetClass="entr" presetSubtype="8" fill="hold" nodeType="afterEffect">
                                  <p:stCondLst>
                                    <p:cond delay="0"/>
                                  </p:stCondLst>
                                  <p:childTnLst>
                                    <p:set>
                                      <p:cBhvr>
                                        <p:cTn id="73" dur="1" fill="hold">
                                          <p:stCondLst>
                                            <p:cond delay="0"/>
                                          </p:stCondLst>
                                        </p:cTn>
                                        <p:tgtEl>
                                          <p:spTgt spid="376848"/>
                                        </p:tgtEl>
                                        <p:attrNameLst>
                                          <p:attrName>style.visibility</p:attrName>
                                        </p:attrNameLst>
                                      </p:cBhvr>
                                      <p:to>
                                        <p:strVal val="visible"/>
                                      </p:to>
                                    </p:set>
                                    <p:anim calcmode="lin" valueType="num">
                                      <p:cBhvr>
                                        <p:cTn id="74" dur="500" fill="hold"/>
                                        <p:tgtEl>
                                          <p:spTgt spid="376848"/>
                                        </p:tgtEl>
                                        <p:attrNameLst>
                                          <p:attrName>ppt_x</p:attrName>
                                        </p:attrNameLst>
                                      </p:cBhvr>
                                      <p:tavLst>
                                        <p:tav tm="0">
                                          <p:val>
                                            <p:strVal val="#ppt_x-#ppt_w/2"/>
                                          </p:val>
                                        </p:tav>
                                        <p:tav tm="100000">
                                          <p:val>
                                            <p:strVal val="#ppt_x"/>
                                          </p:val>
                                        </p:tav>
                                      </p:tavLst>
                                    </p:anim>
                                    <p:anim calcmode="lin" valueType="num">
                                      <p:cBhvr>
                                        <p:cTn id="75" dur="500" fill="hold"/>
                                        <p:tgtEl>
                                          <p:spTgt spid="376848"/>
                                        </p:tgtEl>
                                        <p:attrNameLst>
                                          <p:attrName>ppt_y</p:attrName>
                                        </p:attrNameLst>
                                      </p:cBhvr>
                                      <p:tavLst>
                                        <p:tav tm="0">
                                          <p:val>
                                            <p:strVal val="#ppt_y"/>
                                          </p:val>
                                        </p:tav>
                                        <p:tav tm="100000">
                                          <p:val>
                                            <p:strVal val="#ppt_y"/>
                                          </p:val>
                                        </p:tav>
                                      </p:tavLst>
                                    </p:anim>
                                    <p:anim calcmode="lin" valueType="num">
                                      <p:cBhvr>
                                        <p:cTn id="76" dur="500" fill="hold"/>
                                        <p:tgtEl>
                                          <p:spTgt spid="376848"/>
                                        </p:tgtEl>
                                        <p:attrNameLst>
                                          <p:attrName>ppt_w</p:attrName>
                                        </p:attrNameLst>
                                      </p:cBhvr>
                                      <p:tavLst>
                                        <p:tav tm="0">
                                          <p:val>
                                            <p:fltVal val="0"/>
                                          </p:val>
                                        </p:tav>
                                        <p:tav tm="100000">
                                          <p:val>
                                            <p:strVal val="#ppt_w"/>
                                          </p:val>
                                        </p:tav>
                                      </p:tavLst>
                                    </p:anim>
                                    <p:anim calcmode="lin" valueType="num">
                                      <p:cBhvr>
                                        <p:cTn id="77" dur="500" fill="hold"/>
                                        <p:tgtEl>
                                          <p:spTgt spid="376848"/>
                                        </p:tgtEl>
                                        <p:attrNameLst>
                                          <p:attrName>ppt_h</p:attrName>
                                        </p:attrNameLst>
                                      </p:cBhvr>
                                      <p:tavLst>
                                        <p:tav tm="0">
                                          <p:val>
                                            <p:strVal val="#ppt_h"/>
                                          </p:val>
                                        </p:tav>
                                        <p:tav tm="100000">
                                          <p:val>
                                            <p:strVal val="#ppt_h"/>
                                          </p:val>
                                        </p:tav>
                                      </p:tavLst>
                                    </p:anim>
                                  </p:childTnLst>
                                </p:cTn>
                              </p:par>
                            </p:childTnLst>
                          </p:cTn>
                        </p:par>
                        <p:par>
                          <p:cTn id="78" fill="hold">
                            <p:stCondLst>
                              <p:cond delay="2000"/>
                            </p:stCondLst>
                            <p:childTnLst>
                              <p:par>
                                <p:cTn id="79" presetID="17" presetClass="entr" presetSubtype="4" fill="hold" nodeType="afterEffect">
                                  <p:stCondLst>
                                    <p:cond delay="0"/>
                                  </p:stCondLst>
                                  <p:childTnLst>
                                    <p:set>
                                      <p:cBhvr>
                                        <p:cTn id="80" dur="1" fill="hold">
                                          <p:stCondLst>
                                            <p:cond delay="0"/>
                                          </p:stCondLst>
                                        </p:cTn>
                                        <p:tgtEl>
                                          <p:spTgt spid="376849"/>
                                        </p:tgtEl>
                                        <p:attrNameLst>
                                          <p:attrName>style.visibility</p:attrName>
                                        </p:attrNameLst>
                                      </p:cBhvr>
                                      <p:to>
                                        <p:strVal val="visible"/>
                                      </p:to>
                                    </p:set>
                                    <p:anim calcmode="lin" valueType="num">
                                      <p:cBhvr>
                                        <p:cTn id="81" dur="500" fill="hold"/>
                                        <p:tgtEl>
                                          <p:spTgt spid="376849"/>
                                        </p:tgtEl>
                                        <p:attrNameLst>
                                          <p:attrName>ppt_x</p:attrName>
                                        </p:attrNameLst>
                                      </p:cBhvr>
                                      <p:tavLst>
                                        <p:tav tm="0">
                                          <p:val>
                                            <p:strVal val="#ppt_x"/>
                                          </p:val>
                                        </p:tav>
                                        <p:tav tm="100000">
                                          <p:val>
                                            <p:strVal val="#ppt_x"/>
                                          </p:val>
                                        </p:tav>
                                      </p:tavLst>
                                    </p:anim>
                                    <p:anim calcmode="lin" valueType="num">
                                      <p:cBhvr>
                                        <p:cTn id="82" dur="500" fill="hold"/>
                                        <p:tgtEl>
                                          <p:spTgt spid="376849"/>
                                        </p:tgtEl>
                                        <p:attrNameLst>
                                          <p:attrName>ppt_y</p:attrName>
                                        </p:attrNameLst>
                                      </p:cBhvr>
                                      <p:tavLst>
                                        <p:tav tm="0">
                                          <p:val>
                                            <p:strVal val="#ppt_y+#ppt_h/2"/>
                                          </p:val>
                                        </p:tav>
                                        <p:tav tm="100000">
                                          <p:val>
                                            <p:strVal val="#ppt_y"/>
                                          </p:val>
                                        </p:tav>
                                      </p:tavLst>
                                    </p:anim>
                                    <p:anim calcmode="lin" valueType="num">
                                      <p:cBhvr>
                                        <p:cTn id="83" dur="500" fill="hold"/>
                                        <p:tgtEl>
                                          <p:spTgt spid="376849"/>
                                        </p:tgtEl>
                                        <p:attrNameLst>
                                          <p:attrName>ppt_w</p:attrName>
                                        </p:attrNameLst>
                                      </p:cBhvr>
                                      <p:tavLst>
                                        <p:tav tm="0">
                                          <p:val>
                                            <p:strVal val="#ppt_w"/>
                                          </p:val>
                                        </p:tav>
                                        <p:tav tm="100000">
                                          <p:val>
                                            <p:strVal val="#ppt_w"/>
                                          </p:val>
                                        </p:tav>
                                      </p:tavLst>
                                    </p:anim>
                                    <p:anim calcmode="lin" valueType="num">
                                      <p:cBhvr>
                                        <p:cTn id="84" dur="500" fill="hold"/>
                                        <p:tgtEl>
                                          <p:spTgt spid="376849"/>
                                        </p:tgtEl>
                                        <p:attrNameLst>
                                          <p:attrName>ppt_h</p:attrName>
                                        </p:attrNameLst>
                                      </p:cBhvr>
                                      <p:tavLst>
                                        <p:tav tm="0">
                                          <p:val>
                                            <p:fltVal val="0"/>
                                          </p:val>
                                        </p:tav>
                                        <p:tav tm="100000">
                                          <p:val>
                                            <p:strVal val="#ppt_h"/>
                                          </p:val>
                                        </p:tav>
                                      </p:tavLst>
                                    </p:anim>
                                  </p:childTnLst>
                                </p:cTn>
                              </p:par>
                            </p:childTnLst>
                          </p:cTn>
                        </p:par>
                        <p:par>
                          <p:cTn id="85" fill="hold">
                            <p:stCondLst>
                              <p:cond delay="2500"/>
                            </p:stCondLst>
                            <p:childTnLst>
                              <p:par>
                                <p:cTn id="86" presetID="17" presetClass="entr" presetSubtype="8" fill="hold" nodeType="afterEffect">
                                  <p:stCondLst>
                                    <p:cond delay="0"/>
                                  </p:stCondLst>
                                  <p:childTnLst>
                                    <p:set>
                                      <p:cBhvr>
                                        <p:cTn id="87" dur="1" fill="hold">
                                          <p:stCondLst>
                                            <p:cond delay="0"/>
                                          </p:stCondLst>
                                        </p:cTn>
                                        <p:tgtEl>
                                          <p:spTgt spid="376850"/>
                                        </p:tgtEl>
                                        <p:attrNameLst>
                                          <p:attrName>style.visibility</p:attrName>
                                        </p:attrNameLst>
                                      </p:cBhvr>
                                      <p:to>
                                        <p:strVal val="visible"/>
                                      </p:to>
                                    </p:set>
                                    <p:anim calcmode="lin" valueType="num">
                                      <p:cBhvr>
                                        <p:cTn id="88" dur="500" fill="hold"/>
                                        <p:tgtEl>
                                          <p:spTgt spid="376850"/>
                                        </p:tgtEl>
                                        <p:attrNameLst>
                                          <p:attrName>ppt_x</p:attrName>
                                        </p:attrNameLst>
                                      </p:cBhvr>
                                      <p:tavLst>
                                        <p:tav tm="0">
                                          <p:val>
                                            <p:strVal val="#ppt_x-#ppt_w/2"/>
                                          </p:val>
                                        </p:tav>
                                        <p:tav tm="100000">
                                          <p:val>
                                            <p:strVal val="#ppt_x"/>
                                          </p:val>
                                        </p:tav>
                                      </p:tavLst>
                                    </p:anim>
                                    <p:anim calcmode="lin" valueType="num">
                                      <p:cBhvr>
                                        <p:cTn id="89" dur="500" fill="hold"/>
                                        <p:tgtEl>
                                          <p:spTgt spid="376850"/>
                                        </p:tgtEl>
                                        <p:attrNameLst>
                                          <p:attrName>ppt_y</p:attrName>
                                        </p:attrNameLst>
                                      </p:cBhvr>
                                      <p:tavLst>
                                        <p:tav tm="0">
                                          <p:val>
                                            <p:strVal val="#ppt_y"/>
                                          </p:val>
                                        </p:tav>
                                        <p:tav tm="100000">
                                          <p:val>
                                            <p:strVal val="#ppt_y"/>
                                          </p:val>
                                        </p:tav>
                                      </p:tavLst>
                                    </p:anim>
                                    <p:anim calcmode="lin" valueType="num">
                                      <p:cBhvr>
                                        <p:cTn id="90" dur="500" fill="hold"/>
                                        <p:tgtEl>
                                          <p:spTgt spid="376850"/>
                                        </p:tgtEl>
                                        <p:attrNameLst>
                                          <p:attrName>ppt_w</p:attrName>
                                        </p:attrNameLst>
                                      </p:cBhvr>
                                      <p:tavLst>
                                        <p:tav tm="0">
                                          <p:val>
                                            <p:fltVal val="0"/>
                                          </p:val>
                                        </p:tav>
                                        <p:tav tm="100000">
                                          <p:val>
                                            <p:strVal val="#ppt_w"/>
                                          </p:val>
                                        </p:tav>
                                      </p:tavLst>
                                    </p:anim>
                                    <p:anim calcmode="lin" valueType="num">
                                      <p:cBhvr>
                                        <p:cTn id="91" dur="500" fill="hold"/>
                                        <p:tgtEl>
                                          <p:spTgt spid="376850"/>
                                        </p:tgtEl>
                                        <p:attrNameLst>
                                          <p:attrName>ppt_h</p:attrName>
                                        </p:attrNameLst>
                                      </p:cBhvr>
                                      <p:tavLst>
                                        <p:tav tm="0">
                                          <p:val>
                                            <p:strVal val="#ppt_h"/>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nodeType="clickEffect">
                                  <p:stCondLst>
                                    <p:cond delay="0"/>
                                  </p:stCondLst>
                                  <p:childTnLst>
                                    <p:set>
                                      <p:cBhvr>
                                        <p:cTn id="95" dur="1" fill="hold">
                                          <p:stCondLst>
                                            <p:cond delay="0"/>
                                          </p:stCondLst>
                                        </p:cTn>
                                        <p:tgtEl>
                                          <p:spTgt spid="376851"/>
                                        </p:tgtEl>
                                        <p:attrNameLst>
                                          <p:attrName>style.visibility</p:attrName>
                                        </p:attrNameLst>
                                      </p:cBhvr>
                                      <p:to>
                                        <p:strVal val="visible"/>
                                      </p:to>
                                    </p:set>
                                    <p:anim calcmode="lin" valueType="num">
                                      <p:cBhvr>
                                        <p:cTn id="96" dur="500" fill="hold"/>
                                        <p:tgtEl>
                                          <p:spTgt spid="376851"/>
                                        </p:tgtEl>
                                        <p:attrNameLst>
                                          <p:attrName>ppt_x</p:attrName>
                                        </p:attrNameLst>
                                      </p:cBhvr>
                                      <p:tavLst>
                                        <p:tav tm="0">
                                          <p:val>
                                            <p:strVal val="#ppt_x-#ppt_w/2"/>
                                          </p:val>
                                        </p:tav>
                                        <p:tav tm="100000">
                                          <p:val>
                                            <p:strVal val="#ppt_x"/>
                                          </p:val>
                                        </p:tav>
                                      </p:tavLst>
                                    </p:anim>
                                    <p:anim calcmode="lin" valueType="num">
                                      <p:cBhvr>
                                        <p:cTn id="97" dur="500" fill="hold"/>
                                        <p:tgtEl>
                                          <p:spTgt spid="376851"/>
                                        </p:tgtEl>
                                        <p:attrNameLst>
                                          <p:attrName>ppt_y</p:attrName>
                                        </p:attrNameLst>
                                      </p:cBhvr>
                                      <p:tavLst>
                                        <p:tav tm="0">
                                          <p:val>
                                            <p:strVal val="#ppt_y"/>
                                          </p:val>
                                        </p:tav>
                                        <p:tav tm="100000">
                                          <p:val>
                                            <p:strVal val="#ppt_y"/>
                                          </p:val>
                                        </p:tav>
                                      </p:tavLst>
                                    </p:anim>
                                    <p:anim calcmode="lin" valueType="num">
                                      <p:cBhvr>
                                        <p:cTn id="98" dur="500" fill="hold"/>
                                        <p:tgtEl>
                                          <p:spTgt spid="376851"/>
                                        </p:tgtEl>
                                        <p:attrNameLst>
                                          <p:attrName>ppt_w</p:attrName>
                                        </p:attrNameLst>
                                      </p:cBhvr>
                                      <p:tavLst>
                                        <p:tav tm="0">
                                          <p:val>
                                            <p:fltVal val="0"/>
                                          </p:val>
                                        </p:tav>
                                        <p:tav tm="100000">
                                          <p:val>
                                            <p:strVal val="#ppt_w"/>
                                          </p:val>
                                        </p:tav>
                                      </p:tavLst>
                                    </p:anim>
                                    <p:anim calcmode="lin" valueType="num">
                                      <p:cBhvr>
                                        <p:cTn id="99" dur="500" fill="hold"/>
                                        <p:tgtEl>
                                          <p:spTgt spid="376851"/>
                                        </p:tgtEl>
                                        <p:attrNameLst>
                                          <p:attrName>ppt_h</p:attrName>
                                        </p:attrNameLst>
                                      </p:cBhvr>
                                      <p:tavLst>
                                        <p:tav tm="0">
                                          <p:val>
                                            <p:strVal val="#ppt_h"/>
                                          </p:val>
                                        </p:tav>
                                        <p:tav tm="100000">
                                          <p:val>
                                            <p:strVal val="#ppt_h"/>
                                          </p:val>
                                        </p:tav>
                                      </p:tavLst>
                                    </p:anim>
                                  </p:childTnLst>
                                </p:cTn>
                              </p:par>
                            </p:childTnLst>
                          </p:cTn>
                        </p:par>
                        <p:par>
                          <p:cTn id="100" fill="hold">
                            <p:stCondLst>
                              <p:cond delay="500"/>
                            </p:stCondLst>
                            <p:childTnLst>
                              <p:par>
                                <p:cTn id="101" presetID="17" presetClass="entr" presetSubtype="8" fill="hold" nodeType="afterEffect">
                                  <p:stCondLst>
                                    <p:cond delay="0"/>
                                  </p:stCondLst>
                                  <p:childTnLst>
                                    <p:set>
                                      <p:cBhvr>
                                        <p:cTn id="102" dur="1" fill="hold">
                                          <p:stCondLst>
                                            <p:cond delay="0"/>
                                          </p:stCondLst>
                                        </p:cTn>
                                        <p:tgtEl>
                                          <p:spTgt spid="376852"/>
                                        </p:tgtEl>
                                        <p:attrNameLst>
                                          <p:attrName>style.visibility</p:attrName>
                                        </p:attrNameLst>
                                      </p:cBhvr>
                                      <p:to>
                                        <p:strVal val="visible"/>
                                      </p:to>
                                    </p:set>
                                    <p:anim calcmode="lin" valueType="num">
                                      <p:cBhvr>
                                        <p:cTn id="103" dur="500" fill="hold"/>
                                        <p:tgtEl>
                                          <p:spTgt spid="376852"/>
                                        </p:tgtEl>
                                        <p:attrNameLst>
                                          <p:attrName>ppt_x</p:attrName>
                                        </p:attrNameLst>
                                      </p:cBhvr>
                                      <p:tavLst>
                                        <p:tav tm="0">
                                          <p:val>
                                            <p:strVal val="#ppt_x-#ppt_w/2"/>
                                          </p:val>
                                        </p:tav>
                                        <p:tav tm="100000">
                                          <p:val>
                                            <p:strVal val="#ppt_x"/>
                                          </p:val>
                                        </p:tav>
                                      </p:tavLst>
                                    </p:anim>
                                    <p:anim calcmode="lin" valueType="num">
                                      <p:cBhvr>
                                        <p:cTn id="104" dur="500" fill="hold"/>
                                        <p:tgtEl>
                                          <p:spTgt spid="376852"/>
                                        </p:tgtEl>
                                        <p:attrNameLst>
                                          <p:attrName>ppt_y</p:attrName>
                                        </p:attrNameLst>
                                      </p:cBhvr>
                                      <p:tavLst>
                                        <p:tav tm="0">
                                          <p:val>
                                            <p:strVal val="#ppt_y"/>
                                          </p:val>
                                        </p:tav>
                                        <p:tav tm="100000">
                                          <p:val>
                                            <p:strVal val="#ppt_y"/>
                                          </p:val>
                                        </p:tav>
                                      </p:tavLst>
                                    </p:anim>
                                    <p:anim calcmode="lin" valueType="num">
                                      <p:cBhvr>
                                        <p:cTn id="105" dur="500" fill="hold"/>
                                        <p:tgtEl>
                                          <p:spTgt spid="376852"/>
                                        </p:tgtEl>
                                        <p:attrNameLst>
                                          <p:attrName>ppt_w</p:attrName>
                                        </p:attrNameLst>
                                      </p:cBhvr>
                                      <p:tavLst>
                                        <p:tav tm="0">
                                          <p:val>
                                            <p:fltVal val="0"/>
                                          </p:val>
                                        </p:tav>
                                        <p:tav tm="100000">
                                          <p:val>
                                            <p:strVal val="#ppt_w"/>
                                          </p:val>
                                        </p:tav>
                                      </p:tavLst>
                                    </p:anim>
                                    <p:anim calcmode="lin" valueType="num">
                                      <p:cBhvr>
                                        <p:cTn id="106" dur="500" fill="hold"/>
                                        <p:tgtEl>
                                          <p:spTgt spid="376852"/>
                                        </p:tgtEl>
                                        <p:attrNameLst>
                                          <p:attrName>ppt_h</p:attrName>
                                        </p:attrNameLst>
                                      </p:cBhvr>
                                      <p:tavLst>
                                        <p:tav tm="0">
                                          <p:val>
                                            <p:strVal val="#ppt_h"/>
                                          </p:val>
                                        </p:tav>
                                        <p:tav tm="100000">
                                          <p:val>
                                            <p:strVal val="#ppt_h"/>
                                          </p:val>
                                        </p:tav>
                                      </p:tavLst>
                                    </p:anim>
                                  </p:childTnLst>
                                </p:cTn>
                              </p:par>
                            </p:childTnLst>
                          </p:cTn>
                        </p:par>
                        <p:par>
                          <p:cTn id="107" fill="hold">
                            <p:stCondLst>
                              <p:cond delay="1000"/>
                            </p:stCondLst>
                            <p:childTnLst>
                              <p:par>
                                <p:cTn id="108" presetID="17" presetClass="entr" presetSubtype="8" fill="hold" nodeType="afterEffect">
                                  <p:stCondLst>
                                    <p:cond delay="0"/>
                                  </p:stCondLst>
                                  <p:childTnLst>
                                    <p:set>
                                      <p:cBhvr>
                                        <p:cTn id="109" dur="1" fill="hold">
                                          <p:stCondLst>
                                            <p:cond delay="0"/>
                                          </p:stCondLst>
                                        </p:cTn>
                                        <p:tgtEl>
                                          <p:spTgt spid="376855"/>
                                        </p:tgtEl>
                                        <p:attrNameLst>
                                          <p:attrName>style.visibility</p:attrName>
                                        </p:attrNameLst>
                                      </p:cBhvr>
                                      <p:to>
                                        <p:strVal val="visible"/>
                                      </p:to>
                                    </p:set>
                                    <p:anim calcmode="lin" valueType="num">
                                      <p:cBhvr>
                                        <p:cTn id="110" dur="500" fill="hold"/>
                                        <p:tgtEl>
                                          <p:spTgt spid="376855"/>
                                        </p:tgtEl>
                                        <p:attrNameLst>
                                          <p:attrName>ppt_x</p:attrName>
                                        </p:attrNameLst>
                                      </p:cBhvr>
                                      <p:tavLst>
                                        <p:tav tm="0">
                                          <p:val>
                                            <p:strVal val="#ppt_x-#ppt_w/2"/>
                                          </p:val>
                                        </p:tav>
                                        <p:tav tm="100000">
                                          <p:val>
                                            <p:strVal val="#ppt_x"/>
                                          </p:val>
                                        </p:tav>
                                      </p:tavLst>
                                    </p:anim>
                                    <p:anim calcmode="lin" valueType="num">
                                      <p:cBhvr>
                                        <p:cTn id="111" dur="500" fill="hold"/>
                                        <p:tgtEl>
                                          <p:spTgt spid="376855"/>
                                        </p:tgtEl>
                                        <p:attrNameLst>
                                          <p:attrName>ppt_y</p:attrName>
                                        </p:attrNameLst>
                                      </p:cBhvr>
                                      <p:tavLst>
                                        <p:tav tm="0">
                                          <p:val>
                                            <p:strVal val="#ppt_y"/>
                                          </p:val>
                                        </p:tav>
                                        <p:tav tm="100000">
                                          <p:val>
                                            <p:strVal val="#ppt_y"/>
                                          </p:val>
                                        </p:tav>
                                      </p:tavLst>
                                    </p:anim>
                                    <p:anim calcmode="lin" valueType="num">
                                      <p:cBhvr>
                                        <p:cTn id="112" dur="500" fill="hold"/>
                                        <p:tgtEl>
                                          <p:spTgt spid="376855"/>
                                        </p:tgtEl>
                                        <p:attrNameLst>
                                          <p:attrName>ppt_w</p:attrName>
                                        </p:attrNameLst>
                                      </p:cBhvr>
                                      <p:tavLst>
                                        <p:tav tm="0">
                                          <p:val>
                                            <p:fltVal val="0"/>
                                          </p:val>
                                        </p:tav>
                                        <p:tav tm="100000">
                                          <p:val>
                                            <p:strVal val="#ppt_w"/>
                                          </p:val>
                                        </p:tav>
                                      </p:tavLst>
                                    </p:anim>
                                    <p:anim calcmode="lin" valueType="num">
                                      <p:cBhvr>
                                        <p:cTn id="113" dur="500" fill="hold"/>
                                        <p:tgtEl>
                                          <p:spTgt spid="376855"/>
                                        </p:tgtEl>
                                        <p:attrNameLst>
                                          <p:attrName>ppt_h</p:attrName>
                                        </p:attrNameLst>
                                      </p:cBhvr>
                                      <p:tavLst>
                                        <p:tav tm="0">
                                          <p:val>
                                            <p:strVal val="#ppt_h"/>
                                          </p:val>
                                        </p:tav>
                                        <p:tav tm="100000">
                                          <p:val>
                                            <p:strVal val="#ppt_h"/>
                                          </p:val>
                                        </p:tav>
                                      </p:tavLst>
                                    </p:anim>
                                  </p:childTnLst>
                                </p:cTn>
                              </p:par>
                            </p:childTnLst>
                          </p:cTn>
                        </p:par>
                        <p:par>
                          <p:cTn id="114" fill="hold">
                            <p:stCondLst>
                              <p:cond delay="1500"/>
                            </p:stCondLst>
                            <p:childTnLst>
                              <p:par>
                                <p:cTn id="115" presetID="17" presetClass="entr" presetSubtype="8" fill="hold" nodeType="afterEffect">
                                  <p:stCondLst>
                                    <p:cond delay="0"/>
                                  </p:stCondLst>
                                  <p:childTnLst>
                                    <p:set>
                                      <p:cBhvr>
                                        <p:cTn id="116" dur="1" fill="hold">
                                          <p:stCondLst>
                                            <p:cond delay="0"/>
                                          </p:stCondLst>
                                        </p:cTn>
                                        <p:tgtEl>
                                          <p:spTgt spid="376853"/>
                                        </p:tgtEl>
                                        <p:attrNameLst>
                                          <p:attrName>style.visibility</p:attrName>
                                        </p:attrNameLst>
                                      </p:cBhvr>
                                      <p:to>
                                        <p:strVal val="visible"/>
                                      </p:to>
                                    </p:set>
                                    <p:anim calcmode="lin" valueType="num">
                                      <p:cBhvr>
                                        <p:cTn id="117" dur="500" fill="hold"/>
                                        <p:tgtEl>
                                          <p:spTgt spid="376853"/>
                                        </p:tgtEl>
                                        <p:attrNameLst>
                                          <p:attrName>ppt_x</p:attrName>
                                        </p:attrNameLst>
                                      </p:cBhvr>
                                      <p:tavLst>
                                        <p:tav tm="0">
                                          <p:val>
                                            <p:strVal val="#ppt_x-#ppt_w/2"/>
                                          </p:val>
                                        </p:tav>
                                        <p:tav tm="100000">
                                          <p:val>
                                            <p:strVal val="#ppt_x"/>
                                          </p:val>
                                        </p:tav>
                                      </p:tavLst>
                                    </p:anim>
                                    <p:anim calcmode="lin" valueType="num">
                                      <p:cBhvr>
                                        <p:cTn id="118" dur="500" fill="hold"/>
                                        <p:tgtEl>
                                          <p:spTgt spid="376853"/>
                                        </p:tgtEl>
                                        <p:attrNameLst>
                                          <p:attrName>ppt_y</p:attrName>
                                        </p:attrNameLst>
                                      </p:cBhvr>
                                      <p:tavLst>
                                        <p:tav tm="0">
                                          <p:val>
                                            <p:strVal val="#ppt_y"/>
                                          </p:val>
                                        </p:tav>
                                        <p:tav tm="100000">
                                          <p:val>
                                            <p:strVal val="#ppt_y"/>
                                          </p:val>
                                        </p:tav>
                                      </p:tavLst>
                                    </p:anim>
                                    <p:anim calcmode="lin" valueType="num">
                                      <p:cBhvr>
                                        <p:cTn id="119" dur="500" fill="hold"/>
                                        <p:tgtEl>
                                          <p:spTgt spid="376853"/>
                                        </p:tgtEl>
                                        <p:attrNameLst>
                                          <p:attrName>ppt_w</p:attrName>
                                        </p:attrNameLst>
                                      </p:cBhvr>
                                      <p:tavLst>
                                        <p:tav tm="0">
                                          <p:val>
                                            <p:fltVal val="0"/>
                                          </p:val>
                                        </p:tav>
                                        <p:tav tm="100000">
                                          <p:val>
                                            <p:strVal val="#ppt_w"/>
                                          </p:val>
                                        </p:tav>
                                      </p:tavLst>
                                    </p:anim>
                                    <p:anim calcmode="lin" valueType="num">
                                      <p:cBhvr>
                                        <p:cTn id="120" dur="500" fill="hold"/>
                                        <p:tgtEl>
                                          <p:spTgt spid="376853"/>
                                        </p:tgtEl>
                                        <p:attrNameLst>
                                          <p:attrName>ppt_h</p:attrName>
                                        </p:attrNameLst>
                                      </p:cBhvr>
                                      <p:tavLst>
                                        <p:tav tm="0">
                                          <p:val>
                                            <p:strVal val="#ppt_h"/>
                                          </p:val>
                                        </p:tav>
                                        <p:tav tm="100000">
                                          <p:val>
                                            <p:strVal val="#ppt_h"/>
                                          </p:val>
                                        </p:tav>
                                      </p:tavLst>
                                    </p:anim>
                                  </p:childTnLst>
                                </p:cTn>
                              </p:par>
                            </p:childTnLst>
                          </p:cTn>
                        </p:par>
                        <p:par>
                          <p:cTn id="121" fill="hold">
                            <p:stCondLst>
                              <p:cond delay="2000"/>
                            </p:stCondLst>
                            <p:childTnLst>
                              <p:par>
                                <p:cTn id="122" presetID="17" presetClass="entr" presetSubtype="8" fill="hold" nodeType="afterEffect">
                                  <p:stCondLst>
                                    <p:cond delay="0"/>
                                  </p:stCondLst>
                                  <p:childTnLst>
                                    <p:set>
                                      <p:cBhvr>
                                        <p:cTn id="123" dur="1" fill="hold">
                                          <p:stCondLst>
                                            <p:cond delay="0"/>
                                          </p:stCondLst>
                                        </p:cTn>
                                        <p:tgtEl>
                                          <p:spTgt spid="376854"/>
                                        </p:tgtEl>
                                        <p:attrNameLst>
                                          <p:attrName>style.visibility</p:attrName>
                                        </p:attrNameLst>
                                      </p:cBhvr>
                                      <p:to>
                                        <p:strVal val="visible"/>
                                      </p:to>
                                    </p:set>
                                    <p:anim calcmode="lin" valueType="num">
                                      <p:cBhvr>
                                        <p:cTn id="124" dur="500" fill="hold"/>
                                        <p:tgtEl>
                                          <p:spTgt spid="376854"/>
                                        </p:tgtEl>
                                        <p:attrNameLst>
                                          <p:attrName>ppt_x</p:attrName>
                                        </p:attrNameLst>
                                      </p:cBhvr>
                                      <p:tavLst>
                                        <p:tav tm="0">
                                          <p:val>
                                            <p:strVal val="#ppt_x-#ppt_w/2"/>
                                          </p:val>
                                        </p:tav>
                                        <p:tav tm="100000">
                                          <p:val>
                                            <p:strVal val="#ppt_x"/>
                                          </p:val>
                                        </p:tav>
                                      </p:tavLst>
                                    </p:anim>
                                    <p:anim calcmode="lin" valueType="num">
                                      <p:cBhvr>
                                        <p:cTn id="125" dur="500" fill="hold"/>
                                        <p:tgtEl>
                                          <p:spTgt spid="376854"/>
                                        </p:tgtEl>
                                        <p:attrNameLst>
                                          <p:attrName>ppt_y</p:attrName>
                                        </p:attrNameLst>
                                      </p:cBhvr>
                                      <p:tavLst>
                                        <p:tav tm="0">
                                          <p:val>
                                            <p:strVal val="#ppt_y"/>
                                          </p:val>
                                        </p:tav>
                                        <p:tav tm="100000">
                                          <p:val>
                                            <p:strVal val="#ppt_y"/>
                                          </p:val>
                                        </p:tav>
                                      </p:tavLst>
                                    </p:anim>
                                    <p:anim calcmode="lin" valueType="num">
                                      <p:cBhvr>
                                        <p:cTn id="126" dur="500" fill="hold"/>
                                        <p:tgtEl>
                                          <p:spTgt spid="376854"/>
                                        </p:tgtEl>
                                        <p:attrNameLst>
                                          <p:attrName>ppt_w</p:attrName>
                                        </p:attrNameLst>
                                      </p:cBhvr>
                                      <p:tavLst>
                                        <p:tav tm="0">
                                          <p:val>
                                            <p:fltVal val="0"/>
                                          </p:val>
                                        </p:tav>
                                        <p:tav tm="100000">
                                          <p:val>
                                            <p:strVal val="#ppt_w"/>
                                          </p:val>
                                        </p:tav>
                                      </p:tavLst>
                                    </p:anim>
                                    <p:anim calcmode="lin" valueType="num">
                                      <p:cBhvr>
                                        <p:cTn id="127" dur="500" fill="hold"/>
                                        <p:tgtEl>
                                          <p:spTgt spid="376854"/>
                                        </p:tgtEl>
                                        <p:attrNameLst>
                                          <p:attrName>ppt_h</p:attrName>
                                        </p:attrNameLst>
                                      </p:cBhvr>
                                      <p:tavLst>
                                        <p:tav tm="0">
                                          <p:val>
                                            <p:strVal val="#ppt_h"/>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7" presetClass="entr" presetSubtype="1" fill="hold" nodeType="clickEffect">
                                  <p:stCondLst>
                                    <p:cond delay="0"/>
                                  </p:stCondLst>
                                  <p:childTnLst>
                                    <p:set>
                                      <p:cBhvr>
                                        <p:cTn id="131" dur="1" fill="hold">
                                          <p:stCondLst>
                                            <p:cond delay="0"/>
                                          </p:stCondLst>
                                        </p:cTn>
                                        <p:tgtEl>
                                          <p:spTgt spid="376856"/>
                                        </p:tgtEl>
                                        <p:attrNameLst>
                                          <p:attrName>style.visibility</p:attrName>
                                        </p:attrNameLst>
                                      </p:cBhvr>
                                      <p:to>
                                        <p:strVal val="visible"/>
                                      </p:to>
                                    </p:set>
                                    <p:anim calcmode="lin" valueType="num">
                                      <p:cBhvr>
                                        <p:cTn id="132" dur="500" fill="hold"/>
                                        <p:tgtEl>
                                          <p:spTgt spid="376856"/>
                                        </p:tgtEl>
                                        <p:attrNameLst>
                                          <p:attrName>ppt_x</p:attrName>
                                        </p:attrNameLst>
                                      </p:cBhvr>
                                      <p:tavLst>
                                        <p:tav tm="0">
                                          <p:val>
                                            <p:strVal val="#ppt_x"/>
                                          </p:val>
                                        </p:tav>
                                        <p:tav tm="100000">
                                          <p:val>
                                            <p:strVal val="#ppt_x"/>
                                          </p:val>
                                        </p:tav>
                                      </p:tavLst>
                                    </p:anim>
                                    <p:anim calcmode="lin" valueType="num">
                                      <p:cBhvr>
                                        <p:cTn id="133" dur="500" fill="hold"/>
                                        <p:tgtEl>
                                          <p:spTgt spid="376856"/>
                                        </p:tgtEl>
                                        <p:attrNameLst>
                                          <p:attrName>ppt_y</p:attrName>
                                        </p:attrNameLst>
                                      </p:cBhvr>
                                      <p:tavLst>
                                        <p:tav tm="0">
                                          <p:val>
                                            <p:strVal val="#ppt_y-#ppt_h/2"/>
                                          </p:val>
                                        </p:tav>
                                        <p:tav tm="100000">
                                          <p:val>
                                            <p:strVal val="#ppt_y"/>
                                          </p:val>
                                        </p:tav>
                                      </p:tavLst>
                                    </p:anim>
                                    <p:anim calcmode="lin" valueType="num">
                                      <p:cBhvr>
                                        <p:cTn id="134" dur="500" fill="hold"/>
                                        <p:tgtEl>
                                          <p:spTgt spid="376856"/>
                                        </p:tgtEl>
                                        <p:attrNameLst>
                                          <p:attrName>ppt_w</p:attrName>
                                        </p:attrNameLst>
                                      </p:cBhvr>
                                      <p:tavLst>
                                        <p:tav tm="0">
                                          <p:val>
                                            <p:strVal val="#ppt_w"/>
                                          </p:val>
                                        </p:tav>
                                        <p:tav tm="100000">
                                          <p:val>
                                            <p:strVal val="#ppt_w"/>
                                          </p:val>
                                        </p:tav>
                                      </p:tavLst>
                                    </p:anim>
                                    <p:anim calcmode="lin" valueType="num">
                                      <p:cBhvr>
                                        <p:cTn id="135" dur="500" fill="hold"/>
                                        <p:tgtEl>
                                          <p:spTgt spid="376856"/>
                                        </p:tgtEl>
                                        <p:attrNameLst>
                                          <p:attrName>ppt_h</p:attrName>
                                        </p:attrNameLst>
                                      </p:cBhvr>
                                      <p:tavLst>
                                        <p:tav tm="0">
                                          <p:val>
                                            <p:fltVal val="0"/>
                                          </p:val>
                                        </p:tav>
                                        <p:tav tm="100000">
                                          <p:val>
                                            <p:strVal val="#ppt_h"/>
                                          </p:val>
                                        </p:tav>
                                      </p:tavLst>
                                    </p:anim>
                                  </p:childTnLst>
                                </p:cTn>
                              </p:par>
                            </p:childTnLst>
                          </p:cTn>
                        </p:par>
                        <p:par>
                          <p:cTn id="136" fill="hold">
                            <p:stCondLst>
                              <p:cond delay="500"/>
                            </p:stCondLst>
                            <p:childTnLst>
                              <p:par>
                                <p:cTn id="137" presetID="17" presetClass="entr" presetSubtype="8" fill="hold" nodeType="afterEffect">
                                  <p:stCondLst>
                                    <p:cond delay="0"/>
                                  </p:stCondLst>
                                  <p:childTnLst>
                                    <p:set>
                                      <p:cBhvr>
                                        <p:cTn id="138" dur="1" fill="hold">
                                          <p:stCondLst>
                                            <p:cond delay="0"/>
                                          </p:stCondLst>
                                        </p:cTn>
                                        <p:tgtEl>
                                          <p:spTgt spid="376857"/>
                                        </p:tgtEl>
                                        <p:attrNameLst>
                                          <p:attrName>style.visibility</p:attrName>
                                        </p:attrNameLst>
                                      </p:cBhvr>
                                      <p:to>
                                        <p:strVal val="visible"/>
                                      </p:to>
                                    </p:set>
                                    <p:anim calcmode="lin" valueType="num">
                                      <p:cBhvr>
                                        <p:cTn id="139" dur="500" fill="hold"/>
                                        <p:tgtEl>
                                          <p:spTgt spid="376857"/>
                                        </p:tgtEl>
                                        <p:attrNameLst>
                                          <p:attrName>ppt_x</p:attrName>
                                        </p:attrNameLst>
                                      </p:cBhvr>
                                      <p:tavLst>
                                        <p:tav tm="0">
                                          <p:val>
                                            <p:strVal val="#ppt_x-#ppt_w/2"/>
                                          </p:val>
                                        </p:tav>
                                        <p:tav tm="100000">
                                          <p:val>
                                            <p:strVal val="#ppt_x"/>
                                          </p:val>
                                        </p:tav>
                                      </p:tavLst>
                                    </p:anim>
                                    <p:anim calcmode="lin" valueType="num">
                                      <p:cBhvr>
                                        <p:cTn id="140" dur="500" fill="hold"/>
                                        <p:tgtEl>
                                          <p:spTgt spid="376857"/>
                                        </p:tgtEl>
                                        <p:attrNameLst>
                                          <p:attrName>ppt_y</p:attrName>
                                        </p:attrNameLst>
                                      </p:cBhvr>
                                      <p:tavLst>
                                        <p:tav tm="0">
                                          <p:val>
                                            <p:strVal val="#ppt_y"/>
                                          </p:val>
                                        </p:tav>
                                        <p:tav tm="100000">
                                          <p:val>
                                            <p:strVal val="#ppt_y"/>
                                          </p:val>
                                        </p:tav>
                                      </p:tavLst>
                                    </p:anim>
                                    <p:anim calcmode="lin" valueType="num">
                                      <p:cBhvr>
                                        <p:cTn id="141" dur="500" fill="hold"/>
                                        <p:tgtEl>
                                          <p:spTgt spid="376857"/>
                                        </p:tgtEl>
                                        <p:attrNameLst>
                                          <p:attrName>ppt_w</p:attrName>
                                        </p:attrNameLst>
                                      </p:cBhvr>
                                      <p:tavLst>
                                        <p:tav tm="0">
                                          <p:val>
                                            <p:fltVal val="0"/>
                                          </p:val>
                                        </p:tav>
                                        <p:tav tm="100000">
                                          <p:val>
                                            <p:strVal val="#ppt_w"/>
                                          </p:val>
                                        </p:tav>
                                      </p:tavLst>
                                    </p:anim>
                                    <p:anim calcmode="lin" valueType="num">
                                      <p:cBhvr>
                                        <p:cTn id="142" dur="500" fill="hold"/>
                                        <p:tgtEl>
                                          <p:spTgt spid="376857"/>
                                        </p:tgtEl>
                                        <p:attrNameLst>
                                          <p:attrName>ppt_h</p:attrName>
                                        </p:attrNameLst>
                                      </p:cBhvr>
                                      <p:tavLst>
                                        <p:tav tm="0">
                                          <p:val>
                                            <p:strVal val="#ppt_h"/>
                                          </p:val>
                                        </p:tav>
                                        <p:tav tm="100000">
                                          <p:val>
                                            <p:strVal val="#ppt_h"/>
                                          </p:val>
                                        </p:tav>
                                      </p:tavLst>
                                    </p:anim>
                                  </p:childTnLst>
                                </p:cTn>
                              </p:par>
                            </p:childTnLst>
                          </p:cTn>
                        </p:par>
                        <p:par>
                          <p:cTn id="143" fill="hold">
                            <p:stCondLst>
                              <p:cond delay="1000"/>
                            </p:stCondLst>
                            <p:childTnLst>
                              <p:par>
                                <p:cTn id="144" presetID="17" presetClass="entr" presetSubtype="4" fill="hold" nodeType="afterEffect">
                                  <p:stCondLst>
                                    <p:cond delay="0"/>
                                  </p:stCondLst>
                                  <p:childTnLst>
                                    <p:set>
                                      <p:cBhvr>
                                        <p:cTn id="145" dur="1" fill="hold">
                                          <p:stCondLst>
                                            <p:cond delay="0"/>
                                          </p:stCondLst>
                                        </p:cTn>
                                        <p:tgtEl>
                                          <p:spTgt spid="376858"/>
                                        </p:tgtEl>
                                        <p:attrNameLst>
                                          <p:attrName>style.visibility</p:attrName>
                                        </p:attrNameLst>
                                      </p:cBhvr>
                                      <p:to>
                                        <p:strVal val="visible"/>
                                      </p:to>
                                    </p:set>
                                    <p:anim calcmode="lin" valueType="num">
                                      <p:cBhvr>
                                        <p:cTn id="146" dur="500" fill="hold"/>
                                        <p:tgtEl>
                                          <p:spTgt spid="376858"/>
                                        </p:tgtEl>
                                        <p:attrNameLst>
                                          <p:attrName>ppt_x</p:attrName>
                                        </p:attrNameLst>
                                      </p:cBhvr>
                                      <p:tavLst>
                                        <p:tav tm="0">
                                          <p:val>
                                            <p:strVal val="#ppt_x"/>
                                          </p:val>
                                        </p:tav>
                                        <p:tav tm="100000">
                                          <p:val>
                                            <p:strVal val="#ppt_x"/>
                                          </p:val>
                                        </p:tav>
                                      </p:tavLst>
                                    </p:anim>
                                    <p:anim calcmode="lin" valueType="num">
                                      <p:cBhvr>
                                        <p:cTn id="147" dur="500" fill="hold"/>
                                        <p:tgtEl>
                                          <p:spTgt spid="376858"/>
                                        </p:tgtEl>
                                        <p:attrNameLst>
                                          <p:attrName>ppt_y</p:attrName>
                                        </p:attrNameLst>
                                      </p:cBhvr>
                                      <p:tavLst>
                                        <p:tav tm="0">
                                          <p:val>
                                            <p:strVal val="#ppt_y+#ppt_h/2"/>
                                          </p:val>
                                        </p:tav>
                                        <p:tav tm="100000">
                                          <p:val>
                                            <p:strVal val="#ppt_y"/>
                                          </p:val>
                                        </p:tav>
                                      </p:tavLst>
                                    </p:anim>
                                    <p:anim calcmode="lin" valueType="num">
                                      <p:cBhvr>
                                        <p:cTn id="148" dur="500" fill="hold"/>
                                        <p:tgtEl>
                                          <p:spTgt spid="376858"/>
                                        </p:tgtEl>
                                        <p:attrNameLst>
                                          <p:attrName>ppt_w</p:attrName>
                                        </p:attrNameLst>
                                      </p:cBhvr>
                                      <p:tavLst>
                                        <p:tav tm="0">
                                          <p:val>
                                            <p:strVal val="#ppt_w"/>
                                          </p:val>
                                        </p:tav>
                                        <p:tav tm="100000">
                                          <p:val>
                                            <p:strVal val="#ppt_w"/>
                                          </p:val>
                                        </p:tav>
                                      </p:tavLst>
                                    </p:anim>
                                    <p:anim calcmode="lin" valueType="num">
                                      <p:cBhvr>
                                        <p:cTn id="149" dur="500" fill="hold"/>
                                        <p:tgtEl>
                                          <p:spTgt spid="376858"/>
                                        </p:tgtEl>
                                        <p:attrNameLst>
                                          <p:attrName>ppt_h</p:attrName>
                                        </p:attrNameLst>
                                      </p:cBhvr>
                                      <p:tavLst>
                                        <p:tav tm="0">
                                          <p:val>
                                            <p:fltVal val="0"/>
                                          </p:val>
                                        </p:tav>
                                        <p:tav tm="100000">
                                          <p:val>
                                            <p:strVal val="#ppt_h"/>
                                          </p:val>
                                        </p:tav>
                                      </p:tavLst>
                                    </p:anim>
                                  </p:childTnLst>
                                </p:cTn>
                              </p:par>
                            </p:childTnLst>
                          </p:cTn>
                        </p:par>
                        <p:par>
                          <p:cTn id="150" fill="hold">
                            <p:stCondLst>
                              <p:cond delay="1500"/>
                            </p:stCondLst>
                            <p:childTnLst>
                              <p:par>
                                <p:cTn id="151" presetID="17" presetClass="entr" presetSubtype="8" fill="hold" nodeType="afterEffect">
                                  <p:stCondLst>
                                    <p:cond delay="0"/>
                                  </p:stCondLst>
                                  <p:childTnLst>
                                    <p:set>
                                      <p:cBhvr>
                                        <p:cTn id="152" dur="1" fill="hold">
                                          <p:stCondLst>
                                            <p:cond delay="0"/>
                                          </p:stCondLst>
                                        </p:cTn>
                                        <p:tgtEl>
                                          <p:spTgt spid="376859"/>
                                        </p:tgtEl>
                                        <p:attrNameLst>
                                          <p:attrName>style.visibility</p:attrName>
                                        </p:attrNameLst>
                                      </p:cBhvr>
                                      <p:to>
                                        <p:strVal val="visible"/>
                                      </p:to>
                                    </p:set>
                                    <p:anim calcmode="lin" valueType="num">
                                      <p:cBhvr>
                                        <p:cTn id="153" dur="500" fill="hold"/>
                                        <p:tgtEl>
                                          <p:spTgt spid="376859"/>
                                        </p:tgtEl>
                                        <p:attrNameLst>
                                          <p:attrName>ppt_x</p:attrName>
                                        </p:attrNameLst>
                                      </p:cBhvr>
                                      <p:tavLst>
                                        <p:tav tm="0">
                                          <p:val>
                                            <p:strVal val="#ppt_x-#ppt_w/2"/>
                                          </p:val>
                                        </p:tav>
                                        <p:tav tm="100000">
                                          <p:val>
                                            <p:strVal val="#ppt_x"/>
                                          </p:val>
                                        </p:tav>
                                      </p:tavLst>
                                    </p:anim>
                                    <p:anim calcmode="lin" valueType="num">
                                      <p:cBhvr>
                                        <p:cTn id="154" dur="500" fill="hold"/>
                                        <p:tgtEl>
                                          <p:spTgt spid="376859"/>
                                        </p:tgtEl>
                                        <p:attrNameLst>
                                          <p:attrName>ppt_y</p:attrName>
                                        </p:attrNameLst>
                                      </p:cBhvr>
                                      <p:tavLst>
                                        <p:tav tm="0">
                                          <p:val>
                                            <p:strVal val="#ppt_y"/>
                                          </p:val>
                                        </p:tav>
                                        <p:tav tm="100000">
                                          <p:val>
                                            <p:strVal val="#ppt_y"/>
                                          </p:val>
                                        </p:tav>
                                      </p:tavLst>
                                    </p:anim>
                                    <p:anim calcmode="lin" valueType="num">
                                      <p:cBhvr>
                                        <p:cTn id="155" dur="500" fill="hold"/>
                                        <p:tgtEl>
                                          <p:spTgt spid="376859"/>
                                        </p:tgtEl>
                                        <p:attrNameLst>
                                          <p:attrName>ppt_w</p:attrName>
                                        </p:attrNameLst>
                                      </p:cBhvr>
                                      <p:tavLst>
                                        <p:tav tm="0">
                                          <p:val>
                                            <p:fltVal val="0"/>
                                          </p:val>
                                        </p:tav>
                                        <p:tav tm="100000">
                                          <p:val>
                                            <p:strVal val="#ppt_w"/>
                                          </p:val>
                                        </p:tav>
                                      </p:tavLst>
                                    </p:anim>
                                    <p:anim calcmode="lin" valueType="num">
                                      <p:cBhvr>
                                        <p:cTn id="156" dur="500" fill="hold"/>
                                        <p:tgtEl>
                                          <p:spTgt spid="376859"/>
                                        </p:tgtEl>
                                        <p:attrNameLst>
                                          <p:attrName>ppt_h</p:attrName>
                                        </p:attrNameLst>
                                      </p:cBhvr>
                                      <p:tavLst>
                                        <p:tav tm="0">
                                          <p:val>
                                            <p:strVal val="#ppt_h"/>
                                          </p:val>
                                        </p:tav>
                                        <p:tav tm="100000">
                                          <p:val>
                                            <p:strVal val="#ppt_h"/>
                                          </p:val>
                                        </p:tav>
                                      </p:tavLst>
                                    </p:anim>
                                  </p:childTnLst>
                                </p:cTn>
                              </p:par>
                            </p:childTnLst>
                          </p:cTn>
                        </p:par>
                        <p:par>
                          <p:cTn id="157" fill="hold">
                            <p:stCondLst>
                              <p:cond delay="2000"/>
                            </p:stCondLst>
                            <p:childTnLst>
                              <p:par>
                                <p:cTn id="158" presetID="17" presetClass="entr" presetSubtype="8" fill="hold" nodeType="afterEffect">
                                  <p:stCondLst>
                                    <p:cond delay="0"/>
                                  </p:stCondLst>
                                  <p:childTnLst>
                                    <p:set>
                                      <p:cBhvr>
                                        <p:cTn id="159" dur="1" fill="hold">
                                          <p:stCondLst>
                                            <p:cond delay="0"/>
                                          </p:stCondLst>
                                        </p:cTn>
                                        <p:tgtEl>
                                          <p:spTgt spid="376861"/>
                                        </p:tgtEl>
                                        <p:attrNameLst>
                                          <p:attrName>style.visibility</p:attrName>
                                        </p:attrNameLst>
                                      </p:cBhvr>
                                      <p:to>
                                        <p:strVal val="visible"/>
                                      </p:to>
                                    </p:set>
                                    <p:anim calcmode="lin" valueType="num">
                                      <p:cBhvr>
                                        <p:cTn id="160" dur="500" fill="hold"/>
                                        <p:tgtEl>
                                          <p:spTgt spid="376861"/>
                                        </p:tgtEl>
                                        <p:attrNameLst>
                                          <p:attrName>ppt_x</p:attrName>
                                        </p:attrNameLst>
                                      </p:cBhvr>
                                      <p:tavLst>
                                        <p:tav tm="0">
                                          <p:val>
                                            <p:strVal val="#ppt_x-#ppt_w/2"/>
                                          </p:val>
                                        </p:tav>
                                        <p:tav tm="100000">
                                          <p:val>
                                            <p:strVal val="#ppt_x"/>
                                          </p:val>
                                        </p:tav>
                                      </p:tavLst>
                                    </p:anim>
                                    <p:anim calcmode="lin" valueType="num">
                                      <p:cBhvr>
                                        <p:cTn id="161" dur="500" fill="hold"/>
                                        <p:tgtEl>
                                          <p:spTgt spid="376861"/>
                                        </p:tgtEl>
                                        <p:attrNameLst>
                                          <p:attrName>ppt_y</p:attrName>
                                        </p:attrNameLst>
                                      </p:cBhvr>
                                      <p:tavLst>
                                        <p:tav tm="0">
                                          <p:val>
                                            <p:strVal val="#ppt_y"/>
                                          </p:val>
                                        </p:tav>
                                        <p:tav tm="100000">
                                          <p:val>
                                            <p:strVal val="#ppt_y"/>
                                          </p:val>
                                        </p:tav>
                                      </p:tavLst>
                                    </p:anim>
                                    <p:anim calcmode="lin" valueType="num">
                                      <p:cBhvr>
                                        <p:cTn id="162" dur="500" fill="hold"/>
                                        <p:tgtEl>
                                          <p:spTgt spid="376861"/>
                                        </p:tgtEl>
                                        <p:attrNameLst>
                                          <p:attrName>ppt_w</p:attrName>
                                        </p:attrNameLst>
                                      </p:cBhvr>
                                      <p:tavLst>
                                        <p:tav tm="0">
                                          <p:val>
                                            <p:fltVal val="0"/>
                                          </p:val>
                                        </p:tav>
                                        <p:tav tm="100000">
                                          <p:val>
                                            <p:strVal val="#ppt_w"/>
                                          </p:val>
                                        </p:tav>
                                      </p:tavLst>
                                    </p:anim>
                                    <p:anim calcmode="lin" valueType="num">
                                      <p:cBhvr>
                                        <p:cTn id="163" dur="500" fill="hold"/>
                                        <p:tgtEl>
                                          <p:spTgt spid="376861"/>
                                        </p:tgtEl>
                                        <p:attrNameLst>
                                          <p:attrName>ppt_h</p:attrName>
                                        </p:attrNameLst>
                                      </p:cBhvr>
                                      <p:tavLst>
                                        <p:tav tm="0">
                                          <p:val>
                                            <p:strVal val="#ppt_h"/>
                                          </p:val>
                                        </p:tav>
                                        <p:tav tm="100000">
                                          <p:val>
                                            <p:strVal val="#ppt_h"/>
                                          </p:val>
                                        </p:tav>
                                      </p:tavLst>
                                    </p:anim>
                                  </p:childTnLst>
                                </p:cTn>
                              </p:par>
                            </p:childTnLst>
                          </p:cTn>
                        </p:par>
                        <p:par>
                          <p:cTn id="164" fill="hold">
                            <p:stCondLst>
                              <p:cond delay="2500"/>
                            </p:stCondLst>
                            <p:childTnLst>
                              <p:par>
                                <p:cTn id="165" presetID="17" presetClass="entr" presetSubtype="8" fill="hold" nodeType="afterEffect">
                                  <p:stCondLst>
                                    <p:cond delay="0"/>
                                  </p:stCondLst>
                                  <p:childTnLst>
                                    <p:set>
                                      <p:cBhvr>
                                        <p:cTn id="166" dur="1" fill="hold">
                                          <p:stCondLst>
                                            <p:cond delay="0"/>
                                          </p:stCondLst>
                                        </p:cTn>
                                        <p:tgtEl>
                                          <p:spTgt spid="376862"/>
                                        </p:tgtEl>
                                        <p:attrNameLst>
                                          <p:attrName>style.visibility</p:attrName>
                                        </p:attrNameLst>
                                      </p:cBhvr>
                                      <p:to>
                                        <p:strVal val="visible"/>
                                      </p:to>
                                    </p:set>
                                    <p:anim calcmode="lin" valueType="num">
                                      <p:cBhvr>
                                        <p:cTn id="167" dur="500" fill="hold"/>
                                        <p:tgtEl>
                                          <p:spTgt spid="376862"/>
                                        </p:tgtEl>
                                        <p:attrNameLst>
                                          <p:attrName>ppt_x</p:attrName>
                                        </p:attrNameLst>
                                      </p:cBhvr>
                                      <p:tavLst>
                                        <p:tav tm="0">
                                          <p:val>
                                            <p:strVal val="#ppt_x-#ppt_w/2"/>
                                          </p:val>
                                        </p:tav>
                                        <p:tav tm="100000">
                                          <p:val>
                                            <p:strVal val="#ppt_x"/>
                                          </p:val>
                                        </p:tav>
                                      </p:tavLst>
                                    </p:anim>
                                    <p:anim calcmode="lin" valueType="num">
                                      <p:cBhvr>
                                        <p:cTn id="168" dur="500" fill="hold"/>
                                        <p:tgtEl>
                                          <p:spTgt spid="376862"/>
                                        </p:tgtEl>
                                        <p:attrNameLst>
                                          <p:attrName>ppt_y</p:attrName>
                                        </p:attrNameLst>
                                      </p:cBhvr>
                                      <p:tavLst>
                                        <p:tav tm="0">
                                          <p:val>
                                            <p:strVal val="#ppt_y"/>
                                          </p:val>
                                        </p:tav>
                                        <p:tav tm="100000">
                                          <p:val>
                                            <p:strVal val="#ppt_y"/>
                                          </p:val>
                                        </p:tav>
                                      </p:tavLst>
                                    </p:anim>
                                    <p:anim calcmode="lin" valueType="num">
                                      <p:cBhvr>
                                        <p:cTn id="169" dur="500" fill="hold"/>
                                        <p:tgtEl>
                                          <p:spTgt spid="376862"/>
                                        </p:tgtEl>
                                        <p:attrNameLst>
                                          <p:attrName>ppt_w</p:attrName>
                                        </p:attrNameLst>
                                      </p:cBhvr>
                                      <p:tavLst>
                                        <p:tav tm="0">
                                          <p:val>
                                            <p:fltVal val="0"/>
                                          </p:val>
                                        </p:tav>
                                        <p:tav tm="100000">
                                          <p:val>
                                            <p:strVal val="#ppt_w"/>
                                          </p:val>
                                        </p:tav>
                                      </p:tavLst>
                                    </p:anim>
                                    <p:anim calcmode="lin" valueType="num">
                                      <p:cBhvr>
                                        <p:cTn id="170" dur="500" fill="hold"/>
                                        <p:tgtEl>
                                          <p:spTgt spid="376862"/>
                                        </p:tgtEl>
                                        <p:attrNameLst>
                                          <p:attrName>ppt_h</p:attrName>
                                        </p:attrNameLst>
                                      </p:cBhvr>
                                      <p:tavLst>
                                        <p:tav tm="0">
                                          <p:val>
                                            <p:strVal val="#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17" presetClass="entr" presetSubtype="1" fill="hold" nodeType="clickEffect">
                                  <p:stCondLst>
                                    <p:cond delay="0"/>
                                  </p:stCondLst>
                                  <p:childTnLst>
                                    <p:set>
                                      <p:cBhvr>
                                        <p:cTn id="174" dur="1" fill="hold">
                                          <p:stCondLst>
                                            <p:cond delay="0"/>
                                          </p:stCondLst>
                                        </p:cTn>
                                        <p:tgtEl>
                                          <p:spTgt spid="376864"/>
                                        </p:tgtEl>
                                        <p:attrNameLst>
                                          <p:attrName>style.visibility</p:attrName>
                                        </p:attrNameLst>
                                      </p:cBhvr>
                                      <p:to>
                                        <p:strVal val="visible"/>
                                      </p:to>
                                    </p:set>
                                    <p:anim calcmode="lin" valueType="num">
                                      <p:cBhvr>
                                        <p:cTn id="175" dur="500" fill="hold"/>
                                        <p:tgtEl>
                                          <p:spTgt spid="376864"/>
                                        </p:tgtEl>
                                        <p:attrNameLst>
                                          <p:attrName>ppt_x</p:attrName>
                                        </p:attrNameLst>
                                      </p:cBhvr>
                                      <p:tavLst>
                                        <p:tav tm="0">
                                          <p:val>
                                            <p:strVal val="#ppt_x"/>
                                          </p:val>
                                        </p:tav>
                                        <p:tav tm="100000">
                                          <p:val>
                                            <p:strVal val="#ppt_x"/>
                                          </p:val>
                                        </p:tav>
                                      </p:tavLst>
                                    </p:anim>
                                    <p:anim calcmode="lin" valueType="num">
                                      <p:cBhvr>
                                        <p:cTn id="176" dur="500" fill="hold"/>
                                        <p:tgtEl>
                                          <p:spTgt spid="376864"/>
                                        </p:tgtEl>
                                        <p:attrNameLst>
                                          <p:attrName>ppt_y</p:attrName>
                                        </p:attrNameLst>
                                      </p:cBhvr>
                                      <p:tavLst>
                                        <p:tav tm="0">
                                          <p:val>
                                            <p:strVal val="#ppt_y-#ppt_h/2"/>
                                          </p:val>
                                        </p:tav>
                                        <p:tav tm="100000">
                                          <p:val>
                                            <p:strVal val="#ppt_y"/>
                                          </p:val>
                                        </p:tav>
                                      </p:tavLst>
                                    </p:anim>
                                    <p:anim calcmode="lin" valueType="num">
                                      <p:cBhvr>
                                        <p:cTn id="177" dur="500" fill="hold"/>
                                        <p:tgtEl>
                                          <p:spTgt spid="376864"/>
                                        </p:tgtEl>
                                        <p:attrNameLst>
                                          <p:attrName>ppt_w</p:attrName>
                                        </p:attrNameLst>
                                      </p:cBhvr>
                                      <p:tavLst>
                                        <p:tav tm="0">
                                          <p:val>
                                            <p:strVal val="#ppt_w"/>
                                          </p:val>
                                        </p:tav>
                                        <p:tav tm="100000">
                                          <p:val>
                                            <p:strVal val="#ppt_w"/>
                                          </p:val>
                                        </p:tav>
                                      </p:tavLst>
                                    </p:anim>
                                    <p:anim calcmode="lin" valueType="num">
                                      <p:cBhvr>
                                        <p:cTn id="178" dur="500" fill="hold"/>
                                        <p:tgtEl>
                                          <p:spTgt spid="376864"/>
                                        </p:tgtEl>
                                        <p:attrNameLst>
                                          <p:attrName>ppt_h</p:attrName>
                                        </p:attrNameLst>
                                      </p:cBhvr>
                                      <p:tavLst>
                                        <p:tav tm="0">
                                          <p:val>
                                            <p:fltVal val="0"/>
                                          </p:val>
                                        </p:tav>
                                        <p:tav tm="100000">
                                          <p:val>
                                            <p:strVal val="#ppt_h"/>
                                          </p:val>
                                        </p:tav>
                                      </p:tavLst>
                                    </p:anim>
                                  </p:childTnLst>
                                </p:cTn>
                              </p:par>
                            </p:childTnLst>
                          </p:cTn>
                        </p:par>
                        <p:par>
                          <p:cTn id="179" fill="hold">
                            <p:stCondLst>
                              <p:cond delay="500"/>
                            </p:stCondLst>
                            <p:childTnLst>
                              <p:par>
                                <p:cTn id="180" presetID="17" presetClass="entr" presetSubtype="2" fill="hold" nodeType="afterEffect">
                                  <p:stCondLst>
                                    <p:cond delay="0"/>
                                  </p:stCondLst>
                                  <p:childTnLst>
                                    <p:set>
                                      <p:cBhvr>
                                        <p:cTn id="181" dur="1" fill="hold">
                                          <p:stCondLst>
                                            <p:cond delay="0"/>
                                          </p:stCondLst>
                                        </p:cTn>
                                        <p:tgtEl>
                                          <p:spTgt spid="376865"/>
                                        </p:tgtEl>
                                        <p:attrNameLst>
                                          <p:attrName>style.visibility</p:attrName>
                                        </p:attrNameLst>
                                      </p:cBhvr>
                                      <p:to>
                                        <p:strVal val="visible"/>
                                      </p:to>
                                    </p:set>
                                    <p:anim calcmode="lin" valueType="num">
                                      <p:cBhvr>
                                        <p:cTn id="182" dur="500" fill="hold"/>
                                        <p:tgtEl>
                                          <p:spTgt spid="376865"/>
                                        </p:tgtEl>
                                        <p:attrNameLst>
                                          <p:attrName>ppt_x</p:attrName>
                                        </p:attrNameLst>
                                      </p:cBhvr>
                                      <p:tavLst>
                                        <p:tav tm="0">
                                          <p:val>
                                            <p:strVal val="#ppt_x+#ppt_w/2"/>
                                          </p:val>
                                        </p:tav>
                                        <p:tav tm="100000">
                                          <p:val>
                                            <p:strVal val="#ppt_x"/>
                                          </p:val>
                                        </p:tav>
                                      </p:tavLst>
                                    </p:anim>
                                    <p:anim calcmode="lin" valueType="num">
                                      <p:cBhvr>
                                        <p:cTn id="183" dur="500" fill="hold"/>
                                        <p:tgtEl>
                                          <p:spTgt spid="376865"/>
                                        </p:tgtEl>
                                        <p:attrNameLst>
                                          <p:attrName>ppt_y</p:attrName>
                                        </p:attrNameLst>
                                      </p:cBhvr>
                                      <p:tavLst>
                                        <p:tav tm="0">
                                          <p:val>
                                            <p:strVal val="#ppt_y"/>
                                          </p:val>
                                        </p:tav>
                                        <p:tav tm="100000">
                                          <p:val>
                                            <p:strVal val="#ppt_y"/>
                                          </p:val>
                                        </p:tav>
                                      </p:tavLst>
                                    </p:anim>
                                    <p:anim calcmode="lin" valueType="num">
                                      <p:cBhvr>
                                        <p:cTn id="184" dur="500" fill="hold"/>
                                        <p:tgtEl>
                                          <p:spTgt spid="376865"/>
                                        </p:tgtEl>
                                        <p:attrNameLst>
                                          <p:attrName>ppt_w</p:attrName>
                                        </p:attrNameLst>
                                      </p:cBhvr>
                                      <p:tavLst>
                                        <p:tav tm="0">
                                          <p:val>
                                            <p:fltVal val="0"/>
                                          </p:val>
                                        </p:tav>
                                        <p:tav tm="100000">
                                          <p:val>
                                            <p:strVal val="#ppt_w"/>
                                          </p:val>
                                        </p:tav>
                                      </p:tavLst>
                                    </p:anim>
                                    <p:anim calcmode="lin" valueType="num">
                                      <p:cBhvr>
                                        <p:cTn id="185" dur="500" fill="hold"/>
                                        <p:tgtEl>
                                          <p:spTgt spid="376865"/>
                                        </p:tgtEl>
                                        <p:attrNameLst>
                                          <p:attrName>ppt_h</p:attrName>
                                        </p:attrNameLst>
                                      </p:cBhvr>
                                      <p:tavLst>
                                        <p:tav tm="0">
                                          <p:val>
                                            <p:strVal val="#ppt_h"/>
                                          </p:val>
                                        </p:tav>
                                        <p:tav tm="100000">
                                          <p:val>
                                            <p:strVal val="#ppt_h"/>
                                          </p:val>
                                        </p:tav>
                                      </p:tavLst>
                                    </p:anim>
                                  </p:childTnLst>
                                </p:cTn>
                              </p:par>
                            </p:childTnLst>
                          </p:cTn>
                        </p:par>
                        <p:par>
                          <p:cTn id="186" fill="hold">
                            <p:stCondLst>
                              <p:cond delay="1000"/>
                            </p:stCondLst>
                            <p:childTnLst>
                              <p:par>
                                <p:cTn id="187" presetID="17" presetClass="entr" presetSubtype="4" fill="hold" nodeType="afterEffect">
                                  <p:stCondLst>
                                    <p:cond delay="0"/>
                                  </p:stCondLst>
                                  <p:childTnLst>
                                    <p:set>
                                      <p:cBhvr>
                                        <p:cTn id="188" dur="1" fill="hold">
                                          <p:stCondLst>
                                            <p:cond delay="0"/>
                                          </p:stCondLst>
                                        </p:cTn>
                                        <p:tgtEl>
                                          <p:spTgt spid="376866"/>
                                        </p:tgtEl>
                                        <p:attrNameLst>
                                          <p:attrName>style.visibility</p:attrName>
                                        </p:attrNameLst>
                                      </p:cBhvr>
                                      <p:to>
                                        <p:strVal val="visible"/>
                                      </p:to>
                                    </p:set>
                                    <p:anim calcmode="lin" valueType="num">
                                      <p:cBhvr>
                                        <p:cTn id="189" dur="500" fill="hold"/>
                                        <p:tgtEl>
                                          <p:spTgt spid="376866"/>
                                        </p:tgtEl>
                                        <p:attrNameLst>
                                          <p:attrName>ppt_x</p:attrName>
                                        </p:attrNameLst>
                                      </p:cBhvr>
                                      <p:tavLst>
                                        <p:tav tm="0">
                                          <p:val>
                                            <p:strVal val="#ppt_x"/>
                                          </p:val>
                                        </p:tav>
                                        <p:tav tm="100000">
                                          <p:val>
                                            <p:strVal val="#ppt_x"/>
                                          </p:val>
                                        </p:tav>
                                      </p:tavLst>
                                    </p:anim>
                                    <p:anim calcmode="lin" valueType="num">
                                      <p:cBhvr>
                                        <p:cTn id="190" dur="500" fill="hold"/>
                                        <p:tgtEl>
                                          <p:spTgt spid="376866"/>
                                        </p:tgtEl>
                                        <p:attrNameLst>
                                          <p:attrName>ppt_y</p:attrName>
                                        </p:attrNameLst>
                                      </p:cBhvr>
                                      <p:tavLst>
                                        <p:tav tm="0">
                                          <p:val>
                                            <p:strVal val="#ppt_y+#ppt_h/2"/>
                                          </p:val>
                                        </p:tav>
                                        <p:tav tm="100000">
                                          <p:val>
                                            <p:strVal val="#ppt_y"/>
                                          </p:val>
                                        </p:tav>
                                      </p:tavLst>
                                    </p:anim>
                                    <p:anim calcmode="lin" valueType="num">
                                      <p:cBhvr>
                                        <p:cTn id="191" dur="500" fill="hold"/>
                                        <p:tgtEl>
                                          <p:spTgt spid="376866"/>
                                        </p:tgtEl>
                                        <p:attrNameLst>
                                          <p:attrName>ppt_w</p:attrName>
                                        </p:attrNameLst>
                                      </p:cBhvr>
                                      <p:tavLst>
                                        <p:tav tm="0">
                                          <p:val>
                                            <p:strVal val="#ppt_w"/>
                                          </p:val>
                                        </p:tav>
                                        <p:tav tm="100000">
                                          <p:val>
                                            <p:strVal val="#ppt_w"/>
                                          </p:val>
                                        </p:tav>
                                      </p:tavLst>
                                    </p:anim>
                                    <p:anim calcmode="lin" valueType="num">
                                      <p:cBhvr>
                                        <p:cTn id="192" dur="500" fill="hold"/>
                                        <p:tgtEl>
                                          <p:spTgt spid="376866"/>
                                        </p:tgtEl>
                                        <p:attrNameLst>
                                          <p:attrName>ppt_h</p:attrName>
                                        </p:attrNameLst>
                                      </p:cBhvr>
                                      <p:tavLst>
                                        <p:tav tm="0">
                                          <p:val>
                                            <p:fltVal val="0"/>
                                          </p:val>
                                        </p:tav>
                                        <p:tav tm="100000">
                                          <p:val>
                                            <p:strVal val="#ppt_h"/>
                                          </p:val>
                                        </p:tav>
                                      </p:tavLst>
                                    </p:anim>
                                  </p:childTnLst>
                                </p:cTn>
                              </p:par>
                            </p:childTnLst>
                          </p:cTn>
                        </p:par>
                        <p:par>
                          <p:cTn id="193" fill="hold">
                            <p:stCondLst>
                              <p:cond delay="1500"/>
                            </p:stCondLst>
                            <p:childTnLst>
                              <p:par>
                                <p:cTn id="194" presetID="17" presetClass="entr" presetSubtype="8" fill="hold" nodeType="afterEffect">
                                  <p:stCondLst>
                                    <p:cond delay="0"/>
                                  </p:stCondLst>
                                  <p:childTnLst>
                                    <p:set>
                                      <p:cBhvr>
                                        <p:cTn id="195" dur="1" fill="hold">
                                          <p:stCondLst>
                                            <p:cond delay="0"/>
                                          </p:stCondLst>
                                        </p:cTn>
                                        <p:tgtEl>
                                          <p:spTgt spid="376867"/>
                                        </p:tgtEl>
                                        <p:attrNameLst>
                                          <p:attrName>style.visibility</p:attrName>
                                        </p:attrNameLst>
                                      </p:cBhvr>
                                      <p:to>
                                        <p:strVal val="visible"/>
                                      </p:to>
                                    </p:set>
                                    <p:anim calcmode="lin" valueType="num">
                                      <p:cBhvr>
                                        <p:cTn id="196" dur="500" fill="hold"/>
                                        <p:tgtEl>
                                          <p:spTgt spid="376867"/>
                                        </p:tgtEl>
                                        <p:attrNameLst>
                                          <p:attrName>ppt_x</p:attrName>
                                        </p:attrNameLst>
                                      </p:cBhvr>
                                      <p:tavLst>
                                        <p:tav tm="0">
                                          <p:val>
                                            <p:strVal val="#ppt_x-#ppt_w/2"/>
                                          </p:val>
                                        </p:tav>
                                        <p:tav tm="100000">
                                          <p:val>
                                            <p:strVal val="#ppt_x"/>
                                          </p:val>
                                        </p:tav>
                                      </p:tavLst>
                                    </p:anim>
                                    <p:anim calcmode="lin" valueType="num">
                                      <p:cBhvr>
                                        <p:cTn id="197" dur="500" fill="hold"/>
                                        <p:tgtEl>
                                          <p:spTgt spid="376867"/>
                                        </p:tgtEl>
                                        <p:attrNameLst>
                                          <p:attrName>ppt_y</p:attrName>
                                        </p:attrNameLst>
                                      </p:cBhvr>
                                      <p:tavLst>
                                        <p:tav tm="0">
                                          <p:val>
                                            <p:strVal val="#ppt_y"/>
                                          </p:val>
                                        </p:tav>
                                        <p:tav tm="100000">
                                          <p:val>
                                            <p:strVal val="#ppt_y"/>
                                          </p:val>
                                        </p:tav>
                                      </p:tavLst>
                                    </p:anim>
                                    <p:anim calcmode="lin" valueType="num">
                                      <p:cBhvr>
                                        <p:cTn id="198" dur="500" fill="hold"/>
                                        <p:tgtEl>
                                          <p:spTgt spid="376867"/>
                                        </p:tgtEl>
                                        <p:attrNameLst>
                                          <p:attrName>ppt_w</p:attrName>
                                        </p:attrNameLst>
                                      </p:cBhvr>
                                      <p:tavLst>
                                        <p:tav tm="0">
                                          <p:val>
                                            <p:fltVal val="0"/>
                                          </p:val>
                                        </p:tav>
                                        <p:tav tm="100000">
                                          <p:val>
                                            <p:strVal val="#ppt_w"/>
                                          </p:val>
                                        </p:tav>
                                      </p:tavLst>
                                    </p:anim>
                                    <p:anim calcmode="lin" valueType="num">
                                      <p:cBhvr>
                                        <p:cTn id="199" dur="500" fill="hold"/>
                                        <p:tgtEl>
                                          <p:spTgt spid="376867"/>
                                        </p:tgtEl>
                                        <p:attrNameLst>
                                          <p:attrName>ppt_h</p:attrName>
                                        </p:attrNameLst>
                                      </p:cBhvr>
                                      <p:tavLst>
                                        <p:tav tm="0">
                                          <p:val>
                                            <p:strVal val="#ppt_h"/>
                                          </p:val>
                                        </p:tav>
                                        <p:tav tm="100000">
                                          <p:val>
                                            <p:strVal val="#ppt_h"/>
                                          </p:val>
                                        </p:tav>
                                      </p:tavLst>
                                    </p:anim>
                                  </p:childTnLst>
                                </p:cTn>
                              </p:par>
                            </p:childTnLst>
                          </p:cTn>
                        </p:par>
                        <p:par>
                          <p:cTn id="200" fill="hold">
                            <p:stCondLst>
                              <p:cond delay="2000"/>
                            </p:stCondLst>
                            <p:childTnLst>
                              <p:par>
                                <p:cTn id="201" presetID="17" presetClass="entr" presetSubtype="8" fill="hold" nodeType="afterEffect">
                                  <p:stCondLst>
                                    <p:cond delay="0"/>
                                  </p:stCondLst>
                                  <p:childTnLst>
                                    <p:set>
                                      <p:cBhvr>
                                        <p:cTn id="202" dur="1" fill="hold">
                                          <p:stCondLst>
                                            <p:cond delay="0"/>
                                          </p:stCondLst>
                                        </p:cTn>
                                        <p:tgtEl>
                                          <p:spTgt spid="376868"/>
                                        </p:tgtEl>
                                        <p:attrNameLst>
                                          <p:attrName>style.visibility</p:attrName>
                                        </p:attrNameLst>
                                      </p:cBhvr>
                                      <p:to>
                                        <p:strVal val="visible"/>
                                      </p:to>
                                    </p:set>
                                    <p:anim calcmode="lin" valueType="num">
                                      <p:cBhvr>
                                        <p:cTn id="203" dur="500" fill="hold"/>
                                        <p:tgtEl>
                                          <p:spTgt spid="376868"/>
                                        </p:tgtEl>
                                        <p:attrNameLst>
                                          <p:attrName>ppt_x</p:attrName>
                                        </p:attrNameLst>
                                      </p:cBhvr>
                                      <p:tavLst>
                                        <p:tav tm="0">
                                          <p:val>
                                            <p:strVal val="#ppt_x-#ppt_w/2"/>
                                          </p:val>
                                        </p:tav>
                                        <p:tav tm="100000">
                                          <p:val>
                                            <p:strVal val="#ppt_x"/>
                                          </p:val>
                                        </p:tav>
                                      </p:tavLst>
                                    </p:anim>
                                    <p:anim calcmode="lin" valueType="num">
                                      <p:cBhvr>
                                        <p:cTn id="204" dur="500" fill="hold"/>
                                        <p:tgtEl>
                                          <p:spTgt spid="376868"/>
                                        </p:tgtEl>
                                        <p:attrNameLst>
                                          <p:attrName>ppt_y</p:attrName>
                                        </p:attrNameLst>
                                      </p:cBhvr>
                                      <p:tavLst>
                                        <p:tav tm="0">
                                          <p:val>
                                            <p:strVal val="#ppt_y"/>
                                          </p:val>
                                        </p:tav>
                                        <p:tav tm="100000">
                                          <p:val>
                                            <p:strVal val="#ppt_y"/>
                                          </p:val>
                                        </p:tav>
                                      </p:tavLst>
                                    </p:anim>
                                    <p:anim calcmode="lin" valueType="num">
                                      <p:cBhvr>
                                        <p:cTn id="205" dur="500" fill="hold"/>
                                        <p:tgtEl>
                                          <p:spTgt spid="376868"/>
                                        </p:tgtEl>
                                        <p:attrNameLst>
                                          <p:attrName>ppt_w</p:attrName>
                                        </p:attrNameLst>
                                      </p:cBhvr>
                                      <p:tavLst>
                                        <p:tav tm="0">
                                          <p:val>
                                            <p:fltVal val="0"/>
                                          </p:val>
                                        </p:tav>
                                        <p:tav tm="100000">
                                          <p:val>
                                            <p:strVal val="#ppt_w"/>
                                          </p:val>
                                        </p:tav>
                                      </p:tavLst>
                                    </p:anim>
                                    <p:anim calcmode="lin" valueType="num">
                                      <p:cBhvr>
                                        <p:cTn id="206" dur="500" fill="hold"/>
                                        <p:tgtEl>
                                          <p:spTgt spid="376868"/>
                                        </p:tgtEl>
                                        <p:attrNameLst>
                                          <p:attrName>ppt_h</p:attrName>
                                        </p:attrNameLst>
                                      </p:cBhvr>
                                      <p:tavLst>
                                        <p:tav tm="0">
                                          <p:val>
                                            <p:strVal val="#ppt_h"/>
                                          </p:val>
                                        </p:tav>
                                        <p:tav tm="100000">
                                          <p:val>
                                            <p:strVal val="#ppt_h"/>
                                          </p:val>
                                        </p:tav>
                                      </p:tavLst>
                                    </p:anim>
                                  </p:childTnLst>
                                </p:cTn>
                              </p:par>
                            </p:childTnLst>
                          </p:cTn>
                        </p:par>
                        <p:par>
                          <p:cTn id="207" fill="hold">
                            <p:stCondLst>
                              <p:cond delay="2500"/>
                            </p:stCondLst>
                            <p:childTnLst>
                              <p:par>
                                <p:cTn id="208" presetID="17" presetClass="entr" presetSubtype="4" fill="hold" nodeType="afterEffect">
                                  <p:stCondLst>
                                    <p:cond delay="0"/>
                                  </p:stCondLst>
                                  <p:childTnLst>
                                    <p:set>
                                      <p:cBhvr>
                                        <p:cTn id="209" dur="1" fill="hold">
                                          <p:stCondLst>
                                            <p:cond delay="0"/>
                                          </p:stCondLst>
                                        </p:cTn>
                                        <p:tgtEl>
                                          <p:spTgt spid="376869"/>
                                        </p:tgtEl>
                                        <p:attrNameLst>
                                          <p:attrName>style.visibility</p:attrName>
                                        </p:attrNameLst>
                                      </p:cBhvr>
                                      <p:to>
                                        <p:strVal val="visible"/>
                                      </p:to>
                                    </p:set>
                                    <p:anim calcmode="lin" valueType="num">
                                      <p:cBhvr>
                                        <p:cTn id="210" dur="500" fill="hold"/>
                                        <p:tgtEl>
                                          <p:spTgt spid="376869"/>
                                        </p:tgtEl>
                                        <p:attrNameLst>
                                          <p:attrName>ppt_x</p:attrName>
                                        </p:attrNameLst>
                                      </p:cBhvr>
                                      <p:tavLst>
                                        <p:tav tm="0">
                                          <p:val>
                                            <p:strVal val="#ppt_x"/>
                                          </p:val>
                                        </p:tav>
                                        <p:tav tm="100000">
                                          <p:val>
                                            <p:strVal val="#ppt_x"/>
                                          </p:val>
                                        </p:tav>
                                      </p:tavLst>
                                    </p:anim>
                                    <p:anim calcmode="lin" valueType="num">
                                      <p:cBhvr>
                                        <p:cTn id="211" dur="500" fill="hold"/>
                                        <p:tgtEl>
                                          <p:spTgt spid="376869"/>
                                        </p:tgtEl>
                                        <p:attrNameLst>
                                          <p:attrName>ppt_y</p:attrName>
                                        </p:attrNameLst>
                                      </p:cBhvr>
                                      <p:tavLst>
                                        <p:tav tm="0">
                                          <p:val>
                                            <p:strVal val="#ppt_y+#ppt_h/2"/>
                                          </p:val>
                                        </p:tav>
                                        <p:tav tm="100000">
                                          <p:val>
                                            <p:strVal val="#ppt_y"/>
                                          </p:val>
                                        </p:tav>
                                      </p:tavLst>
                                    </p:anim>
                                    <p:anim calcmode="lin" valueType="num">
                                      <p:cBhvr>
                                        <p:cTn id="212" dur="500" fill="hold"/>
                                        <p:tgtEl>
                                          <p:spTgt spid="376869"/>
                                        </p:tgtEl>
                                        <p:attrNameLst>
                                          <p:attrName>ppt_w</p:attrName>
                                        </p:attrNameLst>
                                      </p:cBhvr>
                                      <p:tavLst>
                                        <p:tav tm="0">
                                          <p:val>
                                            <p:strVal val="#ppt_w"/>
                                          </p:val>
                                        </p:tav>
                                        <p:tav tm="100000">
                                          <p:val>
                                            <p:strVal val="#ppt_w"/>
                                          </p:val>
                                        </p:tav>
                                      </p:tavLst>
                                    </p:anim>
                                    <p:anim calcmode="lin" valueType="num">
                                      <p:cBhvr>
                                        <p:cTn id="213" dur="500" fill="hold"/>
                                        <p:tgtEl>
                                          <p:spTgt spid="376869"/>
                                        </p:tgtEl>
                                        <p:attrNameLst>
                                          <p:attrName>ppt_h</p:attrName>
                                        </p:attrNameLst>
                                      </p:cBhvr>
                                      <p:tavLst>
                                        <p:tav tm="0">
                                          <p:val>
                                            <p:fltVal val="0"/>
                                          </p:val>
                                        </p:tav>
                                        <p:tav tm="100000">
                                          <p:val>
                                            <p:strVal val="#ppt_h"/>
                                          </p:val>
                                        </p:tav>
                                      </p:tavLst>
                                    </p:anim>
                                  </p:childTnLst>
                                </p:cTn>
                              </p:par>
                            </p:childTnLst>
                          </p:cTn>
                        </p:par>
                        <p:par>
                          <p:cTn id="214" fill="hold">
                            <p:stCondLst>
                              <p:cond delay="3000"/>
                            </p:stCondLst>
                            <p:childTnLst>
                              <p:par>
                                <p:cTn id="215" presetID="17" presetClass="entr" presetSubtype="2" fill="hold" nodeType="afterEffect">
                                  <p:stCondLst>
                                    <p:cond delay="0"/>
                                  </p:stCondLst>
                                  <p:childTnLst>
                                    <p:set>
                                      <p:cBhvr>
                                        <p:cTn id="216" dur="1" fill="hold">
                                          <p:stCondLst>
                                            <p:cond delay="0"/>
                                          </p:stCondLst>
                                        </p:cTn>
                                        <p:tgtEl>
                                          <p:spTgt spid="376870"/>
                                        </p:tgtEl>
                                        <p:attrNameLst>
                                          <p:attrName>style.visibility</p:attrName>
                                        </p:attrNameLst>
                                      </p:cBhvr>
                                      <p:to>
                                        <p:strVal val="visible"/>
                                      </p:to>
                                    </p:set>
                                    <p:anim calcmode="lin" valueType="num">
                                      <p:cBhvr>
                                        <p:cTn id="217" dur="500" fill="hold"/>
                                        <p:tgtEl>
                                          <p:spTgt spid="376870"/>
                                        </p:tgtEl>
                                        <p:attrNameLst>
                                          <p:attrName>ppt_x</p:attrName>
                                        </p:attrNameLst>
                                      </p:cBhvr>
                                      <p:tavLst>
                                        <p:tav tm="0">
                                          <p:val>
                                            <p:strVal val="#ppt_x+#ppt_w/2"/>
                                          </p:val>
                                        </p:tav>
                                        <p:tav tm="100000">
                                          <p:val>
                                            <p:strVal val="#ppt_x"/>
                                          </p:val>
                                        </p:tav>
                                      </p:tavLst>
                                    </p:anim>
                                    <p:anim calcmode="lin" valueType="num">
                                      <p:cBhvr>
                                        <p:cTn id="218" dur="500" fill="hold"/>
                                        <p:tgtEl>
                                          <p:spTgt spid="376870"/>
                                        </p:tgtEl>
                                        <p:attrNameLst>
                                          <p:attrName>ppt_y</p:attrName>
                                        </p:attrNameLst>
                                      </p:cBhvr>
                                      <p:tavLst>
                                        <p:tav tm="0">
                                          <p:val>
                                            <p:strVal val="#ppt_y"/>
                                          </p:val>
                                        </p:tav>
                                        <p:tav tm="100000">
                                          <p:val>
                                            <p:strVal val="#ppt_y"/>
                                          </p:val>
                                        </p:tav>
                                      </p:tavLst>
                                    </p:anim>
                                    <p:anim calcmode="lin" valueType="num">
                                      <p:cBhvr>
                                        <p:cTn id="219" dur="500" fill="hold"/>
                                        <p:tgtEl>
                                          <p:spTgt spid="376870"/>
                                        </p:tgtEl>
                                        <p:attrNameLst>
                                          <p:attrName>ppt_w</p:attrName>
                                        </p:attrNameLst>
                                      </p:cBhvr>
                                      <p:tavLst>
                                        <p:tav tm="0">
                                          <p:val>
                                            <p:fltVal val="0"/>
                                          </p:val>
                                        </p:tav>
                                        <p:tav tm="100000">
                                          <p:val>
                                            <p:strVal val="#ppt_w"/>
                                          </p:val>
                                        </p:tav>
                                      </p:tavLst>
                                    </p:anim>
                                    <p:anim calcmode="lin" valueType="num">
                                      <p:cBhvr>
                                        <p:cTn id="220" dur="500" fill="hold"/>
                                        <p:tgtEl>
                                          <p:spTgt spid="376870"/>
                                        </p:tgtEl>
                                        <p:attrNameLst>
                                          <p:attrName>ppt_h</p:attrName>
                                        </p:attrNameLst>
                                      </p:cBhvr>
                                      <p:tavLst>
                                        <p:tav tm="0">
                                          <p:val>
                                            <p:strVal val="#ppt_h"/>
                                          </p:val>
                                        </p:tav>
                                        <p:tav tm="100000">
                                          <p:val>
                                            <p:strVal val="#ppt_h"/>
                                          </p:val>
                                        </p:tav>
                                      </p:tavLst>
                                    </p:anim>
                                  </p:childTnLst>
                                </p:cTn>
                              </p:par>
                            </p:childTnLst>
                          </p:cTn>
                        </p:par>
                        <p:par>
                          <p:cTn id="221" fill="hold">
                            <p:stCondLst>
                              <p:cond delay="3500"/>
                            </p:stCondLst>
                            <p:childTnLst>
                              <p:par>
                                <p:cTn id="222" presetID="17" presetClass="entr" presetSubtype="1" fill="hold" nodeType="afterEffect">
                                  <p:stCondLst>
                                    <p:cond delay="0"/>
                                  </p:stCondLst>
                                  <p:childTnLst>
                                    <p:set>
                                      <p:cBhvr>
                                        <p:cTn id="223" dur="1" fill="hold">
                                          <p:stCondLst>
                                            <p:cond delay="0"/>
                                          </p:stCondLst>
                                        </p:cTn>
                                        <p:tgtEl>
                                          <p:spTgt spid="376871"/>
                                        </p:tgtEl>
                                        <p:attrNameLst>
                                          <p:attrName>style.visibility</p:attrName>
                                        </p:attrNameLst>
                                      </p:cBhvr>
                                      <p:to>
                                        <p:strVal val="visible"/>
                                      </p:to>
                                    </p:set>
                                    <p:anim calcmode="lin" valueType="num">
                                      <p:cBhvr>
                                        <p:cTn id="224" dur="500" fill="hold"/>
                                        <p:tgtEl>
                                          <p:spTgt spid="376871"/>
                                        </p:tgtEl>
                                        <p:attrNameLst>
                                          <p:attrName>ppt_x</p:attrName>
                                        </p:attrNameLst>
                                      </p:cBhvr>
                                      <p:tavLst>
                                        <p:tav tm="0">
                                          <p:val>
                                            <p:strVal val="#ppt_x"/>
                                          </p:val>
                                        </p:tav>
                                        <p:tav tm="100000">
                                          <p:val>
                                            <p:strVal val="#ppt_x"/>
                                          </p:val>
                                        </p:tav>
                                      </p:tavLst>
                                    </p:anim>
                                    <p:anim calcmode="lin" valueType="num">
                                      <p:cBhvr>
                                        <p:cTn id="225" dur="500" fill="hold"/>
                                        <p:tgtEl>
                                          <p:spTgt spid="376871"/>
                                        </p:tgtEl>
                                        <p:attrNameLst>
                                          <p:attrName>ppt_y</p:attrName>
                                        </p:attrNameLst>
                                      </p:cBhvr>
                                      <p:tavLst>
                                        <p:tav tm="0">
                                          <p:val>
                                            <p:strVal val="#ppt_y-#ppt_h/2"/>
                                          </p:val>
                                        </p:tav>
                                        <p:tav tm="100000">
                                          <p:val>
                                            <p:strVal val="#ppt_y"/>
                                          </p:val>
                                        </p:tav>
                                      </p:tavLst>
                                    </p:anim>
                                    <p:anim calcmode="lin" valueType="num">
                                      <p:cBhvr>
                                        <p:cTn id="226" dur="500" fill="hold"/>
                                        <p:tgtEl>
                                          <p:spTgt spid="376871"/>
                                        </p:tgtEl>
                                        <p:attrNameLst>
                                          <p:attrName>ppt_w</p:attrName>
                                        </p:attrNameLst>
                                      </p:cBhvr>
                                      <p:tavLst>
                                        <p:tav tm="0">
                                          <p:val>
                                            <p:strVal val="#ppt_w"/>
                                          </p:val>
                                        </p:tav>
                                        <p:tav tm="100000">
                                          <p:val>
                                            <p:strVal val="#ppt_w"/>
                                          </p:val>
                                        </p:tav>
                                      </p:tavLst>
                                    </p:anim>
                                    <p:anim calcmode="lin" valueType="num">
                                      <p:cBhvr>
                                        <p:cTn id="227" dur="500" fill="hold"/>
                                        <p:tgtEl>
                                          <p:spTgt spid="376871"/>
                                        </p:tgtEl>
                                        <p:attrNameLst>
                                          <p:attrName>ppt_h</p:attrName>
                                        </p:attrNameLst>
                                      </p:cBhvr>
                                      <p:tavLst>
                                        <p:tav tm="0">
                                          <p:val>
                                            <p:fltVal val="0"/>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 presetClass="entr" presetSubtype="0" fill="hold" grpId="0" nodeType="clickEffect">
                                  <p:stCondLst>
                                    <p:cond delay="0"/>
                                  </p:stCondLst>
                                  <p:childTnLst>
                                    <p:set>
                                      <p:cBhvr>
                                        <p:cTn id="231" dur="1" fill="hold">
                                          <p:stCondLst>
                                            <p:cond delay="499"/>
                                          </p:stCondLst>
                                        </p:cTn>
                                        <p:tgtEl>
                                          <p:spTgt spid="376872"/>
                                        </p:tgtEl>
                                        <p:attrNameLst>
                                          <p:attrName>style.visibility</p:attrName>
                                        </p:attrNameLst>
                                      </p:cBhvr>
                                      <p:to>
                                        <p:strVal val="visible"/>
                                      </p:to>
                                    </p:set>
                                  </p:childTnLst>
                                </p:cTn>
                              </p:par>
                            </p:childTnLst>
                          </p:cTn>
                        </p:par>
                        <p:par>
                          <p:cTn id="232" fill="hold">
                            <p:stCondLst>
                              <p:cond delay="500"/>
                            </p:stCondLst>
                            <p:childTnLst>
                              <p:par>
                                <p:cTn id="233" presetID="1" presetClass="entr" presetSubtype="0" fill="hold" grpId="0" nodeType="afterEffect">
                                  <p:stCondLst>
                                    <p:cond delay="0"/>
                                  </p:stCondLst>
                                  <p:childTnLst>
                                    <p:set>
                                      <p:cBhvr>
                                        <p:cTn id="234" dur="1" fill="hold">
                                          <p:stCondLst>
                                            <p:cond delay="499"/>
                                          </p:stCondLst>
                                        </p:cTn>
                                        <p:tgtEl>
                                          <p:spTgt spid="37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72" grpId="0" animBg="1"/>
      <p:bldP spid="37687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290918" y="194663"/>
            <a:ext cx="9813961" cy="604477"/>
          </a:xfrm>
        </p:spPr>
        <p:txBody>
          <a:bodyPr/>
          <a:lstStyle/>
          <a:p>
            <a:r>
              <a:rPr lang="en-US" altLang="zh-TW" sz="4000" dirty="0"/>
              <a:t>Clocking Methodology – Sequential Logic</a:t>
            </a:r>
          </a:p>
        </p:txBody>
      </p:sp>
      <p:sp>
        <p:nvSpPr>
          <p:cNvPr id="39939" name="Rectangle 3"/>
          <p:cNvSpPr>
            <a:spLocks noGrp="1" noChangeArrowheads="1"/>
          </p:cNvSpPr>
          <p:nvPr>
            <p:ph type="body" idx="1"/>
          </p:nvPr>
        </p:nvSpPr>
        <p:spPr>
          <a:xfrm>
            <a:off x="1321653" y="1125538"/>
            <a:ext cx="9599920" cy="4299903"/>
          </a:xfrm>
        </p:spPr>
        <p:txBody>
          <a:bodyPr/>
          <a:lstStyle/>
          <a:p>
            <a:r>
              <a:rPr lang="en-US" altLang="zh-TW" sz="2667" dirty="0"/>
              <a:t>Edge-triggered</a:t>
            </a:r>
          </a:p>
          <a:p>
            <a:pPr lvl="1"/>
            <a:r>
              <a:rPr lang="en-US" altLang="zh-TW" sz="2400" dirty="0"/>
              <a:t>Values in storage (state) elements updated only on a clock edge</a:t>
            </a:r>
            <a:br>
              <a:rPr lang="en-US" altLang="zh-TW" sz="2400" dirty="0"/>
            </a:br>
            <a:r>
              <a:rPr lang="en-US" altLang="zh-TW" sz="2400" dirty="0"/>
              <a:t>=&gt; clock edge should arrive only after input signals stable</a:t>
            </a:r>
          </a:p>
          <a:p>
            <a:pPr lvl="1"/>
            <a:r>
              <a:rPr lang="en-US" altLang="zh-TW" sz="2400" dirty="0"/>
              <a:t>Any combinational circuit must have inputs from and outputs to storage elements</a:t>
            </a:r>
          </a:p>
          <a:p>
            <a:pPr lvl="1"/>
            <a:r>
              <a:rPr lang="en-US" altLang="zh-TW" sz="2400" dirty="0"/>
              <a:t>Clock cycle: Time for signals to propagate from one storage element, through combinational circuit, to reach the second storage element</a:t>
            </a:r>
          </a:p>
          <a:p>
            <a:pPr lvl="1"/>
            <a:r>
              <a:rPr lang="en-US" altLang="zh-TW" sz="2400" dirty="0"/>
              <a:t>A register can be read, its value propagated through some combinational circuit, new value is written back to the same register, all in same cycle </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53</a:t>
            </a:fld>
            <a:endParaRPr lang="zh-TW" altLang="en-US">
              <a:solidFill>
                <a:prstClr val="white"/>
              </a:solidFill>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7321752" y="1881535"/>
            <a:ext cx="4870249" cy="239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Critical Path (Load Operation) =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PC’s </a:t>
            </a:r>
            <a:r>
              <a:rPr kumimoji="1" lang="en-US" altLang="zh-TW" sz="1867"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Clk</a:t>
            </a: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-to-Q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Instruction memory’s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Register file’s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ALU to Perform a 32-bit Add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Data Memory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Setup Time for Register File Write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Clock Skew</a:t>
            </a:r>
          </a:p>
        </p:txBody>
      </p:sp>
      <p:sp>
        <p:nvSpPr>
          <p:cNvPr id="42041" name="Line 74"/>
          <p:cNvSpPr>
            <a:spLocks noChangeShapeType="1"/>
          </p:cNvSpPr>
          <p:nvPr/>
        </p:nvSpPr>
        <p:spPr bwMode="auto">
          <a:xfrm>
            <a:off x="9085409" y="4945594"/>
            <a:ext cx="0" cy="1120069"/>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nvGrpSpPr>
          <p:cNvPr id="2" name="组合 1"/>
          <p:cNvGrpSpPr/>
          <p:nvPr/>
        </p:nvGrpSpPr>
        <p:grpSpPr>
          <a:xfrm>
            <a:off x="1024538" y="2698163"/>
            <a:ext cx="8043195" cy="3485636"/>
            <a:chOff x="1228725" y="1962150"/>
            <a:chExt cx="6500813" cy="2845599"/>
          </a:xfrm>
        </p:grpSpPr>
        <p:sp>
          <p:nvSpPr>
            <p:cNvPr id="41987" name="Line 3"/>
            <p:cNvSpPr>
              <a:spLocks noChangeShapeType="1"/>
            </p:cNvSpPr>
            <p:nvPr/>
          </p:nvSpPr>
          <p:spPr bwMode="auto">
            <a:xfrm>
              <a:off x="4090987" y="4139804"/>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88" name="Rectangle 4"/>
            <p:cNvSpPr>
              <a:spLocks noChangeArrowheads="1"/>
            </p:cNvSpPr>
            <p:nvPr/>
          </p:nvSpPr>
          <p:spPr bwMode="auto">
            <a:xfrm>
              <a:off x="2734866" y="4294585"/>
              <a:ext cx="38738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1989" name="Rectangle 5"/>
            <p:cNvSpPr>
              <a:spLocks noChangeArrowheads="1"/>
            </p:cNvSpPr>
            <p:nvPr/>
          </p:nvSpPr>
          <p:spPr bwMode="auto">
            <a:xfrm>
              <a:off x="3026569" y="3383756"/>
              <a:ext cx="1054894"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1990" name="Line 6"/>
            <p:cNvSpPr>
              <a:spLocks noChangeShapeType="1"/>
            </p:cNvSpPr>
            <p:nvPr/>
          </p:nvSpPr>
          <p:spPr bwMode="auto">
            <a:xfrm flipV="1">
              <a:off x="3148012"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1" name="Line 7"/>
            <p:cNvSpPr>
              <a:spLocks noChangeShapeType="1"/>
            </p:cNvSpPr>
            <p:nvPr/>
          </p:nvSpPr>
          <p:spPr bwMode="auto">
            <a:xfrm>
              <a:off x="3209925"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2" name="Oval 8"/>
            <p:cNvSpPr>
              <a:spLocks noChangeArrowheads="1"/>
            </p:cNvSpPr>
            <p:nvPr/>
          </p:nvSpPr>
          <p:spPr bwMode="auto">
            <a:xfrm>
              <a:off x="3150394" y="4302919"/>
              <a:ext cx="92869"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1993" name="Line 9"/>
            <p:cNvSpPr>
              <a:spLocks noChangeShapeType="1"/>
            </p:cNvSpPr>
            <p:nvPr/>
          </p:nvSpPr>
          <p:spPr bwMode="auto">
            <a:xfrm>
              <a:off x="3162300"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4" name="Line 10"/>
            <p:cNvSpPr>
              <a:spLocks noChangeShapeType="1"/>
            </p:cNvSpPr>
            <p:nvPr/>
          </p:nvSpPr>
          <p:spPr bwMode="auto">
            <a:xfrm flipV="1">
              <a:off x="31003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5" name="Rectangle 11"/>
            <p:cNvSpPr>
              <a:spLocks noChangeArrowheads="1"/>
            </p:cNvSpPr>
            <p:nvPr/>
          </p:nvSpPr>
          <p:spPr bwMode="auto">
            <a:xfrm>
              <a:off x="2982516"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1996" name="Rectangle 12"/>
            <p:cNvSpPr>
              <a:spLocks noChangeArrowheads="1"/>
            </p:cNvSpPr>
            <p:nvPr/>
          </p:nvSpPr>
          <p:spPr bwMode="auto">
            <a:xfrm>
              <a:off x="3044429" y="3373041"/>
              <a:ext cx="3783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Rw</a:t>
              </a:r>
            </a:p>
          </p:txBody>
        </p:sp>
        <p:sp>
          <p:nvSpPr>
            <p:cNvPr id="41997" name="Rectangle 13"/>
            <p:cNvSpPr>
              <a:spLocks noChangeArrowheads="1"/>
            </p:cNvSpPr>
            <p:nvPr/>
          </p:nvSpPr>
          <p:spPr bwMode="auto">
            <a:xfrm>
              <a:off x="3389710" y="3373041"/>
              <a:ext cx="344632"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Ra</a:t>
              </a:r>
            </a:p>
          </p:txBody>
        </p:sp>
        <p:sp>
          <p:nvSpPr>
            <p:cNvPr id="41998" name="Rectangle 14"/>
            <p:cNvSpPr>
              <a:spLocks noChangeArrowheads="1"/>
            </p:cNvSpPr>
            <p:nvPr/>
          </p:nvSpPr>
          <p:spPr bwMode="auto">
            <a:xfrm>
              <a:off x="3736182" y="3373041"/>
              <a:ext cx="353701"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Rb</a:t>
              </a:r>
            </a:p>
          </p:txBody>
        </p:sp>
        <p:sp>
          <p:nvSpPr>
            <p:cNvPr id="41999" name="Rectangle 15"/>
            <p:cNvSpPr>
              <a:spLocks noChangeArrowheads="1"/>
            </p:cNvSpPr>
            <p:nvPr/>
          </p:nvSpPr>
          <p:spPr bwMode="auto">
            <a:xfrm>
              <a:off x="3168253" y="3601642"/>
              <a:ext cx="843440"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 32-</a:t>
              </a:r>
              <a:r>
                <a:rPr kumimoji="1" lang="en-US" altLang="zh-TW" sz="1467">
                  <a:solidFill>
                    <a:prstClr val="black"/>
                  </a:solidFill>
                  <a:latin typeface="Arial" panose="020B0604020202090204" pitchFamily="34" charset="0"/>
                  <a:ea typeface="新細明體" panose="02020500000000000000" pitchFamily="18" charset="-120"/>
                </a:rPr>
                <a:t>bit</a:t>
              </a:r>
            </a:p>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Registers</a:t>
              </a:r>
            </a:p>
          </p:txBody>
        </p:sp>
        <p:sp>
          <p:nvSpPr>
            <p:cNvPr id="42000" name="Rectangle 16"/>
            <p:cNvSpPr>
              <a:spLocks noChangeArrowheads="1"/>
            </p:cNvSpPr>
            <p:nvPr/>
          </p:nvSpPr>
          <p:spPr bwMode="auto">
            <a:xfrm>
              <a:off x="2855119" y="2630091"/>
              <a:ext cx="353701"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Rd</a:t>
              </a:r>
            </a:p>
          </p:txBody>
        </p:sp>
        <p:grpSp>
          <p:nvGrpSpPr>
            <p:cNvPr id="42001" name="Group 17"/>
            <p:cNvGrpSpPr/>
            <p:nvPr/>
          </p:nvGrpSpPr>
          <p:grpSpPr bwMode="auto">
            <a:xfrm>
              <a:off x="4999423" y="3364706"/>
              <a:ext cx="407177" cy="914400"/>
              <a:chOff x="3211" y="2762"/>
              <a:chExt cx="316" cy="768"/>
            </a:xfrm>
          </p:grpSpPr>
          <p:grpSp>
            <p:nvGrpSpPr>
              <p:cNvPr id="42069" name="Group 18"/>
              <p:cNvGrpSpPr/>
              <p:nvPr/>
            </p:nvGrpSpPr>
            <p:grpSpPr bwMode="auto">
              <a:xfrm>
                <a:off x="3211" y="2762"/>
                <a:ext cx="288" cy="768"/>
                <a:chOff x="3211" y="2762"/>
                <a:chExt cx="288" cy="768"/>
              </a:xfrm>
            </p:grpSpPr>
            <p:sp>
              <p:nvSpPr>
                <p:cNvPr id="42071" name="Line 19"/>
                <p:cNvSpPr>
                  <a:spLocks noChangeShapeType="1"/>
                </p:cNvSpPr>
                <p:nvPr/>
              </p:nvSpPr>
              <p:spPr bwMode="auto">
                <a:xfrm>
                  <a:off x="3211" y="276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2" name="Line 20"/>
                <p:cNvSpPr>
                  <a:spLocks noChangeShapeType="1"/>
                </p:cNvSpPr>
                <p:nvPr/>
              </p:nvSpPr>
              <p:spPr bwMode="auto">
                <a:xfrm>
                  <a:off x="3211" y="276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3" name="Line 21"/>
                <p:cNvSpPr>
                  <a:spLocks noChangeShapeType="1"/>
                </p:cNvSpPr>
                <p:nvPr/>
              </p:nvSpPr>
              <p:spPr bwMode="auto">
                <a:xfrm>
                  <a:off x="3211" y="2954"/>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4" name="Line 22"/>
                <p:cNvSpPr>
                  <a:spLocks noChangeShapeType="1"/>
                </p:cNvSpPr>
                <p:nvPr/>
              </p:nvSpPr>
              <p:spPr bwMode="auto">
                <a:xfrm>
                  <a:off x="3355" y="3050"/>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5" name="Line 23"/>
                <p:cNvSpPr>
                  <a:spLocks noChangeShapeType="1"/>
                </p:cNvSpPr>
                <p:nvPr/>
              </p:nvSpPr>
              <p:spPr bwMode="auto">
                <a:xfrm>
                  <a:off x="3499" y="295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6" name="Line 24"/>
                <p:cNvSpPr>
                  <a:spLocks noChangeShapeType="1"/>
                </p:cNvSpPr>
                <p:nvPr/>
              </p:nvSpPr>
              <p:spPr bwMode="auto">
                <a:xfrm flipV="1">
                  <a:off x="3211" y="3242"/>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7" name="Line 25"/>
                <p:cNvSpPr>
                  <a:spLocks noChangeShapeType="1"/>
                </p:cNvSpPr>
                <p:nvPr/>
              </p:nvSpPr>
              <p:spPr bwMode="auto">
                <a:xfrm>
                  <a:off x="3211" y="333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8" name="Line 26"/>
                <p:cNvSpPr>
                  <a:spLocks noChangeShapeType="1"/>
                </p:cNvSpPr>
                <p:nvPr/>
              </p:nvSpPr>
              <p:spPr bwMode="auto">
                <a:xfrm flipV="1">
                  <a:off x="3211" y="333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sp>
            <p:nvSpPr>
              <p:cNvPr id="42070" name="Rectangle 27"/>
              <p:cNvSpPr>
                <a:spLocks noChangeArrowheads="1"/>
              </p:cNvSpPr>
              <p:nvPr/>
            </p:nvSpPr>
            <p:spPr bwMode="auto">
              <a:xfrm rot="5400000">
                <a:off x="3230" y="3047"/>
                <a:ext cx="39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ALU</a:t>
                </a:r>
              </a:p>
            </p:txBody>
          </p:sp>
        </p:grpSp>
        <p:sp>
          <p:nvSpPr>
            <p:cNvPr id="42002" name="Rectangle 28"/>
            <p:cNvSpPr>
              <a:spLocks noChangeArrowheads="1"/>
            </p:cNvSpPr>
            <p:nvPr/>
          </p:nvSpPr>
          <p:spPr bwMode="auto">
            <a:xfrm>
              <a:off x="6280547" y="4339828"/>
              <a:ext cx="38738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2003" name="Rectangle 29"/>
            <p:cNvSpPr>
              <a:spLocks noChangeArrowheads="1"/>
            </p:cNvSpPr>
            <p:nvPr/>
          </p:nvSpPr>
          <p:spPr bwMode="auto">
            <a:xfrm>
              <a:off x="5748337" y="3807619"/>
              <a:ext cx="72032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 In</a:t>
              </a:r>
            </a:p>
          </p:txBody>
        </p:sp>
        <p:sp>
          <p:nvSpPr>
            <p:cNvPr id="42004" name="Rectangle 30"/>
            <p:cNvSpPr>
              <a:spLocks noChangeArrowheads="1"/>
            </p:cNvSpPr>
            <p:nvPr/>
          </p:nvSpPr>
          <p:spPr bwMode="auto">
            <a:xfrm>
              <a:off x="6525816" y="3415904"/>
              <a:ext cx="976313" cy="81557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05" name="Line 31"/>
            <p:cNvSpPr>
              <a:spLocks noChangeShapeType="1"/>
            </p:cNvSpPr>
            <p:nvPr/>
          </p:nvSpPr>
          <p:spPr bwMode="auto">
            <a:xfrm flipV="1">
              <a:off x="6561535" y="4042173"/>
              <a:ext cx="78581"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6" name="Line 32"/>
            <p:cNvSpPr>
              <a:spLocks noChangeShapeType="1"/>
            </p:cNvSpPr>
            <p:nvPr/>
          </p:nvSpPr>
          <p:spPr bwMode="auto">
            <a:xfrm>
              <a:off x="6640116" y="4042173"/>
              <a:ext cx="109538"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7" name="Oval 33"/>
            <p:cNvSpPr>
              <a:spLocks noChangeArrowheads="1"/>
            </p:cNvSpPr>
            <p:nvPr/>
          </p:nvSpPr>
          <p:spPr bwMode="auto">
            <a:xfrm>
              <a:off x="6602016" y="4260056"/>
              <a:ext cx="104775" cy="82154"/>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08" name="Line 34"/>
            <p:cNvSpPr>
              <a:spLocks noChangeShapeType="1"/>
            </p:cNvSpPr>
            <p:nvPr/>
          </p:nvSpPr>
          <p:spPr bwMode="auto">
            <a:xfrm flipH="1">
              <a:off x="6656785" y="4345781"/>
              <a:ext cx="3572" cy="20002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9" name="Line 35"/>
            <p:cNvSpPr>
              <a:spLocks noChangeShapeType="1"/>
            </p:cNvSpPr>
            <p:nvPr/>
          </p:nvSpPr>
          <p:spPr bwMode="auto">
            <a:xfrm>
              <a:off x="5391150" y="3682604"/>
              <a:ext cx="111442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0" name="Rectangle 36"/>
            <p:cNvSpPr>
              <a:spLocks noChangeArrowheads="1"/>
            </p:cNvSpPr>
            <p:nvPr/>
          </p:nvSpPr>
          <p:spPr bwMode="auto">
            <a:xfrm>
              <a:off x="5824734" y="3212307"/>
              <a:ext cx="759226"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Address</a:t>
              </a:r>
            </a:p>
          </p:txBody>
        </p:sp>
        <p:sp>
          <p:nvSpPr>
            <p:cNvPr id="42011" name="Rectangle 37"/>
            <p:cNvSpPr>
              <a:spLocks noChangeArrowheads="1"/>
            </p:cNvSpPr>
            <p:nvPr/>
          </p:nvSpPr>
          <p:spPr bwMode="auto">
            <a:xfrm>
              <a:off x="6644932" y="3494485"/>
              <a:ext cx="733314" cy="62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Ideal</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Memory</a:t>
              </a:r>
            </a:p>
          </p:txBody>
        </p:sp>
        <p:sp>
          <p:nvSpPr>
            <p:cNvPr id="42012" name="Rectangle 38"/>
            <p:cNvSpPr>
              <a:spLocks noChangeArrowheads="1"/>
            </p:cNvSpPr>
            <p:nvPr/>
          </p:nvSpPr>
          <p:spPr bwMode="auto">
            <a:xfrm>
              <a:off x="1818085" y="1962150"/>
              <a:ext cx="1008459" cy="901304"/>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13" name="Line 39"/>
            <p:cNvSpPr>
              <a:spLocks noChangeShapeType="1"/>
            </p:cNvSpPr>
            <p:nvPr/>
          </p:nvSpPr>
          <p:spPr bwMode="auto">
            <a:xfrm>
              <a:off x="2852737" y="2596754"/>
              <a:ext cx="1795463"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4" name="Rectangle 40"/>
            <p:cNvSpPr>
              <a:spLocks noChangeArrowheads="1"/>
            </p:cNvSpPr>
            <p:nvPr/>
          </p:nvSpPr>
          <p:spPr bwMode="auto">
            <a:xfrm>
              <a:off x="3075385" y="2353866"/>
              <a:ext cx="9380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Instruction</a:t>
              </a:r>
            </a:p>
          </p:txBody>
        </p:sp>
        <p:sp>
          <p:nvSpPr>
            <p:cNvPr id="42015" name="Line 41"/>
            <p:cNvSpPr>
              <a:spLocks noChangeShapeType="1"/>
            </p:cNvSpPr>
            <p:nvPr/>
          </p:nvSpPr>
          <p:spPr bwMode="auto">
            <a:xfrm>
              <a:off x="2466975" y="2876550"/>
              <a:ext cx="0" cy="97155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6" name="Rectangle 42"/>
            <p:cNvSpPr>
              <a:spLocks noChangeArrowheads="1"/>
            </p:cNvSpPr>
            <p:nvPr/>
          </p:nvSpPr>
          <p:spPr bwMode="auto">
            <a:xfrm>
              <a:off x="1490855" y="2919413"/>
              <a:ext cx="938020"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Instruction</a:t>
              </a:r>
            </a:p>
            <a:p>
              <a:pPr algn="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Address</a:t>
              </a:r>
            </a:p>
          </p:txBody>
        </p:sp>
        <p:sp>
          <p:nvSpPr>
            <p:cNvPr id="42017" name="Rectangle 43"/>
            <p:cNvSpPr>
              <a:spLocks noChangeArrowheads="1"/>
            </p:cNvSpPr>
            <p:nvPr/>
          </p:nvSpPr>
          <p:spPr bwMode="auto">
            <a:xfrm>
              <a:off x="1861637" y="2087166"/>
              <a:ext cx="938020" cy="62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Ideal</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Instruction</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Memory</a:t>
              </a:r>
            </a:p>
          </p:txBody>
        </p:sp>
        <p:grpSp>
          <p:nvGrpSpPr>
            <p:cNvPr id="42018" name="Group 44"/>
            <p:cNvGrpSpPr/>
            <p:nvPr/>
          </p:nvGrpSpPr>
          <p:grpSpPr bwMode="auto">
            <a:xfrm>
              <a:off x="1829511" y="3402810"/>
              <a:ext cx="390291" cy="1404939"/>
              <a:chOff x="754" y="2794"/>
              <a:chExt cx="302" cy="1180"/>
            </a:xfrm>
          </p:grpSpPr>
          <p:sp>
            <p:nvSpPr>
              <p:cNvPr id="42062" name="Rectangle 45"/>
              <p:cNvSpPr>
                <a:spLocks noChangeArrowheads="1"/>
              </p:cNvSpPr>
              <p:nvPr/>
            </p:nvSpPr>
            <p:spPr bwMode="auto">
              <a:xfrm rot="16200000">
                <a:off x="689" y="3710"/>
                <a:ext cx="32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2063" name="Rectangle 46"/>
              <p:cNvSpPr>
                <a:spLocks noChangeArrowheads="1"/>
              </p:cNvSpPr>
              <p:nvPr/>
            </p:nvSpPr>
            <p:spPr bwMode="auto">
              <a:xfrm>
                <a:off x="878" y="2794"/>
                <a:ext cx="166" cy="74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64" name="Line 47"/>
              <p:cNvSpPr>
                <a:spLocks noChangeShapeType="1"/>
              </p:cNvSpPr>
              <p:nvPr/>
            </p:nvSpPr>
            <p:spPr bwMode="auto">
              <a:xfrm flipV="1">
                <a:off x="910"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5" name="Line 48"/>
              <p:cNvSpPr>
                <a:spLocks noChangeShapeType="1"/>
              </p:cNvSpPr>
              <p:nvPr/>
            </p:nvSpPr>
            <p:spPr bwMode="auto">
              <a:xfrm>
                <a:off x="958"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6" name="Oval 49"/>
              <p:cNvSpPr>
                <a:spLocks noChangeArrowheads="1"/>
              </p:cNvSpPr>
              <p:nvPr/>
            </p:nvSpPr>
            <p:spPr bwMode="auto">
              <a:xfrm>
                <a:off x="918" y="3566"/>
                <a:ext cx="80"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67" name="Line 50"/>
              <p:cNvSpPr>
                <a:spLocks noChangeShapeType="1"/>
              </p:cNvSpPr>
              <p:nvPr/>
            </p:nvSpPr>
            <p:spPr bwMode="auto">
              <a:xfrm>
                <a:off x="959" y="3669"/>
                <a:ext cx="0" cy="2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8" name="Rectangle 51"/>
              <p:cNvSpPr>
                <a:spLocks noChangeArrowheads="1"/>
              </p:cNvSpPr>
              <p:nvPr/>
            </p:nvSpPr>
            <p:spPr bwMode="auto">
              <a:xfrm rot="16200000">
                <a:off x="803" y="3063"/>
                <a:ext cx="30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PC</a:t>
                </a:r>
              </a:p>
            </p:txBody>
          </p:sp>
        </p:grpSp>
        <p:sp>
          <p:nvSpPr>
            <p:cNvPr id="42019" name="Line 52"/>
            <p:cNvSpPr>
              <a:spLocks noChangeShapeType="1"/>
            </p:cNvSpPr>
            <p:nvPr/>
          </p:nvSpPr>
          <p:spPr bwMode="auto">
            <a:xfrm>
              <a:off x="3533775" y="2596754"/>
              <a:ext cx="0" cy="7429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0" name="Line 53"/>
            <p:cNvSpPr>
              <a:spLocks noChangeShapeType="1"/>
            </p:cNvSpPr>
            <p:nvPr/>
          </p:nvSpPr>
          <p:spPr bwMode="auto">
            <a:xfrm flipV="1">
              <a:off x="3471863"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1" name="Rectangle 54"/>
            <p:cNvSpPr>
              <a:spLocks noChangeArrowheads="1"/>
            </p:cNvSpPr>
            <p:nvPr/>
          </p:nvSpPr>
          <p:spPr bwMode="auto">
            <a:xfrm>
              <a:off x="3353992"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2022" name="Rectangle 55"/>
            <p:cNvSpPr>
              <a:spLocks noChangeArrowheads="1"/>
            </p:cNvSpPr>
            <p:nvPr/>
          </p:nvSpPr>
          <p:spPr bwMode="auto">
            <a:xfrm>
              <a:off x="3226594" y="2630091"/>
              <a:ext cx="428846"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4F81BD"/>
                  </a:solidFill>
                  <a:latin typeface="Arial" panose="020B0604020202090204" pitchFamily="34" charset="0"/>
                  <a:ea typeface="新細明體" panose="02020500000000000000" pitchFamily="18" charset="-120"/>
                </a:rPr>
                <a:t>Rs1</a:t>
              </a:r>
            </a:p>
          </p:txBody>
        </p:sp>
        <p:sp>
          <p:nvSpPr>
            <p:cNvPr id="42023" name="Line 56"/>
            <p:cNvSpPr>
              <a:spLocks noChangeShapeType="1"/>
            </p:cNvSpPr>
            <p:nvPr/>
          </p:nvSpPr>
          <p:spPr bwMode="auto">
            <a:xfrm>
              <a:off x="3967163"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4" name="Line 57"/>
            <p:cNvSpPr>
              <a:spLocks noChangeShapeType="1"/>
            </p:cNvSpPr>
            <p:nvPr/>
          </p:nvSpPr>
          <p:spPr bwMode="auto">
            <a:xfrm flipV="1">
              <a:off x="3905251"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5" name="Rectangle 58"/>
            <p:cNvSpPr>
              <a:spLocks noChangeArrowheads="1"/>
            </p:cNvSpPr>
            <p:nvPr/>
          </p:nvSpPr>
          <p:spPr bwMode="auto">
            <a:xfrm>
              <a:off x="3787379"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2026" name="Rectangle 59"/>
            <p:cNvSpPr>
              <a:spLocks noChangeArrowheads="1"/>
            </p:cNvSpPr>
            <p:nvPr/>
          </p:nvSpPr>
          <p:spPr bwMode="auto">
            <a:xfrm>
              <a:off x="3659982" y="2630091"/>
              <a:ext cx="428846"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4F81BD"/>
                  </a:solidFill>
                  <a:latin typeface="Arial" panose="020B0604020202090204" pitchFamily="34" charset="0"/>
                  <a:ea typeface="新細明體" panose="02020500000000000000" pitchFamily="18" charset="-120"/>
                </a:rPr>
                <a:t>Rs2</a:t>
              </a:r>
            </a:p>
          </p:txBody>
        </p:sp>
        <p:sp>
          <p:nvSpPr>
            <p:cNvPr id="42027" name="Line 60"/>
            <p:cNvSpPr>
              <a:spLocks noChangeShapeType="1"/>
            </p:cNvSpPr>
            <p:nvPr/>
          </p:nvSpPr>
          <p:spPr bwMode="auto">
            <a:xfrm>
              <a:off x="4648200" y="2596754"/>
              <a:ext cx="0" cy="15430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8" name="Line 61"/>
            <p:cNvSpPr>
              <a:spLocks noChangeShapeType="1"/>
            </p:cNvSpPr>
            <p:nvPr/>
          </p:nvSpPr>
          <p:spPr bwMode="auto">
            <a:xfrm flipV="1">
              <a:off x="45862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9" name="Rectangle 62"/>
            <p:cNvSpPr>
              <a:spLocks noChangeArrowheads="1"/>
            </p:cNvSpPr>
            <p:nvPr/>
          </p:nvSpPr>
          <p:spPr bwMode="auto">
            <a:xfrm>
              <a:off x="4344591" y="2792016"/>
              <a:ext cx="365522"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dirty="0">
                  <a:solidFill>
                    <a:prstClr val="black"/>
                  </a:solidFill>
                  <a:latin typeface="Arial" panose="020B0604020202090204" pitchFamily="34" charset="0"/>
                  <a:ea typeface="新細明體" panose="02020500000000000000" pitchFamily="18" charset="-120"/>
                </a:rPr>
                <a:t>1</a:t>
              </a:r>
              <a:r>
                <a:rPr kumimoji="1" lang="en-US" altLang="zh-TW" sz="1467" dirty="0">
                  <a:solidFill>
                    <a:prstClr val="black"/>
                  </a:solidFill>
                  <a:latin typeface="Arial" panose="020B0604020202090204" pitchFamily="34" charset="0"/>
                  <a:ea typeface="新細明體" panose="02020500000000000000" pitchFamily="18" charset="-120"/>
                </a:rPr>
                <a:t>2</a:t>
              </a:r>
              <a:endParaRPr kumimoji="1" lang="zh-TW" altLang="en-US" sz="1467" dirty="0">
                <a:solidFill>
                  <a:prstClr val="black"/>
                </a:solidFill>
                <a:latin typeface="Arial" panose="020B0604020202090204" pitchFamily="34" charset="0"/>
                <a:ea typeface="新細明體" panose="02020500000000000000" pitchFamily="18" charset="-120"/>
              </a:endParaRPr>
            </a:p>
          </p:txBody>
        </p:sp>
        <p:sp>
          <p:nvSpPr>
            <p:cNvPr id="42030" name="Rectangle 63"/>
            <p:cNvSpPr>
              <a:spLocks noChangeArrowheads="1"/>
            </p:cNvSpPr>
            <p:nvPr/>
          </p:nvSpPr>
          <p:spPr bwMode="auto">
            <a:xfrm>
              <a:off x="4217194" y="2630091"/>
              <a:ext cx="462533"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Imm</a:t>
              </a:r>
            </a:p>
          </p:txBody>
        </p:sp>
        <p:sp>
          <p:nvSpPr>
            <p:cNvPr id="42031" name="Line 64"/>
            <p:cNvSpPr>
              <a:spLocks noChangeShapeType="1"/>
            </p:cNvSpPr>
            <p:nvPr/>
          </p:nvSpPr>
          <p:spPr bwMode="auto">
            <a:xfrm>
              <a:off x="4090987" y="3454004"/>
              <a:ext cx="928688"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2" name="Line 65"/>
            <p:cNvSpPr>
              <a:spLocks noChangeShapeType="1"/>
            </p:cNvSpPr>
            <p:nvPr/>
          </p:nvSpPr>
          <p:spPr bwMode="auto">
            <a:xfrm>
              <a:off x="4462463" y="4139804"/>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3" name="Line 66"/>
            <p:cNvSpPr>
              <a:spLocks noChangeShapeType="1"/>
            </p:cNvSpPr>
            <p:nvPr/>
          </p:nvSpPr>
          <p:spPr bwMode="auto">
            <a:xfrm>
              <a:off x="4462462" y="4368404"/>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4" name="Line 67"/>
            <p:cNvSpPr>
              <a:spLocks noChangeShapeType="1"/>
            </p:cNvSpPr>
            <p:nvPr/>
          </p:nvSpPr>
          <p:spPr bwMode="auto">
            <a:xfrm>
              <a:off x="5514975" y="4082654"/>
              <a:ext cx="990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5" name="Line 68"/>
            <p:cNvSpPr>
              <a:spLocks noChangeShapeType="1"/>
            </p:cNvSpPr>
            <p:nvPr/>
          </p:nvSpPr>
          <p:spPr bwMode="auto">
            <a:xfrm>
              <a:off x="5514975" y="4082654"/>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6" name="Line 69"/>
            <p:cNvSpPr>
              <a:spLocks noChangeShapeType="1"/>
            </p:cNvSpPr>
            <p:nvPr/>
          </p:nvSpPr>
          <p:spPr bwMode="auto">
            <a:xfrm flipH="1">
              <a:off x="4710113" y="42541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7" name="Rectangle 70"/>
            <p:cNvSpPr>
              <a:spLocks noChangeArrowheads="1"/>
            </p:cNvSpPr>
            <p:nvPr/>
          </p:nvSpPr>
          <p:spPr bwMode="auto">
            <a:xfrm>
              <a:off x="4573192" y="4433887"/>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38" name="Line 71"/>
            <p:cNvSpPr>
              <a:spLocks noChangeShapeType="1"/>
            </p:cNvSpPr>
            <p:nvPr/>
          </p:nvSpPr>
          <p:spPr bwMode="auto">
            <a:xfrm flipH="1">
              <a:off x="5514975" y="35683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9" name="Rectangle 72"/>
            <p:cNvSpPr>
              <a:spLocks noChangeArrowheads="1"/>
            </p:cNvSpPr>
            <p:nvPr/>
          </p:nvSpPr>
          <p:spPr bwMode="auto">
            <a:xfrm>
              <a:off x="5378055" y="3348039"/>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0" name="Rectangle 73"/>
            <p:cNvSpPr>
              <a:spLocks noChangeArrowheads="1"/>
            </p:cNvSpPr>
            <p:nvPr/>
          </p:nvSpPr>
          <p:spPr bwMode="auto">
            <a:xfrm>
              <a:off x="4201718" y="3519488"/>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2" name="Line 75"/>
            <p:cNvSpPr>
              <a:spLocks noChangeShapeType="1"/>
            </p:cNvSpPr>
            <p:nvPr/>
          </p:nvSpPr>
          <p:spPr bwMode="auto">
            <a:xfrm>
              <a:off x="2605088" y="3739754"/>
              <a:ext cx="0" cy="9715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3" name="Line 76"/>
            <p:cNvSpPr>
              <a:spLocks noChangeShapeType="1"/>
            </p:cNvSpPr>
            <p:nvPr/>
          </p:nvSpPr>
          <p:spPr bwMode="auto">
            <a:xfrm>
              <a:off x="2590800" y="3739754"/>
              <a:ext cx="44767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4" name="Line 77"/>
            <p:cNvSpPr>
              <a:spLocks noChangeShapeType="1"/>
            </p:cNvSpPr>
            <p:nvPr/>
          </p:nvSpPr>
          <p:spPr bwMode="auto">
            <a:xfrm flipH="1">
              <a:off x="2667000" y="36826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5" name="Rectangle 78"/>
            <p:cNvSpPr>
              <a:spLocks noChangeArrowheads="1"/>
            </p:cNvSpPr>
            <p:nvPr/>
          </p:nvSpPr>
          <p:spPr bwMode="auto">
            <a:xfrm>
              <a:off x="2591992" y="3462338"/>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6" name="Line 79"/>
            <p:cNvSpPr>
              <a:spLocks noChangeShapeType="1"/>
            </p:cNvSpPr>
            <p:nvPr/>
          </p:nvSpPr>
          <p:spPr bwMode="auto">
            <a:xfrm>
              <a:off x="5700713" y="3682604"/>
              <a:ext cx="0" cy="10287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7" name="Rectangle 80"/>
            <p:cNvSpPr>
              <a:spLocks noChangeArrowheads="1"/>
            </p:cNvSpPr>
            <p:nvPr/>
          </p:nvSpPr>
          <p:spPr bwMode="auto">
            <a:xfrm>
              <a:off x="4175522" y="3196829"/>
              <a:ext cx="2604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A</a:t>
              </a:r>
            </a:p>
          </p:txBody>
        </p:sp>
        <p:sp>
          <p:nvSpPr>
            <p:cNvPr id="42048" name="Rectangle 81"/>
            <p:cNvSpPr>
              <a:spLocks noChangeArrowheads="1"/>
            </p:cNvSpPr>
            <p:nvPr/>
          </p:nvSpPr>
          <p:spPr bwMode="auto">
            <a:xfrm>
              <a:off x="4175522" y="3882629"/>
              <a:ext cx="2604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B</a:t>
              </a:r>
            </a:p>
          </p:txBody>
        </p:sp>
        <p:sp>
          <p:nvSpPr>
            <p:cNvPr id="42049" name="Line 82"/>
            <p:cNvSpPr>
              <a:spLocks noChangeShapeType="1"/>
            </p:cNvSpPr>
            <p:nvPr/>
          </p:nvSpPr>
          <p:spPr bwMode="auto">
            <a:xfrm flipH="1">
              <a:off x="4400550" y="33397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0" name="Line 83"/>
            <p:cNvSpPr>
              <a:spLocks noChangeShapeType="1"/>
            </p:cNvSpPr>
            <p:nvPr/>
          </p:nvSpPr>
          <p:spPr bwMode="auto">
            <a:xfrm>
              <a:off x="3209925" y="4419600"/>
              <a:ext cx="0"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1" name="Line 84"/>
            <p:cNvSpPr>
              <a:spLocks noChangeShapeType="1"/>
            </p:cNvSpPr>
            <p:nvPr/>
          </p:nvSpPr>
          <p:spPr bwMode="auto">
            <a:xfrm>
              <a:off x="7543800" y="3790950"/>
              <a:ext cx="185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2" name="Line 85"/>
            <p:cNvSpPr>
              <a:spLocks noChangeShapeType="1"/>
            </p:cNvSpPr>
            <p:nvPr/>
          </p:nvSpPr>
          <p:spPr bwMode="auto">
            <a:xfrm>
              <a:off x="2219325" y="384810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3" name="AutoShape 86"/>
            <p:cNvSpPr>
              <a:spLocks noChangeArrowheads="1"/>
            </p:cNvSpPr>
            <p:nvPr/>
          </p:nvSpPr>
          <p:spPr bwMode="auto">
            <a:xfrm>
              <a:off x="1498084" y="3395662"/>
              <a:ext cx="221179" cy="1048943"/>
            </a:xfrm>
            <a:prstGeom prst="octagon">
              <a:avLst>
                <a:gd name="adj" fmla="val 29282"/>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54" name="Rectangle 87"/>
            <p:cNvSpPr>
              <a:spLocks noChangeArrowheads="1"/>
            </p:cNvSpPr>
            <p:nvPr/>
          </p:nvSpPr>
          <p:spPr bwMode="auto">
            <a:xfrm rot="16200000">
              <a:off x="1030653" y="3768897"/>
              <a:ext cx="1136752" cy="257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Next Address</a:t>
              </a:r>
            </a:p>
          </p:txBody>
        </p:sp>
        <p:sp>
          <p:nvSpPr>
            <p:cNvPr id="42055" name="Line 88"/>
            <p:cNvSpPr>
              <a:spLocks noChangeShapeType="1"/>
            </p:cNvSpPr>
            <p:nvPr/>
          </p:nvSpPr>
          <p:spPr bwMode="auto">
            <a:xfrm>
              <a:off x="1724025" y="384810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6" name="Freeform 89"/>
            <p:cNvSpPr/>
            <p:nvPr/>
          </p:nvSpPr>
          <p:spPr bwMode="auto">
            <a:xfrm>
              <a:off x="1228725" y="3333750"/>
              <a:ext cx="1239441" cy="515541"/>
            </a:xfrm>
            <a:custGeom>
              <a:avLst/>
              <a:gdLst>
                <a:gd name="T0" fmla="*/ 2147483647 w 961"/>
                <a:gd name="T1" fmla="*/ 0 h 433"/>
                <a:gd name="T2" fmla="*/ 0 w 961"/>
                <a:gd name="T3" fmla="*/ 0 h 433"/>
                <a:gd name="T4" fmla="*/ 0 w 961"/>
                <a:gd name="T5" fmla="*/ 2147483647 h 433"/>
                <a:gd name="T6" fmla="*/ 2147483647 w 961"/>
                <a:gd name="T7" fmla="*/ 2147483647 h 433"/>
                <a:gd name="T8" fmla="*/ 0 60000 65536"/>
                <a:gd name="T9" fmla="*/ 0 60000 65536"/>
                <a:gd name="T10" fmla="*/ 0 60000 65536"/>
                <a:gd name="T11" fmla="*/ 0 60000 65536"/>
                <a:gd name="T12" fmla="*/ 0 w 961"/>
                <a:gd name="T13" fmla="*/ 0 h 433"/>
                <a:gd name="T14" fmla="*/ 961 w 961"/>
                <a:gd name="T15" fmla="*/ 433 h 433"/>
              </a:gdLst>
              <a:ahLst/>
              <a:cxnLst>
                <a:cxn ang="T8">
                  <a:pos x="T0" y="T1"/>
                </a:cxn>
                <a:cxn ang="T9">
                  <a:pos x="T2" y="T3"/>
                </a:cxn>
                <a:cxn ang="T10">
                  <a:pos x="T4" y="T5"/>
                </a:cxn>
                <a:cxn ang="T11">
                  <a:pos x="T6" y="T7"/>
                </a:cxn>
              </a:cxnLst>
              <a:rect l="T12" t="T13" r="T14" b="T15"/>
              <a:pathLst>
                <a:path w="961" h="433">
                  <a:moveTo>
                    <a:pt x="960" y="0"/>
                  </a:moveTo>
                  <a:lnTo>
                    <a:pt x="0" y="0"/>
                  </a:lnTo>
                  <a:lnTo>
                    <a:pt x="0" y="432"/>
                  </a:lnTo>
                  <a:lnTo>
                    <a:pt x="192" y="43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42057" name="Line 90"/>
            <p:cNvSpPr>
              <a:spLocks noChangeShapeType="1"/>
            </p:cNvSpPr>
            <p:nvPr/>
          </p:nvSpPr>
          <p:spPr bwMode="auto">
            <a:xfrm flipH="1">
              <a:off x="2590800" y="4705350"/>
              <a:ext cx="5138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8" name="Line 91"/>
            <p:cNvSpPr>
              <a:spLocks noChangeShapeType="1"/>
            </p:cNvSpPr>
            <p:nvPr/>
          </p:nvSpPr>
          <p:spPr bwMode="auto">
            <a:xfrm flipV="1">
              <a:off x="2456260" y="2619375"/>
              <a:ext cx="351234" cy="257175"/>
            </a:xfrm>
            <a:prstGeom prst="line">
              <a:avLst/>
            </a:prstGeom>
            <a:noFill/>
            <a:ln w="38100" cmpd="dbl">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sp>
        <p:nvSpPr>
          <p:cNvPr id="42059" name="Rectangle 92"/>
          <p:cNvSpPr>
            <a:spLocks noGrp="1" noChangeArrowheads="1"/>
          </p:cNvSpPr>
          <p:nvPr>
            <p:ph type="title"/>
          </p:nvPr>
        </p:nvSpPr>
        <p:spPr>
          <a:xfrm>
            <a:off x="1260183" y="112699"/>
            <a:ext cx="9045869" cy="706932"/>
          </a:xfrm>
        </p:spPr>
        <p:txBody>
          <a:bodyPr/>
          <a:lstStyle/>
          <a:p>
            <a:r>
              <a:rPr lang="en-US" altLang="zh-TW" dirty="0"/>
              <a:t>The Critical Path</a:t>
            </a:r>
          </a:p>
        </p:txBody>
      </p:sp>
      <p:sp>
        <p:nvSpPr>
          <p:cNvPr id="42060" name="Rectangle 93"/>
          <p:cNvSpPr>
            <a:spLocks noGrp="1" noChangeArrowheads="1"/>
          </p:cNvSpPr>
          <p:nvPr>
            <p:ph type="body" idx="1"/>
          </p:nvPr>
        </p:nvSpPr>
        <p:spPr>
          <a:xfrm>
            <a:off x="1229445" y="1043575"/>
            <a:ext cx="10332464" cy="1312861"/>
          </a:xfrm>
        </p:spPr>
        <p:txBody>
          <a:bodyPr/>
          <a:lstStyle/>
          <a:p>
            <a:pPr marL="286166" indent="-286166"/>
            <a:r>
              <a:rPr lang="en-US" altLang="zh-TW" sz="2667" dirty="0"/>
              <a:t>Register file and ideal data memory</a:t>
            </a:r>
          </a:p>
          <a:p>
            <a:pPr marL="685783" lvl="1" indent="-228594"/>
            <a:r>
              <a:rPr lang="en-US" altLang="zh-TW" sz="2133" dirty="0"/>
              <a:t>During read, behave as combinational logic</a:t>
            </a:r>
          </a:p>
          <a:p>
            <a:pPr marL="1104872" lvl="2"/>
            <a:r>
              <a:rPr lang="en-US" altLang="zh-TW" sz="1867" dirty="0"/>
              <a:t>Address valid =&gt; Output valid after access time</a:t>
            </a:r>
          </a:p>
        </p:txBody>
      </p:sp>
      <p:sp>
        <p:nvSpPr>
          <p:cNvPr id="9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54</a:t>
            </a:fld>
            <a:endParaRPr lang="zh-TW" altLang="en-US">
              <a:solidFill>
                <a:prstClr val="white"/>
              </a:solidFill>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386557" y="4067043"/>
            <a:ext cx="1017588"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ALUctr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0" name="Rectangle 4"/>
          <p:cNvSpPr>
            <a:spLocks noChangeArrowheads="1"/>
          </p:cNvSpPr>
          <p:nvPr/>
        </p:nvSpPr>
        <p:spPr bwMode="auto">
          <a:xfrm>
            <a:off x="5475859" y="4065626"/>
            <a:ext cx="936154"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ALUSrc</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1" name="Rectangle 5"/>
          <p:cNvSpPr>
            <a:spLocks noChangeArrowheads="1"/>
          </p:cNvSpPr>
          <p:nvPr/>
        </p:nvSpPr>
        <p:spPr bwMode="auto">
          <a:xfrm>
            <a:off x="4477637" y="4057931"/>
            <a:ext cx="92653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MemRd</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2" name="Rectangle 6"/>
          <p:cNvSpPr>
            <a:spLocks noChangeArrowheads="1"/>
          </p:cNvSpPr>
          <p:nvPr/>
        </p:nvSpPr>
        <p:spPr bwMode="auto">
          <a:xfrm>
            <a:off x="8000177" y="4081112"/>
            <a:ext cx="1234312"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MemtoReg</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3" name="Rectangle 7"/>
          <p:cNvSpPr>
            <a:spLocks noChangeArrowheads="1"/>
          </p:cNvSpPr>
          <p:nvPr/>
        </p:nvSpPr>
        <p:spPr bwMode="auto">
          <a:xfrm>
            <a:off x="7168751" y="4074761"/>
            <a:ext cx="924420"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MemWr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4" name="Rectangle 8"/>
          <p:cNvSpPr>
            <a:spLocks noChangeArrowheads="1"/>
          </p:cNvSpPr>
          <p:nvPr/>
        </p:nvSpPr>
        <p:spPr bwMode="auto">
          <a:xfrm>
            <a:off x="9450390" y="3982905"/>
            <a:ext cx="74379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srgbClr val="0000FF"/>
                </a:solidFill>
                <a:latin typeface="Arial" panose="020B0604020202090204" pitchFamily="34" charset="0"/>
                <a:ea typeface="新細明體" panose="02020500000000000000" pitchFamily="18" charset="-120"/>
              </a:rPr>
              <a:t>Equal</a:t>
            </a:r>
          </a:p>
        </p:txBody>
      </p:sp>
      <p:sp>
        <p:nvSpPr>
          <p:cNvPr id="45065" name="Line 9"/>
          <p:cNvSpPr>
            <a:spLocks noChangeShapeType="1"/>
          </p:cNvSpPr>
          <p:nvPr/>
        </p:nvSpPr>
        <p:spPr bwMode="auto">
          <a:xfrm>
            <a:off x="3454401" y="1558792"/>
            <a:ext cx="31369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66" name="Rectangle 10"/>
          <p:cNvSpPr>
            <a:spLocks noChangeArrowheads="1"/>
          </p:cNvSpPr>
          <p:nvPr/>
        </p:nvSpPr>
        <p:spPr bwMode="auto">
          <a:xfrm>
            <a:off x="3932239" y="1155568"/>
            <a:ext cx="226825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ea typeface="新細明體" panose="02020500000000000000" pitchFamily="18" charset="-120"/>
              </a:rPr>
              <a:t>Instruction&lt;31:0&gt;</a:t>
            </a:r>
          </a:p>
        </p:txBody>
      </p:sp>
      <p:sp>
        <p:nvSpPr>
          <p:cNvPr id="45067" name="Line 11"/>
          <p:cNvSpPr>
            <a:spLocks noChangeShapeType="1"/>
          </p:cNvSpPr>
          <p:nvPr/>
        </p:nvSpPr>
        <p:spPr bwMode="auto">
          <a:xfrm>
            <a:off x="484346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68" name="Rectangle 12"/>
          <p:cNvSpPr>
            <a:spLocks noChangeArrowheads="1"/>
          </p:cNvSpPr>
          <p:nvPr/>
        </p:nvSpPr>
        <p:spPr bwMode="auto">
          <a:xfrm rot="5400000">
            <a:off x="4576930" y="1853538"/>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15</a:t>
            </a:r>
            <a:r>
              <a:rPr kumimoji="1" lang="zh-TW" altLang="en-US" sz="1600" dirty="0">
                <a:solidFill>
                  <a:prstClr val="black"/>
                </a:solidFill>
                <a:latin typeface="Arial" panose="020B0604020202090204" pitchFamily="34" charset="0"/>
                <a:ea typeface="新細明體" panose="02020500000000000000" pitchFamily="18" charset="-120"/>
              </a:rPr>
              <a:t>:</a:t>
            </a:r>
            <a:r>
              <a:rPr kumimoji="1" lang="en-US" altLang="zh-TW" sz="1600" dirty="0">
                <a:solidFill>
                  <a:prstClr val="black"/>
                </a:solidFill>
                <a:latin typeface="Arial" panose="020B0604020202090204" pitchFamily="34" charset="0"/>
                <a:ea typeface="新細明體" panose="02020500000000000000" pitchFamily="18" charset="-120"/>
              </a:rPr>
              <a:t>19</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69" name="Rectangle 13"/>
          <p:cNvSpPr>
            <a:spLocks noChangeArrowheads="1"/>
          </p:cNvSpPr>
          <p:nvPr/>
        </p:nvSpPr>
        <p:spPr bwMode="auto">
          <a:xfrm rot="5400000">
            <a:off x="5154779" y="1853538"/>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20</a:t>
            </a:r>
            <a:r>
              <a:rPr kumimoji="1" lang="zh-TW" altLang="en-US" sz="1600" dirty="0">
                <a:solidFill>
                  <a:prstClr val="black"/>
                </a:solidFill>
                <a:latin typeface="Arial" panose="020B0604020202090204" pitchFamily="34" charset="0"/>
                <a:ea typeface="新細明體" panose="02020500000000000000" pitchFamily="18" charset="-120"/>
              </a:rPr>
              <a:t>:2</a:t>
            </a:r>
            <a:r>
              <a:rPr kumimoji="1" lang="en-US" altLang="zh-TW" sz="1600" dirty="0">
                <a:solidFill>
                  <a:prstClr val="black"/>
                </a:solidFill>
                <a:latin typeface="Arial" panose="020B0604020202090204" pitchFamily="34" charset="0"/>
                <a:ea typeface="新細明體" panose="02020500000000000000" pitchFamily="18" charset="-120"/>
              </a:rPr>
              <a:t>4</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0" name="Rectangle 14"/>
          <p:cNvSpPr>
            <a:spLocks noChangeArrowheads="1"/>
          </p:cNvSpPr>
          <p:nvPr/>
        </p:nvSpPr>
        <p:spPr bwMode="auto">
          <a:xfrm rot="5400000">
            <a:off x="5738303" y="1853538"/>
            <a:ext cx="82541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7</a:t>
            </a:r>
            <a:r>
              <a:rPr kumimoji="1" lang="zh-TW" altLang="en-US" sz="1600" dirty="0">
                <a:solidFill>
                  <a:prstClr val="black"/>
                </a:solidFill>
                <a:latin typeface="Arial" panose="020B0604020202090204" pitchFamily="34" charset="0"/>
                <a:ea typeface="新細明體" panose="02020500000000000000" pitchFamily="18" charset="-120"/>
              </a:rPr>
              <a:t>:1</a:t>
            </a:r>
            <a:r>
              <a:rPr kumimoji="1" lang="en-US" altLang="zh-TW" sz="1600" dirty="0">
                <a:solidFill>
                  <a:prstClr val="black"/>
                </a:solidFill>
                <a:latin typeface="Arial" panose="020B0604020202090204" pitchFamily="34" charset="0"/>
                <a:ea typeface="新細明體" panose="02020500000000000000" pitchFamily="18" charset="-120"/>
              </a:rPr>
              <a:t>1</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1" name="Rectangle 15"/>
          <p:cNvSpPr>
            <a:spLocks noChangeArrowheads="1"/>
          </p:cNvSpPr>
          <p:nvPr/>
        </p:nvSpPr>
        <p:spPr bwMode="auto">
          <a:xfrm rot="5400000">
            <a:off x="6312618" y="1847982"/>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20:31</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2" name="Line 16"/>
          <p:cNvSpPr>
            <a:spLocks noChangeShapeType="1"/>
          </p:cNvSpPr>
          <p:nvPr/>
        </p:nvSpPr>
        <p:spPr bwMode="auto">
          <a:xfrm>
            <a:off x="542131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3" name="Line 17"/>
          <p:cNvSpPr>
            <a:spLocks noChangeShapeType="1"/>
          </p:cNvSpPr>
          <p:nvPr/>
        </p:nvSpPr>
        <p:spPr bwMode="auto">
          <a:xfrm>
            <a:off x="599916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4" name="Line 18"/>
          <p:cNvSpPr>
            <a:spLocks noChangeShapeType="1"/>
          </p:cNvSpPr>
          <p:nvPr/>
        </p:nvSpPr>
        <p:spPr bwMode="auto">
          <a:xfrm>
            <a:off x="657701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5" name="Rectangle 19"/>
          <p:cNvSpPr>
            <a:spLocks noChangeArrowheads="1"/>
          </p:cNvSpPr>
          <p:nvPr/>
        </p:nvSpPr>
        <p:spPr bwMode="auto">
          <a:xfrm>
            <a:off x="6313489" y="2433505"/>
            <a:ext cx="836768"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Imm12</a:t>
            </a:r>
          </a:p>
        </p:txBody>
      </p:sp>
      <p:sp>
        <p:nvSpPr>
          <p:cNvPr id="45076" name="Rectangle 20"/>
          <p:cNvSpPr>
            <a:spLocks noChangeArrowheads="1"/>
          </p:cNvSpPr>
          <p:nvPr/>
        </p:nvSpPr>
        <p:spPr bwMode="auto">
          <a:xfrm>
            <a:off x="5735639" y="2433505"/>
            <a:ext cx="4584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Rd</a:t>
            </a:r>
          </a:p>
        </p:txBody>
      </p:sp>
      <p:sp>
        <p:nvSpPr>
          <p:cNvPr id="45077" name="Rectangle 21"/>
          <p:cNvSpPr>
            <a:spLocks noChangeArrowheads="1"/>
          </p:cNvSpPr>
          <p:nvPr/>
        </p:nvSpPr>
        <p:spPr bwMode="auto">
          <a:xfrm>
            <a:off x="5240340" y="2433505"/>
            <a:ext cx="5610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Rs2</a:t>
            </a:r>
          </a:p>
        </p:txBody>
      </p:sp>
      <p:sp>
        <p:nvSpPr>
          <p:cNvPr id="45078" name="Rectangle 22"/>
          <p:cNvSpPr>
            <a:spLocks noChangeArrowheads="1"/>
          </p:cNvSpPr>
          <p:nvPr/>
        </p:nvSpPr>
        <p:spPr bwMode="auto">
          <a:xfrm>
            <a:off x="4662489" y="2433505"/>
            <a:ext cx="5610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Rs1</a:t>
            </a:r>
          </a:p>
        </p:txBody>
      </p:sp>
      <p:sp>
        <p:nvSpPr>
          <p:cNvPr id="45079" name="Rectangle 23"/>
          <p:cNvSpPr>
            <a:spLocks noChangeArrowheads="1"/>
          </p:cNvSpPr>
          <p:nvPr/>
        </p:nvSpPr>
        <p:spPr bwMode="auto">
          <a:xfrm>
            <a:off x="2489633" y="4051694"/>
            <a:ext cx="77745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PCsrc</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80" name="Rectangle 24"/>
          <p:cNvSpPr>
            <a:spLocks noChangeArrowheads="1"/>
          </p:cNvSpPr>
          <p:nvPr/>
        </p:nvSpPr>
        <p:spPr bwMode="auto">
          <a:xfrm>
            <a:off x="2233613" y="1380992"/>
            <a:ext cx="1193800" cy="100012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81" name="Rectangle 25"/>
          <p:cNvSpPr>
            <a:spLocks noChangeArrowheads="1"/>
          </p:cNvSpPr>
          <p:nvPr/>
        </p:nvSpPr>
        <p:spPr bwMode="auto">
          <a:xfrm>
            <a:off x="2763839" y="2123943"/>
            <a:ext cx="66364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Addr</a:t>
            </a:r>
          </a:p>
        </p:txBody>
      </p:sp>
      <p:sp>
        <p:nvSpPr>
          <p:cNvPr id="45082" name="Rectangle 26"/>
          <p:cNvSpPr>
            <a:spLocks noChangeArrowheads="1"/>
          </p:cNvSpPr>
          <p:nvPr/>
        </p:nvSpPr>
        <p:spPr bwMode="auto">
          <a:xfrm>
            <a:off x="2207099" y="1431792"/>
            <a:ext cx="1215076" cy="708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2000">
                <a:solidFill>
                  <a:prstClr val="black"/>
                </a:solidFill>
                <a:ea typeface="新細明體" panose="02020500000000000000" pitchFamily="18" charset="-120"/>
              </a:rPr>
              <a:t>Inst.</a:t>
            </a:r>
          </a:p>
          <a:p>
            <a:pPr algn="ctr" defTabSz="1219170">
              <a:lnSpc>
                <a:spcPct val="100000"/>
              </a:lnSpc>
              <a:spcBef>
                <a:spcPct val="0"/>
              </a:spcBef>
              <a:buClrTx/>
              <a:buSzTx/>
              <a:buNone/>
            </a:pPr>
            <a:r>
              <a:rPr kumimoji="1" lang="en-US" altLang="zh-TW" sz="2000">
                <a:solidFill>
                  <a:prstClr val="black"/>
                </a:solidFill>
                <a:ea typeface="新細明體" panose="02020500000000000000" pitchFamily="18" charset="-120"/>
              </a:rPr>
              <a:t>Memory</a:t>
            </a:r>
          </a:p>
        </p:txBody>
      </p:sp>
      <p:sp>
        <p:nvSpPr>
          <p:cNvPr id="45083" name="Rectangle 27"/>
          <p:cNvSpPr>
            <a:spLocks noChangeArrowheads="1"/>
          </p:cNvSpPr>
          <p:nvPr/>
        </p:nvSpPr>
        <p:spPr bwMode="auto">
          <a:xfrm>
            <a:off x="2841625" y="4816343"/>
            <a:ext cx="6865939" cy="12065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84" name="Rectangle 28"/>
          <p:cNvSpPr>
            <a:spLocks noChangeArrowheads="1"/>
          </p:cNvSpPr>
          <p:nvPr/>
        </p:nvSpPr>
        <p:spPr bwMode="auto">
          <a:xfrm>
            <a:off x="5116514" y="5176705"/>
            <a:ext cx="1585370"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ea typeface="新細明體" panose="02020500000000000000" pitchFamily="18" charset="-120"/>
              </a:rPr>
              <a:t>Datapath</a:t>
            </a:r>
          </a:p>
        </p:txBody>
      </p:sp>
      <p:sp>
        <p:nvSpPr>
          <p:cNvPr id="45085" name="Line 29"/>
          <p:cNvSpPr>
            <a:spLocks noChangeShapeType="1"/>
          </p:cNvSpPr>
          <p:nvPr/>
        </p:nvSpPr>
        <p:spPr bwMode="auto">
          <a:xfrm>
            <a:off x="2890839" y="43527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7" name="Line 31"/>
          <p:cNvSpPr>
            <a:spLocks noChangeShapeType="1"/>
          </p:cNvSpPr>
          <p:nvPr/>
        </p:nvSpPr>
        <p:spPr bwMode="auto">
          <a:xfrm>
            <a:off x="4885496" y="44035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8" name="Line 32"/>
          <p:cNvSpPr>
            <a:spLocks noChangeShapeType="1"/>
          </p:cNvSpPr>
          <p:nvPr/>
        </p:nvSpPr>
        <p:spPr bwMode="auto">
          <a:xfrm>
            <a:off x="5980781" y="43908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9" name="Line 33"/>
          <p:cNvSpPr>
            <a:spLocks noChangeShapeType="1"/>
          </p:cNvSpPr>
          <p:nvPr/>
        </p:nvSpPr>
        <p:spPr bwMode="auto">
          <a:xfrm>
            <a:off x="6772319" y="43654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0" name="Line 34"/>
          <p:cNvSpPr>
            <a:spLocks noChangeShapeType="1"/>
          </p:cNvSpPr>
          <p:nvPr/>
        </p:nvSpPr>
        <p:spPr bwMode="auto">
          <a:xfrm>
            <a:off x="7597813" y="43781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1" name="Line 35"/>
          <p:cNvSpPr>
            <a:spLocks noChangeShapeType="1"/>
          </p:cNvSpPr>
          <p:nvPr/>
        </p:nvSpPr>
        <p:spPr bwMode="auto">
          <a:xfrm>
            <a:off x="8600108" y="43273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2" name="Line 36"/>
          <p:cNvSpPr>
            <a:spLocks noChangeShapeType="1"/>
          </p:cNvSpPr>
          <p:nvPr/>
        </p:nvSpPr>
        <p:spPr bwMode="auto">
          <a:xfrm>
            <a:off x="9342439" y="4022592"/>
            <a:ext cx="0" cy="762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3" name="AutoShape 37"/>
          <p:cNvSpPr>
            <a:spLocks noChangeArrowheads="1"/>
          </p:cNvSpPr>
          <p:nvPr/>
        </p:nvSpPr>
        <p:spPr bwMode="auto">
          <a:xfrm>
            <a:off x="2759077" y="2670043"/>
            <a:ext cx="6948488" cy="1231900"/>
          </a:xfrm>
          <a:prstGeom prst="roundRect">
            <a:avLst>
              <a:gd name="adj" fmla="val 12495"/>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94" name="Rectangle 38"/>
          <p:cNvSpPr>
            <a:spLocks noChangeArrowheads="1"/>
          </p:cNvSpPr>
          <p:nvPr/>
        </p:nvSpPr>
        <p:spPr bwMode="auto">
          <a:xfrm>
            <a:off x="5211763" y="3132005"/>
            <a:ext cx="1269578"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ea typeface="新細明體" panose="02020500000000000000" pitchFamily="18" charset="-120"/>
              </a:rPr>
              <a:t>Control</a:t>
            </a:r>
          </a:p>
        </p:txBody>
      </p:sp>
      <p:sp>
        <p:nvSpPr>
          <p:cNvPr id="45095" name="Line 39"/>
          <p:cNvSpPr>
            <a:spLocks noChangeShapeType="1"/>
          </p:cNvSpPr>
          <p:nvPr/>
        </p:nvSpPr>
        <p:spPr bwMode="auto">
          <a:xfrm>
            <a:off x="3811588" y="15587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6" name="Rectangle 40"/>
          <p:cNvSpPr>
            <a:spLocks noChangeArrowheads="1"/>
          </p:cNvSpPr>
          <p:nvPr/>
        </p:nvSpPr>
        <p:spPr bwMode="auto">
          <a:xfrm>
            <a:off x="3630614" y="2408105"/>
            <a:ext cx="47128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Op</a:t>
            </a:r>
          </a:p>
        </p:txBody>
      </p:sp>
      <p:sp>
        <p:nvSpPr>
          <p:cNvPr id="45097" name="Line 41"/>
          <p:cNvSpPr>
            <a:spLocks noChangeShapeType="1"/>
          </p:cNvSpPr>
          <p:nvPr/>
        </p:nvSpPr>
        <p:spPr bwMode="auto">
          <a:xfrm>
            <a:off x="4238625" y="15587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8" name="Rectangle 42"/>
          <p:cNvSpPr>
            <a:spLocks noChangeArrowheads="1"/>
          </p:cNvSpPr>
          <p:nvPr/>
        </p:nvSpPr>
        <p:spPr bwMode="auto">
          <a:xfrm rot="5400000">
            <a:off x="4008779" y="1806706"/>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12</a:t>
            </a:r>
            <a:r>
              <a:rPr kumimoji="1" lang="zh-TW" altLang="en-US" sz="1600" dirty="0">
                <a:solidFill>
                  <a:prstClr val="black"/>
                </a:solidFill>
                <a:latin typeface="Arial" panose="020B0604020202090204" pitchFamily="34" charset="0"/>
                <a:ea typeface="新細明體" panose="02020500000000000000" pitchFamily="18" charset="-120"/>
              </a:rPr>
              <a:t>:</a:t>
            </a:r>
            <a:r>
              <a:rPr kumimoji="1" lang="en-US" altLang="zh-TW" sz="1600" dirty="0">
                <a:solidFill>
                  <a:prstClr val="black"/>
                </a:solidFill>
                <a:latin typeface="Arial" panose="020B0604020202090204" pitchFamily="34" charset="0"/>
                <a:ea typeface="新細明體" panose="02020500000000000000" pitchFamily="18" charset="-120"/>
              </a:rPr>
              <a:t>14</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99" name="Rectangle 43"/>
          <p:cNvSpPr>
            <a:spLocks noChangeArrowheads="1"/>
          </p:cNvSpPr>
          <p:nvPr/>
        </p:nvSpPr>
        <p:spPr bwMode="auto">
          <a:xfrm>
            <a:off x="3976690" y="2408105"/>
            <a:ext cx="74379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Funct</a:t>
            </a:r>
          </a:p>
        </p:txBody>
      </p:sp>
      <p:sp>
        <p:nvSpPr>
          <p:cNvPr id="45100" name="Rectangle 44"/>
          <p:cNvSpPr>
            <a:spLocks noChangeArrowheads="1"/>
          </p:cNvSpPr>
          <p:nvPr/>
        </p:nvSpPr>
        <p:spPr bwMode="auto">
          <a:xfrm>
            <a:off x="3370916" y="4067043"/>
            <a:ext cx="84266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RegWr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101" name="Line 45"/>
          <p:cNvSpPr>
            <a:spLocks noChangeShapeType="1"/>
          </p:cNvSpPr>
          <p:nvPr/>
        </p:nvSpPr>
        <p:spPr bwMode="auto">
          <a:xfrm>
            <a:off x="3791603" y="4380058"/>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102" name="Rectangle 46"/>
          <p:cNvSpPr>
            <a:spLocks noGrp="1" noChangeArrowheads="1"/>
          </p:cNvSpPr>
          <p:nvPr>
            <p:ph type="title"/>
          </p:nvPr>
        </p:nvSpPr>
        <p:spPr>
          <a:xfrm>
            <a:off x="1270428" y="133190"/>
            <a:ext cx="9035624" cy="717177"/>
          </a:xfrm>
        </p:spPr>
        <p:txBody>
          <a:bodyPr/>
          <a:lstStyle/>
          <a:p>
            <a:r>
              <a:rPr lang="en-US" altLang="zh-TW" dirty="0"/>
              <a:t>Step 4 - Control Points and Signals</a:t>
            </a:r>
          </a:p>
        </p:txBody>
      </p:sp>
      <p:sp>
        <p:nvSpPr>
          <p:cNvPr id="4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55</a:t>
            </a:fld>
            <a:endParaRPr lang="zh-TW" altLang="en-US">
              <a:solidFill>
                <a:prstClr val="white"/>
              </a:solidFill>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8D027-F5D0-47A0-9068-E0F7BFE8EDD5}"/>
              </a:ext>
            </a:extLst>
          </p:cNvPr>
          <p:cNvPicPr>
            <a:picLocks noChangeAspect="1"/>
          </p:cNvPicPr>
          <p:nvPr/>
        </p:nvPicPr>
        <p:blipFill>
          <a:blip r:embed="rId2"/>
          <a:stretch>
            <a:fillRect/>
          </a:stretch>
        </p:blipFill>
        <p:spPr>
          <a:xfrm>
            <a:off x="985124" y="1264596"/>
            <a:ext cx="11544102" cy="4756826"/>
          </a:xfrm>
          <a:prstGeom prst="rect">
            <a:avLst/>
          </a:prstGeom>
        </p:spPr>
      </p:pic>
      <p:sp>
        <p:nvSpPr>
          <p:cNvPr id="46082" name="Rectangle 2"/>
          <p:cNvSpPr>
            <a:spLocks noGrp="1" noChangeArrowheads="1"/>
          </p:cNvSpPr>
          <p:nvPr>
            <p:ph type="title"/>
          </p:nvPr>
        </p:nvSpPr>
        <p:spPr>
          <a:xfrm>
            <a:off x="1239692" y="174172"/>
            <a:ext cx="9066360" cy="604477"/>
          </a:xfrm>
        </p:spPr>
        <p:txBody>
          <a:bodyPr/>
          <a:lstStyle/>
          <a:p>
            <a:r>
              <a:rPr lang="en-US" altLang="zh-TW" dirty="0">
                <a:sym typeface="+mn-ea"/>
              </a:rPr>
              <a:t>Step 4 - Control Points and Signals</a:t>
            </a:r>
            <a:endParaRPr lang="en-US" altLang="zh-TW" dirty="0"/>
          </a:p>
        </p:txBody>
      </p:sp>
      <p:sp>
        <p:nvSpPr>
          <p:cNvPr id="46086" name="Text Box 5"/>
          <p:cNvSpPr txBox="1">
            <a:spLocks noChangeArrowheads="1"/>
          </p:cNvSpPr>
          <p:nvPr/>
        </p:nvSpPr>
        <p:spPr bwMode="auto">
          <a:xfrm>
            <a:off x="2931512" y="5471820"/>
            <a:ext cx="18528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srgbClr val="4F81BD"/>
                </a:solidFill>
                <a:ea typeface="新細明體" panose="02020500000000000000" pitchFamily="18" charset="-120"/>
              </a:rPr>
              <a:t>Control point</a:t>
            </a:r>
          </a:p>
        </p:txBody>
      </p:sp>
      <p:sp>
        <p:nvSpPr>
          <p:cNvPr id="46088" name="Line 7"/>
          <p:cNvSpPr>
            <a:spLocks noChangeShapeType="1"/>
          </p:cNvSpPr>
          <p:nvPr/>
        </p:nvSpPr>
        <p:spPr bwMode="auto">
          <a:xfrm flipV="1">
            <a:off x="4394924" y="3793786"/>
            <a:ext cx="3085646" cy="1658381"/>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9"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56</a:t>
            </a:fld>
            <a:endParaRPr lang="zh-TW" altLang="en-US">
              <a:solidFill>
                <a:prstClr val="white"/>
              </a:solidFill>
            </a:endParaRPr>
          </a:p>
        </p:txBody>
      </p:sp>
      <p:sp>
        <p:nvSpPr>
          <p:cNvPr id="10" name="Line 7"/>
          <p:cNvSpPr>
            <a:spLocks noChangeShapeType="1"/>
          </p:cNvSpPr>
          <p:nvPr/>
        </p:nvSpPr>
        <p:spPr bwMode="auto">
          <a:xfrm flipV="1">
            <a:off x="4394923" y="2986390"/>
            <a:ext cx="1701077" cy="2494664"/>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1" name="Line 7"/>
          <p:cNvSpPr>
            <a:spLocks noChangeShapeType="1"/>
          </p:cNvSpPr>
          <p:nvPr/>
        </p:nvSpPr>
        <p:spPr bwMode="auto">
          <a:xfrm flipV="1">
            <a:off x="4394924" y="5322327"/>
            <a:ext cx="5110875" cy="129839"/>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2" name="Line 7"/>
          <p:cNvSpPr>
            <a:spLocks noChangeShapeType="1"/>
          </p:cNvSpPr>
          <p:nvPr/>
        </p:nvSpPr>
        <p:spPr bwMode="auto">
          <a:xfrm flipV="1">
            <a:off x="4394923" y="1682884"/>
            <a:ext cx="5177094" cy="3769282"/>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3" name="Line 7"/>
          <p:cNvSpPr>
            <a:spLocks noChangeShapeType="1"/>
          </p:cNvSpPr>
          <p:nvPr/>
        </p:nvSpPr>
        <p:spPr bwMode="auto">
          <a:xfrm flipV="1">
            <a:off x="4394924" y="3428999"/>
            <a:ext cx="5352192" cy="2023167"/>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4" name="Line 7"/>
          <p:cNvSpPr>
            <a:spLocks noChangeShapeType="1"/>
          </p:cNvSpPr>
          <p:nvPr/>
        </p:nvSpPr>
        <p:spPr bwMode="auto">
          <a:xfrm flipV="1">
            <a:off x="4394922" y="3793784"/>
            <a:ext cx="6500057" cy="1658381"/>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7" name="Line 36">
            <a:extLst>
              <a:ext uri="{FF2B5EF4-FFF2-40B4-BE49-F238E27FC236}">
                <a16:creationId xmlns:a16="http://schemas.microsoft.com/office/drawing/2014/main" id="{A202F923-182E-41F6-85E8-2779A511A920}"/>
              </a:ext>
            </a:extLst>
          </p:cNvPr>
          <p:cNvSpPr>
            <a:spLocks noChangeShapeType="1"/>
          </p:cNvSpPr>
          <p:nvPr/>
        </p:nvSpPr>
        <p:spPr bwMode="auto">
          <a:xfrm flipH="1" flipV="1">
            <a:off x="9908716" y="2057982"/>
            <a:ext cx="825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cxnSp>
        <p:nvCxnSpPr>
          <p:cNvPr id="18" name="Straight Arrow Connector 17">
            <a:extLst>
              <a:ext uri="{FF2B5EF4-FFF2-40B4-BE49-F238E27FC236}">
                <a16:creationId xmlns:a16="http://schemas.microsoft.com/office/drawing/2014/main" id="{5B5BA626-F631-4F43-AEE4-D634D41F1AF1}"/>
              </a:ext>
            </a:extLst>
          </p:cNvPr>
          <p:cNvCxnSpPr>
            <a:cxnSpLocks/>
          </p:cNvCxnSpPr>
          <p:nvPr/>
        </p:nvCxnSpPr>
        <p:spPr bwMode="auto">
          <a:xfrm>
            <a:off x="9369612" y="1984443"/>
            <a:ext cx="0" cy="1076262"/>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19" name="Straight Connector 18">
            <a:extLst>
              <a:ext uri="{FF2B5EF4-FFF2-40B4-BE49-F238E27FC236}">
                <a16:creationId xmlns:a16="http://schemas.microsoft.com/office/drawing/2014/main" id="{2B84D7AD-EC66-4E63-83DF-13E3B249B18B}"/>
              </a:ext>
            </a:extLst>
          </p:cNvPr>
          <p:cNvCxnSpPr>
            <a:cxnSpLocks/>
          </p:cNvCxnSpPr>
          <p:nvPr/>
        </p:nvCxnSpPr>
        <p:spPr bwMode="auto">
          <a:xfrm>
            <a:off x="9359884" y="3060705"/>
            <a:ext cx="1705071" cy="0"/>
          </a:xfrm>
          <a:prstGeom prst="line">
            <a:avLst/>
          </a:prstGeom>
          <a:noFill/>
          <a:ln w="15875" cap="flat" cmpd="sng" algn="ctr">
            <a:solidFill>
              <a:srgbClr val="FF0000"/>
            </a:solidFill>
            <a:prstDash val="solid"/>
            <a:round/>
            <a:headEnd type="none" w="med" len="med"/>
            <a:tailEnd type="none" w="med" len="med"/>
          </a:ln>
          <a:effectLst/>
        </p:spPr>
      </p:cxnSp>
      <p:cxnSp>
        <p:nvCxnSpPr>
          <p:cNvPr id="20" name="Straight Arrow Connector 19">
            <a:extLst>
              <a:ext uri="{FF2B5EF4-FFF2-40B4-BE49-F238E27FC236}">
                <a16:creationId xmlns:a16="http://schemas.microsoft.com/office/drawing/2014/main" id="{1D84ACBA-AC45-45E7-A93F-82E9518BC640}"/>
              </a:ext>
            </a:extLst>
          </p:cNvPr>
          <p:cNvCxnSpPr>
            <a:cxnSpLocks/>
          </p:cNvCxnSpPr>
          <p:nvPr/>
        </p:nvCxnSpPr>
        <p:spPr bwMode="auto">
          <a:xfrm>
            <a:off x="11064955" y="3039058"/>
            <a:ext cx="0" cy="933450"/>
          </a:xfrm>
          <a:prstGeom prst="straightConnector1">
            <a:avLst/>
          </a:prstGeom>
          <a:noFill/>
          <a:ln w="15875" cap="flat" cmpd="sng" algn="ctr">
            <a:solidFill>
              <a:srgbClr val="FF0000"/>
            </a:solidFill>
            <a:prstDash val="solid"/>
            <a:round/>
            <a:headEnd type="none" w="med" len="med"/>
            <a:tailEnd type="triangle"/>
          </a:ln>
          <a:effectLst/>
        </p:spPr>
      </p:cxnSp>
      <p:sp>
        <p:nvSpPr>
          <p:cNvPr id="21" name="TextBox 20">
            <a:extLst>
              <a:ext uri="{FF2B5EF4-FFF2-40B4-BE49-F238E27FC236}">
                <a16:creationId xmlns:a16="http://schemas.microsoft.com/office/drawing/2014/main" id="{B84E2601-AA5A-4D27-B7F9-0CBEBDDFE6D4}"/>
              </a:ext>
            </a:extLst>
          </p:cNvPr>
          <p:cNvSpPr txBox="1"/>
          <p:nvPr/>
        </p:nvSpPr>
        <p:spPr>
          <a:xfrm>
            <a:off x="9505799" y="2694884"/>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22" name="TextBox 21">
            <a:extLst>
              <a:ext uri="{FF2B5EF4-FFF2-40B4-BE49-F238E27FC236}">
                <a16:creationId xmlns:a16="http://schemas.microsoft.com/office/drawing/2014/main" id="{33183CCE-212F-4B5D-AEE2-007F9E5186FD}"/>
              </a:ext>
            </a:extLst>
          </p:cNvPr>
          <p:cNvSpPr txBox="1"/>
          <p:nvPr/>
        </p:nvSpPr>
        <p:spPr>
          <a:xfrm>
            <a:off x="10761238" y="3464087"/>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23" name="Straight Arrow Connector 22">
            <a:extLst>
              <a:ext uri="{FF2B5EF4-FFF2-40B4-BE49-F238E27FC236}">
                <a16:creationId xmlns:a16="http://schemas.microsoft.com/office/drawing/2014/main" id="{A5B356B3-67D4-4BDB-99DD-25D369584264}"/>
              </a:ext>
            </a:extLst>
          </p:cNvPr>
          <p:cNvCxnSpPr>
            <a:cxnSpLocks/>
          </p:cNvCxnSpPr>
          <p:nvPr/>
        </p:nvCxnSpPr>
        <p:spPr bwMode="auto">
          <a:xfrm>
            <a:off x="11146966" y="3777332"/>
            <a:ext cx="0" cy="280145"/>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79385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anim calcmode="lin" valueType="num">
                                      <p:cBhvr additive="base">
                                        <p:cTn id="7" dur="500" fill="hold"/>
                                        <p:tgtEl>
                                          <p:spTgt spid="46086"/>
                                        </p:tgtEl>
                                        <p:attrNameLst>
                                          <p:attrName>ppt_x</p:attrName>
                                        </p:attrNameLst>
                                      </p:cBhvr>
                                      <p:tavLst>
                                        <p:tav tm="0">
                                          <p:val>
                                            <p:strVal val="#ppt_x"/>
                                          </p:val>
                                        </p:tav>
                                        <p:tav tm="100000">
                                          <p:val>
                                            <p:strVal val="#ppt_x"/>
                                          </p:val>
                                        </p:tav>
                                      </p:tavLst>
                                    </p:anim>
                                    <p:anim calcmode="lin" valueType="num">
                                      <p:cBhvr additive="base">
                                        <p:cTn id="8" dur="500" fill="hold"/>
                                        <p:tgtEl>
                                          <p:spTgt spid="4608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6088"/>
                                        </p:tgtEl>
                                        <p:attrNameLst>
                                          <p:attrName>style.visibility</p:attrName>
                                        </p:attrNameLst>
                                      </p:cBhvr>
                                      <p:to>
                                        <p:strVal val="visible"/>
                                      </p:to>
                                    </p:set>
                                    <p:anim calcmode="lin" valueType="num">
                                      <p:cBhvr additive="base">
                                        <p:cTn id="19" dur="500" fill="hold"/>
                                        <p:tgtEl>
                                          <p:spTgt spid="46088"/>
                                        </p:tgtEl>
                                        <p:attrNameLst>
                                          <p:attrName>ppt_x</p:attrName>
                                        </p:attrNameLst>
                                      </p:cBhvr>
                                      <p:tavLst>
                                        <p:tav tm="0">
                                          <p:val>
                                            <p:strVal val="#ppt_x"/>
                                          </p:val>
                                        </p:tav>
                                        <p:tav tm="100000">
                                          <p:val>
                                            <p:strVal val="#ppt_x"/>
                                          </p:val>
                                        </p:tav>
                                      </p:tavLst>
                                    </p:anim>
                                    <p:anim calcmode="lin" valueType="num">
                                      <p:cBhvr additive="base">
                                        <p:cTn id="20" dur="500" fill="hold"/>
                                        <p:tgtEl>
                                          <p:spTgt spid="4608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17" presetClass="entr" presetSubtype="8"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ppt_x</p:attrName>
                                        </p:attrNameLst>
                                      </p:cBhvr>
                                      <p:tavLst>
                                        <p:tav tm="0">
                                          <p:val>
                                            <p:strVal val="#ppt_x-#ppt_w/2"/>
                                          </p:val>
                                        </p:tav>
                                        <p:tav tm="100000">
                                          <p:val>
                                            <p:strVal val="#ppt_x"/>
                                          </p:val>
                                        </p:tav>
                                      </p:tavLst>
                                    </p:anim>
                                    <p:anim calcmode="lin" valueType="num">
                                      <p:cBhvr>
                                        <p:cTn id="37" dur="500" fill="hold"/>
                                        <p:tgtEl>
                                          <p:spTgt spid="17"/>
                                        </p:tgtEl>
                                        <p:attrNameLst>
                                          <p:attrName>ppt_y</p:attrName>
                                        </p:attrNameLst>
                                      </p:cBhvr>
                                      <p:tavLst>
                                        <p:tav tm="0">
                                          <p:val>
                                            <p:strVal val="#ppt_y"/>
                                          </p:val>
                                        </p:tav>
                                        <p:tav tm="100000">
                                          <p:val>
                                            <p:strVal val="#ppt_y"/>
                                          </p:val>
                                        </p:tav>
                                      </p:tavLst>
                                    </p:anim>
                                    <p:anim calcmode="lin" valueType="num">
                                      <p:cBhvr>
                                        <p:cTn id="38" dur="500" fill="hold"/>
                                        <p:tgtEl>
                                          <p:spTgt spid="17"/>
                                        </p:tgtEl>
                                        <p:attrNameLst>
                                          <p:attrName>ppt_w</p:attrName>
                                        </p:attrNameLst>
                                      </p:cBhvr>
                                      <p:tavLst>
                                        <p:tav tm="0">
                                          <p:val>
                                            <p:fltVal val="0"/>
                                          </p:val>
                                        </p:tav>
                                        <p:tav tm="100000">
                                          <p:val>
                                            <p:strVal val="#ppt_w"/>
                                          </p:val>
                                        </p:tav>
                                      </p:tavLst>
                                    </p:anim>
                                    <p:anim calcmode="lin" valueType="num">
                                      <p:cBhvr>
                                        <p:cTn id="39"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P spid="46088" grpId="0" animBg="1"/>
      <p:bldP spid="10" grpId="0" animBg="1"/>
      <p:bldP spid="11" grpId="0" animBg="1"/>
      <p:bldP spid="12" grpId="0" animBg="1"/>
      <p:bldP spid="13" grpId="0" animBg="1"/>
      <p:bldP spid="14" grpId="0" animBg="1"/>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12889</TotalTime>
  <Words>6407</Words>
  <Application>Microsoft Office PowerPoint</Application>
  <PresentationFormat>Widescreen</PresentationFormat>
  <Paragraphs>1033</Paragraphs>
  <Slides>56</Slides>
  <Notes>38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56</vt:i4>
      </vt:variant>
    </vt:vector>
  </HeadingPairs>
  <TitlesOfParts>
    <vt:vector size="68" baseType="lpstr">
      <vt:lpstr>MS Sans Serif</vt:lpstr>
      <vt:lpstr>华文楷体</vt:lpstr>
      <vt:lpstr>Arial</vt:lpstr>
      <vt:lpstr>Calibri</vt:lpstr>
      <vt:lpstr>Calibri Light</vt:lpstr>
      <vt:lpstr>Cambria Math</vt:lpstr>
      <vt:lpstr>Century Gothic</vt:lpstr>
      <vt:lpstr>Courier New</vt:lpstr>
      <vt:lpstr>Times New Roman</vt:lpstr>
      <vt:lpstr>Wingdings</vt:lpstr>
      <vt:lpstr>NTHU UniCloud</vt:lpstr>
      <vt:lpstr>自訂設計</vt:lpstr>
      <vt:lpstr>CSC3050 – Computer Architecture  Chapter 4 The Processor</vt:lpstr>
      <vt:lpstr>Computer Organization</vt:lpstr>
      <vt:lpstr>The Processor: Datapath &amp; Control</vt:lpstr>
      <vt:lpstr>Simplified View: Datapath &amp; Control</vt:lpstr>
      <vt:lpstr>Simplified View: Datapath &amp; Control</vt:lpstr>
      <vt:lpstr>RV32I Data Path and Control</vt:lpstr>
      <vt:lpstr>Instruction Execution Cycle</vt:lpstr>
      <vt:lpstr>Instruction Execution</vt:lpstr>
      <vt:lpstr>Single Cycle vs. Multi-Cycles</vt:lpstr>
      <vt:lpstr>CPU Time = Inst count X CPI X Clock cycle time</vt:lpstr>
      <vt:lpstr>CISC vs RISC Examples </vt:lpstr>
      <vt:lpstr>More Examples</vt:lpstr>
      <vt:lpstr>CPU Time = Inst count X CPI X Clock cycle time </vt:lpstr>
      <vt:lpstr>CPU Time = Inst count X CPI X Clock cycle time </vt:lpstr>
      <vt:lpstr>Abstract View of RV32I Subset</vt:lpstr>
      <vt:lpstr>Multiplexers Required</vt:lpstr>
      <vt:lpstr>PowerPoint Presentation</vt:lpstr>
      <vt:lpstr>Control</vt:lpstr>
      <vt:lpstr>Control Signals</vt:lpstr>
      <vt:lpstr>Logic Design Basics</vt:lpstr>
      <vt:lpstr>Logic Design Basics</vt:lpstr>
      <vt:lpstr>Combinational Elements</vt:lpstr>
      <vt:lpstr>Sequential Elements（1）</vt:lpstr>
      <vt:lpstr>Sequential Elements（2）</vt:lpstr>
      <vt:lpstr>Clocking Methodology</vt:lpstr>
      <vt:lpstr>How to Design a Processor</vt:lpstr>
      <vt:lpstr>Step 1 - Analyze Instruction Set</vt:lpstr>
      <vt:lpstr>Our Example: RV32I Subset</vt:lpstr>
      <vt:lpstr>Logical Register Transfer</vt:lpstr>
      <vt:lpstr>Regularity in RISC-V Instruction Format</vt:lpstr>
      <vt:lpstr>Data Path Requirements</vt:lpstr>
      <vt:lpstr>Step 2a - Combinational Components for Datapath</vt:lpstr>
      <vt:lpstr>Carry Lookahead Adder</vt:lpstr>
      <vt:lpstr>A Practical Carry Lookahead Adder</vt:lpstr>
      <vt:lpstr>Step 2b - Sequential Components for Datapath</vt:lpstr>
      <vt:lpstr>Storage Element - Register File</vt:lpstr>
      <vt:lpstr>Storage Element - Memory</vt:lpstr>
      <vt:lpstr>Step 3a - Datapath Assembly</vt:lpstr>
      <vt:lpstr>Step 3b - Branch Operations</vt:lpstr>
      <vt:lpstr>Datapath for Branch Operations</vt:lpstr>
      <vt:lpstr>Alert: Branch with Subtraction</vt:lpstr>
      <vt:lpstr>Step 3b - Add and Subtract</vt:lpstr>
      <vt:lpstr>Step 3c - Load/Store Operations</vt:lpstr>
      <vt:lpstr>Combine Mem and R-type Instructions</vt:lpstr>
      <vt:lpstr>Combinational vs. Sequential Logic</vt:lpstr>
      <vt:lpstr>Architecture States</vt:lpstr>
      <vt:lpstr>Computer Simulation</vt:lpstr>
      <vt:lpstr>A Single Cycle RISC-V Processor</vt:lpstr>
      <vt:lpstr>A Single Cycle Data Path</vt:lpstr>
      <vt:lpstr>Limitations of a Single-Cycle Implementation</vt:lpstr>
      <vt:lpstr>Inefficiency in a Single Cycle Implementation</vt:lpstr>
      <vt:lpstr>Data Flow during add rd, rs1, rs2</vt:lpstr>
      <vt:lpstr>Clocking Methodology – Sequential Logic</vt:lpstr>
      <vt:lpstr>The Critical Path</vt:lpstr>
      <vt:lpstr>Step 4 - Control Points and Signals</vt:lpstr>
      <vt:lpstr>Step 4 - Control Points and Signals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269</cp:revision>
  <dcterms:created xsi:type="dcterms:W3CDTF">2020-07-15T11:13:39Z</dcterms:created>
  <dcterms:modified xsi:type="dcterms:W3CDTF">2025-03-17T04:12:58Z</dcterms:modified>
</cp:coreProperties>
</file>